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EF7B50-4E5B-49E5-9733-CBC8FEE15264}">
  <a:tblStyle styleId="{79EF7B50-4E5B-49E5-9733-CBC8FEE152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ecbe50c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ecbe50c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75143dc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75143dc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f842e0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f842e0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275143dc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275143dc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275143dc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275143dc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275143dc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275143dc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75143dc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75143dc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275143dc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275143dc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275143dc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275143dc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275143dc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275143dc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275143dc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275143dc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hristophm.github.io/interpretable-ml-book/references.html#ref-friedman2001greedy" TargetMode="External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Interpretability and Explainability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3.2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93225"/>
            <a:ext cx="85206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Experiment Tracking (Lecture 3.1)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Monitoring/Observability (Lecture 3.1)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Explaining model predictions (Lecture 3.2)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Profiling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Christoph Molnar — *Interpretable Machine Learning* (free online book): https://christophm.github.io/interpretable-ml-book/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Interpretable ML Models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49350" y="1109075"/>
            <a:ext cx="85206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7"/>
              <a:t>Why is a ML model making a certain prediction? Is it learning the right thing?</a:t>
            </a:r>
            <a:endParaRPr sz="100"/>
          </a:p>
        </p:txBody>
      </p:sp>
      <p:sp>
        <p:nvSpPr>
          <p:cNvPr id="74" name="Google Shape;74;p16"/>
          <p:cNvSpPr txBox="1"/>
          <p:nvPr/>
        </p:nvSpPr>
        <p:spPr>
          <a:xfrm>
            <a:off x="73850" y="1717575"/>
            <a:ext cx="3005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Inherently/Intrinsically Interpretable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Some models are interpretable by design. Eg., linear regression models and gradient boosted trees. Other architectures eg., neural networks require specialized methods to understand their predictions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0" y="3070400"/>
            <a:ext cx="3975249" cy="16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44300" y="1717575"/>
            <a:ext cx="3366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Model specific vs. Model agnostic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Model agnostic methods treat the model as a black box and analyze how the model output changes in response to a perturbation in model input. Eg., ICE, PDP, Shap.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Model specific methods use knowledge of the model architecture. Eg., integrated gradients for neural networks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533350" y="1717575"/>
            <a:ext cx="265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Local vs. Global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Local: </a:t>
            </a:r>
            <a:r>
              <a:rPr lang="en" sz="1200">
                <a:solidFill>
                  <a:schemeClr val="dk2"/>
                </a:solidFill>
              </a:rPr>
              <a:t>Explain individual predictions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Global:</a:t>
            </a:r>
            <a:r>
              <a:rPr lang="en" sz="1200">
                <a:solidFill>
                  <a:schemeClr val="dk2"/>
                </a:solidFill>
              </a:rPr>
              <a:t> How features influence predictions on average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Interpretable Models: Linear Regression	</a:t>
            </a:r>
            <a:endParaRPr/>
          </a:p>
        </p:txBody>
      </p:sp>
      <p:pic>
        <p:nvPicPr>
          <p:cNvPr descr="{&quot;type&quot;:&quot;gather*&quot;,&quot;backgroundColor&quot;:&quot;#FFFFFF&quot;,&quot;font&quot;:{&quot;size&quot;:12,&quot;family&quot;:&quot;Arial&quot;,&quot;color&quot;:&quot;#595959&quot;},&quot;backgroundColorModified&quot;:false,&quot;id&quot;:&quot;1&quot;,&quot;aid&quot;:null,&quot;code&quot;:&quot;\\begin{gather*}\n{\\text{For}\\;\\text{linear}\\;\\text{regression}\\;\\text{models,}\\,\\text{we}\\;\\text{estimate}\\;\\text{the}\\;\\text{dependent}\\;\\text{variable}\\;\\text{by}\\;\\text{fitting}\\;\\text{}}\\\\\n{\\text{coefficients}\\;\\mathbf{\\vec{\\beta\\,}}\\,\\text{such}\\;\\text{that}}\\\\\n{y=\\beta_{0}+\\sum_{i=1}^{p-1}\\beta_{i}x_{i}+\\epsilon}\\\\\n{\\text{The}\\;\\text{errors}\\;\\text{are}\\;\\text{assumed}\\;\\text{to}\\;\\left(\\text{0,}\\;\\sigma^{2}I\\right)\\,\\left(\\text{independent,}\\;\\text{homoskedastic}\\;\\text{errors}\\right)}\\\\\n{\\text{In}\\;\\text{matrix}\\;\\text{form,}}\\\\\n{Y=X\\beta+\\epsilon,\\,X:\\,n\\times p,\\,\\beta:\\,p\\times1,\\,\\epsilon:\\,n\\times1}\\\\\n{X\\,\\text{includes}\\;\\text{a}\\;\\text{column}\\;\\text{of}\\;\\text{ones}\\;\\text{for}\\;\\text{the}\\;\\text{intercept}\\;\\text{(}\\beta_{0}\\text{)}}\t\n\\end{gather*}&quot;,&quot;ts&quot;:1768071407297,&quot;cs&quot;:&quot;9m1TfXL4m3Mzty5VfFkDwA==&quot;,&quot;size&quot;:{&quot;width&quot;:604.5,&quot;height&quot;:214}}"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40" y="1158900"/>
            <a:ext cx="5757863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Interpretable Models: Linear Regression	</a:t>
            </a:r>
            <a:endParaRPr/>
          </a:p>
        </p:txBody>
      </p:sp>
      <p:pic>
        <p:nvPicPr>
          <p:cNvPr descr="{&quot;backgroundColorModified&quot;:false,&quot;code&quot;:&quot;\\begin{gather*}\n{\\text{The}\\;\\text{model,}\\;\\text{i.e.,}\\;\\text{the}\\;\\text{coefficients}\\;\\beta\\,\\text{have}\\;\\text{a}\\;\\text{straightforward}\\;\\text{interpretation.}\\;}\\\\\n{\\text{Each}\\;\\text{coefficient}\\;\\text{gives}\\;\\text{us}\\;\\text{the}\\;\\text{direction}\\;\\text{and}\\;\\text{magnitude}\\;\\text{of}\\;\\text{the}\\;\\text{strength}\\;\\text{of}\\;\\text{the}\\;\\text{relationship}}\\\\\n{\\text{between}\\;\\text{the}\\;\\text{corresponding}\\;\\text{input}\\;\\text{variable}\\;\\text{and}\\;\\text{the}\\;\\text{output}}\\\\\n{\\text{If}\\;\\text{I}\\;\\text{change}\\;\\text{the}\\;i^{th}\\;\\text{input}\\;\\text{variable}\\;\\text{by}\\;\\text{1,}\\;\\text{the}\\;\\text{output}\\;\\text{changes}\\;\\text{by}\\;\\beta_{i}}\\\\\n{}\\\\\n{\\text{Another}\\;\\text{important}\\;\\text{concept}\\;\\text{is}\\;\\text{the}\\;\\text{degree}\\;\\text{of}\\;\\text{confidence}\\;\\text{in}\\;\\text{each}\\,\\text{coefficient.}\\;\\text{}\\;\\text{}}\\\\\n{\\text{How}\\;\\text{confient}\\;\\text{am}\\;\\text{I}\\;\\text{that}\\;\\text{my}\\;\\text{estimate}\\;\\text{of}\\;\\beta_{i}\\,\\text{is}\\;\\text{correct?}}\\\\\n{\\text{This}\\;\\text{can}\\;\\text{be}\\;\\text{captured}\\;\\text{by}\\;\\text{standard}\\;\\text{error:}}\\\\\n{\\hat{\\sigma}^{2}=\\frac{1}{n-p}\\sum_{i=1}^{n}\\left(y_{i\\,}-\\hat{y_{i}}\\right)^{2}}\\\\\n{SE\\left(\\beta_{j}\\right)={\\sqrt[]{\\hat{\\sigma}^{2}\\left[\\left(X^{T}X\\right)^{-1}\\right]}}_{jj}}\\\\\n{\\text{Standard}\\;\\text{error}\\;\\text{also}\\;\\text{gives}\\;\\text{us}\\;\\text{an}\\;\\text{indication}\\;\\text{if}\\;\\text{the}\\;\\text{underlying}\\;\\text{assumptions}\\;\\text{behind}}\\\\\n{\\text{regression}\\;\\text{models}\\;\\text{such}\\;\\text{as}\\;\\text{colinearity}\\;\\text{as}\\;\\text{violated.}\\;\\text{}}\\\\\n{\\text{Model}\\;\\text{may}\\;\\text{still}\\;\\text{perform}\\;\\text{well,}\\;\\text{but}\\;\\text{our}\\;\\text{interpretation}\\;\\text{of}\\;\\text{the}\\;\\text{coefficients}\\;\\text{would}\\;\\text{be}\\;\\text{uncertain}}\\\\\n{\\text{as}\\;\\text{indicated}\\;\\text{by}\\;\\text{a}\\;\\text{higher}\\;\\text{standard}\\;\\text{error}\\;}\\\\\n{}\t\n\\end{gather*}&quot;,&quot;type&quot;:&quot;gather*&quot;,&quot;backgroundColor&quot;:&quot;#FFFFFF&quot;,&quot;id&quot;:&quot;2&quot;,&quot;font&quot;:{&quot;family&quot;:&quot;Arial&quot;,&quot;color&quot;:&quot;#000000&quot;,&quot;size&quot;:11},&quot;aid&quot;:null,&quot;ts&quot;:1768079782965,&quot;cs&quot;:&quot;9HeE9WEtaf00m3YOENKhyg==&quot;,&quot;size&quot;:{&quot;width&quot;:669.4999999999999,&quot;height&quot;:369}}"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625" y="1149675"/>
            <a:ext cx="6322199" cy="34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106200" y="47661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linreg_collinearity_widens_ci.py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descr="{&quot;backgroundColor&quot;:&quot;#FFFFFF&quot;,&quot;code&quot;:&quot;\\begin{gather*}\n{\\text{Case}\\;\\text{1:}\\;\\text{independent}\\;\\text{predictors}}\\\\\n{x_{1}\\sim\\mathcal{N}\\left(0,\\,1\\right)}\\\\\n{x_{2}\\sim\\mathcal{N}\\left(0,1\\right)}\\\\\n{\\epsilon\\sim\\mathcal{N}\\left(0,0.1\\right)}\\\\\n{y=x_{1}+x_{2}+\\epsilon}\t\n\\end{gather*}&quot;,&quot;id&quot;:&quot;5&quot;,&quot;type&quot;:&quot;gather*&quot;,&quot;font&quot;:{&quot;family&quot;:&quot;Arial&quot;,&quot;size&quot;:12,&quot;color&quot;:&quot;#000000&quot;},&quot;aid&quot;:null,&quot;backgroundColorModified&quot;:false,&quot;ts&quot;:1768174905669,&quot;cs&quot;:&quot;2KrU3+mdw0akPFfptN7gkQ==&quot;,&quot;size&quot;:{&quot;width&quot;:249.20000000000002,&quot;height&quot;:117}}"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125" y="1246625"/>
            <a:ext cx="237363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55400" y="2589950"/>
            <a:ext cx="4894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=== Independent features ===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intercept: beta=-0.0266  SE= 0.0332  95% halfwidth= 0.0652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    x1: beta= 1.0266  SE= 0.0333  95% halfwidth= 0.0654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    x2: beta= 1.0007  SE= 0.0346  95% halfwidth= 0.0680</a:t>
            </a:r>
            <a:endParaRPr sz="1100"/>
          </a:p>
        </p:txBody>
      </p:sp>
      <p:pic>
        <p:nvPicPr>
          <p:cNvPr descr="{&quot;aid&quot;:null,&quot;font&quot;:{&quot;family&quot;:&quot;Arial&quot;,&quot;size&quot;:12,&quot;color&quot;:&quot;#000000&quot;},&quot;id&quot;:&quot;5&quot;,&quot;backgroundColor&quot;:&quot;#FFFFFF&quot;,&quot;type&quot;:&quot;gather*&quot;,&quot;backgroundColorModified&quot;:false,&quot;code&quot;:&quot;\\begin{gather*}\n{\\text{Case}\\;2\\text{:}\\;\\text{correlated}\\;\\text{predictors}}\\\\\n{x_{1}\\sim\\mathcal{N}\\left(0,\\,1\\right)}\\\\\n{x_{2}\\sim x_{1}+0.02\\times\\mathcal{N}\\left(0,1\\right)}\\\\\n{\\epsilon\\sim\\mathcal{N}\\left(0,0.1\\right)}\\\\\n{y=x_{1}+x_{2}+\\epsilon}\t\n\\end{gather*}&quot;,&quot;ts&quot;:1768174881348,&quot;cs&quot;:&quot;z0VFdrQM5tOVkdQXMisPOg==&quot;,&quot;size&quot;:{&quot;width&quot;:230.39999999999998,&quot;height&quot;:117}}"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0" y="1191225"/>
            <a:ext cx="219456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289100" y="2633450"/>
            <a:ext cx="4543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=== Highly correlated features ===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intercept: beta=-0.0545  SE= 0.0316  95% halfwidth= 0.0621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    x1: beta= 2.3641  SE= 1.5285  95% halfwidth= 3.0019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    x2: beta=-0.3668  SE= 1.5299  95% halfwidth= 3.0046</a:t>
            </a:r>
            <a:endParaRPr sz="1100"/>
          </a:p>
        </p:txBody>
      </p:sp>
      <p:sp>
        <p:nvSpPr>
          <p:cNvPr id="100" name="Google Shape;100;p19"/>
          <p:cNvSpPr txBox="1"/>
          <p:nvPr/>
        </p:nvSpPr>
        <p:spPr>
          <a:xfrm>
            <a:off x="212400" y="4446275"/>
            <a:ext cx="265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43A40"/>
                </a:solidFill>
                <a:highlight>
                  <a:srgbClr val="FFFFFF"/>
                </a:highlight>
              </a:rPr>
              <a:t>linreg_collinearity_widens_ci.py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43A40"/>
              </a:solidFill>
              <a:highlight>
                <a:srgbClr val="FFFFFF"/>
              </a:highlight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1461350" y="3647550"/>
            <a:ext cx="5565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A40"/>
                </a:solidFill>
                <a:highlight>
                  <a:srgbClr val="FFFFFF"/>
                </a:highlight>
              </a:rPr>
              <a:t>Interpretation: </a:t>
            </a:r>
            <a:r>
              <a:rPr lang="en" sz="1000">
                <a:solidFill>
                  <a:srgbClr val="343A40"/>
                </a:solidFill>
                <a:highlight>
                  <a:srgbClr val="FFFFFF"/>
                </a:highlight>
              </a:rPr>
              <a:t>The model interpretability analysis output is incorrect, </a:t>
            </a:r>
            <a:r>
              <a:rPr lang="en" sz="1000">
                <a:solidFill>
                  <a:srgbClr val="343A40"/>
                </a:solidFill>
                <a:highlight>
                  <a:srgbClr val="FFFFFF"/>
                </a:highlight>
              </a:rPr>
              <a:t>because the data doesn’t meet the model architecture requirements, Collinearity in this case. Other assumptions that can be broken: homoscedasticity, i.e., the typical size of the mistakes (difference between model’s predictions and actuals) are the same everywhere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43A4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Global Model Agnostic Methods: Partial Dependence Plots</a:t>
            </a:r>
            <a:endParaRPr sz="232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9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The partial dependence plot (short PDP or PD plot) shows the marginal effect one or more features have on the predicted outcome of a machine learning model (</a:t>
            </a:r>
            <a:r>
              <a:rPr lang="en" sz="1300">
                <a:solidFill>
                  <a:srgbClr val="2761E3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Friedman 2001</a:t>
            </a: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). A partial dependence plot can show whether the relationship between the target and a feature is linear, monotonic, or more complex. </a:t>
            </a:r>
            <a:endParaRPr/>
          </a:p>
        </p:txBody>
      </p:sp>
      <p:pic>
        <p:nvPicPr>
          <p:cNvPr descr="{&quot;backgroundColorModified&quot;:false,&quot;font&quot;:{&quot;color&quot;:&quot;#595959&quot;,&quot;size&quot;:12,&quot;family&quot;:&quot;Arial&quot;},&quot;type&quot;:&quot;gather*&quot;,&quot;backgroundColor&quot;:&quot;#FFFFFF&quot;,&quot;code&quot;:&quot;\\begin{gather*}\n{f_{S}\\left(x_{S}\\right)=\\frac{1}{n}\\sum_{i=1}^{n}f\\left(x_{S},\\,x_{C}^{i}\\right)}\\\\\n{\\text{Here}\\;x_{S}\\,\\text{are}\\;\\text{the}\\;\\text{features}\\;\\text{for}\\;\\text{which}\\;\\text{PDP}\\;\\text{should}\\;\\text{be}\\;\\text{plotted}\\;\\text{(generally}\\;\\text{one}\\;\\text{or}\\;\\text{two}\\;\\text{features)}}\\\\\n{\\text{and}\\;X_{C}\\,\\text{are}\\;\\text{other}\\;\\text{features}\\;\\text{used}\\;\\text{in}\\;\\text{the}\\;\\text{ML}\\;\\text{model}\\;f}\t\n\\end{gather*}&quot;,&quot;id&quot;:&quot;3&quot;,&quot;aid&quot;:null,&quot;ts&quot;:1768155188080,&quot;cs&quot;:&quot;XaLse9YZiu+leTWQN6jBUQ==&quot;,&quot;size&quot;:{&quot;width&quot;:717,&quot;height&quot;:99.5}}"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501" y="2022325"/>
            <a:ext cx="5990323" cy="831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" name="Google Shape;109;p20"/>
          <p:cNvGraphicFramePr/>
          <p:nvPr/>
        </p:nvGraphicFramePr>
        <p:xfrm>
          <a:off x="638525" y="307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{79EF7B50-4E5B-49E5-9733-CBC8FEE15264}</a:tableStyleId>
              </a:tblPr>
              <a:tblGrid>
                <a:gridCol w="746650"/>
                <a:gridCol w="746650"/>
                <a:gridCol w="746650"/>
                <a:gridCol w="746650"/>
              </a:tblGrid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x3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aphicFrame>
        <p:nvGraphicFramePr>
          <p:cNvPr id="110" name="Google Shape;110;p20"/>
          <p:cNvGraphicFramePr/>
          <p:nvPr/>
        </p:nvGraphicFramePr>
        <p:xfrm>
          <a:off x="4941750" y="304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{79EF7B50-4E5B-49E5-9733-CBC8FEE15264}</a:tableStyleId>
              </a:tblPr>
              <a:tblGrid>
                <a:gridCol w="392750"/>
                <a:gridCol w="385175"/>
                <a:gridCol w="438275"/>
                <a:gridCol w="1721400"/>
              </a:tblGrid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x3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New prediction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New prediction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5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New prediction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111" name="Google Shape;111;p20"/>
          <p:cNvSpPr/>
          <p:nvPr/>
        </p:nvSpPr>
        <p:spPr>
          <a:xfrm>
            <a:off x="3832225" y="3957900"/>
            <a:ext cx="739800" cy="22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3707550" y="4266850"/>
            <a:ext cx="120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PDP for x1=1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8012025" y="3437550"/>
            <a:ext cx="120000" cy="1523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8264700" y="3957900"/>
            <a:ext cx="120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Calculate average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7313625" y="2263950"/>
            <a:ext cx="155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Unrealistic data!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 flipH="1">
            <a:off x="6048450" y="2682550"/>
            <a:ext cx="1856100" cy="16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Partial Dependence Plots: Example</a:t>
            </a:r>
            <a:endParaRPr sz="2320"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4287000" cy="9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rgbClr val="343A40"/>
                </a:solidFill>
                <a:highlight>
                  <a:srgbClr val="FFFFFF"/>
                </a:highlight>
              </a:rPr>
              <a:t>Procedure:</a:t>
            </a: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 Create simulated data, split into training and test subsets. Train different models on training data. Perform interpretability analysis on features of interest on the test subset using the trained models</a:t>
            </a:r>
            <a:endParaRPr/>
          </a:p>
        </p:txBody>
      </p:sp>
      <p:pic>
        <p:nvPicPr>
          <p:cNvPr descr="{&quot;id&quot;:&quot;5&quot;,&quot;code&quot;:&quot;\\begin{gather*}\n{PDP/ICE\\,\\text{plots}\\;\\text{for}\\;\\text{correlated}\\;\\text{predictors}}\\\\\n{x_{1}\\sim\\mathcal{N}\\left(0,\\,1\\right)}\\\\\n{x_{2}\\sim\\mathcal{N}\\left(0,\\,1\\right)}\\\\\n{x_{3}\\sim x_{2}+0.02\\times\\mathcal{N}\\left(0,1\\right)}\\\\\n{\\epsilon\\sim\\mathcal{N}\\left(0,0.1\\right)}\\\\\n{y=2\\tanh \\left(x_{1}\\right)+1.5\\sin \\left(2x_{3}\\right)+\\epsilon\\,}\\\\\n{y\\,\\;\\text{is}\\;\\text{independent}\\;\\text{of}\\;x_{2}}\\\\\n{\\text{Train}\\;\\text{a}\\;\\text{Gradient}\\;\\text{Boosted}\\;\\text{Regressor}\\;\\text{on}\\;\\left[x_{1},x_{2},x_{3}\\right]}\\\\\n{\\text{The}\\;\\text{model}\\;\\text{might}\\,\\text{use}\\;x_{2}\\,\\text{for}\\;\\text{predictions}\\;\\text{}}\t\n\\end{gather*}&quot;,&quot;aid&quot;:null,&quot;type&quot;:&quot;gather*&quot;,&quot;backgroundColor&quot;:&quot;#FFFFFF&quot;,&quot;backgroundColorModified&quot;:false,&quot;font&quot;:{&quot;size&quot;:12,&quot;family&quot;:&quot;Arial&quot;,&quot;color&quot;:&quot;#000000&quot;},&quot;ts&quot;:1768176875261,&quot;cs&quot;:&quot;a1kmH4z9mtSFfEjQKlE24Q==&quot;,&quot;size&quot;:{&quot;width&quot;:408.3333333333333,&quot;height&quot;:216.33333333333334}}"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866" y="235475"/>
            <a:ext cx="3889375" cy="20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50" y="2340950"/>
            <a:ext cx="2982600" cy="223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0688" y="2340950"/>
            <a:ext cx="2982600" cy="22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5525" y="2746812"/>
            <a:ext cx="3143826" cy="23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373950" y="4612100"/>
            <a:ext cx="265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43A40"/>
                </a:solidFill>
                <a:highlight>
                  <a:srgbClr val="FFFFFF"/>
                </a:highlight>
              </a:rPr>
              <a:t>interpretability_lab</a:t>
            </a:r>
            <a:r>
              <a:rPr lang="en" sz="1000">
                <a:solidFill>
                  <a:srgbClr val="343A40"/>
                </a:solidFill>
                <a:highlight>
                  <a:srgbClr val="FFFFFF"/>
                </a:highlight>
              </a:rPr>
              <a:t>.py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43A4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SHAP is a way to explain a model’s prediction by answering: “How much did each feature contribute to this prediction, compared to a baseline?”</a:t>
            </a: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43A40"/>
                </a:solidFill>
                <a:highlight>
                  <a:srgbClr val="FFFFFF"/>
                </a:highlight>
              </a:rPr>
              <a:t>Example:</a:t>
            </a:r>
            <a:b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</a:b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Suppose a house price model predicts $600k. The average model prediction is $450k.</a:t>
            </a: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SHAP might say:</a:t>
            </a: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baseline: $450k</a:t>
            </a:r>
            <a:b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+$120k for neighborhood</a:t>
            </a:r>
            <a:b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+$40k for square footage</a:t>
            </a:r>
            <a:b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−$10k for age</a:t>
            </a:r>
            <a:b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color&quot;:&quot;#343A40&quot;,&quot;family&quot;:&quot;Arial&quot;,&quot;size&quot;:13},&quot;aid&quot;:null,&quot;id&quot;:&quot;4&quot;,&quot;type&quot;:&quot;gather*&quot;,&quot;backgroundColor&quot;:&quot;#FFFFFF&quot;,&quot;backgroundColorModified&quot;:false,&quot;code&quot;:&quot;\\begin{gather*}\n{\\text{SHAP}\\;\\text{gives}\\;\\text{numbers}\\;\\Phi_{1},\\,\\Phi_{2}\\dots\\Phi_{d},\\,\\text{such}\\;\\text{that}}\\\\\n{f\\left(x\\right)\\sim\\Phi_{0}+\\sum_{i=1}^{d}\\Phi_{i}}\t\n\\end{gather*}&quot;,&quot;ts&quot;:1768172463156,&quot;cs&quot;:&quot;/EohMmS5Q1wgS2h2LTOj8A==&quot;,&quot;size&quot;:{&quot;width&quot;:399.3333333333333,&quot;height&quot;:83.66666666666667}}"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9925" y="2225450"/>
            <a:ext cx="3803650" cy="7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253950" y="3569075"/>
            <a:ext cx="8610900" cy="1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43A40"/>
                </a:solidFill>
                <a:highlight>
                  <a:srgbClr val="FFFFFF"/>
                </a:highlight>
              </a:rPr>
              <a:t>ϕj​ is the average marginal change in the model prediction when you add feature j, averaged over all subsets of other features you might already have.</a:t>
            </a: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To decide feature j’s contribution, you consider all possible orders in which features could be “revealed” to the model.</a:t>
            </a: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Sometimes feature j is revealed early (when little else is known)</a:t>
            </a: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Sometimes late (when many other features are known)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409375" y="3103275"/>
            <a:ext cx="163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Average prediction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37" name="Google Shape;137;p22"/>
          <p:cNvCxnSpPr>
            <a:stCxn id="136" idx="0"/>
          </p:cNvCxnSpPr>
          <p:nvPr/>
        </p:nvCxnSpPr>
        <p:spPr>
          <a:xfrm rot="10800000">
            <a:off x="5129675" y="2917875"/>
            <a:ext cx="96900" cy="1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vs Local SHAP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152475"/>
            <a:ext cx="8520600" cy="24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Compute local SHAP values for many samples x1, x2, … xn. Now you can ask:</a:t>
            </a: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Which features matter most overall? Rank global SHAP scores</a:t>
            </a:r>
            <a:b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Do features increase or decrease predictions? Examine the relationship between SHAP scores and predictions</a:t>
            </a:r>
            <a:b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Are effects linear or nonlinear? </a:t>
            </a: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Examine the relationship between SHAP scores and predictions</a:t>
            </a:r>
            <a:b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Are there interactions / heterogeneity? Spread in SHAP scores at the same xj indicates interactions</a:t>
            </a: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343A40"/>
              </a:solidFill>
              <a:highlight>
                <a:srgbClr val="FFFFFF"/>
              </a:highlight>
            </a:endParaRPr>
          </a:p>
        </p:txBody>
      </p:sp>
      <p:pic>
        <p:nvPicPr>
          <p:cNvPr descr="{&quot;backgroundColor&quot;:&quot;#FFFFFF&quot;,&quot;type&quot;:&quot;gather*&quot;,&quot;backgroundColorModified&quot;:false,&quot;id&quot;:&quot;4&quot;,&quot;code&quot;:&quot;\\begin{gather*}\n{\\text{Global}\\;\\text{feature}\\;\\text{importance}}\\\\\n{\\text{Global}\\;\\Phi_{j}=\\sum_{i=1}^{n}\\Phi_{j}\\left(x_{i}\\right)}\t\n\\end{gather*}&quot;,&quot;font&quot;:{&quot;family&quot;:&quot;Arial&quot;,&quot;color&quot;:&quot;#343A40&quot;,&quot;size&quot;:13},&quot;aid&quot;:null,&quot;ts&quot;:1768173928787,&quot;cs&quot;:&quot;BqGnntCgnlTjXajGuqROvA==&quot;,&quot;size&quot;:{&quot;width&quot;:229.80000000000004,&quot;height&quot;:79.80000000000001}}"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198" y="914175"/>
            <a:ext cx="2188845" cy="760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401675" y="3153500"/>
            <a:ext cx="7503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Key benefit of SHAP: </a:t>
            </a: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 sz="1200">
                <a:solidFill>
                  <a:srgbClr val="343A40"/>
                </a:solidFill>
                <a:highlight>
                  <a:srgbClr val="FFFFFF"/>
                </a:highlight>
              </a:rPr>
              <a:t>“Fair” credit assignment:</a:t>
            </a: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 If two features are redundant / correlated, SHAP doesn’t arbitrarily give all credit to one. It splits credit according to the Shapley fairness rules</a:t>
            </a:r>
            <a:b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343A40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 sz="1200">
                <a:solidFill>
                  <a:srgbClr val="343A40"/>
                </a:solidFill>
                <a:highlight>
                  <a:srgbClr val="FFFFFF"/>
                </a:highlight>
              </a:rPr>
              <a:t>Model agnostic:</a:t>
            </a:r>
            <a:r>
              <a:rPr lang="en" sz="1200">
                <a:solidFill>
                  <a:srgbClr val="343A40"/>
                </a:solidFill>
                <a:highlight>
                  <a:srgbClr val="FFFFFF"/>
                </a:highlight>
              </a:rPr>
              <a:t> Although model-specific variants exist (Eg., TreeSHAP) that are optimized for that architecture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SHAP: Example</a:t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536215" cy="18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602" y="1170125"/>
            <a:ext cx="2615678" cy="183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6040" y="951124"/>
            <a:ext cx="2928537" cy="2049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5480550" y="3171975"/>
            <a:ext cx="3653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Variables are arranged on the y axis in order of importance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Shap values are on the x-axis. Positive value means that feature increased model output wrt baseline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Red/Blue values indicate high/low feature values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A red point on the left side means a high feature value decreased prediction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3135025"/>
            <a:ext cx="2625143" cy="18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/>
        </p:nvSpPr>
        <p:spPr>
          <a:xfrm>
            <a:off x="573975" y="4840225"/>
            <a:ext cx="154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Dependence Plot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2841025" y="3575175"/>
            <a:ext cx="2704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When x1 is high (pink points), x3 is a positive driver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When x1 is low (blue points), x3 is a negative driver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If x1 and x3 were not interacting, the blue/red points would be mixed.. Because effect of x3 wouldn’t depend on x1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6382375" y="504750"/>
            <a:ext cx="184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Beeswarm/summary plot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