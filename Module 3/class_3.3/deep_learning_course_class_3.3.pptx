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2.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12.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g363ecbe50c2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8" name="Google Shape;58;g363ecbe50c2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 name="Shape 62"/>
        <p:cNvGrpSpPr/>
        <p:nvPr/>
      </p:nvGrpSpPr>
      <p:grpSpPr>
        <a:xfrm>
          <a:off x="0" y="0"/>
          <a:ext cx="0" cy="0"/>
          <a:chOff x="0" y="0"/>
          <a:chExt cx="0" cy="0"/>
        </a:xfrm>
      </p:grpSpPr>
      <p:sp>
        <p:nvSpPr>
          <p:cNvPr id="63" name="Google Shape;63;g39275143dc3_0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 name="Google Shape;64;g39275143dc3_0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g3ba4db0c255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 name="Google Shape;70;g3ba4db0c25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 name="Shape 78"/>
        <p:cNvGrpSpPr/>
        <p:nvPr/>
      </p:nvGrpSpPr>
      <p:grpSpPr>
        <a:xfrm>
          <a:off x="0" y="0"/>
          <a:ext cx="0" cy="0"/>
          <a:chOff x="0" y="0"/>
          <a:chExt cx="0" cy="0"/>
        </a:xfrm>
      </p:grpSpPr>
      <p:sp>
        <p:nvSpPr>
          <p:cNvPr id="79" name="Google Shape;79;g3ba4db0c255_0_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0" name="Google Shape;80;g3ba4db0c255_0_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g3ba4db0c255_0_5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3" name="Google Shape;93;g3ba4db0c255_0_5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g3ba4db0c255_0_1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 name="Google Shape;99;g3ba4db0c255_0_1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ba4db0c255_0_18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ba4db0c255_0_18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g3ba4db0c255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4" name="Google Shape;184;g3ba4db0c255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g3ba4db0c255_0_3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1" name="Google Shape;191;g3ba4db0c255_0_3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g3ba4db0c255_0_3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7" name="Google Shape;197;g3ba4db0c255_0_3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g3ba4db0c255_0_3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0" name="Google Shape;210;g3ba4db0c255_0_3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hyperlink" Target="https://arxiv.org/abs/1703.01365"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1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3.png"/><Relationship Id="rId4" Type="http://schemas.openxmlformats.org/officeDocument/2006/relationships/image" Target="../media/image8.png"/><Relationship Id="rId5"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24.png"/></Relationships>
</file>

<file path=ppt/slides/_rels/slide8.xml.rels><?xml version="1.0" encoding="UTF-8" standalone="yes"?><Relationships xmlns="http://schemas.openxmlformats.org/package/2006/relationships"><Relationship Id="rId20" Type="http://schemas.openxmlformats.org/officeDocument/2006/relationships/image" Target="../media/image16.png"/><Relationship Id="rId11" Type="http://schemas.openxmlformats.org/officeDocument/2006/relationships/image" Target="../media/image20.png"/><Relationship Id="rId22" Type="http://schemas.openxmlformats.org/officeDocument/2006/relationships/image" Target="../media/image22.png"/><Relationship Id="rId10" Type="http://schemas.openxmlformats.org/officeDocument/2006/relationships/image" Target="../media/image15.png"/><Relationship Id="rId21" Type="http://schemas.openxmlformats.org/officeDocument/2006/relationships/image" Target="../media/image18.png"/><Relationship Id="rId13" Type="http://schemas.openxmlformats.org/officeDocument/2006/relationships/image" Target="../media/image7.png"/><Relationship Id="rId24" Type="http://schemas.openxmlformats.org/officeDocument/2006/relationships/image" Target="../media/image23.png"/><Relationship Id="rId12" Type="http://schemas.openxmlformats.org/officeDocument/2006/relationships/image" Target="../media/image6.png"/><Relationship Id="rId23" Type="http://schemas.openxmlformats.org/officeDocument/2006/relationships/image" Target="../media/image21.png"/><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8.png"/><Relationship Id="rId4" Type="http://schemas.openxmlformats.org/officeDocument/2006/relationships/image" Target="../media/image5.png"/><Relationship Id="rId9" Type="http://schemas.openxmlformats.org/officeDocument/2006/relationships/image" Target="../media/image4.png"/><Relationship Id="rId15" Type="http://schemas.openxmlformats.org/officeDocument/2006/relationships/image" Target="../media/image3.png"/><Relationship Id="rId14" Type="http://schemas.openxmlformats.org/officeDocument/2006/relationships/image" Target="../media/image17.png"/><Relationship Id="rId17" Type="http://schemas.openxmlformats.org/officeDocument/2006/relationships/image" Target="../media/image1.png"/><Relationship Id="rId16" Type="http://schemas.openxmlformats.org/officeDocument/2006/relationships/image" Target="../media/image10.png"/><Relationship Id="rId5" Type="http://schemas.openxmlformats.org/officeDocument/2006/relationships/image" Target="../media/image12.png"/><Relationship Id="rId19" Type="http://schemas.openxmlformats.org/officeDocument/2006/relationships/image" Target="../media/image32.png"/><Relationship Id="rId6" Type="http://schemas.openxmlformats.org/officeDocument/2006/relationships/image" Target="../media/image11.png"/><Relationship Id="rId18" Type="http://schemas.openxmlformats.org/officeDocument/2006/relationships/image" Target="../media/image25.png"/><Relationship Id="rId7" Type="http://schemas.openxmlformats.org/officeDocument/2006/relationships/image" Target="../media/image9.png"/><Relationship Id="rId8" Type="http://schemas.openxmlformats.org/officeDocument/2006/relationships/image" Target="../media/image1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31.png"/><Relationship Id="rId4" Type="http://schemas.openxmlformats.org/officeDocument/2006/relationships/image" Target="../media/image3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3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Interpretability and Explainability</a:t>
            </a:r>
            <a:endParaRPr/>
          </a:p>
        </p:txBody>
      </p:sp>
      <p:sp>
        <p:nvSpPr>
          <p:cNvPr id="55" name="Google Shape;55;p13"/>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fontScale="85000" lnSpcReduction="20000"/>
          </a:bodyPr>
          <a:lstStyle/>
          <a:p>
            <a:pPr indent="0" lvl="0" marL="0" rtl="0" algn="ctr">
              <a:spcBef>
                <a:spcPts val="0"/>
              </a:spcBef>
              <a:spcAft>
                <a:spcPts val="0"/>
              </a:spcAft>
              <a:buNone/>
            </a:pPr>
            <a:r>
              <a:rPr lang="en"/>
              <a:t>Introduction to Deep Learning: Class 3.2</a:t>
            </a:r>
            <a:endParaRPr/>
          </a:p>
          <a:p>
            <a:pPr indent="0" lvl="0" marL="0" rtl="0" algn="ctr">
              <a:spcBef>
                <a:spcPts val="0"/>
              </a:spcBef>
              <a:spcAft>
                <a:spcPts val="0"/>
              </a:spcAft>
              <a:buNone/>
            </a:pPr>
            <a:r>
              <a:rPr lang="en"/>
              <a:t>Gradient-Based Methods</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p1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Module Agenda</a:t>
            </a:r>
            <a:endParaRPr/>
          </a:p>
        </p:txBody>
      </p:sp>
      <p:sp>
        <p:nvSpPr>
          <p:cNvPr id="61" name="Google Shape;61;p14"/>
          <p:cNvSpPr txBox="1"/>
          <p:nvPr>
            <p:ph idx="1" type="body"/>
          </p:nvPr>
        </p:nvSpPr>
        <p:spPr>
          <a:xfrm>
            <a:off x="311700" y="1293225"/>
            <a:ext cx="8520600" cy="32757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Experiment Tracking (Lecture 3.1)</a:t>
            </a:r>
            <a:endParaRPr/>
          </a:p>
          <a:p>
            <a:pPr indent="-342900" lvl="0" marL="457200" rtl="0" algn="l">
              <a:spcBef>
                <a:spcPts val="0"/>
              </a:spcBef>
              <a:spcAft>
                <a:spcPts val="0"/>
              </a:spcAft>
              <a:buSzPts val="1800"/>
              <a:buChar char="-"/>
            </a:pPr>
            <a:r>
              <a:rPr lang="en"/>
              <a:t>Monitoring/Observability (Lecture 3.1)</a:t>
            </a:r>
            <a:endParaRPr/>
          </a:p>
          <a:p>
            <a:pPr indent="-342900" lvl="0" marL="457200" rtl="0" algn="l">
              <a:spcBef>
                <a:spcPts val="0"/>
              </a:spcBef>
              <a:spcAft>
                <a:spcPts val="0"/>
              </a:spcAft>
              <a:buSzPts val="1800"/>
              <a:buChar char="-"/>
            </a:pPr>
            <a:r>
              <a:rPr b="1" lang="en"/>
              <a:t>Explaining model predictions (Lecture 3.2)</a:t>
            </a:r>
            <a:endParaRPr b="1"/>
          </a:p>
          <a:p>
            <a:pPr indent="-342900" lvl="0" marL="457200" rtl="0" algn="l">
              <a:spcBef>
                <a:spcPts val="0"/>
              </a:spcBef>
              <a:spcAft>
                <a:spcPts val="0"/>
              </a:spcAft>
              <a:buSzPts val="1800"/>
              <a:buChar char="-"/>
            </a:pPr>
            <a:r>
              <a:rPr lang="en"/>
              <a:t>Profiling</a:t>
            </a:r>
            <a:endParaRPr/>
          </a:p>
          <a:p>
            <a:pPr indent="0" lvl="0" marL="0" rtl="0" algn="l">
              <a:spcBef>
                <a:spcPts val="1200"/>
              </a:spcBef>
              <a:spcAft>
                <a:spcPts val="1200"/>
              </a:spcAft>
              <a:buNone/>
            </a:pPr>
            <a:r>
              <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 name="Shape 65"/>
        <p:cNvGrpSpPr/>
        <p:nvPr/>
      </p:nvGrpSpPr>
      <p:grpSpPr>
        <a:xfrm>
          <a:off x="0" y="0"/>
          <a:ext cx="0" cy="0"/>
          <a:chOff x="0" y="0"/>
          <a:chExt cx="0" cy="0"/>
        </a:xfrm>
      </p:grpSpPr>
      <p:sp>
        <p:nvSpPr>
          <p:cNvPr id="66" name="Google Shape;66;p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Pre-read</a:t>
            </a:r>
            <a:endParaRPr/>
          </a:p>
        </p:txBody>
      </p:sp>
      <p:sp>
        <p:nvSpPr>
          <p:cNvPr id="67" name="Google Shape;67;p1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Integrated gradients </a:t>
            </a:r>
            <a:r>
              <a:rPr lang="en" u="sng">
                <a:solidFill>
                  <a:schemeClr val="hlink"/>
                </a:solidFill>
                <a:hlinkClick r:id="rId3"/>
              </a:rPr>
              <a:t>paper</a:t>
            </a:r>
            <a:endParaRPr/>
          </a:p>
          <a:p>
            <a:pPr indent="-342900" lvl="0" marL="457200" rtl="0" algn="l">
              <a:spcBef>
                <a:spcPts val="0"/>
              </a:spcBef>
              <a:spcAft>
                <a:spcPts val="0"/>
              </a:spcAft>
              <a:buSzPts val="1800"/>
              <a:buChar char="-"/>
            </a:pPr>
            <a:r>
              <a:rPr lang="en"/>
              <a:t>Christoph Molnar — *Interpretable Machine Learning* (free online book): https://christophm.github.io/interpretable-ml-book/</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 name="Shape 71"/>
        <p:cNvGrpSpPr/>
        <p:nvPr/>
      </p:nvGrpSpPr>
      <p:grpSpPr>
        <a:xfrm>
          <a:off x="0" y="0"/>
          <a:ext cx="0" cy="0"/>
          <a:chOff x="0" y="0"/>
          <a:chExt cx="0" cy="0"/>
        </a:xfrm>
      </p:grpSpPr>
      <p:sp>
        <p:nvSpPr>
          <p:cNvPr id="72" name="Google Shape;72;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Interpretable ML Models</a:t>
            </a:r>
            <a:endParaRPr/>
          </a:p>
        </p:txBody>
      </p:sp>
      <p:sp>
        <p:nvSpPr>
          <p:cNvPr id="73" name="Google Shape;73;p16"/>
          <p:cNvSpPr txBox="1"/>
          <p:nvPr>
            <p:ph idx="1" type="body"/>
          </p:nvPr>
        </p:nvSpPr>
        <p:spPr>
          <a:xfrm>
            <a:off x="349350" y="1109075"/>
            <a:ext cx="8520600" cy="640800"/>
          </a:xfrm>
          <a:prstGeom prst="rect">
            <a:avLst/>
          </a:prstGeom>
        </p:spPr>
        <p:txBody>
          <a:bodyPr anchorCtr="0" anchor="t" bIns="91425" lIns="91425" spcFirstLastPara="1" rIns="91425" wrap="square" tIns="91425">
            <a:normAutofit/>
          </a:bodyPr>
          <a:lstStyle/>
          <a:p>
            <a:pPr indent="0" lvl="0" marL="0" rtl="0" algn="l">
              <a:spcBef>
                <a:spcPts val="1200"/>
              </a:spcBef>
              <a:spcAft>
                <a:spcPts val="1200"/>
              </a:spcAft>
              <a:buNone/>
            </a:pPr>
            <a:r>
              <a:rPr lang="en" sz="1657"/>
              <a:t>Why is a ML model making a certain prediction? Is it learning the right thing?</a:t>
            </a:r>
            <a:endParaRPr sz="100"/>
          </a:p>
        </p:txBody>
      </p:sp>
      <p:sp>
        <p:nvSpPr>
          <p:cNvPr id="74" name="Google Shape;74;p16"/>
          <p:cNvSpPr txBox="1"/>
          <p:nvPr/>
        </p:nvSpPr>
        <p:spPr>
          <a:xfrm>
            <a:off x="73850" y="1717575"/>
            <a:ext cx="3005700" cy="1754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200">
                <a:solidFill>
                  <a:schemeClr val="dk2"/>
                </a:solidFill>
              </a:rPr>
              <a:t>Inherently/Intrinsically Interpretable</a:t>
            </a:r>
            <a:endParaRPr b="1" sz="1200">
              <a:solidFill>
                <a:schemeClr val="dk2"/>
              </a:solidFill>
            </a:endParaRPr>
          </a:p>
          <a:p>
            <a:pPr indent="0" lvl="0" marL="0" rtl="0" algn="l">
              <a:spcBef>
                <a:spcPts val="0"/>
              </a:spcBef>
              <a:spcAft>
                <a:spcPts val="0"/>
              </a:spcAft>
              <a:buNone/>
            </a:pPr>
            <a:r>
              <a:rPr lang="en" sz="1200">
                <a:solidFill>
                  <a:schemeClr val="dk2"/>
                </a:solidFill>
              </a:rPr>
              <a:t>Some models are interpretable by design. Eg., linear regression models and gradient boosted trees. Other architectures eg., neural networks require specialized methods to understand their predictions</a:t>
            </a:r>
            <a:endParaRPr sz="1200">
              <a:solidFill>
                <a:schemeClr val="dk2"/>
              </a:solidFill>
            </a:endParaRPr>
          </a:p>
          <a:p>
            <a:pPr indent="0" lvl="0" marL="0" rtl="0" algn="l">
              <a:spcBef>
                <a:spcPts val="0"/>
              </a:spcBef>
              <a:spcAft>
                <a:spcPts val="0"/>
              </a:spcAft>
              <a:buNone/>
            </a:pPr>
            <a:r>
              <a:t/>
            </a:r>
            <a:endParaRPr sz="1800">
              <a:solidFill>
                <a:schemeClr val="dk2"/>
              </a:solidFill>
            </a:endParaRPr>
          </a:p>
        </p:txBody>
      </p:sp>
      <p:pic>
        <p:nvPicPr>
          <p:cNvPr id="75" name="Google Shape;75;p16"/>
          <p:cNvPicPr preferRelativeResize="0"/>
          <p:nvPr/>
        </p:nvPicPr>
        <p:blipFill>
          <a:blip r:embed="rId3">
            <a:alphaModFix/>
          </a:blip>
          <a:stretch>
            <a:fillRect/>
          </a:stretch>
        </p:blipFill>
        <p:spPr>
          <a:xfrm>
            <a:off x="37050" y="3070400"/>
            <a:ext cx="3975249" cy="1612725"/>
          </a:xfrm>
          <a:prstGeom prst="rect">
            <a:avLst/>
          </a:prstGeom>
          <a:noFill/>
          <a:ln>
            <a:noFill/>
          </a:ln>
        </p:spPr>
      </p:pic>
      <p:sp>
        <p:nvSpPr>
          <p:cNvPr id="76" name="Google Shape;76;p16"/>
          <p:cNvSpPr txBox="1"/>
          <p:nvPr/>
        </p:nvSpPr>
        <p:spPr>
          <a:xfrm>
            <a:off x="3144300" y="1717575"/>
            <a:ext cx="3366000" cy="212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200">
                <a:solidFill>
                  <a:schemeClr val="dk2"/>
                </a:solidFill>
              </a:rPr>
              <a:t>Model specific vs. Model agnostic </a:t>
            </a:r>
            <a:endParaRPr b="1" sz="1200">
              <a:solidFill>
                <a:schemeClr val="dk2"/>
              </a:solidFill>
            </a:endParaRPr>
          </a:p>
          <a:p>
            <a:pPr indent="0" lvl="0" marL="0" rtl="0" algn="l">
              <a:spcBef>
                <a:spcPts val="0"/>
              </a:spcBef>
              <a:spcAft>
                <a:spcPts val="0"/>
              </a:spcAft>
              <a:buNone/>
            </a:pPr>
            <a:r>
              <a:rPr lang="en" sz="1200">
                <a:solidFill>
                  <a:schemeClr val="dk2"/>
                </a:solidFill>
              </a:rPr>
              <a:t>Model agnostic methods treat the model as a black box and analyze how the model output changes in response to a perturbation in model input. Eg., ICE, PDP, Shap. </a:t>
            </a:r>
            <a:endParaRPr sz="1200">
              <a:solidFill>
                <a:schemeClr val="dk2"/>
              </a:solidFill>
            </a:endParaRPr>
          </a:p>
          <a:p>
            <a:pPr indent="0" lvl="0" marL="0" rtl="0" algn="l">
              <a:spcBef>
                <a:spcPts val="0"/>
              </a:spcBef>
              <a:spcAft>
                <a:spcPts val="0"/>
              </a:spcAft>
              <a:buNone/>
            </a:pPr>
            <a:r>
              <a:t/>
            </a:r>
            <a:endParaRPr sz="1200">
              <a:solidFill>
                <a:schemeClr val="dk2"/>
              </a:solidFill>
            </a:endParaRPr>
          </a:p>
          <a:p>
            <a:pPr indent="0" lvl="0" marL="0" rtl="0" algn="l">
              <a:spcBef>
                <a:spcPts val="0"/>
              </a:spcBef>
              <a:spcAft>
                <a:spcPts val="0"/>
              </a:spcAft>
              <a:buNone/>
            </a:pPr>
            <a:r>
              <a:rPr lang="en" sz="1200">
                <a:solidFill>
                  <a:schemeClr val="dk2"/>
                </a:solidFill>
              </a:rPr>
              <a:t>Model specific methods use knowledge of the model architecture. Eg., integrated gradients for neural networks</a:t>
            </a:r>
            <a:endParaRPr sz="1200">
              <a:solidFill>
                <a:schemeClr val="dk2"/>
              </a:solidFill>
            </a:endParaRPr>
          </a:p>
          <a:p>
            <a:pPr indent="0" lvl="0" marL="0" rtl="0" algn="l">
              <a:spcBef>
                <a:spcPts val="0"/>
              </a:spcBef>
              <a:spcAft>
                <a:spcPts val="0"/>
              </a:spcAft>
              <a:buNone/>
            </a:pPr>
            <a:r>
              <a:t/>
            </a:r>
            <a:endParaRPr sz="1800">
              <a:solidFill>
                <a:schemeClr val="dk2"/>
              </a:solidFill>
            </a:endParaRPr>
          </a:p>
        </p:txBody>
      </p:sp>
      <p:sp>
        <p:nvSpPr>
          <p:cNvPr id="77" name="Google Shape;77;p16"/>
          <p:cNvSpPr txBox="1"/>
          <p:nvPr/>
        </p:nvSpPr>
        <p:spPr>
          <a:xfrm>
            <a:off x="6533350" y="1717575"/>
            <a:ext cx="2659500" cy="1200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200">
                <a:solidFill>
                  <a:schemeClr val="dk2"/>
                </a:solidFill>
              </a:rPr>
              <a:t>Local vs. Global</a:t>
            </a:r>
            <a:endParaRPr b="1" sz="1200">
              <a:solidFill>
                <a:schemeClr val="dk2"/>
              </a:solidFill>
            </a:endParaRPr>
          </a:p>
          <a:p>
            <a:pPr indent="0" lvl="0" marL="0" rtl="0" algn="l">
              <a:spcBef>
                <a:spcPts val="0"/>
              </a:spcBef>
              <a:spcAft>
                <a:spcPts val="0"/>
              </a:spcAft>
              <a:buNone/>
            </a:pPr>
            <a:r>
              <a:rPr b="1" lang="en" sz="1200">
                <a:solidFill>
                  <a:schemeClr val="dk2"/>
                </a:solidFill>
              </a:rPr>
              <a:t>Local: </a:t>
            </a:r>
            <a:r>
              <a:rPr lang="en" sz="1200">
                <a:solidFill>
                  <a:schemeClr val="dk2"/>
                </a:solidFill>
              </a:rPr>
              <a:t>Explain individual predictions</a:t>
            </a:r>
            <a:endParaRPr sz="1200">
              <a:solidFill>
                <a:schemeClr val="dk2"/>
              </a:solidFill>
            </a:endParaRPr>
          </a:p>
          <a:p>
            <a:pPr indent="0" lvl="0" marL="0" rtl="0" algn="l">
              <a:spcBef>
                <a:spcPts val="0"/>
              </a:spcBef>
              <a:spcAft>
                <a:spcPts val="0"/>
              </a:spcAft>
              <a:buNone/>
            </a:pPr>
            <a:r>
              <a:rPr b="1" lang="en" sz="1200">
                <a:solidFill>
                  <a:schemeClr val="dk2"/>
                </a:solidFill>
              </a:rPr>
              <a:t>Global:</a:t>
            </a:r>
            <a:r>
              <a:rPr lang="en" sz="1200">
                <a:solidFill>
                  <a:schemeClr val="dk2"/>
                </a:solidFill>
              </a:rPr>
              <a:t> How features influence predictions on average</a:t>
            </a:r>
            <a:endParaRPr sz="1200">
              <a:solidFill>
                <a:schemeClr val="dk2"/>
              </a:solidFill>
            </a:endParaRPr>
          </a:p>
          <a:p>
            <a:pPr indent="0" lvl="0" marL="0" rtl="0" algn="l">
              <a:spcBef>
                <a:spcPts val="0"/>
              </a:spcBef>
              <a:spcAft>
                <a:spcPts val="0"/>
              </a:spcAft>
              <a:buNone/>
            </a:pPr>
            <a:r>
              <a:t/>
            </a:r>
            <a:endParaRPr sz="1800">
              <a:solidFill>
                <a:schemeClr val="dk2"/>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 name="Shape 81"/>
        <p:cNvGrpSpPr/>
        <p:nvPr/>
      </p:nvGrpSpPr>
      <p:grpSpPr>
        <a:xfrm>
          <a:off x="0" y="0"/>
          <a:ext cx="0" cy="0"/>
          <a:chOff x="0" y="0"/>
          <a:chExt cx="0" cy="0"/>
        </a:xfrm>
      </p:grpSpPr>
      <p:sp>
        <p:nvSpPr>
          <p:cNvPr id="82" name="Google Shape;82;p1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Interpretability in Neural Networks</a:t>
            </a:r>
            <a:endParaRPr/>
          </a:p>
        </p:txBody>
      </p:sp>
      <p:pic>
        <p:nvPicPr>
          <p:cNvPr id="83" name="Google Shape;83;p17"/>
          <p:cNvPicPr preferRelativeResize="0"/>
          <p:nvPr/>
        </p:nvPicPr>
        <p:blipFill>
          <a:blip r:embed="rId3">
            <a:alphaModFix/>
          </a:blip>
          <a:stretch>
            <a:fillRect/>
          </a:stretch>
        </p:blipFill>
        <p:spPr>
          <a:xfrm>
            <a:off x="152400" y="1308350"/>
            <a:ext cx="2414725" cy="2492825"/>
          </a:xfrm>
          <a:prstGeom prst="rect">
            <a:avLst/>
          </a:prstGeom>
          <a:noFill/>
          <a:ln>
            <a:noFill/>
          </a:ln>
        </p:spPr>
      </p:pic>
      <p:pic>
        <p:nvPicPr>
          <p:cNvPr id="84" name="Google Shape;84;p17"/>
          <p:cNvPicPr preferRelativeResize="0"/>
          <p:nvPr/>
        </p:nvPicPr>
        <p:blipFill>
          <a:blip r:embed="rId4">
            <a:alphaModFix/>
          </a:blip>
          <a:stretch>
            <a:fillRect/>
          </a:stretch>
        </p:blipFill>
        <p:spPr>
          <a:xfrm>
            <a:off x="2853425" y="1308350"/>
            <a:ext cx="2622310" cy="2492825"/>
          </a:xfrm>
          <a:prstGeom prst="rect">
            <a:avLst/>
          </a:prstGeom>
          <a:noFill/>
          <a:ln>
            <a:noFill/>
          </a:ln>
        </p:spPr>
      </p:pic>
      <p:sp>
        <p:nvSpPr>
          <p:cNvPr id="85" name="Google Shape;85;p17"/>
          <p:cNvSpPr txBox="1"/>
          <p:nvPr/>
        </p:nvSpPr>
        <p:spPr>
          <a:xfrm>
            <a:off x="96963" y="3892250"/>
            <a:ext cx="2659500" cy="646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500">
                <a:solidFill>
                  <a:schemeClr val="dk2"/>
                </a:solidFill>
              </a:rPr>
              <a:t>Why did the model label this image as a fireboat?</a:t>
            </a:r>
            <a:endParaRPr sz="1500">
              <a:solidFill>
                <a:schemeClr val="dk2"/>
              </a:solidFill>
            </a:endParaRPr>
          </a:p>
        </p:txBody>
      </p:sp>
      <p:sp>
        <p:nvSpPr>
          <p:cNvPr id="86" name="Google Shape;86;p17"/>
          <p:cNvSpPr txBox="1"/>
          <p:nvPr/>
        </p:nvSpPr>
        <p:spPr>
          <a:xfrm>
            <a:off x="2907538" y="3953575"/>
            <a:ext cx="2659500" cy="646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500">
                <a:solidFill>
                  <a:schemeClr val="dk2"/>
                </a:solidFill>
              </a:rPr>
              <a:t>Why did the model label this image as a shoe?</a:t>
            </a:r>
            <a:endParaRPr sz="1500">
              <a:solidFill>
                <a:schemeClr val="dk2"/>
              </a:solidFill>
            </a:endParaRPr>
          </a:p>
        </p:txBody>
      </p:sp>
      <p:pic>
        <p:nvPicPr>
          <p:cNvPr id="87" name="Google Shape;87;p17"/>
          <p:cNvPicPr preferRelativeResize="0"/>
          <p:nvPr/>
        </p:nvPicPr>
        <p:blipFill>
          <a:blip r:embed="rId5">
            <a:alphaModFix/>
          </a:blip>
          <a:stretch>
            <a:fillRect/>
          </a:stretch>
        </p:blipFill>
        <p:spPr>
          <a:xfrm>
            <a:off x="5773552" y="1170125"/>
            <a:ext cx="3218047" cy="2034941"/>
          </a:xfrm>
          <a:prstGeom prst="rect">
            <a:avLst/>
          </a:prstGeom>
          <a:noFill/>
          <a:ln>
            <a:noFill/>
          </a:ln>
        </p:spPr>
      </p:pic>
      <p:sp>
        <p:nvSpPr>
          <p:cNvPr id="88" name="Google Shape;88;p17"/>
          <p:cNvSpPr txBox="1"/>
          <p:nvPr/>
        </p:nvSpPr>
        <p:spPr>
          <a:xfrm>
            <a:off x="6296563" y="3972075"/>
            <a:ext cx="2659500" cy="646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500">
                <a:solidFill>
                  <a:schemeClr val="dk2"/>
                </a:solidFill>
              </a:rPr>
              <a:t>Why did the model label this text as a positive sentiment?</a:t>
            </a:r>
            <a:endParaRPr sz="1500">
              <a:solidFill>
                <a:schemeClr val="dk2"/>
              </a:solidFill>
            </a:endParaRPr>
          </a:p>
        </p:txBody>
      </p:sp>
      <p:sp>
        <p:nvSpPr>
          <p:cNvPr id="89" name="Google Shape;89;p17"/>
          <p:cNvSpPr txBox="1"/>
          <p:nvPr/>
        </p:nvSpPr>
        <p:spPr>
          <a:xfrm>
            <a:off x="234199" y="974275"/>
            <a:ext cx="2485200" cy="38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300">
                <a:solidFill>
                  <a:schemeClr val="dk2"/>
                </a:solidFill>
              </a:rPr>
              <a:t>Model prediction: Fireboat</a:t>
            </a:r>
            <a:endParaRPr b="1" sz="1300">
              <a:solidFill>
                <a:schemeClr val="dk2"/>
              </a:solidFill>
            </a:endParaRPr>
          </a:p>
        </p:txBody>
      </p:sp>
      <p:sp>
        <p:nvSpPr>
          <p:cNvPr id="90" name="Google Shape;90;p17"/>
          <p:cNvSpPr txBox="1"/>
          <p:nvPr/>
        </p:nvSpPr>
        <p:spPr>
          <a:xfrm>
            <a:off x="3003874" y="974275"/>
            <a:ext cx="2485200" cy="38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300">
                <a:solidFill>
                  <a:schemeClr val="dk2"/>
                </a:solidFill>
              </a:rPr>
              <a:t>Model prediction: Shoe</a:t>
            </a:r>
            <a:endParaRPr b="1" sz="1300">
              <a:solidFill>
                <a:schemeClr val="dk2"/>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Interpretability and Attribution</a:t>
            </a:r>
            <a:endParaRPr/>
          </a:p>
        </p:txBody>
      </p:sp>
      <p:sp>
        <p:nvSpPr>
          <p:cNvPr id="96" name="Google Shape;96;p18"/>
          <p:cNvSpPr txBox="1"/>
          <p:nvPr>
            <p:ph idx="1" type="body"/>
          </p:nvPr>
        </p:nvSpPr>
        <p:spPr>
          <a:xfrm>
            <a:off x="275475" y="1113700"/>
            <a:ext cx="8520600" cy="3586500"/>
          </a:xfrm>
          <a:prstGeom prst="rect">
            <a:avLst/>
          </a:prstGeom>
        </p:spPr>
        <p:txBody>
          <a:bodyPr anchorCtr="0" anchor="t" bIns="91425" lIns="91425" spcFirstLastPara="1" rIns="91425" wrap="square" tIns="91425">
            <a:normAutofit fontScale="32500" lnSpcReduction="20000"/>
          </a:bodyPr>
          <a:lstStyle/>
          <a:p>
            <a:pPr indent="0" lvl="0" marL="0" rtl="0" algn="l">
              <a:spcBef>
                <a:spcPts val="1200"/>
              </a:spcBef>
              <a:spcAft>
                <a:spcPts val="0"/>
              </a:spcAft>
              <a:buNone/>
            </a:pPr>
            <a:r>
              <a:rPr lang="en" sz="2857"/>
              <a:t>Interpretability can be thought of as an </a:t>
            </a:r>
            <a:r>
              <a:rPr i="1" lang="en" sz="2857"/>
              <a:t>attribution</a:t>
            </a:r>
            <a:r>
              <a:rPr lang="en" sz="2857"/>
              <a:t> problem:</a:t>
            </a:r>
            <a:endParaRPr sz="2857"/>
          </a:p>
          <a:p>
            <a:pPr indent="0" lvl="0" marL="0" rtl="0" algn="l">
              <a:spcBef>
                <a:spcPts val="1200"/>
              </a:spcBef>
              <a:spcAft>
                <a:spcPts val="0"/>
              </a:spcAft>
              <a:buNone/>
            </a:pPr>
            <a:r>
              <a:rPr lang="en" sz="2857"/>
              <a:t>Attribute the model’s prediction on an input or features of the input</a:t>
            </a:r>
            <a:endParaRPr sz="2857"/>
          </a:p>
          <a:p>
            <a:pPr indent="0" lvl="0" marL="0" rtl="0" algn="l">
              <a:spcBef>
                <a:spcPts val="1200"/>
              </a:spcBef>
              <a:spcAft>
                <a:spcPts val="0"/>
              </a:spcAft>
              <a:buNone/>
            </a:pPr>
            <a:r>
              <a:rPr lang="en" sz="2857"/>
              <a:t>Eg: </a:t>
            </a:r>
            <a:endParaRPr sz="2857"/>
          </a:p>
          <a:p>
            <a:pPr indent="-287577" lvl="0" marL="457200" rtl="0" algn="l">
              <a:spcBef>
                <a:spcPts val="1200"/>
              </a:spcBef>
              <a:spcAft>
                <a:spcPts val="0"/>
              </a:spcAft>
              <a:buSzPct val="100000"/>
              <a:buChar char="-"/>
            </a:pPr>
            <a:r>
              <a:rPr lang="en" sz="2857"/>
              <a:t>Attribute an object recognition network’s output to input image pixels</a:t>
            </a:r>
            <a:endParaRPr sz="2857"/>
          </a:p>
          <a:p>
            <a:pPr indent="-287577" lvl="0" marL="457200" rtl="0" algn="l">
              <a:spcBef>
                <a:spcPts val="0"/>
              </a:spcBef>
              <a:spcAft>
                <a:spcPts val="0"/>
              </a:spcAft>
              <a:buSzPct val="100000"/>
              <a:buChar char="-"/>
            </a:pPr>
            <a:r>
              <a:rPr lang="en" sz="2857"/>
              <a:t>Attribute a sentiment analysis classifier’s output to individual words</a:t>
            </a:r>
            <a:endParaRPr sz="2857"/>
          </a:p>
          <a:p>
            <a:pPr indent="0" lvl="0" marL="0" rtl="0" algn="l">
              <a:spcBef>
                <a:spcPts val="1200"/>
              </a:spcBef>
              <a:spcAft>
                <a:spcPts val="0"/>
              </a:spcAft>
              <a:buNone/>
            </a:pPr>
            <a:r>
              <a:rPr lang="en" sz="2857"/>
              <a:t>Interpreting a network’s prediction helps us </a:t>
            </a:r>
            <a:r>
              <a:rPr i="1" lang="en" sz="2857"/>
              <a:t>build confidence</a:t>
            </a:r>
            <a:r>
              <a:rPr lang="en" sz="2857"/>
              <a:t> in its output</a:t>
            </a:r>
            <a:endParaRPr sz="2857"/>
          </a:p>
          <a:p>
            <a:pPr indent="0" lvl="0" marL="0" rtl="0" algn="l">
              <a:spcBef>
                <a:spcPts val="1200"/>
              </a:spcBef>
              <a:spcAft>
                <a:spcPts val="0"/>
              </a:spcAft>
              <a:buNone/>
            </a:pPr>
            <a:r>
              <a:rPr lang="en" sz="2857"/>
              <a:t>So how do we do this?</a:t>
            </a:r>
            <a:endParaRPr sz="2857"/>
          </a:p>
          <a:p>
            <a:pPr indent="0" lvl="0" marL="0" rtl="0" algn="l">
              <a:spcBef>
                <a:spcPts val="1200"/>
              </a:spcBef>
              <a:spcAft>
                <a:spcPts val="0"/>
              </a:spcAft>
              <a:buNone/>
            </a:pPr>
            <a:r>
              <a:rPr lang="en" sz="2857"/>
              <a:t>We could vary each input feature, run the modified input through the network and see how the network output changes (similar to ICE/PDP we considered in the previous class). </a:t>
            </a:r>
            <a:endParaRPr sz="2857"/>
          </a:p>
          <a:p>
            <a:pPr indent="0" lvl="0" marL="0" rtl="0" algn="l">
              <a:spcBef>
                <a:spcPts val="1200"/>
              </a:spcBef>
              <a:spcAft>
                <a:spcPts val="0"/>
              </a:spcAft>
              <a:buNone/>
            </a:pPr>
            <a:r>
              <a:rPr lang="en" sz="2857"/>
              <a:t>Issues with this approach:</a:t>
            </a:r>
            <a:endParaRPr sz="2857"/>
          </a:p>
          <a:p>
            <a:pPr indent="-287577" lvl="0" marL="457200" rtl="0" algn="l">
              <a:spcBef>
                <a:spcPts val="1200"/>
              </a:spcBef>
              <a:spcAft>
                <a:spcPts val="0"/>
              </a:spcAft>
              <a:buSzPct val="100000"/>
              <a:buChar char="-"/>
            </a:pPr>
            <a:r>
              <a:rPr lang="en" sz="2857"/>
              <a:t>Features can be correlated. Changing one feature independently of others can result in unrealistic input points. We also saw this with ICE/PDP</a:t>
            </a:r>
            <a:endParaRPr sz="2857"/>
          </a:p>
          <a:p>
            <a:pPr indent="-287577" lvl="0" marL="457200" rtl="0" algn="l">
              <a:spcBef>
                <a:spcPts val="0"/>
              </a:spcBef>
              <a:spcAft>
                <a:spcPts val="0"/>
              </a:spcAft>
              <a:buSzPct val="100000"/>
              <a:buChar char="-"/>
            </a:pPr>
            <a:r>
              <a:rPr lang="en" sz="2857"/>
              <a:t>Running forward pass on a neural network is computationally expensive.</a:t>
            </a:r>
            <a:endParaRPr sz="2857"/>
          </a:p>
          <a:p>
            <a:pPr indent="0" lvl="0" marL="0" rtl="0" algn="l">
              <a:spcBef>
                <a:spcPts val="1200"/>
              </a:spcBef>
              <a:spcAft>
                <a:spcPts val="0"/>
              </a:spcAft>
              <a:buNone/>
            </a:pPr>
            <a:r>
              <a:t/>
            </a:r>
            <a:endParaRPr sz="1657"/>
          </a:p>
          <a:p>
            <a:pPr indent="0" lvl="0" marL="0" rtl="0" algn="l">
              <a:spcBef>
                <a:spcPts val="1200"/>
              </a:spcBef>
              <a:spcAft>
                <a:spcPts val="1200"/>
              </a:spcAft>
              <a:buNone/>
            </a:pPr>
            <a:r>
              <a:t/>
            </a:r>
            <a:endParaRPr sz="1657"/>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gradients give explanations..</a:t>
            </a:r>
            <a:endParaRPr/>
          </a:p>
        </p:txBody>
      </p:sp>
      <p:pic>
        <p:nvPicPr>
          <p:cNvPr descr="{&quot;aid&quot;:null,&quot;backgroundColor&quot;:&quot;#FFFFFF&quot;,&quot;code&quot;:&quot;\\begin{gather*}\n{\\text{A}\\;\\text{trained}\\;\\text{neural}\\;\\text{network}\\;\\text{defines}\\;\\text{a}\\;\\text{function}\\;f\\left(x\\right)\\;\\text{that}\\;\\text{can}\\;\\text{output}\\;\\text{a}\\;\\text{logit/probability/regression}\\;\\text{output}\\;\\text{etc}}\\\\\n{\\Delta_{x}f\\left(x\\right)=\\left[\\pdf{f}{x_{1}},\\pdf{f}{x_{2}}...\\pdf{f}{x_{n}}\\right]}\\\\\n{\\text{If}\\;\\pdf{f}{x_{1}}\\text{is}\\;\\text{large,}\\;\\text{then}\\;\\text{a}\\;\\text{small}\\;\\text{change}\\;\\text{in}\\;x_{i}\\;\\text{changes}\\;f\\left(x\\right)\\,\\text{a}\\;\\text{lot}}\t\n\\end{gather*}&quot;,&quot;font&quot;:{&quot;color&quot;:&quot;#000000&quot;,&quot;family&quot;:&quot;Arial&quot;,&quot;size&quot;:12},&quot;backgroundColorModified&quot;:false,&quot;type&quot;:&quot;gather*&quot;,&quot;id&quot;:&quot;1&quot;,&quot;ts&quot;:1769131785505,&quot;cs&quot;:&quot;jfTCv+5xrxl/wIV1b9HTbQ==&quot;,&quot;size&quot;:{&quot;width&quot;:867,&quot;height&quot;:117}}" id="102" name="Google Shape;102;p19"/>
          <p:cNvPicPr preferRelativeResize="0"/>
          <p:nvPr/>
        </p:nvPicPr>
        <p:blipFill>
          <a:blip r:embed="rId3">
            <a:alphaModFix/>
          </a:blip>
          <a:stretch>
            <a:fillRect/>
          </a:stretch>
        </p:blipFill>
        <p:spPr>
          <a:xfrm>
            <a:off x="442923" y="1246625"/>
            <a:ext cx="6801374" cy="917825"/>
          </a:xfrm>
          <a:prstGeom prst="rect">
            <a:avLst/>
          </a:prstGeom>
          <a:noFill/>
          <a:ln>
            <a:noFill/>
          </a:ln>
        </p:spPr>
      </p:pic>
      <p:sp>
        <p:nvSpPr>
          <p:cNvPr id="103" name="Google Shape;103;p19"/>
          <p:cNvSpPr txBox="1"/>
          <p:nvPr/>
        </p:nvSpPr>
        <p:spPr>
          <a:xfrm>
            <a:off x="442925" y="2419375"/>
            <a:ext cx="82926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800">
                <a:solidFill>
                  <a:schemeClr val="dk2"/>
                </a:solidFill>
              </a:rPr>
              <a:t>Where do we get these gradients? Backpropagation gives them to us for free! </a:t>
            </a:r>
            <a:endParaRPr sz="1800">
              <a:solidFill>
                <a:schemeClr val="dk2"/>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sp>
        <p:nvSpPr>
          <p:cNvPr id="108" name="Google Shape;108;p20"/>
          <p:cNvSpPr txBox="1"/>
          <p:nvPr/>
        </p:nvSpPr>
        <p:spPr>
          <a:xfrm>
            <a:off x="7525" y="1242363"/>
            <a:ext cx="30138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sz="1800">
              <a:solidFill>
                <a:schemeClr val="dk2"/>
              </a:solidFill>
            </a:endParaRPr>
          </a:p>
        </p:txBody>
      </p:sp>
      <p:sp>
        <p:nvSpPr>
          <p:cNvPr id="109" name="Google Shape;109;p20"/>
          <p:cNvSpPr/>
          <p:nvPr/>
        </p:nvSpPr>
        <p:spPr>
          <a:xfrm>
            <a:off x="486298" y="1492050"/>
            <a:ext cx="618600" cy="1100100"/>
          </a:xfrm>
          <a:prstGeom prst="roundRect">
            <a:avLst>
              <a:gd fmla="val 9734" name="adj"/>
            </a:avLst>
          </a:prstGeom>
          <a:solidFill>
            <a:srgbClr val="EEEEEE"/>
          </a:solidFill>
          <a:ln cap="flat" cmpd="sng" w="9525">
            <a:solidFill>
              <a:srgbClr val="595959"/>
            </a:solidFill>
            <a:prstDash val="solid"/>
            <a:round/>
            <a:headEnd len="sm" w="sm" type="none"/>
            <a:tailEnd len="sm" w="sm" type="none"/>
          </a:ln>
        </p:spPr>
        <p:txBody>
          <a:bodyPr anchorCtr="0" anchor="ctr" bIns="68575" lIns="68575" spcFirstLastPara="1" rIns="68575" wrap="square" tIns="68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000000"/>
              </a:solidFill>
              <a:latin typeface="Arial"/>
              <a:ea typeface="Arial"/>
              <a:cs typeface="Arial"/>
              <a:sym typeface="Arial"/>
            </a:endParaRPr>
          </a:p>
        </p:txBody>
      </p:sp>
      <p:pic>
        <p:nvPicPr>
          <p:cNvPr id="110" name="Google Shape;110;p20"/>
          <p:cNvPicPr preferRelativeResize="0"/>
          <p:nvPr/>
        </p:nvPicPr>
        <p:blipFill rotWithShape="1">
          <a:blip r:embed="rId3">
            <a:alphaModFix/>
          </a:blip>
          <a:srcRect b="0" l="0" r="0" t="0"/>
          <a:stretch/>
        </p:blipFill>
        <p:spPr>
          <a:xfrm>
            <a:off x="631213" y="1921519"/>
            <a:ext cx="328613" cy="235744"/>
          </a:xfrm>
          <a:prstGeom prst="rect">
            <a:avLst/>
          </a:prstGeom>
          <a:noFill/>
          <a:ln>
            <a:noFill/>
          </a:ln>
        </p:spPr>
      </p:pic>
      <p:sp>
        <p:nvSpPr>
          <p:cNvPr id="111" name="Google Shape;111;p20"/>
          <p:cNvSpPr/>
          <p:nvPr/>
        </p:nvSpPr>
        <p:spPr>
          <a:xfrm>
            <a:off x="1567925" y="1489800"/>
            <a:ext cx="649500" cy="1100100"/>
          </a:xfrm>
          <a:prstGeom prst="roundRect">
            <a:avLst>
              <a:gd fmla="val 9734" name="adj"/>
            </a:avLst>
          </a:prstGeom>
          <a:solidFill>
            <a:srgbClr val="EEEEEE"/>
          </a:solidFill>
          <a:ln cap="flat" cmpd="sng" w="9525">
            <a:solidFill>
              <a:srgbClr val="595959"/>
            </a:solidFill>
            <a:prstDash val="solid"/>
            <a:round/>
            <a:headEnd len="sm" w="sm" type="none"/>
            <a:tailEnd len="sm" w="sm" type="none"/>
          </a:ln>
        </p:spPr>
        <p:txBody>
          <a:bodyPr anchorCtr="0" anchor="ctr" bIns="68575" lIns="68575" spcFirstLastPara="1" rIns="68575" wrap="square" tIns="68575">
            <a:noAutofit/>
          </a:bodyPr>
          <a:lstStyle/>
          <a:p>
            <a:pPr indent="0" lvl="0" marL="0" marR="0" rtl="0" algn="ctr">
              <a:lnSpc>
                <a:spcPct val="100000"/>
              </a:lnSpc>
              <a:spcBef>
                <a:spcPts val="0"/>
              </a:spcBef>
              <a:spcAft>
                <a:spcPts val="0"/>
              </a:spcAft>
              <a:buClr>
                <a:srgbClr val="000000"/>
              </a:buClr>
              <a:buSzPts val="1100"/>
              <a:buFont typeface="Arial"/>
              <a:buNone/>
            </a:pPr>
            <a:r>
              <a:rPr b="1" lang="en" sz="1300"/>
              <a:t>ReLU</a:t>
            </a:r>
            <a:endParaRPr b="1" i="0" sz="1300" u="none" cap="none" strike="noStrike">
              <a:solidFill>
                <a:srgbClr val="000000"/>
              </a:solidFill>
            </a:endParaRPr>
          </a:p>
        </p:txBody>
      </p:sp>
      <p:cxnSp>
        <p:nvCxnSpPr>
          <p:cNvPr id="112" name="Google Shape;112;p20"/>
          <p:cNvCxnSpPr>
            <a:stCxn id="109" idx="3"/>
            <a:endCxn id="111" idx="1"/>
          </p:cNvCxnSpPr>
          <p:nvPr/>
        </p:nvCxnSpPr>
        <p:spPr>
          <a:xfrm flipH="1" rot="10800000">
            <a:off x="1104898" y="2040000"/>
            <a:ext cx="462900" cy="2100"/>
          </a:xfrm>
          <a:prstGeom prst="straightConnector1">
            <a:avLst/>
          </a:prstGeom>
          <a:noFill/>
          <a:ln cap="flat" cmpd="sng" w="9525">
            <a:solidFill>
              <a:srgbClr val="595959"/>
            </a:solidFill>
            <a:prstDash val="solid"/>
            <a:round/>
            <a:headEnd len="sm" w="sm" type="none"/>
            <a:tailEnd len="med" w="med" type="triangle"/>
          </a:ln>
        </p:spPr>
      </p:cxnSp>
      <p:pic>
        <p:nvPicPr>
          <p:cNvPr id="113" name="Google Shape;113;p20"/>
          <p:cNvPicPr preferRelativeResize="0"/>
          <p:nvPr/>
        </p:nvPicPr>
        <p:blipFill rotWithShape="1">
          <a:blip r:embed="rId4">
            <a:alphaModFix/>
          </a:blip>
          <a:srcRect b="0" l="0" r="0" t="0"/>
          <a:stretch/>
        </p:blipFill>
        <p:spPr>
          <a:xfrm>
            <a:off x="97425" y="1951892"/>
            <a:ext cx="207827" cy="175013"/>
          </a:xfrm>
          <a:prstGeom prst="rect">
            <a:avLst/>
          </a:prstGeom>
          <a:noFill/>
          <a:ln>
            <a:noFill/>
          </a:ln>
        </p:spPr>
      </p:pic>
      <p:cxnSp>
        <p:nvCxnSpPr>
          <p:cNvPr id="114" name="Google Shape;114;p20"/>
          <p:cNvCxnSpPr>
            <a:stCxn id="113" idx="3"/>
            <a:endCxn id="109" idx="1"/>
          </p:cNvCxnSpPr>
          <p:nvPr/>
        </p:nvCxnSpPr>
        <p:spPr>
          <a:xfrm>
            <a:off x="305252" y="2039398"/>
            <a:ext cx="180900" cy="2700"/>
          </a:xfrm>
          <a:prstGeom prst="straightConnector1">
            <a:avLst/>
          </a:prstGeom>
          <a:noFill/>
          <a:ln cap="flat" cmpd="sng" w="9525">
            <a:solidFill>
              <a:srgbClr val="595959"/>
            </a:solidFill>
            <a:prstDash val="solid"/>
            <a:round/>
            <a:headEnd len="sm" w="sm" type="none"/>
            <a:tailEnd len="med" w="med" type="triangle"/>
          </a:ln>
        </p:spPr>
      </p:cxnSp>
      <p:cxnSp>
        <p:nvCxnSpPr>
          <p:cNvPr id="115" name="Google Shape;115;p20"/>
          <p:cNvCxnSpPr>
            <a:stCxn id="111" idx="3"/>
            <a:endCxn id="116" idx="1"/>
          </p:cNvCxnSpPr>
          <p:nvPr/>
        </p:nvCxnSpPr>
        <p:spPr>
          <a:xfrm>
            <a:off x="2217425" y="2039850"/>
            <a:ext cx="295500" cy="600"/>
          </a:xfrm>
          <a:prstGeom prst="straightConnector1">
            <a:avLst/>
          </a:prstGeom>
          <a:noFill/>
          <a:ln cap="flat" cmpd="sng" w="9525">
            <a:solidFill>
              <a:srgbClr val="595959"/>
            </a:solidFill>
            <a:prstDash val="solid"/>
            <a:round/>
            <a:headEnd len="sm" w="sm" type="none"/>
            <a:tailEnd len="med" w="med" type="triangle"/>
          </a:ln>
        </p:spPr>
      </p:cxnSp>
      <p:pic>
        <p:nvPicPr>
          <p:cNvPr id="117" name="Google Shape;117;p20"/>
          <p:cNvPicPr preferRelativeResize="0"/>
          <p:nvPr/>
        </p:nvPicPr>
        <p:blipFill rotWithShape="1">
          <a:blip r:embed="rId5">
            <a:alphaModFix/>
          </a:blip>
          <a:srcRect b="0" l="0" r="0" t="0"/>
          <a:stretch/>
        </p:blipFill>
        <p:spPr>
          <a:xfrm>
            <a:off x="1196962" y="1858600"/>
            <a:ext cx="175500" cy="140408"/>
          </a:xfrm>
          <a:prstGeom prst="rect">
            <a:avLst/>
          </a:prstGeom>
          <a:noFill/>
          <a:ln>
            <a:noFill/>
          </a:ln>
        </p:spPr>
      </p:pic>
      <p:sp>
        <p:nvSpPr>
          <p:cNvPr id="118" name="Google Shape;118;p20"/>
          <p:cNvSpPr/>
          <p:nvPr/>
        </p:nvSpPr>
        <p:spPr>
          <a:xfrm>
            <a:off x="5753700" y="1491450"/>
            <a:ext cx="649500" cy="1100100"/>
          </a:xfrm>
          <a:prstGeom prst="roundRect">
            <a:avLst>
              <a:gd fmla="val 9734" name="adj"/>
            </a:avLst>
          </a:prstGeom>
          <a:solidFill>
            <a:srgbClr val="EEEEEE"/>
          </a:solidFill>
          <a:ln cap="flat" cmpd="sng" w="9525">
            <a:solidFill>
              <a:srgbClr val="595959"/>
            </a:solidFill>
            <a:prstDash val="solid"/>
            <a:round/>
            <a:headEnd len="sm" w="sm" type="none"/>
            <a:tailEnd len="sm" w="sm" type="none"/>
          </a:ln>
        </p:spPr>
        <p:txBody>
          <a:bodyPr anchorCtr="0" anchor="ctr" bIns="68575" lIns="68575" spcFirstLastPara="1" rIns="68575" wrap="square" tIns="68575">
            <a:noAutofit/>
          </a:bodyPr>
          <a:lstStyle/>
          <a:p>
            <a:pPr indent="0" lvl="0" marL="0" marR="0" rtl="0" algn="l">
              <a:lnSpc>
                <a:spcPct val="100000"/>
              </a:lnSpc>
              <a:spcBef>
                <a:spcPts val="0"/>
              </a:spcBef>
              <a:spcAft>
                <a:spcPts val="0"/>
              </a:spcAft>
              <a:buClr>
                <a:srgbClr val="000000"/>
              </a:buClr>
              <a:buSzPts val="1100"/>
              <a:buFont typeface="Arial"/>
              <a:buNone/>
            </a:pPr>
            <a:r>
              <a:t/>
            </a:r>
            <a:endParaRPr sz="1100"/>
          </a:p>
        </p:txBody>
      </p:sp>
      <p:pic>
        <p:nvPicPr>
          <p:cNvPr id="119" name="Google Shape;119;p20" title="[0,0,0,&quot;https://www.codecogs.com/eqnedit.php?latex=W_n#0&quot;]"/>
          <p:cNvPicPr preferRelativeResize="0"/>
          <p:nvPr/>
        </p:nvPicPr>
        <p:blipFill>
          <a:blip r:embed="rId6">
            <a:alphaModFix/>
          </a:blip>
          <a:stretch>
            <a:fillRect/>
          </a:stretch>
        </p:blipFill>
        <p:spPr>
          <a:xfrm>
            <a:off x="5934388" y="1905101"/>
            <a:ext cx="328625" cy="213905"/>
          </a:xfrm>
          <a:prstGeom prst="rect">
            <a:avLst/>
          </a:prstGeom>
          <a:noFill/>
          <a:ln>
            <a:noFill/>
          </a:ln>
        </p:spPr>
      </p:pic>
      <p:cxnSp>
        <p:nvCxnSpPr>
          <p:cNvPr id="120" name="Google Shape;120;p20"/>
          <p:cNvCxnSpPr>
            <a:stCxn id="118" idx="3"/>
            <a:endCxn id="121" idx="1"/>
          </p:cNvCxnSpPr>
          <p:nvPr/>
        </p:nvCxnSpPr>
        <p:spPr>
          <a:xfrm flipH="1" rot="10800000">
            <a:off x="6403200" y="2040000"/>
            <a:ext cx="554400" cy="1500"/>
          </a:xfrm>
          <a:prstGeom prst="straightConnector1">
            <a:avLst/>
          </a:prstGeom>
          <a:noFill/>
          <a:ln cap="flat" cmpd="sng" w="9525">
            <a:solidFill>
              <a:srgbClr val="595959"/>
            </a:solidFill>
            <a:prstDash val="solid"/>
            <a:round/>
            <a:headEnd len="sm" w="sm" type="none"/>
            <a:tailEnd len="med" w="med" type="triangle"/>
          </a:ln>
        </p:spPr>
      </p:cxnSp>
      <p:pic>
        <p:nvPicPr>
          <p:cNvPr id="122" name="Google Shape;122;p20" title="[0,0,0,&quot;https://www.codecogs.com/eqnedit.php?latex=y_n#0&quot;]"/>
          <p:cNvPicPr preferRelativeResize="0"/>
          <p:nvPr/>
        </p:nvPicPr>
        <p:blipFill>
          <a:blip r:embed="rId7">
            <a:alphaModFix/>
          </a:blip>
          <a:stretch>
            <a:fillRect/>
          </a:stretch>
        </p:blipFill>
        <p:spPr>
          <a:xfrm>
            <a:off x="6536543" y="1803084"/>
            <a:ext cx="207825" cy="155890"/>
          </a:xfrm>
          <a:prstGeom prst="rect">
            <a:avLst/>
          </a:prstGeom>
          <a:noFill/>
          <a:ln>
            <a:noFill/>
          </a:ln>
        </p:spPr>
      </p:pic>
      <p:sp>
        <p:nvSpPr>
          <p:cNvPr id="121" name="Google Shape;121;p20"/>
          <p:cNvSpPr/>
          <p:nvPr/>
        </p:nvSpPr>
        <p:spPr>
          <a:xfrm>
            <a:off x="6957724" y="1489800"/>
            <a:ext cx="717300" cy="1100100"/>
          </a:xfrm>
          <a:prstGeom prst="roundRect">
            <a:avLst>
              <a:gd fmla="val 9734" name="adj"/>
            </a:avLst>
          </a:prstGeom>
          <a:solidFill>
            <a:srgbClr val="EEEEEE"/>
          </a:solidFill>
          <a:ln cap="flat" cmpd="sng" w="9525">
            <a:solidFill>
              <a:srgbClr val="595959"/>
            </a:solidFill>
            <a:prstDash val="solid"/>
            <a:round/>
            <a:headEnd len="sm" w="sm" type="none"/>
            <a:tailEnd len="sm" w="sm" type="none"/>
          </a:ln>
        </p:spPr>
        <p:txBody>
          <a:bodyPr anchorCtr="0" anchor="ctr" bIns="68575" lIns="68575" spcFirstLastPara="1" rIns="68575" wrap="square" tIns="68575">
            <a:noAutofit/>
          </a:bodyPr>
          <a:lstStyle/>
          <a:p>
            <a:pPr indent="0" lvl="0" marL="0" marR="0" rtl="0" algn="ctr">
              <a:lnSpc>
                <a:spcPct val="100000"/>
              </a:lnSpc>
              <a:spcBef>
                <a:spcPts val="0"/>
              </a:spcBef>
              <a:spcAft>
                <a:spcPts val="0"/>
              </a:spcAft>
              <a:buClr>
                <a:srgbClr val="000000"/>
              </a:buClr>
              <a:buSzPts val="1100"/>
              <a:buFont typeface="Arial"/>
              <a:buNone/>
            </a:pPr>
            <a:r>
              <a:rPr lang="en" sz="1100"/>
              <a:t>Loss function (</a:t>
            </a:r>
            <a:r>
              <a:rPr i="1" lang="en" sz="1100"/>
              <a:t>L</a:t>
            </a:r>
            <a:r>
              <a:rPr lang="en" sz="1100"/>
              <a:t>)</a:t>
            </a:r>
            <a:endParaRPr sz="1100"/>
          </a:p>
        </p:txBody>
      </p:sp>
      <p:cxnSp>
        <p:nvCxnSpPr>
          <p:cNvPr id="123" name="Google Shape;123;p20"/>
          <p:cNvCxnSpPr>
            <a:endCxn id="121" idx="0"/>
          </p:cNvCxnSpPr>
          <p:nvPr/>
        </p:nvCxnSpPr>
        <p:spPr>
          <a:xfrm>
            <a:off x="7316374" y="1174800"/>
            <a:ext cx="0" cy="315000"/>
          </a:xfrm>
          <a:prstGeom prst="straightConnector1">
            <a:avLst/>
          </a:prstGeom>
          <a:noFill/>
          <a:ln cap="flat" cmpd="sng" w="9525">
            <a:solidFill>
              <a:srgbClr val="595959"/>
            </a:solidFill>
            <a:prstDash val="solid"/>
            <a:round/>
            <a:headEnd len="sm" w="sm" type="none"/>
            <a:tailEnd len="med" w="med" type="triangle"/>
          </a:ln>
        </p:spPr>
      </p:cxnSp>
      <p:sp>
        <p:nvSpPr>
          <p:cNvPr id="124" name="Google Shape;124;p20"/>
          <p:cNvSpPr txBox="1"/>
          <p:nvPr/>
        </p:nvSpPr>
        <p:spPr>
          <a:xfrm>
            <a:off x="7019825" y="866975"/>
            <a:ext cx="593100" cy="307800"/>
          </a:xfrm>
          <a:prstGeom prst="rect">
            <a:avLst/>
          </a:prstGeom>
          <a:noFill/>
          <a:ln>
            <a:noFill/>
          </a:ln>
        </p:spPr>
        <p:txBody>
          <a:bodyPr anchorCtr="0" anchor="t" bIns="68575" lIns="68575" spcFirstLastPara="1" rIns="68575" wrap="square" tIns="68575">
            <a:spAutoFit/>
          </a:bodyPr>
          <a:lstStyle/>
          <a:p>
            <a:pPr indent="0" lvl="0" marL="0" marR="0" rtl="0" algn="l">
              <a:lnSpc>
                <a:spcPct val="100000"/>
              </a:lnSpc>
              <a:spcBef>
                <a:spcPts val="0"/>
              </a:spcBef>
              <a:spcAft>
                <a:spcPts val="0"/>
              </a:spcAft>
              <a:buClr>
                <a:srgbClr val="000000"/>
              </a:buClr>
              <a:buSzPts val="1100"/>
              <a:buFont typeface="Arial"/>
              <a:buNone/>
            </a:pPr>
            <a:r>
              <a:rPr b="1" lang="en" sz="1100"/>
              <a:t>labels</a:t>
            </a:r>
            <a:endParaRPr b="1" i="0" sz="1100" u="none" cap="none" strike="noStrike">
              <a:solidFill>
                <a:srgbClr val="000000"/>
              </a:solidFill>
              <a:latin typeface="Arial"/>
              <a:ea typeface="Arial"/>
              <a:cs typeface="Arial"/>
              <a:sym typeface="Arial"/>
            </a:endParaRPr>
          </a:p>
        </p:txBody>
      </p:sp>
      <p:cxnSp>
        <p:nvCxnSpPr>
          <p:cNvPr id="125" name="Google Shape;125;p20"/>
          <p:cNvCxnSpPr/>
          <p:nvPr/>
        </p:nvCxnSpPr>
        <p:spPr>
          <a:xfrm flipH="1" rot="10800000">
            <a:off x="7675031" y="2007988"/>
            <a:ext cx="309300" cy="9000"/>
          </a:xfrm>
          <a:prstGeom prst="straightConnector1">
            <a:avLst/>
          </a:prstGeom>
          <a:noFill/>
          <a:ln cap="flat" cmpd="sng" w="9525">
            <a:solidFill>
              <a:srgbClr val="595959"/>
            </a:solidFill>
            <a:prstDash val="solid"/>
            <a:round/>
            <a:headEnd len="sm" w="sm" type="none"/>
            <a:tailEnd len="med" w="med" type="triangle"/>
          </a:ln>
        </p:spPr>
      </p:cxnSp>
      <p:sp>
        <p:nvSpPr>
          <p:cNvPr id="126" name="Google Shape;126;p20"/>
          <p:cNvSpPr txBox="1"/>
          <p:nvPr/>
        </p:nvSpPr>
        <p:spPr>
          <a:xfrm>
            <a:off x="7984325" y="1858600"/>
            <a:ext cx="951300" cy="477300"/>
          </a:xfrm>
          <a:prstGeom prst="rect">
            <a:avLst/>
          </a:prstGeom>
          <a:noFill/>
          <a:ln>
            <a:noFill/>
          </a:ln>
        </p:spPr>
        <p:txBody>
          <a:bodyPr anchorCtr="0" anchor="t" bIns="68575" lIns="68575" spcFirstLastPara="1" rIns="68575" wrap="square" tIns="68575">
            <a:spAutoFit/>
          </a:bodyPr>
          <a:lstStyle/>
          <a:p>
            <a:pPr indent="0" lvl="0" marL="0" marR="0" rtl="0" algn="ctr">
              <a:lnSpc>
                <a:spcPct val="100000"/>
              </a:lnSpc>
              <a:spcBef>
                <a:spcPts val="0"/>
              </a:spcBef>
              <a:spcAft>
                <a:spcPts val="0"/>
              </a:spcAft>
              <a:buClr>
                <a:srgbClr val="000000"/>
              </a:buClr>
              <a:buSzPts val="1100"/>
              <a:buFont typeface="Arial"/>
              <a:buNone/>
            </a:pPr>
            <a:r>
              <a:rPr b="1" lang="en" sz="1100"/>
              <a:t>Error </a:t>
            </a:r>
            <a:endParaRPr b="1" sz="1100"/>
          </a:p>
          <a:p>
            <a:pPr indent="0" lvl="0" marL="0" marR="0" rtl="0" algn="ctr">
              <a:lnSpc>
                <a:spcPct val="100000"/>
              </a:lnSpc>
              <a:spcBef>
                <a:spcPts val="0"/>
              </a:spcBef>
              <a:spcAft>
                <a:spcPts val="0"/>
              </a:spcAft>
              <a:buClr>
                <a:srgbClr val="000000"/>
              </a:buClr>
              <a:buSzPts val="1100"/>
              <a:buFont typeface="Arial"/>
              <a:buNone/>
            </a:pPr>
            <a:r>
              <a:rPr b="1" i="1" lang="en" sz="1100"/>
              <a:t>e = L(y)</a:t>
            </a:r>
            <a:endParaRPr b="1" i="1" sz="1100"/>
          </a:p>
        </p:txBody>
      </p:sp>
      <p:sp>
        <p:nvSpPr>
          <p:cNvPr id="127" name="Google Shape;127;p20"/>
          <p:cNvSpPr/>
          <p:nvPr/>
        </p:nvSpPr>
        <p:spPr>
          <a:xfrm>
            <a:off x="3830450" y="557450"/>
            <a:ext cx="1244400" cy="235800"/>
          </a:xfrm>
          <a:prstGeom prst="rightArrow">
            <a:avLst>
              <a:gd fmla="val 50000" name="adj1"/>
              <a:gd fmla="val 50000"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8" name="Google Shape;128;p20"/>
          <p:cNvSpPr txBox="1"/>
          <p:nvPr/>
        </p:nvSpPr>
        <p:spPr>
          <a:xfrm>
            <a:off x="3346496" y="157250"/>
            <a:ext cx="23463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a:solidFill>
                  <a:schemeClr val="dk2"/>
                </a:solidFill>
              </a:rPr>
              <a:t>Forward Pass or Inference</a:t>
            </a:r>
            <a:endParaRPr>
              <a:solidFill>
                <a:schemeClr val="dk2"/>
              </a:solidFill>
            </a:endParaRPr>
          </a:p>
        </p:txBody>
      </p:sp>
      <p:cxnSp>
        <p:nvCxnSpPr>
          <p:cNvPr id="129" name="Google Shape;129;p20"/>
          <p:cNvCxnSpPr>
            <a:stCxn id="126" idx="2"/>
            <a:endCxn id="118" idx="2"/>
          </p:cNvCxnSpPr>
          <p:nvPr/>
        </p:nvCxnSpPr>
        <p:spPr>
          <a:xfrm rot="5400000">
            <a:off x="7141475" y="1273000"/>
            <a:ext cx="255600" cy="2381400"/>
          </a:xfrm>
          <a:prstGeom prst="bentConnector3">
            <a:avLst>
              <a:gd fmla="val 248367" name="adj1"/>
            </a:avLst>
          </a:prstGeom>
          <a:noFill/>
          <a:ln cap="flat" cmpd="sng" w="9525">
            <a:solidFill>
              <a:schemeClr val="dk2"/>
            </a:solidFill>
            <a:prstDash val="solid"/>
            <a:round/>
            <a:headEnd len="med" w="med" type="none"/>
            <a:tailEnd len="med" w="med" type="triangle"/>
          </a:ln>
        </p:spPr>
      </p:cxnSp>
      <p:cxnSp>
        <p:nvCxnSpPr>
          <p:cNvPr id="130" name="Google Shape;130;p20"/>
          <p:cNvCxnSpPr>
            <a:stCxn id="126" idx="2"/>
            <a:endCxn id="109" idx="2"/>
          </p:cNvCxnSpPr>
          <p:nvPr/>
        </p:nvCxnSpPr>
        <p:spPr>
          <a:xfrm rot="5400000">
            <a:off x="4499675" y="-1368200"/>
            <a:ext cx="256200" cy="7664400"/>
          </a:xfrm>
          <a:prstGeom prst="bentConnector3">
            <a:avLst>
              <a:gd fmla="val 247785" name="adj1"/>
            </a:avLst>
          </a:prstGeom>
          <a:noFill/>
          <a:ln cap="flat" cmpd="sng" w="9525">
            <a:solidFill>
              <a:schemeClr val="dk2"/>
            </a:solidFill>
            <a:prstDash val="solid"/>
            <a:round/>
            <a:headEnd len="med" w="med" type="none"/>
            <a:tailEnd len="med" w="med" type="triangle"/>
          </a:ln>
        </p:spPr>
      </p:cxnSp>
      <p:sp>
        <p:nvSpPr>
          <p:cNvPr id="131" name="Google Shape;131;p20"/>
          <p:cNvSpPr txBox="1"/>
          <p:nvPr/>
        </p:nvSpPr>
        <p:spPr>
          <a:xfrm>
            <a:off x="7267349" y="3079125"/>
            <a:ext cx="15126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dk2"/>
                </a:solidFill>
              </a:rPr>
              <a:t>Backward pass</a:t>
            </a:r>
            <a:endParaRPr>
              <a:solidFill>
                <a:schemeClr val="dk2"/>
              </a:solidFill>
            </a:endParaRPr>
          </a:p>
          <a:p>
            <a:pPr indent="0" lvl="0" marL="0" rtl="0" algn="ctr">
              <a:spcBef>
                <a:spcPts val="0"/>
              </a:spcBef>
              <a:spcAft>
                <a:spcPts val="0"/>
              </a:spcAft>
              <a:buNone/>
            </a:pPr>
            <a:r>
              <a:rPr lang="en">
                <a:solidFill>
                  <a:schemeClr val="dk2"/>
                </a:solidFill>
              </a:rPr>
              <a:t>(Training)</a:t>
            </a:r>
            <a:endParaRPr>
              <a:solidFill>
                <a:schemeClr val="dk2"/>
              </a:solidFill>
            </a:endParaRPr>
          </a:p>
        </p:txBody>
      </p:sp>
      <p:cxnSp>
        <p:nvCxnSpPr>
          <p:cNvPr id="132" name="Google Shape;132;p20"/>
          <p:cNvCxnSpPr/>
          <p:nvPr/>
        </p:nvCxnSpPr>
        <p:spPr>
          <a:xfrm>
            <a:off x="1355538" y="1278175"/>
            <a:ext cx="0" cy="1765800"/>
          </a:xfrm>
          <a:prstGeom prst="straightConnector1">
            <a:avLst/>
          </a:prstGeom>
          <a:noFill/>
          <a:ln cap="flat" cmpd="sng" w="9525">
            <a:solidFill>
              <a:schemeClr val="dk2"/>
            </a:solidFill>
            <a:prstDash val="dash"/>
            <a:round/>
            <a:headEnd len="med" w="med" type="none"/>
            <a:tailEnd len="med" w="med" type="none"/>
          </a:ln>
        </p:spPr>
      </p:cxnSp>
      <p:cxnSp>
        <p:nvCxnSpPr>
          <p:cNvPr id="133" name="Google Shape;133;p20"/>
          <p:cNvCxnSpPr/>
          <p:nvPr/>
        </p:nvCxnSpPr>
        <p:spPr>
          <a:xfrm>
            <a:off x="2564688" y="1278175"/>
            <a:ext cx="0" cy="1765800"/>
          </a:xfrm>
          <a:prstGeom prst="straightConnector1">
            <a:avLst/>
          </a:prstGeom>
          <a:noFill/>
          <a:ln cap="flat" cmpd="sng" w="9525">
            <a:solidFill>
              <a:schemeClr val="dk2"/>
            </a:solidFill>
            <a:prstDash val="dash"/>
            <a:round/>
            <a:headEnd len="med" w="med" type="none"/>
            <a:tailEnd len="med" w="med" type="none"/>
          </a:ln>
        </p:spPr>
      </p:cxnSp>
      <p:cxnSp>
        <p:nvCxnSpPr>
          <p:cNvPr id="134" name="Google Shape;134;p20"/>
          <p:cNvCxnSpPr/>
          <p:nvPr/>
        </p:nvCxnSpPr>
        <p:spPr>
          <a:xfrm>
            <a:off x="6785750" y="1126675"/>
            <a:ext cx="0" cy="1917300"/>
          </a:xfrm>
          <a:prstGeom prst="straightConnector1">
            <a:avLst/>
          </a:prstGeom>
          <a:noFill/>
          <a:ln cap="flat" cmpd="sng" w="9525">
            <a:solidFill>
              <a:schemeClr val="dk2"/>
            </a:solidFill>
            <a:prstDash val="dash"/>
            <a:round/>
            <a:headEnd len="med" w="med" type="none"/>
            <a:tailEnd len="med" w="med" type="none"/>
          </a:ln>
        </p:spPr>
      </p:cxnSp>
      <p:pic>
        <p:nvPicPr>
          <p:cNvPr descr="{&quot;code&quot;:&quot;$$\\frac{\\partial e}{\\partial y_{n}}$$&quot;,&quot;backgroundColor&quot;:&quot;#FFFFFF&quot;,&quot;font&quot;:{&quot;color&quot;:&quot;#595959&quot;,&quot;family&quot;:&quot;Arial&quot;,&quot;size&quot;:11},&quot;type&quot;:&quot;$$&quot;,&quot;id&quot;:&quot;25&quot;,&quot;backgroundColorModified&quot;:false,&quot;aid&quot;:null,&quot;ts&quot;:1755260874233,&quot;cs&quot;:&quot;mM/gRArJMHO2CaKHNxQiPw==&quot;,&quot;size&quot;:{&quot;width&quot;:31.000010498687704,&quot;height&quot;:40.086220472440964}}" id="135" name="Google Shape;135;p20"/>
          <p:cNvPicPr preferRelativeResize="0"/>
          <p:nvPr/>
        </p:nvPicPr>
        <p:blipFill>
          <a:blip r:embed="rId8">
            <a:alphaModFix/>
          </a:blip>
          <a:stretch>
            <a:fillRect/>
          </a:stretch>
        </p:blipFill>
        <p:spPr>
          <a:xfrm>
            <a:off x="6702213" y="3077913"/>
            <a:ext cx="295275" cy="381821"/>
          </a:xfrm>
          <a:prstGeom prst="rect">
            <a:avLst/>
          </a:prstGeom>
          <a:noFill/>
          <a:ln>
            <a:noFill/>
          </a:ln>
        </p:spPr>
      </p:pic>
      <p:pic>
        <p:nvPicPr>
          <p:cNvPr descr="{&quot;code&quot;:&quot;$$a_{n-1}$$&quot;,&quot;font&quot;:{&quot;color&quot;:&quot;#000000&quot;,&quot;size&quot;:11,&quot;family&quot;:&quot;Arial&quot;},&quot;type&quot;:&quot;$$&quot;,&quot;backgroundColorModified&quot;:false,&quot;backgroundColor&quot;:&quot;#FFFFFF&quot;,&quot;aid&quot;:null,&quot;id&quot;:&quot;26&quot;,&quot;ts&quot;:1755261393563,&quot;cs&quot;:&quot;HzJsxHpH17AsiCzjvpJ2KQ==&quot;,&quot;size&quot;:{&quot;width&quot;:31.166666666666668,&quot;height&quot;:10.333333333333334}}" id="136" name="Google Shape;136;p20"/>
          <p:cNvPicPr preferRelativeResize="0"/>
          <p:nvPr/>
        </p:nvPicPr>
        <p:blipFill>
          <a:blip r:embed="rId9">
            <a:alphaModFix/>
          </a:blip>
          <a:stretch>
            <a:fillRect/>
          </a:stretch>
        </p:blipFill>
        <p:spPr>
          <a:xfrm>
            <a:off x="5148076" y="1879591"/>
            <a:ext cx="296863" cy="98425"/>
          </a:xfrm>
          <a:prstGeom prst="rect">
            <a:avLst/>
          </a:prstGeom>
          <a:noFill/>
          <a:ln>
            <a:noFill/>
          </a:ln>
        </p:spPr>
      </p:pic>
      <p:pic>
        <p:nvPicPr>
          <p:cNvPr descr="{&quot;aid&quot;:null,&quot;font&quot;:{&quot;size&quot;:7.5,&quot;family&quot;:&quot;Arial&quot;,&quot;color&quot;:&quot;#000000&quot;},&quot;code&quot;:&quot;\\begin{lalign*}\n&amp;{\\frac{\\partial e}{\\partial W_{n}}=\\frac{\\partial e}{\\partial y_{n}}a_{n-1}^{T}}\\\\\n&amp;{\\frac{\\partial e}{\\partial a_{n-1}}=W_{n}^{T}\\frac{\\partial e}{\\partial y_{n}}}\t\n\\end{lalign*}&quot;,&quot;backgroundColorModified&quot;:false,&quot;id&quot;:&quot;27&quot;,&quot;backgroundColor&quot;:&quot;#FFFFFF&quot;,&quot;type&quot;:&quot;lalign*&quot;,&quot;ts&quot;:1755261644737,&quot;cs&quot;:&quot;qq7O0He5JfU+NBxOmCTDaA==&quot;,&quot;size&quot;:{&quot;width&quot;:90.66666666666667,&quot;height&quot;:57.166666666666664}}" id="137" name="Google Shape;137;p20"/>
          <p:cNvPicPr preferRelativeResize="0"/>
          <p:nvPr/>
        </p:nvPicPr>
        <p:blipFill>
          <a:blip r:embed="rId10">
            <a:alphaModFix/>
          </a:blip>
          <a:stretch>
            <a:fillRect/>
          </a:stretch>
        </p:blipFill>
        <p:spPr>
          <a:xfrm>
            <a:off x="5687740" y="3062952"/>
            <a:ext cx="863600" cy="544513"/>
          </a:xfrm>
          <a:prstGeom prst="rect">
            <a:avLst/>
          </a:prstGeom>
          <a:noFill/>
          <a:ln>
            <a:noFill/>
          </a:ln>
        </p:spPr>
      </p:pic>
      <p:sp>
        <p:nvSpPr>
          <p:cNvPr id="138" name="Google Shape;138;p20"/>
          <p:cNvSpPr txBox="1"/>
          <p:nvPr/>
        </p:nvSpPr>
        <p:spPr>
          <a:xfrm>
            <a:off x="5692800" y="4363725"/>
            <a:ext cx="30000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200">
                <a:solidFill>
                  <a:schemeClr val="dk2"/>
                </a:solidFill>
              </a:rPr>
              <a:t>Used to update the weights of this layer</a:t>
            </a:r>
            <a:endParaRPr sz="1200">
              <a:solidFill>
                <a:schemeClr val="dk2"/>
              </a:solidFill>
            </a:endParaRPr>
          </a:p>
        </p:txBody>
      </p:sp>
      <p:sp>
        <p:nvSpPr>
          <p:cNvPr id="139" name="Google Shape;139;p20"/>
          <p:cNvSpPr txBox="1"/>
          <p:nvPr/>
        </p:nvSpPr>
        <p:spPr>
          <a:xfrm>
            <a:off x="5381975" y="3769138"/>
            <a:ext cx="10446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900">
                <a:solidFill>
                  <a:schemeClr val="dk2"/>
                </a:solidFill>
              </a:rPr>
              <a:t>Sent back to previous layers</a:t>
            </a:r>
            <a:endParaRPr b="1" sz="900">
              <a:solidFill>
                <a:schemeClr val="dk2"/>
              </a:solidFill>
            </a:endParaRPr>
          </a:p>
        </p:txBody>
      </p:sp>
      <p:cxnSp>
        <p:nvCxnSpPr>
          <p:cNvPr id="140" name="Google Shape;140;p20"/>
          <p:cNvCxnSpPr/>
          <p:nvPr/>
        </p:nvCxnSpPr>
        <p:spPr>
          <a:xfrm rot="10800000">
            <a:off x="5990915" y="3287833"/>
            <a:ext cx="636600" cy="1120500"/>
          </a:xfrm>
          <a:prstGeom prst="straightConnector1">
            <a:avLst/>
          </a:prstGeom>
          <a:noFill/>
          <a:ln cap="flat" cmpd="sng" w="9525">
            <a:solidFill>
              <a:schemeClr val="dk2"/>
            </a:solidFill>
            <a:prstDash val="solid"/>
            <a:round/>
            <a:headEnd len="med" w="med" type="none"/>
            <a:tailEnd len="med" w="med" type="triangle"/>
          </a:ln>
        </p:spPr>
      </p:cxnSp>
      <p:sp>
        <p:nvSpPr>
          <p:cNvPr id="141" name="Google Shape;141;p20"/>
          <p:cNvSpPr txBox="1"/>
          <p:nvPr/>
        </p:nvSpPr>
        <p:spPr>
          <a:xfrm>
            <a:off x="4154388" y="3620050"/>
            <a:ext cx="13581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200">
                <a:solidFill>
                  <a:schemeClr val="dk2"/>
                </a:solidFill>
              </a:rPr>
              <a:t>No parameters!</a:t>
            </a:r>
            <a:endParaRPr sz="1200">
              <a:solidFill>
                <a:schemeClr val="dk2"/>
              </a:solidFill>
            </a:endParaRPr>
          </a:p>
        </p:txBody>
      </p:sp>
      <p:pic>
        <p:nvPicPr>
          <p:cNvPr descr="{&quot;backgroundColor&quot;:&quot;#FFFFFF&quot;,&quot;type&quot;:&quot;lalign*&quot;,&quot;code&quot;:&quot;\\begin{lalign*}\n&amp;{\\frac{\\partial e}{\\partial W_{1}}=\\frac{\\partial e}{\\partial y_{1}}x^{T}}\\\\\n&amp;{\\frac{\\partial e}{\\partial x}=W_{1}^{T}\\frac{\\partial e}{\\partial y_{1}}}\t\n\\end{lalign*}&quot;,&quot;id&quot;:&quot;27&quot;,&quot;backgroundColorModified&quot;:false,&quot;font&quot;:{&quot;color&quot;:&quot;#000000&quot;,&quot;size&quot;:8.5,&quot;family&quot;:&quot;Arial&quot;},&quot;aid&quot;:null,&quot;ts&quot;:1755261167087,&quot;cs&quot;:&quot;bqoQxo8+zRvFCfNJ8IIztQ==&quot;,&quot;size&quot;:{&quot;width&quot;:89.26368923884513,&quot;height&quot;:65.39639265091861}}" id="142" name="Google Shape;142;p20"/>
          <p:cNvPicPr preferRelativeResize="0"/>
          <p:nvPr/>
        </p:nvPicPr>
        <p:blipFill>
          <a:blip r:embed="rId11">
            <a:alphaModFix/>
          </a:blip>
          <a:stretch>
            <a:fillRect/>
          </a:stretch>
        </p:blipFill>
        <p:spPr>
          <a:xfrm>
            <a:off x="410726" y="3075477"/>
            <a:ext cx="850237" cy="622901"/>
          </a:xfrm>
          <a:prstGeom prst="rect">
            <a:avLst/>
          </a:prstGeom>
          <a:noFill/>
          <a:ln>
            <a:noFill/>
          </a:ln>
        </p:spPr>
      </p:pic>
      <p:pic>
        <p:nvPicPr>
          <p:cNvPr descr="{&quot;id&quot;:&quot;25&quot;,&quot;backgroundColorModified&quot;:false,&quot;aid&quot;:null,&quot;font&quot;:{&quot;family&quot;:&quot;Arial&quot;,&quot;size&quot;:11.5,&quot;color&quot;:&quot;#595959&quot;},&quot;type&quot;:&quot;$&quot;,&quot;backgroundColor&quot;:&quot;#FFFFFF&quot;,&quot;code&quot;:&quot;$y_{1\\,}=W_{1\\,}x$&quot;,&quot;ts&quot;:1755262444592,&quot;cs&quot;:&quot;uaPKqCdFjiyWhM02w0onvA==&quot;,&quot;size&quot;:{&quot;width&quot;:82.25147716535433,&quot;height&quot;:16.36744015748032}}" id="143" name="Google Shape;143;p20"/>
          <p:cNvPicPr preferRelativeResize="0"/>
          <p:nvPr/>
        </p:nvPicPr>
        <p:blipFill>
          <a:blip r:embed="rId12">
            <a:alphaModFix/>
          </a:blip>
          <a:stretch>
            <a:fillRect/>
          </a:stretch>
        </p:blipFill>
        <p:spPr>
          <a:xfrm>
            <a:off x="335023" y="1078176"/>
            <a:ext cx="783445" cy="155900"/>
          </a:xfrm>
          <a:prstGeom prst="rect">
            <a:avLst/>
          </a:prstGeom>
          <a:noFill/>
          <a:ln>
            <a:noFill/>
          </a:ln>
        </p:spPr>
      </p:pic>
      <p:pic>
        <p:nvPicPr>
          <p:cNvPr descr="{&quot;backgroundColor&quot;:&quot;#FFFFFF&quot;,&quot;type&quot;:&quot;$&quot;,&quot;backgroundColorModified&quot;:false,&quot;code&quot;:&quot;$y_{n}=W_{n\\,}a_{n-1}$&quot;,&quot;aid&quot;:null,&quot;id&quot;:&quot;25&quot;,&quot;font&quot;:{&quot;family&quot;:&quot;Arial&quot;,&quot;size&quot;:11,&quot;color&quot;:&quot;#595959&quot;},&quot;ts&quot;:1755261556225,&quot;cs&quot;:&quot;aGfG0ftQtgykb5fhRi5Gvg==&quot;,&quot;size&quot;:{&quot;width&quot;:100.25196587926513,&quot;height&quot;:15.472927559055123}}" id="144" name="Google Shape;144;p20"/>
          <p:cNvPicPr preferRelativeResize="0"/>
          <p:nvPr/>
        </p:nvPicPr>
        <p:blipFill>
          <a:blip r:embed="rId13">
            <a:alphaModFix/>
          </a:blip>
          <a:stretch>
            <a:fillRect/>
          </a:stretch>
        </p:blipFill>
        <p:spPr>
          <a:xfrm>
            <a:off x="5606415" y="1067603"/>
            <a:ext cx="954900" cy="147380"/>
          </a:xfrm>
          <a:prstGeom prst="rect">
            <a:avLst/>
          </a:prstGeom>
          <a:noFill/>
          <a:ln>
            <a:noFill/>
          </a:ln>
        </p:spPr>
      </p:pic>
      <p:sp>
        <p:nvSpPr>
          <p:cNvPr id="145" name="Google Shape;145;p20"/>
          <p:cNvSpPr txBox="1"/>
          <p:nvPr/>
        </p:nvSpPr>
        <p:spPr>
          <a:xfrm>
            <a:off x="6636950" y="3707975"/>
            <a:ext cx="21093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900">
                <a:solidFill>
                  <a:schemeClr val="dk2"/>
                </a:solidFill>
              </a:rPr>
              <a:t>Notice we need the output of the previous layer in the backward pass!</a:t>
            </a:r>
            <a:endParaRPr sz="900">
              <a:solidFill>
                <a:schemeClr val="dk2"/>
              </a:solidFill>
            </a:endParaRPr>
          </a:p>
        </p:txBody>
      </p:sp>
      <p:cxnSp>
        <p:nvCxnSpPr>
          <p:cNvPr id="146" name="Google Shape;146;p20"/>
          <p:cNvCxnSpPr>
            <a:endCxn id="137" idx="3"/>
          </p:cNvCxnSpPr>
          <p:nvPr/>
        </p:nvCxnSpPr>
        <p:spPr>
          <a:xfrm rot="10800000">
            <a:off x="6551340" y="3335208"/>
            <a:ext cx="286200" cy="437700"/>
          </a:xfrm>
          <a:prstGeom prst="straightConnector1">
            <a:avLst/>
          </a:prstGeom>
          <a:noFill/>
          <a:ln cap="flat" cmpd="sng" w="9525">
            <a:solidFill>
              <a:schemeClr val="dk2"/>
            </a:solidFill>
            <a:prstDash val="solid"/>
            <a:round/>
            <a:headEnd len="med" w="med" type="none"/>
            <a:tailEnd len="med" w="med" type="triangle"/>
          </a:ln>
        </p:spPr>
      </p:cxnSp>
      <p:sp>
        <p:nvSpPr>
          <p:cNvPr id="147" name="Google Shape;147;p20"/>
          <p:cNvSpPr txBox="1"/>
          <p:nvPr>
            <p:ph type="ctrTitle"/>
          </p:nvPr>
        </p:nvSpPr>
        <p:spPr>
          <a:xfrm>
            <a:off x="-41050" y="234250"/>
            <a:ext cx="3187800" cy="5727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SzPts val="990"/>
              <a:buNone/>
            </a:pPr>
            <a:r>
              <a:rPr lang="en" sz="2480"/>
              <a:t>Backpropagation</a:t>
            </a:r>
            <a:endParaRPr sz="2480"/>
          </a:p>
        </p:txBody>
      </p:sp>
      <p:sp>
        <p:nvSpPr>
          <p:cNvPr id="148" name="Google Shape;148;p20"/>
          <p:cNvSpPr/>
          <p:nvPr/>
        </p:nvSpPr>
        <p:spPr>
          <a:xfrm rot="10800000">
            <a:off x="7441250" y="2992600"/>
            <a:ext cx="954900" cy="171900"/>
          </a:xfrm>
          <a:prstGeom prst="rightArrow">
            <a:avLst>
              <a:gd fmla="val 50000" name="adj1"/>
              <a:gd fmla="val 50000"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descr="{&quot;backgroundColorModified&quot;:false,&quot;id&quot;:&quot;26&quot;,&quot;code&quot;:&quot;$$a_{n-2}$$&quot;,&quot;type&quot;:&quot;$$&quot;,&quot;backgroundColor&quot;:&quot;#FFFFFF&quot;,&quot;aid&quot;:null,&quot;font&quot;:{&quot;color&quot;:&quot;#000000&quot;,&quot;family&quot;:&quot;Arial&quot;,&quot;size&quot;:11},&quot;ts&quot;:1755261284641,&quot;cs&quot;:&quot;NNWgOZ3nzgXb/13j0nQWPQ==&quot;,&quot;size&quot;:{&quot;width&quot;:31.5,&quot;height&quot;:10.333333333333334}}" id="149" name="Google Shape;149;p20"/>
          <p:cNvPicPr preferRelativeResize="0"/>
          <p:nvPr/>
        </p:nvPicPr>
        <p:blipFill>
          <a:blip r:embed="rId14">
            <a:alphaModFix/>
          </a:blip>
          <a:stretch>
            <a:fillRect/>
          </a:stretch>
        </p:blipFill>
        <p:spPr>
          <a:xfrm>
            <a:off x="2824145" y="1858584"/>
            <a:ext cx="300038" cy="98425"/>
          </a:xfrm>
          <a:prstGeom prst="rect">
            <a:avLst/>
          </a:prstGeom>
          <a:noFill/>
          <a:ln>
            <a:noFill/>
          </a:ln>
        </p:spPr>
      </p:pic>
      <p:grpSp>
        <p:nvGrpSpPr>
          <p:cNvPr id="150" name="Google Shape;150;p20"/>
          <p:cNvGrpSpPr/>
          <p:nvPr/>
        </p:nvGrpSpPr>
        <p:grpSpPr>
          <a:xfrm>
            <a:off x="2969050" y="1489350"/>
            <a:ext cx="1471800" cy="1100100"/>
            <a:chOff x="3578650" y="1489350"/>
            <a:chExt cx="1471800" cy="1100100"/>
          </a:xfrm>
        </p:grpSpPr>
        <p:sp>
          <p:nvSpPr>
            <p:cNvPr id="151" name="Google Shape;151;p20"/>
            <p:cNvSpPr txBox="1"/>
            <p:nvPr/>
          </p:nvSpPr>
          <p:spPr>
            <a:xfrm>
              <a:off x="3941100" y="1808550"/>
              <a:ext cx="342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800">
                  <a:solidFill>
                    <a:schemeClr val="dk2"/>
                  </a:solidFill>
                </a:rPr>
                <a:t>…</a:t>
              </a:r>
              <a:endParaRPr sz="1800">
                <a:solidFill>
                  <a:schemeClr val="dk2"/>
                </a:solidFill>
              </a:endParaRPr>
            </a:p>
          </p:txBody>
        </p:sp>
        <p:cxnSp>
          <p:nvCxnSpPr>
            <p:cNvPr id="152" name="Google Shape;152;p20"/>
            <p:cNvCxnSpPr>
              <a:stCxn id="153" idx="3"/>
              <a:endCxn id="154" idx="1"/>
            </p:cNvCxnSpPr>
            <p:nvPr/>
          </p:nvCxnSpPr>
          <p:spPr>
            <a:xfrm>
              <a:off x="4372450" y="2039400"/>
              <a:ext cx="678000" cy="0"/>
            </a:xfrm>
            <a:prstGeom prst="straightConnector1">
              <a:avLst/>
            </a:prstGeom>
            <a:noFill/>
            <a:ln cap="flat" cmpd="sng" w="9525">
              <a:solidFill>
                <a:srgbClr val="595959"/>
              </a:solidFill>
              <a:prstDash val="solid"/>
              <a:round/>
              <a:headEnd len="sm" w="sm" type="none"/>
              <a:tailEnd len="med" w="med" type="triangle"/>
            </a:ln>
          </p:spPr>
        </p:cxnSp>
        <p:sp>
          <p:nvSpPr>
            <p:cNvPr id="153" name="Google Shape;153;p20"/>
            <p:cNvSpPr/>
            <p:nvPr/>
          </p:nvSpPr>
          <p:spPr>
            <a:xfrm>
              <a:off x="3779350" y="1489350"/>
              <a:ext cx="593100" cy="1100100"/>
            </a:xfrm>
            <a:prstGeom prst="roundRect">
              <a:avLst>
                <a:gd fmla="val 9734" name="adj"/>
              </a:avLst>
            </a:prstGeom>
            <a:solidFill>
              <a:srgbClr val="EEEEEE"/>
            </a:solidFill>
            <a:ln cap="flat" cmpd="sng" w="9525">
              <a:solidFill>
                <a:srgbClr val="595959"/>
              </a:solidFill>
              <a:prstDash val="solid"/>
              <a:round/>
              <a:headEnd len="sm" w="sm" type="none"/>
              <a:tailEnd len="sm" w="sm" type="none"/>
            </a:ln>
          </p:spPr>
          <p:txBody>
            <a:bodyPr anchorCtr="0" anchor="ctr" bIns="68575" lIns="68575" spcFirstLastPara="1" rIns="68575" wrap="square" tIns="68575">
              <a:noAutofit/>
            </a:bodyPr>
            <a:lstStyle/>
            <a:p>
              <a:pPr indent="0" lvl="0" marL="0" marR="0" rtl="0" algn="l">
                <a:lnSpc>
                  <a:spcPct val="100000"/>
                </a:lnSpc>
                <a:spcBef>
                  <a:spcPts val="0"/>
                </a:spcBef>
                <a:spcAft>
                  <a:spcPts val="0"/>
                </a:spcAft>
                <a:buClr>
                  <a:srgbClr val="000000"/>
                </a:buClr>
                <a:buSzPts val="1100"/>
                <a:buFont typeface="Arial"/>
                <a:buNone/>
              </a:pPr>
              <a:r>
                <a:t/>
              </a:r>
              <a:endParaRPr sz="1100"/>
            </a:p>
          </p:txBody>
        </p:sp>
        <p:pic>
          <p:nvPicPr>
            <p:cNvPr descr="{&quot;code&quot;:&quot;$$W_{n-1}$$&quot;,&quot;aid&quot;:null,&quot;id&quot;:&quot;3&quot;,&quot;backgroundColorModified&quot;:false,&quot;type&quot;:&quot;$$&quot;,&quot;backgroundColor&quot;:&quot;#FFFFFF&quot;,&quot;font&quot;:{&quot;color&quot;:&quot;#000000&quot;,&quot;family&quot;:&quot;Arial&quot;,&quot;size&quot;:12},&quot;ts&quot;:1755260290480,&quot;cs&quot;:&quot;Ed+JPRiox70jOjZAtPdSEw==&quot;,&quot;size&quot;:{&quot;width&quot;:41.5,&quot;height&quot;:15.833333333333334}}" id="155" name="Google Shape;155;p20"/>
            <p:cNvPicPr preferRelativeResize="0"/>
            <p:nvPr/>
          </p:nvPicPr>
          <p:blipFill>
            <a:blip r:embed="rId15">
              <a:alphaModFix/>
            </a:blip>
            <a:stretch>
              <a:fillRect/>
            </a:stretch>
          </p:blipFill>
          <p:spPr>
            <a:xfrm>
              <a:off x="3885575" y="1963988"/>
              <a:ext cx="395288" cy="150813"/>
            </a:xfrm>
            <a:prstGeom prst="rect">
              <a:avLst/>
            </a:prstGeom>
            <a:noFill/>
            <a:ln>
              <a:noFill/>
            </a:ln>
          </p:spPr>
        </p:pic>
        <p:cxnSp>
          <p:nvCxnSpPr>
            <p:cNvPr id="156" name="Google Shape;156;p20"/>
            <p:cNvCxnSpPr/>
            <p:nvPr/>
          </p:nvCxnSpPr>
          <p:spPr>
            <a:xfrm>
              <a:off x="3578650" y="2039400"/>
              <a:ext cx="175500" cy="0"/>
            </a:xfrm>
            <a:prstGeom prst="straightConnector1">
              <a:avLst/>
            </a:prstGeom>
            <a:noFill/>
            <a:ln cap="flat" cmpd="sng" w="9525">
              <a:solidFill>
                <a:srgbClr val="595959"/>
              </a:solidFill>
              <a:prstDash val="solid"/>
              <a:round/>
              <a:headEnd len="sm" w="sm" type="none"/>
              <a:tailEnd len="med" w="med" type="triangle"/>
            </a:ln>
          </p:spPr>
        </p:cxnSp>
      </p:grpSp>
      <p:grpSp>
        <p:nvGrpSpPr>
          <p:cNvPr id="157" name="Google Shape;157;p20"/>
          <p:cNvGrpSpPr/>
          <p:nvPr/>
        </p:nvGrpSpPr>
        <p:grpSpPr>
          <a:xfrm>
            <a:off x="2513049" y="1840327"/>
            <a:ext cx="395001" cy="400202"/>
            <a:chOff x="4034225" y="3362525"/>
            <a:chExt cx="455700" cy="461700"/>
          </a:xfrm>
        </p:grpSpPr>
        <p:pic>
          <p:nvPicPr>
            <p:cNvPr descr="{&quot;aid&quot;:null,&quot;code&quot;:&quot;$$...$$&quot;,&quot;font&quot;:{&quot;family&quot;:&quot;Arial&quot;,&quot;size&quot;:10.5,&quot;color&quot;:&quot;#000000&quot;},&quot;backgroundColor&quot;:&quot;#FFFFFF&quot;,&quot;backgroundColorModified&quot;:false,&quot;type&quot;:&quot;$$&quot;,&quot;id&quot;:&quot;4&quot;,&quot;ts&quot;:1755260511281,&quot;cs&quot;:&quot;ytP0/aVkpBm2pk2P7+sS6g==&quot;,&quot;size&quot;:{&quot;width&quot;:17.5,&quot;height&quot;:2.1666666666666665}}" id="158" name="Google Shape;158;p20"/>
            <p:cNvPicPr preferRelativeResize="0"/>
            <p:nvPr/>
          </p:nvPicPr>
          <p:blipFill>
            <a:blip r:embed="rId16">
              <a:alphaModFix/>
            </a:blip>
            <a:stretch>
              <a:fillRect/>
            </a:stretch>
          </p:blipFill>
          <p:spPr>
            <a:xfrm>
              <a:off x="4207300" y="3583063"/>
              <a:ext cx="166688" cy="20638"/>
            </a:xfrm>
            <a:prstGeom prst="rect">
              <a:avLst/>
            </a:prstGeom>
            <a:noFill/>
            <a:ln>
              <a:noFill/>
            </a:ln>
          </p:spPr>
        </p:pic>
        <p:sp>
          <p:nvSpPr>
            <p:cNvPr id="116" name="Google Shape;116;p20"/>
            <p:cNvSpPr txBox="1"/>
            <p:nvPr/>
          </p:nvSpPr>
          <p:spPr>
            <a:xfrm>
              <a:off x="4034225" y="3362525"/>
              <a:ext cx="455700" cy="461700"/>
            </a:xfrm>
            <a:prstGeom prst="rect">
              <a:avLst/>
            </a:prstGeom>
            <a:noFill/>
            <a:ln>
              <a:noFill/>
            </a:ln>
          </p:spPr>
          <p:txBody>
            <a:bodyPr anchorCtr="0" anchor="t" bIns="79250" lIns="79250" spcFirstLastPara="1" rIns="79250" wrap="square" tIns="79250">
              <a:spAutoFit/>
            </a:bodyPr>
            <a:lstStyle/>
            <a:p>
              <a:pPr indent="0" lvl="0" marL="0" rtl="0" algn="l">
                <a:spcBef>
                  <a:spcPts val="0"/>
                </a:spcBef>
                <a:spcAft>
                  <a:spcPts val="0"/>
                </a:spcAft>
                <a:buNone/>
              </a:pPr>
              <a:r>
                <a:t/>
              </a:r>
              <a:endParaRPr sz="1560">
                <a:solidFill>
                  <a:schemeClr val="dk2"/>
                </a:solidFill>
              </a:endParaRPr>
            </a:p>
          </p:txBody>
        </p:sp>
      </p:grpSp>
      <p:sp>
        <p:nvSpPr>
          <p:cNvPr id="154" name="Google Shape;154;p20"/>
          <p:cNvSpPr/>
          <p:nvPr/>
        </p:nvSpPr>
        <p:spPr>
          <a:xfrm>
            <a:off x="4440762" y="1489350"/>
            <a:ext cx="649500" cy="1100100"/>
          </a:xfrm>
          <a:prstGeom prst="roundRect">
            <a:avLst>
              <a:gd fmla="val 9734" name="adj"/>
            </a:avLst>
          </a:prstGeom>
          <a:solidFill>
            <a:srgbClr val="EEEEEE"/>
          </a:solidFill>
          <a:ln cap="flat" cmpd="sng" w="9525">
            <a:solidFill>
              <a:srgbClr val="595959"/>
            </a:solidFill>
            <a:prstDash val="solid"/>
            <a:round/>
            <a:headEnd len="sm" w="sm" type="none"/>
            <a:tailEnd len="sm" w="sm" type="none"/>
          </a:ln>
        </p:spPr>
        <p:txBody>
          <a:bodyPr anchorCtr="0" anchor="ctr" bIns="68575" lIns="68575" spcFirstLastPara="1" rIns="68575" wrap="square" tIns="68575">
            <a:noAutofit/>
          </a:bodyPr>
          <a:lstStyle/>
          <a:p>
            <a:pPr indent="0" lvl="0" marL="0" marR="0" rtl="0" algn="ctr">
              <a:lnSpc>
                <a:spcPct val="100000"/>
              </a:lnSpc>
              <a:spcBef>
                <a:spcPts val="0"/>
              </a:spcBef>
              <a:spcAft>
                <a:spcPts val="0"/>
              </a:spcAft>
              <a:buClr>
                <a:srgbClr val="000000"/>
              </a:buClr>
              <a:buSzPts val="1100"/>
              <a:buFont typeface="Arial"/>
              <a:buNone/>
            </a:pPr>
            <a:r>
              <a:rPr b="1" lang="en" sz="1300"/>
              <a:t>ReLU</a:t>
            </a:r>
            <a:endParaRPr b="1" i="0" sz="1300" u="none" cap="none" strike="noStrike">
              <a:solidFill>
                <a:srgbClr val="000000"/>
              </a:solidFill>
            </a:endParaRPr>
          </a:p>
        </p:txBody>
      </p:sp>
      <p:cxnSp>
        <p:nvCxnSpPr>
          <p:cNvPr id="159" name="Google Shape;159;p20"/>
          <p:cNvCxnSpPr>
            <a:stCxn id="154" idx="3"/>
            <a:endCxn id="118" idx="1"/>
          </p:cNvCxnSpPr>
          <p:nvPr/>
        </p:nvCxnSpPr>
        <p:spPr>
          <a:xfrm>
            <a:off x="5090262" y="2039400"/>
            <a:ext cx="663300" cy="2100"/>
          </a:xfrm>
          <a:prstGeom prst="straightConnector1">
            <a:avLst/>
          </a:prstGeom>
          <a:noFill/>
          <a:ln cap="flat" cmpd="sng" w="9525">
            <a:solidFill>
              <a:srgbClr val="595959"/>
            </a:solidFill>
            <a:prstDash val="solid"/>
            <a:round/>
            <a:headEnd len="sm" w="sm" type="none"/>
            <a:tailEnd len="med" w="med" type="triangle"/>
          </a:ln>
        </p:spPr>
      </p:cxnSp>
      <p:cxnSp>
        <p:nvCxnSpPr>
          <p:cNvPr id="160" name="Google Shape;160;p20"/>
          <p:cNvCxnSpPr/>
          <p:nvPr/>
        </p:nvCxnSpPr>
        <p:spPr>
          <a:xfrm>
            <a:off x="4170075" y="1308600"/>
            <a:ext cx="0" cy="1765800"/>
          </a:xfrm>
          <a:prstGeom prst="straightConnector1">
            <a:avLst/>
          </a:prstGeom>
          <a:noFill/>
          <a:ln cap="flat" cmpd="sng" w="9525">
            <a:solidFill>
              <a:schemeClr val="dk2"/>
            </a:solidFill>
            <a:prstDash val="dash"/>
            <a:round/>
            <a:headEnd len="med" w="med" type="none"/>
            <a:tailEnd len="med" w="med" type="none"/>
          </a:ln>
        </p:spPr>
      </p:cxnSp>
      <p:cxnSp>
        <p:nvCxnSpPr>
          <p:cNvPr id="161" name="Google Shape;161;p20"/>
          <p:cNvCxnSpPr/>
          <p:nvPr/>
        </p:nvCxnSpPr>
        <p:spPr>
          <a:xfrm>
            <a:off x="5500450" y="1141375"/>
            <a:ext cx="0" cy="1938300"/>
          </a:xfrm>
          <a:prstGeom prst="straightConnector1">
            <a:avLst/>
          </a:prstGeom>
          <a:noFill/>
          <a:ln cap="flat" cmpd="sng" w="9525">
            <a:solidFill>
              <a:schemeClr val="dk2"/>
            </a:solidFill>
            <a:prstDash val="dash"/>
            <a:round/>
            <a:headEnd len="med" w="med" type="none"/>
            <a:tailEnd len="med" w="med" type="none"/>
          </a:ln>
        </p:spPr>
      </p:cxnSp>
      <p:pic>
        <p:nvPicPr>
          <p:cNvPr descr="{&quot;font&quot;:{&quot;size&quot;:12,&quot;color&quot;:&quot;#000000&quot;,&quot;family&quot;:&quot;Arial&quot;},&quot;aid&quot;:null,&quot;type&quot;:&quot;$$&quot;,&quot;id&quot;:&quot;5&quot;,&quot;backgroundColor&quot;:&quot;#FFFFFF&quot;,&quot;backgroundColorModified&quot;:false,&quot;code&quot;:&quot;$$a_{1}$$&quot;,&quot;ts&quot;:1755261078204,&quot;cs&quot;:&quot;zld6unW/0mNjLy8FO/JllA==&quot;,&quot;size&quot;:{&quot;width&quot;:15.666666666666666,&quot;height&quot;:11.166666666666666}}" id="162" name="Google Shape;162;p20"/>
          <p:cNvPicPr preferRelativeResize="0"/>
          <p:nvPr/>
        </p:nvPicPr>
        <p:blipFill>
          <a:blip r:embed="rId17">
            <a:alphaModFix/>
          </a:blip>
          <a:stretch>
            <a:fillRect/>
          </a:stretch>
        </p:blipFill>
        <p:spPr>
          <a:xfrm>
            <a:off x="2382135" y="1854600"/>
            <a:ext cx="149225" cy="106363"/>
          </a:xfrm>
          <a:prstGeom prst="rect">
            <a:avLst/>
          </a:prstGeom>
          <a:noFill/>
          <a:ln>
            <a:noFill/>
          </a:ln>
        </p:spPr>
      </p:pic>
      <p:pic>
        <p:nvPicPr>
          <p:cNvPr descr="{&quot;backgroundColorModified&quot;:false,&quot;type&quot;:&quot;$$&quot;,&quot;id&quot;:&quot;26&quot;,&quot;aid&quot;:null,&quot;code&quot;:&quot;$$y_{n-1}$$&quot;,&quot;font&quot;:{&quot;family&quot;:&quot;Arial&quot;,&quot;size&quot;:11,&quot;color&quot;:&quot;#000000&quot;},&quot;backgroundColor&quot;:&quot;#FFFFFF&quot;,&quot;ts&quot;:1755261311908,&quot;cs&quot;:&quot;7mU12nk2z+5i/2Zztp0Ypw==&quot;,&quot;size&quot;:{&quot;width&quot;:30.666666666666668,&quot;height&quot;:11.166666666666666}}" id="163" name="Google Shape;163;p20"/>
          <p:cNvPicPr preferRelativeResize="0"/>
          <p:nvPr/>
        </p:nvPicPr>
        <p:blipFill>
          <a:blip r:embed="rId18">
            <a:alphaModFix/>
          </a:blip>
          <a:stretch>
            <a:fillRect/>
          </a:stretch>
        </p:blipFill>
        <p:spPr>
          <a:xfrm>
            <a:off x="3852456" y="1875616"/>
            <a:ext cx="292100" cy="106363"/>
          </a:xfrm>
          <a:prstGeom prst="rect">
            <a:avLst/>
          </a:prstGeom>
          <a:noFill/>
          <a:ln>
            <a:noFill/>
          </a:ln>
        </p:spPr>
      </p:pic>
      <p:pic>
        <p:nvPicPr>
          <p:cNvPr descr="{&quot;id&quot;:&quot;25&quot;,&quot;backgroundColor&quot;:&quot;#FFFFFF&quot;,&quot;backgroundColorModified&quot;:false,&quot;font&quot;:{&quot;size&quot;:9,&quot;color&quot;:&quot;#595959&quot;,&quot;family&quot;:&quot;Arial&quot;},&quot;aid&quot;:null,&quot;type&quot;:&quot;$&quot;,&quot;code&quot;:&quot;$a_{n-1}=ReLU\\left(y_{n-1}\\right)$&quot;,&quot;ts&quot;:1755261538532,&quot;cs&quot;:&quot;xLiRZLUgTLIjIoEztzYX+Q==&quot;,&quot;size&quot;:{&quot;width&quot;:127.45593254593177,&quot;height&quot;:14.740153018372702}}" id="164" name="Google Shape;164;p20"/>
          <p:cNvPicPr preferRelativeResize="0"/>
          <p:nvPr/>
        </p:nvPicPr>
        <p:blipFill>
          <a:blip r:embed="rId19">
            <a:alphaModFix/>
          </a:blip>
          <a:stretch>
            <a:fillRect/>
          </a:stretch>
        </p:blipFill>
        <p:spPr>
          <a:xfrm>
            <a:off x="4167952" y="1071103"/>
            <a:ext cx="1214018" cy="140400"/>
          </a:xfrm>
          <a:prstGeom prst="rect">
            <a:avLst/>
          </a:prstGeom>
          <a:noFill/>
          <a:ln>
            <a:noFill/>
          </a:ln>
        </p:spPr>
      </p:pic>
      <p:pic>
        <p:nvPicPr>
          <p:cNvPr descr="{&quot;id&quot;:&quot;27&quot;,&quot;aid&quot;:null,&quot;font&quot;:{&quot;family&quot;:&quot;Arial&quot;,&quot;size&quot;:10,&quot;color&quot;:&quot;#000000&quot;},&quot;type&quot;:&quot;lalign*&quot;,&quot;backgroundColorModified&quot;:false,&quot;code&quot;:&quot;\\begin{lalign*}\n&amp;{\\frac{\\partial e}{\\partial y_{n-1,i}}=\\frac{\\partial e}{\\partial a_{n-1,i\\,}}\\text{if}\\;a_{n-1,i}&gt;0}\\\\\n&amp;{\\,\\,\\,\\,\\,\\,\\,\\,\\,\\,\\,\\,\\,\\,\\,\\,\\,\\,\\,\\,\\,\\,=0\\,\\;\\;\\;\\;\\;\\text{otherwise}}\\\\\n&amp;{}\t\n\\end{lalign*}&quot;,&quot;backgroundColor&quot;:&quot;#FFFFFF&quot;,&quot;ts&quot;:1757162153896,&quot;cs&quot;:&quot;B2WGJR0LD4adlzPpgXo8Fg==&quot;,&quot;size&quot;:{&quot;width&quot;:205.83333333333334,&quot;height&quot;:53.833333333333336}}" id="165" name="Google Shape;165;p20"/>
          <p:cNvPicPr preferRelativeResize="0"/>
          <p:nvPr/>
        </p:nvPicPr>
        <p:blipFill>
          <a:blip r:embed="rId20">
            <a:alphaModFix/>
          </a:blip>
          <a:stretch>
            <a:fillRect/>
          </a:stretch>
        </p:blipFill>
        <p:spPr>
          <a:xfrm>
            <a:off x="4098976" y="3124672"/>
            <a:ext cx="1512600" cy="395591"/>
          </a:xfrm>
          <a:prstGeom prst="rect">
            <a:avLst/>
          </a:prstGeom>
          <a:noFill/>
          <a:ln>
            <a:noFill/>
          </a:ln>
        </p:spPr>
      </p:pic>
      <p:pic>
        <p:nvPicPr>
          <p:cNvPr descr="{&quot;font&quot;:{&quot;color&quot;:&quot;#000000&quot;,&quot;size&quot;:7.5,&quot;family&quot;:&quot;Arial&quot;},&quot;type&quot;:&quot;lalign*&quot;,&quot;backgroundColor&quot;:&quot;#FFFFFF&quot;,&quot;backgroundColorModified&quot;:false,&quot;aid&quot;:null,&quot;id&quot;:&quot;27&quot;,&quot;code&quot;:&quot;\\begin{lalign*}\n&amp;{\\frac{\\partial e}{\\partial y_{i,1}}=\\frac{\\partial e}{\\partial a_{i,1\\,}}\\text{if}\\;a_{i,1}&gt;0}\\\\\n&amp;{\\,\\,\\,\\,\\,\\,\\,\\,\\,\\,\\,\\,\\,=0\\,\\;\\;\\;\\;\\;\\text{otherwise}}\\\\\n&amp;{}\t\n\\end{lalign*}&quot;,&quot;ts&quot;:1755262173707,&quot;cs&quot;:&quot;QhY5sxkQgr+XM7MhjN084g==&quot;,&quot;size&quot;:{&quot;width&quot;:120.16666666666667,&quot;height&quot;:40.333333333333336}}" id="166" name="Google Shape;166;p20"/>
          <p:cNvPicPr preferRelativeResize="0"/>
          <p:nvPr/>
        </p:nvPicPr>
        <p:blipFill>
          <a:blip r:embed="rId21">
            <a:alphaModFix/>
          </a:blip>
          <a:stretch>
            <a:fillRect/>
          </a:stretch>
        </p:blipFill>
        <p:spPr>
          <a:xfrm>
            <a:off x="1372456" y="3124063"/>
            <a:ext cx="1144588" cy="384175"/>
          </a:xfrm>
          <a:prstGeom prst="rect">
            <a:avLst/>
          </a:prstGeom>
          <a:noFill/>
          <a:ln>
            <a:noFill/>
          </a:ln>
        </p:spPr>
      </p:pic>
      <p:pic>
        <p:nvPicPr>
          <p:cNvPr descr="{&quot;font&quot;:{&quot;family&quot;:&quot;Arial&quot;,&quot;color&quot;:&quot;#000000&quot;,&quot;size&quot;:7.5},&quot;aid&quot;:null,&quot;code&quot;:&quot;\\begin{lalign*}\n&amp;{\\frac{\\partial e}{\\partial W_{n-1}}=\\frac{\\partial e}{\\partial y_{n-1}}a_{n-2}^{T}}\\\\\n&amp;{\\frac{\\partial e}{\\partial a_{n-2}}=W_{n-1}^{T}\\frac{\\partial e}{\\partial y_{n-1}}}\t\n\\end{lalign*}&quot;,&quot;backgroundColor&quot;:&quot;#FFFFFF&quot;,&quot;type&quot;:&quot;lalign*&quot;,&quot;backgroundColorModified&quot;:false,&quot;id&quot;:&quot;27&quot;,&quot;ts&quot;:1755262366864,&quot;cs&quot;:&quot;EeCKrESTvLyaj759KxpxSA==&quot;,&quot;size&quot;:{&quot;width&quot;:109.66666666666667,&quot;height&quot;:57.16666666666663}}" id="167" name="Google Shape;167;p20"/>
          <p:cNvPicPr preferRelativeResize="0"/>
          <p:nvPr/>
        </p:nvPicPr>
        <p:blipFill>
          <a:blip r:embed="rId22">
            <a:alphaModFix/>
          </a:blip>
          <a:stretch>
            <a:fillRect/>
          </a:stretch>
        </p:blipFill>
        <p:spPr>
          <a:xfrm>
            <a:off x="2809277" y="3043908"/>
            <a:ext cx="1044575" cy="544512"/>
          </a:xfrm>
          <a:prstGeom prst="rect">
            <a:avLst/>
          </a:prstGeom>
          <a:noFill/>
          <a:ln>
            <a:noFill/>
          </a:ln>
        </p:spPr>
      </p:pic>
      <p:pic>
        <p:nvPicPr>
          <p:cNvPr descr="{&quot;id&quot;:&quot;25&quot;,&quot;font&quot;:{&quot;size&quot;:11,&quot;family&quot;:&quot;Arial&quot;,&quot;color&quot;:&quot;#595959&quot;},&quot;backgroundColor&quot;:&quot;#FFFFFF&quot;,&quot;code&quot;:&quot;$y_{n-1}=W_{n-1\\,}a_{n-2}$&quot;,&quot;aid&quot;:null,&quot;backgroundColorModified&quot;:false,&quot;type&quot;:&quot;$&quot;,&quot;ts&quot;:1755262414493,&quot;cs&quot;:&quot;oY8K8eAd4uw0hiF9TwkzWA==&quot;,&quot;size&quot;:{&quot;width&quot;:130.66666666666666,&quot;height&quot;:15.333333333333334}}" id="168" name="Google Shape;168;p20"/>
          <p:cNvPicPr preferRelativeResize="0"/>
          <p:nvPr/>
        </p:nvPicPr>
        <p:blipFill>
          <a:blip r:embed="rId23">
            <a:alphaModFix/>
          </a:blip>
          <a:stretch>
            <a:fillRect/>
          </a:stretch>
        </p:blipFill>
        <p:spPr>
          <a:xfrm>
            <a:off x="2687155" y="1075116"/>
            <a:ext cx="1244600" cy="146050"/>
          </a:xfrm>
          <a:prstGeom prst="rect">
            <a:avLst/>
          </a:prstGeom>
          <a:noFill/>
          <a:ln>
            <a:noFill/>
          </a:ln>
        </p:spPr>
      </p:pic>
      <p:pic>
        <p:nvPicPr>
          <p:cNvPr descr="{&quot;id&quot;:&quot;25&quot;,&quot;type&quot;:&quot;$&quot;,&quot;font&quot;:{&quot;size&quot;:9,&quot;family&quot;:&quot;Arial&quot;,&quot;color&quot;:&quot;#595959&quot;},&quot;code&quot;:&quot;$a_{1}=ReLU\\left(y_{1}\\right)$&quot;,&quot;aid&quot;:null,&quot;backgroundColorModified&quot;:false,&quot;backgroundColor&quot;:&quot;#FFFFFF&quot;,&quot;ts&quot;:1755262480461,&quot;cs&quot;:&quot;YCIacjxf7pfu10pNc9ln1A==&quot;,&quot;size&quot;:{&quot;width&quot;:94.5,&quot;height&quot;:14.166666666666666}}" id="169" name="Google Shape;169;p20"/>
          <p:cNvPicPr preferRelativeResize="0"/>
          <p:nvPr/>
        </p:nvPicPr>
        <p:blipFill>
          <a:blip r:embed="rId24">
            <a:alphaModFix/>
          </a:blip>
          <a:stretch>
            <a:fillRect/>
          </a:stretch>
        </p:blipFill>
        <p:spPr>
          <a:xfrm>
            <a:off x="1481023" y="1078178"/>
            <a:ext cx="900113" cy="134938"/>
          </a:xfrm>
          <a:prstGeom prst="rect">
            <a:avLst/>
          </a:prstGeom>
          <a:noFill/>
          <a:ln>
            <a:noFill/>
          </a:ln>
        </p:spPr>
      </p:pic>
      <p:cxnSp>
        <p:nvCxnSpPr>
          <p:cNvPr id="170" name="Google Shape;170;p20"/>
          <p:cNvCxnSpPr>
            <a:stCxn id="126" idx="2"/>
            <a:endCxn id="153" idx="2"/>
          </p:cNvCxnSpPr>
          <p:nvPr/>
        </p:nvCxnSpPr>
        <p:spPr>
          <a:xfrm rot="5400000">
            <a:off x="5836325" y="-34250"/>
            <a:ext cx="253500" cy="4993800"/>
          </a:xfrm>
          <a:prstGeom prst="bentConnector3">
            <a:avLst>
              <a:gd fmla="val 250424" name="adj1"/>
            </a:avLst>
          </a:prstGeom>
          <a:noFill/>
          <a:ln cap="flat" cmpd="sng" w="9525">
            <a:solidFill>
              <a:schemeClr val="dk2"/>
            </a:solidFill>
            <a:prstDash val="solid"/>
            <a:round/>
            <a:headEnd len="med" w="med" type="none"/>
            <a:tailEnd len="med" w="med" type="triangle"/>
          </a:ln>
        </p:spPr>
      </p:cxnSp>
      <p:sp>
        <p:nvSpPr>
          <p:cNvPr id="171" name="Google Shape;171;p20"/>
          <p:cNvSpPr/>
          <p:nvPr/>
        </p:nvSpPr>
        <p:spPr>
          <a:xfrm>
            <a:off x="386700" y="1344250"/>
            <a:ext cx="1994400" cy="1404900"/>
          </a:xfrm>
          <a:prstGeom prst="roundRect">
            <a:avLst>
              <a:gd fmla="val 6077" name="adj"/>
            </a:avLst>
          </a:prstGeom>
          <a:noFill/>
          <a:ln cap="flat" cmpd="sng" w="9525">
            <a:solidFill>
              <a:schemeClr val="dk2"/>
            </a:solidFill>
            <a:prstDash val="dash"/>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72" name="Google Shape;172;p20"/>
          <p:cNvSpPr txBox="1"/>
          <p:nvPr/>
        </p:nvSpPr>
        <p:spPr>
          <a:xfrm>
            <a:off x="1511647" y="2669776"/>
            <a:ext cx="5931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900">
                <a:solidFill>
                  <a:schemeClr val="dk2"/>
                </a:solidFill>
              </a:rPr>
              <a:t>Layer 1</a:t>
            </a:r>
            <a:endParaRPr sz="900">
              <a:solidFill>
                <a:schemeClr val="dk2"/>
              </a:solidFill>
            </a:endParaRPr>
          </a:p>
        </p:txBody>
      </p:sp>
      <p:sp>
        <p:nvSpPr>
          <p:cNvPr id="173" name="Google Shape;173;p20"/>
          <p:cNvSpPr/>
          <p:nvPr/>
        </p:nvSpPr>
        <p:spPr>
          <a:xfrm>
            <a:off x="3024650" y="1344250"/>
            <a:ext cx="2109300" cy="1404900"/>
          </a:xfrm>
          <a:prstGeom prst="roundRect">
            <a:avLst>
              <a:gd fmla="val 6077" name="adj"/>
            </a:avLst>
          </a:prstGeom>
          <a:noFill/>
          <a:ln cap="flat" cmpd="sng" w="9525">
            <a:solidFill>
              <a:schemeClr val="dk2"/>
            </a:solidFill>
            <a:prstDash val="dash"/>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74" name="Google Shape;174;p20"/>
          <p:cNvSpPr txBox="1"/>
          <p:nvPr/>
        </p:nvSpPr>
        <p:spPr>
          <a:xfrm>
            <a:off x="4414348" y="2673361"/>
            <a:ext cx="7173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900">
                <a:solidFill>
                  <a:schemeClr val="dk2"/>
                </a:solidFill>
              </a:rPr>
              <a:t>Layer n-1</a:t>
            </a:r>
            <a:endParaRPr sz="900">
              <a:solidFill>
                <a:schemeClr val="dk2"/>
              </a:solidFill>
            </a:endParaRPr>
          </a:p>
        </p:txBody>
      </p:sp>
      <p:sp>
        <p:nvSpPr>
          <p:cNvPr id="175" name="Google Shape;175;p20"/>
          <p:cNvSpPr/>
          <p:nvPr/>
        </p:nvSpPr>
        <p:spPr>
          <a:xfrm>
            <a:off x="5625000" y="1329475"/>
            <a:ext cx="900000" cy="1404900"/>
          </a:xfrm>
          <a:prstGeom prst="roundRect">
            <a:avLst>
              <a:gd fmla="val 6077" name="adj"/>
            </a:avLst>
          </a:prstGeom>
          <a:noFill/>
          <a:ln cap="flat" cmpd="sng" w="9525">
            <a:solidFill>
              <a:schemeClr val="dk2"/>
            </a:solidFill>
            <a:prstDash val="dash"/>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76" name="Google Shape;176;p20"/>
          <p:cNvSpPr txBox="1"/>
          <p:nvPr/>
        </p:nvSpPr>
        <p:spPr>
          <a:xfrm>
            <a:off x="6053848" y="2673199"/>
            <a:ext cx="7173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900">
                <a:solidFill>
                  <a:schemeClr val="dk2"/>
                </a:solidFill>
              </a:rPr>
              <a:t>Layer n</a:t>
            </a:r>
            <a:endParaRPr sz="900">
              <a:solidFill>
                <a:schemeClr val="dk2"/>
              </a:solidFill>
            </a:endParaRPr>
          </a:p>
        </p:txBody>
      </p:sp>
      <p:sp>
        <p:nvSpPr>
          <p:cNvPr id="177" name="Google Shape;177;p20"/>
          <p:cNvSpPr/>
          <p:nvPr/>
        </p:nvSpPr>
        <p:spPr>
          <a:xfrm rot="10800000">
            <a:off x="5687313" y="3620057"/>
            <a:ext cx="249900" cy="167700"/>
          </a:xfrm>
          <a:prstGeom prst="rightArrow">
            <a:avLst>
              <a:gd fmla="val 50000" name="adj1"/>
              <a:gd fmla="val 50000"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78" name="Google Shape;178;p20"/>
          <p:cNvSpPr/>
          <p:nvPr/>
        </p:nvSpPr>
        <p:spPr>
          <a:xfrm rot="10800000">
            <a:off x="4116340" y="3420732"/>
            <a:ext cx="249900" cy="167700"/>
          </a:xfrm>
          <a:prstGeom prst="rightArrow">
            <a:avLst>
              <a:gd fmla="val 50000" name="adj1"/>
              <a:gd fmla="val 50000"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79" name="Google Shape;179;p20"/>
          <p:cNvSpPr/>
          <p:nvPr/>
        </p:nvSpPr>
        <p:spPr>
          <a:xfrm rot="10800000">
            <a:off x="2822507" y="3634901"/>
            <a:ext cx="249900" cy="167700"/>
          </a:xfrm>
          <a:prstGeom prst="rightArrow">
            <a:avLst>
              <a:gd fmla="val 50000" name="adj1"/>
              <a:gd fmla="val 50000"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80" name="Google Shape;180;p20"/>
          <p:cNvSpPr txBox="1"/>
          <p:nvPr/>
        </p:nvSpPr>
        <p:spPr>
          <a:xfrm>
            <a:off x="410745" y="3958575"/>
            <a:ext cx="3443100" cy="738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200">
                <a:solidFill>
                  <a:schemeClr val="dk2"/>
                </a:solidFill>
              </a:rPr>
              <a:t>Forward and Backward pass on a </a:t>
            </a:r>
            <a:r>
              <a:rPr i="1" lang="en" sz="1200">
                <a:solidFill>
                  <a:schemeClr val="dk2"/>
                </a:solidFill>
              </a:rPr>
              <a:t>n </a:t>
            </a:r>
            <a:r>
              <a:rPr lang="en" sz="1200">
                <a:solidFill>
                  <a:schemeClr val="dk2"/>
                </a:solidFill>
              </a:rPr>
              <a:t>layer network and using backpropagation to update weights </a:t>
            </a:r>
            <a:endParaRPr sz="1200">
              <a:solidFill>
                <a:schemeClr val="dk2"/>
              </a:solidFill>
            </a:endParaRPr>
          </a:p>
        </p:txBody>
      </p:sp>
      <p:sp>
        <p:nvSpPr>
          <p:cNvPr id="181" name="Google Shape;181;p20"/>
          <p:cNvSpPr/>
          <p:nvPr/>
        </p:nvSpPr>
        <p:spPr>
          <a:xfrm>
            <a:off x="209700" y="3375700"/>
            <a:ext cx="1110900" cy="437700"/>
          </a:xfrm>
          <a:prstGeom prst="roundRect">
            <a:avLst>
              <a:gd fmla="val 6077" name="adj"/>
            </a:avLst>
          </a:prstGeom>
          <a:noFill/>
          <a:ln cap="flat" cmpd="sng" w="9525">
            <a:solidFill>
              <a:schemeClr val="dk2"/>
            </a:solidFill>
            <a:prstDash val="dash"/>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Does gradient wrt Input do the job? </a:t>
            </a:r>
            <a:endParaRPr/>
          </a:p>
        </p:txBody>
      </p:sp>
      <p:pic>
        <p:nvPicPr>
          <p:cNvPr descr="{&quot;id&quot;:&quot;2&quot;,&quot;backgroundColor&quot;:&quot;#FFFFFF&quot;,&quot;aid&quot;:null,&quot;backgroundColorModified&quot;:false,&quot;code&quot;:&quot;\\begin{gather*}\n{\\text{Not}\\;\\text{quite!}\\;\\text{Simply}\\;\\text{calculating}\\;\\pdf{f}{x_{j}}\\,\\text{or}\\;\\text{its}\\;\\text{variant}\\;x_{j}\\pdf{f}{x_{j}}\\,\\text{}}\\\\\n{\\text{results}\\;\\text{in}\\;\\text{a}\\;\\text{noisy}\\;\\text{output}\\;\\text{and}\\;\\text{can}\\;\\text{miss}\\;\\text{important}\\;\\text{features.}\\;\\;\\text{}}\\\\\n{\\text{This}\\;\\text{is}\\;\\text{because}\\,of\\,\\text{saturation.}\\;\\text{Gradient}\\;\\text{of}\\;\\text{a}\\;\\text{sigmoid}\\;\\text{near}\\;\\text{0}\\;\\text{or}\\;\\text{1}}\\\\\n{\\text{is}\\;\\text{near}\\;\\text{0}\\;\\text{even}\\;\\text{if}\\;\\text{the}\\;\\text{feature}\\;\\text{mattered}\\;\\text{to}\\;\\text{get}\\;\\text{there}}\t\n\\end{gather*}&quot;,&quot;type&quot;:&quot;gather*&quot;,&quot;font&quot;:{&quot;family&quot;:&quot;Arial&quot;,&quot;size&quot;:15,&quot;color&quot;:&quot;#595959&quot;},&quot;ts&quot;:1769132644461,&quot;cs&quot;:&quot;3fZY11dVSMY8oq8icbREYQ==&quot;,&quot;size&quot;:{&quot;width&quot;:648.4724,&quot;height&quot;:149.35169763779524}}" id="187" name="Google Shape;187;p21"/>
          <p:cNvPicPr preferRelativeResize="0"/>
          <p:nvPr/>
        </p:nvPicPr>
        <p:blipFill>
          <a:blip r:embed="rId3">
            <a:alphaModFix/>
          </a:blip>
          <a:stretch>
            <a:fillRect/>
          </a:stretch>
        </p:blipFill>
        <p:spPr>
          <a:xfrm>
            <a:off x="278075" y="1117350"/>
            <a:ext cx="6176700" cy="1422575"/>
          </a:xfrm>
          <a:prstGeom prst="rect">
            <a:avLst/>
          </a:prstGeom>
          <a:noFill/>
          <a:ln>
            <a:noFill/>
          </a:ln>
        </p:spPr>
      </p:pic>
      <p:pic>
        <p:nvPicPr>
          <p:cNvPr id="188" name="Google Shape;188;p21"/>
          <p:cNvPicPr preferRelativeResize="0"/>
          <p:nvPr/>
        </p:nvPicPr>
        <p:blipFill>
          <a:blip r:embed="rId4">
            <a:alphaModFix/>
          </a:blip>
          <a:stretch>
            <a:fillRect/>
          </a:stretch>
        </p:blipFill>
        <p:spPr>
          <a:xfrm>
            <a:off x="152400" y="2692325"/>
            <a:ext cx="6659686" cy="2298775"/>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Integrated Gradients</a:t>
            </a:r>
            <a:endParaRPr/>
          </a:p>
        </p:txBody>
      </p:sp>
      <p:sp>
        <p:nvSpPr>
          <p:cNvPr id="194" name="Google Shape;194;p2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Rather than just look at the input, first define a baseline, a feature-less input that results in a neutral prediction. Eg., a black image for image-based models, a zero embedding vector for text models</a:t>
            </a:r>
            <a:endParaRPr/>
          </a:p>
          <a:p>
            <a:pPr indent="0" lvl="0" marL="0" rtl="0" algn="l">
              <a:spcBef>
                <a:spcPts val="1200"/>
              </a:spcBef>
              <a:spcAft>
                <a:spcPts val="0"/>
              </a:spcAft>
              <a:buNone/>
            </a:pPr>
            <a:r>
              <a:rPr lang="en"/>
              <a:t>Integrated gradient then explains </a:t>
            </a:r>
            <a:endParaRPr/>
          </a:p>
          <a:p>
            <a:pPr indent="0" lvl="0" marL="0" rtl="0" algn="l">
              <a:spcBef>
                <a:spcPts val="1200"/>
              </a:spcBef>
              <a:spcAft>
                <a:spcPts val="0"/>
              </a:spcAft>
              <a:buNone/>
            </a:pPr>
            <a:r>
              <a:rPr lang="en"/>
              <a:t>Model (input) - Model (baseline)</a:t>
            </a:r>
            <a:endParaRPr/>
          </a:p>
          <a:p>
            <a:pPr indent="0" lvl="0" marL="0" rtl="0" algn="l">
              <a:spcBef>
                <a:spcPts val="1200"/>
              </a:spcBef>
              <a:spcAft>
                <a:spcPts val="1200"/>
              </a:spcAft>
              <a:buNone/>
            </a:pPr>
            <a:r>
              <a:rPr lang="en"/>
              <a:t>We vary the input from baseline to desired input in steps, then calculate and accumulate gradient of the network output against each input along the way. This way final feature attribution reflects contributions made “along the way” rather than just features with high gradients for the final image </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Integrated Gradients	</a:t>
            </a:r>
            <a:endParaRPr/>
          </a:p>
        </p:txBody>
      </p:sp>
      <p:pic>
        <p:nvPicPr>
          <p:cNvPr descr="{&quot;backgroundColorModified&quot;:false,&quot;aid&quot;:null,&quot;type&quot;:&quot;$$&quot;,&quot;font&quot;:{&quot;color&quot;:&quot;#000000&quot;,&quot;size&quot;:28,&quot;family&quot;:&quot;Arial&quot;},&quot;id&quot;:&quot;3&quot;,&quot;code&quot;:&quot;$$IG_{j}\\left(x\\right)=\\frac{\\left(x_{j}-x_{j}^{\\prime}\\right)}{m}\\sum_{k=1}^{m}\\pdf{f\\left(x^{\\prime}+\\frac{k}{m}\\left(x-x^{\\prime}\\right)\\right)}{x_{j}}$$&quot;,&quot;backgroundColor&quot;:&quot;#FFFFFF&quot;,&quot;ts&quot;:1769135325808,&quot;cs&quot;:&quot;+7/GdA8Cmgf/uFfjOHCYOg==&quot;,&quot;size&quot;:{&quot;width&quot;:868,&quot;height&quot;:124}}" id="200" name="Google Shape;200;p23"/>
          <p:cNvPicPr preferRelativeResize="0"/>
          <p:nvPr/>
        </p:nvPicPr>
        <p:blipFill>
          <a:blip r:embed="rId3">
            <a:alphaModFix/>
          </a:blip>
          <a:stretch>
            <a:fillRect/>
          </a:stretch>
        </p:blipFill>
        <p:spPr>
          <a:xfrm>
            <a:off x="532025" y="1486700"/>
            <a:ext cx="5979225" cy="854175"/>
          </a:xfrm>
          <a:prstGeom prst="rect">
            <a:avLst/>
          </a:prstGeom>
          <a:noFill/>
          <a:ln>
            <a:noFill/>
          </a:ln>
        </p:spPr>
      </p:pic>
      <p:pic>
        <p:nvPicPr>
          <p:cNvPr id="201" name="Google Shape;201;p23"/>
          <p:cNvPicPr preferRelativeResize="0"/>
          <p:nvPr/>
        </p:nvPicPr>
        <p:blipFill rotWithShape="1">
          <a:blip r:embed="rId4">
            <a:alphaModFix/>
          </a:blip>
          <a:srcRect b="0" l="0" r="60741" t="0"/>
          <a:stretch/>
        </p:blipFill>
        <p:spPr>
          <a:xfrm>
            <a:off x="170875" y="2732475"/>
            <a:ext cx="1957625" cy="2130375"/>
          </a:xfrm>
          <a:prstGeom prst="rect">
            <a:avLst/>
          </a:prstGeom>
          <a:noFill/>
          <a:ln>
            <a:noFill/>
          </a:ln>
        </p:spPr>
      </p:pic>
      <p:sp>
        <p:nvSpPr>
          <p:cNvPr id="202" name="Google Shape;202;p23"/>
          <p:cNvSpPr txBox="1"/>
          <p:nvPr/>
        </p:nvSpPr>
        <p:spPr>
          <a:xfrm>
            <a:off x="7161200" y="2170050"/>
            <a:ext cx="19899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800">
                <a:solidFill>
                  <a:schemeClr val="dk2"/>
                </a:solidFill>
              </a:rPr>
              <a:t>f</a:t>
            </a:r>
            <a:r>
              <a:rPr lang="en" sz="1800">
                <a:solidFill>
                  <a:schemeClr val="dk2"/>
                </a:solidFill>
              </a:rPr>
              <a:t>eature j</a:t>
            </a:r>
            <a:endParaRPr sz="1800">
              <a:solidFill>
                <a:schemeClr val="dk2"/>
              </a:solidFill>
            </a:endParaRPr>
          </a:p>
        </p:txBody>
      </p:sp>
      <p:cxnSp>
        <p:nvCxnSpPr>
          <p:cNvPr id="203" name="Google Shape;203;p23"/>
          <p:cNvCxnSpPr/>
          <p:nvPr/>
        </p:nvCxnSpPr>
        <p:spPr>
          <a:xfrm rot="10800000">
            <a:off x="5619150" y="2207150"/>
            <a:ext cx="1315800" cy="230700"/>
          </a:xfrm>
          <a:prstGeom prst="straightConnector1">
            <a:avLst/>
          </a:prstGeom>
          <a:noFill/>
          <a:ln cap="flat" cmpd="sng" w="9525">
            <a:solidFill>
              <a:schemeClr val="dk2"/>
            </a:solidFill>
            <a:prstDash val="solid"/>
            <a:round/>
            <a:headEnd len="med" w="med" type="none"/>
            <a:tailEnd len="med" w="med" type="triangle"/>
          </a:ln>
        </p:spPr>
      </p:cxnSp>
      <p:sp>
        <p:nvSpPr>
          <p:cNvPr id="204" name="Google Shape;204;p23"/>
          <p:cNvSpPr txBox="1"/>
          <p:nvPr/>
        </p:nvSpPr>
        <p:spPr>
          <a:xfrm>
            <a:off x="5374400" y="500525"/>
            <a:ext cx="34767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800">
                <a:solidFill>
                  <a:schemeClr val="dk2"/>
                </a:solidFill>
              </a:rPr>
              <a:t>Interpolated input at step k</a:t>
            </a:r>
            <a:endParaRPr sz="1800">
              <a:solidFill>
                <a:schemeClr val="dk2"/>
              </a:solidFill>
            </a:endParaRPr>
          </a:p>
        </p:txBody>
      </p:sp>
      <p:cxnSp>
        <p:nvCxnSpPr>
          <p:cNvPr id="205" name="Google Shape;205;p23"/>
          <p:cNvCxnSpPr/>
          <p:nvPr/>
        </p:nvCxnSpPr>
        <p:spPr>
          <a:xfrm flipH="1">
            <a:off x="5295825" y="937300"/>
            <a:ext cx="411000" cy="484800"/>
          </a:xfrm>
          <a:prstGeom prst="straightConnector1">
            <a:avLst/>
          </a:prstGeom>
          <a:noFill/>
          <a:ln cap="flat" cmpd="sng" w="9525">
            <a:solidFill>
              <a:schemeClr val="dk2"/>
            </a:solidFill>
            <a:prstDash val="solid"/>
            <a:round/>
            <a:headEnd len="med" w="med" type="none"/>
            <a:tailEnd len="med" w="med" type="triangle"/>
          </a:ln>
        </p:spPr>
      </p:cxnSp>
      <p:pic>
        <p:nvPicPr>
          <p:cNvPr id="206" name="Google Shape;206;p23"/>
          <p:cNvPicPr preferRelativeResize="0"/>
          <p:nvPr/>
        </p:nvPicPr>
        <p:blipFill>
          <a:blip r:embed="rId5">
            <a:alphaModFix/>
          </a:blip>
          <a:stretch>
            <a:fillRect/>
          </a:stretch>
        </p:blipFill>
        <p:spPr>
          <a:xfrm>
            <a:off x="5111200" y="2809850"/>
            <a:ext cx="3681849" cy="1969993"/>
          </a:xfrm>
          <a:prstGeom prst="rect">
            <a:avLst/>
          </a:prstGeom>
          <a:noFill/>
          <a:ln>
            <a:noFill/>
          </a:ln>
        </p:spPr>
      </p:pic>
      <p:pic>
        <p:nvPicPr>
          <p:cNvPr id="207" name="Google Shape;207;p23"/>
          <p:cNvPicPr preferRelativeResize="0"/>
          <p:nvPr/>
        </p:nvPicPr>
        <p:blipFill rotWithShape="1">
          <a:blip r:embed="rId4">
            <a:alphaModFix/>
          </a:blip>
          <a:srcRect b="0" l="60094" r="0" t="0"/>
          <a:stretch/>
        </p:blipFill>
        <p:spPr>
          <a:xfrm>
            <a:off x="2128500" y="2732475"/>
            <a:ext cx="1989899" cy="2130375"/>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 name="Shape 211"/>
        <p:cNvGrpSpPr/>
        <p:nvPr/>
      </p:nvGrpSpPr>
      <p:grpSpPr>
        <a:xfrm>
          <a:off x="0" y="0"/>
          <a:ext cx="0" cy="0"/>
          <a:chOff x="0" y="0"/>
          <a:chExt cx="0" cy="0"/>
        </a:xfrm>
      </p:grpSpPr>
      <p:sp>
        <p:nvSpPr>
          <p:cNvPr id="212" name="Google Shape;212;p2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Few more examples</a:t>
            </a:r>
            <a:endParaRPr/>
          </a:p>
        </p:txBody>
      </p:sp>
      <p:pic>
        <p:nvPicPr>
          <p:cNvPr id="213" name="Google Shape;213;p24"/>
          <p:cNvPicPr preferRelativeResize="0"/>
          <p:nvPr/>
        </p:nvPicPr>
        <p:blipFill>
          <a:blip r:embed="rId3">
            <a:alphaModFix/>
          </a:blip>
          <a:stretch>
            <a:fillRect/>
          </a:stretch>
        </p:blipFill>
        <p:spPr>
          <a:xfrm>
            <a:off x="152400" y="1170125"/>
            <a:ext cx="4362807" cy="3820974"/>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