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3ecbe50c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3ecbe50c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275143dc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275143dc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a4db0c2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a4db0c2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a4db0c25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a4db0c25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a4db0c25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a4db0c25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a4db0c25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a4db0c25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a4db0c255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a4db0c255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a4db0c25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a4db0c25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a4db0c255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ba4db0c255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a4db0c255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a4db0c255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a4db0c255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ba4db0c255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arxiv.org/abs/1703.0136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20" Type="http://schemas.openxmlformats.org/officeDocument/2006/relationships/image" Target="../media/image21.png"/><Relationship Id="rId11" Type="http://schemas.openxmlformats.org/officeDocument/2006/relationships/image" Target="../media/image12.png"/><Relationship Id="rId22" Type="http://schemas.openxmlformats.org/officeDocument/2006/relationships/image" Target="../media/image31.png"/><Relationship Id="rId10" Type="http://schemas.openxmlformats.org/officeDocument/2006/relationships/image" Target="../media/image5.png"/><Relationship Id="rId21" Type="http://schemas.openxmlformats.org/officeDocument/2006/relationships/image" Target="../media/image27.png"/><Relationship Id="rId13" Type="http://schemas.openxmlformats.org/officeDocument/2006/relationships/image" Target="../media/image8.png"/><Relationship Id="rId24" Type="http://schemas.openxmlformats.org/officeDocument/2006/relationships/image" Target="../media/image25.png"/><Relationship Id="rId12" Type="http://schemas.openxmlformats.org/officeDocument/2006/relationships/image" Target="../media/image17.png"/><Relationship Id="rId23" Type="http://schemas.openxmlformats.org/officeDocument/2006/relationships/image" Target="../media/image22.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20.png"/><Relationship Id="rId15" Type="http://schemas.openxmlformats.org/officeDocument/2006/relationships/image" Target="../media/image1.png"/><Relationship Id="rId14" Type="http://schemas.openxmlformats.org/officeDocument/2006/relationships/image" Target="../media/image6.png"/><Relationship Id="rId17" Type="http://schemas.openxmlformats.org/officeDocument/2006/relationships/image" Target="../media/image9.png"/><Relationship Id="rId16" Type="http://schemas.openxmlformats.org/officeDocument/2006/relationships/image" Target="../media/image3.png"/><Relationship Id="rId5" Type="http://schemas.openxmlformats.org/officeDocument/2006/relationships/image" Target="../media/image16.png"/><Relationship Id="rId19" Type="http://schemas.openxmlformats.org/officeDocument/2006/relationships/image" Target="../media/image19.png"/><Relationship Id="rId6" Type="http://schemas.openxmlformats.org/officeDocument/2006/relationships/image" Target="../media/image2.png"/><Relationship Id="rId18" Type="http://schemas.openxmlformats.org/officeDocument/2006/relationships/image" Target="../media/image30.png"/><Relationship Id="rId7" Type="http://schemas.openxmlformats.org/officeDocument/2006/relationships/image" Target="../media/image10.png"/><Relationship Id="rId8"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2.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Interpretability and Explainability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Introduction to Deep Learning: Class 3.2</a:t>
            </a:r>
            <a:endParaRPr/>
          </a:p>
          <a:p>
            <a:pPr indent="0" lvl="0" marL="0" rtl="0" algn="ctr">
              <a:spcBef>
                <a:spcPts val="0"/>
              </a:spcBef>
              <a:spcAft>
                <a:spcPts val="0"/>
              </a:spcAft>
              <a:buNone/>
            </a:pPr>
            <a:r>
              <a:rPr lang="en"/>
              <a:t>Gradient-Based Methods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Agenda</a:t>
            </a:r>
            <a:endParaRPr/>
          </a:p>
        </p:txBody>
      </p:sp>
      <p:sp>
        <p:nvSpPr>
          <p:cNvPr id="61" name="Google Shape;61;p14"/>
          <p:cNvSpPr txBox="1"/>
          <p:nvPr>
            <p:ph idx="1" type="body"/>
          </p:nvPr>
        </p:nvSpPr>
        <p:spPr>
          <a:xfrm>
            <a:off x="311700" y="1293225"/>
            <a:ext cx="8520600" cy="327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Experiment Tracking (Lecture 3.1)</a:t>
            </a:r>
            <a:endParaRPr/>
          </a:p>
          <a:p>
            <a:pPr indent="-342900" lvl="0" marL="457200" rtl="0" algn="l">
              <a:spcBef>
                <a:spcPts val="0"/>
              </a:spcBef>
              <a:spcAft>
                <a:spcPts val="0"/>
              </a:spcAft>
              <a:buSzPts val="1800"/>
              <a:buChar char="-"/>
            </a:pPr>
            <a:r>
              <a:rPr lang="en"/>
              <a:t>Monitoring/Observability (Lecture 3.1)</a:t>
            </a:r>
            <a:endParaRPr/>
          </a:p>
          <a:p>
            <a:pPr indent="-342900" lvl="0" marL="457200" rtl="0" algn="l">
              <a:spcBef>
                <a:spcPts val="0"/>
              </a:spcBef>
              <a:spcAft>
                <a:spcPts val="0"/>
              </a:spcAft>
              <a:buSzPts val="1800"/>
              <a:buChar char="-"/>
            </a:pPr>
            <a:r>
              <a:rPr b="1" lang="en"/>
              <a:t>Explaining model predictions (Lecture 3.2)</a:t>
            </a:r>
            <a:endParaRPr b="1"/>
          </a:p>
          <a:p>
            <a:pPr indent="-342900" lvl="0" marL="457200" rtl="0" algn="l">
              <a:spcBef>
                <a:spcPts val="0"/>
              </a:spcBef>
              <a:spcAft>
                <a:spcPts val="0"/>
              </a:spcAft>
              <a:buSzPts val="1800"/>
              <a:buChar char="-"/>
            </a:pPr>
            <a:r>
              <a:rPr lang="en"/>
              <a:t>Profiling</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Pre-read</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n" sz="1165"/>
              <a:t>Gradient-based Explainability methods:</a:t>
            </a:r>
            <a:endParaRPr b="1" sz="1165"/>
          </a:p>
          <a:p>
            <a:pPr indent="-302577" lvl="0" marL="457200" rtl="0" algn="l">
              <a:lnSpc>
                <a:spcPct val="105000"/>
              </a:lnSpc>
              <a:spcBef>
                <a:spcPts val="1200"/>
              </a:spcBef>
              <a:spcAft>
                <a:spcPts val="0"/>
              </a:spcAft>
              <a:buSzPts val="1165"/>
              <a:buChar char="-"/>
            </a:pPr>
            <a:r>
              <a:rPr lang="en" sz="1165"/>
              <a:t>Integrated gradients </a:t>
            </a:r>
            <a:r>
              <a:rPr lang="en" sz="1165" u="sng">
                <a:solidFill>
                  <a:schemeClr val="hlink"/>
                </a:solidFill>
                <a:hlinkClick r:id="rId3"/>
              </a:rPr>
              <a:t>paper</a:t>
            </a:r>
            <a:endParaRPr sz="1165"/>
          </a:p>
          <a:p>
            <a:pPr indent="-302577" lvl="0" marL="457200" rtl="0" algn="l">
              <a:lnSpc>
                <a:spcPct val="105000"/>
              </a:lnSpc>
              <a:spcBef>
                <a:spcPts val="0"/>
              </a:spcBef>
              <a:spcAft>
                <a:spcPts val="0"/>
              </a:spcAft>
              <a:buSzPts val="1165"/>
              <a:buChar char="-"/>
            </a:pPr>
            <a:r>
              <a:rPr lang="en" sz="1165"/>
              <a:t>Smilkov et al. (2017) — “SmoothGrad: removing noise by adding noise”</a:t>
            </a:r>
            <a:endParaRPr sz="1165"/>
          </a:p>
          <a:p>
            <a:pPr indent="-302577" lvl="1" marL="914400" rtl="0" algn="l">
              <a:lnSpc>
                <a:spcPct val="105000"/>
              </a:lnSpc>
              <a:spcBef>
                <a:spcPts val="0"/>
              </a:spcBef>
              <a:spcAft>
                <a:spcPts val="0"/>
              </a:spcAft>
              <a:buSzPts val="1165"/>
              <a:buChar char="-"/>
            </a:pPr>
            <a:r>
              <a:rPr lang="en" sz="1165"/>
              <a:t>Shows why raw gradients can be noisy and how noise-averaging can stabilize gradient-based saliency</a:t>
            </a:r>
            <a:endParaRPr sz="1165"/>
          </a:p>
          <a:p>
            <a:pPr indent="-302577" lvl="0" marL="457200" rtl="0" algn="l">
              <a:lnSpc>
                <a:spcPct val="105000"/>
              </a:lnSpc>
              <a:spcBef>
                <a:spcPts val="0"/>
              </a:spcBef>
              <a:spcAft>
                <a:spcPts val="0"/>
              </a:spcAft>
              <a:buSzPts val="1165"/>
              <a:buChar char="-"/>
            </a:pPr>
            <a:r>
              <a:rPr lang="en" sz="1165"/>
              <a:t>Adebayo et al. (2018) — “Sanity Checks for Saliency Maps”	</a:t>
            </a:r>
            <a:endParaRPr sz="1165"/>
          </a:p>
          <a:p>
            <a:pPr indent="-296227" lvl="1" marL="914400" rtl="0" algn="l">
              <a:lnSpc>
                <a:spcPct val="105000"/>
              </a:lnSpc>
              <a:spcBef>
                <a:spcPts val="0"/>
              </a:spcBef>
              <a:spcAft>
                <a:spcPts val="0"/>
              </a:spcAft>
              <a:buSzPts val="1065"/>
              <a:buChar char="-"/>
            </a:pPr>
            <a:r>
              <a:rPr lang="en" sz="1065"/>
              <a:t>Demonstrates that some saliency methods can look plausible yet be weakly tied to model/data; introduces practical checks.</a:t>
            </a:r>
            <a:endParaRPr sz="1165"/>
          </a:p>
          <a:p>
            <a:pPr indent="0" lvl="0" marL="0" rtl="0" algn="l">
              <a:lnSpc>
                <a:spcPct val="105000"/>
              </a:lnSpc>
              <a:spcBef>
                <a:spcPts val="1200"/>
              </a:spcBef>
              <a:spcAft>
                <a:spcPts val="0"/>
              </a:spcAft>
              <a:buNone/>
            </a:pPr>
            <a:r>
              <a:rPr b="1" lang="en" sz="1165"/>
              <a:t>Adversarial Attacks:</a:t>
            </a:r>
            <a:endParaRPr b="1" sz="1165"/>
          </a:p>
          <a:p>
            <a:pPr indent="-302577" lvl="0" marL="457200" rtl="0" algn="l">
              <a:lnSpc>
                <a:spcPct val="105000"/>
              </a:lnSpc>
              <a:spcBef>
                <a:spcPts val="1200"/>
              </a:spcBef>
              <a:spcAft>
                <a:spcPts val="0"/>
              </a:spcAft>
              <a:buSzPts val="1165"/>
              <a:buChar char="-"/>
            </a:pPr>
            <a:r>
              <a:rPr lang="en" sz="1165"/>
              <a:t>Szegedy et al. (2013) — “Intriguing properties of neural networks”</a:t>
            </a:r>
            <a:endParaRPr sz="1165"/>
          </a:p>
          <a:p>
            <a:pPr indent="-302577" lvl="0" marL="457200" rtl="0" algn="l">
              <a:lnSpc>
                <a:spcPct val="105000"/>
              </a:lnSpc>
              <a:spcBef>
                <a:spcPts val="0"/>
              </a:spcBef>
              <a:spcAft>
                <a:spcPts val="0"/>
              </a:spcAft>
              <a:buSzPts val="1165"/>
              <a:buChar char="-"/>
            </a:pPr>
            <a:r>
              <a:rPr lang="en" sz="1165"/>
              <a:t>Goodfellow, Shlens, Szegedy (2014) — “Explaining and Harnessing Adversarial Examples” (FGSM)</a:t>
            </a:r>
            <a:endParaRPr sz="1165"/>
          </a:p>
          <a:p>
            <a:pPr indent="-302577" lvl="0" marL="457200" rtl="0" algn="l">
              <a:lnSpc>
                <a:spcPct val="105000"/>
              </a:lnSpc>
              <a:spcBef>
                <a:spcPts val="0"/>
              </a:spcBef>
              <a:spcAft>
                <a:spcPts val="0"/>
              </a:spcAft>
              <a:buSzPts val="1165"/>
              <a:buChar char="-"/>
            </a:pPr>
            <a:r>
              <a:rPr lang="en" sz="1165"/>
              <a:t>Carlini &amp; Wagner (2016/2017) — “Towards Evaluating the Robustness of Neural Networks” (C&amp;W attack)</a:t>
            </a:r>
            <a:endParaRPr sz="116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Interpretable ML Models</a:t>
            </a:r>
            <a:endParaRPr/>
          </a:p>
        </p:txBody>
      </p:sp>
      <p:sp>
        <p:nvSpPr>
          <p:cNvPr id="73" name="Google Shape;73;p16"/>
          <p:cNvSpPr txBox="1"/>
          <p:nvPr>
            <p:ph idx="1" type="body"/>
          </p:nvPr>
        </p:nvSpPr>
        <p:spPr>
          <a:xfrm>
            <a:off x="349350" y="1109075"/>
            <a:ext cx="8520600" cy="6408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1657"/>
              <a:t>Why is a ML model making a certain prediction? Is it learning the right thing?</a:t>
            </a:r>
            <a:endParaRPr sz="100"/>
          </a:p>
        </p:txBody>
      </p:sp>
      <p:sp>
        <p:nvSpPr>
          <p:cNvPr id="74" name="Google Shape;74;p16"/>
          <p:cNvSpPr txBox="1"/>
          <p:nvPr/>
        </p:nvSpPr>
        <p:spPr>
          <a:xfrm>
            <a:off x="73850" y="1717575"/>
            <a:ext cx="3005700" cy="1754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rPr>
              <a:t>Inherently/Intrinsically Interpretable</a:t>
            </a:r>
            <a:endParaRPr b="1" sz="1200">
              <a:solidFill>
                <a:schemeClr val="dk2"/>
              </a:solidFill>
            </a:endParaRPr>
          </a:p>
          <a:p>
            <a:pPr indent="0" lvl="0" marL="0" rtl="0" algn="l">
              <a:spcBef>
                <a:spcPts val="0"/>
              </a:spcBef>
              <a:spcAft>
                <a:spcPts val="0"/>
              </a:spcAft>
              <a:buNone/>
            </a:pPr>
            <a:r>
              <a:rPr lang="en" sz="1200">
                <a:solidFill>
                  <a:schemeClr val="dk2"/>
                </a:solidFill>
              </a:rPr>
              <a:t>Some models are interpretable by design. Eg., linear regression models and gradient boosted trees. Other architectures eg., neural networks require specialized methods to understand their predictions</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75" name="Google Shape;75;p16"/>
          <p:cNvPicPr preferRelativeResize="0"/>
          <p:nvPr/>
        </p:nvPicPr>
        <p:blipFill>
          <a:blip r:embed="rId3">
            <a:alphaModFix/>
          </a:blip>
          <a:stretch>
            <a:fillRect/>
          </a:stretch>
        </p:blipFill>
        <p:spPr>
          <a:xfrm>
            <a:off x="37050" y="3070400"/>
            <a:ext cx="3975249" cy="1612725"/>
          </a:xfrm>
          <a:prstGeom prst="rect">
            <a:avLst/>
          </a:prstGeom>
          <a:noFill/>
          <a:ln>
            <a:noFill/>
          </a:ln>
        </p:spPr>
      </p:pic>
      <p:sp>
        <p:nvSpPr>
          <p:cNvPr id="76" name="Google Shape;76;p16"/>
          <p:cNvSpPr txBox="1"/>
          <p:nvPr/>
        </p:nvSpPr>
        <p:spPr>
          <a:xfrm>
            <a:off x="3144300" y="1717575"/>
            <a:ext cx="3366000" cy="212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rPr>
              <a:t>Model specific vs. Model agnostic </a:t>
            </a:r>
            <a:endParaRPr b="1" sz="1200">
              <a:solidFill>
                <a:schemeClr val="dk2"/>
              </a:solidFill>
            </a:endParaRPr>
          </a:p>
          <a:p>
            <a:pPr indent="0" lvl="0" marL="0" rtl="0" algn="l">
              <a:spcBef>
                <a:spcPts val="0"/>
              </a:spcBef>
              <a:spcAft>
                <a:spcPts val="0"/>
              </a:spcAft>
              <a:buNone/>
            </a:pPr>
            <a:r>
              <a:rPr lang="en" sz="1200">
                <a:solidFill>
                  <a:schemeClr val="dk2"/>
                </a:solidFill>
              </a:rPr>
              <a:t>Model agnostic methods treat the model as a black box and analyze how the model output changes in response to a perturbation in model input. Eg., ICE, PDP, Shap.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n" sz="1200">
                <a:solidFill>
                  <a:schemeClr val="dk2"/>
                </a:solidFill>
              </a:rPr>
              <a:t>Model specific methods use knowledge of the model architecture. Eg., integrated gradients for neural networks</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7" name="Google Shape;77;p16"/>
          <p:cNvSpPr txBox="1"/>
          <p:nvPr/>
        </p:nvSpPr>
        <p:spPr>
          <a:xfrm>
            <a:off x="6533350" y="1717575"/>
            <a:ext cx="26595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rPr>
              <a:t>Local vs. Global</a:t>
            </a:r>
            <a:endParaRPr b="1" sz="1200">
              <a:solidFill>
                <a:schemeClr val="dk2"/>
              </a:solidFill>
            </a:endParaRPr>
          </a:p>
          <a:p>
            <a:pPr indent="0" lvl="0" marL="0" rtl="0" algn="l">
              <a:spcBef>
                <a:spcPts val="0"/>
              </a:spcBef>
              <a:spcAft>
                <a:spcPts val="0"/>
              </a:spcAft>
              <a:buNone/>
            </a:pPr>
            <a:r>
              <a:rPr b="1" lang="en" sz="1200">
                <a:solidFill>
                  <a:schemeClr val="dk2"/>
                </a:solidFill>
              </a:rPr>
              <a:t>Local: </a:t>
            </a:r>
            <a:r>
              <a:rPr lang="en" sz="1200">
                <a:solidFill>
                  <a:schemeClr val="dk2"/>
                </a:solidFill>
              </a:rPr>
              <a:t>Explain individual predictions</a:t>
            </a:r>
            <a:endParaRPr sz="1200">
              <a:solidFill>
                <a:schemeClr val="dk2"/>
              </a:solidFill>
            </a:endParaRPr>
          </a:p>
          <a:p>
            <a:pPr indent="0" lvl="0" marL="0" rtl="0" algn="l">
              <a:spcBef>
                <a:spcPts val="0"/>
              </a:spcBef>
              <a:spcAft>
                <a:spcPts val="0"/>
              </a:spcAft>
              <a:buNone/>
            </a:pPr>
            <a:r>
              <a:rPr b="1" lang="en" sz="1200">
                <a:solidFill>
                  <a:schemeClr val="dk2"/>
                </a:solidFill>
              </a:rPr>
              <a:t>Global:</a:t>
            </a:r>
            <a:r>
              <a:rPr lang="en" sz="1200">
                <a:solidFill>
                  <a:schemeClr val="dk2"/>
                </a:solidFill>
              </a:rPr>
              <a:t> How features influence predictions on average</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Interpretability in Neural Networks</a:t>
            </a:r>
            <a:endParaRPr/>
          </a:p>
        </p:txBody>
      </p:sp>
      <p:pic>
        <p:nvPicPr>
          <p:cNvPr id="83" name="Google Shape;83;p17"/>
          <p:cNvPicPr preferRelativeResize="0"/>
          <p:nvPr/>
        </p:nvPicPr>
        <p:blipFill>
          <a:blip r:embed="rId3">
            <a:alphaModFix/>
          </a:blip>
          <a:stretch>
            <a:fillRect/>
          </a:stretch>
        </p:blipFill>
        <p:spPr>
          <a:xfrm>
            <a:off x="152400" y="1308350"/>
            <a:ext cx="2414725" cy="2492825"/>
          </a:xfrm>
          <a:prstGeom prst="rect">
            <a:avLst/>
          </a:prstGeom>
          <a:noFill/>
          <a:ln>
            <a:noFill/>
          </a:ln>
        </p:spPr>
      </p:pic>
      <p:pic>
        <p:nvPicPr>
          <p:cNvPr id="84" name="Google Shape;84;p17"/>
          <p:cNvPicPr preferRelativeResize="0"/>
          <p:nvPr/>
        </p:nvPicPr>
        <p:blipFill>
          <a:blip r:embed="rId4">
            <a:alphaModFix/>
          </a:blip>
          <a:stretch>
            <a:fillRect/>
          </a:stretch>
        </p:blipFill>
        <p:spPr>
          <a:xfrm>
            <a:off x="2853425" y="1308350"/>
            <a:ext cx="2622310" cy="2492825"/>
          </a:xfrm>
          <a:prstGeom prst="rect">
            <a:avLst/>
          </a:prstGeom>
          <a:noFill/>
          <a:ln>
            <a:noFill/>
          </a:ln>
        </p:spPr>
      </p:pic>
      <p:sp>
        <p:nvSpPr>
          <p:cNvPr id="85" name="Google Shape;85;p17"/>
          <p:cNvSpPr txBox="1"/>
          <p:nvPr/>
        </p:nvSpPr>
        <p:spPr>
          <a:xfrm>
            <a:off x="96963" y="3892250"/>
            <a:ext cx="265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Why did the model label this image as a fireboat?</a:t>
            </a:r>
            <a:endParaRPr sz="1500">
              <a:solidFill>
                <a:schemeClr val="dk2"/>
              </a:solidFill>
            </a:endParaRPr>
          </a:p>
        </p:txBody>
      </p:sp>
      <p:sp>
        <p:nvSpPr>
          <p:cNvPr id="86" name="Google Shape;86;p17"/>
          <p:cNvSpPr txBox="1"/>
          <p:nvPr/>
        </p:nvSpPr>
        <p:spPr>
          <a:xfrm>
            <a:off x="2907538" y="3953575"/>
            <a:ext cx="265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Why did the model label this image as a shoe?</a:t>
            </a:r>
            <a:endParaRPr sz="1500">
              <a:solidFill>
                <a:schemeClr val="dk2"/>
              </a:solidFill>
            </a:endParaRPr>
          </a:p>
        </p:txBody>
      </p:sp>
      <p:pic>
        <p:nvPicPr>
          <p:cNvPr id="87" name="Google Shape;87;p17"/>
          <p:cNvPicPr preferRelativeResize="0"/>
          <p:nvPr/>
        </p:nvPicPr>
        <p:blipFill>
          <a:blip r:embed="rId5">
            <a:alphaModFix/>
          </a:blip>
          <a:stretch>
            <a:fillRect/>
          </a:stretch>
        </p:blipFill>
        <p:spPr>
          <a:xfrm>
            <a:off x="5773552" y="1170125"/>
            <a:ext cx="3218047" cy="2034941"/>
          </a:xfrm>
          <a:prstGeom prst="rect">
            <a:avLst/>
          </a:prstGeom>
          <a:noFill/>
          <a:ln>
            <a:noFill/>
          </a:ln>
        </p:spPr>
      </p:pic>
      <p:sp>
        <p:nvSpPr>
          <p:cNvPr id="88" name="Google Shape;88;p17"/>
          <p:cNvSpPr txBox="1"/>
          <p:nvPr/>
        </p:nvSpPr>
        <p:spPr>
          <a:xfrm>
            <a:off x="6296563" y="3972075"/>
            <a:ext cx="265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Why did the model label this text as a positive sentiment?</a:t>
            </a:r>
            <a:endParaRPr sz="1500">
              <a:solidFill>
                <a:schemeClr val="dk2"/>
              </a:solidFill>
            </a:endParaRPr>
          </a:p>
        </p:txBody>
      </p:sp>
      <p:sp>
        <p:nvSpPr>
          <p:cNvPr id="89" name="Google Shape;89;p17"/>
          <p:cNvSpPr txBox="1"/>
          <p:nvPr/>
        </p:nvSpPr>
        <p:spPr>
          <a:xfrm>
            <a:off x="234199" y="974275"/>
            <a:ext cx="2485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rPr>
              <a:t>Model prediction: Fireboat</a:t>
            </a:r>
            <a:endParaRPr b="1" sz="1300">
              <a:solidFill>
                <a:schemeClr val="dk2"/>
              </a:solidFill>
            </a:endParaRPr>
          </a:p>
        </p:txBody>
      </p:sp>
      <p:sp>
        <p:nvSpPr>
          <p:cNvPr id="90" name="Google Shape;90;p17"/>
          <p:cNvSpPr txBox="1"/>
          <p:nvPr/>
        </p:nvSpPr>
        <p:spPr>
          <a:xfrm>
            <a:off x="3003874" y="974275"/>
            <a:ext cx="2485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rPr>
              <a:t>Model prediction: Shoe</a:t>
            </a:r>
            <a:endParaRPr b="1" sz="13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Interpretability and Attribution</a:t>
            </a:r>
            <a:endParaRPr/>
          </a:p>
        </p:txBody>
      </p:sp>
      <p:sp>
        <p:nvSpPr>
          <p:cNvPr id="96" name="Google Shape;96;p18"/>
          <p:cNvSpPr txBox="1"/>
          <p:nvPr>
            <p:ph idx="1" type="body"/>
          </p:nvPr>
        </p:nvSpPr>
        <p:spPr>
          <a:xfrm>
            <a:off x="275475" y="1113700"/>
            <a:ext cx="8520600" cy="3586500"/>
          </a:xfrm>
          <a:prstGeom prst="rect">
            <a:avLst/>
          </a:prstGeom>
        </p:spPr>
        <p:txBody>
          <a:bodyPr anchorCtr="0" anchor="t" bIns="91425" lIns="91425" spcFirstLastPara="1" rIns="91425" wrap="square" tIns="91425">
            <a:normAutofit fontScale="32500" lnSpcReduction="20000"/>
          </a:bodyPr>
          <a:lstStyle/>
          <a:p>
            <a:pPr indent="0" lvl="0" marL="0" rtl="0" algn="l">
              <a:spcBef>
                <a:spcPts val="1200"/>
              </a:spcBef>
              <a:spcAft>
                <a:spcPts val="0"/>
              </a:spcAft>
              <a:buNone/>
            </a:pPr>
            <a:r>
              <a:rPr lang="en" sz="2857"/>
              <a:t>Interpretability can be thought of as an </a:t>
            </a:r>
            <a:r>
              <a:rPr i="1" lang="en" sz="2857"/>
              <a:t>attribution</a:t>
            </a:r>
            <a:r>
              <a:rPr lang="en" sz="2857"/>
              <a:t> problem:</a:t>
            </a:r>
            <a:endParaRPr sz="2857"/>
          </a:p>
          <a:p>
            <a:pPr indent="0" lvl="0" marL="0" rtl="0" algn="l">
              <a:spcBef>
                <a:spcPts val="1200"/>
              </a:spcBef>
              <a:spcAft>
                <a:spcPts val="0"/>
              </a:spcAft>
              <a:buNone/>
            </a:pPr>
            <a:r>
              <a:rPr lang="en" sz="2857"/>
              <a:t>Attribute the model’s prediction on an input or features of the input</a:t>
            </a:r>
            <a:endParaRPr sz="2857"/>
          </a:p>
          <a:p>
            <a:pPr indent="0" lvl="0" marL="0" rtl="0" algn="l">
              <a:spcBef>
                <a:spcPts val="1200"/>
              </a:spcBef>
              <a:spcAft>
                <a:spcPts val="0"/>
              </a:spcAft>
              <a:buNone/>
            </a:pPr>
            <a:r>
              <a:rPr lang="en" sz="2857"/>
              <a:t>Eg: </a:t>
            </a:r>
            <a:endParaRPr sz="2857"/>
          </a:p>
          <a:p>
            <a:pPr indent="-287577" lvl="0" marL="457200" rtl="0" algn="l">
              <a:spcBef>
                <a:spcPts val="1200"/>
              </a:spcBef>
              <a:spcAft>
                <a:spcPts val="0"/>
              </a:spcAft>
              <a:buSzPct val="100000"/>
              <a:buChar char="-"/>
            </a:pPr>
            <a:r>
              <a:rPr lang="en" sz="2857"/>
              <a:t>Attribute an object recognition network’s output to input image pixels</a:t>
            </a:r>
            <a:endParaRPr sz="2857"/>
          </a:p>
          <a:p>
            <a:pPr indent="-287577" lvl="0" marL="457200" rtl="0" algn="l">
              <a:spcBef>
                <a:spcPts val="0"/>
              </a:spcBef>
              <a:spcAft>
                <a:spcPts val="0"/>
              </a:spcAft>
              <a:buSzPct val="100000"/>
              <a:buChar char="-"/>
            </a:pPr>
            <a:r>
              <a:rPr lang="en" sz="2857"/>
              <a:t>Attribute a sentiment analysis classifier’s output to individual words</a:t>
            </a:r>
            <a:endParaRPr sz="2857"/>
          </a:p>
          <a:p>
            <a:pPr indent="0" lvl="0" marL="0" rtl="0" algn="l">
              <a:spcBef>
                <a:spcPts val="1200"/>
              </a:spcBef>
              <a:spcAft>
                <a:spcPts val="0"/>
              </a:spcAft>
              <a:buNone/>
            </a:pPr>
            <a:r>
              <a:rPr lang="en" sz="2857"/>
              <a:t>Interpreting a network’s prediction helps us </a:t>
            </a:r>
            <a:r>
              <a:rPr i="1" lang="en" sz="2857"/>
              <a:t>build confidence</a:t>
            </a:r>
            <a:r>
              <a:rPr lang="en" sz="2857"/>
              <a:t> in its output</a:t>
            </a:r>
            <a:endParaRPr sz="2857"/>
          </a:p>
          <a:p>
            <a:pPr indent="0" lvl="0" marL="0" rtl="0" algn="l">
              <a:spcBef>
                <a:spcPts val="1200"/>
              </a:spcBef>
              <a:spcAft>
                <a:spcPts val="0"/>
              </a:spcAft>
              <a:buNone/>
            </a:pPr>
            <a:r>
              <a:rPr lang="en" sz="2857"/>
              <a:t>So how do we do this?</a:t>
            </a:r>
            <a:endParaRPr sz="2857"/>
          </a:p>
          <a:p>
            <a:pPr indent="0" lvl="0" marL="0" rtl="0" algn="l">
              <a:spcBef>
                <a:spcPts val="1200"/>
              </a:spcBef>
              <a:spcAft>
                <a:spcPts val="0"/>
              </a:spcAft>
              <a:buNone/>
            </a:pPr>
            <a:r>
              <a:rPr lang="en" sz="2857"/>
              <a:t>We could vary each input feature, run the modified input through the network and see how the network output changes (similar to ICE/PDP we considered in the previous class). </a:t>
            </a:r>
            <a:endParaRPr sz="2857"/>
          </a:p>
          <a:p>
            <a:pPr indent="0" lvl="0" marL="0" rtl="0" algn="l">
              <a:spcBef>
                <a:spcPts val="1200"/>
              </a:spcBef>
              <a:spcAft>
                <a:spcPts val="0"/>
              </a:spcAft>
              <a:buNone/>
            </a:pPr>
            <a:r>
              <a:rPr lang="en" sz="2857"/>
              <a:t>Issues with this approach:</a:t>
            </a:r>
            <a:endParaRPr sz="2857"/>
          </a:p>
          <a:p>
            <a:pPr indent="-287577" lvl="0" marL="457200" rtl="0" algn="l">
              <a:spcBef>
                <a:spcPts val="1200"/>
              </a:spcBef>
              <a:spcAft>
                <a:spcPts val="0"/>
              </a:spcAft>
              <a:buSzPct val="100000"/>
              <a:buChar char="-"/>
            </a:pPr>
            <a:r>
              <a:rPr lang="en" sz="2857"/>
              <a:t>Features can be correlated. Changing one feature independently of others can result in unrealistic input points. We also saw this with ICE/PDP</a:t>
            </a:r>
            <a:endParaRPr sz="2857"/>
          </a:p>
          <a:p>
            <a:pPr indent="-287577" lvl="0" marL="457200" rtl="0" algn="l">
              <a:spcBef>
                <a:spcPts val="0"/>
              </a:spcBef>
              <a:spcAft>
                <a:spcPts val="0"/>
              </a:spcAft>
              <a:buSzPct val="100000"/>
              <a:buChar char="-"/>
            </a:pPr>
            <a:r>
              <a:rPr lang="en" sz="2857"/>
              <a:t>Running forward pass on a neural network is computationally expensive.</a:t>
            </a:r>
            <a:endParaRPr sz="2857"/>
          </a:p>
          <a:p>
            <a:pPr indent="0" lvl="0" marL="0" rtl="0" algn="l">
              <a:spcBef>
                <a:spcPts val="1200"/>
              </a:spcBef>
              <a:spcAft>
                <a:spcPts val="0"/>
              </a:spcAft>
              <a:buNone/>
            </a:pPr>
            <a:r>
              <a:t/>
            </a:r>
            <a:endParaRPr sz="1657"/>
          </a:p>
          <a:p>
            <a:pPr indent="0" lvl="0" marL="0" rtl="0" algn="l">
              <a:spcBef>
                <a:spcPts val="1200"/>
              </a:spcBef>
              <a:spcAft>
                <a:spcPts val="1200"/>
              </a:spcAft>
              <a:buNone/>
            </a:pPr>
            <a:r>
              <a:t/>
            </a:r>
            <a:endParaRPr sz="1657"/>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gradients give explanations..</a:t>
            </a:r>
            <a:endParaRPr/>
          </a:p>
        </p:txBody>
      </p:sp>
      <p:pic>
        <p:nvPicPr>
          <p:cNvPr descr="{&quot;aid&quot;:null,&quot;backgroundColor&quot;:&quot;#FFFFFF&quot;,&quot;code&quot;:&quot;\\begin{gather*}\n{\\text{A}\\;\\text{trained}\\;\\text{neural}\\;\\text{network}\\;\\text{defines}\\;\\text{a}\\;\\text{function}\\;f\\left(x\\right)\\;\\text{that}\\;\\text{can}\\;\\text{output}\\;\\text{a}\\;\\text{logit/probability/regression}\\;\\text{output}\\;\\text{etc}}\\\\\n{\\Delta_{x}f\\left(x\\right)=\\left[\\pdf{f}{x_{1}},\\pdf{f}{x_{2}}...\\pdf{f}{x_{n}}\\right]}\\\\\n{\\text{If}\\;\\pdf{f}{x_{1}}\\text{is}\\;\\text{large,}\\;\\text{then}\\;\\text{a}\\;\\text{small}\\;\\text{change}\\;\\text{in}\\;x_{i}\\;\\text{changes}\\;f\\left(x\\right)\\,\\text{a}\\;\\text{lot}}\t\n\\end{gather*}&quot;,&quot;font&quot;:{&quot;color&quot;:&quot;#000000&quot;,&quot;family&quot;:&quot;Arial&quot;,&quot;size&quot;:12},&quot;backgroundColorModified&quot;:false,&quot;type&quot;:&quot;gather*&quot;,&quot;id&quot;:&quot;1&quot;,&quot;ts&quot;:1769131785505,&quot;cs&quot;:&quot;jfTCv+5xrxl/wIV1b9HTbQ==&quot;,&quot;size&quot;:{&quot;width&quot;:867,&quot;height&quot;:117}}" id="102" name="Google Shape;102;p19"/>
          <p:cNvPicPr preferRelativeResize="0"/>
          <p:nvPr/>
        </p:nvPicPr>
        <p:blipFill>
          <a:blip r:embed="rId3">
            <a:alphaModFix/>
          </a:blip>
          <a:stretch>
            <a:fillRect/>
          </a:stretch>
        </p:blipFill>
        <p:spPr>
          <a:xfrm>
            <a:off x="442923" y="1246625"/>
            <a:ext cx="6801374" cy="917825"/>
          </a:xfrm>
          <a:prstGeom prst="rect">
            <a:avLst/>
          </a:prstGeom>
          <a:noFill/>
          <a:ln>
            <a:noFill/>
          </a:ln>
        </p:spPr>
      </p:pic>
      <p:sp>
        <p:nvSpPr>
          <p:cNvPr id="103" name="Google Shape;103;p19"/>
          <p:cNvSpPr txBox="1"/>
          <p:nvPr/>
        </p:nvSpPr>
        <p:spPr>
          <a:xfrm>
            <a:off x="442925" y="2419375"/>
            <a:ext cx="829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Where do we get these gradients? Backpropagation gives them to us for free!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nvSpPr>
        <p:spPr>
          <a:xfrm>
            <a:off x="7525" y="1242363"/>
            <a:ext cx="301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09" name="Google Shape;109;p20"/>
          <p:cNvSpPr/>
          <p:nvPr/>
        </p:nvSpPr>
        <p:spPr>
          <a:xfrm>
            <a:off x="486298" y="1492050"/>
            <a:ext cx="6186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110" name="Google Shape;110;p20"/>
          <p:cNvPicPr preferRelativeResize="0"/>
          <p:nvPr/>
        </p:nvPicPr>
        <p:blipFill rotWithShape="1">
          <a:blip r:embed="rId3">
            <a:alphaModFix/>
          </a:blip>
          <a:srcRect b="0" l="0" r="0" t="0"/>
          <a:stretch/>
        </p:blipFill>
        <p:spPr>
          <a:xfrm>
            <a:off x="631213" y="1921519"/>
            <a:ext cx="328613" cy="235744"/>
          </a:xfrm>
          <a:prstGeom prst="rect">
            <a:avLst/>
          </a:prstGeom>
          <a:noFill/>
          <a:ln>
            <a:noFill/>
          </a:ln>
        </p:spPr>
      </p:pic>
      <p:sp>
        <p:nvSpPr>
          <p:cNvPr id="111" name="Google Shape;111;p20"/>
          <p:cNvSpPr/>
          <p:nvPr/>
        </p:nvSpPr>
        <p:spPr>
          <a:xfrm>
            <a:off x="1567925" y="1489800"/>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1" lang="en" sz="1300"/>
              <a:t>ReLU</a:t>
            </a:r>
            <a:endParaRPr b="1" i="0" sz="1300" u="none" cap="none" strike="noStrike">
              <a:solidFill>
                <a:srgbClr val="000000"/>
              </a:solidFill>
            </a:endParaRPr>
          </a:p>
        </p:txBody>
      </p:sp>
      <p:cxnSp>
        <p:nvCxnSpPr>
          <p:cNvPr id="112" name="Google Shape;112;p20"/>
          <p:cNvCxnSpPr>
            <a:stCxn id="109" idx="3"/>
            <a:endCxn id="111" idx="1"/>
          </p:cNvCxnSpPr>
          <p:nvPr/>
        </p:nvCxnSpPr>
        <p:spPr>
          <a:xfrm flipH="1" rot="10800000">
            <a:off x="1104898" y="2040000"/>
            <a:ext cx="462900" cy="2100"/>
          </a:xfrm>
          <a:prstGeom prst="straightConnector1">
            <a:avLst/>
          </a:prstGeom>
          <a:noFill/>
          <a:ln cap="flat" cmpd="sng" w="9525">
            <a:solidFill>
              <a:srgbClr val="595959"/>
            </a:solidFill>
            <a:prstDash val="solid"/>
            <a:round/>
            <a:headEnd len="sm" w="sm" type="none"/>
            <a:tailEnd len="med" w="med" type="triangle"/>
          </a:ln>
        </p:spPr>
      </p:cxnSp>
      <p:pic>
        <p:nvPicPr>
          <p:cNvPr id="113" name="Google Shape;113;p20"/>
          <p:cNvPicPr preferRelativeResize="0"/>
          <p:nvPr/>
        </p:nvPicPr>
        <p:blipFill rotWithShape="1">
          <a:blip r:embed="rId4">
            <a:alphaModFix/>
          </a:blip>
          <a:srcRect b="0" l="0" r="0" t="0"/>
          <a:stretch/>
        </p:blipFill>
        <p:spPr>
          <a:xfrm>
            <a:off x="97425" y="1951892"/>
            <a:ext cx="207827" cy="175013"/>
          </a:xfrm>
          <a:prstGeom prst="rect">
            <a:avLst/>
          </a:prstGeom>
          <a:noFill/>
          <a:ln>
            <a:noFill/>
          </a:ln>
        </p:spPr>
      </p:pic>
      <p:cxnSp>
        <p:nvCxnSpPr>
          <p:cNvPr id="114" name="Google Shape;114;p20"/>
          <p:cNvCxnSpPr>
            <a:stCxn id="113" idx="3"/>
            <a:endCxn id="109" idx="1"/>
          </p:cNvCxnSpPr>
          <p:nvPr/>
        </p:nvCxnSpPr>
        <p:spPr>
          <a:xfrm>
            <a:off x="305252" y="2039398"/>
            <a:ext cx="180900" cy="2700"/>
          </a:xfrm>
          <a:prstGeom prst="straightConnector1">
            <a:avLst/>
          </a:prstGeom>
          <a:noFill/>
          <a:ln cap="flat" cmpd="sng" w="9525">
            <a:solidFill>
              <a:srgbClr val="595959"/>
            </a:solidFill>
            <a:prstDash val="solid"/>
            <a:round/>
            <a:headEnd len="sm" w="sm" type="none"/>
            <a:tailEnd len="med" w="med" type="triangle"/>
          </a:ln>
        </p:spPr>
      </p:cxnSp>
      <p:cxnSp>
        <p:nvCxnSpPr>
          <p:cNvPr id="115" name="Google Shape;115;p20"/>
          <p:cNvCxnSpPr>
            <a:stCxn id="111" idx="3"/>
            <a:endCxn id="116" idx="1"/>
          </p:cNvCxnSpPr>
          <p:nvPr/>
        </p:nvCxnSpPr>
        <p:spPr>
          <a:xfrm>
            <a:off x="2217425" y="2039850"/>
            <a:ext cx="295500" cy="600"/>
          </a:xfrm>
          <a:prstGeom prst="straightConnector1">
            <a:avLst/>
          </a:prstGeom>
          <a:noFill/>
          <a:ln cap="flat" cmpd="sng" w="9525">
            <a:solidFill>
              <a:srgbClr val="595959"/>
            </a:solidFill>
            <a:prstDash val="solid"/>
            <a:round/>
            <a:headEnd len="sm" w="sm" type="none"/>
            <a:tailEnd len="med" w="med" type="triangle"/>
          </a:ln>
        </p:spPr>
      </p:cxnSp>
      <p:pic>
        <p:nvPicPr>
          <p:cNvPr id="117" name="Google Shape;117;p20"/>
          <p:cNvPicPr preferRelativeResize="0"/>
          <p:nvPr/>
        </p:nvPicPr>
        <p:blipFill rotWithShape="1">
          <a:blip r:embed="rId5">
            <a:alphaModFix/>
          </a:blip>
          <a:srcRect b="0" l="0" r="0" t="0"/>
          <a:stretch/>
        </p:blipFill>
        <p:spPr>
          <a:xfrm>
            <a:off x="1196962" y="1858600"/>
            <a:ext cx="175500" cy="140408"/>
          </a:xfrm>
          <a:prstGeom prst="rect">
            <a:avLst/>
          </a:prstGeom>
          <a:noFill/>
          <a:ln>
            <a:noFill/>
          </a:ln>
        </p:spPr>
      </p:pic>
      <p:sp>
        <p:nvSpPr>
          <p:cNvPr id="118" name="Google Shape;118;p20"/>
          <p:cNvSpPr/>
          <p:nvPr/>
        </p:nvSpPr>
        <p:spPr>
          <a:xfrm>
            <a:off x="5753700" y="1491450"/>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sz="1100"/>
          </a:p>
        </p:txBody>
      </p:sp>
      <p:pic>
        <p:nvPicPr>
          <p:cNvPr id="119" name="Google Shape;119;p20" title="[0,0,0,&quot;https://www.codecogs.com/eqnedit.php?latex=W_n#0&quot;]"/>
          <p:cNvPicPr preferRelativeResize="0"/>
          <p:nvPr/>
        </p:nvPicPr>
        <p:blipFill>
          <a:blip r:embed="rId6">
            <a:alphaModFix/>
          </a:blip>
          <a:stretch>
            <a:fillRect/>
          </a:stretch>
        </p:blipFill>
        <p:spPr>
          <a:xfrm>
            <a:off x="5934388" y="1905101"/>
            <a:ext cx="328625" cy="213905"/>
          </a:xfrm>
          <a:prstGeom prst="rect">
            <a:avLst/>
          </a:prstGeom>
          <a:noFill/>
          <a:ln>
            <a:noFill/>
          </a:ln>
        </p:spPr>
      </p:pic>
      <p:cxnSp>
        <p:nvCxnSpPr>
          <p:cNvPr id="120" name="Google Shape;120;p20"/>
          <p:cNvCxnSpPr>
            <a:stCxn id="118" idx="3"/>
            <a:endCxn id="121" idx="1"/>
          </p:cNvCxnSpPr>
          <p:nvPr/>
        </p:nvCxnSpPr>
        <p:spPr>
          <a:xfrm flipH="1" rot="10800000">
            <a:off x="6403200" y="2040000"/>
            <a:ext cx="554400" cy="1500"/>
          </a:xfrm>
          <a:prstGeom prst="straightConnector1">
            <a:avLst/>
          </a:prstGeom>
          <a:noFill/>
          <a:ln cap="flat" cmpd="sng" w="9525">
            <a:solidFill>
              <a:srgbClr val="595959"/>
            </a:solidFill>
            <a:prstDash val="solid"/>
            <a:round/>
            <a:headEnd len="sm" w="sm" type="none"/>
            <a:tailEnd len="med" w="med" type="triangle"/>
          </a:ln>
        </p:spPr>
      </p:cxnSp>
      <p:pic>
        <p:nvPicPr>
          <p:cNvPr id="122" name="Google Shape;122;p20" title="[0,0,0,&quot;https://www.codecogs.com/eqnedit.php?latex=y_n#0&quot;]"/>
          <p:cNvPicPr preferRelativeResize="0"/>
          <p:nvPr/>
        </p:nvPicPr>
        <p:blipFill>
          <a:blip r:embed="rId7">
            <a:alphaModFix/>
          </a:blip>
          <a:stretch>
            <a:fillRect/>
          </a:stretch>
        </p:blipFill>
        <p:spPr>
          <a:xfrm>
            <a:off x="6536543" y="1803084"/>
            <a:ext cx="207825" cy="155890"/>
          </a:xfrm>
          <a:prstGeom prst="rect">
            <a:avLst/>
          </a:prstGeom>
          <a:noFill/>
          <a:ln>
            <a:noFill/>
          </a:ln>
        </p:spPr>
      </p:pic>
      <p:sp>
        <p:nvSpPr>
          <p:cNvPr id="121" name="Google Shape;121;p20"/>
          <p:cNvSpPr/>
          <p:nvPr/>
        </p:nvSpPr>
        <p:spPr>
          <a:xfrm>
            <a:off x="6957724" y="1489800"/>
            <a:ext cx="7173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lang="en" sz="1100"/>
              <a:t>Loss function (</a:t>
            </a:r>
            <a:r>
              <a:rPr i="1" lang="en" sz="1100"/>
              <a:t>L</a:t>
            </a:r>
            <a:r>
              <a:rPr lang="en" sz="1100"/>
              <a:t>)</a:t>
            </a:r>
            <a:endParaRPr sz="1100"/>
          </a:p>
        </p:txBody>
      </p:sp>
      <p:cxnSp>
        <p:nvCxnSpPr>
          <p:cNvPr id="123" name="Google Shape;123;p20"/>
          <p:cNvCxnSpPr>
            <a:endCxn id="121" idx="0"/>
          </p:cNvCxnSpPr>
          <p:nvPr/>
        </p:nvCxnSpPr>
        <p:spPr>
          <a:xfrm>
            <a:off x="7316374" y="1174800"/>
            <a:ext cx="0" cy="315000"/>
          </a:xfrm>
          <a:prstGeom prst="straightConnector1">
            <a:avLst/>
          </a:prstGeom>
          <a:noFill/>
          <a:ln cap="flat" cmpd="sng" w="9525">
            <a:solidFill>
              <a:srgbClr val="595959"/>
            </a:solidFill>
            <a:prstDash val="solid"/>
            <a:round/>
            <a:headEnd len="sm" w="sm" type="none"/>
            <a:tailEnd len="med" w="med" type="triangle"/>
          </a:ln>
        </p:spPr>
      </p:cxnSp>
      <p:sp>
        <p:nvSpPr>
          <p:cNvPr id="124" name="Google Shape;124;p20"/>
          <p:cNvSpPr txBox="1"/>
          <p:nvPr/>
        </p:nvSpPr>
        <p:spPr>
          <a:xfrm>
            <a:off x="7019825" y="866975"/>
            <a:ext cx="593100" cy="3078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1" lang="en" sz="1100"/>
              <a:t>labels</a:t>
            </a:r>
            <a:endParaRPr b="1" i="0" sz="1100" u="none" cap="none" strike="noStrike">
              <a:solidFill>
                <a:srgbClr val="000000"/>
              </a:solidFill>
              <a:latin typeface="Arial"/>
              <a:ea typeface="Arial"/>
              <a:cs typeface="Arial"/>
              <a:sym typeface="Arial"/>
            </a:endParaRPr>
          </a:p>
        </p:txBody>
      </p:sp>
      <p:cxnSp>
        <p:nvCxnSpPr>
          <p:cNvPr id="125" name="Google Shape;125;p20"/>
          <p:cNvCxnSpPr/>
          <p:nvPr/>
        </p:nvCxnSpPr>
        <p:spPr>
          <a:xfrm flipH="1" rot="10800000">
            <a:off x="7675031" y="2007988"/>
            <a:ext cx="309300" cy="9000"/>
          </a:xfrm>
          <a:prstGeom prst="straightConnector1">
            <a:avLst/>
          </a:prstGeom>
          <a:noFill/>
          <a:ln cap="flat" cmpd="sng" w="9525">
            <a:solidFill>
              <a:srgbClr val="595959"/>
            </a:solidFill>
            <a:prstDash val="solid"/>
            <a:round/>
            <a:headEnd len="sm" w="sm" type="none"/>
            <a:tailEnd len="med" w="med" type="triangle"/>
          </a:ln>
        </p:spPr>
      </p:cxnSp>
      <p:sp>
        <p:nvSpPr>
          <p:cNvPr id="126" name="Google Shape;126;p20"/>
          <p:cNvSpPr txBox="1"/>
          <p:nvPr/>
        </p:nvSpPr>
        <p:spPr>
          <a:xfrm>
            <a:off x="7984325" y="1858600"/>
            <a:ext cx="951300" cy="4773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100"/>
              <a:buFont typeface="Arial"/>
              <a:buNone/>
            </a:pPr>
            <a:r>
              <a:rPr b="1" lang="en" sz="1100"/>
              <a:t>Error </a:t>
            </a:r>
            <a:endParaRPr b="1" sz="1100"/>
          </a:p>
          <a:p>
            <a:pPr indent="0" lvl="0" marL="0" marR="0" rtl="0" algn="ctr">
              <a:lnSpc>
                <a:spcPct val="100000"/>
              </a:lnSpc>
              <a:spcBef>
                <a:spcPts val="0"/>
              </a:spcBef>
              <a:spcAft>
                <a:spcPts val="0"/>
              </a:spcAft>
              <a:buClr>
                <a:srgbClr val="000000"/>
              </a:buClr>
              <a:buSzPts val="1100"/>
              <a:buFont typeface="Arial"/>
              <a:buNone/>
            </a:pPr>
            <a:r>
              <a:rPr b="1" i="1" lang="en" sz="1100"/>
              <a:t>e = L(y)</a:t>
            </a:r>
            <a:endParaRPr b="1" i="1" sz="1100"/>
          </a:p>
        </p:txBody>
      </p:sp>
      <p:sp>
        <p:nvSpPr>
          <p:cNvPr id="127" name="Google Shape;127;p20"/>
          <p:cNvSpPr/>
          <p:nvPr/>
        </p:nvSpPr>
        <p:spPr>
          <a:xfrm>
            <a:off x="3830450" y="557450"/>
            <a:ext cx="1244400" cy="23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0"/>
          <p:cNvSpPr txBox="1"/>
          <p:nvPr/>
        </p:nvSpPr>
        <p:spPr>
          <a:xfrm>
            <a:off x="3346496" y="157250"/>
            <a:ext cx="234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Forward Pass or Inference</a:t>
            </a:r>
            <a:endParaRPr>
              <a:solidFill>
                <a:schemeClr val="dk2"/>
              </a:solidFill>
            </a:endParaRPr>
          </a:p>
        </p:txBody>
      </p:sp>
      <p:cxnSp>
        <p:nvCxnSpPr>
          <p:cNvPr id="129" name="Google Shape;129;p20"/>
          <p:cNvCxnSpPr>
            <a:stCxn id="126" idx="2"/>
            <a:endCxn id="118" idx="2"/>
          </p:cNvCxnSpPr>
          <p:nvPr/>
        </p:nvCxnSpPr>
        <p:spPr>
          <a:xfrm rot="5400000">
            <a:off x="7141475" y="1273000"/>
            <a:ext cx="255600" cy="2381400"/>
          </a:xfrm>
          <a:prstGeom prst="bentConnector3">
            <a:avLst>
              <a:gd fmla="val 248367" name="adj1"/>
            </a:avLst>
          </a:prstGeom>
          <a:noFill/>
          <a:ln cap="flat" cmpd="sng" w="9525">
            <a:solidFill>
              <a:schemeClr val="dk2"/>
            </a:solidFill>
            <a:prstDash val="solid"/>
            <a:round/>
            <a:headEnd len="med" w="med" type="none"/>
            <a:tailEnd len="med" w="med" type="triangle"/>
          </a:ln>
        </p:spPr>
      </p:cxnSp>
      <p:cxnSp>
        <p:nvCxnSpPr>
          <p:cNvPr id="130" name="Google Shape;130;p20"/>
          <p:cNvCxnSpPr>
            <a:stCxn id="126" idx="2"/>
            <a:endCxn id="109" idx="2"/>
          </p:cNvCxnSpPr>
          <p:nvPr/>
        </p:nvCxnSpPr>
        <p:spPr>
          <a:xfrm rot="5400000">
            <a:off x="4499675" y="-1368200"/>
            <a:ext cx="256200" cy="7664400"/>
          </a:xfrm>
          <a:prstGeom prst="bentConnector3">
            <a:avLst>
              <a:gd fmla="val 247785" name="adj1"/>
            </a:avLst>
          </a:prstGeom>
          <a:noFill/>
          <a:ln cap="flat" cmpd="sng" w="9525">
            <a:solidFill>
              <a:schemeClr val="dk2"/>
            </a:solidFill>
            <a:prstDash val="solid"/>
            <a:round/>
            <a:headEnd len="med" w="med" type="none"/>
            <a:tailEnd len="med" w="med" type="triangle"/>
          </a:ln>
        </p:spPr>
      </p:cxnSp>
      <p:sp>
        <p:nvSpPr>
          <p:cNvPr id="131" name="Google Shape;131;p20"/>
          <p:cNvSpPr txBox="1"/>
          <p:nvPr/>
        </p:nvSpPr>
        <p:spPr>
          <a:xfrm>
            <a:off x="7267349" y="3079125"/>
            <a:ext cx="1512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Backward pass</a:t>
            </a:r>
            <a:endParaRPr>
              <a:solidFill>
                <a:schemeClr val="dk2"/>
              </a:solidFill>
            </a:endParaRPr>
          </a:p>
          <a:p>
            <a:pPr indent="0" lvl="0" marL="0" rtl="0" algn="ctr">
              <a:spcBef>
                <a:spcPts val="0"/>
              </a:spcBef>
              <a:spcAft>
                <a:spcPts val="0"/>
              </a:spcAft>
              <a:buNone/>
            </a:pPr>
            <a:r>
              <a:rPr lang="en">
                <a:solidFill>
                  <a:schemeClr val="dk2"/>
                </a:solidFill>
              </a:rPr>
              <a:t>(Training)</a:t>
            </a:r>
            <a:endParaRPr>
              <a:solidFill>
                <a:schemeClr val="dk2"/>
              </a:solidFill>
            </a:endParaRPr>
          </a:p>
        </p:txBody>
      </p:sp>
      <p:cxnSp>
        <p:nvCxnSpPr>
          <p:cNvPr id="132" name="Google Shape;132;p20"/>
          <p:cNvCxnSpPr/>
          <p:nvPr/>
        </p:nvCxnSpPr>
        <p:spPr>
          <a:xfrm>
            <a:off x="1355538" y="1278175"/>
            <a:ext cx="0" cy="1765800"/>
          </a:xfrm>
          <a:prstGeom prst="straightConnector1">
            <a:avLst/>
          </a:prstGeom>
          <a:noFill/>
          <a:ln cap="flat" cmpd="sng" w="9525">
            <a:solidFill>
              <a:schemeClr val="dk2"/>
            </a:solidFill>
            <a:prstDash val="dash"/>
            <a:round/>
            <a:headEnd len="med" w="med" type="none"/>
            <a:tailEnd len="med" w="med" type="none"/>
          </a:ln>
        </p:spPr>
      </p:cxnSp>
      <p:cxnSp>
        <p:nvCxnSpPr>
          <p:cNvPr id="133" name="Google Shape;133;p20"/>
          <p:cNvCxnSpPr/>
          <p:nvPr/>
        </p:nvCxnSpPr>
        <p:spPr>
          <a:xfrm>
            <a:off x="2564688" y="1278175"/>
            <a:ext cx="0" cy="1765800"/>
          </a:xfrm>
          <a:prstGeom prst="straightConnector1">
            <a:avLst/>
          </a:prstGeom>
          <a:noFill/>
          <a:ln cap="flat" cmpd="sng" w="9525">
            <a:solidFill>
              <a:schemeClr val="dk2"/>
            </a:solidFill>
            <a:prstDash val="dash"/>
            <a:round/>
            <a:headEnd len="med" w="med" type="none"/>
            <a:tailEnd len="med" w="med" type="none"/>
          </a:ln>
        </p:spPr>
      </p:cxnSp>
      <p:cxnSp>
        <p:nvCxnSpPr>
          <p:cNvPr id="134" name="Google Shape;134;p20"/>
          <p:cNvCxnSpPr/>
          <p:nvPr/>
        </p:nvCxnSpPr>
        <p:spPr>
          <a:xfrm>
            <a:off x="6785750" y="1126675"/>
            <a:ext cx="0" cy="1917300"/>
          </a:xfrm>
          <a:prstGeom prst="straightConnector1">
            <a:avLst/>
          </a:prstGeom>
          <a:noFill/>
          <a:ln cap="flat" cmpd="sng" w="9525">
            <a:solidFill>
              <a:schemeClr val="dk2"/>
            </a:solidFill>
            <a:prstDash val="dash"/>
            <a:round/>
            <a:headEnd len="med" w="med" type="none"/>
            <a:tailEnd len="med" w="med" type="none"/>
          </a:ln>
        </p:spPr>
      </p:cxnSp>
      <p:pic>
        <p:nvPicPr>
          <p:cNvPr descr="{&quot;code&quot;:&quot;$$\\frac{\\partial e}{\\partial y_{n}}$$&quot;,&quot;backgroundColor&quot;:&quot;#FFFFFF&quot;,&quot;font&quot;:{&quot;color&quot;:&quot;#595959&quot;,&quot;family&quot;:&quot;Arial&quot;,&quot;size&quot;:11},&quot;type&quot;:&quot;$$&quot;,&quot;id&quot;:&quot;25&quot;,&quot;backgroundColorModified&quot;:false,&quot;aid&quot;:null,&quot;ts&quot;:1755260874233,&quot;cs&quot;:&quot;mM/gRArJMHO2CaKHNxQiPw==&quot;,&quot;size&quot;:{&quot;width&quot;:31.000010498687704,&quot;height&quot;:40.086220472440964}}" id="135" name="Google Shape;135;p20"/>
          <p:cNvPicPr preferRelativeResize="0"/>
          <p:nvPr/>
        </p:nvPicPr>
        <p:blipFill>
          <a:blip r:embed="rId8">
            <a:alphaModFix/>
          </a:blip>
          <a:stretch>
            <a:fillRect/>
          </a:stretch>
        </p:blipFill>
        <p:spPr>
          <a:xfrm>
            <a:off x="6702213" y="3077913"/>
            <a:ext cx="295275" cy="381821"/>
          </a:xfrm>
          <a:prstGeom prst="rect">
            <a:avLst/>
          </a:prstGeom>
          <a:noFill/>
          <a:ln>
            <a:noFill/>
          </a:ln>
        </p:spPr>
      </p:pic>
      <p:pic>
        <p:nvPicPr>
          <p:cNvPr descr="{&quot;code&quot;:&quot;$$a_{n-1}$$&quot;,&quot;font&quot;:{&quot;color&quot;:&quot;#000000&quot;,&quot;size&quot;:11,&quot;family&quot;:&quot;Arial&quot;},&quot;type&quot;:&quot;$$&quot;,&quot;backgroundColorModified&quot;:false,&quot;backgroundColor&quot;:&quot;#FFFFFF&quot;,&quot;aid&quot;:null,&quot;id&quot;:&quot;26&quot;,&quot;ts&quot;:1755261393563,&quot;cs&quot;:&quot;HzJsxHpH17AsiCzjvpJ2KQ==&quot;,&quot;size&quot;:{&quot;width&quot;:31.166666666666668,&quot;height&quot;:10.333333333333334}}" id="136" name="Google Shape;136;p20"/>
          <p:cNvPicPr preferRelativeResize="0"/>
          <p:nvPr/>
        </p:nvPicPr>
        <p:blipFill>
          <a:blip r:embed="rId9">
            <a:alphaModFix/>
          </a:blip>
          <a:stretch>
            <a:fillRect/>
          </a:stretch>
        </p:blipFill>
        <p:spPr>
          <a:xfrm>
            <a:off x="5148076" y="1879591"/>
            <a:ext cx="296863" cy="98425"/>
          </a:xfrm>
          <a:prstGeom prst="rect">
            <a:avLst/>
          </a:prstGeom>
          <a:noFill/>
          <a:ln>
            <a:noFill/>
          </a:ln>
        </p:spPr>
      </p:pic>
      <p:pic>
        <p:nvPicPr>
          <p:cNvPr descr="{&quot;aid&quot;:null,&quot;font&quot;:{&quot;size&quot;:7.5,&quot;family&quot;:&quot;Arial&quot;,&quot;color&quot;:&quot;#000000&quot;},&quot;code&quot;:&quot;\\begin{lalign*}\n&amp;{\\frac{\\partial e}{\\partial W_{n}}=\\frac{\\partial e}{\\partial y_{n}}a_{n-1}^{T}}\\\\\n&amp;{\\frac{\\partial e}{\\partial a_{n-1}}=W_{n}^{T}\\frac{\\partial e}{\\partial y_{n}}}\t\n\\end{lalign*}&quot;,&quot;backgroundColorModified&quot;:false,&quot;id&quot;:&quot;27&quot;,&quot;backgroundColor&quot;:&quot;#FFFFFF&quot;,&quot;type&quot;:&quot;lalign*&quot;,&quot;ts&quot;:1755261644737,&quot;cs&quot;:&quot;qq7O0He5JfU+NBxOmCTDaA==&quot;,&quot;size&quot;:{&quot;width&quot;:90.66666666666667,&quot;height&quot;:57.166666666666664}}" id="137" name="Google Shape;137;p20"/>
          <p:cNvPicPr preferRelativeResize="0"/>
          <p:nvPr/>
        </p:nvPicPr>
        <p:blipFill>
          <a:blip r:embed="rId10">
            <a:alphaModFix/>
          </a:blip>
          <a:stretch>
            <a:fillRect/>
          </a:stretch>
        </p:blipFill>
        <p:spPr>
          <a:xfrm>
            <a:off x="5687740" y="3062952"/>
            <a:ext cx="863600" cy="544513"/>
          </a:xfrm>
          <a:prstGeom prst="rect">
            <a:avLst/>
          </a:prstGeom>
          <a:noFill/>
          <a:ln>
            <a:noFill/>
          </a:ln>
        </p:spPr>
      </p:pic>
      <p:sp>
        <p:nvSpPr>
          <p:cNvPr id="138" name="Google Shape;138;p20"/>
          <p:cNvSpPr txBox="1"/>
          <p:nvPr/>
        </p:nvSpPr>
        <p:spPr>
          <a:xfrm>
            <a:off x="5692800" y="43637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Used to update the weights of this layer</a:t>
            </a:r>
            <a:endParaRPr sz="1200">
              <a:solidFill>
                <a:schemeClr val="dk2"/>
              </a:solidFill>
            </a:endParaRPr>
          </a:p>
        </p:txBody>
      </p:sp>
      <p:sp>
        <p:nvSpPr>
          <p:cNvPr id="139" name="Google Shape;139;p20"/>
          <p:cNvSpPr txBox="1"/>
          <p:nvPr/>
        </p:nvSpPr>
        <p:spPr>
          <a:xfrm>
            <a:off x="5381975" y="3769138"/>
            <a:ext cx="104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rPr>
              <a:t>Sent back to previous layers</a:t>
            </a:r>
            <a:endParaRPr b="1" sz="900">
              <a:solidFill>
                <a:schemeClr val="dk2"/>
              </a:solidFill>
            </a:endParaRPr>
          </a:p>
        </p:txBody>
      </p:sp>
      <p:cxnSp>
        <p:nvCxnSpPr>
          <p:cNvPr id="140" name="Google Shape;140;p20"/>
          <p:cNvCxnSpPr/>
          <p:nvPr/>
        </p:nvCxnSpPr>
        <p:spPr>
          <a:xfrm rot="10800000">
            <a:off x="5990915" y="3287833"/>
            <a:ext cx="636600" cy="1120500"/>
          </a:xfrm>
          <a:prstGeom prst="straightConnector1">
            <a:avLst/>
          </a:prstGeom>
          <a:noFill/>
          <a:ln cap="flat" cmpd="sng" w="9525">
            <a:solidFill>
              <a:schemeClr val="dk2"/>
            </a:solidFill>
            <a:prstDash val="solid"/>
            <a:round/>
            <a:headEnd len="med" w="med" type="none"/>
            <a:tailEnd len="med" w="med" type="triangle"/>
          </a:ln>
        </p:spPr>
      </p:cxnSp>
      <p:sp>
        <p:nvSpPr>
          <p:cNvPr id="141" name="Google Shape;141;p20"/>
          <p:cNvSpPr txBox="1"/>
          <p:nvPr/>
        </p:nvSpPr>
        <p:spPr>
          <a:xfrm>
            <a:off x="4154388" y="3620050"/>
            <a:ext cx="1358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No parameters!</a:t>
            </a:r>
            <a:endParaRPr sz="1200">
              <a:solidFill>
                <a:schemeClr val="dk2"/>
              </a:solidFill>
            </a:endParaRPr>
          </a:p>
        </p:txBody>
      </p:sp>
      <p:pic>
        <p:nvPicPr>
          <p:cNvPr descr="{&quot;backgroundColor&quot;:&quot;#FFFFFF&quot;,&quot;type&quot;:&quot;lalign*&quot;,&quot;code&quot;:&quot;\\begin{lalign*}\n&amp;{\\frac{\\partial e}{\\partial W_{1}}=\\frac{\\partial e}{\\partial y_{1}}x^{T}}\\\\\n&amp;{\\frac{\\partial e}{\\partial x}=W_{1}^{T}\\frac{\\partial e}{\\partial y_{1}}}\t\n\\end{lalign*}&quot;,&quot;id&quot;:&quot;27&quot;,&quot;backgroundColorModified&quot;:false,&quot;font&quot;:{&quot;color&quot;:&quot;#000000&quot;,&quot;size&quot;:8.5,&quot;family&quot;:&quot;Arial&quot;},&quot;aid&quot;:null,&quot;ts&quot;:1755261167087,&quot;cs&quot;:&quot;bqoQxo8+zRvFCfNJ8IIztQ==&quot;,&quot;size&quot;:{&quot;width&quot;:89.26368923884513,&quot;height&quot;:65.39639265091861}}" id="142" name="Google Shape;142;p20"/>
          <p:cNvPicPr preferRelativeResize="0"/>
          <p:nvPr/>
        </p:nvPicPr>
        <p:blipFill>
          <a:blip r:embed="rId11">
            <a:alphaModFix/>
          </a:blip>
          <a:stretch>
            <a:fillRect/>
          </a:stretch>
        </p:blipFill>
        <p:spPr>
          <a:xfrm>
            <a:off x="410726" y="3075477"/>
            <a:ext cx="850237" cy="622901"/>
          </a:xfrm>
          <a:prstGeom prst="rect">
            <a:avLst/>
          </a:prstGeom>
          <a:noFill/>
          <a:ln>
            <a:noFill/>
          </a:ln>
        </p:spPr>
      </p:pic>
      <p:pic>
        <p:nvPicPr>
          <p:cNvPr descr="{&quot;id&quot;:&quot;25&quot;,&quot;backgroundColorModified&quot;:false,&quot;aid&quot;:null,&quot;font&quot;:{&quot;family&quot;:&quot;Arial&quot;,&quot;size&quot;:11.5,&quot;color&quot;:&quot;#595959&quot;},&quot;type&quot;:&quot;$&quot;,&quot;backgroundColor&quot;:&quot;#FFFFFF&quot;,&quot;code&quot;:&quot;$y_{1\\,}=W_{1\\,}x$&quot;,&quot;ts&quot;:1755262444592,&quot;cs&quot;:&quot;uaPKqCdFjiyWhM02w0onvA==&quot;,&quot;size&quot;:{&quot;width&quot;:82.25147716535433,&quot;height&quot;:16.36744015748032}}" id="143" name="Google Shape;143;p20"/>
          <p:cNvPicPr preferRelativeResize="0"/>
          <p:nvPr/>
        </p:nvPicPr>
        <p:blipFill>
          <a:blip r:embed="rId12">
            <a:alphaModFix/>
          </a:blip>
          <a:stretch>
            <a:fillRect/>
          </a:stretch>
        </p:blipFill>
        <p:spPr>
          <a:xfrm>
            <a:off x="335023" y="1078176"/>
            <a:ext cx="783445" cy="155900"/>
          </a:xfrm>
          <a:prstGeom prst="rect">
            <a:avLst/>
          </a:prstGeom>
          <a:noFill/>
          <a:ln>
            <a:noFill/>
          </a:ln>
        </p:spPr>
      </p:pic>
      <p:pic>
        <p:nvPicPr>
          <p:cNvPr descr="{&quot;backgroundColor&quot;:&quot;#FFFFFF&quot;,&quot;type&quot;:&quot;$&quot;,&quot;backgroundColorModified&quot;:false,&quot;code&quot;:&quot;$y_{n}=W_{n\\,}a_{n-1}$&quot;,&quot;aid&quot;:null,&quot;id&quot;:&quot;25&quot;,&quot;font&quot;:{&quot;family&quot;:&quot;Arial&quot;,&quot;size&quot;:11,&quot;color&quot;:&quot;#595959&quot;},&quot;ts&quot;:1755261556225,&quot;cs&quot;:&quot;aGfG0ftQtgykb5fhRi5Gvg==&quot;,&quot;size&quot;:{&quot;width&quot;:100.25196587926513,&quot;height&quot;:15.472927559055123}}" id="144" name="Google Shape;144;p20"/>
          <p:cNvPicPr preferRelativeResize="0"/>
          <p:nvPr/>
        </p:nvPicPr>
        <p:blipFill>
          <a:blip r:embed="rId13">
            <a:alphaModFix/>
          </a:blip>
          <a:stretch>
            <a:fillRect/>
          </a:stretch>
        </p:blipFill>
        <p:spPr>
          <a:xfrm>
            <a:off x="5606415" y="1067603"/>
            <a:ext cx="954900" cy="147380"/>
          </a:xfrm>
          <a:prstGeom prst="rect">
            <a:avLst/>
          </a:prstGeom>
          <a:noFill/>
          <a:ln>
            <a:noFill/>
          </a:ln>
        </p:spPr>
      </p:pic>
      <p:sp>
        <p:nvSpPr>
          <p:cNvPr id="145" name="Google Shape;145;p20"/>
          <p:cNvSpPr txBox="1"/>
          <p:nvPr/>
        </p:nvSpPr>
        <p:spPr>
          <a:xfrm>
            <a:off x="6636950" y="3707975"/>
            <a:ext cx="210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Notice we need the output of the previous layer in the backward pass!</a:t>
            </a:r>
            <a:endParaRPr sz="900">
              <a:solidFill>
                <a:schemeClr val="dk2"/>
              </a:solidFill>
            </a:endParaRPr>
          </a:p>
        </p:txBody>
      </p:sp>
      <p:cxnSp>
        <p:nvCxnSpPr>
          <p:cNvPr id="146" name="Google Shape;146;p20"/>
          <p:cNvCxnSpPr>
            <a:endCxn id="137" idx="3"/>
          </p:cNvCxnSpPr>
          <p:nvPr/>
        </p:nvCxnSpPr>
        <p:spPr>
          <a:xfrm rot="10800000">
            <a:off x="6551340" y="3335208"/>
            <a:ext cx="286200" cy="437700"/>
          </a:xfrm>
          <a:prstGeom prst="straightConnector1">
            <a:avLst/>
          </a:prstGeom>
          <a:noFill/>
          <a:ln cap="flat" cmpd="sng" w="9525">
            <a:solidFill>
              <a:schemeClr val="dk2"/>
            </a:solidFill>
            <a:prstDash val="solid"/>
            <a:round/>
            <a:headEnd len="med" w="med" type="none"/>
            <a:tailEnd len="med" w="med" type="triangle"/>
          </a:ln>
        </p:spPr>
      </p:cxnSp>
      <p:sp>
        <p:nvSpPr>
          <p:cNvPr id="147" name="Google Shape;147;p20"/>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
        <p:nvSpPr>
          <p:cNvPr id="148" name="Google Shape;148;p20"/>
          <p:cNvSpPr/>
          <p:nvPr/>
        </p:nvSpPr>
        <p:spPr>
          <a:xfrm rot="10800000">
            <a:off x="7441250" y="2992600"/>
            <a:ext cx="954900" cy="171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quot;backgroundColorModified&quot;:false,&quot;id&quot;:&quot;26&quot;,&quot;code&quot;:&quot;$$a_{n-2}$$&quot;,&quot;type&quot;:&quot;$$&quot;,&quot;backgroundColor&quot;:&quot;#FFFFFF&quot;,&quot;aid&quot;:null,&quot;font&quot;:{&quot;color&quot;:&quot;#000000&quot;,&quot;family&quot;:&quot;Arial&quot;,&quot;size&quot;:11},&quot;ts&quot;:1755261284641,&quot;cs&quot;:&quot;NNWgOZ3nzgXb/13j0nQWPQ==&quot;,&quot;size&quot;:{&quot;width&quot;:31.5,&quot;height&quot;:10.333333333333334}}" id="149" name="Google Shape;149;p20"/>
          <p:cNvPicPr preferRelativeResize="0"/>
          <p:nvPr/>
        </p:nvPicPr>
        <p:blipFill>
          <a:blip r:embed="rId14">
            <a:alphaModFix/>
          </a:blip>
          <a:stretch>
            <a:fillRect/>
          </a:stretch>
        </p:blipFill>
        <p:spPr>
          <a:xfrm>
            <a:off x="2824145" y="1858584"/>
            <a:ext cx="300038" cy="98425"/>
          </a:xfrm>
          <a:prstGeom prst="rect">
            <a:avLst/>
          </a:prstGeom>
          <a:noFill/>
          <a:ln>
            <a:noFill/>
          </a:ln>
        </p:spPr>
      </p:pic>
      <p:grpSp>
        <p:nvGrpSpPr>
          <p:cNvPr id="150" name="Google Shape;150;p20"/>
          <p:cNvGrpSpPr/>
          <p:nvPr/>
        </p:nvGrpSpPr>
        <p:grpSpPr>
          <a:xfrm>
            <a:off x="2969050" y="1489350"/>
            <a:ext cx="1471800" cy="1100100"/>
            <a:chOff x="3578650" y="1489350"/>
            <a:chExt cx="1471800" cy="1100100"/>
          </a:xfrm>
        </p:grpSpPr>
        <p:sp>
          <p:nvSpPr>
            <p:cNvPr id="151" name="Google Shape;151;p20"/>
            <p:cNvSpPr txBox="1"/>
            <p:nvPr/>
          </p:nvSpPr>
          <p:spPr>
            <a:xfrm>
              <a:off x="3941100" y="18085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cxnSp>
          <p:nvCxnSpPr>
            <p:cNvPr id="152" name="Google Shape;152;p20"/>
            <p:cNvCxnSpPr>
              <a:stCxn id="153" idx="3"/>
              <a:endCxn id="154" idx="1"/>
            </p:cNvCxnSpPr>
            <p:nvPr/>
          </p:nvCxnSpPr>
          <p:spPr>
            <a:xfrm>
              <a:off x="4372450" y="2039400"/>
              <a:ext cx="678000" cy="0"/>
            </a:xfrm>
            <a:prstGeom prst="straightConnector1">
              <a:avLst/>
            </a:prstGeom>
            <a:noFill/>
            <a:ln cap="flat" cmpd="sng" w="9525">
              <a:solidFill>
                <a:srgbClr val="595959"/>
              </a:solidFill>
              <a:prstDash val="solid"/>
              <a:round/>
              <a:headEnd len="sm" w="sm" type="none"/>
              <a:tailEnd len="med" w="med" type="triangle"/>
            </a:ln>
          </p:spPr>
        </p:cxnSp>
        <p:sp>
          <p:nvSpPr>
            <p:cNvPr id="153" name="Google Shape;153;p20"/>
            <p:cNvSpPr/>
            <p:nvPr/>
          </p:nvSpPr>
          <p:spPr>
            <a:xfrm>
              <a:off x="3779350" y="1489350"/>
              <a:ext cx="5931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sz="1100"/>
            </a:p>
          </p:txBody>
        </p:sp>
        <p:pic>
          <p:nvPicPr>
            <p:cNvPr descr="{&quot;code&quot;:&quot;$$W_{n-1}$$&quot;,&quot;aid&quot;:null,&quot;id&quot;:&quot;3&quot;,&quot;backgroundColorModified&quot;:false,&quot;type&quot;:&quot;$$&quot;,&quot;backgroundColor&quot;:&quot;#FFFFFF&quot;,&quot;font&quot;:{&quot;color&quot;:&quot;#000000&quot;,&quot;family&quot;:&quot;Arial&quot;,&quot;size&quot;:12},&quot;ts&quot;:1755260290480,&quot;cs&quot;:&quot;Ed+JPRiox70jOjZAtPdSEw==&quot;,&quot;size&quot;:{&quot;width&quot;:41.5,&quot;height&quot;:15.833333333333334}}" id="155" name="Google Shape;155;p20"/>
            <p:cNvPicPr preferRelativeResize="0"/>
            <p:nvPr/>
          </p:nvPicPr>
          <p:blipFill>
            <a:blip r:embed="rId15">
              <a:alphaModFix/>
            </a:blip>
            <a:stretch>
              <a:fillRect/>
            </a:stretch>
          </p:blipFill>
          <p:spPr>
            <a:xfrm>
              <a:off x="3885575" y="1963988"/>
              <a:ext cx="395288" cy="150813"/>
            </a:xfrm>
            <a:prstGeom prst="rect">
              <a:avLst/>
            </a:prstGeom>
            <a:noFill/>
            <a:ln>
              <a:noFill/>
            </a:ln>
          </p:spPr>
        </p:pic>
        <p:cxnSp>
          <p:nvCxnSpPr>
            <p:cNvPr id="156" name="Google Shape;156;p20"/>
            <p:cNvCxnSpPr/>
            <p:nvPr/>
          </p:nvCxnSpPr>
          <p:spPr>
            <a:xfrm>
              <a:off x="3578650" y="2039400"/>
              <a:ext cx="175500" cy="0"/>
            </a:xfrm>
            <a:prstGeom prst="straightConnector1">
              <a:avLst/>
            </a:prstGeom>
            <a:noFill/>
            <a:ln cap="flat" cmpd="sng" w="9525">
              <a:solidFill>
                <a:srgbClr val="595959"/>
              </a:solidFill>
              <a:prstDash val="solid"/>
              <a:round/>
              <a:headEnd len="sm" w="sm" type="none"/>
              <a:tailEnd len="med" w="med" type="triangle"/>
            </a:ln>
          </p:spPr>
        </p:cxnSp>
      </p:grpSp>
      <p:grpSp>
        <p:nvGrpSpPr>
          <p:cNvPr id="157" name="Google Shape;157;p20"/>
          <p:cNvGrpSpPr/>
          <p:nvPr/>
        </p:nvGrpSpPr>
        <p:grpSpPr>
          <a:xfrm>
            <a:off x="2513049" y="1840327"/>
            <a:ext cx="395001" cy="400202"/>
            <a:chOff x="4034225" y="3362525"/>
            <a:chExt cx="455700" cy="461700"/>
          </a:xfrm>
        </p:grpSpPr>
        <p:pic>
          <p:nvPicPr>
            <p:cNvPr descr="{&quot;aid&quot;:null,&quot;code&quot;:&quot;$$...$$&quot;,&quot;font&quot;:{&quot;family&quot;:&quot;Arial&quot;,&quot;size&quot;:10.5,&quot;color&quot;:&quot;#000000&quot;},&quot;backgroundColor&quot;:&quot;#FFFFFF&quot;,&quot;backgroundColorModified&quot;:false,&quot;type&quot;:&quot;$$&quot;,&quot;id&quot;:&quot;4&quot;,&quot;ts&quot;:1755260511281,&quot;cs&quot;:&quot;ytP0/aVkpBm2pk2P7+sS6g==&quot;,&quot;size&quot;:{&quot;width&quot;:17.5,&quot;height&quot;:2.1666666666666665}}" id="158" name="Google Shape;158;p20"/>
            <p:cNvPicPr preferRelativeResize="0"/>
            <p:nvPr/>
          </p:nvPicPr>
          <p:blipFill>
            <a:blip r:embed="rId16">
              <a:alphaModFix/>
            </a:blip>
            <a:stretch>
              <a:fillRect/>
            </a:stretch>
          </p:blipFill>
          <p:spPr>
            <a:xfrm>
              <a:off x="4207300" y="3583063"/>
              <a:ext cx="166688" cy="20638"/>
            </a:xfrm>
            <a:prstGeom prst="rect">
              <a:avLst/>
            </a:prstGeom>
            <a:noFill/>
            <a:ln>
              <a:noFill/>
            </a:ln>
          </p:spPr>
        </p:pic>
        <p:sp>
          <p:nvSpPr>
            <p:cNvPr id="116" name="Google Shape;116;p20"/>
            <p:cNvSpPr txBox="1"/>
            <p:nvPr/>
          </p:nvSpPr>
          <p:spPr>
            <a:xfrm>
              <a:off x="4034225" y="3362525"/>
              <a:ext cx="455700" cy="461700"/>
            </a:xfrm>
            <a:prstGeom prst="rect">
              <a:avLst/>
            </a:prstGeom>
            <a:noFill/>
            <a:ln>
              <a:noFill/>
            </a:ln>
          </p:spPr>
          <p:txBody>
            <a:bodyPr anchorCtr="0" anchor="t" bIns="79250" lIns="79250" spcFirstLastPara="1" rIns="79250" wrap="square" tIns="79250">
              <a:spAutoFit/>
            </a:bodyPr>
            <a:lstStyle/>
            <a:p>
              <a:pPr indent="0" lvl="0" marL="0" rtl="0" algn="l">
                <a:spcBef>
                  <a:spcPts val="0"/>
                </a:spcBef>
                <a:spcAft>
                  <a:spcPts val="0"/>
                </a:spcAft>
                <a:buNone/>
              </a:pPr>
              <a:r>
                <a:t/>
              </a:r>
              <a:endParaRPr sz="1560">
                <a:solidFill>
                  <a:schemeClr val="dk2"/>
                </a:solidFill>
              </a:endParaRPr>
            </a:p>
          </p:txBody>
        </p:sp>
      </p:grpSp>
      <p:sp>
        <p:nvSpPr>
          <p:cNvPr id="154" name="Google Shape;154;p20"/>
          <p:cNvSpPr/>
          <p:nvPr/>
        </p:nvSpPr>
        <p:spPr>
          <a:xfrm>
            <a:off x="4440762" y="1489350"/>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1" lang="en" sz="1300"/>
              <a:t>ReLU</a:t>
            </a:r>
            <a:endParaRPr b="1" i="0" sz="1300" u="none" cap="none" strike="noStrike">
              <a:solidFill>
                <a:srgbClr val="000000"/>
              </a:solidFill>
            </a:endParaRPr>
          </a:p>
        </p:txBody>
      </p:sp>
      <p:cxnSp>
        <p:nvCxnSpPr>
          <p:cNvPr id="159" name="Google Shape;159;p20"/>
          <p:cNvCxnSpPr>
            <a:stCxn id="154" idx="3"/>
            <a:endCxn id="118" idx="1"/>
          </p:cNvCxnSpPr>
          <p:nvPr/>
        </p:nvCxnSpPr>
        <p:spPr>
          <a:xfrm>
            <a:off x="5090262" y="2039400"/>
            <a:ext cx="663300" cy="2100"/>
          </a:xfrm>
          <a:prstGeom prst="straightConnector1">
            <a:avLst/>
          </a:prstGeom>
          <a:noFill/>
          <a:ln cap="flat" cmpd="sng" w="9525">
            <a:solidFill>
              <a:srgbClr val="595959"/>
            </a:solidFill>
            <a:prstDash val="solid"/>
            <a:round/>
            <a:headEnd len="sm" w="sm" type="none"/>
            <a:tailEnd len="med" w="med" type="triangle"/>
          </a:ln>
        </p:spPr>
      </p:cxnSp>
      <p:cxnSp>
        <p:nvCxnSpPr>
          <p:cNvPr id="160" name="Google Shape;160;p20"/>
          <p:cNvCxnSpPr/>
          <p:nvPr/>
        </p:nvCxnSpPr>
        <p:spPr>
          <a:xfrm>
            <a:off x="4170075" y="1308600"/>
            <a:ext cx="0" cy="1765800"/>
          </a:xfrm>
          <a:prstGeom prst="straightConnector1">
            <a:avLst/>
          </a:prstGeom>
          <a:noFill/>
          <a:ln cap="flat" cmpd="sng" w="9525">
            <a:solidFill>
              <a:schemeClr val="dk2"/>
            </a:solidFill>
            <a:prstDash val="dash"/>
            <a:round/>
            <a:headEnd len="med" w="med" type="none"/>
            <a:tailEnd len="med" w="med" type="none"/>
          </a:ln>
        </p:spPr>
      </p:cxnSp>
      <p:cxnSp>
        <p:nvCxnSpPr>
          <p:cNvPr id="161" name="Google Shape;161;p20"/>
          <p:cNvCxnSpPr/>
          <p:nvPr/>
        </p:nvCxnSpPr>
        <p:spPr>
          <a:xfrm>
            <a:off x="5500450" y="1141375"/>
            <a:ext cx="0" cy="1938300"/>
          </a:xfrm>
          <a:prstGeom prst="straightConnector1">
            <a:avLst/>
          </a:prstGeom>
          <a:noFill/>
          <a:ln cap="flat" cmpd="sng" w="9525">
            <a:solidFill>
              <a:schemeClr val="dk2"/>
            </a:solidFill>
            <a:prstDash val="dash"/>
            <a:round/>
            <a:headEnd len="med" w="med" type="none"/>
            <a:tailEnd len="med" w="med" type="none"/>
          </a:ln>
        </p:spPr>
      </p:cxnSp>
      <p:pic>
        <p:nvPicPr>
          <p:cNvPr descr="{&quot;font&quot;:{&quot;size&quot;:12,&quot;color&quot;:&quot;#000000&quot;,&quot;family&quot;:&quot;Arial&quot;},&quot;aid&quot;:null,&quot;type&quot;:&quot;$$&quot;,&quot;id&quot;:&quot;5&quot;,&quot;backgroundColor&quot;:&quot;#FFFFFF&quot;,&quot;backgroundColorModified&quot;:false,&quot;code&quot;:&quot;$$a_{1}$$&quot;,&quot;ts&quot;:1755261078204,&quot;cs&quot;:&quot;zld6unW/0mNjLy8FO/JllA==&quot;,&quot;size&quot;:{&quot;width&quot;:15.666666666666666,&quot;height&quot;:11.166666666666666}}" id="162" name="Google Shape;162;p20"/>
          <p:cNvPicPr preferRelativeResize="0"/>
          <p:nvPr/>
        </p:nvPicPr>
        <p:blipFill>
          <a:blip r:embed="rId17">
            <a:alphaModFix/>
          </a:blip>
          <a:stretch>
            <a:fillRect/>
          </a:stretch>
        </p:blipFill>
        <p:spPr>
          <a:xfrm>
            <a:off x="2382135" y="1854600"/>
            <a:ext cx="149225" cy="106363"/>
          </a:xfrm>
          <a:prstGeom prst="rect">
            <a:avLst/>
          </a:prstGeom>
          <a:noFill/>
          <a:ln>
            <a:noFill/>
          </a:ln>
        </p:spPr>
      </p:pic>
      <p:pic>
        <p:nvPicPr>
          <p:cNvPr descr="{&quot;backgroundColorModified&quot;:false,&quot;type&quot;:&quot;$$&quot;,&quot;id&quot;:&quot;26&quot;,&quot;aid&quot;:null,&quot;code&quot;:&quot;$$y_{n-1}$$&quot;,&quot;font&quot;:{&quot;family&quot;:&quot;Arial&quot;,&quot;size&quot;:11,&quot;color&quot;:&quot;#000000&quot;},&quot;backgroundColor&quot;:&quot;#FFFFFF&quot;,&quot;ts&quot;:1755261311908,&quot;cs&quot;:&quot;7mU12nk2z+5i/2Zztp0Ypw==&quot;,&quot;size&quot;:{&quot;width&quot;:30.666666666666668,&quot;height&quot;:11.166666666666666}}" id="163" name="Google Shape;163;p20"/>
          <p:cNvPicPr preferRelativeResize="0"/>
          <p:nvPr/>
        </p:nvPicPr>
        <p:blipFill>
          <a:blip r:embed="rId18">
            <a:alphaModFix/>
          </a:blip>
          <a:stretch>
            <a:fillRect/>
          </a:stretch>
        </p:blipFill>
        <p:spPr>
          <a:xfrm>
            <a:off x="3852456" y="1875616"/>
            <a:ext cx="292100" cy="106363"/>
          </a:xfrm>
          <a:prstGeom prst="rect">
            <a:avLst/>
          </a:prstGeom>
          <a:noFill/>
          <a:ln>
            <a:noFill/>
          </a:ln>
        </p:spPr>
      </p:pic>
      <p:pic>
        <p:nvPicPr>
          <p:cNvPr descr="{&quot;id&quot;:&quot;25&quot;,&quot;backgroundColor&quot;:&quot;#FFFFFF&quot;,&quot;backgroundColorModified&quot;:false,&quot;font&quot;:{&quot;size&quot;:9,&quot;color&quot;:&quot;#595959&quot;,&quot;family&quot;:&quot;Arial&quot;},&quot;aid&quot;:null,&quot;type&quot;:&quot;$&quot;,&quot;code&quot;:&quot;$a_{n-1}=ReLU\\left(y_{n-1}\\right)$&quot;,&quot;ts&quot;:1755261538532,&quot;cs&quot;:&quot;xLiRZLUgTLIjIoEztzYX+Q==&quot;,&quot;size&quot;:{&quot;width&quot;:127.45593254593177,&quot;height&quot;:14.740153018372702}}" id="164" name="Google Shape;164;p20"/>
          <p:cNvPicPr preferRelativeResize="0"/>
          <p:nvPr/>
        </p:nvPicPr>
        <p:blipFill>
          <a:blip r:embed="rId19">
            <a:alphaModFix/>
          </a:blip>
          <a:stretch>
            <a:fillRect/>
          </a:stretch>
        </p:blipFill>
        <p:spPr>
          <a:xfrm>
            <a:off x="4167952" y="1071103"/>
            <a:ext cx="1214018" cy="140400"/>
          </a:xfrm>
          <a:prstGeom prst="rect">
            <a:avLst/>
          </a:prstGeom>
          <a:noFill/>
          <a:ln>
            <a:noFill/>
          </a:ln>
        </p:spPr>
      </p:pic>
      <p:pic>
        <p:nvPicPr>
          <p:cNvPr descr="{&quot;id&quot;:&quot;27&quot;,&quot;aid&quot;:null,&quot;font&quot;:{&quot;family&quot;:&quot;Arial&quot;,&quot;size&quot;:10,&quot;color&quot;:&quot;#000000&quot;},&quot;type&quot;:&quot;lalign*&quot;,&quot;backgroundColorModified&quot;:false,&quot;code&quot;:&quot;\\begin{lalign*}\n&amp;{\\frac{\\partial e}{\\partial y_{n-1,i}}=\\frac{\\partial e}{\\partial a_{n-1,i\\,}}\\text{if}\\;a_{n-1,i}&gt;0}\\\\\n&amp;{\\,\\,\\,\\,\\,\\,\\,\\,\\,\\,\\,\\,\\,\\,\\,\\,\\,\\,\\,\\,\\,\\,=0\\,\\;\\;\\;\\;\\;\\text{otherwise}}\\\\\n&amp;{}\t\n\\end{lalign*}&quot;,&quot;backgroundColor&quot;:&quot;#FFFFFF&quot;,&quot;ts&quot;:1757162153896,&quot;cs&quot;:&quot;B2WGJR0LD4adlzPpgXo8Fg==&quot;,&quot;size&quot;:{&quot;width&quot;:205.83333333333334,&quot;height&quot;:53.833333333333336}}" id="165" name="Google Shape;165;p20"/>
          <p:cNvPicPr preferRelativeResize="0"/>
          <p:nvPr/>
        </p:nvPicPr>
        <p:blipFill>
          <a:blip r:embed="rId20">
            <a:alphaModFix/>
          </a:blip>
          <a:stretch>
            <a:fillRect/>
          </a:stretch>
        </p:blipFill>
        <p:spPr>
          <a:xfrm>
            <a:off x="4098976" y="3124672"/>
            <a:ext cx="1512600" cy="395591"/>
          </a:xfrm>
          <a:prstGeom prst="rect">
            <a:avLst/>
          </a:prstGeom>
          <a:noFill/>
          <a:ln>
            <a:noFill/>
          </a:ln>
        </p:spPr>
      </p:pic>
      <p:pic>
        <p:nvPicPr>
          <p:cNvPr descr="{&quot;font&quot;:{&quot;color&quot;:&quot;#000000&quot;,&quot;size&quot;:7.5,&quot;family&quot;:&quot;Arial&quot;},&quot;type&quot;:&quot;lalign*&quot;,&quot;backgroundColor&quot;:&quot;#FFFFFF&quot;,&quot;backgroundColorModified&quot;:false,&quot;aid&quot;:null,&quot;id&quot;:&quot;27&quot;,&quot;code&quot;:&quot;\\begin{lalign*}\n&amp;{\\frac{\\partial e}{\\partial y_{i,1}}=\\frac{\\partial e}{\\partial a_{i,1\\,}}\\text{if}\\;a_{i,1}&gt;0}\\\\\n&amp;{\\,\\,\\,\\,\\,\\,\\,\\,\\,\\,\\,\\,\\,=0\\,\\;\\;\\;\\;\\;\\text{otherwise}}\\\\\n&amp;{}\t\n\\end{lalign*}&quot;,&quot;ts&quot;:1755262173707,&quot;cs&quot;:&quot;QhY5sxkQgr+XM7MhjN084g==&quot;,&quot;size&quot;:{&quot;width&quot;:120.16666666666667,&quot;height&quot;:40.333333333333336}}" id="166" name="Google Shape;166;p20"/>
          <p:cNvPicPr preferRelativeResize="0"/>
          <p:nvPr/>
        </p:nvPicPr>
        <p:blipFill>
          <a:blip r:embed="rId21">
            <a:alphaModFix/>
          </a:blip>
          <a:stretch>
            <a:fillRect/>
          </a:stretch>
        </p:blipFill>
        <p:spPr>
          <a:xfrm>
            <a:off x="1372456" y="3124063"/>
            <a:ext cx="1144588" cy="384175"/>
          </a:xfrm>
          <a:prstGeom prst="rect">
            <a:avLst/>
          </a:prstGeom>
          <a:noFill/>
          <a:ln>
            <a:noFill/>
          </a:ln>
        </p:spPr>
      </p:pic>
      <p:pic>
        <p:nvPicPr>
          <p:cNvPr descr="{&quot;font&quot;:{&quot;family&quot;:&quot;Arial&quot;,&quot;color&quot;:&quot;#000000&quot;,&quot;size&quot;:7.5},&quot;aid&quot;:null,&quot;code&quot;:&quot;\\begin{lalign*}\n&amp;{\\frac{\\partial e}{\\partial W_{n-1}}=\\frac{\\partial e}{\\partial y_{n-1}}a_{n-2}^{T}}\\\\\n&amp;{\\frac{\\partial e}{\\partial a_{n-2}}=W_{n-1}^{T}\\frac{\\partial e}{\\partial y_{n-1}}}\t\n\\end{lalign*}&quot;,&quot;backgroundColor&quot;:&quot;#FFFFFF&quot;,&quot;type&quot;:&quot;lalign*&quot;,&quot;backgroundColorModified&quot;:false,&quot;id&quot;:&quot;27&quot;,&quot;ts&quot;:1755262366864,&quot;cs&quot;:&quot;EeCKrESTvLyaj759KxpxSA==&quot;,&quot;size&quot;:{&quot;width&quot;:109.66666666666667,&quot;height&quot;:57.16666666666663}}" id="167" name="Google Shape;167;p20"/>
          <p:cNvPicPr preferRelativeResize="0"/>
          <p:nvPr/>
        </p:nvPicPr>
        <p:blipFill>
          <a:blip r:embed="rId22">
            <a:alphaModFix/>
          </a:blip>
          <a:stretch>
            <a:fillRect/>
          </a:stretch>
        </p:blipFill>
        <p:spPr>
          <a:xfrm>
            <a:off x="2809277" y="3043908"/>
            <a:ext cx="1044575" cy="544512"/>
          </a:xfrm>
          <a:prstGeom prst="rect">
            <a:avLst/>
          </a:prstGeom>
          <a:noFill/>
          <a:ln>
            <a:noFill/>
          </a:ln>
        </p:spPr>
      </p:pic>
      <p:pic>
        <p:nvPicPr>
          <p:cNvPr descr="{&quot;id&quot;:&quot;25&quot;,&quot;font&quot;:{&quot;size&quot;:11,&quot;family&quot;:&quot;Arial&quot;,&quot;color&quot;:&quot;#595959&quot;},&quot;backgroundColor&quot;:&quot;#FFFFFF&quot;,&quot;code&quot;:&quot;$y_{n-1}=W_{n-1\\,}a_{n-2}$&quot;,&quot;aid&quot;:null,&quot;backgroundColorModified&quot;:false,&quot;type&quot;:&quot;$&quot;,&quot;ts&quot;:1755262414493,&quot;cs&quot;:&quot;oY8K8eAd4uw0hiF9TwkzWA==&quot;,&quot;size&quot;:{&quot;width&quot;:130.66666666666666,&quot;height&quot;:15.333333333333334}}" id="168" name="Google Shape;168;p20"/>
          <p:cNvPicPr preferRelativeResize="0"/>
          <p:nvPr/>
        </p:nvPicPr>
        <p:blipFill>
          <a:blip r:embed="rId23">
            <a:alphaModFix/>
          </a:blip>
          <a:stretch>
            <a:fillRect/>
          </a:stretch>
        </p:blipFill>
        <p:spPr>
          <a:xfrm>
            <a:off x="2687155" y="1075116"/>
            <a:ext cx="1244600" cy="146050"/>
          </a:xfrm>
          <a:prstGeom prst="rect">
            <a:avLst/>
          </a:prstGeom>
          <a:noFill/>
          <a:ln>
            <a:noFill/>
          </a:ln>
        </p:spPr>
      </p:pic>
      <p:pic>
        <p:nvPicPr>
          <p:cNvPr descr="{&quot;id&quot;:&quot;25&quot;,&quot;type&quot;:&quot;$&quot;,&quot;font&quot;:{&quot;size&quot;:9,&quot;family&quot;:&quot;Arial&quot;,&quot;color&quot;:&quot;#595959&quot;},&quot;code&quot;:&quot;$a_{1}=ReLU\\left(y_{1}\\right)$&quot;,&quot;aid&quot;:null,&quot;backgroundColorModified&quot;:false,&quot;backgroundColor&quot;:&quot;#FFFFFF&quot;,&quot;ts&quot;:1755262480461,&quot;cs&quot;:&quot;YCIacjxf7pfu10pNc9ln1A==&quot;,&quot;size&quot;:{&quot;width&quot;:94.5,&quot;height&quot;:14.166666666666666}}" id="169" name="Google Shape;169;p20"/>
          <p:cNvPicPr preferRelativeResize="0"/>
          <p:nvPr/>
        </p:nvPicPr>
        <p:blipFill>
          <a:blip r:embed="rId24">
            <a:alphaModFix/>
          </a:blip>
          <a:stretch>
            <a:fillRect/>
          </a:stretch>
        </p:blipFill>
        <p:spPr>
          <a:xfrm>
            <a:off x="1481023" y="1078178"/>
            <a:ext cx="900113" cy="134938"/>
          </a:xfrm>
          <a:prstGeom prst="rect">
            <a:avLst/>
          </a:prstGeom>
          <a:noFill/>
          <a:ln>
            <a:noFill/>
          </a:ln>
        </p:spPr>
      </p:pic>
      <p:cxnSp>
        <p:nvCxnSpPr>
          <p:cNvPr id="170" name="Google Shape;170;p20"/>
          <p:cNvCxnSpPr>
            <a:stCxn id="126" idx="2"/>
            <a:endCxn id="153" idx="2"/>
          </p:cNvCxnSpPr>
          <p:nvPr/>
        </p:nvCxnSpPr>
        <p:spPr>
          <a:xfrm rot="5400000">
            <a:off x="5836325" y="-34250"/>
            <a:ext cx="253500" cy="4993800"/>
          </a:xfrm>
          <a:prstGeom prst="bentConnector3">
            <a:avLst>
              <a:gd fmla="val 250424" name="adj1"/>
            </a:avLst>
          </a:prstGeom>
          <a:noFill/>
          <a:ln cap="flat" cmpd="sng" w="9525">
            <a:solidFill>
              <a:schemeClr val="dk2"/>
            </a:solidFill>
            <a:prstDash val="solid"/>
            <a:round/>
            <a:headEnd len="med" w="med" type="none"/>
            <a:tailEnd len="med" w="med" type="triangle"/>
          </a:ln>
        </p:spPr>
      </p:cxnSp>
      <p:sp>
        <p:nvSpPr>
          <p:cNvPr id="171" name="Google Shape;171;p20"/>
          <p:cNvSpPr/>
          <p:nvPr/>
        </p:nvSpPr>
        <p:spPr>
          <a:xfrm>
            <a:off x="386700" y="1344250"/>
            <a:ext cx="19944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0"/>
          <p:cNvSpPr txBox="1"/>
          <p:nvPr/>
        </p:nvSpPr>
        <p:spPr>
          <a:xfrm>
            <a:off x="1511647" y="2669776"/>
            <a:ext cx="593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1</a:t>
            </a:r>
            <a:endParaRPr sz="900">
              <a:solidFill>
                <a:schemeClr val="dk2"/>
              </a:solidFill>
            </a:endParaRPr>
          </a:p>
        </p:txBody>
      </p:sp>
      <p:sp>
        <p:nvSpPr>
          <p:cNvPr id="173" name="Google Shape;173;p20"/>
          <p:cNvSpPr/>
          <p:nvPr/>
        </p:nvSpPr>
        <p:spPr>
          <a:xfrm>
            <a:off x="3024650" y="1344250"/>
            <a:ext cx="21093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0"/>
          <p:cNvSpPr txBox="1"/>
          <p:nvPr/>
        </p:nvSpPr>
        <p:spPr>
          <a:xfrm>
            <a:off x="4414348" y="2673361"/>
            <a:ext cx="71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n-1</a:t>
            </a:r>
            <a:endParaRPr sz="900">
              <a:solidFill>
                <a:schemeClr val="dk2"/>
              </a:solidFill>
            </a:endParaRPr>
          </a:p>
        </p:txBody>
      </p:sp>
      <p:sp>
        <p:nvSpPr>
          <p:cNvPr id="175" name="Google Shape;175;p20"/>
          <p:cNvSpPr/>
          <p:nvPr/>
        </p:nvSpPr>
        <p:spPr>
          <a:xfrm>
            <a:off x="5625000" y="1329475"/>
            <a:ext cx="9000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0"/>
          <p:cNvSpPr txBox="1"/>
          <p:nvPr/>
        </p:nvSpPr>
        <p:spPr>
          <a:xfrm>
            <a:off x="6053848" y="2673199"/>
            <a:ext cx="71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n</a:t>
            </a:r>
            <a:endParaRPr sz="900">
              <a:solidFill>
                <a:schemeClr val="dk2"/>
              </a:solidFill>
            </a:endParaRPr>
          </a:p>
        </p:txBody>
      </p:sp>
      <p:sp>
        <p:nvSpPr>
          <p:cNvPr id="177" name="Google Shape;177;p20"/>
          <p:cNvSpPr/>
          <p:nvPr/>
        </p:nvSpPr>
        <p:spPr>
          <a:xfrm rot="10800000">
            <a:off x="5687313" y="3620057"/>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0"/>
          <p:cNvSpPr/>
          <p:nvPr/>
        </p:nvSpPr>
        <p:spPr>
          <a:xfrm rot="10800000">
            <a:off x="4116340" y="3420732"/>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0"/>
          <p:cNvSpPr/>
          <p:nvPr/>
        </p:nvSpPr>
        <p:spPr>
          <a:xfrm rot="10800000">
            <a:off x="2822507" y="3634901"/>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0"/>
          <p:cNvSpPr txBox="1"/>
          <p:nvPr/>
        </p:nvSpPr>
        <p:spPr>
          <a:xfrm>
            <a:off x="410745" y="3958575"/>
            <a:ext cx="344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Forward and Backward pass on a </a:t>
            </a:r>
            <a:r>
              <a:rPr i="1" lang="en" sz="1200">
                <a:solidFill>
                  <a:schemeClr val="dk2"/>
                </a:solidFill>
              </a:rPr>
              <a:t>n </a:t>
            </a:r>
            <a:r>
              <a:rPr lang="en" sz="1200">
                <a:solidFill>
                  <a:schemeClr val="dk2"/>
                </a:solidFill>
              </a:rPr>
              <a:t>layer network and using backpropagation to update weights </a:t>
            </a:r>
            <a:endParaRPr sz="1200">
              <a:solidFill>
                <a:schemeClr val="dk2"/>
              </a:solidFill>
            </a:endParaRPr>
          </a:p>
        </p:txBody>
      </p:sp>
      <p:sp>
        <p:nvSpPr>
          <p:cNvPr id="181" name="Google Shape;181;p20"/>
          <p:cNvSpPr/>
          <p:nvPr/>
        </p:nvSpPr>
        <p:spPr>
          <a:xfrm>
            <a:off x="209700" y="3375700"/>
            <a:ext cx="1110900" cy="4377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 gradient wrt Input do the job? </a:t>
            </a:r>
            <a:endParaRPr/>
          </a:p>
        </p:txBody>
      </p:sp>
      <p:pic>
        <p:nvPicPr>
          <p:cNvPr descr="{&quot;id&quot;:&quot;2&quot;,&quot;backgroundColor&quot;:&quot;#FFFFFF&quot;,&quot;aid&quot;:null,&quot;backgroundColorModified&quot;:false,&quot;code&quot;:&quot;\\begin{gather*}\n{\\text{Not}\\;\\text{quite!}\\;\\text{Simply}\\;\\text{calculating}\\;\\pdf{f}{x_{j}}\\,\\text{or}\\;\\text{its}\\;\\text{variant}\\;x_{j}\\pdf{f}{x_{j}}\\,\\text{}}\\\\\n{\\text{results}\\;\\text{in}\\;\\text{a}\\;\\text{noisy}\\;\\text{output}\\;\\text{and}\\;\\text{can}\\;\\text{miss}\\;\\text{important}\\;\\text{features.}\\;\\;\\text{}}\\\\\n{\\text{This}\\;\\text{is}\\;\\text{because}\\,of\\,\\text{saturation.}\\;\\text{Gradient}\\;\\text{of}\\;\\text{a}\\;\\text{sigmoid}\\;\\text{near}\\;\\text{0}\\;\\text{or}\\;\\text{1}}\\\\\n{\\text{is}\\;\\text{near}\\;\\text{0}\\;\\text{even}\\;\\text{if}\\;\\text{the}\\;\\text{feature}\\;\\text{mattered}\\;\\text{to}\\;\\text{get}\\;\\text{there}}\t\n\\end{gather*}&quot;,&quot;type&quot;:&quot;gather*&quot;,&quot;font&quot;:{&quot;family&quot;:&quot;Arial&quot;,&quot;size&quot;:15,&quot;color&quot;:&quot;#595959&quot;},&quot;ts&quot;:1769132644461,&quot;cs&quot;:&quot;3fZY11dVSMY8oq8icbREYQ==&quot;,&quot;size&quot;:{&quot;width&quot;:648.4724,&quot;height&quot;:149.35169763779524}}" id="187" name="Google Shape;187;p21"/>
          <p:cNvPicPr preferRelativeResize="0"/>
          <p:nvPr/>
        </p:nvPicPr>
        <p:blipFill>
          <a:blip r:embed="rId3">
            <a:alphaModFix/>
          </a:blip>
          <a:stretch>
            <a:fillRect/>
          </a:stretch>
        </p:blipFill>
        <p:spPr>
          <a:xfrm>
            <a:off x="278075" y="1117350"/>
            <a:ext cx="6176700" cy="1422575"/>
          </a:xfrm>
          <a:prstGeom prst="rect">
            <a:avLst/>
          </a:prstGeom>
          <a:noFill/>
          <a:ln>
            <a:noFill/>
          </a:ln>
        </p:spPr>
      </p:pic>
      <p:pic>
        <p:nvPicPr>
          <p:cNvPr id="188" name="Google Shape;188;p21"/>
          <p:cNvPicPr preferRelativeResize="0"/>
          <p:nvPr/>
        </p:nvPicPr>
        <p:blipFill>
          <a:blip r:embed="rId4">
            <a:alphaModFix/>
          </a:blip>
          <a:stretch>
            <a:fillRect/>
          </a:stretch>
        </p:blipFill>
        <p:spPr>
          <a:xfrm>
            <a:off x="152400" y="2692325"/>
            <a:ext cx="6659686" cy="2298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Integrated Gradients</a:t>
            </a:r>
            <a:endParaRPr/>
          </a:p>
        </p:txBody>
      </p:sp>
      <p:sp>
        <p:nvSpPr>
          <p:cNvPr id="194" name="Google Shape;19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Rather than just look at the input, first define a baseline, a feature-less input that results in a neutral prediction. Eg., a black image for image-based models, a zero embedding vector for text models</a:t>
            </a:r>
            <a:endParaRPr/>
          </a:p>
          <a:p>
            <a:pPr indent="0" lvl="0" marL="0" rtl="0" algn="l">
              <a:spcBef>
                <a:spcPts val="1200"/>
              </a:spcBef>
              <a:spcAft>
                <a:spcPts val="0"/>
              </a:spcAft>
              <a:buNone/>
            </a:pPr>
            <a:r>
              <a:rPr lang="en"/>
              <a:t>Integrated gradient then explains </a:t>
            </a:r>
            <a:endParaRPr/>
          </a:p>
          <a:p>
            <a:pPr indent="0" lvl="0" marL="0" rtl="0" algn="l">
              <a:spcBef>
                <a:spcPts val="1200"/>
              </a:spcBef>
              <a:spcAft>
                <a:spcPts val="0"/>
              </a:spcAft>
              <a:buNone/>
            </a:pPr>
            <a:r>
              <a:rPr lang="en"/>
              <a:t>Model (input) - Model (baseline)</a:t>
            </a:r>
            <a:endParaRPr/>
          </a:p>
          <a:p>
            <a:pPr indent="0" lvl="0" marL="0" rtl="0" algn="l">
              <a:spcBef>
                <a:spcPts val="1200"/>
              </a:spcBef>
              <a:spcAft>
                <a:spcPts val="1200"/>
              </a:spcAft>
              <a:buNone/>
            </a:pPr>
            <a:r>
              <a:rPr lang="en"/>
              <a:t>We vary the input from baseline to desired input in steps, then calculate and accumulate gradient of the network output against each input along the way. This way final feature attribution reflects contributions made “along the way” rather than just features with high gradients for the final image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Integrated Gradients	</a:t>
            </a:r>
            <a:endParaRPr/>
          </a:p>
        </p:txBody>
      </p:sp>
      <p:pic>
        <p:nvPicPr>
          <p:cNvPr descr="{&quot;backgroundColorModified&quot;:false,&quot;aid&quot;:null,&quot;type&quot;:&quot;$$&quot;,&quot;font&quot;:{&quot;color&quot;:&quot;#000000&quot;,&quot;size&quot;:28,&quot;family&quot;:&quot;Arial&quot;},&quot;id&quot;:&quot;3&quot;,&quot;code&quot;:&quot;$$IG_{j}\\left(x\\right)=\\frac{\\left(x_{j}-x_{j}^{\\prime}\\right)}{m}\\sum_{k=1}^{m}\\pdf{f\\left(x^{\\prime}+\\frac{k}{m}\\left(x-x^{\\prime}\\right)\\right)}{x_{j}}$$&quot;,&quot;backgroundColor&quot;:&quot;#FFFFFF&quot;,&quot;ts&quot;:1769135325808,&quot;cs&quot;:&quot;+7/GdA8Cmgf/uFfjOHCYOg==&quot;,&quot;size&quot;:{&quot;width&quot;:868,&quot;height&quot;:124}}" id="200" name="Google Shape;200;p23"/>
          <p:cNvPicPr preferRelativeResize="0"/>
          <p:nvPr/>
        </p:nvPicPr>
        <p:blipFill>
          <a:blip r:embed="rId3">
            <a:alphaModFix/>
          </a:blip>
          <a:stretch>
            <a:fillRect/>
          </a:stretch>
        </p:blipFill>
        <p:spPr>
          <a:xfrm>
            <a:off x="532025" y="1486700"/>
            <a:ext cx="5979225" cy="854175"/>
          </a:xfrm>
          <a:prstGeom prst="rect">
            <a:avLst/>
          </a:prstGeom>
          <a:noFill/>
          <a:ln>
            <a:noFill/>
          </a:ln>
        </p:spPr>
      </p:pic>
      <p:pic>
        <p:nvPicPr>
          <p:cNvPr id="201" name="Google Shape;201;p23"/>
          <p:cNvPicPr preferRelativeResize="0"/>
          <p:nvPr/>
        </p:nvPicPr>
        <p:blipFill rotWithShape="1">
          <a:blip r:embed="rId4">
            <a:alphaModFix/>
          </a:blip>
          <a:srcRect b="0" l="0" r="60741" t="0"/>
          <a:stretch/>
        </p:blipFill>
        <p:spPr>
          <a:xfrm>
            <a:off x="170875" y="2732475"/>
            <a:ext cx="1957625" cy="2130375"/>
          </a:xfrm>
          <a:prstGeom prst="rect">
            <a:avLst/>
          </a:prstGeom>
          <a:noFill/>
          <a:ln>
            <a:noFill/>
          </a:ln>
        </p:spPr>
      </p:pic>
      <p:sp>
        <p:nvSpPr>
          <p:cNvPr id="202" name="Google Shape;202;p23"/>
          <p:cNvSpPr txBox="1"/>
          <p:nvPr/>
        </p:nvSpPr>
        <p:spPr>
          <a:xfrm>
            <a:off x="7161200" y="2170050"/>
            <a:ext cx="1989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a:t>
            </a:r>
            <a:r>
              <a:rPr lang="en" sz="1800">
                <a:solidFill>
                  <a:schemeClr val="dk2"/>
                </a:solidFill>
              </a:rPr>
              <a:t>eature j</a:t>
            </a:r>
            <a:endParaRPr sz="1800">
              <a:solidFill>
                <a:schemeClr val="dk2"/>
              </a:solidFill>
            </a:endParaRPr>
          </a:p>
        </p:txBody>
      </p:sp>
      <p:cxnSp>
        <p:nvCxnSpPr>
          <p:cNvPr id="203" name="Google Shape;203;p23"/>
          <p:cNvCxnSpPr/>
          <p:nvPr/>
        </p:nvCxnSpPr>
        <p:spPr>
          <a:xfrm rot="10800000">
            <a:off x="5619150" y="2207150"/>
            <a:ext cx="1315800" cy="230700"/>
          </a:xfrm>
          <a:prstGeom prst="straightConnector1">
            <a:avLst/>
          </a:prstGeom>
          <a:noFill/>
          <a:ln cap="flat" cmpd="sng" w="9525">
            <a:solidFill>
              <a:schemeClr val="dk2"/>
            </a:solidFill>
            <a:prstDash val="solid"/>
            <a:round/>
            <a:headEnd len="med" w="med" type="none"/>
            <a:tailEnd len="med" w="med" type="triangle"/>
          </a:ln>
        </p:spPr>
      </p:cxnSp>
      <p:sp>
        <p:nvSpPr>
          <p:cNvPr id="204" name="Google Shape;204;p23"/>
          <p:cNvSpPr txBox="1"/>
          <p:nvPr/>
        </p:nvSpPr>
        <p:spPr>
          <a:xfrm>
            <a:off x="5374400" y="500525"/>
            <a:ext cx="347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Interpolated input at step k</a:t>
            </a:r>
            <a:endParaRPr sz="1800">
              <a:solidFill>
                <a:schemeClr val="dk2"/>
              </a:solidFill>
            </a:endParaRPr>
          </a:p>
        </p:txBody>
      </p:sp>
      <p:cxnSp>
        <p:nvCxnSpPr>
          <p:cNvPr id="205" name="Google Shape;205;p23"/>
          <p:cNvCxnSpPr/>
          <p:nvPr/>
        </p:nvCxnSpPr>
        <p:spPr>
          <a:xfrm flipH="1">
            <a:off x="5295825" y="937300"/>
            <a:ext cx="411000" cy="484800"/>
          </a:xfrm>
          <a:prstGeom prst="straightConnector1">
            <a:avLst/>
          </a:prstGeom>
          <a:noFill/>
          <a:ln cap="flat" cmpd="sng" w="9525">
            <a:solidFill>
              <a:schemeClr val="dk2"/>
            </a:solidFill>
            <a:prstDash val="solid"/>
            <a:round/>
            <a:headEnd len="med" w="med" type="none"/>
            <a:tailEnd len="med" w="med" type="triangle"/>
          </a:ln>
        </p:spPr>
      </p:cxnSp>
      <p:pic>
        <p:nvPicPr>
          <p:cNvPr id="206" name="Google Shape;206;p23"/>
          <p:cNvPicPr preferRelativeResize="0"/>
          <p:nvPr/>
        </p:nvPicPr>
        <p:blipFill>
          <a:blip r:embed="rId5">
            <a:alphaModFix/>
          </a:blip>
          <a:stretch>
            <a:fillRect/>
          </a:stretch>
        </p:blipFill>
        <p:spPr>
          <a:xfrm>
            <a:off x="5111200" y="2809850"/>
            <a:ext cx="3681849" cy="1969993"/>
          </a:xfrm>
          <a:prstGeom prst="rect">
            <a:avLst/>
          </a:prstGeom>
          <a:noFill/>
          <a:ln>
            <a:noFill/>
          </a:ln>
        </p:spPr>
      </p:pic>
      <p:pic>
        <p:nvPicPr>
          <p:cNvPr id="207" name="Google Shape;207;p23"/>
          <p:cNvPicPr preferRelativeResize="0"/>
          <p:nvPr/>
        </p:nvPicPr>
        <p:blipFill rotWithShape="1">
          <a:blip r:embed="rId4">
            <a:alphaModFix/>
          </a:blip>
          <a:srcRect b="0" l="60094" r="0" t="0"/>
          <a:stretch/>
        </p:blipFill>
        <p:spPr>
          <a:xfrm>
            <a:off x="2128500" y="2732475"/>
            <a:ext cx="1989899" cy="2130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Few more examples</a:t>
            </a:r>
            <a:endParaRPr/>
          </a:p>
        </p:txBody>
      </p:sp>
      <p:pic>
        <p:nvPicPr>
          <p:cNvPr id="213" name="Google Shape;213;p24"/>
          <p:cNvPicPr preferRelativeResize="0"/>
          <p:nvPr/>
        </p:nvPicPr>
        <p:blipFill>
          <a:blip r:embed="rId3">
            <a:alphaModFix/>
          </a:blip>
          <a:stretch>
            <a:fillRect/>
          </a:stretch>
        </p:blipFill>
        <p:spPr>
          <a:xfrm>
            <a:off x="152400" y="1170125"/>
            <a:ext cx="5253842" cy="38209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