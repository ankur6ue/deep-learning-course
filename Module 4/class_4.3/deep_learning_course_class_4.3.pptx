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63C4A0-2D21-4C22-A377-3EAC2281FC8A}">
  <a:tblStyle styleId="{C063C4A0-2D21-4C22-A377-3EAC2281FC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3ecbe50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3ecbe50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3ce6279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3ce6279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22394a0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22394a0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227e9aa2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227e9aa2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ff842e0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ff842e0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3ce6279a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3ce6279a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1f4cc78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1f4cc78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2fdfcd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2fdfcd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2fdfcd0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2fdfcd0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227e9aa2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227e9aa2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f4cc78c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1f4cc78c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227e9aa2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227e9aa2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227e9aa2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227e9aa2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227e9aa2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227e9aa2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227e9aa2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227e9aa2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000"/>
              <a:t>Information Retrieval</a:t>
            </a:r>
            <a:endParaRPr sz="3000"/>
          </a:p>
          <a:p>
            <a:pPr indent="0" lvl="0" marL="0" rtl="0" algn="ctr">
              <a:spcBef>
                <a:spcPts val="0"/>
              </a:spcBef>
              <a:spcAft>
                <a:spcPts val="0"/>
              </a:spcAft>
              <a:buNone/>
            </a:pPr>
            <a:r>
              <a:rPr lang="en" sz="2100"/>
              <a:t>Set/String Similarity, MinHash &amp; LSH</a:t>
            </a:r>
            <a:endParaRPr sz="2100"/>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4.3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Agenda</a:t>
            </a:r>
            <a:endParaRPr/>
          </a:p>
        </p:txBody>
      </p:sp>
      <p:sp>
        <p:nvSpPr>
          <p:cNvPr id="61" name="Google Shape;61;p14"/>
          <p:cNvSpPr txBox="1"/>
          <p:nvPr>
            <p:ph idx="1" type="body"/>
          </p:nvPr>
        </p:nvSpPr>
        <p:spPr>
          <a:xfrm>
            <a:off x="311700" y="1293225"/>
            <a:ext cx="8520600" cy="3275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IR problem setup and evaluation</a:t>
            </a:r>
            <a:endParaRPr/>
          </a:p>
          <a:p>
            <a:pPr indent="-342900" lvl="0" marL="457200" rtl="0" algn="l">
              <a:spcBef>
                <a:spcPts val="0"/>
              </a:spcBef>
              <a:spcAft>
                <a:spcPts val="0"/>
              </a:spcAft>
              <a:buSzPts val="1800"/>
              <a:buChar char="-"/>
            </a:pPr>
            <a:r>
              <a:rPr lang="en"/>
              <a:t>Lexical Retrieval and Classic Sparse Indices</a:t>
            </a:r>
            <a:endParaRPr/>
          </a:p>
          <a:p>
            <a:pPr indent="-342900" lvl="0" marL="457200" rtl="0" algn="l">
              <a:spcBef>
                <a:spcPts val="0"/>
              </a:spcBef>
              <a:spcAft>
                <a:spcPts val="0"/>
              </a:spcAft>
              <a:buSzPts val="1800"/>
              <a:buChar char="-"/>
            </a:pPr>
            <a:r>
              <a:rPr b="1" lang="en"/>
              <a:t>Set/String Similarity</a:t>
            </a:r>
            <a:endParaRPr b="1"/>
          </a:p>
          <a:p>
            <a:pPr indent="-342900" lvl="1" marL="914400" rtl="0" algn="l">
              <a:spcBef>
                <a:spcPts val="0"/>
              </a:spcBef>
              <a:spcAft>
                <a:spcPts val="0"/>
              </a:spcAft>
              <a:buSzPts val="1800"/>
              <a:buChar char="-"/>
            </a:pPr>
            <a:r>
              <a:rPr b="1" lang="en"/>
              <a:t>Minhash</a:t>
            </a:r>
            <a:endParaRPr b="1"/>
          </a:p>
          <a:p>
            <a:pPr indent="-342900" lvl="1" marL="914400" rtl="0" algn="l">
              <a:spcBef>
                <a:spcPts val="0"/>
              </a:spcBef>
              <a:spcAft>
                <a:spcPts val="0"/>
              </a:spcAft>
              <a:buSzPts val="1800"/>
              <a:buChar char="-"/>
            </a:pPr>
            <a:r>
              <a:rPr b="1" lang="en"/>
              <a:t>LSH  </a:t>
            </a:r>
            <a:r>
              <a:rPr b="1" lang="en" sz="1800"/>
              <a:t> </a:t>
            </a:r>
            <a:endParaRPr b="1"/>
          </a:p>
          <a:p>
            <a:pPr indent="-342900" lvl="0" marL="457200" rtl="0" algn="l">
              <a:spcBef>
                <a:spcPts val="0"/>
              </a:spcBef>
              <a:spcAft>
                <a:spcPts val="0"/>
              </a:spcAft>
              <a:buSzPts val="1800"/>
              <a:buChar char="-"/>
            </a:pPr>
            <a:r>
              <a:rPr lang="en"/>
              <a:t>Semantic Similarity and Dense Retrieval</a:t>
            </a:r>
            <a:endParaRPr/>
          </a:p>
          <a:p>
            <a:pPr indent="-342900" lvl="0" marL="457200" rtl="0" algn="l">
              <a:spcBef>
                <a:spcPts val="0"/>
              </a:spcBef>
              <a:spcAft>
                <a:spcPts val="0"/>
              </a:spcAft>
              <a:buSzPts val="1800"/>
              <a:buChar char="-"/>
            </a:pPr>
            <a:r>
              <a:rPr lang="en"/>
              <a:t>Indexing for Fast ANN</a:t>
            </a:r>
            <a:endParaRPr/>
          </a:p>
          <a:p>
            <a:pPr indent="-317500" lvl="1" marL="914400" rtl="0" algn="l">
              <a:spcBef>
                <a:spcPts val="0"/>
              </a:spcBef>
              <a:spcAft>
                <a:spcPts val="0"/>
              </a:spcAft>
              <a:buSzPts val="1400"/>
              <a:buChar char="-"/>
            </a:pPr>
            <a:r>
              <a:rPr lang="en"/>
              <a:t>HNSW, IVF, PQ</a:t>
            </a:r>
            <a:endParaRPr/>
          </a:p>
          <a:p>
            <a:pPr indent="-342900" lvl="0" marL="457200" rtl="0" algn="l">
              <a:spcBef>
                <a:spcPts val="0"/>
              </a:spcBef>
              <a:spcAft>
                <a:spcPts val="0"/>
              </a:spcAft>
              <a:buSzPts val="1800"/>
              <a:buChar char="-"/>
            </a:pPr>
            <a:r>
              <a:rPr lang="en"/>
              <a:t>Sparse Neural Retrieval</a:t>
            </a:r>
            <a:endParaRPr/>
          </a:p>
          <a:p>
            <a:pPr indent="-317500" lvl="1" marL="914400" rtl="0" algn="l">
              <a:spcBef>
                <a:spcPts val="0"/>
              </a:spcBef>
              <a:spcAft>
                <a:spcPts val="0"/>
              </a:spcAft>
              <a:buSzPts val="1400"/>
              <a:buChar char="-"/>
            </a:pPr>
            <a:r>
              <a:rPr lang="en"/>
              <a:t>Splade, Hybrid search</a:t>
            </a:r>
            <a:endParaRPr/>
          </a:p>
          <a:p>
            <a:pPr indent="-342900" lvl="0" marL="457200" rtl="0" algn="l">
              <a:spcBef>
                <a:spcPts val="0"/>
              </a:spcBef>
              <a:spcAft>
                <a:spcPts val="0"/>
              </a:spcAft>
              <a:buSzPts val="1800"/>
              <a:buChar char="-"/>
            </a:pPr>
            <a:r>
              <a:rPr lang="en"/>
              <a:t>Rank fusion and re-ranking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Preread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Locality Sensitive Hashing 1: </a:t>
            </a:r>
            <a:r>
              <a:rPr lang="en"/>
              <a:t>https://web.stanford.edu/class/cs246/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Beyond exact term matching..</a:t>
            </a:r>
            <a:endParaRPr/>
          </a:p>
        </p:txBody>
      </p:sp>
      <p:sp>
        <p:nvSpPr>
          <p:cNvPr id="73" name="Google Shape;73;p16"/>
          <p:cNvSpPr txBox="1"/>
          <p:nvPr>
            <p:ph idx="1" type="body"/>
          </p:nvPr>
        </p:nvSpPr>
        <p:spPr>
          <a:xfrm>
            <a:off x="346000" y="1163438"/>
            <a:ext cx="8520600" cy="232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So far, our document similarity measures TF-IDF, BM25 etc are based on exact string matching. Practical applications require more fuzziness, at the word level--catch words that are very similar, but not identical, and at the document level--detect documents that are near duplicates</a:t>
            </a:r>
            <a:endParaRPr sz="1500"/>
          </a:p>
          <a:p>
            <a:pPr indent="0" lvl="0" marL="0" rtl="0" algn="l">
              <a:spcBef>
                <a:spcPts val="1200"/>
              </a:spcBef>
              <a:spcAft>
                <a:spcPts val="0"/>
              </a:spcAft>
              <a:buNone/>
            </a:pPr>
            <a:r>
              <a:rPr lang="en" sz="1500"/>
              <a:t>Need measures of “how close” two strings/sets are</a:t>
            </a:r>
            <a:endParaRPr sz="1500"/>
          </a:p>
          <a:p>
            <a:pPr indent="0" lvl="0" marL="0" rtl="0" algn="l">
              <a:spcBef>
                <a:spcPts val="1200"/>
              </a:spcBef>
              <a:spcAft>
                <a:spcPts val="1200"/>
              </a:spcAft>
              <a:buNone/>
            </a:pPr>
            <a:r>
              <a:rPr lang="en" sz="1500"/>
              <a:t>Let’s first consider string matching, then set matching.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Approximate string matching</a:t>
            </a:r>
            <a:endParaRPr/>
          </a:p>
        </p:txBody>
      </p:sp>
      <p:sp>
        <p:nvSpPr>
          <p:cNvPr id="79" name="Google Shape;79;p17"/>
          <p:cNvSpPr txBox="1"/>
          <p:nvPr>
            <p:ph idx="1" type="body"/>
          </p:nvPr>
        </p:nvSpPr>
        <p:spPr>
          <a:xfrm>
            <a:off x="371725" y="161880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b="1" lang="en" sz="1500"/>
              <a:t>Edit distance:</a:t>
            </a:r>
            <a:r>
              <a:rPr lang="en" sz="1500"/>
              <a:t> minimum single-character edits (addition, deletion, substitutions) required to transform one string to another</a:t>
            </a:r>
            <a:endParaRPr sz="1500"/>
          </a:p>
          <a:p>
            <a:pPr indent="-298450" lvl="1" marL="914400" rtl="0" algn="l">
              <a:spcBef>
                <a:spcPts val="0"/>
              </a:spcBef>
              <a:spcAft>
                <a:spcPts val="0"/>
              </a:spcAft>
              <a:buSzPts val="1100"/>
              <a:buChar char="-"/>
            </a:pPr>
            <a:r>
              <a:rPr lang="en" sz="1100"/>
              <a:t>s1=”sitting”, s2=”kitten”. s-&gt;k, i-&gt;e, add g. Edit distance = 3. Efficiently calculated using Dynamic Programming </a:t>
            </a:r>
            <a:endParaRPr sz="1100"/>
          </a:p>
          <a:p>
            <a:pPr indent="-323850" lvl="0" marL="457200" rtl="0" algn="l">
              <a:spcBef>
                <a:spcPts val="0"/>
              </a:spcBef>
              <a:spcAft>
                <a:spcPts val="0"/>
              </a:spcAft>
              <a:buSzPts val="1500"/>
              <a:buChar char="-"/>
            </a:pPr>
            <a:r>
              <a:rPr b="1" lang="en" sz="1500"/>
              <a:t>Longest Common Subsequence (LCS)</a:t>
            </a:r>
            <a:r>
              <a:rPr lang="en" sz="1500"/>
              <a:t> eg., “itt” for above example</a:t>
            </a:r>
            <a:endParaRPr sz="1500"/>
          </a:p>
          <a:p>
            <a:pPr indent="-323850" lvl="0" marL="457200" rtl="0" algn="l">
              <a:spcBef>
                <a:spcPts val="0"/>
              </a:spcBef>
              <a:spcAft>
                <a:spcPts val="0"/>
              </a:spcAft>
              <a:buSzPts val="1500"/>
              <a:buChar char="-"/>
            </a:pPr>
            <a:r>
              <a:rPr b="1" lang="en" sz="1500"/>
              <a:t>Jaccard distance</a:t>
            </a:r>
            <a:r>
              <a:rPr lang="en" sz="1500"/>
              <a:t> (1-IoU) between character n-grams</a:t>
            </a:r>
            <a:endParaRPr sz="1500"/>
          </a:p>
          <a:p>
            <a:pPr indent="-323850" lvl="1" marL="914400" rtl="0" algn="l">
              <a:spcBef>
                <a:spcPts val="0"/>
              </a:spcBef>
              <a:spcAft>
                <a:spcPts val="0"/>
              </a:spcAft>
              <a:buSzPts val="1500"/>
              <a:buChar char="-"/>
            </a:pPr>
            <a:r>
              <a:rPr lang="en" sz="1500"/>
              <a:t>3-grams (s1): {sit,itt, tti, tin, ing}, 3-grams (s2): {kit, itt, tte, ten}</a:t>
            </a:r>
            <a:endParaRPr sz="1500"/>
          </a:p>
          <a:p>
            <a:pPr indent="-323850" lvl="1" marL="914400" rtl="0" algn="l">
              <a:spcBef>
                <a:spcPts val="0"/>
              </a:spcBef>
              <a:spcAft>
                <a:spcPts val="0"/>
              </a:spcAft>
              <a:buSzPts val="1500"/>
              <a:buChar char="-"/>
            </a:pPr>
            <a:r>
              <a:rPr lang="en" sz="1500"/>
              <a:t>Jaccard distance: 1-⅛=7/8 </a:t>
            </a:r>
            <a:endParaRPr sz="1500"/>
          </a:p>
          <a:p>
            <a:pPr indent="-323850" lvl="0" marL="457200" rtl="0" algn="l">
              <a:spcBef>
                <a:spcPts val="0"/>
              </a:spcBef>
              <a:spcAft>
                <a:spcPts val="0"/>
              </a:spcAft>
              <a:buSzPts val="1500"/>
              <a:buChar char="-"/>
            </a:pPr>
            <a:r>
              <a:rPr b="1" lang="en" sz="1500"/>
              <a:t>Phonetic algorithms:</a:t>
            </a:r>
            <a:r>
              <a:rPr lang="en" sz="1500"/>
              <a:t> match words based on how they sound in a particular language, regardless of spelling. Eg., soundex </a:t>
            </a:r>
            <a:endParaRPr sz="1500"/>
          </a:p>
          <a:p>
            <a:pPr indent="-298450" lvl="1" marL="914400" rtl="0" algn="l">
              <a:spcBef>
                <a:spcPts val="0"/>
              </a:spcBef>
              <a:spcAft>
                <a:spcPts val="0"/>
              </a:spcAft>
              <a:buSzPts val="1100"/>
              <a:buChar char="-"/>
            </a:pPr>
            <a:r>
              <a:rPr lang="en" sz="1100"/>
              <a:t>“Smith” -&gt; S530, “Smyth” -&gt; s530 </a:t>
            </a:r>
            <a:endParaRPr sz="1100"/>
          </a:p>
        </p:txBody>
      </p:sp>
      <p:sp>
        <p:nvSpPr>
          <p:cNvPr id="80" name="Google Shape;80;p17"/>
          <p:cNvSpPr txBox="1"/>
          <p:nvPr/>
        </p:nvSpPr>
        <p:spPr>
          <a:xfrm>
            <a:off x="406300" y="1131200"/>
            <a:ext cx="477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How similar are two strings? </a:t>
            </a:r>
            <a:endParaRPr sz="1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 matching</a:t>
            </a:r>
            <a:endParaRPr/>
          </a:p>
        </p:txBody>
      </p:sp>
      <p:sp>
        <p:nvSpPr>
          <p:cNvPr id="86" name="Google Shape;86;p18"/>
          <p:cNvSpPr txBox="1"/>
          <p:nvPr/>
        </p:nvSpPr>
        <p:spPr>
          <a:xfrm>
            <a:off x="406300" y="1131200"/>
            <a:ext cx="5362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How similar are two documents?</a:t>
            </a:r>
            <a:endParaRPr sz="1500">
              <a:solidFill>
                <a:schemeClr val="dk2"/>
              </a:solidFill>
            </a:endParaRPr>
          </a:p>
          <a:p>
            <a:pPr indent="0" lvl="0" marL="0" rtl="0" algn="l">
              <a:spcBef>
                <a:spcPts val="0"/>
              </a:spcBef>
              <a:spcAft>
                <a:spcPts val="0"/>
              </a:spcAft>
              <a:buNone/>
            </a:pPr>
            <a:r>
              <a:rPr lang="en" sz="1500">
                <a:solidFill>
                  <a:schemeClr val="dk2"/>
                </a:solidFill>
              </a:rPr>
              <a:t>d1: deep learning neural networks</a:t>
            </a:r>
            <a:endParaRPr sz="1500">
              <a:solidFill>
                <a:schemeClr val="dk2"/>
              </a:solidFill>
            </a:endParaRPr>
          </a:p>
          <a:p>
            <a:pPr indent="0" lvl="0" marL="0" rtl="0" algn="l">
              <a:spcBef>
                <a:spcPts val="0"/>
              </a:spcBef>
              <a:spcAft>
                <a:spcPts val="0"/>
              </a:spcAft>
              <a:buNone/>
            </a:pPr>
            <a:r>
              <a:rPr lang="en" sz="1500">
                <a:solidFill>
                  <a:schemeClr val="dk2"/>
                </a:solidFill>
              </a:rPr>
              <a:t>d2: deep learning models</a:t>
            </a:r>
            <a:endParaRPr sz="1500">
              <a:solidFill>
                <a:schemeClr val="dk2"/>
              </a:solidFill>
            </a:endParaRPr>
          </a:p>
          <a:p>
            <a:pPr indent="0" lvl="0" marL="0" rtl="0" algn="l">
              <a:spcBef>
                <a:spcPts val="0"/>
              </a:spcBef>
              <a:spcAft>
                <a:spcPts val="0"/>
              </a:spcAft>
              <a:buNone/>
            </a:pPr>
            <a:r>
              <a:rPr lang="en" sz="1500">
                <a:solidFill>
                  <a:schemeClr val="dk2"/>
                </a:solidFill>
              </a:rPr>
              <a:t>d3: pizza pasta tiramisu</a:t>
            </a:r>
            <a:endParaRPr sz="1500">
              <a:solidFill>
                <a:schemeClr val="dk2"/>
              </a:solidFill>
            </a:endParaRPr>
          </a:p>
          <a:p>
            <a:pPr indent="0" lvl="0" marL="0" rtl="0" algn="l">
              <a:spcBef>
                <a:spcPts val="0"/>
              </a:spcBef>
              <a:spcAft>
                <a:spcPts val="0"/>
              </a:spcAft>
              <a:buNone/>
            </a:pPr>
            <a:r>
              <a:rPr lang="en" sz="1500">
                <a:solidFill>
                  <a:schemeClr val="dk2"/>
                </a:solidFill>
              </a:rPr>
              <a:t>Query: deep neural models</a:t>
            </a:r>
            <a:endParaRPr sz="1500">
              <a:solidFill>
                <a:schemeClr val="dk2"/>
              </a:solidFill>
            </a:endParaRPr>
          </a:p>
          <a:p>
            <a:pPr indent="0" lvl="0" marL="0" rtl="0" algn="l">
              <a:spcBef>
                <a:spcPts val="0"/>
              </a:spcBef>
              <a:spcAft>
                <a:spcPts val="0"/>
              </a:spcAft>
              <a:buNone/>
            </a:pPr>
            <a:r>
              <a:rPr lang="en" sz="1500">
                <a:solidFill>
                  <a:schemeClr val="dk2"/>
                </a:solidFill>
              </a:rPr>
              <a:t>A good way of measuring similarity is </a:t>
            </a:r>
            <a:r>
              <a:rPr b="1" lang="en" sz="1500">
                <a:solidFill>
                  <a:schemeClr val="dk2"/>
                </a:solidFill>
              </a:rPr>
              <a:t>overlap</a:t>
            </a:r>
            <a:r>
              <a:rPr lang="en" sz="1500">
                <a:solidFill>
                  <a:schemeClr val="dk2"/>
                </a:solidFill>
              </a:rPr>
              <a:t>. </a:t>
            </a:r>
            <a:endParaRPr sz="15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Measuring Overlap</a:t>
            </a:r>
            <a:endParaRPr/>
          </a:p>
        </p:txBody>
      </p:sp>
      <p:pic>
        <p:nvPicPr>
          <p:cNvPr descr="{&quot;aid&quot;:null,&quot;code&quot;:&quot;\\begin{gather*}\n{\\text{Given}\\;\\text{two}\\;\\text{sets}\\;\\text{A}\\;\\text{and}\\;\\text{B,}}\\\\\n{Jaccard\\left(A,B\\right)=\\frac{A\\cap B}{A\\cup B}}\\\\\n{\\text{Example:}}\\\\\n{A:\\,\\left\\{1,4,6\\right\\}}\\\\\n{B:\\left\\{4,5,7\\right\\}}\\\\\n{A\\cap B:\\,\\left\\{4\\right\\}}\\\\\n{A\\cup B:\\,\\left\\{1,4,5,6,7\\right\\}}\\\\\n{Jaccard\\left(A,B\\right)=1/5}\\\\\n{\\text{Complexity:}\\;\\text{If}\\;\\text{average}\\;\\text{document}\\;\\text{length}\\;\\text{is}\\;\\text{k,}\\;\\text{and}\\;\\text{I}\\;\\text{want}\\;\\text{to}\\;\\text{compute}}\\\\\n{\\text{Jaccard}\\;\\text{between}\\;\\text{a}\\;\\text{query}\\;\\text{of}\\;\\text{length}\\;\\text{k}\\;\\text{and}\\;\\text{corpus}\\;\\text{of}\\;\\text{size}\\;\\text{N,}}\\\\\n{\\text{Brute}\\;\\text{force}\\;\\text{complexity}\\;\\text{(online):}\\;O\\left(k^{2}N\\right)}\\\\\n{\\left(\\text{For}\\;\\text{each}\\;\\text{document,}\\;\\text{we}\\;\\text{compare}\\;\\text{ever}\\text{y}\\;\\text{element}\\;\\text{of}\\;\\text{A}\\;\\text{to}\\;\\text{every}\\;\\text{element}\\;\\text{of}\\;\\text{B}\\right)}\\\\\n{}\\\\\n{\\text{Complexity}\\;\\text{with}\\;\\text{optimizations}\\left(\\text{sorting,}\\;\\text{hashing}\\right),\\,\\text{not}\\;\\text{including}\\;\\text{preprocessing:}}\\\\\n{\\text{}O\\left(kN\\right)}\\\\\n{\\left(\\text{We}\\;\\text{sort}\\;\\text{each}\\;\\text{doc}\\;\\text{during}\\;\\text{pre-processing.}\\;\\text{At}\\;\\text{query}\\;\\text{time,}\\;\\text{we}\\;\\text{scan-merge}\\;\\text{each}\\;\\text{sorted}\\;\\text{doc}\\;\\text{and}\\;\\text{query}\\right)}\\\\\n{\\text{Can}\\;\\text{we}\\;\\text{do}\\;\\text{better}\\;\\text{b}\\text{y}\\;\\text{trading-off}\\;\\text{computational}\\;\\text{complexity}\\;\\text{vs}\\;\\text{accuracy?}}\\\\\n{\\text{Method}\\;\\text{1:}\\;\\text{Minhash}}\\\\\n{\\text{Method}\\;\\text{2:}\\;\\text{LSH}\\;\\text{(Locality}\\;\\text{Sensitive}\\;\\text{Hashing)}}\t\n\\end{gather*}&quot;,&quot;backgroundColor&quot;:&quot;#FFFFFF&quot;,&quot;backgroundColorModified&quot;:false,&quot;type&quot;:&quot;gather*&quot;,&quot;id&quot;:&quot;1&quot;,&quot;font&quot;:{&quot;family&quot;:&quot;Arial&quot;,&quot;color&quot;:&quot;#000000&quot;,&quot;size&quot;:12},&quot;ts&quot;:1770948624915,&quot;cs&quot;:&quot;oagrm5vEVbxcsBrS7GhU/g==&quot;,&quot;size&quot;:{&quot;width&quot;:801,&quot;height&quot;:482.5}}" id="92" name="Google Shape;92;p19"/>
          <p:cNvPicPr preferRelativeResize="0"/>
          <p:nvPr/>
        </p:nvPicPr>
        <p:blipFill>
          <a:blip r:embed="rId3">
            <a:alphaModFix/>
          </a:blip>
          <a:stretch>
            <a:fillRect/>
          </a:stretch>
        </p:blipFill>
        <p:spPr>
          <a:xfrm>
            <a:off x="867691" y="522425"/>
            <a:ext cx="7629525" cy="4595813"/>
          </a:xfrm>
          <a:prstGeom prst="rect">
            <a:avLst/>
          </a:prstGeom>
          <a:noFill/>
          <a:ln>
            <a:noFill/>
          </a:ln>
        </p:spPr>
      </p:pic>
      <p:sp>
        <p:nvSpPr>
          <p:cNvPr id="93" name="Google Shape;93;p19"/>
          <p:cNvSpPr/>
          <p:nvPr/>
        </p:nvSpPr>
        <p:spPr>
          <a:xfrm>
            <a:off x="6357950" y="791775"/>
            <a:ext cx="2720700" cy="1262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type&quot;:&quot;gather*&quot;,&quot;code&quot;:&quot;\\begin{gather*}\n{Note:}\\\\\n{\\text{Jaccard}\\;\\text{Similarity}\\;\\text{(A,B)}=\\frac{A\\cap B}{A\\cup B}}\\\\\n{\\text{Jaccard}\\;\\text{Distance}\\;\\text{(A,B)}=1-\\frac{A\\cap B}{A\\cup B}}\t\n\\end{gather*}&quot;,&quot;backgroundColor&quot;:&quot;#FFFFFF&quot;,&quot;aid&quot;:null,&quot;backgroundColorModified&quot;:false,&quot;font&quot;:{&quot;color&quot;:&quot;#000000&quot;,&quot;family&quot;:&quot;Arial&quot;,&quot;size&quot;:12},&quot;id&quot;:&quot;2&quot;,&quot;ts&quot;:1770987586553,&quot;cs&quot;:&quot;LIZPjHrIHudfj9ipermkkg==&quot;,&quot;size&quot;:{&quot;width&quot;:303.75,&quot;height&quot;:107.75}}" id="94" name="Google Shape;94;p19"/>
          <p:cNvPicPr preferRelativeResize="0"/>
          <p:nvPr/>
        </p:nvPicPr>
        <p:blipFill>
          <a:blip r:embed="rId4">
            <a:alphaModFix/>
          </a:blip>
          <a:stretch>
            <a:fillRect/>
          </a:stretch>
        </p:blipFill>
        <p:spPr>
          <a:xfrm>
            <a:off x="6530575" y="922750"/>
            <a:ext cx="2411025" cy="855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Minhash</a:t>
            </a:r>
            <a:endParaRPr/>
          </a:p>
        </p:txBody>
      </p:sp>
      <p:pic>
        <p:nvPicPr>
          <p:cNvPr descr="{&quot;aid&quot;:null,&quot;backgroundColor&quot;:&quot;#FFFFFF&quot;,&quot;font&quot;:{&quot;size&quot;:12,&quot;color&quot;:&quot;#000000&quot;,&quot;family&quot;:&quot;Arial&quot;},&quot;backgroundColorModified&quot;:false,&quot;id&quot;:&quot;2&quot;,&quot;code&quot;:&quot;\\begin{gather*}\n{\\text{Minhash}}\\\\\n{\\text{Concepts:}}\\\\\n{\\text{Universe:}\\;\\text{Some}\\;\\text{comprehensive}\\;\\text{set}\\;\\text{of}\\;\\text{elements}\\;\\text{\\{1,2,3,4,5,6,7,8\\}}}\\\\\n{\\pi:\\,\\text{some}\\;\\text{permutation}\\;\\text{of}\\;\\text{elements}\\;\\text{of}\\;\\text{the}\\;\\text{universe:}}\\\\\n{\\pi:\\,\\left\\{3,7,1,2,\\,6,5,4,8\\right\\}}\\\\\n{\\min_{\\pi}\\left(A\\right):\\,\\text{element}\\;\\text{of}\\;\\text{A}\\;\\text{that}\\;\\text{first}\\;\\text{appears}\\;\\text{in}\\;\\pi}\\\\\n{\\min_{\\pi}\\left(B\\right):\\,\\text{element}\\;\\text{of}\\;\\text{B}\\;\\text{that}\\;\\text{first}\\;\\text{appears}\\;\\text{in}\\;\\pi}\\\\\n{\\text{Eg}\\,A:\\left\\{1,4,6\\right\\},\\,B:\\,\\left\\{4,5,7\\right\\}}\\\\\n{\\text{Then}}\\\\\n{\\min_{\\pi}\\left(A\\right)=1,\\,\\min_{\\pi}\\left(B\\right)=7}\\\\\n{\\text{Key}\\;\\text{idea}\\;\\text{behind}\\;\\text{Minhash:}}\\\\\n{\\Pr\\left[\\min_{\\pi}\\left(A\\right)=\\min_{\\pi}\\left(B\\right)\\right]=\\frac{\\left|A\\cap B\\right|}{\\left|A\\cup B\\right|}}\t\n\\end{gather*}&quot;,&quot;type&quot;:&quot;gather*&quot;,&quot;ts&quot;:1766368937866,&quot;cs&quot;:&quot;VK3+SPbEirh3dHtJaamKQw==&quot;,&quot;size&quot;:{&quot;width&quot;:509.5,&quot;height&quot;:339}}" id="100" name="Google Shape;100;p20"/>
          <p:cNvPicPr preferRelativeResize="0"/>
          <p:nvPr/>
        </p:nvPicPr>
        <p:blipFill>
          <a:blip r:embed="rId3">
            <a:alphaModFix/>
          </a:blip>
          <a:stretch>
            <a:fillRect/>
          </a:stretch>
        </p:blipFill>
        <p:spPr>
          <a:xfrm>
            <a:off x="1436925" y="1202188"/>
            <a:ext cx="4852988" cy="322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Minhash</a:t>
            </a:r>
            <a:endParaRPr/>
          </a:p>
        </p:txBody>
      </p:sp>
      <p:pic>
        <p:nvPicPr>
          <p:cNvPr descr="{&quot;type&quot;:&quot;gather*&quot;,&quot;aid&quot;:null,&quot;id&quot;:&quot;3&quot;,&quot;font&quot;:{&quot;color&quot;:&quot;#595959&quot;,&quot;family&quot;:&quot;Arial&quot;,&quot;size&quot;:12},&quot;backgroundColorModified&quot;:false,&quot;backgroundColor&quot;:&quot;#FFFFFF&quot;,&quot;code&quot;:&quot;\\begin{gather*}\n{\\text{In}\\;\\text{practice,}\\;\\text{we}\\;\\text{don't}\\;\\text{compute}\\;\\text{permutations.}\\;\\;}\\\\\n{\\text{Instead,}\\;\\text{we}\\;\\text{apply}\\;\\text{multiple}\\;\\text{simple}\\;\\text{(usually}\\;\\text{linear)}\\;\\text{hash}\\;\\text{functions}\\,\\text{to}\\;\\text{each}\\;\\text{element}\\;\\text{of}\\;\\text{A}\\;\\text{and}\\;\\text{B}}\\\\\n{\\text{Let}\\;\\text{a}\\;\\text{hash}\\;\\text{function}\\;\\text{be}\\;h_{i}}\\\\\n{\\text{We}\\;\\text{compute}\\;}\\\\\n{\\text{Minhash}_{i}\\left(A\\right)=\\min\\left(h_{i}\\left(x\\right)\\right)_{x\\in A}}\\\\\n{\\text{The}\\;\\text{hash}\\;\\text{functions}\\;\\text{act}\\;\\text{as}\\;\\text{applying}\\;\\text{a}\\;\\text{random}\\;\\text{permutation}}\\\\\n{\\text{Eg.,}\\;\\text{let}\\;\\text{A=\\{50,}\\;\\text{5,}\\;\\text{6,20\\},}\\;\\text{B=\\{45,5,}8,30\\text{\\}}}\\\\\n{\\text{Let}\\;h_{i}\\left(x\\right)=\\left(ax+b\\right)\\bmod\\left(p\\right)\\,\\text{with}\\;a=2,\\,b\\,=3,\\,p=103}\\\\\n{\\text{Then}\\;\\min\\left(h_{i}\\left(x\\right)\\right)_{x\\in A}=\\min\\left(0,13,15,43\\right)=0}\\\\\n{\\text{Similarly}}\\\\\n{\\min\\left(h_{i}\\left(x\\right)\\right)_{x\\in B}=\\min\\left(93,13,19,63\\right)=13}\\\\\n{\\text{So,}\\;\\min\\left(h_{i}\\left(x\\right)\\right)_{x\\in B}\\,\\neq\\min\\left(h_{i}\\left(x\\right)\\right)_{x\\in A}}\\\\\n{\\text{For}\\;\\text{a}\\;\\text{different}\\;\\text{hash}\\;\\text{function..}\\;\\text{a=3,}\\;\\text{b=4}}\\\\\n{\\min\\left(h_{i}\\left(x\\right)\\right)_{x\\in B}\\,=\\min\\left(h_{i}\\left(x\\right)\\right)_{x\\in A}}\t\n\\end{gather*}&quot;,&quot;ts&quot;:1766414828086,&quot;cs&quot;:&quot;hcd5xXRqSW88nPxqjgDFsw==&quot;,&quot;size&quot;:{&quot;width&quot;:748.5,&quot;height&quot;:341}}" id="106" name="Google Shape;106;p21"/>
          <p:cNvPicPr preferRelativeResize="0"/>
          <p:nvPr/>
        </p:nvPicPr>
        <p:blipFill>
          <a:blip r:embed="rId3">
            <a:alphaModFix/>
          </a:blip>
          <a:stretch>
            <a:fillRect/>
          </a:stretch>
        </p:blipFill>
        <p:spPr>
          <a:xfrm>
            <a:off x="1274077" y="989475"/>
            <a:ext cx="7129463" cy="324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Minhash</a:t>
            </a:r>
            <a:endParaRPr/>
          </a:p>
        </p:txBody>
      </p:sp>
      <p:pic>
        <p:nvPicPr>
          <p:cNvPr descr="{&quot;code&quot;:&quot;\\begin{gather*}\n{\\text{Key}\\;\\text{result:}}\\\\\n{\\Pr\\left[\\text{MinHash}\\left(A\\right)=\\text{MinHash}\\left(B\\right)\\right]=J\\left(A,B\\right)}\\\\\n{\\text{We}\\;\\text{can}\\;\\text{approximate}\\;\\text{this}\\;\\text{probability}\\;\\text{}}\\\\\n{\\text{b}\\text{y}\\;\\text{using}\\;\\text{a}\\;\\text{number}\\;\\text{of}\\;\\text{simple}\\;\\text{hash}\\;\\text{functions}\\;\\text{and}\\;\\text{taking}\\;\\text{average}}\\\\\n{\\Pr\\left[\\text{MinHash}\\left(A\\right)=\\text{MinHash}\\left(B\\right)\\right]=\\frac{1}{k}\\sum_{i=1}^{k}\\mathbf{1}\\left[\\text{MinHash}_{i}\\left(A\\right)=\\text{MinHash}_{i}\\left(B\\right)\\right]}\\\\\n{\\text{For}\\;\\text{a}\\;\\text{random}\\;\\text{hash}\\;\\text{function,}\\,\\text{define}\\;\\text{RV}}\\\\\n{X_{i}:\\mathbf{1}\\left[\\text{MinHash}_{i}\\left(A\\right)=\\text{MinHash}_{i}\\left(B\\right)\\right]}\\\\\n{\\text{Then}\\;X_{i\\,}\\sim \\text{bernoulli(p),}\\;p=J\\left(A,B\\right)}\\\\\n{\\text{Let}\\;\\text{}\\hat{J}:\\;\\frac{1}{k}\\sum_{i=1}^{k}X_{i}}\\\\\n{\\text{Then}\\;\\text{it}\\;\\text{i}\\text{s}\\;\\text{easy}\\;\\text{to}\\;\\text{show}\\;\\text{that}}\\\\\n{E\\left(\\hat{J}\\right)=p}\\\\\n{Var\\left(\\hat{J}\\right)=\\frac{J\\left(A,B\\right)\\left(1-J\\left(A,B\\right)\\right)}{k}}\\\\\n{\\text{We}\\;\\text{use}\\;\\text{the}\\;\\text{fact}\\;\\text{that}\\;Var\\left(aX\\right)=a^{2}Var\\left(X\\right)}\\\\\n{\\text{So}\\;\\hat{J}\\,\\text{is}\\;\\text{an}\\;\\text{unbiased}\\;\\text{estimator}\\;\\text{of}\\;J\\;\\text{and}\\;\\text{its}\\;\\text{variance}}\\\\\n{\\text{falls}\\;\\text{as}\\,\\text{the}\\;\\text{number}\\,\\text{of}\\;\\text{hash}\\;\\text{functions}\\;\\text{increases}}\\\\\n{}\\\\\n{}\t\n\\end{gather*}&quot;,&quot;aid&quot;:null,&quot;type&quot;:&quot;gather*&quot;,&quot;font&quot;:{&quot;size&quot;:10.5,&quot;family&quot;:&quot;Arial&quot;,&quot;color&quot;:&quot;#000000&quot;},&quot;backgroundColor&quot;:&quot;#FFFFFF&quot;,&quot;id&quot;:&quot;4&quot;,&quot;backgroundColorModified&quot;:false,&quot;ts&quot;:1770950279113,&quot;cs&quot;:&quot;n7fMHT4L8haS/S22U56Guw==&quot;,&quot;size&quot;:{&quot;width&quot;:541.5,&quot;height&quot;:415.5}}" id="112" name="Google Shape;112;p22"/>
          <p:cNvPicPr preferRelativeResize="0"/>
          <p:nvPr/>
        </p:nvPicPr>
        <p:blipFill>
          <a:blip r:embed="rId3">
            <a:alphaModFix/>
          </a:blip>
          <a:stretch>
            <a:fillRect/>
          </a:stretch>
        </p:blipFill>
        <p:spPr>
          <a:xfrm>
            <a:off x="475870" y="744974"/>
            <a:ext cx="5157788" cy="3957638"/>
          </a:xfrm>
          <a:prstGeom prst="rect">
            <a:avLst/>
          </a:prstGeom>
          <a:noFill/>
          <a:ln>
            <a:noFill/>
          </a:ln>
        </p:spPr>
      </p:pic>
      <p:sp>
        <p:nvSpPr>
          <p:cNvPr id="113" name="Google Shape;113;p22"/>
          <p:cNvSpPr txBox="1"/>
          <p:nvPr/>
        </p:nvSpPr>
        <p:spPr>
          <a:xfrm>
            <a:off x="5351450" y="4506150"/>
            <a:ext cx="3744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min_hash.py shows how min_hash approximation of J improves with number of permutations</a:t>
            </a:r>
            <a:endParaRPr sz="1200">
              <a:solidFill>
                <a:schemeClr val="dk2"/>
              </a:solidFill>
            </a:endParaRPr>
          </a:p>
        </p:txBody>
      </p:sp>
      <p:pic>
        <p:nvPicPr>
          <p:cNvPr descr="{&quot;backgroundColor&quot;:&quot;#FFFFFF&quot;,&quot;code&quot;:&quot;\\begin{gather*}\n{\\text{Complexity:}}\\\\\n{\\text{Lets}\\;\\text{say}\\;\\text{we}\\;\\text{have}\\;\\text{N}\\;\\text{docs}\\;\\text{with}\\;\\text{avg}\\;\\text{length}\\;\\text{k,}\\;\\text{query}\\;\\text{with}\\;\\text{avg}\\;\\text{length}\\;\\text{k}}\\\\\n{\\text{and}\\;\\text{h}\\;\\text{hash}\\;\\text{functions}}\\\\\n{\\text{Hash}\\;\\text{creation}\\;\\text{(offline):}\\;\\text{O(Nhk)}}\\\\\n{\\text{Hash}\\;\\text{matching}\\;\\text{(online):}\\;\\text{O(kh)}\\;\\text{+}\\;\\text{O(Nh)}}\\\\\n{\\text{Generally}\\;\\text{N}\\;\\gg\\,k,\\,\\text{and}\\;k\\,\\gg h}\\\\\n{\\text{So}\\;\\text{we}\\;\\text{saved}\\;\\text{computation}\\;\\text{at}\\;\\text{the}\\;\\text{expense}\\;\\text{of}\\;\\text{accuracy}}\\\\\n{\\text{We}\\;\\text{are}\\;\\text{still}\\;\\text{scanning}\\;\\text{through}\\;\\text{all}\\;\\text{the}\\;\\text{docs}.\\,\\text{Can}\\;\\text{we}\\;\\text{do}\\;\\text{even}\\;\\text{better?}}\t\n\\end{gather*}&quot;,&quot;font&quot;:{&quot;size&quot;:9.5,&quot;color&quot;:&quot;#000000&quot;,&quot;family&quot;:&quot;Arial&quot;},&quot;id&quot;:&quot;5&quot;,&quot;type&quot;:&quot;gather*&quot;,&quot;aid&quot;:null,&quot;backgroundColorModified&quot;:false,&quot;ts&quot;:1767293759534,&quot;cs&quot;:&quot;VU0WTwK2OfBl3cNZpeKomg==&quot;,&quot;size&quot;:{&quot;width&quot;:433.3333333333334,&quot;height&quot;:149}}" id="114" name="Google Shape;114;p22"/>
          <p:cNvPicPr preferRelativeResize="0"/>
          <p:nvPr/>
        </p:nvPicPr>
        <p:blipFill>
          <a:blip r:embed="rId4">
            <a:alphaModFix/>
          </a:blip>
          <a:stretch>
            <a:fillRect/>
          </a:stretch>
        </p:blipFill>
        <p:spPr>
          <a:xfrm>
            <a:off x="4890621" y="2278878"/>
            <a:ext cx="4127500" cy="1419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Minhash </a:t>
            </a:r>
            <a:endParaRPr/>
          </a:p>
        </p:txBody>
      </p:sp>
      <p:graphicFrame>
        <p:nvGraphicFramePr>
          <p:cNvPr id="120" name="Google Shape;120;p23"/>
          <p:cNvGraphicFramePr/>
          <p:nvPr/>
        </p:nvGraphicFramePr>
        <p:xfrm>
          <a:off x="261800" y="1653550"/>
          <a:ext cx="3000000" cy="3000000"/>
        </p:xfrm>
        <a:graphic>
          <a:graphicData uri="http://schemas.openxmlformats.org/drawingml/2006/table">
            <a:tbl>
              <a:tblPr>
                <a:noFill/>
                <a:tableStyleId>{C063C4A0-2D21-4C22-A377-3EAC2281FC8A}</a:tableStyleId>
              </a:tblPr>
              <a:tblGrid>
                <a:gridCol w="968825"/>
              </a:tblGrid>
              <a:tr h="381000">
                <a:tc>
                  <a:txBody>
                    <a:bodyPr/>
                    <a:lstStyle/>
                    <a:p>
                      <a:pPr indent="0" lvl="0" marL="0" rtl="0" algn="l">
                        <a:spcBef>
                          <a:spcPts val="0"/>
                        </a:spcBef>
                        <a:spcAft>
                          <a:spcPts val="0"/>
                        </a:spcAft>
                        <a:buNone/>
                      </a:pPr>
                      <a:r>
                        <a:rPr lang="en"/>
                        <a:t>Best</a:t>
                      </a:r>
                      <a:endParaRPr/>
                    </a:p>
                  </a:txBody>
                  <a:tcPr marT="91425" marB="91425" marR="91425" marL="91425"/>
                </a:tc>
              </a:tr>
              <a:tr h="381000">
                <a:tc>
                  <a:txBody>
                    <a:bodyPr/>
                    <a:lstStyle/>
                    <a:p>
                      <a:pPr indent="0" lvl="0" marL="0" rtl="0" algn="l">
                        <a:spcBef>
                          <a:spcPts val="0"/>
                        </a:spcBef>
                        <a:spcAft>
                          <a:spcPts val="0"/>
                        </a:spcAft>
                        <a:buNone/>
                      </a:pPr>
                      <a:r>
                        <a:rPr lang="en"/>
                        <a:t>hikes</a:t>
                      </a:r>
                      <a:endParaRPr/>
                    </a:p>
                  </a:txBody>
                  <a:tcPr marT="91425" marB="91425" marR="91425" marL="91425"/>
                </a:tc>
              </a:tr>
              <a:tr h="381000">
                <a:tc>
                  <a:txBody>
                    <a:bodyPr/>
                    <a:lstStyle/>
                    <a:p>
                      <a:pPr indent="0" lvl="0" marL="0" rtl="0" algn="l">
                        <a:spcBef>
                          <a:spcPts val="0"/>
                        </a:spcBef>
                        <a:spcAft>
                          <a:spcPts val="0"/>
                        </a:spcAft>
                        <a:buNone/>
                      </a:pPr>
                      <a:r>
                        <a:rPr lang="en"/>
                        <a:t>near</a:t>
                      </a:r>
                      <a:endParaRPr/>
                    </a:p>
                  </a:txBody>
                  <a:tcPr marT="91425" marB="91425" marR="91425" marL="91425"/>
                </a:tc>
              </a:tr>
              <a:tr h="381000">
                <a:tc>
                  <a:txBody>
                    <a:bodyPr/>
                    <a:lstStyle/>
                    <a:p>
                      <a:pPr indent="0" lvl="0" marL="0" rtl="0" algn="l">
                        <a:spcBef>
                          <a:spcPts val="0"/>
                        </a:spcBef>
                        <a:spcAft>
                          <a:spcPts val="0"/>
                        </a:spcAft>
                        <a:buNone/>
                      </a:pPr>
                      <a:r>
                        <a:rPr lang="en"/>
                        <a:t>San</a:t>
                      </a:r>
                      <a:endParaRPr/>
                    </a:p>
                  </a:txBody>
                  <a:tcPr marT="91425" marB="91425" marR="91425" marL="91425"/>
                </a:tc>
              </a:tr>
              <a:tr h="381000">
                <a:tc>
                  <a:txBody>
                    <a:bodyPr/>
                    <a:lstStyle/>
                    <a:p>
                      <a:pPr indent="0" lvl="0" marL="0" rtl="0" algn="l">
                        <a:spcBef>
                          <a:spcPts val="0"/>
                        </a:spcBef>
                        <a:spcAft>
                          <a:spcPts val="0"/>
                        </a:spcAft>
                        <a:buNone/>
                      </a:pPr>
                      <a:r>
                        <a:rPr lang="en"/>
                        <a:t>Francisco</a:t>
                      </a:r>
                      <a:endParaRPr/>
                    </a:p>
                  </a:txBody>
                  <a:tcPr marT="91425" marB="91425" marR="91425" marL="91425"/>
                </a:tc>
              </a:tr>
            </a:tbl>
          </a:graphicData>
        </a:graphic>
      </p:graphicFrame>
      <p:graphicFrame>
        <p:nvGraphicFramePr>
          <p:cNvPr id="121" name="Google Shape;121;p23"/>
          <p:cNvGraphicFramePr/>
          <p:nvPr/>
        </p:nvGraphicFramePr>
        <p:xfrm>
          <a:off x="2451984" y="1653550"/>
          <a:ext cx="3000000" cy="3000000"/>
        </p:xfrm>
        <a:graphic>
          <a:graphicData uri="http://schemas.openxmlformats.org/drawingml/2006/table">
            <a:tbl>
              <a:tblPr>
                <a:noFill/>
                <a:tableStyleId>{C063C4A0-2D21-4C22-A377-3EAC2281FC8A}</a:tableStyleId>
              </a:tblPr>
              <a:tblGrid>
                <a:gridCol w="557325"/>
              </a:tblGrid>
              <a:tr h="381000">
                <a:tc>
                  <a:txBody>
                    <a:bodyPr/>
                    <a:lstStyle/>
                    <a:p>
                      <a:pPr indent="0" lvl="0" marL="0" rtl="0" algn="l">
                        <a:spcBef>
                          <a:spcPts val="0"/>
                        </a:spcBef>
                        <a:spcAft>
                          <a:spcPts val="0"/>
                        </a:spcAft>
                        <a:buNone/>
                      </a:pPr>
                      <a:r>
                        <a:rPr lang="en"/>
                        <a:t>2</a:t>
                      </a:r>
                      <a:endParaRPr/>
                    </a:p>
                  </a:txBody>
                  <a:tcPr marT="91425" marB="91425" marR="91425" marL="91425"/>
                </a:tc>
              </a:tr>
              <a:tr h="381000">
                <a:tc>
                  <a:txBody>
                    <a:bodyPr/>
                    <a:lstStyle/>
                    <a:p>
                      <a:pPr indent="0" lvl="0" marL="0" rtl="0" algn="l">
                        <a:spcBef>
                          <a:spcPts val="0"/>
                        </a:spcBef>
                        <a:spcAft>
                          <a:spcPts val="0"/>
                        </a:spcAft>
                        <a:buNone/>
                      </a:pPr>
                      <a:r>
                        <a:rPr lang="en"/>
                        <a:t>5</a:t>
                      </a:r>
                      <a:endParaRPr/>
                    </a:p>
                  </a:txBody>
                  <a:tcPr marT="91425" marB="91425" marR="91425" marL="91425"/>
                </a:tc>
              </a:tr>
              <a:tr h="381000">
                <a:tc>
                  <a:txBody>
                    <a:bodyPr/>
                    <a:lstStyle/>
                    <a:p>
                      <a:pPr indent="0" lvl="0" marL="0" rtl="0" algn="l">
                        <a:spcBef>
                          <a:spcPts val="0"/>
                        </a:spcBef>
                        <a:spcAft>
                          <a:spcPts val="0"/>
                        </a:spcAft>
                        <a:buNone/>
                      </a:pPr>
                      <a:r>
                        <a:rPr lang="en"/>
                        <a:t>7</a:t>
                      </a:r>
                      <a:endParaRPr/>
                    </a:p>
                  </a:txBody>
                  <a:tcPr marT="91425" marB="91425" marR="91425" marL="91425"/>
                </a:tc>
              </a:tr>
              <a:tr h="381000">
                <a:tc>
                  <a:txBody>
                    <a:bodyPr/>
                    <a:lstStyle/>
                    <a:p>
                      <a:pPr indent="0" lvl="0" marL="0" rtl="0" algn="l">
                        <a:spcBef>
                          <a:spcPts val="0"/>
                        </a:spcBef>
                        <a:spcAft>
                          <a:spcPts val="0"/>
                        </a:spcAft>
                        <a:buNone/>
                      </a:pPr>
                      <a:r>
                        <a:rPr lang="en"/>
                        <a:t>10</a:t>
                      </a:r>
                      <a:endParaRPr/>
                    </a:p>
                  </a:txBody>
                  <a:tcPr marT="91425" marB="91425" marR="91425" marL="91425"/>
                </a:tc>
              </a:tr>
              <a:tr h="381000">
                <a:tc>
                  <a:txBody>
                    <a:bodyPr/>
                    <a:lstStyle/>
                    <a:p>
                      <a:pPr indent="0" lvl="0" marL="0" rtl="0" algn="l">
                        <a:spcBef>
                          <a:spcPts val="0"/>
                        </a:spcBef>
                        <a:spcAft>
                          <a:spcPts val="0"/>
                        </a:spcAft>
                        <a:buNone/>
                      </a:pPr>
                      <a:r>
                        <a:rPr lang="en"/>
                        <a:t>12</a:t>
                      </a:r>
                      <a:endParaRPr/>
                    </a:p>
                  </a:txBody>
                  <a:tcPr marT="91425" marB="91425" marR="91425" marL="91425"/>
                </a:tc>
              </a:tr>
            </a:tbl>
          </a:graphicData>
        </a:graphic>
      </p:graphicFrame>
      <p:sp>
        <p:nvSpPr>
          <p:cNvPr id="122" name="Google Shape;122;p23"/>
          <p:cNvSpPr/>
          <p:nvPr/>
        </p:nvSpPr>
        <p:spPr>
          <a:xfrm>
            <a:off x="3864984" y="1244225"/>
            <a:ext cx="557400" cy="47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h1</a:t>
            </a:r>
            <a:endParaRPr/>
          </a:p>
        </p:txBody>
      </p:sp>
      <p:sp>
        <p:nvSpPr>
          <p:cNvPr id="123" name="Google Shape;123;p23"/>
          <p:cNvSpPr/>
          <p:nvPr/>
        </p:nvSpPr>
        <p:spPr>
          <a:xfrm>
            <a:off x="3864984" y="1975550"/>
            <a:ext cx="557400" cy="47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h2</a:t>
            </a:r>
            <a:endParaRPr/>
          </a:p>
        </p:txBody>
      </p:sp>
      <p:sp>
        <p:nvSpPr>
          <p:cNvPr id="124" name="Google Shape;124;p23"/>
          <p:cNvSpPr/>
          <p:nvPr/>
        </p:nvSpPr>
        <p:spPr>
          <a:xfrm>
            <a:off x="3864984" y="3568125"/>
            <a:ext cx="557400" cy="47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hh</a:t>
            </a:r>
            <a:endParaRPr/>
          </a:p>
        </p:txBody>
      </p:sp>
      <p:sp>
        <p:nvSpPr>
          <p:cNvPr id="125" name="Google Shape;125;p23"/>
          <p:cNvSpPr txBox="1"/>
          <p:nvPr/>
        </p:nvSpPr>
        <p:spPr>
          <a:xfrm>
            <a:off x="3955134" y="2842150"/>
            <a:ext cx="37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graphicFrame>
        <p:nvGraphicFramePr>
          <p:cNvPr id="126" name="Google Shape;126;p23"/>
          <p:cNvGraphicFramePr/>
          <p:nvPr/>
        </p:nvGraphicFramePr>
        <p:xfrm>
          <a:off x="5386759" y="1851650"/>
          <a:ext cx="3000000" cy="3000000"/>
        </p:xfrm>
        <a:graphic>
          <a:graphicData uri="http://schemas.openxmlformats.org/drawingml/2006/table">
            <a:tbl>
              <a:tblPr>
                <a:noFill/>
                <a:tableStyleId>{C063C4A0-2D21-4C22-A377-3EAC2281FC8A}</a:tableStyleId>
              </a:tblPr>
              <a:tblGrid>
                <a:gridCol w="557325"/>
              </a:tblGrid>
              <a:tr h="381000">
                <a:tc>
                  <a:txBody>
                    <a:bodyPr/>
                    <a:lstStyle/>
                    <a:p>
                      <a:pPr indent="0" lvl="0" marL="0" rtl="0" algn="l">
                        <a:spcBef>
                          <a:spcPts val="0"/>
                        </a:spcBef>
                        <a:spcAft>
                          <a:spcPts val="0"/>
                        </a:spcAft>
                        <a:buNone/>
                      </a:pPr>
                      <a:r>
                        <a:rPr lang="en"/>
                        <a:t>s_1</a:t>
                      </a:r>
                      <a:endParaRPr/>
                    </a:p>
                  </a:txBody>
                  <a:tcPr marT="91425" marB="91425" marR="91425" marL="91425"/>
                </a:tc>
              </a:tr>
              <a:tr h="381000">
                <a:tc>
                  <a:txBody>
                    <a:bodyPr/>
                    <a:lstStyle/>
                    <a:p>
                      <a:pPr indent="0" lvl="0" marL="0" rtl="0" algn="l">
                        <a:spcBef>
                          <a:spcPts val="0"/>
                        </a:spcBef>
                        <a:spcAft>
                          <a:spcPts val="0"/>
                        </a:spcAft>
                        <a:buNone/>
                      </a:pPr>
                      <a:r>
                        <a:rPr lang="en"/>
                        <a:t>s_2</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r>
              <a:tr h="381000">
                <a:tc>
                  <a:txBody>
                    <a:bodyPr/>
                    <a:lstStyle/>
                    <a:p>
                      <a:pPr indent="0" lvl="0" marL="0" rtl="0" algn="l">
                        <a:spcBef>
                          <a:spcPts val="0"/>
                        </a:spcBef>
                        <a:spcAft>
                          <a:spcPts val="0"/>
                        </a:spcAft>
                        <a:buNone/>
                      </a:pPr>
                      <a:r>
                        <a:rPr lang="en"/>
                        <a:t>s_h</a:t>
                      </a:r>
                      <a:endParaRPr/>
                    </a:p>
                  </a:txBody>
                  <a:tcPr marT="91425" marB="91425" marR="91425" marL="91425"/>
                </a:tc>
              </a:tr>
            </a:tbl>
          </a:graphicData>
        </a:graphic>
      </p:graphicFrame>
      <p:cxnSp>
        <p:nvCxnSpPr>
          <p:cNvPr id="127" name="Google Shape;127;p23"/>
          <p:cNvCxnSpPr>
            <a:endCxn id="124" idx="1"/>
          </p:cNvCxnSpPr>
          <p:nvPr/>
        </p:nvCxnSpPr>
        <p:spPr>
          <a:xfrm>
            <a:off x="3007584" y="2640225"/>
            <a:ext cx="857400" cy="11631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23"/>
          <p:cNvCxnSpPr>
            <a:endCxn id="123" idx="1"/>
          </p:cNvCxnSpPr>
          <p:nvPr/>
        </p:nvCxnSpPr>
        <p:spPr>
          <a:xfrm flipH="1" rot="10800000">
            <a:off x="2992884" y="2210750"/>
            <a:ext cx="872100" cy="43950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23"/>
          <p:cNvCxnSpPr>
            <a:endCxn id="122" idx="1"/>
          </p:cNvCxnSpPr>
          <p:nvPr/>
        </p:nvCxnSpPr>
        <p:spPr>
          <a:xfrm flipH="1" rot="10800000">
            <a:off x="2988084" y="1479425"/>
            <a:ext cx="876900" cy="1170600"/>
          </a:xfrm>
          <a:prstGeom prst="straightConnector1">
            <a:avLst/>
          </a:prstGeom>
          <a:noFill/>
          <a:ln cap="flat" cmpd="sng" w="9525">
            <a:solidFill>
              <a:schemeClr val="dk2"/>
            </a:solidFill>
            <a:prstDash val="solid"/>
            <a:round/>
            <a:headEnd len="med" w="med" type="none"/>
            <a:tailEnd len="med" w="med" type="triangle"/>
          </a:ln>
        </p:spPr>
      </p:cxnSp>
      <p:cxnSp>
        <p:nvCxnSpPr>
          <p:cNvPr id="130" name="Google Shape;130;p23"/>
          <p:cNvCxnSpPr>
            <a:stCxn id="122" idx="3"/>
          </p:cNvCxnSpPr>
          <p:nvPr/>
        </p:nvCxnSpPr>
        <p:spPr>
          <a:xfrm>
            <a:off x="4422384" y="1479425"/>
            <a:ext cx="961200" cy="5829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23"/>
          <p:cNvCxnSpPr>
            <a:stCxn id="123" idx="3"/>
          </p:cNvCxnSpPr>
          <p:nvPr/>
        </p:nvCxnSpPr>
        <p:spPr>
          <a:xfrm>
            <a:off x="4422384" y="2210750"/>
            <a:ext cx="966000" cy="2484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23"/>
          <p:cNvCxnSpPr/>
          <p:nvPr/>
        </p:nvCxnSpPr>
        <p:spPr>
          <a:xfrm>
            <a:off x="1230634" y="2571750"/>
            <a:ext cx="1218600" cy="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23"/>
          <p:cNvCxnSpPr>
            <a:stCxn id="124" idx="3"/>
          </p:cNvCxnSpPr>
          <p:nvPr/>
        </p:nvCxnSpPr>
        <p:spPr>
          <a:xfrm flipH="1" rot="10800000">
            <a:off x="4422384" y="3233025"/>
            <a:ext cx="966000" cy="57030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23"/>
          <p:cNvSpPr txBox="1"/>
          <p:nvPr/>
        </p:nvSpPr>
        <p:spPr>
          <a:xfrm>
            <a:off x="1405250" y="2106375"/>
            <a:ext cx="872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Tokenize</a:t>
            </a:r>
            <a:endParaRPr sz="1300">
              <a:solidFill>
                <a:schemeClr val="dk2"/>
              </a:solidFill>
            </a:endParaRPr>
          </a:p>
        </p:txBody>
      </p:sp>
      <p:sp>
        <p:nvSpPr>
          <p:cNvPr id="135" name="Google Shape;135;p23"/>
          <p:cNvSpPr txBox="1"/>
          <p:nvPr/>
        </p:nvSpPr>
        <p:spPr>
          <a:xfrm>
            <a:off x="389360" y="3728350"/>
            <a:ext cx="71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Query</a:t>
            </a:r>
            <a:endParaRPr sz="1300">
              <a:solidFill>
                <a:schemeClr val="dk2"/>
              </a:solidFill>
            </a:endParaRPr>
          </a:p>
        </p:txBody>
      </p:sp>
      <p:sp>
        <p:nvSpPr>
          <p:cNvPr id="136" name="Google Shape;136;p23"/>
          <p:cNvSpPr txBox="1"/>
          <p:nvPr/>
        </p:nvSpPr>
        <p:spPr>
          <a:xfrm>
            <a:off x="5101414" y="3528250"/>
            <a:ext cx="1128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Signature Vector</a:t>
            </a:r>
            <a:endParaRPr sz="1300">
              <a:solidFill>
                <a:schemeClr val="dk2"/>
              </a:solidFill>
            </a:endParaRPr>
          </a:p>
        </p:txBody>
      </p:sp>
      <p:graphicFrame>
        <p:nvGraphicFramePr>
          <p:cNvPr id="137" name="Google Shape;137;p23"/>
          <p:cNvGraphicFramePr/>
          <p:nvPr/>
        </p:nvGraphicFramePr>
        <p:xfrm>
          <a:off x="6957092" y="390750"/>
          <a:ext cx="3000000" cy="3000000"/>
        </p:xfrm>
        <a:graphic>
          <a:graphicData uri="http://schemas.openxmlformats.org/drawingml/2006/table">
            <a:tbl>
              <a:tblPr>
                <a:noFill/>
                <a:tableStyleId>{C063C4A0-2D21-4C22-A377-3EAC2281FC8A}</a:tableStyleId>
              </a:tblPr>
              <a:tblGrid>
                <a:gridCol w="557325"/>
              </a:tblGrid>
              <a:tr h="381000">
                <a:tc>
                  <a:txBody>
                    <a:bodyPr/>
                    <a:lstStyle/>
                    <a:p>
                      <a:pPr indent="0" lvl="0" marL="0" rtl="0" algn="l">
                        <a:spcBef>
                          <a:spcPts val="0"/>
                        </a:spcBef>
                        <a:spcAft>
                          <a:spcPts val="0"/>
                        </a:spcAft>
                        <a:buNone/>
                      </a:pPr>
                      <a:r>
                        <a:rPr lang="en"/>
                        <a:t>s_1</a:t>
                      </a:r>
                      <a:endParaRPr/>
                    </a:p>
                  </a:txBody>
                  <a:tcPr marT="91425" marB="91425" marR="91425" marL="91425"/>
                </a:tc>
              </a:tr>
              <a:tr h="381000">
                <a:tc>
                  <a:txBody>
                    <a:bodyPr/>
                    <a:lstStyle/>
                    <a:p>
                      <a:pPr indent="0" lvl="0" marL="0" rtl="0" algn="l">
                        <a:spcBef>
                          <a:spcPts val="0"/>
                        </a:spcBef>
                        <a:spcAft>
                          <a:spcPts val="0"/>
                        </a:spcAft>
                        <a:buNone/>
                      </a:pPr>
                      <a:r>
                        <a:rPr lang="en"/>
                        <a:t>s_2</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r>
              <a:tr h="381000">
                <a:tc>
                  <a:txBody>
                    <a:bodyPr/>
                    <a:lstStyle/>
                    <a:p>
                      <a:pPr indent="0" lvl="0" marL="0" rtl="0" algn="l">
                        <a:spcBef>
                          <a:spcPts val="0"/>
                        </a:spcBef>
                        <a:spcAft>
                          <a:spcPts val="0"/>
                        </a:spcAft>
                        <a:buNone/>
                      </a:pPr>
                      <a:r>
                        <a:rPr lang="en"/>
                        <a:t>s_h</a:t>
                      </a:r>
                      <a:endParaRPr/>
                    </a:p>
                  </a:txBody>
                  <a:tcPr marT="91425" marB="91425" marR="91425" marL="91425"/>
                </a:tc>
              </a:tr>
            </a:tbl>
          </a:graphicData>
        </a:graphic>
      </p:graphicFrame>
      <p:sp>
        <p:nvSpPr>
          <p:cNvPr id="138" name="Google Shape;138;p23"/>
          <p:cNvSpPr txBox="1"/>
          <p:nvPr/>
        </p:nvSpPr>
        <p:spPr>
          <a:xfrm>
            <a:off x="7825272" y="1020000"/>
            <a:ext cx="1128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Document 1</a:t>
            </a:r>
            <a:endParaRPr sz="1300">
              <a:solidFill>
                <a:schemeClr val="dk2"/>
              </a:solidFill>
            </a:endParaRPr>
          </a:p>
        </p:txBody>
      </p:sp>
      <p:cxnSp>
        <p:nvCxnSpPr>
          <p:cNvPr id="139" name="Google Shape;139;p23"/>
          <p:cNvCxnSpPr/>
          <p:nvPr/>
        </p:nvCxnSpPr>
        <p:spPr>
          <a:xfrm rot="10800000">
            <a:off x="7514425" y="1210050"/>
            <a:ext cx="298800" cy="480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p23"/>
          <p:cNvSpPr txBox="1"/>
          <p:nvPr/>
        </p:nvSpPr>
        <p:spPr>
          <a:xfrm>
            <a:off x="7842622" y="3885950"/>
            <a:ext cx="1128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Document N</a:t>
            </a:r>
            <a:endParaRPr sz="1300">
              <a:solidFill>
                <a:schemeClr val="dk2"/>
              </a:solidFill>
            </a:endParaRPr>
          </a:p>
        </p:txBody>
      </p:sp>
      <p:graphicFrame>
        <p:nvGraphicFramePr>
          <p:cNvPr id="141" name="Google Shape;141;p23"/>
          <p:cNvGraphicFramePr/>
          <p:nvPr/>
        </p:nvGraphicFramePr>
        <p:xfrm>
          <a:off x="6945042" y="3338800"/>
          <a:ext cx="3000000" cy="3000000"/>
        </p:xfrm>
        <a:graphic>
          <a:graphicData uri="http://schemas.openxmlformats.org/drawingml/2006/table">
            <a:tbl>
              <a:tblPr>
                <a:noFill/>
                <a:tableStyleId>{C063C4A0-2D21-4C22-A377-3EAC2281FC8A}</a:tableStyleId>
              </a:tblPr>
              <a:tblGrid>
                <a:gridCol w="557325"/>
              </a:tblGrid>
              <a:tr h="381000">
                <a:tc>
                  <a:txBody>
                    <a:bodyPr/>
                    <a:lstStyle/>
                    <a:p>
                      <a:pPr indent="0" lvl="0" marL="0" rtl="0" algn="l">
                        <a:spcBef>
                          <a:spcPts val="0"/>
                        </a:spcBef>
                        <a:spcAft>
                          <a:spcPts val="0"/>
                        </a:spcAft>
                        <a:buNone/>
                      </a:pPr>
                      <a:r>
                        <a:rPr lang="en"/>
                        <a:t>s_1</a:t>
                      </a:r>
                      <a:endParaRPr/>
                    </a:p>
                  </a:txBody>
                  <a:tcPr marT="91425" marB="91425" marR="91425" marL="91425"/>
                </a:tc>
              </a:tr>
              <a:tr h="381000">
                <a:tc>
                  <a:txBody>
                    <a:bodyPr/>
                    <a:lstStyle/>
                    <a:p>
                      <a:pPr indent="0" lvl="0" marL="0" rtl="0" algn="l">
                        <a:spcBef>
                          <a:spcPts val="0"/>
                        </a:spcBef>
                        <a:spcAft>
                          <a:spcPts val="0"/>
                        </a:spcAft>
                        <a:buNone/>
                      </a:pPr>
                      <a:r>
                        <a:rPr lang="en"/>
                        <a:t>s_2</a:t>
                      </a:r>
                      <a:endParaRPr/>
                    </a:p>
                  </a:txBody>
                  <a:tcPr marT="91425" marB="91425" marR="91425" marL="91425"/>
                </a:tc>
              </a:tr>
              <a:tr h="381000">
                <a:tc>
                  <a:txBody>
                    <a:bodyPr/>
                    <a:lstStyle/>
                    <a:p>
                      <a:pPr indent="0" lvl="0" marL="0" rtl="0" algn="l">
                        <a:spcBef>
                          <a:spcPts val="0"/>
                        </a:spcBef>
                        <a:spcAft>
                          <a:spcPts val="0"/>
                        </a:spcAft>
                        <a:buNone/>
                      </a:pPr>
                      <a:r>
                        <a:rPr lang="en"/>
                        <a:t>…</a:t>
                      </a:r>
                      <a:endParaRPr/>
                    </a:p>
                  </a:txBody>
                  <a:tcPr marT="91425" marB="91425" marR="91425" marL="91425"/>
                </a:tc>
              </a:tr>
              <a:tr h="381000">
                <a:tc>
                  <a:txBody>
                    <a:bodyPr/>
                    <a:lstStyle/>
                    <a:p>
                      <a:pPr indent="0" lvl="0" marL="0" rtl="0" algn="l">
                        <a:spcBef>
                          <a:spcPts val="0"/>
                        </a:spcBef>
                        <a:spcAft>
                          <a:spcPts val="0"/>
                        </a:spcAft>
                        <a:buNone/>
                      </a:pPr>
                      <a:r>
                        <a:rPr lang="en"/>
                        <a:t>s_h</a:t>
                      </a:r>
                      <a:endParaRPr/>
                    </a:p>
                  </a:txBody>
                  <a:tcPr marT="91425" marB="91425" marR="91425" marL="91425"/>
                </a:tc>
              </a:tr>
            </a:tbl>
          </a:graphicData>
        </a:graphic>
      </p:graphicFrame>
      <p:cxnSp>
        <p:nvCxnSpPr>
          <p:cNvPr id="142" name="Google Shape;142;p23"/>
          <p:cNvCxnSpPr/>
          <p:nvPr/>
        </p:nvCxnSpPr>
        <p:spPr>
          <a:xfrm rot="10800000">
            <a:off x="7514425" y="4076300"/>
            <a:ext cx="328200" cy="420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p23"/>
          <p:cNvCxnSpPr/>
          <p:nvPr/>
        </p:nvCxnSpPr>
        <p:spPr>
          <a:xfrm flipH="1" rot="10800000">
            <a:off x="5946875" y="1254025"/>
            <a:ext cx="994500" cy="1401000"/>
          </a:xfrm>
          <a:prstGeom prst="straightConnector1">
            <a:avLst/>
          </a:prstGeom>
          <a:noFill/>
          <a:ln cap="flat" cmpd="sng" w="9525">
            <a:solidFill>
              <a:schemeClr val="dk2"/>
            </a:solidFill>
            <a:prstDash val="solid"/>
            <a:round/>
            <a:headEnd len="med" w="med" type="triangle"/>
            <a:tailEnd len="med" w="med" type="triangle"/>
          </a:ln>
        </p:spPr>
      </p:cxnSp>
      <p:cxnSp>
        <p:nvCxnSpPr>
          <p:cNvPr id="144" name="Google Shape;144;p23"/>
          <p:cNvCxnSpPr/>
          <p:nvPr/>
        </p:nvCxnSpPr>
        <p:spPr>
          <a:xfrm>
            <a:off x="5956675" y="2655025"/>
            <a:ext cx="979800" cy="1322700"/>
          </a:xfrm>
          <a:prstGeom prst="straightConnector1">
            <a:avLst/>
          </a:prstGeom>
          <a:noFill/>
          <a:ln cap="flat" cmpd="sng" w="9525">
            <a:solidFill>
              <a:schemeClr val="dk2"/>
            </a:solidFill>
            <a:prstDash val="solid"/>
            <a:round/>
            <a:headEnd len="med" w="med" type="triangle"/>
            <a:tailEnd len="med" w="med" type="triangle"/>
          </a:ln>
        </p:spPr>
      </p:cxnSp>
      <p:sp>
        <p:nvSpPr>
          <p:cNvPr id="145" name="Google Shape;145;p23"/>
          <p:cNvSpPr txBox="1"/>
          <p:nvPr/>
        </p:nvSpPr>
        <p:spPr>
          <a:xfrm>
            <a:off x="6087089" y="1895363"/>
            <a:ext cx="1128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overlap</a:t>
            </a:r>
            <a:endParaRPr sz="1000">
              <a:solidFill>
                <a:schemeClr val="dk2"/>
              </a:solidFill>
            </a:endParaRPr>
          </a:p>
        </p:txBody>
      </p:sp>
      <p:sp>
        <p:nvSpPr>
          <p:cNvPr id="146" name="Google Shape;146;p23"/>
          <p:cNvSpPr txBox="1"/>
          <p:nvPr/>
        </p:nvSpPr>
        <p:spPr>
          <a:xfrm>
            <a:off x="6087089" y="2965138"/>
            <a:ext cx="1128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overlap</a:t>
            </a:r>
            <a:endParaRPr sz="1000">
              <a:solidFill>
                <a:schemeClr val="dk2"/>
              </a:solidFill>
            </a:endParaRPr>
          </a:p>
        </p:txBody>
      </p:sp>
      <p:sp>
        <p:nvSpPr>
          <p:cNvPr id="147" name="Google Shape;147;p23"/>
          <p:cNvSpPr txBox="1"/>
          <p:nvPr/>
        </p:nvSpPr>
        <p:spPr>
          <a:xfrm rot="-3205740">
            <a:off x="2955920" y="1638344"/>
            <a:ext cx="874092" cy="38490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minhash</a:t>
            </a:r>
            <a:endParaRPr sz="1300">
              <a:solidFill>
                <a:schemeClr val="dk2"/>
              </a:solidFill>
            </a:endParaRPr>
          </a:p>
        </p:txBody>
      </p:sp>
      <p:sp>
        <p:nvSpPr>
          <p:cNvPr id="148" name="Google Shape;148;p23"/>
          <p:cNvSpPr txBox="1"/>
          <p:nvPr/>
        </p:nvSpPr>
        <p:spPr>
          <a:xfrm>
            <a:off x="1184675" y="4351725"/>
            <a:ext cx="4762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Generally the number of hashes &lt;&lt; doc length, so a signature vector is a lot shorter than a typical doc</a:t>
            </a:r>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LSH</a:t>
            </a:r>
            <a:endParaRPr/>
          </a:p>
        </p:txBody>
      </p:sp>
      <p:sp>
        <p:nvSpPr>
          <p:cNvPr id="154" name="Google Shape;15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Minhash gives us a short signature vector, where fraction of equal components ~ Jaccard distance between query and document. However computing Jaccard similarity over the entire corpus still requires repeating this operation over all documents. </a:t>
            </a:r>
            <a:endParaRPr/>
          </a:p>
          <a:p>
            <a:pPr indent="0" lvl="0" marL="0" rtl="0" algn="l">
              <a:spcBef>
                <a:spcPts val="1200"/>
              </a:spcBef>
              <a:spcAft>
                <a:spcPts val="1200"/>
              </a:spcAft>
              <a:buNone/>
            </a:pPr>
            <a:r>
              <a:rPr lang="en"/>
              <a:t>LSH is used to get promising document candidates in sub-linear time. Key idea is to split the signature vector into buckets and hash each bucket’s signatures. At query time, compare the hashes. If any of the hashes match, the document is added to the candidate set.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LSH</a:t>
            </a:r>
            <a:endParaRPr/>
          </a:p>
        </p:txBody>
      </p:sp>
      <p:graphicFrame>
        <p:nvGraphicFramePr>
          <p:cNvPr id="160" name="Google Shape;160;p25"/>
          <p:cNvGraphicFramePr/>
          <p:nvPr/>
        </p:nvGraphicFramePr>
        <p:xfrm>
          <a:off x="261800" y="1653550"/>
          <a:ext cx="3000000" cy="3000000"/>
        </p:xfrm>
        <a:graphic>
          <a:graphicData uri="http://schemas.openxmlformats.org/drawingml/2006/table">
            <a:tbl>
              <a:tblPr>
                <a:noFill/>
                <a:tableStyleId>{C063C4A0-2D21-4C22-A377-3EAC2281FC8A}</a:tableStyleId>
              </a:tblPr>
              <a:tblGrid>
                <a:gridCol w="968825"/>
              </a:tblGrid>
              <a:tr h="381000">
                <a:tc>
                  <a:txBody>
                    <a:bodyPr/>
                    <a:lstStyle/>
                    <a:p>
                      <a:pPr indent="0" lvl="0" marL="0" rtl="0" algn="l">
                        <a:spcBef>
                          <a:spcPts val="0"/>
                        </a:spcBef>
                        <a:spcAft>
                          <a:spcPts val="0"/>
                        </a:spcAft>
                        <a:buNone/>
                      </a:pPr>
                      <a:r>
                        <a:rPr lang="en"/>
                        <a:t>Best</a:t>
                      </a:r>
                      <a:endParaRPr/>
                    </a:p>
                  </a:txBody>
                  <a:tcPr marT="91425" marB="91425" marR="91425" marL="91425"/>
                </a:tc>
              </a:tr>
              <a:tr h="381000">
                <a:tc>
                  <a:txBody>
                    <a:bodyPr/>
                    <a:lstStyle/>
                    <a:p>
                      <a:pPr indent="0" lvl="0" marL="0" rtl="0" algn="l">
                        <a:spcBef>
                          <a:spcPts val="0"/>
                        </a:spcBef>
                        <a:spcAft>
                          <a:spcPts val="0"/>
                        </a:spcAft>
                        <a:buNone/>
                      </a:pPr>
                      <a:r>
                        <a:rPr lang="en"/>
                        <a:t>hikes</a:t>
                      </a:r>
                      <a:endParaRPr/>
                    </a:p>
                  </a:txBody>
                  <a:tcPr marT="91425" marB="91425" marR="91425" marL="91425"/>
                </a:tc>
              </a:tr>
              <a:tr h="381000">
                <a:tc>
                  <a:txBody>
                    <a:bodyPr/>
                    <a:lstStyle/>
                    <a:p>
                      <a:pPr indent="0" lvl="0" marL="0" rtl="0" algn="l">
                        <a:spcBef>
                          <a:spcPts val="0"/>
                        </a:spcBef>
                        <a:spcAft>
                          <a:spcPts val="0"/>
                        </a:spcAft>
                        <a:buNone/>
                      </a:pPr>
                      <a:r>
                        <a:rPr lang="en"/>
                        <a:t>near</a:t>
                      </a:r>
                      <a:endParaRPr/>
                    </a:p>
                  </a:txBody>
                  <a:tcPr marT="91425" marB="91425" marR="91425" marL="91425"/>
                </a:tc>
              </a:tr>
              <a:tr h="381000">
                <a:tc>
                  <a:txBody>
                    <a:bodyPr/>
                    <a:lstStyle/>
                    <a:p>
                      <a:pPr indent="0" lvl="0" marL="0" rtl="0" algn="l">
                        <a:spcBef>
                          <a:spcPts val="0"/>
                        </a:spcBef>
                        <a:spcAft>
                          <a:spcPts val="0"/>
                        </a:spcAft>
                        <a:buNone/>
                      </a:pPr>
                      <a:r>
                        <a:rPr lang="en"/>
                        <a:t>San</a:t>
                      </a:r>
                      <a:endParaRPr/>
                    </a:p>
                  </a:txBody>
                  <a:tcPr marT="91425" marB="91425" marR="91425" marL="91425"/>
                </a:tc>
              </a:tr>
              <a:tr h="381000">
                <a:tc>
                  <a:txBody>
                    <a:bodyPr/>
                    <a:lstStyle/>
                    <a:p>
                      <a:pPr indent="0" lvl="0" marL="0" rtl="0" algn="l">
                        <a:spcBef>
                          <a:spcPts val="0"/>
                        </a:spcBef>
                        <a:spcAft>
                          <a:spcPts val="0"/>
                        </a:spcAft>
                        <a:buNone/>
                      </a:pPr>
                      <a:r>
                        <a:rPr lang="en"/>
                        <a:t>Francisco</a:t>
                      </a:r>
                      <a:endParaRPr/>
                    </a:p>
                  </a:txBody>
                  <a:tcPr marT="91425" marB="91425" marR="91425" marL="91425"/>
                </a:tc>
              </a:tr>
            </a:tbl>
          </a:graphicData>
        </a:graphic>
      </p:graphicFrame>
      <p:cxnSp>
        <p:nvCxnSpPr>
          <p:cNvPr id="161" name="Google Shape;161;p25"/>
          <p:cNvCxnSpPr/>
          <p:nvPr/>
        </p:nvCxnSpPr>
        <p:spPr>
          <a:xfrm>
            <a:off x="1230634" y="2571750"/>
            <a:ext cx="1218600" cy="0"/>
          </a:xfrm>
          <a:prstGeom prst="straightConnector1">
            <a:avLst/>
          </a:prstGeom>
          <a:noFill/>
          <a:ln cap="flat" cmpd="sng" w="9525">
            <a:solidFill>
              <a:schemeClr val="dk2"/>
            </a:solidFill>
            <a:prstDash val="solid"/>
            <a:round/>
            <a:headEnd len="med" w="med" type="none"/>
            <a:tailEnd len="med" w="med" type="triangle"/>
          </a:ln>
        </p:spPr>
      </p:cxnSp>
      <p:sp>
        <p:nvSpPr>
          <p:cNvPr id="162" name="Google Shape;162;p25"/>
          <p:cNvSpPr txBox="1"/>
          <p:nvPr/>
        </p:nvSpPr>
        <p:spPr>
          <a:xfrm>
            <a:off x="1403875" y="1944700"/>
            <a:ext cx="872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Tokenize + hash</a:t>
            </a:r>
            <a:endParaRPr sz="1300">
              <a:solidFill>
                <a:schemeClr val="dk2"/>
              </a:solidFill>
            </a:endParaRPr>
          </a:p>
        </p:txBody>
      </p:sp>
      <p:sp>
        <p:nvSpPr>
          <p:cNvPr id="163" name="Google Shape;163;p25"/>
          <p:cNvSpPr txBox="1"/>
          <p:nvPr/>
        </p:nvSpPr>
        <p:spPr>
          <a:xfrm>
            <a:off x="389360" y="3728350"/>
            <a:ext cx="71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Query</a:t>
            </a:r>
            <a:endParaRPr sz="1300">
              <a:solidFill>
                <a:schemeClr val="dk2"/>
              </a:solidFill>
            </a:endParaRPr>
          </a:p>
        </p:txBody>
      </p:sp>
      <p:graphicFrame>
        <p:nvGraphicFramePr>
          <p:cNvPr id="164" name="Google Shape;164;p25"/>
          <p:cNvGraphicFramePr/>
          <p:nvPr/>
        </p:nvGraphicFramePr>
        <p:xfrm>
          <a:off x="2468834" y="1455450"/>
          <a:ext cx="3000000" cy="3000000"/>
        </p:xfrm>
        <a:graphic>
          <a:graphicData uri="http://schemas.openxmlformats.org/drawingml/2006/table">
            <a:tbl>
              <a:tblPr>
                <a:noFill/>
                <a:tableStyleId>{C063C4A0-2D21-4C22-A377-3EAC2281FC8A}</a:tableStyleId>
              </a:tblPr>
              <a:tblGrid>
                <a:gridCol w="557325"/>
              </a:tblGrid>
              <a:tr h="381000">
                <a:tc>
                  <a:txBody>
                    <a:bodyPr/>
                    <a:lstStyle/>
                    <a:p>
                      <a:pPr indent="0" lvl="0" marL="0" rtl="0" algn="l">
                        <a:spcBef>
                          <a:spcPts val="0"/>
                        </a:spcBef>
                        <a:spcAft>
                          <a:spcPts val="0"/>
                        </a:spcAft>
                        <a:buNone/>
                      </a:pPr>
                      <a:r>
                        <a:rPr lang="en"/>
                        <a:t>s_1</a:t>
                      </a:r>
                      <a:endParaRPr/>
                    </a:p>
                  </a:txBody>
                  <a:tcPr marT="91425" marB="91425" marR="91425" marL="91425"/>
                </a:tc>
              </a:tr>
              <a:tr h="381000">
                <a:tc>
                  <a:txBody>
                    <a:bodyPr/>
                    <a:lstStyle/>
                    <a:p>
                      <a:pPr indent="0" lvl="0" marL="0" rtl="0" algn="l">
                        <a:spcBef>
                          <a:spcPts val="0"/>
                        </a:spcBef>
                        <a:spcAft>
                          <a:spcPts val="0"/>
                        </a:spcAft>
                        <a:buNone/>
                      </a:pPr>
                      <a:r>
                        <a:rPr lang="en"/>
                        <a:t>s_2</a:t>
                      </a:r>
                      <a:endParaRPr/>
                    </a:p>
                  </a:txBody>
                  <a:tcPr marT="91425" marB="91425" marR="91425" marL="91425"/>
                </a:tc>
              </a:tr>
              <a:tr h="381000">
                <a:tc>
                  <a:txBody>
                    <a:bodyPr/>
                    <a:lstStyle/>
                    <a:p>
                      <a:pPr indent="0" lvl="0" marL="0" rtl="0" algn="l">
                        <a:spcBef>
                          <a:spcPts val="0"/>
                        </a:spcBef>
                        <a:spcAft>
                          <a:spcPts val="0"/>
                        </a:spcAft>
                        <a:buNone/>
                      </a:pPr>
                      <a:r>
                        <a:rPr lang="en"/>
                        <a:t>s</a:t>
                      </a:r>
                      <a:r>
                        <a:rPr lang="en"/>
                        <a:t>_3</a:t>
                      </a:r>
                      <a:endParaRPr/>
                    </a:p>
                  </a:txBody>
                  <a:tcPr marT="91425" marB="91425" marR="91425" marL="91425"/>
                </a:tc>
              </a:tr>
              <a:tr h="381000">
                <a:tc>
                  <a:txBody>
                    <a:bodyPr/>
                    <a:lstStyle/>
                    <a:p>
                      <a:pPr indent="0" lvl="0" marL="0" rtl="0" algn="l">
                        <a:spcBef>
                          <a:spcPts val="0"/>
                        </a:spcBef>
                        <a:spcAft>
                          <a:spcPts val="0"/>
                        </a:spcAft>
                        <a:buNone/>
                      </a:pPr>
                      <a:r>
                        <a:rPr lang="en"/>
                        <a:t>s_4</a:t>
                      </a:r>
                      <a:endParaRPr/>
                    </a:p>
                  </a:txBody>
                  <a:tcPr marT="91425" marB="91425" marR="91425" marL="91425"/>
                </a:tc>
              </a:tr>
              <a:tr h="381000">
                <a:tc>
                  <a:txBody>
                    <a:bodyPr/>
                    <a:lstStyle/>
                    <a:p>
                      <a:pPr indent="0" lvl="0" marL="0" rtl="0" algn="l">
                        <a:spcBef>
                          <a:spcPts val="0"/>
                        </a:spcBef>
                        <a:spcAft>
                          <a:spcPts val="0"/>
                        </a:spcAft>
                        <a:buNone/>
                      </a:pPr>
                      <a:r>
                        <a:rPr lang="en"/>
                        <a:t>s_5</a:t>
                      </a:r>
                      <a:endParaRPr/>
                    </a:p>
                  </a:txBody>
                  <a:tcPr marT="91425" marB="91425" marR="91425" marL="91425"/>
                </a:tc>
              </a:tr>
              <a:tr h="381000">
                <a:tc>
                  <a:txBody>
                    <a:bodyPr/>
                    <a:lstStyle/>
                    <a:p>
                      <a:pPr indent="0" lvl="0" marL="0" rtl="0" algn="l">
                        <a:spcBef>
                          <a:spcPts val="0"/>
                        </a:spcBef>
                        <a:spcAft>
                          <a:spcPts val="0"/>
                        </a:spcAft>
                        <a:buNone/>
                      </a:pPr>
                      <a:r>
                        <a:rPr lang="en"/>
                        <a:t>s_6</a:t>
                      </a:r>
                      <a:endParaRPr/>
                    </a:p>
                  </a:txBody>
                  <a:tcPr marT="91425" marB="91425" marR="91425" marL="91425"/>
                </a:tc>
              </a:tr>
            </a:tbl>
          </a:graphicData>
        </a:graphic>
      </p:graphicFrame>
      <p:sp>
        <p:nvSpPr>
          <p:cNvPr id="165" name="Google Shape;165;p25"/>
          <p:cNvSpPr/>
          <p:nvPr/>
        </p:nvSpPr>
        <p:spPr>
          <a:xfrm>
            <a:off x="3139975" y="1474475"/>
            <a:ext cx="117600" cy="1169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5"/>
          <p:cNvSpPr/>
          <p:nvPr/>
        </p:nvSpPr>
        <p:spPr>
          <a:xfrm>
            <a:off x="3139975" y="2662950"/>
            <a:ext cx="117600" cy="1169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5"/>
          <p:cNvSpPr txBox="1"/>
          <p:nvPr/>
        </p:nvSpPr>
        <p:spPr>
          <a:xfrm>
            <a:off x="1276639" y="4125775"/>
            <a:ext cx="31956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rPr>
              <a:t>Split a signature vector of size </a:t>
            </a:r>
            <a:r>
              <a:rPr i="1" lang="en" sz="1100">
                <a:solidFill>
                  <a:schemeClr val="dk2"/>
                </a:solidFill>
              </a:rPr>
              <a:t>n </a:t>
            </a:r>
            <a:r>
              <a:rPr lang="en" sz="1100">
                <a:solidFill>
                  <a:schemeClr val="dk2"/>
                </a:solidFill>
              </a:rPr>
              <a:t>into </a:t>
            </a:r>
            <a:r>
              <a:rPr i="1" lang="en" sz="1100">
                <a:solidFill>
                  <a:schemeClr val="dk2"/>
                </a:solidFill>
              </a:rPr>
              <a:t>b </a:t>
            </a:r>
            <a:r>
              <a:rPr lang="en" sz="1100">
                <a:solidFill>
                  <a:schemeClr val="dk2"/>
                </a:solidFill>
              </a:rPr>
              <a:t>buckets (bands) of size </a:t>
            </a:r>
            <a:r>
              <a:rPr i="1" lang="en" sz="1100">
                <a:solidFill>
                  <a:schemeClr val="dk2"/>
                </a:solidFill>
              </a:rPr>
              <a:t>r </a:t>
            </a:r>
            <a:r>
              <a:rPr lang="en" sz="1100">
                <a:solidFill>
                  <a:schemeClr val="dk2"/>
                </a:solidFill>
              </a:rPr>
              <a:t>(rows). Eg., n = 6, b = 2, r = 3</a:t>
            </a:r>
            <a:endParaRPr sz="1100">
              <a:solidFill>
                <a:schemeClr val="dk2"/>
              </a:solidFill>
            </a:endParaRPr>
          </a:p>
        </p:txBody>
      </p:sp>
      <p:sp>
        <p:nvSpPr>
          <p:cNvPr id="168" name="Google Shape;168;p25"/>
          <p:cNvSpPr txBox="1"/>
          <p:nvPr/>
        </p:nvSpPr>
        <p:spPr>
          <a:xfrm>
            <a:off x="3486470" y="1866875"/>
            <a:ext cx="168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hash(s_1, s_2, s_3)</a:t>
            </a:r>
            <a:endParaRPr sz="1300">
              <a:solidFill>
                <a:schemeClr val="dk2"/>
              </a:solidFill>
            </a:endParaRPr>
          </a:p>
        </p:txBody>
      </p:sp>
      <p:sp>
        <p:nvSpPr>
          <p:cNvPr id="169" name="Google Shape;169;p25"/>
          <p:cNvSpPr txBox="1"/>
          <p:nvPr/>
        </p:nvSpPr>
        <p:spPr>
          <a:xfrm>
            <a:off x="3486470" y="3055350"/>
            <a:ext cx="168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hash(s_4, s_5, s_6)</a:t>
            </a:r>
            <a:endParaRPr sz="1300">
              <a:solidFill>
                <a:schemeClr val="dk2"/>
              </a:solidFill>
            </a:endParaRPr>
          </a:p>
        </p:txBody>
      </p:sp>
      <p:graphicFrame>
        <p:nvGraphicFramePr>
          <p:cNvPr id="170" name="Google Shape;170;p25"/>
          <p:cNvGraphicFramePr/>
          <p:nvPr/>
        </p:nvGraphicFramePr>
        <p:xfrm>
          <a:off x="5684525" y="2255450"/>
          <a:ext cx="3000000" cy="3000000"/>
        </p:xfrm>
        <a:graphic>
          <a:graphicData uri="http://schemas.openxmlformats.org/drawingml/2006/table">
            <a:tbl>
              <a:tblPr>
                <a:noFill/>
                <a:tableStyleId>{C063C4A0-2D21-4C22-A377-3EAC2281FC8A}</a:tableStyleId>
              </a:tblPr>
              <a:tblGrid>
                <a:gridCol w="826775"/>
              </a:tblGrid>
              <a:tr h="381000">
                <a:tc>
                  <a:txBody>
                    <a:bodyPr/>
                    <a:lstStyle/>
                    <a:p>
                      <a:pPr indent="0" lvl="0" marL="0" rtl="0" algn="l">
                        <a:spcBef>
                          <a:spcPts val="0"/>
                        </a:spcBef>
                        <a:spcAft>
                          <a:spcPts val="0"/>
                        </a:spcAft>
                        <a:buNone/>
                      </a:pPr>
                      <a:r>
                        <a:rPr lang="en"/>
                        <a:t>Band 1</a:t>
                      </a:r>
                      <a:endParaRPr/>
                    </a:p>
                  </a:txBody>
                  <a:tcPr marT="91425" marB="91425" marR="91425" marL="91425"/>
                </a:tc>
              </a:tr>
              <a:tr h="381000">
                <a:tc>
                  <a:txBody>
                    <a:bodyPr/>
                    <a:lstStyle/>
                    <a:p>
                      <a:pPr indent="0" lvl="0" marL="0" rtl="0" algn="l">
                        <a:spcBef>
                          <a:spcPts val="0"/>
                        </a:spcBef>
                        <a:spcAft>
                          <a:spcPts val="0"/>
                        </a:spcAft>
                        <a:buNone/>
                      </a:pPr>
                      <a:r>
                        <a:rPr lang="en"/>
                        <a:t>Band 2</a:t>
                      </a:r>
                      <a:endParaRPr/>
                    </a:p>
                  </a:txBody>
                  <a:tcPr marT="91425" marB="91425" marR="91425" marL="91425"/>
                </a:tc>
              </a:tr>
            </a:tbl>
          </a:graphicData>
        </a:graphic>
      </p:graphicFrame>
      <p:graphicFrame>
        <p:nvGraphicFramePr>
          <p:cNvPr id="171" name="Google Shape;171;p25"/>
          <p:cNvGraphicFramePr/>
          <p:nvPr/>
        </p:nvGraphicFramePr>
        <p:xfrm>
          <a:off x="6865600" y="1237100"/>
          <a:ext cx="3000000" cy="3000000"/>
        </p:xfrm>
        <a:graphic>
          <a:graphicData uri="http://schemas.openxmlformats.org/drawingml/2006/table">
            <a:tbl>
              <a:tblPr>
                <a:noFill/>
                <a:tableStyleId>{C063C4A0-2D21-4C22-A377-3EAC2281FC8A}</a:tableStyleId>
              </a:tblPr>
              <a:tblGrid>
                <a:gridCol w="826775"/>
              </a:tblGrid>
              <a:tr h="381000">
                <a:tc>
                  <a:txBody>
                    <a:bodyPr/>
                    <a:lstStyle/>
                    <a:p>
                      <a:pPr indent="0" lvl="0" marL="0" rtl="0" algn="l">
                        <a:spcBef>
                          <a:spcPts val="0"/>
                        </a:spcBef>
                        <a:spcAft>
                          <a:spcPts val="0"/>
                        </a:spcAft>
                        <a:buNone/>
                      </a:pPr>
                      <a:r>
                        <a:rPr lang="en"/>
                        <a:t>hash 1</a:t>
                      </a:r>
                      <a:endParaRPr/>
                    </a:p>
                  </a:txBody>
                  <a:tcPr marT="91425" marB="91425" marR="91425" marL="91425"/>
                </a:tc>
              </a:tr>
              <a:tr h="381000">
                <a:tc>
                  <a:txBody>
                    <a:bodyPr/>
                    <a:lstStyle/>
                    <a:p>
                      <a:pPr indent="0" lvl="0" marL="0" rtl="0" algn="l">
                        <a:spcBef>
                          <a:spcPts val="0"/>
                        </a:spcBef>
                        <a:spcAft>
                          <a:spcPts val="0"/>
                        </a:spcAft>
                        <a:buNone/>
                      </a:pPr>
                      <a:r>
                        <a:rPr lang="en"/>
                        <a:t>hash 2</a:t>
                      </a:r>
                      <a:endParaRPr/>
                    </a:p>
                  </a:txBody>
                  <a:tcPr marT="91425" marB="91425" marR="91425" marL="91425"/>
                </a:tc>
              </a:tr>
              <a:tr h="381000">
                <a:tc>
                  <a:txBody>
                    <a:bodyPr/>
                    <a:lstStyle/>
                    <a:p>
                      <a:pPr indent="0" lvl="0" marL="0" rtl="0" algn="l">
                        <a:spcBef>
                          <a:spcPts val="0"/>
                        </a:spcBef>
                        <a:spcAft>
                          <a:spcPts val="0"/>
                        </a:spcAft>
                        <a:buNone/>
                      </a:pPr>
                      <a:r>
                        <a:rPr lang="en"/>
                        <a:t>hash n1</a:t>
                      </a:r>
                      <a:endParaRPr/>
                    </a:p>
                  </a:txBody>
                  <a:tcPr marT="91425" marB="91425" marR="91425" marL="91425"/>
                </a:tc>
              </a:tr>
            </a:tbl>
          </a:graphicData>
        </a:graphic>
      </p:graphicFrame>
      <p:cxnSp>
        <p:nvCxnSpPr>
          <p:cNvPr id="172" name="Google Shape;172;p25"/>
          <p:cNvCxnSpPr/>
          <p:nvPr/>
        </p:nvCxnSpPr>
        <p:spPr>
          <a:xfrm flipH="1" rot="10800000">
            <a:off x="6515100" y="1841975"/>
            <a:ext cx="352800" cy="63180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173" name="Google Shape;173;p25"/>
          <p:cNvGraphicFramePr/>
          <p:nvPr/>
        </p:nvGraphicFramePr>
        <p:xfrm>
          <a:off x="6865600" y="2712125"/>
          <a:ext cx="3000000" cy="3000000"/>
        </p:xfrm>
        <a:graphic>
          <a:graphicData uri="http://schemas.openxmlformats.org/drawingml/2006/table">
            <a:tbl>
              <a:tblPr>
                <a:noFill/>
                <a:tableStyleId>{C063C4A0-2D21-4C22-A377-3EAC2281FC8A}</a:tableStyleId>
              </a:tblPr>
              <a:tblGrid>
                <a:gridCol w="826775"/>
              </a:tblGrid>
              <a:tr h="381000">
                <a:tc>
                  <a:txBody>
                    <a:bodyPr/>
                    <a:lstStyle/>
                    <a:p>
                      <a:pPr indent="0" lvl="0" marL="0" rtl="0" algn="l">
                        <a:spcBef>
                          <a:spcPts val="0"/>
                        </a:spcBef>
                        <a:spcAft>
                          <a:spcPts val="0"/>
                        </a:spcAft>
                        <a:buNone/>
                      </a:pPr>
                      <a:r>
                        <a:rPr lang="en"/>
                        <a:t>hash 1</a:t>
                      </a:r>
                      <a:endParaRPr/>
                    </a:p>
                  </a:txBody>
                  <a:tcPr marT="91425" marB="91425" marR="91425" marL="91425"/>
                </a:tc>
              </a:tr>
              <a:tr h="381000">
                <a:tc>
                  <a:txBody>
                    <a:bodyPr/>
                    <a:lstStyle/>
                    <a:p>
                      <a:pPr indent="0" lvl="0" marL="0" rtl="0" algn="l">
                        <a:spcBef>
                          <a:spcPts val="0"/>
                        </a:spcBef>
                        <a:spcAft>
                          <a:spcPts val="0"/>
                        </a:spcAft>
                        <a:buNone/>
                      </a:pPr>
                      <a:r>
                        <a:rPr lang="en"/>
                        <a:t>hash 2</a:t>
                      </a:r>
                      <a:endParaRPr/>
                    </a:p>
                  </a:txBody>
                  <a:tcPr marT="91425" marB="91425" marR="91425" marL="91425"/>
                </a:tc>
              </a:tr>
              <a:tr h="381000">
                <a:tc>
                  <a:txBody>
                    <a:bodyPr/>
                    <a:lstStyle/>
                    <a:p>
                      <a:pPr indent="0" lvl="0" marL="0" rtl="0" algn="l">
                        <a:spcBef>
                          <a:spcPts val="0"/>
                        </a:spcBef>
                        <a:spcAft>
                          <a:spcPts val="0"/>
                        </a:spcAft>
                        <a:buNone/>
                      </a:pPr>
                      <a:r>
                        <a:rPr lang="en"/>
                        <a:t>hash n2</a:t>
                      </a:r>
                      <a:endParaRPr/>
                    </a:p>
                  </a:txBody>
                  <a:tcPr marT="91425" marB="91425" marR="91425" marL="91425"/>
                </a:tc>
              </a:tr>
            </a:tbl>
          </a:graphicData>
        </a:graphic>
      </p:graphicFrame>
      <p:cxnSp>
        <p:nvCxnSpPr>
          <p:cNvPr id="174" name="Google Shape;174;p25"/>
          <p:cNvCxnSpPr/>
          <p:nvPr/>
        </p:nvCxnSpPr>
        <p:spPr>
          <a:xfrm>
            <a:off x="6520000" y="2836275"/>
            <a:ext cx="342900" cy="529200"/>
          </a:xfrm>
          <a:prstGeom prst="straightConnector1">
            <a:avLst/>
          </a:prstGeom>
          <a:noFill/>
          <a:ln cap="flat" cmpd="sng" w="9525">
            <a:solidFill>
              <a:schemeClr val="dk2"/>
            </a:solidFill>
            <a:prstDash val="solid"/>
            <a:round/>
            <a:headEnd len="med" w="med" type="none"/>
            <a:tailEnd len="med" w="med" type="triangle"/>
          </a:ln>
        </p:spPr>
      </p:cxnSp>
      <p:cxnSp>
        <p:nvCxnSpPr>
          <p:cNvPr id="175" name="Google Shape;175;p25"/>
          <p:cNvCxnSpPr/>
          <p:nvPr/>
        </p:nvCxnSpPr>
        <p:spPr>
          <a:xfrm>
            <a:off x="7692375" y="1455450"/>
            <a:ext cx="292200" cy="4200"/>
          </a:xfrm>
          <a:prstGeom prst="straightConnector1">
            <a:avLst/>
          </a:prstGeom>
          <a:noFill/>
          <a:ln cap="flat" cmpd="sng" w="9525">
            <a:solidFill>
              <a:schemeClr val="dk2"/>
            </a:solidFill>
            <a:prstDash val="solid"/>
            <a:round/>
            <a:headEnd len="med" w="med" type="none"/>
            <a:tailEnd len="med" w="med" type="triangle"/>
          </a:ln>
        </p:spPr>
      </p:cxnSp>
      <p:sp>
        <p:nvSpPr>
          <p:cNvPr id="176" name="Google Shape;176;p25"/>
          <p:cNvSpPr txBox="1"/>
          <p:nvPr/>
        </p:nvSpPr>
        <p:spPr>
          <a:xfrm>
            <a:off x="7984575" y="1268650"/>
            <a:ext cx="1092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{d1, d3, d8}</a:t>
            </a:r>
            <a:endParaRPr sz="1300">
              <a:solidFill>
                <a:schemeClr val="dk2"/>
              </a:solidFill>
            </a:endParaRPr>
          </a:p>
        </p:txBody>
      </p:sp>
      <p:cxnSp>
        <p:nvCxnSpPr>
          <p:cNvPr id="177" name="Google Shape;177;p25"/>
          <p:cNvCxnSpPr/>
          <p:nvPr/>
        </p:nvCxnSpPr>
        <p:spPr>
          <a:xfrm>
            <a:off x="7692375" y="1829300"/>
            <a:ext cx="292200" cy="4200"/>
          </a:xfrm>
          <a:prstGeom prst="straightConnector1">
            <a:avLst/>
          </a:prstGeom>
          <a:noFill/>
          <a:ln cap="flat" cmpd="sng" w="9525">
            <a:solidFill>
              <a:schemeClr val="dk2"/>
            </a:solidFill>
            <a:prstDash val="solid"/>
            <a:round/>
            <a:headEnd len="med" w="med" type="none"/>
            <a:tailEnd len="med" w="med" type="triangle"/>
          </a:ln>
        </p:spPr>
      </p:cxnSp>
      <p:sp>
        <p:nvSpPr>
          <p:cNvPr id="178" name="Google Shape;178;p25"/>
          <p:cNvSpPr txBox="1"/>
          <p:nvPr/>
        </p:nvSpPr>
        <p:spPr>
          <a:xfrm>
            <a:off x="7984575" y="1638950"/>
            <a:ext cx="1092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{d4, d5, d9}</a:t>
            </a:r>
            <a:endParaRPr sz="1300">
              <a:solidFill>
                <a:schemeClr val="dk2"/>
              </a:solidFill>
            </a:endParaRPr>
          </a:p>
        </p:txBody>
      </p:sp>
      <p:cxnSp>
        <p:nvCxnSpPr>
          <p:cNvPr id="179" name="Google Shape;179;p25"/>
          <p:cNvCxnSpPr>
            <a:stCxn id="168" idx="3"/>
          </p:cNvCxnSpPr>
          <p:nvPr/>
        </p:nvCxnSpPr>
        <p:spPr>
          <a:xfrm>
            <a:off x="5167970" y="2059325"/>
            <a:ext cx="504600" cy="390000"/>
          </a:xfrm>
          <a:prstGeom prst="straightConnector1">
            <a:avLst/>
          </a:prstGeom>
          <a:noFill/>
          <a:ln cap="flat" cmpd="sng" w="9525">
            <a:solidFill>
              <a:schemeClr val="dk2"/>
            </a:solidFill>
            <a:prstDash val="solid"/>
            <a:round/>
            <a:headEnd len="med" w="med" type="none"/>
            <a:tailEnd len="med" w="med" type="triangle"/>
          </a:ln>
        </p:spPr>
      </p:cxnSp>
      <p:cxnSp>
        <p:nvCxnSpPr>
          <p:cNvPr id="180" name="Google Shape;180;p25"/>
          <p:cNvCxnSpPr>
            <a:stCxn id="169" idx="3"/>
          </p:cNvCxnSpPr>
          <p:nvPr/>
        </p:nvCxnSpPr>
        <p:spPr>
          <a:xfrm flipH="1" rot="10800000">
            <a:off x="5167970" y="2846100"/>
            <a:ext cx="509400" cy="401700"/>
          </a:xfrm>
          <a:prstGeom prst="straightConnector1">
            <a:avLst/>
          </a:prstGeom>
          <a:noFill/>
          <a:ln cap="flat" cmpd="sng" w="9525">
            <a:solidFill>
              <a:schemeClr val="dk2"/>
            </a:solidFill>
            <a:prstDash val="solid"/>
            <a:round/>
            <a:headEnd len="med" w="med" type="none"/>
            <a:tailEnd len="med" w="med" type="triangle"/>
          </a:ln>
        </p:spPr>
      </p:cxnSp>
      <p:sp>
        <p:nvSpPr>
          <p:cNvPr id="181" name="Google Shape;181;p25"/>
          <p:cNvSpPr txBox="1"/>
          <p:nvPr/>
        </p:nvSpPr>
        <p:spPr>
          <a:xfrm>
            <a:off x="3371389" y="225875"/>
            <a:ext cx="3195600" cy="16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2"/>
                </a:solidFill>
              </a:rPr>
              <a:t>Candidate pair:</a:t>
            </a:r>
            <a:r>
              <a:rPr lang="en" sz="1000">
                <a:solidFill>
                  <a:schemeClr val="dk2"/>
                </a:solidFill>
              </a:rPr>
              <a:t> two docs that share a hash in </a:t>
            </a:r>
            <a:r>
              <a:rPr i="1" lang="en" sz="1000">
                <a:solidFill>
                  <a:schemeClr val="dk2"/>
                </a:solidFill>
              </a:rPr>
              <a:t>at least one band</a:t>
            </a:r>
            <a:endParaRPr i="1" sz="1000">
              <a:solidFill>
                <a:schemeClr val="dk2"/>
              </a:solidFill>
            </a:endParaRPr>
          </a:p>
          <a:p>
            <a:pPr indent="0" lvl="0" marL="0" rtl="0" algn="l">
              <a:spcBef>
                <a:spcPts val="0"/>
              </a:spcBef>
              <a:spcAft>
                <a:spcPts val="0"/>
              </a:spcAft>
              <a:buNone/>
            </a:pPr>
            <a:r>
              <a:rPr b="1" lang="en" sz="1000">
                <a:solidFill>
                  <a:schemeClr val="dk2"/>
                </a:solidFill>
              </a:rPr>
              <a:t>Approach: </a:t>
            </a:r>
            <a:r>
              <a:rPr lang="en" sz="1000">
                <a:solidFill>
                  <a:schemeClr val="dk2"/>
                </a:solidFill>
              </a:rPr>
              <a:t>For each doc, in each band, hash the band’s subvector to a bucket</a:t>
            </a:r>
            <a:endParaRPr sz="1000">
              <a:solidFill>
                <a:schemeClr val="dk2"/>
              </a:solidFill>
            </a:endParaRPr>
          </a:p>
          <a:p>
            <a:pPr indent="0" lvl="0" marL="0" rtl="0" algn="l">
              <a:spcBef>
                <a:spcPts val="0"/>
              </a:spcBef>
              <a:spcAft>
                <a:spcPts val="0"/>
              </a:spcAft>
              <a:buNone/>
            </a:pPr>
            <a:r>
              <a:rPr lang="en" sz="1000">
                <a:solidFill>
                  <a:schemeClr val="dk2"/>
                </a:solidFill>
              </a:rPr>
              <a:t>For each query, compute minhash signature, divide into bands, compute hash for each band and look up docs for the hash. Only compute full similarity for candidate docs.</a:t>
            </a:r>
            <a:endParaRPr sz="1000">
              <a:solidFill>
                <a:schemeClr val="dk2"/>
              </a:solidFill>
            </a:endParaRPr>
          </a:p>
          <a:p>
            <a:pPr indent="0" lvl="0" marL="0" rtl="0" algn="ctr">
              <a:spcBef>
                <a:spcPts val="0"/>
              </a:spcBef>
              <a:spcAft>
                <a:spcPts val="0"/>
              </a:spcAft>
              <a:buNone/>
            </a:pPr>
            <a:r>
              <a:t/>
            </a:r>
            <a:endParaRPr sz="13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LSH: Analysis</a:t>
            </a:r>
            <a:endParaRPr/>
          </a:p>
        </p:txBody>
      </p:sp>
      <p:pic>
        <p:nvPicPr>
          <p:cNvPr descr="{&quot;aid&quot;:null,&quot;backgroundColor&quot;:&quot;#FFFFFF&quot;,&quot;id&quot;:&quot;1&quot;,&quot;backgroundColorModified&quot;:false,&quot;font&quot;:{&quot;color&quot;:&quot;#000000&quot;,&quot;size&quot;:12,&quot;family&quot;:&quot;Arial&quot;},&quot;code&quot;:&quot;\\begin{gather*}\n{\\text{Let}\\;s\\,=\\,J\\left(A,B\\right)\\,\\text{be}\\;\\text{the}\\;\\text{Jaccard}\\;\\text{similarity}\\;\\text{of}\\;\\text{sets}\\;\\text{A}\\;\\text{and}\\;\\text{B}}\\\\\n{\\text{For}\\;\\text{MinHash,}\\;\\text{probability}\\;\\text{that}\\;\\text{one}\\;\\text{row}\\;\\text{matches}\\;\\text{=}\\;\\text{s}}\\\\\n{\\text{Within}\\;\\text{a}\\;\\text{band}\\;\\text{of}\\;r\\,\\text{rows,}\\;\\text{probability}\\;\\text{that}\\;\\text{all}\\;\\text{rows}\\;\\text{match}=s^{r}}\\\\\n{\\text{Probability}\\;\\text{that}\\;\\text{none}\\;\\text{of}\\;\\text{the}\\;\\text{rows}\\;\\text{in}\\;\\text{a}\\;\\text{band}\\;\\text{match}\\;\\text{=}\\;1-s^{r}}\\\\\n{\\text{Over}\\;b\\,\\text{bands,}\\;\\text{probability}\\;\\text{that}\\;\\text{none}\\;\\text{of}\\;\\text{the}\\;\\text{bands}\\;\\text{match}}\\\\\n{\\left(1-s^{r}\\right)^{b}}\\\\\n{\\text{Probability}\\;\\text{that}\\;\\text{at}\\;\\text{least}\\;\\text{one}\\;\\text{of}\\;\\text{the}\\;\\text{bands}\\;\\text{match:}\\;\\text{}}\\\\\n{1-\\left(1-s^{r}\\right)^{b}}\t\n\\end{gather*}&quot;,&quot;type&quot;:&quot;gather*&quot;,&quot;ts&quot;:1767458221815,&quot;cs&quot;:&quot;AFWHr3bWpi1Re6MJYNAJ9Q==&quot;,&quot;size&quot;:{&quot;width&quot;:498,&quot;height&quot;:198}}" id="187" name="Google Shape;187;p26"/>
          <p:cNvPicPr preferRelativeResize="0"/>
          <p:nvPr/>
        </p:nvPicPr>
        <p:blipFill>
          <a:blip r:embed="rId3">
            <a:alphaModFix/>
          </a:blip>
          <a:stretch>
            <a:fillRect/>
          </a:stretch>
        </p:blipFill>
        <p:spPr>
          <a:xfrm>
            <a:off x="418000" y="1332425"/>
            <a:ext cx="4743450" cy="188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LSH Banding S-curves</a:t>
            </a:r>
            <a:endParaRPr/>
          </a:p>
        </p:txBody>
      </p:sp>
      <p:pic>
        <p:nvPicPr>
          <p:cNvPr id="193" name="Google Shape;193;p27"/>
          <p:cNvPicPr preferRelativeResize="0"/>
          <p:nvPr/>
        </p:nvPicPr>
        <p:blipFill>
          <a:blip r:embed="rId3">
            <a:alphaModFix/>
          </a:blip>
          <a:stretch>
            <a:fillRect/>
          </a:stretch>
        </p:blipFill>
        <p:spPr>
          <a:xfrm>
            <a:off x="311700" y="1160325"/>
            <a:ext cx="5094634" cy="3820975"/>
          </a:xfrm>
          <a:prstGeom prst="rect">
            <a:avLst/>
          </a:prstGeom>
          <a:noFill/>
          <a:ln>
            <a:noFill/>
          </a:ln>
        </p:spPr>
      </p:pic>
      <p:sp>
        <p:nvSpPr>
          <p:cNvPr id="194" name="Google Shape;194;p27"/>
          <p:cNvSpPr txBox="1"/>
          <p:nvPr/>
        </p:nvSpPr>
        <p:spPr>
          <a:xfrm>
            <a:off x="5504119" y="3733875"/>
            <a:ext cx="13098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rPr>
              <a:t>Less selective</a:t>
            </a:r>
            <a:endParaRPr sz="1100">
              <a:solidFill>
                <a:schemeClr val="dk2"/>
              </a:solidFill>
            </a:endParaRPr>
          </a:p>
        </p:txBody>
      </p:sp>
      <p:sp>
        <p:nvSpPr>
          <p:cNvPr id="195" name="Google Shape;195;p27"/>
          <p:cNvSpPr txBox="1"/>
          <p:nvPr/>
        </p:nvSpPr>
        <p:spPr>
          <a:xfrm>
            <a:off x="5484519" y="4405525"/>
            <a:ext cx="13098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rPr>
              <a:t>More </a:t>
            </a:r>
            <a:r>
              <a:rPr lang="en" sz="1100">
                <a:solidFill>
                  <a:schemeClr val="dk2"/>
                </a:solidFill>
              </a:rPr>
              <a:t>selective</a:t>
            </a:r>
            <a:endParaRPr sz="1100">
              <a:solidFill>
                <a:schemeClr val="dk2"/>
              </a:solidFill>
            </a:endParaRPr>
          </a:p>
        </p:txBody>
      </p:sp>
      <p:cxnSp>
        <p:nvCxnSpPr>
          <p:cNvPr id="196" name="Google Shape;196;p27"/>
          <p:cNvCxnSpPr/>
          <p:nvPr/>
        </p:nvCxnSpPr>
        <p:spPr>
          <a:xfrm flipH="1">
            <a:off x="5182950" y="3928650"/>
            <a:ext cx="445500" cy="2106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27"/>
          <p:cNvCxnSpPr/>
          <p:nvPr/>
        </p:nvCxnSpPr>
        <p:spPr>
          <a:xfrm rot="10800000">
            <a:off x="5241625" y="4394000"/>
            <a:ext cx="353100" cy="19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Minhash + LSH pipeline	</a:t>
            </a:r>
            <a:endParaRPr/>
          </a:p>
        </p:txBody>
      </p:sp>
      <p:sp>
        <p:nvSpPr>
          <p:cNvPr id="203" name="Google Shape;20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Preprocessing:</a:t>
            </a:r>
            <a:endParaRPr/>
          </a:p>
          <a:p>
            <a:pPr indent="-342900" lvl="0" marL="457200" rtl="0" algn="l">
              <a:spcBef>
                <a:spcPts val="1200"/>
              </a:spcBef>
              <a:spcAft>
                <a:spcPts val="0"/>
              </a:spcAft>
              <a:buSzPts val="1800"/>
              <a:buChar char="-"/>
            </a:pPr>
            <a:r>
              <a:rPr lang="en"/>
              <a:t>For each document,</a:t>
            </a:r>
            <a:endParaRPr/>
          </a:p>
          <a:p>
            <a:pPr indent="-317500" lvl="1" marL="914400" rtl="0" algn="l">
              <a:spcBef>
                <a:spcPts val="0"/>
              </a:spcBef>
              <a:spcAft>
                <a:spcPts val="0"/>
              </a:spcAft>
              <a:buSzPts val="1400"/>
              <a:buChar char="-"/>
            </a:pPr>
            <a:r>
              <a:rPr lang="en"/>
              <a:t>Compute Minhash signature vector</a:t>
            </a:r>
            <a:endParaRPr/>
          </a:p>
          <a:p>
            <a:pPr indent="-317500" lvl="1" marL="914400" rtl="0" algn="l">
              <a:spcBef>
                <a:spcPts val="0"/>
              </a:spcBef>
              <a:spcAft>
                <a:spcPts val="0"/>
              </a:spcAft>
              <a:buSzPts val="1400"/>
              <a:buChar char="-"/>
            </a:pPr>
            <a:r>
              <a:rPr lang="en"/>
              <a:t>Divide into bands, build LSH table for each band</a:t>
            </a:r>
            <a:endParaRPr/>
          </a:p>
          <a:p>
            <a:pPr indent="0" lvl="0" marL="0" rtl="0" algn="l">
              <a:spcBef>
                <a:spcPts val="1200"/>
              </a:spcBef>
              <a:spcAft>
                <a:spcPts val="0"/>
              </a:spcAft>
              <a:buNone/>
            </a:pPr>
            <a:r>
              <a:rPr lang="en"/>
              <a:t>At query time</a:t>
            </a:r>
            <a:endParaRPr/>
          </a:p>
          <a:p>
            <a:pPr indent="-342900" lvl="0" marL="457200" rtl="0" algn="l">
              <a:spcBef>
                <a:spcPts val="1200"/>
              </a:spcBef>
              <a:spcAft>
                <a:spcPts val="0"/>
              </a:spcAft>
              <a:buSzPts val="1800"/>
              <a:buChar char="-"/>
            </a:pPr>
            <a:r>
              <a:rPr lang="en"/>
              <a:t>For each query</a:t>
            </a:r>
            <a:endParaRPr/>
          </a:p>
          <a:p>
            <a:pPr indent="-317500" lvl="1" marL="914400" rtl="0" algn="l">
              <a:spcBef>
                <a:spcPts val="0"/>
              </a:spcBef>
              <a:spcAft>
                <a:spcPts val="0"/>
              </a:spcAft>
              <a:buSzPts val="1400"/>
              <a:buChar char="-"/>
            </a:pPr>
            <a:r>
              <a:rPr lang="en"/>
              <a:t>Compute Minhash signature vector O(hk)</a:t>
            </a:r>
            <a:endParaRPr/>
          </a:p>
          <a:p>
            <a:pPr indent="-317500" lvl="1" marL="914400" rtl="0" algn="l">
              <a:spcBef>
                <a:spcPts val="0"/>
              </a:spcBef>
              <a:spcAft>
                <a:spcPts val="0"/>
              </a:spcAft>
              <a:buSzPts val="1400"/>
              <a:buChar char="-"/>
            </a:pPr>
            <a:r>
              <a:rPr lang="en"/>
              <a:t>Divide into bands, compute hash. Look up candidate docs in LSH table</a:t>
            </a:r>
            <a:endParaRPr/>
          </a:p>
          <a:p>
            <a:pPr indent="-317500" lvl="1" marL="914400" rtl="0" algn="l">
              <a:spcBef>
                <a:spcPts val="0"/>
              </a:spcBef>
              <a:spcAft>
                <a:spcPts val="0"/>
              </a:spcAft>
              <a:buSzPts val="1400"/>
              <a:buChar char="-"/>
            </a:pPr>
            <a:r>
              <a:rPr lang="en"/>
              <a:t>Rescore candidates with BM25, embeddings etc.</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