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E07758E-71CB-409E-8326-332DD2115DE1}">
  <a:tblStyle styleId="{5E07758E-71CB-409E-8326-332DD2115D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slide" Target="slides/slide16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24" Type="http://schemas.openxmlformats.org/officeDocument/2006/relationships/slide" Target="slides/slide18.xml"/><Relationship Id="rId12" Type="http://schemas.openxmlformats.org/officeDocument/2006/relationships/slide" Target="slides/slide6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63ecbe50c2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63ecbe50c2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c1ff76782b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c1ff76782b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91f4cc78c6_1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91f4cc78c6_1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91f4cc78c6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91f4cc78c6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91f4cc78c6_1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91f4cc78c6_1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91f4cc78c6_1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91f4cc78c6_1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91f4cc78c6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91f4cc78c6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91f4cc78c6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91f4cc78c6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91f4cc78c6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91f4cc78c6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91f4cc78c6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91f4cc78c6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91f4cc78c6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91f4cc78c6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91f4cc78c6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91f4cc78c6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91f4cc78c6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91f4cc78c6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91f4cc78c6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91f4cc78c6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c1ff76782b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c1ff76782b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c1ff76782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c1ff76782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bf69af369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bf69af369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web.stanford.edu/class/cs276/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://hw1.py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Information Retrieval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to Deep Learning: Class 4.1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Module Agenda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293225"/>
            <a:ext cx="8520600" cy="327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IR problem setup and evaluation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Lexical Retrieval and Classic Sparse Indices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Find relevant docs based on salient words in the query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Set/String Similarity: </a:t>
            </a:r>
            <a:r>
              <a:rPr lang="en" sz="1583"/>
              <a:t>we allow for some fuzziness in the matching process</a:t>
            </a:r>
            <a:r>
              <a:rPr lang="en"/>
              <a:t> </a:t>
            </a:r>
            <a:endParaRPr/>
          </a:p>
          <a:p>
            <a:pPr indent="-325755" lvl="1" marL="914400" rtl="0" algn="l">
              <a:spcBef>
                <a:spcPts val="0"/>
              </a:spcBef>
              <a:spcAft>
                <a:spcPts val="0"/>
              </a:spcAft>
              <a:buSzPct val="128571"/>
              <a:buChar char="-"/>
            </a:pPr>
            <a:r>
              <a:rPr lang="en"/>
              <a:t>Minhash</a:t>
            </a:r>
            <a:endParaRPr/>
          </a:p>
          <a:p>
            <a:pPr indent="-325755" lvl="1" marL="914400" rtl="0" algn="l">
              <a:spcBef>
                <a:spcPts val="0"/>
              </a:spcBef>
              <a:spcAft>
                <a:spcPts val="0"/>
              </a:spcAft>
              <a:buSzPct val="128571"/>
              <a:buChar char="-"/>
            </a:pPr>
            <a:r>
              <a:rPr lang="en"/>
              <a:t>LSH  </a:t>
            </a:r>
            <a:r>
              <a:rPr lang="en" sz="1800"/>
              <a:t> 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Semantic Similarity and Dense Retrieval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Match based on meaning, not key words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Indexing for Fast ANN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HNSW, IVF, PQ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6993"/>
              <a:buChar char="-"/>
            </a:pPr>
            <a:r>
              <a:rPr lang="en"/>
              <a:t>Sparse Neural Retrieval: </a:t>
            </a:r>
            <a:r>
              <a:rPr lang="en" sz="1682"/>
              <a:t>combine meaning with inverse lookup</a:t>
            </a:r>
            <a:endParaRPr sz="1682"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Splade, Hybrid search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Rank fusion and re-ranking 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Combining rankings from multiple sources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Pre-read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Stanford CS276</a:t>
            </a:r>
            <a:r>
              <a:rPr lang="en"/>
              <a:t> (IR &amp; Web Search): Week 5--Evaluation Methods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to Information Retrieval 	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261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Explain what the IR problem is (vs. classification / regression).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Understand </a:t>
            </a:r>
            <a:r>
              <a:rPr i="1" lang="en" sz="1100">
                <a:solidFill>
                  <a:schemeClr val="dk1"/>
                </a:solidFill>
              </a:rPr>
              <a:t>relevance</a:t>
            </a:r>
            <a:r>
              <a:rPr lang="en" sz="1100">
                <a:solidFill>
                  <a:schemeClr val="dk1"/>
                </a:solidFill>
              </a:rPr>
              <a:t> and how we approximate it.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Define and compute </a:t>
            </a:r>
            <a:r>
              <a:rPr b="1" lang="en" sz="1100">
                <a:solidFill>
                  <a:schemeClr val="dk1"/>
                </a:solidFill>
              </a:rPr>
              <a:t>precision, recall, F1, Precision@k, Recall@k</a:t>
            </a:r>
            <a:r>
              <a:rPr lang="en" sz="1100">
                <a:solidFill>
                  <a:schemeClr val="dk1"/>
                </a:solidFill>
              </a:rPr>
              <a:t>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Understand </a:t>
            </a:r>
            <a:r>
              <a:rPr b="1" lang="en" sz="1100">
                <a:solidFill>
                  <a:schemeClr val="dk1"/>
                </a:solidFill>
              </a:rPr>
              <a:t>rank-aware metrics</a:t>
            </a:r>
            <a:r>
              <a:rPr lang="en" sz="1100">
                <a:solidFill>
                  <a:schemeClr val="dk1"/>
                </a:solidFill>
              </a:rPr>
              <a:t>: AP, mAP, MRR, NDCG (at least intuitively).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Measuring</a:t>
            </a:r>
            <a:r>
              <a:rPr lang="en"/>
              <a:t> Performance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Precision/Recall/F1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Precision@k, Recall@k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Rank-aware metrics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Average Precision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Mean Average Precision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NDCG@k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Information Retrieval	</a:t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Task of, given a query </a:t>
            </a:r>
            <a:r>
              <a:rPr i="1" lang="en" sz="1100">
                <a:solidFill>
                  <a:schemeClr val="dk1"/>
                </a:solidFill>
              </a:rPr>
              <a:t>q</a:t>
            </a:r>
            <a:r>
              <a:rPr lang="en" sz="1100">
                <a:solidFill>
                  <a:schemeClr val="dk1"/>
                </a:solidFill>
              </a:rPr>
              <a:t>, </a:t>
            </a:r>
            <a:r>
              <a:rPr b="1" lang="en" sz="1100">
                <a:solidFill>
                  <a:schemeClr val="dk1"/>
                </a:solidFill>
              </a:rPr>
              <a:t>ranking</a:t>
            </a:r>
            <a:r>
              <a:rPr lang="en" sz="1100">
                <a:solidFill>
                  <a:schemeClr val="dk1"/>
                </a:solidFill>
              </a:rPr>
              <a:t> items (documents, passages, products, etc.) from a large collection in order of decreasing </a:t>
            </a:r>
            <a:r>
              <a:rPr i="1" lang="en" sz="1100">
                <a:solidFill>
                  <a:schemeClr val="dk1"/>
                </a:solidFill>
              </a:rPr>
              <a:t>relevance</a:t>
            </a:r>
            <a:r>
              <a:rPr lang="en" sz="1100">
                <a:solidFill>
                  <a:schemeClr val="dk1"/>
                </a:solidFill>
              </a:rPr>
              <a:t> to </a:t>
            </a:r>
            <a:r>
              <a:rPr i="1" lang="en" sz="1100">
                <a:solidFill>
                  <a:schemeClr val="dk1"/>
                </a:solidFill>
              </a:rPr>
              <a:t>q</a:t>
            </a:r>
            <a:endParaRPr i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Document Corpus: Set D = {d1, d2 … dn} of items you can return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Relevance: A binary or graded label indicating how well a document satisfies the user’s information need for a given query.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Example toy corpus: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q</a:t>
            </a:r>
            <a:r>
              <a:rPr lang="en" sz="1100">
                <a:solidFill>
                  <a:schemeClr val="dk1"/>
                </a:solidFill>
              </a:rPr>
              <a:t>: "hikes near NYC"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d1: "Best hikes near NYC area" (highly relevant)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d2: "Hiking safety tips and trail etiquette" (somewhat relevant)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d3: "Top 10 restaurants in New York city"  (irrelevant)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d4: "Neural networks and deep learning basics" (irrelevant)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Relevance: Binary or Graded</a:t>
            </a:r>
            <a:endParaRPr/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333100" y="1157350"/>
            <a:ext cx="8499300" cy="338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 a document relevant to a query, and how relevant is it?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 human annotator assigns a label to (query, document) pairs. 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Binary: relevant or not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Graded: 0 (not relevant), 1 (somewhat relevant), 2 (highly relevant)..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descr="{&quot;id&quot;:&quot;6&quot;,&quot;font&quot;:{&quot;family&quot;:&quot;Arial&quot;,&quot;size&quot;:18,&quot;color&quot;:&quot;#595959&quot;},&quot;backgroundColor&quot;:&quot;#FFFFFF&quot;,&quot;aid&quot;:null,&quot;code&quot;:&quot;\\begin{gather*}\n{\\text{Relevant}\\;\\text{set:}}\\\\\n{Rel\\left(q\\right)=\\left\\{d\\,\\in D,\\,d\\,\\text{is}\\;\\text{relevant}\\;\\text{to}\\;q\\right\\}}\\\\\n{\\text{Fo}\\text{r}\\;\\text{our}\\;\\text{example,}\\;\\text{set}\\;\\text{of}\\;\\text{relevant}\\;\\text{docs:}}\\\\\n{Rel\\left(q\\right)=\\left\\{d1,d2\\right\\}}\t\n\\end{gather*}&quot;,&quot;type&quot;:&quot;gather*&quot;,&quot;backgroundColorModified&quot;:false,&quot;ts&quot;:1767294756306,&quot;cs&quot;:&quot;pOISW6NEo07IYzMFNlBf1w==&quot;,&quot;size&quot;:{&quot;width&quot;:455,&quot;height&quot;:136.66666666666666}}" id="92" name="Google Shape;9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54726" y="3041325"/>
            <a:ext cx="3813274" cy="1145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Relevance Metrics</a:t>
            </a:r>
            <a:endParaRPr/>
          </a:p>
        </p:txBody>
      </p:sp>
      <p:sp>
        <p:nvSpPr>
          <p:cNvPr id="98" name="Google Shape;98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Unordered:</a:t>
            </a:r>
            <a:r>
              <a:rPr lang="en"/>
              <a:t> We treat the result set as a bag of docs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/>
              <a:t>Ordered: </a:t>
            </a:r>
            <a:r>
              <a:rPr lang="en"/>
              <a:t>We care about the order of docs in the result set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/>
          <p:cNvSpPr txBox="1"/>
          <p:nvPr>
            <p:ph type="title"/>
          </p:nvPr>
        </p:nvSpPr>
        <p:spPr>
          <a:xfrm>
            <a:off x="311700" y="445025"/>
            <a:ext cx="4812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Unordered Relevance Metrics		</a:t>
            </a:r>
            <a:endParaRPr/>
          </a:p>
        </p:txBody>
      </p:sp>
      <p:sp>
        <p:nvSpPr>
          <p:cNvPr id="104" name="Google Shape;104;p21"/>
          <p:cNvSpPr txBox="1"/>
          <p:nvPr>
            <p:ph idx="1" type="body"/>
          </p:nvPr>
        </p:nvSpPr>
        <p:spPr>
          <a:xfrm>
            <a:off x="311700" y="1152475"/>
            <a:ext cx="8520600" cy="176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Precision/Recall</a:t>
            </a:r>
            <a:endParaRPr b="1" sz="13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/>
              <a:t>For our query, relevant docs (2): {d1, d2, d3}, irrelevant docs (2): {d3, d4}</a:t>
            </a:r>
            <a:endParaRPr sz="13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/>
              <a:t>System A returns relevant docs (2): {d1, d2, d4}, rest {d3, d5, d6} irrelevant.</a:t>
            </a:r>
            <a:endParaRPr sz="13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300"/>
              <a:t>Confusion Matrix: </a:t>
            </a:r>
            <a:endParaRPr sz="1300"/>
          </a:p>
        </p:txBody>
      </p:sp>
      <p:graphicFrame>
        <p:nvGraphicFramePr>
          <p:cNvPr id="105" name="Google Shape;105;p21"/>
          <p:cNvGraphicFramePr/>
          <p:nvPr/>
        </p:nvGraphicFramePr>
        <p:xfrm>
          <a:off x="2010775" y="2339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{5E07758E-71CB-409E-8326-332DD2115DE1}</a:tableStyleId>
              </a:tblPr>
              <a:tblGrid>
                <a:gridCol w="1928050"/>
                <a:gridCol w="1928050"/>
                <a:gridCol w="19280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NR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Box 1 {d1, d2}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Box 2 {d3}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Box 3 {d4}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Box 4 {d5, d6}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descr="{&quot;backgroundColorModified&quot;:false,&quot;aid&quot;:null,&quot;backgroundColor&quot;:&quot;#FFFFFF&quot;,&quot;id&quot;:&quot;7&quot;,&quot;code&quot;:&quot;\\begin{gather*}\n{\\text{Precision:}\\;\\text{What}\\;\\text{proportion}\\;\\text{of}\\;\\text{the}\\;\\text{relevant}\\;\\text{docs}\\;\\text{returned}\\;\\text{b}\\text{y}\\;\\text{the}\\;\\text{system}\\;\\text{are}\\;\\text{truly}\\;\\text{relevant?}}\\\\\n{\\text{Precision}\\;\\text{=}\\;\\frac{\\text{Box}\\;1}{\\text{Box}\\;\\text{1}\\;\\text{+}\\;\\text{Box}\\;\\text{3}}=2/3}\\\\\n{\\text{Recall:}\\;\\text{What}\\;\\text{proportion}\\;\\text{of}\\;\\text{the}\\;\\text{relevant}\\;\\text{docs}\\;\\text{are}\\;\\text{recalled}\\;\\text{by}\\;\\text{the}\\;\\text{system?}}\\\\\n{\\text{Recall}\\;\\text{=}\\;\\frac{\\text{Box}\\;\\text{1}}{\\text{Box}\\;\\text{1}\\;\\text{+}\\;\\text{Box}\\;\\text{2}}=2/3}\\\\\n{\\text{F1:}\\;\\frac{2\\times \\text{precision}\\;\\times\\,\\text{recall}}{\\text{precision}\\;\\text{+}\\;\\text{recall}}=2/3}\t\n\\end{gather*}&quot;,&quot;font&quot;:{&quot;family&quot;:&quot;Arial&quot;,&quot;size&quot;:11.5,&quot;color&quot;:&quot;#595959&quot;},&quot;type&quot;:&quot;gather*&quot;,&quot;ts&quot;:1767299136488,&quot;cs&quot;:&quot;ZbIRjUElJ4o1ToyNb7z+0A==&quot;,&quot;size&quot;:{&quot;width&quot;:705,&quot;height&quot;:174}}" id="106" name="Google Shape;10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26225" y="3602300"/>
            <a:ext cx="6068700" cy="1497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1"/>
          <p:cNvSpPr txBox="1"/>
          <p:nvPr/>
        </p:nvSpPr>
        <p:spPr>
          <a:xfrm>
            <a:off x="5226800" y="142050"/>
            <a:ext cx="3889500" cy="14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q: "hikes near NYC"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d1: "Best hikes near NYC area" (highly relevant)</a:t>
            </a:r>
            <a:br>
              <a:rPr lang="en" sz="1000">
                <a:solidFill>
                  <a:schemeClr val="dk1"/>
                </a:solidFill>
              </a:rPr>
            </a:br>
            <a:r>
              <a:rPr lang="en" sz="1000">
                <a:solidFill>
                  <a:schemeClr val="dk1"/>
                </a:solidFill>
              </a:rPr>
              <a:t>d</a:t>
            </a:r>
            <a:r>
              <a:rPr lang="en" sz="1000">
                <a:solidFill>
                  <a:schemeClr val="dk1"/>
                </a:solidFill>
              </a:rPr>
              <a:t>2: </a:t>
            </a:r>
            <a:r>
              <a:rPr lang="en" sz="1000">
                <a:solidFill>
                  <a:schemeClr val="dk1"/>
                </a:solidFill>
              </a:rPr>
              <a:t>"Hiking safety tips and trail etiquette" (somewhat relevant)</a:t>
            </a:r>
            <a:br>
              <a:rPr lang="en" sz="1000">
                <a:solidFill>
                  <a:schemeClr val="dk1"/>
                </a:solidFill>
              </a:rPr>
            </a:br>
            <a:r>
              <a:rPr lang="en" sz="1000">
                <a:solidFill>
                  <a:schemeClr val="dk1"/>
                </a:solidFill>
              </a:rPr>
              <a:t>d3: “Popular hikes in the NY metropolitan area (highly relevant)</a:t>
            </a:r>
            <a:br>
              <a:rPr lang="en" sz="1000">
                <a:solidFill>
                  <a:schemeClr val="dk1"/>
                </a:solidFill>
              </a:rPr>
            </a:br>
            <a:r>
              <a:rPr lang="en" sz="1000">
                <a:solidFill>
                  <a:schemeClr val="dk1"/>
                </a:solidFill>
              </a:rPr>
              <a:t>d4: “Top 10 restaurants in New York city"  (irrelevant)</a:t>
            </a:r>
            <a:br>
              <a:rPr lang="en" sz="1000">
                <a:solidFill>
                  <a:schemeClr val="dk1"/>
                </a:solidFill>
              </a:rPr>
            </a:br>
            <a:r>
              <a:rPr lang="en" sz="1000">
                <a:solidFill>
                  <a:schemeClr val="dk1"/>
                </a:solidFill>
              </a:rPr>
              <a:t>d5: “Neural networks and deep learning basics” (irrelevant)</a:t>
            </a:r>
            <a:br>
              <a:rPr lang="en" sz="1000">
                <a:solidFill>
                  <a:schemeClr val="dk1"/>
                </a:solidFill>
              </a:rPr>
            </a:br>
            <a:r>
              <a:rPr lang="en" sz="1000">
                <a:solidFill>
                  <a:schemeClr val="dk1"/>
                </a:solidFill>
              </a:rPr>
              <a:t>d6: “Rise and fall of the Roman empire” (irrelevant)</a:t>
            </a:r>
            <a:endParaRPr/>
          </a:p>
        </p:txBody>
      </p:sp>
      <p:sp>
        <p:nvSpPr>
          <p:cNvPr id="108" name="Google Shape;108;p21"/>
          <p:cNvSpPr txBox="1"/>
          <p:nvPr/>
        </p:nvSpPr>
        <p:spPr>
          <a:xfrm>
            <a:off x="7952675" y="2571750"/>
            <a:ext cx="12585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Row: Actuals</a:t>
            </a:r>
            <a:endParaRPr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Col: System</a:t>
            </a:r>
            <a:endParaRPr sz="13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Unordered Relevance Metrics		</a:t>
            </a:r>
            <a:endParaRPr/>
          </a:p>
        </p:txBody>
      </p:sp>
      <p:sp>
        <p:nvSpPr>
          <p:cNvPr id="114" name="Google Shape;114;p22"/>
          <p:cNvSpPr txBox="1"/>
          <p:nvPr>
            <p:ph idx="1" type="body"/>
          </p:nvPr>
        </p:nvSpPr>
        <p:spPr>
          <a:xfrm>
            <a:off x="292100" y="1157375"/>
            <a:ext cx="3567900" cy="11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300"/>
              <a:t>System B is more conservative. It only returns relevant docs: {d1}, irrelevant docs: {d2, d3, d4, d5, d6}</a:t>
            </a:r>
            <a:endParaRPr sz="1300"/>
          </a:p>
        </p:txBody>
      </p:sp>
      <p:graphicFrame>
        <p:nvGraphicFramePr>
          <p:cNvPr id="115" name="Google Shape;115;p22"/>
          <p:cNvGraphicFramePr/>
          <p:nvPr/>
        </p:nvGraphicFramePr>
        <p:xfrm>
          <a:off x="3827925" y="1182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{5E07758E-71CB-409E-8326-332DD2115DE1}</a:tableStyleId>
              </a:tblPr>
              <a:tblGrid>
                <a:gridCol w="1358175"/>
                <a:gridCol w="1108350"/>
                <a:gridCol w="1608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NR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Box 1 {d1} 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Box 2 {d2, d3}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Box 3 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Box 4 {d4, d5, d6}</a:t>
                      </a:r>
                      <a:endParaRPr sz="1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descr="{&quot;backgroundColor&quot;:&quot;#FFFFFF&quot;,&quot;backgroundColorModified&quot;:false,&quot;code&quot;:&quot;\\begin{gather*}\n{\\text{Precision:}\\;\\text{What}\\;\\text{proportion}\\;\\text{of}\\;\\text{the}\\;\\text{relevant}\\;\\text{docs}\\;\\text{returned}\\;\\text{b}\\text{y}\\;\\text{the}\\;\\text{system}\\;\\text{are}\\;\\text{truly}\\;\\text{relevant?}}\\\\\n{\\text{Precision}\\;\\text{=}\\;\\frac{\\text{Box}\\;1}{\\text{Box}\\;\\text{1}\\;\\text{+}\\;\\text{Box}\\;\\text{3}}=1}\\\\\n{\\text{Recall:}\\;\\text{What}\\;\\text{proportion}\\;\\text{of}\\;\\text{the}\\;\\text{relevant}\\;\\text{docs}\\;\\text{are}\\;\\text{recalled}\\;\\text{by}\\;\\text{the}\\;\\text{system?}}\\\\\n{\\text{Recall}\\;\\text{=}\\;\\frac{\\text{Box}\\;\\text{1}}{\\text{Box}\\;\\text{1}\\;\\text{+}\\;\\text{Box}\\;\\text{2}}=1/3}\\\\\n{\\text{F1=1/2}}\t\n\\end{gather*}&quot;,&quot;type&quot;:&quot;gather*&quot;,&quot;id&quot;:&quot;7&quot;,&quot;font&quot;:{&quot;size&quot;:11.5,&quot;family&quot;:&quot;Arial&quot;,&quot;color&quot;:&quot;#595959&quot;},&quot;aid&quot;:null,&quot;ts&quot;:1767299192906,&quot;cs&quot;:&quot;LXhX8S8N6lCDI08oOQMMpA==&quot;,&quot;size&quot;:{&quot;width&quot;:704.5,&quot;height&quot;:152}}" id="116" name="Google Shape;11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1726" y="2535225"/>
            <a:ext cx="5375529" cy="1159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2"/>
          <p:cNvSpPr txBox="1"/>
          <p:nvPr>
            <p:ph idx="1" type="body"/>
          </p:nvPr>
        </p:nvSpPr>
        <p:spPr>
          <a:xfrm>
            <a:off x="498400" y="3695025"/>
            <a:ext cx="7848900" cy="11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Takeaway: </a:t>
            </a:r>
            <a:endParaRPr sz="1300"/>
          </a:p>
          <a:p>
            <a:pPr indent="-277177" lvl="0" marL="457200" rtl="0" algn="l">
              <a:spcBef>
                <a:spcPts val="1200"/>
              </a:spcBef>
              <a:spcAft>
                <a:spcPts val="0"/>
              </a:spcAft>
              <a:buSzPct val="100000"/>
              <a:buAutoNum type="arabicPeriod"/>
            </a:pPr>
            <a:r>
              <a:rPr lang="en" sz="900"/>
              <a:t>We can make a system more precise by raising the bar of making a relevant determination, but that comes at the expense of recall. Alternatively, we can achieve a perfect recall by judging every document relevant, but that comes at the expense of precision</a:t>
            </a:r>
            <a:br>
              <a:rPr lang="en" sz="900"/>
            </a:br>
            <a:endParaRPr sz="900"/>
          </a:p>
          <a:p>
            <a:pPr indent="-277177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 sz="900"/>
              <a:t>Precision/Recall trade-off varies by application. A mammogram scanning system must have high recall (we don’t want to miss any positive scans), a scam detection system must have high precision (we don’t want to mislabel a good message as spam and remove it from the inbox.. It is more acceptable to miss some spam messages and allow them in the inbox)</a:t>
            </a:r>
            <a:endParaRPr sz="9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Classification problems </a:t>
            </a:r>
            <a:endParaRPr/>
          </a:p>
        </p:txBody>
      </p:sp>
      <p:sp>
        <p:nvSpPr>
          <p:cNvPr id="123" name="Google Shape;123;p23"/>
          <p:cNvSpPr txBox="1"/>
          <p:nvPr>
            <p:ph idx="1" type="body"/>
          </p:nvPr>
        </p:nvSpPr>
        <p:spPr>
          <a:xfrm>
            <a:off x="311700" y="1152475"/>
            <a:ext cx="8324400" cy="115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600"/>
              <a:t>Precision/Recall apply directly to binary classification problems. It can also be extended to multi-class problems. For multi-class problems, we compute precision/recall/F1 for every class, as a binary class problem, coalescing all misclassifications for that class</a:t>
            </a:r>
            <a:endParaRPr sz="1600"/>
          </a:p>
        </p:txBody>
      </p:sp>
      <p:graphicFrame>
        <p:nvGraphicFramePr>
          <p:cNvPr id="124" name="Google Shape;124;p23"/>
          <p:cNvGraphicFramePr/>
          <p:nvPr/>
        </p:nvGraphicFramePr>
        <p:xfrm>
          <a:off x="991700" y="2311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{5E07758E-71CB-409E-8326-332DD2115DE1}</a:tableStyleId>
              </a:tblPr>
              <a:tblGrid>
                <a:gridCol w="1039450"/>
                <a:gridCol w="1039450"/>
                <a:gridCol w="1039450"/>
                <a:gridCol w="10394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Dog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Cat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Mouse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Dog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Cat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Mouse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12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25" name="Google Shape;125;p23"/>
          <p:cNvSpPr txBox="1"/>
          <p:nvPr/>
        </p:nvSpPr>
        <p:spPr>
          <a:xfrm>
            <a:off x="5417825" y="2165175"/>
            <a:ext cx="1876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Classifier said cat, but actually a dog</a:t>
            </a:r>
            <a:endParaRPr>
              <a:solidFill>
                <a:schemeClr val="dk2"/>
              </a:solidFill>
            </a:endParaRPr>
          </a:p>
        </p:txBody>
      </p:sp>
      <p:cxnSp>
        <p:nvCxnSpPr>
          <p:cNvPr id="126" name="Google Shape;126;p23"/>
          <p:cNvCxnSpPr>
            <a:stCxn id="125" idx="1"/>
          </p:cNvCxnSpPr>
          <p:nvPr/>
        </p:nvCxnSpPr>
        <p:spPr>
          <a:xfrm flipH="1">
            <a:off x="3473225" y="2472975"/>
            <a:ext cx="1944600" cy="481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7" name="Google Shape;127;p23"/>
          <p:cNvSpPr txBox="1"/>
          <p:nvPr/>
        </p:nvSpPr>
        <p:spPr>
          <a:xfrm>
            <a:off x="5477150" y="3035000"/>
            <a:ext cx="2003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Classifier said mouse, but actually a cat</a:t>
            </a:r>
            <a:endParaRPr>
              <a:solidFill>
                <a:schemeClr val="dk2"/>
              </a:solidFill>
            </a:endParaRPr>
          </a:p>
        </p:txBody>
      </p:sp>
      <p:cxnSp>
        <p:nvCxnSpPr>
          <p:cNvPr id="128" name="Google Shape;128;p23"/>
          <p:cNvCxnSpPr>
            <a:stCxn id="127" idx="1"/>
          </p:cNvCxnSpPr>
          <p:nvPr/>
        </p:nvCxnSpPr>
        <p:spPr>
          <a:xfrm rot="10800000">
            <a:off x="4658450" y="3267200"/>
            <a:ext cx="818700" cy="7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descr="{&quot;id&quot;:&quot;7&quot;,&quot;code&quot;:&quot;\\begin{gather*}\n{\\text{Precision}_{dog}\\;\\text{=}\\;\\frac{10}{10+1+3},\\,\\text{Precision}_{cat}=\\frac{8}{2+8+2}}\\\\\n{\\text{Recall}_{dog}\\;\\text{=}\\;\\frac{10}{10+2+3},\\,\\text{Recall}_{cat}=\\frac{8}{1+8+4}}\t\n\\end{gather*}&quot;,&quot;aid&quot;:null,&quot;font&quot;:{&quot;size&quot;:9,&quot;family&quot;:&quot;Arial&quot;,&quot;color&quot;:&quot;#595959&quot;},&quot;backgroundColor&quot;:&quot;#FFFFFF&quot;,&quot;backgroundColorModified&quot;:false,&quot;type&quot;:&quot;gather*&quot;,&quot;ts&quot;:1767359514465,&quot;cs&quot;:&quot;DI/4Yeqn/rSuJdpyarYEIA==&quot;,&quot;size&quot;:{&quot;width&quot;:316.75,&quot;height&quot;:63.75}}" id="129" name="Google Shape;12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1701" y="4059878"/>
            <a:ext cx="3017044" cy="6072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Modified&quot;:false,&quot;font&quot;:{&quot;family&quot;:&quot;Arial&quot;,&quot;color&quot;:&quot;#000000&quot;,&quot;size&quot;:12},&quot;code&quot;:&quot;\\begin{lalign*}\n&amp;{\\text{Precision/Recall}/F1\\;\\text{for}\\;\\text{the}\\;\\text{multi-class}\\;\\text{classifier}\\;\\text{can}\\;\\text{be:}}\\\\\n&amp;{-\\,\\text{Average}\\;\\text{of}\\;\\text{per-class}\\;\\text{precision/recall/F1}}\\\\\n&amp;{-\\,\\text{Weighted}\\;\\text{average}\\;\\text{of}\\;\\text{per-class}\\;\\text{precision/recall/F1..}}\t\n\\end{lalign*}&quot;,&quot;type&quot;:&quot;lalign*&quot;,&quot;aid&quot;:null,&quot;id&quot;:&quot;8&quot;,&quot;backgroundColor&quot;:&quot;#FFFFFF&quot;,&quot;ts&quot;:1767359652474,&quot;cs&quot;:&quot;M/BnGufLKcG0y/R91c30YA==&quot;,&quot;size&quot;:{&quot;width&quot;:454.3333333333333,&quot;height&quot;:67.66666666666667}}" id="130" name="Google Shape;130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66250" y="4041225"/>
            <a:ext cx="4327525" cy="644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Rank-aware Relevance Metrics</a:t>
            </a:r>
            <a:endParaRPr/>
          </a:p>
        </p:txBody>
      </p:sp>
      <p:sp>
        <p:nvSpPr>
          <p:cNvPr id="136" name="Google Shape;136;p24"/>
          <p:cNvSpPr txBox="1"/>
          <p:nvPr>
            <p:ph idx="1" type="body"/>
          </p:nvPr>
        </p:nvSpPr>
        <p:spPr>
          <a:xfrm>
            <a:off x="311700" y="1152475"/>
            <a:ext cx="8206800" cy="67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An IR system could return ranked list, not just sets..</a:t>
            </a:r>
            <a:endParaRPr/>
          </a:p>
        </p:txBody>
      </p:sp>
      <p:sp>
        <p:nvSpPr>
          <p:cNvPr id="137" name="Google Shape;137;p24"/>
          <p:cNvSpPr txBox="1"/>
          <p:nvPr>
            <p:ph idx="1" type="body"/>
          </p:nvPr>
        </p:nvSpPr>
        <p:spPr>
          <a:xfrm>
            <a:off x="395525" y="1794725"/>
            <a:ext cx="4267800" cy="327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91"/>
              <a:t>For a query </a:t>
            </a:r>
            <a:r>
              <a:rPr i="1" lang="en" sz="1091"/>
              <a:t>q</a:t>
            </a:r>
            <a:r>
              <a:rPr lang="en" sz="1091"/>
              <a:t> with relevant docs {d1, d2}, system returns ranking:</a:t>
            </a:r>
            <a:endParaRPr sz="109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91"/>
              <a:t>Rank 1: d3 (irrelevant)</a:t>
            </a:r>
            <a:endParaRPr sz="109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91"/>
              <a:t>Rank 2: d1 (relevant)</a:t>
            </a:r>
            <a:endParaRPr sz="109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91"/>
              <a:t>Rank 3: d4 (irrelevant)</a:t>
            </a:r>
            <a:endParaRPr sz="109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91"/>
              <a:t>Rank 4: d2 (relevant)</a:t>
            </a:r>
            <a:endParaRPr sz="109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91"/>
              <a:t>Then, </a:t>
            </a:r>
            <a:endParaRPr sz="109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91"/>
              <a:t>P@1: 0/1, R@1: 0/2</a:t>
            </a:r>
            <a:endParaRPr sz="109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91"/>
              <a:t>P@2: ½, R@2: ½</a:t>
            </a:r>
            <a:endParaRPr sz="109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91"/>
              <a:t>P@3: ⅓, R@3: ½</a:t>
            </a:r>
            <a:endParaRPr sz="109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091"/>
              <a:t>P@4: 2/4, R@4: 2/2  </a:t>
            </a:r>
            <a:endParaRPr/>
          </a:p>
        </p:txBody>
      </p:sp>
      <p:pic>
        <p:nvPicPr>
          <p:cNvPr descr="{&quot;id&quot;:&quot;9&quot;,&quot;code&quot;:&quot;\\begin{gather*}\n{P@k=\\frac{\\#\\,\\text{relevant}\\;\\text{docs}\\;\\text{in}\\;\\text{top}\\;\\text{k}}{k}}\\\\\n{R@k=\\frac{\\#\\,\\text{relevant}\\;\\text{docs}\\;\\text{in}\\;\\text{top}\\;\\text{k}}{\\#\\,\\text{relevant}\\;\\text{docs}}}\t\n\\end{gather*}&quot;,&quot;backgroundColor&quot;:&quot;#FFFFFF&quot;,&quot;backgroundColorModified&quot;:false,&quot;aid&quot;:null,&quot;font&quot;:{&quot;color&quot;:&quot;#000000&quot;,&quot;size&quot;:12,&quot;family&quot;:&quot;Arial&quot;},&quot;type&quot;:&quot;gather*&quot;,&quot;ts&quot;:1767360692375,&quot;cs&quot;:&quot;nrBGj24zFHSQXbK31hr8Og==&quot;,&quot;size&quot;:{&quot;width&quot;:263.20000000000005,&quot;height&quot;:86.79999999999997}}" id="138" name="Google Shape;13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74525" y="1699775"/>
            <a:ext cx="2506980" cy="8267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Average Precision and Mean Average Precision (mAP)</a:t>
            </a:r>
            <a:endParaRPr/>
          </a:p>
        </p:txBody>
      </p:sp>
      <p:sp>
        <p:nvSpPr>
          <p:cNvPr id="144" name="Google Shape;144;p25"/>
          <p:cNvSpPr txBox="1"/>
          <p:nvPr>
            <p:ph idx="1" type="body"/>
          </p:nvPr>
        </p:nvSpPr>
        <p:spPr>
          <a:xfrm>
            <a:off x="311700" y="1152475"/>
            <a:ext cx="8520600" cy="11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A single scalar metric that combines “how many relevant docs” and “how early they appear” 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400"/>
              <a:t>For a query </a:t>
            </a:r>
            <a:r>
              <a:rPr i="1" lang="en" sz="1400"/>
              <a:t>q</a:t>
            </a:r>
            <a:r>
              <a:rPr lang="en" sz="1400"/>
              <a:t>, with a ranked list of results, consider all ranks where a relevant document appears. Let these ranks be </a:t>
            </a:r>
            <a:r>
              <a:rPr i="1" lang="en" sz="1400"/>
              <a:t>k_1, k_2,...,k_m</a:t>
            </a:r>
            <a:r>
              <a:rPr lang="en" sz="1400"/>
              <a:t> (there are </a:t>
            </a:r>
            <a:r>
              <a:rPr i="1" lang="en" sz="1400"/>
              <a:t>m</a:t>
            </a:r>
            <a:r>
              <a:rPr lang="en" sz="1400"/>
              <a:t> relevant docs in the corpus for this query).</a:t>
            </a:r>
            <a:endParaRPr sz="1400"/>
          </a:p>
        </p:txBody>
      </p:sp>
      <p:pic>
        <p:nvPicPr>
          <p:cNvPr descr="{&quot;font&quot;:{&quot;size&quot;:12,&quot;color&quot;:&quot;#000000&quot;,&quot;family&quot;:&quot;Arial&quot;},&quot;backgroundColorModified&quot;:false,&quot;backgroundColor&quot;:&quot;#FFFFFF&quot;,&quot;aid&quot;:null,&quot;type&quot;:&quot;gather*&quot;,&quot;id&quot;:&quot;10&quot;,&quot;code&quot;:&quot;\\begin{gather*}\n{\\text{Average}\\;\\text{Precision}}\\\\\n{AP\\left(q\\right)=\\frac{1}{m}\\sum_{i=1}^{m}P@k_{i}\\left(q\\right)}\\\\\n{\\text{Mean}\\;\\text{Average}\\;\\text{Precision}\\;\\text{over}\\;\\text{a}\\;\\text{set}\\;\\text{of}\\;\\text{queries}\\;\\text{Q}}\\\\\n{mAP=\\frac{1}{\\left|Q\\right|}\\sum_{q\\in Q}^{}AP\\left(q\\right)}\t\n\\end{gather*}&quot;,&quot;ts&quot;:1767368060019,&quot;cs&quot;:&quot;VfJB5HDQQuaFB+PN/9OVmw==&quot;,&quot;size&quot;:{&quot;width&quot;:381.3333333333333,&quot;height&quot;:155.33333333333334}}" id="145" name="Google Shape;14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13750" y="2449275"/>
            <a:ext cx="3632200" cy="147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Examples AP, mAP</a:t>
            </a:r>
            <a:endParaRPr/>
          </a:p>
        </p:txBody>
      </p:sp>
      <p:sp>
        <p:nvSpPr>
          <p:cNvPr id="151" name="Google Shape;151;p26"/>
          <p:cNvSpPr txBox="1"/>
          <p:nvPr>
            <p:ph idx="1" type="body"/>
          </p:nvPr>
        </p:nvSpPr>
        <p:spPr>
          <a:xfrm>
            <a:off x="311700" y="1152475"/>
            <a:ext cx="5385300" cy="20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System 1: </a:t>
            </a:r>
            <a:r>
              <a:rPr lang="en" sz="1400"/>
              <a:t>Query </a:t>
            </a:r>
            <a:r>
              <a:rPr i="1" lang="en" sz="1400"/>
              <a:t>q </a:t>
            </a:r>
            <a:r>
              <a:rPr lang="en" sz="1400"/>
              <a:t>with relevant docs {d1, d2}, and ranking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400"/>
              <a:t>r</a:t>
            </a:r>
            <a:r>
              <a:rPr lang="en" sz="1400"/>
              <a:t>ank1: d1 (relevant) </a:t>
            </a:r>
            <a:br>
              <a:rPr lang="en" sz="1400"/>
            </a:br>
            <a:r>
              <a:rPr lang="en" sz="1400"/>
              <a:t>rank2: d3 (irrelevant)</a:t>
            </a:r>
            <a:br>
              <a:rPr lang="en" sz="1400"/>
            </a:br>
            <a:r>
              <a:rPr lang="en" sz="1400"/>
              <a:t>rank3: d4 (irrelevant)</a:t>
            </a:r>
            <a:br>
              <a:rPr lang="en" sz="1400"/>
            </a:br>
            <a:r>
              <a:rPr lang="en" sz="1400"/>
              <a:t>rank4: d2 (relevant)</a:t>
            </a:r>
            <a:endParaRPr sz="1400"/>
          </a:p>
        </p:txBody>
      </p:sp>
      <p:sp>
        <p:nvSpPr>
          <p:cNvPr id="152" name="Google Shape;152;p26"/>
          <p:cNvSpPr txBox="1"/>
          <p:nvPr>
            <p:ph idx="1" type="body"/>
          </p:nvPr>
        </p:nvSpPr>
        <p:spPr>
          <a:xfrm>
            <a:off x="6190500" y="1358750"/>
            <a:ext cx="2685600" cy="114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P@1: 1/1 = 1</a:t>
            </a:r>
            <a:br>
              <a:rPr lang="en" sz="1500"/>
            </a:br>
            <a:r>
              <a:rPr lang="en" sz="1500"/>
              <a:t>P@4: 2/4: 0.5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00"/>
              <a:t>AP(q) = (1+0.5)/2 = 0.75</a:t>
            </a:r>
            <a:endParaRPr sz="1500"/>
          </a:p>
        </p:txBody>
      </p:sp>
      <p:sp>
        <p:nvSpPr>
          <p:cNvPr id="153" name="Google Shape;153;p26"/>
          <p:cNvSpPr txBox="1"/>
          <p:nvPr>
            <p:ph idx="1" type="body"/>
          </p:nvPr>
        </p:nvSpPr>
        <p:spPr>
          <a:xfrm>
            <a:off x="311700" y="3092400"/>
            <a:ext cx="5174700" cy="20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System 2: </a:t>
            </a:r>
            <a:r>
              <a:rPr lang="en" sz="1400"/>
              <a:t>Query </a:t>
            </a:r>
            <a:r>
              <a:rPr i="1" lang="en" sz="1400"/>
              <a:t>q </a:t>
            </a:r>
            <a:r>
              <a:rPr lang="en" sz="1400"/>
              <a:t>with relevant docs {d1, d2}, and ranking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400"/>
              <a:t>rank1: d4 (irrelevant) </a:t>
            </a:r>
            <a:br>
              <a:rPr lang="en" sz="1400"/>
            </a:br>
            <a:r>
              <a:rPr lang="en" sz="1400"/>
              <a:t>rank2: d3 (irrelevant)</a:t>
            </a:r>
            <a:br>
              <a:rPr lang="en" sz="1400"/>
            </a:br>
            <a:r>
              <a:rPr lang="en" sz="1400"/>
              <a:t>rank3: d1 (relevant)</a:t>
            </a:r>
            <a:br>
              <a:rPr lang="en" sz="1400"/>
            </a:br>
            <a:r>
              <a:rPr lang="en" sz="1400"/>
              <a:t>rank4: d2 (relevant)</a:t>
            </a:r>
            <a:endParaRPr sz="1400"/>
          </a:p>
        </p:txBody>
      </p:sp>
      <p:sp>
        <p:nvSpPr>
          <p:cNvPr id="154" name="Google Shape;154;p26"/>
          <p:cNvSpPr txBox="1"/>
          <p:nvPr>
            <p:ph idx="1" type="body"/>
          </p:nvPr>
        </p:nvSpPr>
        <p:spPr>
          <a:xfrm>
            <a:off x="6274325" y="3416700"/>
            <a:ext cx="2685600" cy="114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P@3: 1/3 = 0.33</a:t>
            </a:r>
            <a:br>
              <a:rPr lang="en" sz="1500"/>
            </a:br>
            <a:r>
              <a:rPr lang="en" sz="1500"/>
              <a:t>P@4: 2/4: 0.5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00"/>
              <a:t>AP(q) = (0.33+0.5)/2 = 0.416</a:t>
            </a:r>
            <a:endParaRPr sz="15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Mean Reciprocal Rank</a:t>
            </a:r>
            <a:endParaRPr/>
          </a:p>
        </p:txBody>
      </p:sp>
      <p:sp>
        <p:nvSpPr>
          <p:cNvPr id="160" name="Google Shape;160;p27"/>
          <p:cNvSpPr txBox="1"/>
          <p:nvPr>
            <p:ph idx="1" type="body"/>
          </p:nvPr>
        </p:nvSpPr>
        <p:spPr>
          <a:xfrm>
            <a:off x="311700" y="1152475"/>
            <a:ext cx="7433100" cy="31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Specially natural when there is one primary relevant document (eg., QA)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/>
              <a:t>For a query </a:t>
            </a:r>
            <a:r>
              <a:rPr i="1" lang="en" sz="1400"/>
              <a:t>q, Reciprocal Rank (q) = 1/position at which first relevant doc appears</a:t>
            </a:r>
            <a:endParaRPr i="1"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/>
              <a:t>Then MRR = RR averaged over all queries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/>
              <a:t>Eg., for query </a:t>
            </a:r>
            <a:r>
              <a:rPr i="1" lang="en" sz="1400"/>
              <a:t>q, </a:t>
            </a:r>
            <a:r>
              <a:rPr lang="en" sz="1400"/>
              <a:t>relevant docs {d1, d3}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/>
              <a:t>Ranking A: d1 appears at rank 1 -&gt; RR = 1/1 = 1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/>
              <a:t>Ranking B: d3 appears at rank 3 -&gt; RR = ⅓ = 0.33 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i="1" sz="14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Homework</a:t>
            </a:r>
            <a:endParaRPr/>
          </a:p>
        </p:txBody>
      </p:sp>
      <p:sp>
        <p:nvSpPr>
          <p:cNvPr id="166" name="Google Shape;166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hw1.py</a:t>
            </a:r>
            <a:r>
              <a:rPr lang="en"/>
              <a:t>: Calculate precision, recall, F1, precision/recall@k, MRR for a simple example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Appendix</a:t>
            </a:r>
            <a:endParaRPr/>
          </a:p>
        </p:txBody>
      </p:sp>
      <p:sp>
        <p:nvSpPr>
          <p:cNvPr id="172" name="Google Shape;172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Rank Fusion and Reranking</a:t>
            </a:r>
            <a:endParaRPr/>
          </a:p>
        </p:txBody>
      </p:sp>
      <p:sp>
        <p:nvSpPr>
          <p:cNvPr id="178" name="Google Shape;178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440"/>
              <a:buFont typeface="Arial"/>
              <a:buNone/>
            </a:pPr>
            <a:r>
              <a:rPr b="1" lang="en" sz="720">
                <a:solidFill>
                  <a:schemeClr val="dk1"/>
                </a:solidFill>
              </a:rPr>
              <a:t>Rank fusion</a:t>
            </a:r>
            <a:endParaRPr b="1" sz="720">
              <a:solidFill>
                <a:schemeClr val="dk1"/>
              </a:solidFill>
            </a:endParaRPr>
          </a:p>
          <a:p>
            <a:pPr indent="-26924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40"/>
              <a:buChar char="●"/>
            </a:pPr>
            <a:r>
              <a:rPr lang="en" sz="640">
                <a:solidFill>
                  <a:schemeClr val="dk1"/>
                </a:solidFill>
              </a:rPr>
              <a:t>Why combine multiple retrieval signals:</a:t>
            </a:r>
            <a:br>
              <a:rPr lang="en" sz="640">
                <a:solidFill>
                  <a:schemeClr val="dk1"/>
                </a:solidFill>
              </a:rPr>
            </a:br>
            <a:endParaRPr sz="640">
              <a:solidFill>
                <a:schemeClr val="dk1"/>
              </a:solidFill>
            </a:endParaRPr>
          </a:p>
          <a:p>
            <a:pPr indent="-26924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"/>
              <a:buChar char="○"/>
            </a:pPr>
            <a:r>
              <a:rPr lang="en" sz="640">
                <a:solidFill>
                  <a:schemeClr val="dk1"/>
                </a:solidFill>
              </a:rPr>
              <a:t>Lexical vs dense vs site-specific priors, etc.</a:t>
            </a:r>
            <a:br>
              <a:rPr lang="en" sz="640">
                <a:solidFill>
                  <a:schemeClr val="dk1"/>
                </a:solidFill>
              </a:rPr>
            </a:br>
            <a:endParaRPr sz="640">
              <a:solidFill>
                <a:schemeClr val="dk1"/>
              </a:solidFill>
            </a:endParaRPr>
          </a:p>
          <a:p>
            <a:pPr indent="-26924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"/>
              <a:buChar char="●"/>
            </a:pPr>
            <a:r>
              <a:rPr b="1" lang="en" sz="640">
                <a:solidFill>
                  <a:schemeClr val="dk1"/>
                </a:solidFill>
              </a:rPr>
              <a:t>Reciprocal Rank Fusion (RRF)</a:t>
            </a:r>
            <a:br>
              <a:rPr b="1" lang="en" sz="640">
                <a:solidFill>
                  <a:schemeClr val="dk1"/>
                </a:solidFill>
              </a:rPr>
            </a:br>
            <a:endParaRPr b="1" sz="640">
              <a:solidFill>
                <a:schemeClr val="dk1"/>
              </a:solidFill>
            </a:endParaRPr>
          </a:p>
          <a:p>
            <a:pPr indent="-26924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"/>
              <a:buChar char="○"/>
            </a:pPr>
            <a:r>
              <a:rPr lang="en" sz="640">
                <a:solidFill>
                  <a:schemeClr val="dk1"/>
                </a:solidFill>
              </a:rPr>
              <a:t>Formula; intuition: “reward early ranks across systems.”</a:t>
            </a:r>
            <a:br>
              <a:rPr lang="en" sz="640">
                <a:solidFill>
                  <a:schemeClr val="dk1"/>
                </a:solidFill>
              </a:rPr>
            </a:br>
            <a:endParaRPr sz="640">
              <a:solidFill>
                <a:schemeClr val="dk1"/>
              </a:solidFill>
            </a:endParaRPr>
          </a:p>
          <a:p>
            <a:pPr indent="-26924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"/>
              <a:buChar char="●"/>
            </a:pPr>
            <a:r>
              <a:rPr lang="en" sz="640">
                <a:solidFill>
                  <a:schemeClr val="dk1"/>
                </a:solidFill>
              </a:rPr>
              <a:t>Briefly mention:</a:t>
            </a:r>
            <a:br>
              <a:rPr lang="en" sz="640">
                <a:solidFill>
                  <a:schemeClr val="dk1"/>
                </a:solidFill>
              </a:rPr>
            </a:br>
            <a:endParaRPr sz="640">
              <a:solidFill>
                <a:schemeClr val="dk1"/>
              </a:solidFill>
            </a:endParaRPr>
          </a:p>
          <a:p>
            <a:pPr indent="-26924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"/>
              <a:buChar char="○"/>
            </a:pPr>
            <a:r>
              <a:rPr lang="en" sz="640">
                <a:solidFill>
                  <a:schemeClr val="dk1"/>
                </a:solidFill>
              </a:rPr>
              <a:t>CombSUM, CombMNZ – optional.</a:t>
            </a:r>
            <a:br>
              <a:rPr lang="en" sz="640">
                <a:solidFill>
                  <a:schemeClr val="dk1"/>
                </a:solidFill>
              </a:rPr>
            </a:br>
            <a:endParaRPr sz="64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440"/>
              <a:buFont typeface="Arial"/>
              <a:buNone/>
            </a:pPr>
            <a:r>
              <a:rPr b="1" lang="en" sz="720">
                <a:solidFill>
                  <a:schemeClr val="dk1"/>
                </a:solidFill>
              </a:rPr>
              <a:t>Reranking</a:t>
            </a:r>
            <a:endParaRPr b="1" sz="720">
              <a:solidFill>
                <a:schemeClr val="dk1"/>
              </a:solidFill>
            </a:endParaRPr>
          </a:p>
          <a:p>
            <a:pPr indent="-26924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40"/>
              <a:buChar char="●"/>
            </a:pPr>
            <a:r>
              <a:rPr b="1" lang="en" sz="640">
                <a:solidFill>
                  <a:schemeClr val="dk1"/>
                </a:solidFill>
              </a:rPr>
              <a:t>Two-stage/multi-stage ranking</a:t>
            </a:r>
            <a:br>
              <a:rPr b="1" lang="en" sz="640">
                <a:solidFill>
                  <a:schemeClr val="dk1"/>
                </a:solidFill>
              </a:rPr>
            </a:br>
            <a:endParaRPr b="1" sz="640">
              <a:solidFill>
                <a:schemeClr val="dk1"/>
              </a:solidFill>
            </a:endParaRPr>
          </a:p>
          <a:p>
            <a:pPr indent="-26924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"/>
              <a:buChar char="○"/>
            </a:pPr>
            <a:r>
              <a:rPr lang="en" sz="640">
                <a:solidFill>
                  <a:schemeClr val="dk1"/>
                </a:solidFill>
              </a:rPr>
              <a:t>Stage 1: fast recall (BM25/dense/SPLADE).</a:t>
            </a:r>
            <a:br>
              <a:rPr lang="en" sz="640">
                <a:solidFill>
                  <a:schemeClr val="dk1"/>
                </a:solidFill>
              </a:rPr>
            </a:br>
            <a:endParaRPr sz="640">
              <a:solidFill>
                <a:schemeClr val="dk1"/>
              </a:solidFill>
            </a:endParaRPr>
          </a:p>
          <a:p>
            <a:pPr indent="-26924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"/>
              <a:buChar char="○"/>
            </a:pPr>
            <a:r>
              <a:rPr lang="en" sz="640">
                <a:solidFill>
                  <a:schemeClr val="dk1"/>
                </a:solidFill>
              </a:rPr>
              <a:t>Stage 2: expensive rerankers.</a:t>
            </a:r>
            <a:br>
              <a:rPr lang="en" sz="640">
                <a:solidFill>
                  <a:schemeClr val="dk1"/>
                </a:solidFill>
              </a:rPr>
            </a:br>
            <a:endParaRPr sz="640">
              <a:solidFill>
                <a:schemeClr val="dk1"/>
              </a:solidFill>
            </a:endParaRPr>
          </a:p>
          <a:p>
            <a:pPr indent="-26924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"/>
              <a:buChar char="●"/>
            </a:pPr>
            <a:r>
              <a:rPr b="1" lang="en" sz="640">
                <a:solidFill>
                  <a:schemeClr val="dk1"/>
                </a:solidFill>
              </a:rPr>
              <a:t>Cross-encoder rerankers</a:t>
            </a:r>
            <a:br>
              <a:rPr b="1" lang="en" sz="640">
                <a:solidFill>
                  <a:schemeClr val="dk1"/>
                </a:solidFill>
              </a:rPr>
            </a:br>
            <a:endParaRPr b="1" sz="640">
              <a:solidFill>
                <a:schemeClr val="dk1"/>
              </a:solidFill>
            </a:endParaRPr>
          </a:p>
          <a:p>
            <a:pPr indent="-26924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"/>
              <a:buChar char="○"/>
            </a:pPr>
            <a:r>
              <a:rPr lang="en" sz="640">
                <a:solidFill>
                  <a:schemeClr val="dk1"/>
                </a:solidFill>
              </a:rPr>
              <a:t>E.g., BERT-style model that takes (query, doc) and outputs relevance.</a:t>
            </a:r>
            <a:br>
              <a:rPr lang="en" sz="640">
                <a:solidFill>
                  <a:schemeClr val="dk1"/>
                </a:solidFill>
              </a:rPr>
            </a:br>
            <a:endParaRPr sz="640">
              <a:solidFill>
                <a:schemeClr val="dk1"/>
              </a:solidFill>
            </a:endParaRPr>
          </a:p>
          <a:p>
            <a:pPr indent="-26924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"/>
              <a:buChar char="○"/>
            </a:pPr>
            <a:r>
              <a:rPr lang="en" sz="640">
                <a:solidFill>
                  <a:schemeClr val="dk1"/>
                </a:solidFill>
              </a:rPr>
              <a:t>Much slower, but higher quality.</a:t>
            </a:r>
            <a:br>
              <a:rPr lang="en" sz="640">
                <a:solidFill>
                  <a:schemeClr val="dk1"/>
                </a:solidFill>
              </a:rPr>
            </a:br>
            <a:endParaRPr sz="640">
              <a:solidFill>
                <a:schemeClr val="dk1"/>
              </a:solidFill>
            </a:endParaRPr>
          </a:p>
          <a:p>
            <a:pPr indent="-26924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"/>
              <a:buChar char="●"/>
            </a:pPr>
            <a:r>
              <a:rPr b="1" lang="en" sz="640">
                <a:solidFill>
                  <a:schemeClr val="dk1"/>
                </a:solidFill>
              </a:rPr>
              <a:t>Learning to Rank (LTR)</a:t>
            </a:r>
            <a:r>
              <a:rPr lang="en" sz="640">
                <a:solidFill>
                  <a:schemeClr val="dk1"/>
                </a:solidFill>
              </a:rPr>
              <a:t> (if you want a more classical angle)</a:t>
            </a:r>
            <a:br>
              <a:rPr lang="en" sz="640">
                <a:solidFill>
                  <a:schemeClr val="dk1"/>
                </a:solidFill>
              </a:rPr>
            </a:br>
            <a:endParaRPr sz="640">
              <a:solidFill>
                <a:schemeClr val="dk1"/>
              </a:solidFill>
            </a:endParaRPr>
          </a:p>
          <a:p>
            <a:pPr indent="-26924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"/>
              <a:buChar char="○"/>
            </a:pPr>
            <a:r>
              <a:rPr lang="en" sz="640">
                <a:solidFill>
                  <a:schemeClr val="dk1"/>
                </a:solidFill>
              </a:rPr>
              <a:t>Pointwise, pairwise, listwise objectives.</a:t>
            </a:r>
            <a:br>
              <a:rPr lang="en" sz="640">
                <a:solidFill>
                  <a:schemeClr val="dk1"/>
                </a:solidFill>
              </a:rPr>
            </a:br>
            <a:endParaRPr sz="640">
              <a:solidFill>
                <a:schemeClr val="dk1"/>
              </a:solidFill>
            </a:endParaRPr>
          </a:p>
          <a:p>
            <a:pPr indent="-26924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"/>
              <a:buChar char="○"/>
            </a:pPr>
            <a:r>
              <a:rPr lang="en" sz="640">
                <a:solidFill>
                  <a:schemeClr val="dk1"/>
                </a:solidFill>
              </a:rPr>
              <a:t>Examples: RankNet, LambdaMART (high-level).</a:t>
            </a:r>
            <a:br>
              <a:rPr lang="en" sz="640">
                <a:solidFill>
                  <a:schemeClr val="dk1"/>
                </a:solidFill>
              </a:rPr>
            </a:br>
            <a:endParaRPr sz="640">
              <a:solidFill>
                <a:schemeClr val="dk1"/>
              </a:solidFill>
            </a:endParaRPr>
          </a:p>
          <a:p>
            <a:pPr indent="-26924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"/>
              <a:buChar char="●"/>
            </a:pPr>
            <a:r>
              <a:rPr lang="en" sz="640">
                <a:solidFill>
                  <a:schemeClr val="dk1"/>
                </a:solidFill>
              </a:rPr>
              <a:t>For LLM era:</a:t>
            </a:r>
            <a:br>
              <a:rPr lang="en" sz="640">
                <a:solidFill>
                  <a:schemeClr val="dk1"/>
                </a:solidFill>
              </a:rPr>
            </a:br>
            <a:endParaRPr sz="640">
              <a:solidFill>
                <a:schemeClr val="dk1"/>
              </a:solidFill>
            </a:endParaRPr>
          </a:p>
          <a:p>
            <a:pPr indent="-26924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"/>
              <a:buChar char="○"/>
            </a:pPr>
            <a:r>
              <a:rPr lang="en" sz="640">
                <a:solidFill>
                  <a:schemeClr val="dk1"/>
                </a:solidFill>
              </a:rPr>
              <a:t>LLM-based reranking (few-shot, instruction-tuned rerankers).</a:t>
            </a:r>
            <a:endParaRPr sz="64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440"/>
              <a:buNone/>
            </a:pPr>
            <a:r>
              <a:t/>
            </a:r>
            <a:endParaRPr sz="72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