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3ecbe50c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3ecbe50c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3759c18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3759c18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f4cc78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f4cc78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22394a0a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22394a0a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22394a0a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22394a0a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22394a0a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22394a0a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2394a0a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22394a0a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22394a0a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22394a0a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22394a0a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22394a0a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3759c18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3759c18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eb.stanford.edu/class/cs276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80"/>
              <a:t>Information Retrieval: Lexical Retrieval &amp; Classical Sparse Indices</a:t>
            </a:r>
            <a:endParaRPr sz="29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Introduction to Deep Learning: Class 4.2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293225"/>
            <a:ext cx="85206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IR problem setup and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Lexical Retrieval and Classic Sparse Indices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Set/String Similarity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Minhash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LSH  </a:t>
            </a:r>
            <a:r>
              <a:rPr lang="en" sz="1800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Semantic Similarity and Dense Retrieval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Indexing for Fast ANN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HNSW, IVF,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Sparse Neural Retrieval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Splade, Hybrid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Rank fusion and re-ranking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CS276:</a:t>
            </a:r>
            <a:r>
              <a:rPr lang="en"/>
              <a:t> Scoring, term weighting and the vector space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Lexical Retrieval &amp; Classical Sparse Indices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High-level goals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Explain how text is turned into </a:t>
            </a:r>
            <a:r>
              <a:rPr b="1" lang="en" sz="1100">
                <a:solidFill>
                  <a:schemeClr val="dk1"/>
                </a:solidFill>
              </a:rPr>
              <a:t>terms</a:t>
            </a:r>
            <a:r>
              <a:rPr lang="en" sz="1100">
                <a:solidFill>
                  <a:schemeClr val="dk1"/>
                </a:solidFill>
              </a:rPr>
              <a:t> (tokenization, normalization).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How important is each term: </a:t>
            </a:r>
            <a:r>
              <a:rPr b="1" lang="en" sz="1100">
                <a:solidFill>
                  <a:schemeClr val="dk1"/>
                </a:solidFill>
              </a:rPr>
              <a:t>term frequency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document frequency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TF-IDF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How to quickly find relevant documents for a term: </a:t>
            </a:r>
            <a:r>
              <a:rPr b="1" lang="en" sz="1100">
                <a:solidFill>
                  <a:schemeClr val="dk1"/>
                </a:solidFill>
              </a:rPr>
              <a:t>inverted index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Understand and compute </a:t>
            </a:r>
            <a:r>
              <a:rPr b="1" lang="en" sz="1100">
                <a:solidFill>
                  <a:schemeClr val="dk1"/>
                </a:solidFill>
              </a:rPr>
              <a:t>BM25</a:t>
            </a:r>
            <a:r>
              <a:rPr lang="en" sz="1100">
                <a:solidFill>
                  <a:schemeClr val="dk1"/>
                </a:solidFill>
              </a:rPr>
              <a:t> scores on a toy example.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Explain what </a:t>
            </a:r>
            <a:r>
              <a:rPr b="1" lang="en" sz="1100">
                <a:solidFill>
                  <a:schemeClr val="dk1"/>
                </a:solidFill>
              </a:rPr>
              <a:t>n-grams</a:t>
            </a:r>
            <a:r>
              <a:rPr lang="en" sz="1100">
                <a:solidFill>
                  <a:schemeClr val="dk1"/>
                </a:solidFill>
              </a:rPr>
              <a:t> are and why they’re used.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documents to tokens..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23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“Best hikes near San Francisco.” -&gt; [“Best”, “hikes”, “near”, “San”, “Francisco.”]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Normalization:</a:t>
            </a:r>
            <a:r>
              <a:rPr lang="en" sz="1500"/>
              <a:t> Map different surface form to the same term, remove punctuations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“Best hikes near San Francisco.” -&gt; [“best”, “hikes”, “near”, “san”, “francisco”]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Stop word removal:</a:t>
            </a:r>
            <a:r>
              <a:rPr lang="en" sz="1500"/>
              <a:t> remove common, low information words.. “and”, “but”, “if”..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Stemming:</a:t>
            </a:r>
            <a:r>
              <a:rPr lang="en" sz="1500"/>
              <a:t> Heuristics to chop word endings. “running” -&gt; “run”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Lemmatization:</a:t>
            </a:r>
            <a:r>
              <a:rPr lang="en" sz="1500"/>
              <a:t> Map to base form. “mice” -&gt; “mouse”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80850" y="3634750"/>
            <a:ext cx="8520600" cy="12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Tokenization pipeline: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Convert to lower case -&gt; remove stop words -&gt; remove punctuation -&gt; split on white space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522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Bag-of-words and term statistics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5304800" y="236450"/>
            <a:ext cx="3654600" cy="8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d1: "Best hikes near San Francisco bay area"</a:t>
            </a:r>
            <a:br>
              <a:rPr lang="en" sz="1200"/>
            </a:br>
            <a:r>
              <a:rPr lang="en" sz="1200"/>
              <a:t>d2: "Hiking safety tips and trail etiquette"</a:t>
            </a:r>
            <a:br>
              <a:rPr lang="en" sz="1200"/>
            </a:br>
            <a:r>
              <a:rPr lang="en" sz="1200"/>
              <a:t>d3: "Top restaurants in San Francisco"</a:t>
            </a:r>
            <a:endParaRPr sz="12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639575" y="1058375"/>
            <a:ext cx="79161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While matching a query to a document corpus, I could just look at the query and docs as a bag of words (ignoring order), and calculate overlap.. But this gives the same importance to every word. Not ideal.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Need a concept that captures word importance.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/>
              <a:t>Vocabulary:</a:t>
            </a:r>
            <a:r>
              <a:rPr lang="en" sz="1200"/>
              <a:t> Set of all unique tokens (terms) in the document corpus: {“best”, “hikes”, “near”, “san”, “francisco”, “bay”, “trail”..}</a:t>
            </a:r>
            <a:endParaRPr sz="1200"/>
          </a:p>
        </p:txBody>
      </p:sp>
      <p:pic>
        <p:nvPicPr>
          <p:cNvPr descr="{&quot;backgroundColor&quot;:&quot;#FFFFFF&quot;,&quot;aid&quot;:null,&quot;type&quot;:&quot;lalign*&quot;,&quot;font&quot;:{&quot;color&quot;:&quot;#595959&quot;,&quot;family&quot;:&quot;Arial&quot;,&quot;size&quot;:12},&quot;id&quot;:&quot;1&quot;,&quot;code&quot;:&quot;\\begin{lalign*}\n&amp;{\\boldsymbol{\\mathbf{\\text{Bag of words (BoW) representation}}\\text{:}}\\text{ a document is representented}\\;\\text{as}\\;\\text{a}\\;\\text{}}\\\\\n&amp;{\\text{vector}\\;\\text{of}\\;\\text{count}\\;\\text{of}\\;\\text{each}\\;\\text{vocabulary}\\;\\text{term}\\;\\text{in}\\;\\text{the}\\;\\text{document}}\\\\\n&amp;{v_{d}\\in\\mathbb{R}^{\\left|V\\right|}\\,\\text{where}\\;v_{d}\\left[i\\right]=\\text{count}\\;\\text{of}\\;\\text{term}\\;\\text{i}\\;\\text{in}\\;\\text{document}\\;d}\\\\\n&amp;{\\mathbf{Term\\,Frequency\\,\\left(tf\\right):\\,\\,}\\text{tf(t,d)=}\\;\\text{number}\\;\\text{of}\\;\\text{times}\\;\\text{term}\\;t\\;\\text{appears}\\;\\text{in}\\;\\text{document}\\;d}\\\\\n&amp;{\\mathbf{\\boldsymbol{\\boldsymbol{\\text{Document}\\;\\text{Freqency}\\,\\left(\\text{df}\\right):\\,}}}\\text{df(t)=number}\\;\\text{of}\\;\\text{documents}\\;\\text{term}\\;\\text{t}\\;\\text{appears}\\;\\text{in}\\,\\text{at}\\;\\text{least}\\;\\text{once}}\\\\\n&amp;{\\boldsymbol{\\mathbf{\\boldsymbol{\\boldsymbol{\\text{Inverse}\\;\\text{Document}\\;\\text{Frequency}\\;\\text{(idf)}}}:}\\,}\\text{idf(t)=}\\;\\log_{}\\left(\\frac{N}{\\text{df}\\left(t\\right)}\\right)\\text{}}\\\\\n&amp;{\\text{Core}\\;\\text{idea:}\\;\\text{terms}\\;\\text{that}\\;\\text{appear}\\;\\text{in}\\;\\text{a}\\;\\text{few}\\;\\text{documents}\\;\\text{likely}\\;\\text{more}\\;\\text{informative}}\t\n\\end{lalign*}&quot;,&quot;backgroundColorModified&quot;:false,&quot;ts&quot;:1767375875068,&quot;cs&quot;:&quot;NdJTvJJGrjT7mJUUei1vvA==&quot;,&quot;size&quot;:{&quot;width&quot;:720.5,&quot;height&quot;:194.50000000000003}}"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75" y="2315213"/>
            <a:ext cx="6513125" cy="175821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699600" y="4270396"/>
            <a:ext cx="7656600" cy="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/>
              <a:t>Example: </a:t>
            </a:r>
            <a:r>
              <a:rPr lang="en" sz="1200"/>
              <a:t>df(best) = 1, df(san) = 2, df(restaurants) = 1.. 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Inverted Index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Core idea:</a:t>
            </a:r>
            <a:r>
              <a:rPr lang="en" sz="1500"/>
              <a:t> Maintaining a vocabulary sized vector for each document is inefficient. Instead, maintain an </a:t>
            </a:r>
            <a:r>
              <a:rPr i="1" lang="en" sz="1500"/>
              <a:t>inverted index, </a:t>
            </a:r>
            <a:r>
              <a:rPr lang="en" sz="1500"/>
              <a:t>term -&gt; list of doc ids that contain those terms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Eg.,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“hikes” -&gt; {d1}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“san” -&gt; {d1, d3}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“hiking” -&gt; {d2}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“francisco” -&gt; {d1, d3}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Then processing a query: “San” AND “Francisco” becomes a </a:t>
            </a:r>
            <a:r>
              <a:rPr i="1" lang="en" sz="1500"/>
              <a:t>set operation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“San” AND “Francisco”: San: {d1, d3} </a:t>
            </a:r>
            <a:r>
              <a:rPr i="1" lang="en" sz="1500"/>
              <a:t>intersection</a:t>
            </a:r>
            <a:r>
              <a:rPr lang="en" sz="1500"/>
              <a:t> Francisco: {d1, d3} = {d1, d3}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“hikes” OR “Francisco”: hikes {d1} </a:t>
            </a:r>
            <a:r>
              <a:rPr i="1" lang="en" sz="1500"/>
              <a:t>union</a:t>
            </a:r>
            <a:r>
              <a:rPr lang="en" sz="1500"/>
              <a:t> Francisco: {d1, d3} = {d1, d3}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AND -&gt; Intersection, OR -&gt; Union.. </a:t>
            </a:r>
            <a:endParaRPr sz="15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5304800" y="236450"/>
            <a:ext cx="3654600" cy="8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d1: "Best hikes near San Francisco bay area"</a:t>
            </a:r>
            <a:br>
              <a:rPr lang="en" sz="1200"/>
            </a:br>
            <a:r>
              <a:rPr lang="en" sz="1200"/>
              <a:t>d2: "Hiking safety tips and trail etiquette"</a:t>
            </a:r>
            <a:br>
              <a:rPr lang="en" sz="1200"/>
            </a:br>
            <a:r>
              <a:rPr lang="en" sz="1200"/>
              <a:t>d3: "Top restaurants in San Francisco"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TF-IDF weighting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13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all terms in a doc/query are equally important..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Calculate TF-IDF weight for each term in each doc and represent a doc by a vector of weights. Do the same for the query, then rank docs by dot product</a:t>
            </a:r>
            <a:endParaRPr/>
          </a:p>
        </p:txBody>
      </p:sp>
      <p:pic>
        <p:nvPicPr>
          <p:cNvPr descr="{&quot;id&quot;:&quot;2&quot;,&quot;font&quot;:{&quot;size&quot;:18,&quot;color&quot;:&quot;#595959&quot;,&quot;family&quot;:&quot;Arial&quot;},&quot;aid&quot;:null,&quot;backgroundColorModified&quot;:false,&quot;type&quot;:&quot;gather*&quot;,&quot;code&quot;:&quot;\\begin{gather*}\n{\\text{TF-IDF}\\;\\text{weight}\\;\\text{for}\\;\\text{term}\\;\\text{t}\\;\\text{in}\\;\\text{doc}\\;d}\\\\\n{w_{td}=\\text{tf(}t,d\\text{)}\\times \\text{idf(}t\\text{)}}\\\\\n{\\text{document}\\;\\text{vector:}}\\\\\n{v_{d}=\\left[w_{1d},w_{2d}\\dots w_{nd}\\right]}\t\n\\end{gather*}&quot;,&quot;backgroundColor&quot;:&quot;#FFFFFF&quot;,&quot;ts&quot;:1770208634471,&quot;cs&quot;:&quot;YlLWBNkZGbRDrBV5TQNlnQ==&quot;,&quot;size&quot;:{&quot;width&quot;:416.3333333333333,&quot;height&quot;:137}}"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325" y="2618761"/>
            <a:ext cx="3965575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BM25: Better Lexical Ranking Function	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17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TF-IDF: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 docs can have high scores, just by having more words (higher tf)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a term, going from 1 to 2 matters, but from 41 to 42 not so much..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BM25 score of a doc </a:t>
            </a:r>
            <a:r>
              <a:rPr i="1" lang="en"/>
              <a:t>d </a:t>
            </a:r>
            <a:r>
              <a:rPr lang="en"/>
              <a:t>for terms </a:t>
            </a:r>
            <a:r>
              <a:rPr i="1" lang="en"/>
              <a:t>t </a:t>
            </a:r>
            <a:r>
              <a:rPr lang="en"/>
              <a:t>in a query:</a:t>
            </a:r>
            <a:endParaRPr/>
          </a:p>
        </p:txBody>
      </p:sp>
      <p:pic>
        <p:nvPicPr>
          <p:cNvPr descr="{&quot;backgroundColorModified&quot;:false,&quot;aid&quot;:null,&quot;code&quot;:&quot;\\begin{gather*}\n{BM25\\left(t,d\\right)=\\sum_{t\\in q}^{}\\text{bm\\_idf(t)}\\frac{\\text{tf(t,d)}\\left(k_{1}+1\\right)\\text{tf}\\left(t,q\\right)}{\\text{tf(t,d)+}k_{1}\\left(1-b+b\\frac{|d|}{\\text{avgdl}_{}}\\right)}}\\\\\n{\\left|d\\right|:\\,\\text{length}\\;\\text{of}\\;\\text{doc}\\;\\text{d}}\\\\\n{\\text{avgdl:}\\;\\text{average}\\;\\text{document}\\;\\text{length}}\\\\\n{\\text{bm\\_idf:}\\;\\text{modified}\\;\\text{idf}\\;\\text{adjusting}\\;\\text{for}\\;\\text{number}\\;\\text{of}\\;\\text{docs}\\text{}}\\\\\n{k_{1}\\sim\\left[1.2-2.0\\right]:\\,\\text{controls}\\;\\text{TF}\\;\\text{saturation}}\\\\\n{b\\sim\\left[0.5-0.9\\right]:\\,\\text{length}\\;\\text{normalization}\\;\\text{factor}}\t\n\\end{gather*}&quot;,&quot;backgroundColor&quot;:&quot;#FFFFFF&quot;,&quot;type&quot;:&quot;gather*&quot;,&quot;font&quot;:{&quot;family&quot;:&quot;Arial&quot;,&quot;color&quot;:&quot;#000000&quot;,&quot;size&quot;:12},&quot;id&quot;:&quot;3&quot;,&quot;ts&quot;:1770252493585,&quot;cs&quot;:&quot;2p5KQ0EF/P5+6d3KxJDnog==&quot;,&quot;size&quot;:{&quot;width&quot;:455.6666666666667,&quot;height&quot;:182.66666666666666}}"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69" y="3076300"/>
            <a:ext cx="4340225" cy="173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gather*&quot;,&quot;aid&quot;:null,&quot;font&quot;:{&quot;family&quot;:&quot;Arial&quot;,&quot;size&quot;:12,&quot;color&quot;:&quot;#000000&quot;},&quot;code&quot;:&quot;\\begin{gather*}\n{\\text{score(t,d)=}\\sum_{t\\in q}^{}\\text{idf(t)}\\text{tf(t,d)}\\text{tf}\\left(t,q\\right)}\t\n\\end{gather*}&quot;,&quot;backgroundColorModified&quot;:false,&quot;backgroundColor&quot;:&quot;#FFFFFF&quot;,&quot;id&quot;:&quot;3&quot;,&quot;ts&quot;:1770251001568,&quot;cs&quot;:&quot;QPzilAvFAR8sp+PuyClY4w==&quot;,&quot;size&quot;:{&quot;width&quot;:272.5,&quot;height&quot;:40.5}}"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2325" y="3415879"/>
            <a:ext cx="2595563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5097725" y="3289175"/>
            <a:ext cx="5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N-grams and phrase queries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Sometimes single-word tokens are insufficient.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“New York” as a bi-gram means something different from “New”, “York”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Same with “machine learning” 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Word n-grams:</a:t>
            </a:r>
            <a:r>
              <a:rPr lang="en" sz="1100"/>
              <a:t> sequence of </a:t>
            </a:r>
            <a:r>
              <a:rPr i="1" lang="en" sz="1100"/>
              <a:t>n </a:t>
            </a:r>
            <a:r>
              <a:rPr lang="en" sz="1100"/>
              <a:t>consecutive words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Eg., for “best hikes near San Francisco”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Bigrams: [“best hikes”, “hikes near”, “near San”, “San Francisco”, “hikes near”...]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Trigrams: [“best hikes near”, “hikes near San”...]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Character n-gram:</a:t>
            </a:r>
            <a:r>
              <a:rPr lang="en" sz="1100"/>
              <a:t> sequence of </a:t>
            </a:r>
            <a:r>
              <a:rPr i="1" lang="en" sz="1100"/>
              <a:t>n </a:t>
            </a:r>
            <a:r>
              <a:rPr lang="en" sz="1100"/>
              <a:t>consecutive characters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“hikes” -&gt; trigrams: [“hik”, “ike”, “kes”]</a:t>
            </a:r>
            <a:endParaRPr sz="11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Indexing with n-grams:</a:t>
            </a:r>
            <a:endParaRPr sz="1100"/>
          </a:p>
          <a:p>
            <a:pPr indent="-29321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100"/>
              <a:t>Build inverted index over n-grams</a:t>
            </a:r>
            <a:endParaRPr sz="1100"/>
          </a:p>
          <a:p>
            <a:pPr indent="-2932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100"/>
              <a:t>Pre-compute frequent phrases as tokens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HW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Coding problem: hw_lexical_ir.py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