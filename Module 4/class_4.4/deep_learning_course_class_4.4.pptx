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6EA715-9774-457C-B89A-6D378474BA1B}">
  <a:tblStyle styleId="{D36EA715-9774-457C-B89A-6D378474BA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229b9b3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229b9b3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4144abf7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4144abf7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229b9b30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229b9b30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229b9b30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229b9b30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229b9b30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229b9b30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229b9b30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229b9b30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229b9b30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229b9b30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229b9b30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229b9b30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8e134eb4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8e134eb4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229b9b30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229b9b30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229b9b30a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229b9b30a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229b9b30a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229b9b30a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229b9b30a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229b9b30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229b9b30a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229b9b30a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229b9b30a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9229b9b30a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rxiv.org/abs/1301.3781" TargetMode="External"/><Relationship Id="rId4" Type="http://schemas.openxmlformats.org/officeDocument/2006/relationships/hyperlink" Target="https://arxiv.org/abs/1607.04606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rxiv.org/abs/1301.3781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Retrieval: </a:t>
            </a:r>
            <a:r>
              <a:rPr b="1" lang="en" sz="3122"/>
              <a:t>Semantic Similarity &amp; Dense Retrieval with Embeddings</a:t>
            </a:r>
            <a:endParaRPr b="1" sz="3122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Deep Learning: Class 4.4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Preread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Word2vec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Fasttext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Agenda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293225"/>
            <a:ext cx="8520600" cy="32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100">
                <a:solidFill>
                  <a:schemeClr val="dk1"/>
                </a:solidFill>
              </a:rPr>
              <a:t>Explain </a:t>
            </a:r>
            <a:r>
              <a:rPr b="1" lang="en" sz="1100">
                <a:solidFill>
                  <a:schemeClr val="dk1"/>
                </a:solidFill>
              </a:rPr>
              <a:t>why lexical matching (BM25, Jaccard)</a:t>
            </a:r>
            <a:r>
              <a:rPr lang="en" sz="1100">
                <a:solidFill>
                  <a:schemeClr val="dk1"/>
                </a:solidFill>
              </a:rPr>
              <a:t> can fail (synonyms, paraphrases).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100">
                <a:solidFill>
                  <a:schemeClr val="dk1"/>
                </a:solidFill>
              </a:rPr>
              <a:t>Describe what a </a:t>
            </a:r>
            <a:r>
              <a:rPr b="1" lang="en" sz="1100">
                <a:solidFill>
                  <a:schemeClr val="dk1"/>
                </a:solidFill>
              </a:rPr>
              <a:t>text embedding</a:t>
            </a:r>
            <a:r>
              <a:rPr lang="en" sz="1100">
                <a:solidFill>
                  <a:schemeClr val="dk1"/>
                </a:solidFill>
              </a:rPr>
              <a:t> is and how it’s used.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100">
                <a:solidFill>
                  <a:schemeClr val="dk1"/>
                </a:solidFill>
              </a:rPr>
              <a:t>Define and compute </a:t>
            </a:r>
            <a:r>
              <a:rPr b="1" lang="en" sz="1100">
                <a:solidFill>
                  <a:schemeClr val="dk1"/>
                </a:solidFill>
              </a:rPr>
              <a:t>cosine similarity</a:t>
            </a:r>
            <a:r>
              <a:rPr lang="en" sz="1100">
                <a:solidFill>
                  <a:schemeClr val="dk1"/>
                </a:solidFill>
              </a:rPr>
              <a:t> on embeddings.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100">
                <a:solidFill>
                  <a:schemeClr val="dk1"/>
                </a:solidFill>
              </a:rPr>
              <a:t>Explain the idea of a </a:t>
            </a:r>
            <a:r>
              <a:rPr b="1" lang="en" sz="1100">
                <a:solidFill>
                  <a:schemeClr val="dk1"/>
                </a:solidFill>
              </a:rPr>
              <a:t>dual encoder / bi-encoder</a:t>
            </a:r>
            <a:r>
              <a:rPr lang="en" sz="1100">
                <a:solidFill>
                  <a:schemeClr val="dk1"/>
                </a:solidFill>
              </a:rPr>
              <a:t> for retrieval.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100">
                <a:solidFill>
                  <a:schemeClr val="dk1"/>
                </a:solidFill>
              </a:rPr>
              <a:t>Understand, at a high level, how dense retrievers are trained (positives/negatives, contrastive loss).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100">
                <a:solidFill>
                  <a:schemeClr val="dk1"/>
                </a:solidFill>
              </a:rPr>
              <a:t>See how dense retrieval fits into an IR pipeline and how it compares to lexical / MinHash.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purely lexical matching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BM25/TF-IDF </a:t>
            </a:r>
            <a:r>
              <a:rPr lang="en" sz="1300">
                <a:solidFill>
                  <a:schemeClr val="dk1"/>
                </a:solidFill>
              </a:rPr>
              <a:t>are great for string matching, but don’t capture meaning, hence fail for synonyms and paraphrases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85725" y="1753675"/>
            <a:ext cx="3880800" cy="27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Example 1 -- Synonyms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Query: </a:t>
            </a:r>
            <a:r>
              <a:rPr lang="en" sz="1300">
                <a:solidFill>
                  <a:schemeClr val="dk1"/>
                </a:solidFill>
              </a:rPr>
              <a:t>“cheap flights to NYC”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Doc 1: “low cost airfare to New York City”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Doc 2: Flight status to New York JFK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Doc 2 has more </a:t>
            </a:r>
            <a:r>
              <a:rPr lang="en" sz="1300">
                <a:solidFill>
                  <a:schemeClr val="dk1"/>
                </a:solidFill>
              </a:rPr>
              <a:t>lexical</a:t>
            </a:r>
            <a:r>
              <a:rPr lang="en" sz="1300">
                <a:solidFill>
                  <a:schemeClr val="dk1"/>
                </a:solidFill>
              </a:rPr>
              <a:t> overlap with the query, but doc 1 is more similar in meaning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4572000" y="1753675"/>
            <a:ext cx="3880800" cy="27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Example 1 -- Paraphrase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Query: </a:t>
            </a:r>
            <a:r>
              <a:rPr lang="en" sz="1300">
                <a:solidFill>
                  <a:schemeClr val="dk1"/>
                </a:solidFill>
              </a:rPr>
              <a:t>“how to train a neural network”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Doc 1: “a step-by-step guide to fitting deep learning models”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No word overlap, but very similar in meaning..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embeddings	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 text (words, sentences, phrases..) as a vector in </a:t>
            </a:r>
            <a:r>
              <a:rPr i="1" lang="en"/>
              <a:t>n </a:t>
            </a:r>
            <a:r>
              <a:rPr lang="en"/>
              <a:t>dim space. The vector represents the meaning of the text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Embeddings for text with similar meaning closer to each other in 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Embeddings can be learnt from data in a self-supervised way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Emebddings can be at the word level (word2vec) or at the sentence level (BERT/Sentence transformer)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Similarity measures for embeddings	</a:t>
            </a:r>
            <a:endParaRPr/>
          </a:p>
        </p:txBody>
      </p:sp>
      <p:pic>
        <p:nvPicPr>
          <p:cNvPr descr="{&quot;backgroundColorModified&quot;:false,&quot;id&quot;:&quot;1&quot;,&quot;type&quot;:&quot;gather*&quot;,&quot;aid&quot;:null,&quot;code&quot;:&quot;\\begin{gather*}\n{\\text{We}\\;\\text{wan}\\text{t}\\;\\text{a}\\;\\text{numerical}\\;\\text{measure}\\;\\text{of}\\;\\text{how}\\;\\text{close}\\;\\text{two}\\;\\text{embeddings}\\;\\text{are.}}\\\\\n{\\text{Given}\\;\\text{two}\\;\\text{embeddings}\\;\\text{vector}\\text{s}\\;\\mathbf{u}\\,\\text{and}\\;\\mathbf{v},}\\\\\n{\\text{cosine}\\;\\text{similarity:}\\;\\frac{\\mathbf{\\mathbf{u}}\\cdot \\mathbf{\\boldsymbol{\\text{v}}}}{\\left\\|\\mathbf{\\mathbf{u}}\\right\\|\\left\\|\\boldsymbol{v}\\right\\|}}\\\\\n{\\text{Range}\\;\\text{[-1,}\\;\\text{1]}}\\\\\n{\\text{Note:}\\;\\text{This}\\;\\text{is}\\;\\text{a}\\;\\text{similarity}\\;\\text{measure.}\\;\\text{If}\\;\\boldsymbol{u}\\,\\text{and}\\;\\boldsymbol{v}\\,\\text{are:}\\;}\\\\\n{\\text{parallel,}\\;\\text{cosine}\\;\\text{similarity}\\;\\text{=}\\;\\text{1}}\\\\\n{\\text{perpendicular,}\\;\\text{cosine}\\;\\text{similarity}\\;\\text{=}\\;\\text{0}}\\\\\n{\\text{pointed}\\;\\text{opposite},\\,\\text{cosine}\\;\\text{similarity}\\;\\text{=}\\;\\text{-1}}\t\n\\end{gather*}&quot;,&quot;font&quot;:{&quot;size&quot;:12,&quot;color&quot;:&quot;#000000&quot;,&quot;family&quot;:&quot;Arial&quot;},&quot;backgroundColor&quot;:&quot;#FFFFFF&quot;,&quot;ts&quot;:1767477464364,&quot;cs&quot;:&quot;0gLMpozH3ssl46Of0hf4CQ==&quot;,&quot;size&quot;:{&quot;width&quot;:519.5,&quot;height&quot;:204.5}}"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800" y="1430375"/>
            <a:ext cx="4948238" cy="1947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word embeddings: word2vec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Core ideas:</a:t>
            </a:r>
            <a:endParaRPr sz="1300"/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Take a large corpus of text (eg., wiki dump) and </a:t>
            </a:r>
            <a:r>
              <a:rPr lang="en" sz="1300"/>
              <a:t>create</a:t>
            </a:r>
            <a:r>
              <a:rPr lang="en" sz="1300"/>
              <a:t> a vocabulary. </a:t>
            </a:r>
            <a:br>
              <a:rPr lang="en" sz="1300"/>
            </a:br>
            <a:endParaRPr sz="1300"/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Vocabulary can be created simply by converting each word to lower-case and retaining N most frequent </a:t>
            </a:r>
            <a:r>
              <a:rPr lang="en" sz="1300"/>
              <a:t>words (N ~ 50,000). We maintain an map of each vocabulary word to its index (which acts as a token) and the inverse map. Corpus words that don’t map to any vocabulary word are replaced by an “UNK” token</a:t>
            </a:r>
            <a:br>
              <a:rPr lang="en" sz="1300"/>
            </a:br>
            <a:endParaRPr sz="1300"/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Learn a </a:t>
            </a:r>
            <a:r>
              <a:rPr i="1" lang="en" sz="1300"/>
              <a:t>d </a:t>
            </a:r>
            <a:r>
              <a:rPr lang="en" sz="1300"/>
              <a:t>dimensional vector for each word, such that words that occur in similar contexts have similar vectors. “You shall know a word from the company it keeps”</a:t>
            </a:r>
            <a:br>
              <a:rPr lang="en" sz="1300"/>
            </a:br>
            <a:endParaRPr sz="13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Create (center, context) words using a sliding window of width W: </a:t>
            </a:r>
            <a:endParaRPr sz="1400"/>
          </a:p>
          <a:p>
            <a:pPr indent="-3048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For each position </a:t>
            </a:r>
            <a:r>
              <a:rPr i="1" lang="en" sz="1200"/>
              <a:t>i </a:t>
            </a:r>
            <a:r>
              <a:rPr lang="en" sz="1200"/>
              <a:t>with center word </a:t>
            </a:r>
            <a:r>
              <a:rPr i="1" lang="en" sz="1200"/>
              <a:t>wi, </a:t>
            </a:r>
            <a:r>
              <a:rPr lang="en" sz="1200"/>
              <a:t>context words = words within the distance W, excluding </a:t>
            </a:r>
            <a:r>
              <a:rPr i="1" lang="en" sz="1200"/>
              <a:t>wi</a:t>
            </a:r>
            <a:endParaRPr i="1" sz="1200"/>
          </a:p>
          <a:p>
            <a:pPr indent="-3048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Example for W=2. “quick brown </a:t>
            </a:r>
            <a:r>
              <a:rPr b="1" lang="en" sz="1200"/>
              <a:t>fox </a:t>
            </a:r>
            <a:r>
              <a:rPr lang="en" sz="1200"/>
              <a:t>jumps over”. </a:t>
            </a:r>
            <a:endParaRPr sz="1200"/>
          </a:p>
          <a:p>
            <a:pPr indent="-3048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Center word: </a:t>
            </a:r>
            <a:r>
              <a:rPr b="1" lang="en" sz="1200"/>
              <a:t>fox</a:t>
            </a:r>
            <a:r>
              <a:rPr lang="en" sz="1200"/>
              <a:t> </a:t>
            </a:r>
            <a:endParaRPr sz="1200"/>
          </a:p>
          <a:p>
            <a:pPr indent="-3048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Pairs: (fox, quick), (fox, brown), (fox, jumps), (fox, over) </a:t>
            </a:r>
            <a:endParaRPr sz="1200"/>
          </a:p>
        </p:txBody>
      </p:sp>
      <p:sp>
        <p:nvSpPr>
          <p:cNvPr id="94" name="Google Shape;94;p19"/>
          <p:cNvSpPr txBox="1"/>
          <p:nvPr/>
        </p:nvSpPr>
        <p:spPr>
          <a:xfrm>
            <a:off x="225325" y="4717325"/>
            <a:ext cx="282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word2vec paper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word embeddings: word2vec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091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Core ideas:</a:t>
            </a:r>
            <a:endParaRPr sz="1300"/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b="1" lang="en" sz="1300"/>
              <a:t>Negative Sampling:</a:t>
            </a:r>
            <a:r>
              <a:rPr lang="en" sz="1300"/>
              <a:t> draw </a:t>
            </a:r>
            <a:r>
              <a:rPr i="1" lang="en" sz="1300"/>
              <a:t>k </a:t>
            </a:r>
            <a:r>
              <a:rPr lang="en" sz="1300"/>
              <a:t>negative words, i.e., words not in the context</a:t>
            </a:r>
            <a:endParaRPr sz="1300"/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" sz="1300"/>
              <a:t>Hard negative mining:</a:t>
            </a:r>
            <a:r>
              <a:rPr lang="en" sz="1300"/>
              <a:t> Instead of drawing negative words at random, you can pick hard negatives, i.e., words the model mistakenly thinks are similar to the context word</a:t>
            </a:r>
            <a:endParaRPr sz="1300"/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Maintain two trainable embedding matrices U, V; each V, d (embedding dimension)</a:t>
            </a:r>
            <a:endParaRPr sz="1300"/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Minimize the objective:</a:t>
            </a:r>
            <a:endParaRPr sz="1300"/>
          </a:p>
        </p:txBody>
      </p:sp>
      <p:pic>
        <p:nvPicPr>
          <p:cNvPr descr="{&quot;font&quot;:{&quot;size&quot;:12,&quot;family&quot;:&quot;Arial&quot;,&quot;color&quot;:&quot;#595959&quot;},&quot;code&quot;:&quot;\\begin{gather*}\n{-\\log_{}\\sigma\\left(\\boldsymbol{u_{o}^{T}v_{c}}\\right)-\\sum_{i=1}^{k}\\log_{}\\sigma\\left(\\boldsymbol{-u_{n_{i}}^{T}v_{c}}\\right)}\\\\\n{\\boldsymbol{v_{c}}:\\,\\text{embedding}\\;\\text{for}\\;\\text{the}\\;\\text{center}\\;\\text{token}}\\\\\n{\\boldsymbol{u_{o}}:\\,\\text{embedding}\\;\\text{for}\\;\\text{the}\\;\\text{context}\\;\\text{token}}\\\\\n{\\boldsymbol{u_{n_{i}}}:\\,\\text{embedding}\\;\\text{for}\\;\\text{the}\\;\\text{negative}\\;\\text{(out}\\;\\text{of}\\;\\text{context)}\\,\\text{token}\\text{s}}\\\\\n{\\text{These}\\;\\text{embeddings}\\;\\text{are}\\;\\text{just}\\;\\text{lookups}\\;\\text{in}\\;\\text{the}\\;\\text{embedding}\\;\\text{table}\\;\\text{using}\\;\\text{the}\\;\\text{token}\\;\\text{IDs}}\\\\\n{\\;\\sigma\\,\\text{is}\\;\\text{the}\\;\\text{sigmoid}\\;\\text{function}}\\\\\n{\\text{for}\\;\\left(c,o\\right)\\,\\text{we}\\;\\text{want}\\;\\text{the}\\;\\text{logit}\\,u_{o}^{T}v_{c}\\,\\text{large}}\\\\\n{\\text{for}\\;\\left(c,\\,n_{i}\\right),\\,\\text{we}\\;\\text{want}\\;\\text{the}\\;\\text{logit}\\;u_{n_{i}}^{T}v_{c}\\,\\text{small}\\;\\text{or}\\;\\text{negative}}\t\n\\end{gather*}&quot;,&quot;backgroundColor&quot;:&quot;#FFFFFF&quot;,&quot;id&quot;:&quot;2&quot;,&quot;aid&quot;:null,&quot;type&quot;:&quot;gather*&quot;,&quot;backgroundColorModified&quot;:false,&quot;ts&quot;:1771507776444,&quot;cs&quot;:&quot;Qd0jq00sW2nz+XuwoJo/cQ==&quot;,&quot;size&quot;:{&quot;width&quot;:637.9999999999999,&quot;height&quot;:233}}"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" y="2571738"/>
            <a:ext cx="6076950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type&quot;:&quot;gather*&quot;,&quot;id&quot;:&quot;3&quot;,&quot;font&quot;:{&quot;size&quot;:13,&quot;color&quot;:&quot;#595959&quot;,&quot;family&quot;:&quot;Arial&quot;},&quot;code&quot;:&quot;\\begin{gather*}\n{\\text{After}\\;\\text{training,}\\;\\text{we}\\;\\text{get}\\;\\text{two}\\;\\text{matrices}}\\\\\n{U\\in\\Re^{\\left|V\\right|\\times d}\\,\\;\\text{embedding}\\;\\text{matrix}\\;\\text{for}\\;\\text{center}\\;\\text{words}}\\\\\n{V\\in\\Re^{\\left|V\\right|\\times d}\\,\\;\\text{embedding}\\;\\text{matrix}\\;\\text{for}\\;\\text{context}\\;\\text{words}}\\\\\n{\\text{It}\\;\\text{is}\\;\\text{common}\\;\\text{to}\\;\\text{take}\\;\\text{average}\\;\\text{the}\\;\\text{two,}\\;\\text{or}\\;\\text{use}\\;\\text{one}\\;\\text{of}\\;\\text{them}}\\\\\n{}\t\n\\end{gather*}&quot;,&quot;backgroundColor&quot;:&quot;#FFFFFF&quot;,&quot;aid&quot;:null,&quot;ts&quot;:1767559735995,&quot;cs&quot;:&quot;lOUimiMcC9RdYPLCmY77+A==&quot;,&quot;size&quot;:{&quot;width&quot;:499.5,&quot;height&quot;:106.5}}" id="102" name="Google Shape;10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2249" y="4111124"/>
            <a:ext cx="4235725" cy="9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word embeddings: word2vec</a:t>
            </a:r>
            <a:endParaRPr/>
          </a:p>
        </p:txBody>
      </p:sp>
      <p:pic>
        <p:nvPicPr>
          <p:cNvPr descr="{&quot;backgroundColorModified&quot;:false,&quot;type&quot;:&quot;gather*&quot;,&quot;id&quot;:&quot;3&quot;,&quot;font&quot;:{&quot;size&quot;:13,&quot;color&quot;:&quot;#595959&quot;,&quot;family&quot;:&quot;Arial&quot;},&quot;code&quot;:&quot;\\begin{gather*}\n{\\text{After}\\;\\text{training,}\\;\\text{we}\\;\\text{get}\\;\\text{two}\\;\\text{matrices}}\\\\\n{U\\in\\Re^{\\left|V\\right|\\times d}\\,\\;\\text{embedding}\\;\\text{matrix}\\;\\text{for}\\;\\text{center}\\;\\text{words}}\\\\\n{V\\in\\Re^{\\left|V\\right|\\times d}\\,\\;\\text{embedding}\\;\\text{matrix}\\;\\text{for}\\;\\text{context}\\;\\text{words}}\\\\\n{\\text{It}\\;\\text{is}\\;\\text{common}\\;\\text{to}\\;\\text{take}\\;\\text{average}\\;\\text{the}\\;\\text{two,}\\;\\text{or}\\;\\text{use}\\;\\text{one}\\;\\text{of}\\;\\text{them}}\\\\\n{}\t\n\\end{gather*}&quot;,&quot;backgroundColor&quot;:&quot;#FFFFFF&quot;,&quot;aid&quot;:null,&quot;ts&quot;:1767559735995,&quot;cs&quot;:&quot;lOUimiMcC9RdYPLCmY77+A==&quot;,&quot;size&quot;:{&quot;width&quot;:499.5,&quot;height&quot;:106.5}}"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049" y="1394099"/>
            <a:ext cx="4235725" cy="9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a simple word2vec on text8 dataset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10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Results of training a simple word2vec algorithm on the text8 dataset (~17M tokens, vocab 50K. Tokens not found in vocab are mapped to a special UNK token. </a:t>
            </a:r>
            <a:endParaRPr sz="1600"/>
          </a:p>
        </p:txBody>
      </p:sp>
      <p:sp>
        <p:nvSpPr>
          <p:cNvPr id="115" name="Google Shape;115;p22"/>
          <p:cNvSpPr txBox="1"/>
          <p:nvPr/>
        </p:nvSpPr>
        <p:spPr>
          <a:xfrm>
            <a:off x="347775" y="2155375"/>
            <a:ext cx="2821500" cy="23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8">
                <a:solidFill>
                  <a:schemeClr val="dk2"/>
                </a:solidFill>
              </a:rPr>
              <a:t>Neighbors for 'king':</a:t>
            </a:r>
            <a:endParaRPr sz="1358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8">
                <a:solidFill>
                  <a:schemeClr val="dk2"/>
                </a:solidFill>
              </a:rPr>
              <a:t>  vii  (cos=0.535)</a:t>
            </a:r>
            <a:endParaRPr sz="1358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8">
                <a:solidFill>
                  <a:schemeClr val="dk2"/>
                </a:solidFill>
              </a:rPr>
              <a:t>  son  (cos=0.523)</a:t>
            </a:r>
            <a:endParaRPr sz="1358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8">
                <a:solidFill>
                  <a:schemeClr val="dk2"/>
                </a:solidFill>
              </a:rPr>
              <a:t>  james  (cos=0.511)</a:t>
            </a:r>
            <a:endParaRPr sz="1358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8">
                <a:solidFill>
                  <a:schemeClr val="dk2"/>
                </a:solidFill>
              </a:rPr>
              <a:t>  viii  (cos=0.505)</a:t>
            </a:r>
            <a:endParaRPr sz="1358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8">
                <a:solidFill>
                  <a:schemeClr val="dk2"/>
                </a:solidFill>
              </a:rPr>
              <a:t>  prince  (cos=0.496)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6" name="Google Shape;116;p22"/>
          <p:cNvSpPr txBox="1"/>
          <p:nvPr/>
        </p:nvSpPr>
        <p:spPr>
          <a:xfrm>
            <a:off x="2391025" y="2155375"/>
            <a:ext cx="2821500" cy="23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8">
                <a:solidFill>
                  <a:schemeClr val="dk2"/>
                </a:solidFill>
              </a:rPr>
              <a:t>Neighbors for 'queen':</a:t>
            </a:r>
            <a:endParaRPr sz="1358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8">
                <a:solidFill>
                  <a:schemeClr val="dk2"/>
                </a:solidFill>
              </a:rPr>
              <a:t>  elizabeth  (cos=0.604)</a:t>
            </a:r>
            <a:endParaRPr sz="1358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8">
                <a:solidFill>
                  <a:schemeClr val="dk2"/>
                </a:solidFill>
              </a:rPr>
              <a:t>  mary  (cos=0.520)</a:t>
            </a:r>
            <a:endParaRPr sz="1358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8">
                <a:solidFill>
                  <a:schemeClr val="dk2"/>
                </a:solidFill>
              </a:rPr>
              <a:t>  monarch  (cos=0.520)</a:t>
            </a:r>
            <a:endParaRPr sz="1358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8">
                <a:solidFill>
                  <a:schemeClr val="dk2"/>
                </a:solidFill>
              </a:rPr>
              <a:t>  crown  (cos=0.514)</a:t>
            </a:r>
            <a:endParaRPr sz="1358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58">
                <a:solidFill>
                  <a:schemeClr val="dk2"/>
                </a:solidFill>
              </a:rPr>
              <a:t>  majesty  (cos=0.497)</a:t>
            </a:r>
            <a:endParaRPr sz="1358">
              <a:solidFill>
                <a:schemeClr val="dk2"/>
              </a:solidFill>
            </a:endParaRPr>
          </a:p>
        </p:txBody>
      </p:sp>
      <p:sp>
        <p:nvSpPr>
          <p:cNvPr id="117" name="Google Shape;117;p22"/>
          <p:cNvSpPr txBox="1"/>
          <p:nvPr/>
        </p:nvSpPr>
        <p:spPr>
          <a:xfrm>
            <a:off x="4841425" y="2155375"/>
            <a:ext cx="3000000" cy="23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8">
                <a:solidFill>
                  <a:schemeClr val="dk2"/>
                </a:solidFill>
              </a:rPr>
              <a:t>Neighbors for 'san':</a:t>
            </a:r>
            <a:endParaRPr sz="1358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8">
                <a:solidFill>
                  <a:schemeClr val="dk2"/>
                </a:solidFill>
              </a:rPr>
              <a:t>  francisco  (cos=0.619)</a:t>
            </a:r>
            <a:endParaRPr sz="1358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8">
                <a:solidFill>
                  <a:schemeClr val="dk2"/>
                </a:solidFill>
              </a:rPr>
              <a:t>  jose  (cos=0.607)</a:t>
            </a:r>
            <a:endParaRPr sz="1358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8">
                <a:solidFill>
                  <a:schemeClr val="dk2"/>
                </a:solidFill>
              </a:rPr>
              <a:t>  diego  (cos=0.522)</a:t>
            </a:r>
            <a:endParaRPr sz="1358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8">
                <a:solidFill>
                  <a:schemeClr val="dk2"/>
                </a:solidFill>
              </a:rPr>
              <a:t>  california  (cos=0.511)</a:t>
            </a:r>
            <a:endParaRPr sz="1358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58">
                <a:solidFill>
                  <a:schemeClr val="dk2"/>
                </a:solidFill>
              </a:rPr>
              <a:t>  santa  (cos=0.488)</a:t>
            </a:r>
            <a:endParaRPr/>
          </a:p>
        </p:txBody>
      </p:sp>
      <p:sp>
        <p:nvSpPr>
          <p:cNvPr id="118" name="Google Shape;118;p22"/>
          <p:cNvSpPr txBox="1"/>
          <p:nvPr/>
        </p:nvSpPr>
        <p:spPr>
          <a:xfrm>
            <a:off x="352700" y="4746725"/>
            <a:ext cx="28215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58">
                <a:solidFill>
                  <a:schemeClr val="dk2"/>
                </a:solidFill>
              </a:rPr>
              <a:t>word2vec_sgns_embeddings.pt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vocabularies	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Recall that the embedding matrices are size (V, d). The number of words in a natural language such as English can be very large. How do we represent such a large number of words in a </a:t>
            </a:r>
            <a:r>
              <a:rPr lang="en" sz="1400"/>
              <a:t>vocabulary</a:t>
            </a:r>
            <a:r>
              <a:rPr lang="en" sz="1400"/>
              <a:t> of tractable size?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In </a:t>
            </a:r>
            <a:r>
              <a:rPr b="1" lang="en" sz="1400"/>
              <a:t>word2vec</a:t>
            </a:r>
            <a:r>
              <a:rPr lang="en" sz="1400"/>
              <a:t>, we simply truncated less frequent words.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In </a:t>
            </a:r>
            <a:r>
              <a:rPr b="1" lang="en" sz="1400"/>
              <a:t>fasttext</a:t>
            </a:r>
            <a:r>
              <a:rPr lang="en" sz="1400"/>
              <a:t>, a word is broken into character n-grams: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playing: &lt;pl, pla, lay, ayi, yin, ing, ng&gt;, &lt;</a:t>
            </a:r>
            <a:r>
              <a:rPr lang="en" sz="1400"/>
              <a:t>playing&gt;</a:t>
            </a:r>
            <a:r>
              <a:rPr lang="en" sz="1400"/>
              <a:t>.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lay: &lt;la, lay, ay&gt;, &lt;lay&gt;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Embedding for a word is the sum of the embeddings for its component n-grams. This way, even an unknown word, not seen during training will have some overlapping n-grams with known words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The underlying training objective doesn’t care if a token is a word, a character, a BPE subword, or something else. The key is: define a tokenization scheme → treat tokens as items in a sequence → run skip-gram/CBOW.</a:t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Sentence Embeddings	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Word2vec and its variants, produces embeddings for individual words. Our goal is to get embeddings for query and corpus docs.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Technique 1: </a:t>
            </a:r>
            <a:r>
              <a:rPr lang="en" sz="1600"/>
              <a:t>We could simply take a weighted average of the embeddings of words in a sentence, with the BM25 scores as weights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/>
              <a:t>Technique 2:</a:t>
            </a:r>
            <a:r>
              <a:rPr lang="en" sz="1600"/>
              <a:t> Dual encoder systems </a:t>
            </a:r>
            <a:endParaRPr sz="1600"/>
          </a:p>
        </p:txBody>
      </p:sp>
      <p:pic>
        <p:nvPicPr>
          <p:cNvPr descr="{&quot;aid&quot;:null,&quot;backgroundColor&quot;:&quot;#FFFFFF&quot;,&quot;code&quot;:&quot;\\begin{gather*}\n{\\boldsymbol{v_{d}=}f_{d}\\left(d\\right)}\\\\\n{\\boldsymbol{v_{q}=}f_{q}\\left(q\\right)}\\\\\n{\\text{Here,}\\;f_{d},\\,f_{q}\\,\\text{are}\\;\\text{neural}\\;\\text{networks}\\;\\text{that}\\;\\text{map}\\;\\text{document}\\;\\text{and}\\;\\text{queries}\\;\\text{to}\\;\\text{respective}\\;\\text{embeddings}}\\\\\n{\\text{In}\\;\\text{practice,}\\;\\text{we}\\;\\text{use}\\;\\text{the}\\;\\text{two}\\;\\text{networks}\\;\\text{use}\\;\\text{the}\\;\\text{same}\\;\\text{weights,}\\;\\text{i.e.,}\\;f_{q}=f_{d}}\t\n\\end{gather*}&quot;,&quot;font&quot;:{&quot;color&quot;:&quot;#595959&quot;,&quot;family&quot;:&quot;Arial&quot;,&quot;size&quot;:12.5},&quot;id&quot;:&quot;4&quot;,&quot;type&quot;:&quot;gather*&quot;,&quot;backgroundColorModified&quot;:false,&quot;ts&quot;:1767565108715,&quot;cs&quot;:&quot;W6YvSKac7AvoXlvpAZrXIg==&quot;,&quot;size&quot;:{&quot;width&quot;:774.1155154855643,&quot;height&quot;:100.14172440944883}}"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275" y="3164500"/>
            <a:ext cx="7373450" cy="95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Sentence Embeddings</a:t>
            </a:r>
            <a:endParaRPr/>
          </a:p>
        </p:txBody>
      </p:sp>
      <p:sp>
        <p:nvSpPr>
          <p:cNvPr id="137" name="Google Shape;137;p25"/>
          <p:cNvSpPr/>
          <p:nvPr/>
        </p:nvSpPr>
        <p:spPr>
          <a:xfrm>
            <a:off x="1468344" y="2655175"/>
            <a:ext cx="1312800" cy="4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Encoder</a:t>
            </a:r>
            <a:endParaRPr/>
          </a:p>
        </p:txBody>
      </p:sp>
      <p:sp>
        <p:nvSpPr>
          <p:cNvPr id="138" name="Google Shape;138;p25"/>
          <p:cNvSpPr txBox="1"/>
          <p:nvPr/>
        </p:nvSpPr>
        <p:spPr>
          <a:xfrm>
            <a:off x="385794" y="2682625"/>
            <a:ext cx="68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query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139" name="Google Shape;139;p25"/>
          <p:cNvCxnSpPr>
            <a:stCxn id="138" idx="3"/>
            <a:endCxn id="137" idx="1"/>
          </p:cNvCxnSpPr>
          <p:nvPr/>
        </p:nvCxnSpPr>
        <p:spPr>
          <a:xfrm>
            <a:off x="1066794" y="2890375"/>
            <a:ext cx="40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25"/>
          <p:cNvSpPr/>
          <p:nvPr/>
        </p:nvSpPr>
        <p:spPr>
          <a:xfrm>
            <a:off x="1459750" y="1724075"/>
            <a:ext cx="1312800" cy="4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Encoder</a:t>
            </a:r>
            <a:endParaRPr/>
          </a:p>
        </p:txBody>
      </p:sp>
      <p:cxnSp>
        <p:nvCxnSpPr>
          <p:cNvPr id="141" name="Google Shape;141;p25"/>
          <p:cNvCxnSpPr/>
          <p:nvPr/>
        </p:nvCxnSpPr>
        <p:spPr>
          <a:xfrm>
            <a:off x="1058200" y="1959275"/>
            <a:ext cx="40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25"/>
          <p:cNvSpPr txBox="1"/>
          <p:nvPr/>
        </p:nvSpPr>
        <p:spPr>
          <a:xfrm>
            <a:off x="607400" y="1724075"/>
            <a:ext cx="45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d+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43" name="Google Shape;143;p25"/>
          <p:cNvSpPr/>
          <p:nvPr/>
        </p:nvSpPr>
        <p:spPr>
          <a:xfrm>
            <a:off x="1459300" y="3684950"/>
            <a:ext cx="1312800" cy="4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Encoder</a:t>
            </a:r>
            <a:endParaRPr/>
          </a:p>
        </p:txBody>
      </p:sp>
      <p:cxnSp>
        <p:nvCxnSpPr>
          <p:cNvPr id="144" name="Google Shape;144;p25"/>
          <p:cNvCxnSpPr/>
          <p:nvPr/>
        </p:nvCxnSpPr>
        <p:spPr>
          <a:xfrm>
            <a:off x="1057750" y="3920150"/>
            <a:ext cx="40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p25"/>
          <p:cNvSpPr txBox="1"/>
          <p:nvPr/>
        </p:nvSpPr>
        <p:spPr>
          <a:xfrm>
            <a:off x="606950" y="3712400"/>
            <a:ext cx="45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d-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146" name="Google Shape;146;p25"/>
          <p:cNvCxnSpPr>
            <a:stCxn id="137" idx="3"/>
          </p:cNvCxnSpPr>
          <p:nvPr/>
        </p:nvCxnSpPr>
        <p:spPr>
          <a:xfrm>
            <a:off x="2781144" y="2890375"/>
            <a:ext cx="40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code&quot;:&quot;$$v_{q}$$&quot;,&quot;font&quot;:{&quot;color&quot;:&quot;#000000&quot;,&quot;family&quot;:&quot;Arial&quot;,&quot;size&quot;:18},&quot;backgroundColorModified&quot;:false,&quot;backgroundColor&quot;:&quot;#FFFFFF&quot;,&quot;type&quot;:&quot;$$&quot;,&quot;aid&quot;:null,&quot;id&quot;:&quot;5&quot;,&quot;ts&quot;:1767567861536,&quot;cs&quot;:&quot;zljY1vjyc7ZGzs8C30qX1Q==&quot;,&quot;size&quot;:{&quot;width&quot;:23.166666666666668,&quot;height&quot;:20.666666666666668}}"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0869" y="2791950"/>
            <a:ext cx="220662" cy="19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font&quot;:{&quot;size&quot;:18,&quot;color&quot;:&quot;#000000&quot;,&quot;family&quot;:&quot;Arial&quot;},&quot;id&quot;:&quot;6&quot;,&quot;backgroundColor&quot;:&quot;#FFFFFF&quot;,&quot;aid&quot;:null,&quot;backgroundColorModified&quot;:false,&quot;code&quot;:&quot;$$v_{d+}$$&quot;,&quot;ts&quot;:1767567882302,&quot;cs&quot;:&quot;VSE4xmyiJ6ZJkQLrhrQLMg==&quot;,&quot;size&quot;:{&quot;width&quot;:38.833333333333336,&quot;height&quot;:18.5}}" id="148" name="Google Shape;14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6863" y="1853663"/>
            <a:ext cx="369888" cy="176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size&quot;:18,&quot;family&quot;:&quot;Arial&quot;},&quot;code&quot;:&quot;$$v_{d-}$$&quot;,&quot;backgroundColorModified&quot;:false,&quot;type&quot;:&quot;$$&quot;,&quot;backgroundColor&quot;:&quot;#FFFFFF&quot;,&quot;id&quot;:&quot;7&quot;,&quot;aid&quot;:null,&quot;ts&quot;:1767567902180,&quot;cs&quot;:&quot;2ccYPED/vNCDwNOTUk5UAw==&quot;,&quot;size&quot;:{&quot;width&quot;:38.166666666666664,&quot;height&quot;:17}}" id="149" name="Google Shape;14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0038" y="3870000"/>
            <a:ext cx="363538" cy="161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25"/>
          <p:cNvCxnSpPr/>
          <p:nvPr/>
        </p:nvCxnSpPr>
        <p:spPr>
          <a:xfrm>
            <a:off x="2779263" y="1959275"/>
            <a:ext cx="40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25"/>
          <p:cNvCxnSpPr/>
          <p:nvPr/>
        </p:nvCxnSpPr>
        <p:spPr>
          <a:xfrm>
            <a:off x="2780388" y="3920150"/>
            <a:ext cx="40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p25"/>
          <p:cNvSpPr/>
          <p:nvPr/>
        </p:nvSpPr>
        <p:spPr>
          <a:xfrm>
            <a:off x="3914475" y="2155575"/>
            <a:ext cx="1312800" cy="4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Similarity</a:t>
            </a:r>
            <a:endParaRPr/>
          </a:p>
        </p:txBody>
      </p:sp>
      <p:sp>
        <p:nvSpPr>
          <p:cNvPr id="153" name="Google Shape;153;p25"/>
          <p:cNvSpPr/>
          <p:nvPr/>
        </p:nvSpPr>
        <p:spPr>
          <a:xfrm>
            <a:off x="3914475" y="3153075"/>
            <a:ext cx="1312800" cy="4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Similarity</a:t>
            </a:r>
            <a:endParaRPr/>
          </a:p>
        </p:txBody>
      </p:sp>
      <p:cxnSp>
        <p:nvCxnSpPr>
          <p:cNvPr id="154" name="Google Shape;154;p25"/>
          <p:cNvCxnSpPr>
            <a:stCxn id="148" idx="3"/>
            <a:endCxn id="152" idx="0"/>
          </p:cNvCxnSpPr>
          <p:nvPr/>
        </p:nvCxnSpPr>
        <p:spPr>
          <a:xfrm>
            <a:off x="3596750" y="1941769"/>
            <a:ext cx="974100" cy="213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25"/>
          <p:cNvCxnSpPr>
            <a:endCxn id="152" idx="2"/>
          </p:cNvCxnSpPr>
          <p:nvPr/>
        </p:nvCxnSpPr>
        <p:spPr>
          <a:xfrm flipH="1" rot="10800000">
            <a:off x="3595575" y="2625975"/>
            <a:ext cx="975300" cy="279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25"/>
          <p:cNvCxnSpPr>
            <a:endCxn id="153" idx="0"/>
          </p:cNvCxnSpPr>
          <p:nvPr/>
        </p:nvCxnSpPr>
        <p:spPr>
          <a:xfrm>
            <a:off x="3619875" y="2904975"/>
            <a:ext cx="951000" cy="248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25"/>
          <p:cNvCxnSpPr>
            <a:endCxn id="153" idx="2"/>
          </p:cNvCxnSpPr>
          <p:nvPr/>
        </p:nvCxnSpPr>
        <p:spPr>
          <a:xfrm flipH="1" rot="10800000">
            <a:off x="3619875" y="3623475"/>
            <a:ext cx="951000" cy="345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" name="Google Shape;158;p25"/>
          <p:cNvSpPr/>
          <p:nvPr/>
        </p:nvSpPr>
        <p:spPr>
          <a:xfrm>
            <a:off x="5822975" y="2655175"/>
            <a:ext cx="1312800" cy="4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Contrastive Loss</a:t>
            </a:r>
            <a:endParaRPr/>
          </a:p>
        </p:txBody>
      </p:sp>
      <p:cxnSp>
        <p:nvCxnSpPr>
          <p:cNvPr id="159" name="Google Shape;159;p25"/>
          <p:cNvCxnSpPr>
            <a:stCxn id="152" idx="3"/>
            <a:endCxn id="158" idx="0"/>
          </p:cNvCxnSpPr>
          <p:nvPr/>
        </p:nvCxnSpPr>
        <p:spPr>
          <a:xfrm>
            <a:off x="5227275" y="2390775"/>
            <a:ext cx="1252200" cy="264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25"/>
          <p:cNvCxnSpPr>
            <a:stCxn id="153" idx="3"/>
            <a:endCxn id="158" idx="2"/>
          </p:cNvCxnSpPr>
          <p:nvPr/>
        </p:nvCxnSpPr>
        <p:spPr>
          <a:xfrm flipH="1" rot="10800000">
            <a:off x="5227275" y="3125475"/>
            <a:ext cx="1252200" cy="262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backgroundColorModified&quot;:false,&quot;type&quot;:&quot;$$&quot;,&quot;aid&quot;:null,&quot;id&quot;:&quot;8&quot;,&quot;font&quot;:{&quot;family&quot;:&quot;Arial&quot;,&quot;color&quot;:&quot;#000000&quot;,&quot;size&quot;:12},&quot;backgroundColor&quot;:&quot;#FFFFFF&quot;,&quot;code&quot;:&quot;$$L=-\\frac{\\exp\\left(\\text{sim}\\left(v_{d+},\\,v_{q}\\right)\\right)}{\\exp\\left(\\text{sim}\\left(v_{d+},\\,v_{q}\\right)\\right)+\\sum_{d-}^{}\\exp\\left(\\text{sim}\\left(v_{d-},\\,v_{q}\\right)\\right)}$$&quot;,&quot;ts&quot;:1767568389745,&quot;cs&quot;:&quot;BLdj5ofF4qgjsvTa6nOVmA==&quot;,&quot;size&quot;:{&quot;width&quot;:419.6666666666667,&quot;height&quot;:47}}" id="161" name="Google Shape;161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00313" y="1255900"/>
            <a:ext cx="3997325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5"/>
          <p:cNvSpPr txBox="1"/>
          <p:nvPr/>
        </p:nvSpPr>
        <p:spPr>
          <a:xfrm>
            <a:off x="5163900" y="3712400"/>
            <a:ext cx="3668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During training, we consider a batch of (q, d+) pairs. For every query, all documents other than its d+ are treated as d-. This technique (called in-batch negatives) is much more efficient than sampling separate negatives for each d+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Dense retrieval pipeline	</a:t>
            </a:r>
            <a:endParaRPr/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 each document in the corpus, compute embeddings. Store embeddings in a vector database (more on this later)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At query time, compute query embedding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Find nearest neighbors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Brute force search against every corpus embedding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Approximate Nearest Neighbor search (precision/recall trade-off)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Story so far..</a:t>
            </a:r>
            <a:endParaRPr/>
          </a:p>
        </p:txBody>
      </p:sp>
      <p:graphicFrame>
        <p:nvGraphicFramePr>
          <p:cNvPr id="174" name="Google Shape;174;p27"/>
          <p:cNvGraphicFramePr/>
          <p:nvPr/>
        </p:nvGraphicFramePr>
        <p:xfrm>
          <a:off x="883938" y="121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{D36EA715-9774-457C-B89A-6D378474BA1B}</a:tableStyleId>
              </a:tblPr>
              <a:tblGrid>
                <a:gridCol w="1190150"/>
                <a:gridCol w="2150250"/>
                <a:gridCol w="1992025"/>
                <a:gridCol w="2043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Lexical (TF-IDF, BM25)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MinHash, LSH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Dense retrieval (embeddings)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Simple and interpretable, works well with rare words. No training needed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Great for near-duplicate detection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Captures</a:t>
                      </a:r>
                      <a:r>
                        <a:rPr lang="en" sz="1200"/>
                        <a:t> meaning, synonyms, paraphrases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Not based on meaning, hence doesn’t handle synonyms. Struggles if query uses different vocabulary than corpus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Not based on meaning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Requires training + indexing. Can miss critical, rare items (absent from training dataset or infrequently </a:t>
                      </a:r>
                      <a:r>
                        <a:rPr lang="en" sz="1200"/>
                        <a:t>occurring</a:t>
                      </a:r>
                      <a:r>
                        <a:rPr lang="en" sz="1200"/>
                        <a:t>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5" name="Google Shape;175;p27"/>
          <p:cNvSpPr txBox="1"/>
          <p:nvPr/>
        </p:nvSpPr>
        <p:spPr>
          <a:xfrm>
            <a:off x="883950" y="4031525"/>
            <a:ext cx="7948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In modern systems, we often </a:t>
            </a:r>
            <a:r>
              <a:rPr b="1" lang="en" sz="1100">
                <a:solidFill>
                  <a:schemeClr val="dk1"/>
                </a:solidFill>
              </a:rPr>
              <a:t>combine</a:t>
            </a:r>
            <a:r>
              <a:rPr lang="en" sz="1100">
                <a:solidFill>
                  <a:schemeClr val="dk1"/>
                </a:solidFill>
              </a:rPr>
              <a:t> BM25 and dense retrieval: lexical for precision on rare terms, dense for semantics.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