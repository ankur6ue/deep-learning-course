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7c395aaa1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7c395aaa1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3ecbe50c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3ecbe50c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5416cf2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5416cf2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640b58fec7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640b58fec7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640b58fec7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640b58fec7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640b58fec7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640b58fec7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640b58fec7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640b58fec7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640b58fec7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640b58fec7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640b58fec7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640b58fec7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63ecbe50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63ecbe50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63ecbe50c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63ecbe50c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63ecbe50c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63ecbe50c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63ecbe50c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63ecbe50c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63ecbe50c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63ecbe50c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640b58fec7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640b58fec7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640b58fec7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640b58fec7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640b58fec7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640b58fec7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794528f1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794528f1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7b1b0f1e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7b1b0f1e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7b1b0f1e5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7b1b0f1e5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900">
                <a:solidFill>
                  <a:schemeClr val="dk1"/>
                </a:solidFill>
              </a:rPr>
              <a:t>Thinking of weights as the “slopes” of lines and biases as the “intercepts.”</a:t>
            </a:r>
            <a:endParaRPr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Penalizing slopes keeps the line from becoming too steep (simpler model).</a:t>
            </a:r>
            <a:br>
              <a:rPr lang="en" sz="900">
                <a:solidFill>
                  <a:schemeClr val="dk1"/>
                </a:solidFill>
              </a:rPr>
            </a:b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Penalizing intercepts just pushes the line toward the origin, which doesn’t really fight overfitting — it just shifts everything awkwardly.</a:t>
            </a:r>
            <a:endParaRPr sz="900">
              <a:solidFill>
                <a:schemeClr val="dk1"/>
              </a:solidFill>
            </a:endParaRPr>
          </a:p>
          <a:p>
            <a:pPr indent="0" lvl="0" marL="0" rtl="0" algn="l">
              <a:lnSpc>
                <a:spcPct val="115000"/>
              </a:lnSpc>
              <a:spcBef>
                <a:spcPts val="1200"/>
              </a:spcBef>
              <a:spcAft>
                <a:spcPts val="0"/>
              </a:spcAft>
              <a:buNone/>
            </a:pPr>
            <a:r>
              <a:rPr lang="en" sz="900">
                <a:solidFill>
                  <a:schemeClr val="dk1"/>
                </a:solidFill>
              </a:rPr>
              <a:t>If you are curious: Fixing Weight Decay Regularization in Adam” (Loshchilov &amp; Hutter, 2017) </a:t>
            </a:r>
            <a:endParaRPr sz="9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7b1b0f1e5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7b1b0f1e5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7c395aaa1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7c395aaa1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640b58fec7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640b58fec7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7c395aaa1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7c395aaa1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640b58fec7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640b58fec7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0" Type="http://schemas.openxmlformats.org/officeDocument/2006/relationships/image" Target="../media/image11.png"/><Relationship Id="rId11" Type="http://schemas.openxmlformats.org/officeDocument/2006/relationships/image" Target="../media/image14.png"/><Relationship Id="rId22" Type="http://schemas.openxmlformats.org/officeDocument/2006/relationships/image" Target="../media/image17.png"/><Relationship Id="rId10" Type="http://schemas.openxmlformats.org/officeDocument/2006/relationships/image" Target="../media/image2.png"/><Relationship Id="rId21" Type="http://schemas.openxmlformats.org/officeDocument/2006/relationships/image" Target="../media/image15.png"/><Relationship Id="rId13" Type="http://schemas.openxmlformats.org/officeDocument/2006/relationships/image" Target="../media/image4.png"/><Relationship Id="rId24" Type="http://schemas.openxmlformats.org/officeDocument/2006/relationships/image" Target="../media/image21.png"/><Relationship Id="rId12" Type="http://schemas.openxmlformats.org/officeDocument/2006/relationships/image" Target="../media/image18.png"/><Relationship Id="rId23" Type="http://schemas.openxmlformats.org/officeDocument/2006/relationships/image" Target="../media/image20.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9.png"/><Relationship Id="rId9" Type="http://schemas.openxmlformats.org/officeDocument/2006/relationships/image" Target="../media/image23.png"/><Relationship Id="rId15" Type="http://schemas.openxmlformats.org/officeDocument/2006/relationships/image" Target="../media/image7.png"/><Relationship Id="rId14" Type="http://schemas.openxmlformats.org/officeDocument/2006/relationships/image" Target="../media/image10.png"/><Relationship Id="rId17" Type="http://schemas.openxmlformats.org/officeDocument/2006/relationships/image" Target="../media/image6.png"/><Relationship Id="rId16" Type="http://schemas.openxmlformats.org/officeDocument/2006/relationships/image" Target="../media/image8.png"/><Relationship Id="rId5" Type="http://schemas.openxmlformats.org/officeDocument/2006/relationships/image" Target="../media/image1.png"/><Relationship Id="rId19" Type="http://schemas.openxmlformats.org/officeDocument/2006/relationships/image" Target="../media/image13.png"/><Relationship Id="rId6" Type="http://schemas.openxmlformats.org/officeDocument/2006/relationships/image" Target="../media/image3.png"/><Relationship Id="rId18" Type="http://schemas.openxmlformats.org/officeDocument/2006/relationships/image" Target="../media/image16.png"/><Relationship Id="rId7" Type="http://schemas.openxmlformats.org/officeDocument/2006/relationships/image" Target="../media/image12.png"/><Relationship Id="rId8"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hyperlink" Target="https://docs.pytorch.org/docs/stable/optim.html#per-parameter-options" TargetMode="External"/><Relationship Id="rId5" Type="http://schemas.openxmlformats.org/officeDocument/2006/relationships/hyperlink" Target="https://arxiv.org/pdf/1608.03983" TargetMode="External"/><Relationship Id="rId6"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cs.toronto.edu/~rsalakhu/papers/srivastava14a.pdf" TargetMode="External"/><Relationship Id="rId4" Type="http://schemas.openxmlformats.org/officeDocument/2006/relationships/hyperlink" Target="https://magazine.sebastianraschka.com/p/from-gpt-2-to-gpt-oss-analyzing-th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7.png"/><Relationship Id="rId4" Type="http://schemas.openxmlformats.org/officeDocument/2006/relationships/hyperlink" Target="https://github.com/ankur6ue/deep-learning-course/blob/master/class_2/matrix_derivatives.py"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Introduction to Deep Learning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Class 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Backpropagation: Single Input</a:t>
            </a:r>
            <a:endParaRPr/>
          </a:p>
          <a:p>
            <a:pPr indent="-334327" lvl="0" marL="457200" rtl="0" algn="l">
              <a:spcBef>
                <a:spcPts val="0"/>
              </a:spcBef>
              <a:spcAft>
                <a:spcPts val="0"/>
              </a:spcAft>
              <a:buSzPct val="100000"/>
              <a:buChar char="-"/>
            </a:pPr>
            <a:r>
              <a:rPr lang="en"/>
              <a:t>Backpropagation: Batched case</a:t>
            </a:r>
            <a:endParaRPr/>
          </a:p>
          <a:p>
            <a:pPr indent="-334327" lvl="0" marL="457200" rtl="0" algn="l">
              <a:spcBef>
                <a:spcPts val="0"/>
              </a:spcBef>
              <a:spcAft>
                <a:spcPts val="0"/>
              </a:spcAft>
              <a:buSzPct val="100000"/>
              <a:buChar char="-"/>
            </a:pPr>
            <a:r>
              <a:rPr lang="en"/>
              <a:t>Updating weights</a:t>
            </a:r>
            <a:endParaRPr/>
          </a:p>
          <a:p>
            <a:pPr indent="-334327" lvl="0" marL="457200" rtl="0" algn="l">
              <a:spcBef>
                <a:spcPts val="0"/>
              </a:spcBef>
              <a:spcAft>
                <a:spcPts val="0"/>
              </a:spcAft>
              <a:buSzPct val="100000"/>
              <a:buChar char="-"/>
            </a:pPr>
            <a:r>
              <a:rPr lang="en"/>
              <a:t>Example: Predicting the value of Sin(x)</a:t>
            </a:r>
            <a:endParaRPr/>
          </a:p>
          <a:p>
            <a:pPr indent="-334327" lvl="0" marL="457200" rtl="0" algn="l">
              <a:spcBef>
                <a:spcPts val="0"/>
              </a:spcBef>
              <a:spcAft>
                <a:spcPts val="0"/>
              </a:spcAft>
              <a:buSzPct val="100000"/>
              <a:buChar char="-"/>
            </a:pPr>
            <a:r>
              <a:rPr lang="en"/>
              <a:t>Minibatch Stochastic Gradient Descent </a:t>
            </a:r>
            <a:endParaRPr/>
          </a:p>
          <a:p>
            <a:pPr indent="-334327" lvl="0" marL="457200" rtl="0" algn="l">
              <a:spcBef>
                <a:spcPts val="0"/>
              </a:spcBef>
              <a:spcAft>
                <a:spcPts val="0"/>
              </a:spcAft>
              <a:buSzPct val="100000"/>
              <a:buChar char="-"/>
            </a:pPr>
            <a:r>
              <a:rPr lang="en"/>
              <a:t>Implementing MSGD</a:t>
            </a:r>
            <a:endParaRPr/>
          </a:p>
          <a:p>
            <a:pPr indent="-334327" lvl="0" marL="457200" rtl="0" algn="l">
              <a:spcBef>
                <a:spcPts val="0"/>
              </a:spcBef>
              <a:spcAft>
                <a:spcPts val="0"/>
              </a:spcAft>
              <a:buSzPct val="100000"/>
              <a:buChar char="-"/>
            </a:pPr>
            <a:r>
              <a:rPr lang="en"/>
              <a:t>Pytorch Dataloader/Dataset classes</a:t>
            </a:r>
            <a:endParaRPr/>
          </a:p>
          <a:p>
            <a:pPr indent="-334327" lvl="0" marL="457200" rtl="0" algn="l">
              <a:spcBef>
                <a:spcPts val="0"/>
              </a:spcBef>
              <a:spcAft>
                <a:spcPts val="0"/>
              </a:spcAft>
              <a:buSzPct val="100000"/>
              <a:buChar char="-"/>
            </a:pPr>
            <a:r>
              <a:rPr lang="en"/>
              <a:t>Learning rate schedule</a:t>
            </a:r>
            <a:endParaRPr/>
          </a:p>
          <a:p>
            <a:pPr indent="-334327" lvl="0" marL="457200" rtl="0" algn="l">
              <a:spcBef>
                <a:spcPts val="0"/>
              </a:spcBef>
              <a:spcAft>
                <a:spcPts val="0"/>
              </a:spcAft>
              <a:buSzPct val="100000"/>
              <a:buChar char="-"/>
            </a:pPr>
            <a:r>
              <a:rPr lang="en"/>
              <a:t>Regularization</a:t>
            </a:r>
            <a:endParaRPr/>
          </a:p>
          <a:p>
            <a:pPr indent="-334327" lvl="0" marL="457200" rtl="0" algn="l">
              <a:spcBef>
                <a:spcPts val="0"/>
              </a:spcBef>
              <a:spcAft>
                <a:spcPts val="0"/>
              </a:spcAft>
              <a:buSzPct val="100000"/>
              <a:buChar char="-"/>
            </a:pPr>
            <a:r>
              <a:rPr lang="en"/>
              <a:t>Hyperparameter tuning</a:t>
            </a:r>
            <a:endParaRPr/>
          </a:p>
          <a:p>
            <a:pPr indent="-334327" lvl="0" marL="457200" rtl="0" algn="l">
              <a:spcBef>
                <a:spcPts val="0"/>
              </a:spcBef>
              <a:spcAft>
                <a:spcPts val="0"/>
              </a:spcAft>
              <a:buSzPct val="100000"/>
              <a:buChar char="-"/>
            </a:pPr>
            <a:r>
              <a:rPr lang="en"/>
              <a:t>Homework</a:t>
            </a:r>
            <a:endParaRPr/>
          </a:p>
          <a:p>
            <a:pPr indent="0" lvl="0" marL="4572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nvSpPr>
        <p:spPr>
          <a:xfrm>
            <a:off x="7525" y="1242363"/>
            <a:ext cx="3013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67" name="Google Shape;67;p15"/>
          <p:cNvSpPr/>
          <p:nvPr/>
        </p:nvSpPr>
        <p:spPr>
          <a:xfrm>
            <a:off x="486298" y="1492050"/>
            <a:ext cx="6186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68" name="Google Shape;68;p15"/>
          <p:cNvPicPr preferRelativeResize="0"/>
          <p:nvPr/>
        </p:nvPicPr>
        <p:blipFill rotWithShape="1">
          <a:blip r:embed="rId3">
            <a:alphaModFix/>
          </a:blip>
          <a:srcRect b="0" l="0" r="0" t="0"/>
          <a:stretch/>
        </p:blipFill>
        <p:spPr>
          <a:xfrm>
            <a:off x="631213" y="1921519"/>
            <a:ext cx="328613" cy="235744"/>
          </a:xfrm>
          <a:prstGeom prst="rect">
            <a:avLst/>
          </a:prstGeom>
          <a:noFill/>
          <a:ln>
            <a:noFill/>
          </a:ln>
        </p:spPr>
      </p:pic>
      <p:sp>
        <p:nvSpPr>
          <p:cNvPr id="69" name="Google Shape;69;p15"/>
          <p:cNvSpPr/>
          <p:nvPr/>
        </p:nvSpPr>
        <p:spPr>
          <a:xfrm>
            <a:off x="1567925" y="1489800"/>
            <a:ext cx="6495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b="1" lang="en" sz="1300"/>
              <a:t>ReLU</a:t>
            </a:r>
            <a:endParaRPr b="1" i="0" sz="1300" u="none" cap="none" strike="noStrike">
              <a:solidFill>
                <a:srgbClr val="000000"/>
              </a:solidFill>
            </a:endParaRPr>
          </a:p>
        </p:txBody>
      </p:sp>
      <p:cxnSp>
        <p:nvCxnSpPr>
          <p:cNvPr id="70" name="Google Shape;70;p15"/>
          <p:cNvCxnSpPr>
            <a:stCxn id="67" idx="3"/>
            <a:endCxn id="69" idx="1"/>
          </p:cNvCxnSpPr>
          <p:nvPr/>
        </p:nvCxnSpPr>
        <p:spPr>
          <a:xfrm flipH="1" rot="10800000">
            <a:off x="1104898" y="2040000"/>
            <a:ext cx="462900" cy="2100"/>
          </a:xfrm>
          <a:prstGeom prst="straightConnector1">
            <a:avLst/>
          </a:prstGeom>
          <a:noFill/>
          <a:ln cap="flat" cmpd="sng" w="9525">
            <a:solidFill>
              <a:srgbClr val="595959"/>
            </a:solidFill>
            <a:prstDash val="solid"/>
            <a:round/>
            <a:headEnd len="sm" w="sm" type="none"/>
            <a:tailEnd len="med" w="med" type="triangle"/>
          </a:ln>
        </p:spPr>
      </p:cxnSp>
      <p:pic>
        <p:nvPicPr>
          <p:cNvPr id="71" name="Google Shape;71;p15"/>
          <p:cNvPicPr preferRelativeResize="0"/>
          <p:nvPr/>
        </p:nvPicPr>
        <p:blipFill rotWithShape="1">
          <a:blip r:embed="rId4">
            <a:alphaModFix/>
          </a:blip>
          <a:srcRect b="0" l="0" r="0" t="0"/>
          <a:stretch/>
        </p:blipFill>
        <p:spPr>
          <a:xfrm>
            <a:off x="97425" y="1951892"/>
            <a:ext cx="207827" cy="175013"/>
          </a:xfrm>
          <a:prstGeom prst="rect">
            <a:avLst/>
          </a:prstGeom>
          <a:noFill/>
          <a:ln>
            <a:noFill/>
          </a:ln>
        </p:spPr>
      </p:pic>
      <p:cxnSp>
        <p:nvCxnSpPr>
          <p:cNvPr id="72" name="Google Shape;72;p15"/>
          <p:cNvCxnSpPr>
            <a:stCxn id="71" idx="3"/>
            <a:endCxn id="67" idx="1"/>
          </p:cNvCxnSpPr>
          <p:nvPr/>
        </p:nvCxnSpPr>
        <p:spPr>
          <a:xfrm>
            <a:off x="305252" y="2039398"/>
            <a:ext cx="180900" cy="2700"/>
          </a:xfrm>
          <a:prstGeom prst="straightConnector1">
            <a:avLst/>
          </a:prstGeom>
          <a:noFill/>
          <a:ln cap="flat" cmpd="sng" w="9525">
            <a:solidFill>
              <a:srgbClr val="595959"/>
            </a:solidFill>
            <a:prstDash val="solid"/>
            <a:round/>
            <a:headEnd len="sm" w="sm" type="none"/>
            <a:tailEnd len="med" w="med" type="triangle"/>
          </a:ln>
        </p:spPr>
      </p:cxnSp>
      <p:cxnSp>
        <p:nvCxnSpPr>
          <p:cNvPr id="73" name="Google Shape;73;p15"/>
          <p:cNvCxnSpPr>
            <a:stCxn id="69" idx="3"/>
            <a:endCxn id="74" idx="1"/>
          </p:cNvCxnSpPr>
          <p:nvPr/>
        </p:nvCxnSpPr>
        <p:spPr>
          <a:xfrm>
            <a:off x="2217425" y="2039850"/>
            <a:ext cx="295500" cy="600"/>
          </a:xfrm>
          <a:prstGeom prst="straightConnector1">
            <a:avLst/>
          </a:prstGeom>
          <a:noFill/>
          <a:ln cap="flat" cmpd="sng" w="9525">
            <a:solidFill>
              <a:srgbClr val="595959"/>
            </a:solidFill>
            <a:prstDash val="solid"/>
            <a:round/>
            <a:headEnd len="sm" w="sm" type="none"/>
            <a:tailEnd len="med" w="med" type="triangle"/>
          </a:ln>
        </p:spPr>
      </p:cxnSp>
      <p:pic>
        <p:nvPicPr>
          <p:cNvPr id="75" name="Google Shape;75;p15"/>
          <p:cNvPicPr preferRelativeResize="0"/>
          <p:nvPr/>
        </p:nvPicPr>
        <p:blipFill rotWithShape="1">
          <a:blip r:embed="rId5">
            <a:alphaModFix/>
          </a:blip>
          <a:srcRect b="0" l="0" r="0" t="0"/>
          <a:stretch/>
        </p:blipFill>
        <p:spPr>
          <a:xfrm>
            <a:off x="1196962" y="1858600"/>
            <a:ext cx="175500" cy="140408"/>
          </a:xfrm>
          <a:prstGeom prst="rect">
            <a:avLst/>
          </a:prstGeom>
          <a:noFill/>
          <a:ln>
            <a:noFill/>
          </a:ln>
        </p:spPr>
      </p:pic>
      <p:sp>
        <p:nvSpPr>
          <p:cNvPr id="76" name="Google Shape;76;p15"/>
          <p:cNvSpPr/>
          <p:nvPr/>
        </p:nvSpPr>
        <p:spPr>
          <a:xfrm>
            <a:off x="5753700" y="1491450"/>
            <a:ext cx="6495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sz="1100"/>
          </a:p>
        </p:txBody>
      </p:sp>
      <p:pic>
        <p:nvPicPr>
          <p:cNvPr id="77" name="Google Shape;77;p15" title="[0,0,0,&quot;https://www.codecogs.com/eqnedit.php?latex=W_n#0&quot;]"/>
          <p:cNvPicPr preferRelativeResize="0"/>
          <p:nvPr/>
        </p:nvPicPr>
        <p:blipFill>
          <a:blip r:embed="rId6">
            <a:alphaModFix/>
          </a:blip>
          <a:stretch>
            <a:fillRect/>
          </a:stretch>
        </p:blipFill>
        <p:spPr>
          <a:xfrm>
            <a:off x="5934388" y="1905101"/>
            <a:ext cx="328625" cy="213905"/>
          </a:xfrm>
          <a:prstGeom prst="rect">
            <a:avLst/>
          </a:prstGeom>
          <a:noFill/>
          <a:ln>
            <a:noFill/>
          </a:ln>
        </p:spPr>
      </p:pic>
      <p:cxnSp>
        <p:nvCxnSpPr>
          <p:cNvPr id="78" name="Google Shape;78;p15"/>
          <p:cNvCxnSpPr>
            <a:stCxn id="76" idx="3"/>
            <a:endCxn id="79" idx="1"/>
          </p:cNvCxnSpPr>
          <p:nvPr/>
        </p:nvCxnSpPr>
        <p:spPr>
          <a:xfrm flipH="1" rot="10800000">
            <a:off x="6403200" y="2040000"/>
            <a:ext cx="554400" cy="1500"/>
          </a:xfrm>
          <a:prstGeom prst="straightConnector1">
            <a:avLst/>
          </a:prstGeom>
          <a:noFill/>
          <a:ln cap="flat" cmpd="sng" w="9525">
            <a:solidFill>
              <a:srgbClr val="595959"/>
            </a:solidFill>
            <a:prstDash val="solid"/>
            <a:round/>
            <a:headEnd len="sm" w="sm" type="none"/>
            <a:tailEnd len="med" w="med" type="triangle"/>
          </a:ln>
        </p:spPr>
      </p:cxnSp>
      <p:pic>
        <p:nvPicPr>
          <p:cNvPr id="80" name="Google Shape;80;p15" title="[0,0,0,&quot;https://www.codecogs.com/eqnedit.php?latex=y_n#0&quot;]"/>
          <p:cNvPicPr preferRelativeResize="0"/>
          <p:nvPr/>
        </p:nvPicPr>
        <p:blipFill>
          <a:blip r:embed="rId7">
            <a:alphaModFix/>
          </a:blip>
          <a:stretch>
            <a:fillRect/>
          </a:stretch>
        </p:blipFill>
        <p:spPr>
          <a:xfrm>
            <a:off x="6536543" y="1803084"/>
            <a:ext cx="207825" cy="155890"/>
          </a:xfrm>
          <a:prstGeom prst="rect">
            <a:avLst/>
          </a:prstGeom>
          <a:noFill/>
          <a:ln>
            <a:noFill/>
          </a:ln>
        </p:spPr>
      </p:pic>
      <p:sp>
        <p:nvSpPr>
          <p:cNvPr id="79" name="Google Shape;79;p15"/>
          <p:cNvSpPr/>
          <p:nvPr/>
        </p:nvSpPr>
        <p:spPr>
          <a:xfrm>
            <a:off x="6957724" y="1489800"/>
            <a:ext cx="7173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lang="en" sz="1100"/>
              <a:t>Loss function (</a:t>
            </a:r>
            <a:r>
              <a:rPr i="1" lang="en" sz="1100"/>
              <a:t>L</a:t>
            </a:r>
            <a:r>
              <a:rPr lang="en" sz="1100"/>
              <a:t>)</a:t>
            </a:r>
            <a:endParaRPr sz="1100"/>
          </a:p>
        </p:txBody>
      </p:sp>
      <p:cxnSp>
        <p:nvCxnSpPr>
          <p:cNvPr id="81" name="Google Shape;81;p15"/>
          <p:cNvCxnSpPr>
            <a:endCxn id="79" idx="0"/>
          </p:cNvCxnSpPr>
          <p:nvPr/>
        </p:nvCxnSpPr>
        <p:spPr>
          <a:xfrm>
            <a:off x="7316374" y="1174800"/>
            <a:ext cx="0" cy="315000"/>
          </a:xfrm>
          <a:prstGeom prst="straightConnector1">
            <a:avLst/>
          </a:prstGeom>
          <a:noFill/>
          <a:ln cap="flat" cmpd="sng" w="9525">
            <a:solidFill>
              <a:srgbClr val="595959"/>
            </a:solidFill>
            <a:prstDash val="solid"/>
            <a:round/>
            <a:headEnd len="sm" w="sm" type="none"/>
            <a:tailEnd len="med" w="med" type="triangle"/>
          </a:ln>
        </p:spPr>
      </p:cxnSp>
      <p:sp>
        <p:nvSpPr>
          <p:cNvPr id="82" name="Google Shape;82;p15"/>
          <p:cNvSpPr txBox="1"/>
          <p:nvPr/>
        </p:nvSpPr>
        <p:spPr>
          <a:xfrm>
            <a:off x="7019825" y="866975"/>
            <a:ext cx="593100" cy="3078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100"/>
              <a:buFont typeface="Arial"/>
              <a:buNone/>
            </a:pPr>
            <a:r>
              <a:rPr b="1" lang="en" sz="1100"/>
              <a:t>labels</a:t>
            </a:r>
            <a:endParaRPr b="1" i="0" sz="1100" u="none" cap="none" strike="noStrike">
              <a:solidFill>
                <a:srgbClr val="000000"/>
              </a:solidFill>
              <a:latin typeface="Arial"/>
              <a:ea typeface="Arial"/>
              <a:cs typeface="Arial"/>
              <a:sym typeface="Arial"/>
            </a:endParaRPr>
          </a:p>
        </p:txBody>
      </p:sp>
      <p:cxnSp>
        <p:nvCxnSpPr>
          <p:cNvPr id="83" name="Google Shape;83;p15"/>
          <p:cNvCxnSpPr/>
          <p:nvPr/>
        </p:nvCxnSpPr>
        <p:spPr>
          <a:xfrm flipH="1" rot="10800000">
            <a:off x="7675031" y="2007988"/>
            <a:ext cx="309300" cy="9000"/>
          </a:xfrm>
          <a:prstGeom prst="straightConnector1">
            <a:avLst/>
          </a:prstGeom>
          <a:noFill/>
          <a:ln cap="flat" cmpd="sng" w="9525">
            <a:solidFill>
              <a:srgbClr val="595959"/>
            </a:solidFill>
            <a:prstDash val="solid"/>
            <a:round/>
            <a:headEnd len="sm" w="sm" type="none"/>
            <a:tailEnd len="med" w="med" type="triangle"/>
          </a:ln>
        </p:spPr>
      </p:cxnSp>
      <p:sp>
        <p:nvSpPr>
          <p:cNvPr id="84" name="Google Shape;84;p15"/>
          <p:cNvSpPr txBox="1"/>
          <p:nvPr/>
        </p:nvSpPr>
        <p:spPr>
          <a:xfrm>
            <a:off x="7984325" y="1858600"/>
            <a:ext cx="951300" cy="4773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1100"/>
              <a:buFont typeface="Arial"/>
              <a:buNone/>
            </a:pPr>
            <a:r>
              <a:rPr b="1" lang="en" sz="1100"/>
              <a:t>Error </a:t>
            </a:r>
            <a:endParaRPr b="1" sz="1100"/>
          </a:p>
          <a:p>
            <a:pPr indent="0" lvl="0" marL="0" marR="0" rtl="0" algn="ctr">
              <a:lnSpc>
                <a:spcPct val="100000"/>
              </a:lnSpc>
              <a:spcBef>
                <a:spcPts val="0"/>
              </a:spcBef>
              <a:spcAft>
                <a:spcPts val="0"/>
              </a:spcAft>
              <a:buClr>
                <a:srgbClr val="000000"/>
              </a:buClr>
              <a:buSzPts val="1100"/>
              <a:buFont typeface="Arial"/>
              <a:buNone/>
            </a:pPr>
            <a:r>
              <a:rPr b="1" i="1" lang="en" sz="1100"/>
              <a:t>e = L(y)</a:t>
            </a:r>
            <a:endParaRPr b="1" i="1" sz="1100"/>
          </a:p>
        </p:txBody>
      </p:sp>
      <p:sp>
        <p:nvSpPr>
          <p:cNvPr id="85" name="Google Shape;85;p15"/>
          <p:cNvSpPr/>
          <p:nvPr/>
        </p:nvSpPr>
        <p:spPr>
          <a:xfrm>
            <a:off x="3830450" y="557450"/>
            <a:ext cx="1244400" cy="235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5"/>
          <p:cNvSpPr txBox="1"/>
          <p:nvPr/>
        </p:nvSpPr>
        <p:spPr>
          <a:xfrm>
            <a:off x="3346496" y="157250"/>
            <a:ext cx="2346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Forward Pass or Inference</a:t>
            </a:r>
            <a:endParaRPr>
              <a:solidFill>
                <a:schemeClr val="dk2"/>
              </a:solidFill>
            </a:endParaRPr>
          </a:p>
        </p:txBody>
      </p:sp>
      <p:cxnSp>
        <p:nvCxnSpPr>
          <p:cNvPr id="87" name="Google Shape;87;p15"/>
          <p:cNvCxnSpPr>
            <a:stCxn id="84" idx="2"/>
            <a:endCxn id="76" idx="2"/>
          </p:cNvCxnSpPr>
          <p:nvPr/>
        </p:nvCxnSpPr>
        <p:spPr>
          <a:xfrm rot="5400000">
            <a:off x="7141475" y="1273000"/>
            <a:ext cx="255600" cy="2381400"/>
          </a:xfrm>
          <a:prstGeom prst="bentConnector3">
            <a:avLst>
              <a:gd fmla="val 248367" name="adj1"/>
            </a:avLst>
          </a:prstGeom>
          <a:noFill/>
          <a:ln cap="flat" cmpd="sng" w="9525">
            <a:solidFill>
              <a:schemeClr val="dk2"/>
            </a:solidFill>
            <a:prstDash val="solid"/>
            <a:round/>
            <a:headEnd len="med" w="med" type="none"/>
            <a:tailEnd len="med" w="med" type="triangle"/>
          </a:ln>
        </p:spPr>
      </p:cxnSp>
      <p:cxnSp>
        <p:nvCxnSpPr>
          <p:cNvPr id="88" name="Google Shape;88;p15"/>
          <p:cNvCxnSpPr>
            <a:stCxn id="84" idx="2"/>
            <a:endCxn id="67" idx="2"/>
          </p:cNvCxnSpPr>
          <p:nvPr/>
        </p:nvCxnSpPr>
        <p:spPr>
          <a:xfrm rot="5400000">
            <a:off x="4499675" y="-1368200"/>
            <a:ext cx="256200" cy="7664400"/>
          </a:xfrm>
          <a:prstGeom prst="bentConnector3">
            <a:avLst>
              <a:gd fmla="val 247785" name="adj1"/>
            </a:avLst>
          </a:prstGeom>
          <a:noFill/>
          <a:ln cap="flat" cmpd="sng" w="9525">
            <a:solidFill>
              <a:schemeClr val="dk2"/>
            </a:solidFill>
            <a:prstDash val="solid"/>
            <a:round/>
            <a:headEnd len="med" w="med" type="none"/>
            <a:tailEnd len="med" w="med" type="triangle"/>
          </a:ln>
        </p:spPr>
      </p:cxnSp>
      <p:sp>
        <p:nvSpPr>
          <p:cNvPr id="89" name="Google Shape;89;p15"/>
          <p:cNvSpPr txBox="1"/>
          <p:nvPr/>
        </p:nvSpPr>
        <p:spPr>
          <a:xfrm>
            <a:off x="7267349" y="3079125"/>
            <a:ext cx="15126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Backward pass</a:t>
            </a:r>
            <a:endParaRPr>
              <a:solidFill>
                <a:schemeClr val="dk2"/>
              </a:solidFill>
            </a:endParaRPr>
          </a:p>
          <a:p>
            <a:pPr indent="0" lvl="0" marL="0" rtl="0" algn="ctr">
              <a:spcBef>
                <a:spcPts val="0"/>
              </a:spcBef>
              <a:spcAft>
                <a:spcPts val="0"/>
              </a:spcAft>
              <a:buNone/>
            </a:pPr>
            <a:r>
              <a:rPr lang="en">
                <a:solidFill>
                  <a:schemeClr val="dk2"/>
                </a:solidFill>
              </a:rPr>
              <a:t>(Training)</a:t>
            </a:r>
            <a:endParaRPr>
              <a:solidFill>
                <a:schemeClr val="dk2"/>
              </a:solidFill>
            </a:endParaRPr>
          </a:p>
        </p:txBody>
      </p:sp>
      <p:cxnSp>
        <p:nvCxnSpPr>
          <p:cNvPr id="90" name="Google Shape;90;p15"/>
          <p:cNvCxnSpPr/>
          <p:nvPr/>
        </p:nvCxnSpPr>
        <p:spPr>
          <a:xfrm>
            <a:off x="1355538" y="1278175"/>
            <a:ext cx="0" cy="1765800"/>
          </a:xfrm>
          <a:prstGeom prst="straightConnector1">
            <a:avLst/>
          </a:prstGeom>
          <a:noFill/>
          <a:ln cap="flat" cmpd="sng" w="9525">
            <a:solidFill>
              <a:schemeClr val="dk2"/>
            </a:solidFill>
            <a:prstDash val="dash"/>
            <a:round/>
            <a:headEnd len="med" w="med" type="none"/>
            <a:tailEnd len="med" w="med" type="none"/>
          </a:ln>
        </p:spPr>
      </p:cxnSp>
      <p:cxnSp>
        <p:nvCxnSpPr>
          <p:cNvPr id="91" name="Google Shape;91;p15"/>
          <p:cNvCxnSpPr/>
          <p:nvPr/>
        </p:nvCxnSpPr>
        <p:spPr>
          <a:xfrm>
            <a:off x="2564688" y="1278175"/>
            <a:ext cx="0" cy="1765800"/>
          </a:xfrm>
          <a:prstGeom prst="straightConnector1">
            <a:avLst/>
          </a:prstGeom>
          <a:noFill/>
          <a:ln cap="flat" cmpd="sng" w="9525">
            <a:solidFill>
              <a:schemeClr val="dk2"/>
            </a:solidFill>
            <a:prstDash val="dash"/>
            <a:round/>
            <a:headEnd len="med" w="med" type="none"/>
            <a:tailEnd len="med" w="med" type="none"/>
          </a:ln>
        </p:spPr>
      </p:cxnSp>
      <p:cxnSp>
        <p:nvCxnSpPr>
          <p:cNvPr id="92" name="Google Shape;92;p15"/>
          <p:cNvCxnSpPr/>
          <p:nvPr/>
        </p:nvCxnSpPr>
        <p:spPr>
          <a:xfrm>
            <a:off x="6785750" y="1126675"/>
            <a:ext cx="0" cy="1917300"/>
          </a:xfrm>
          <a:prstGeom prst="straightConnector1">
            <a:avLst/>
          </a:prstGeom>
          <a:noFill/>
          <a:ln cap="flat" cmpd="sng" w="9525">
            <a:solidFill>
              <a:schemeClr val="dk2"/>
            </a:solidFill>
            <a:prstDash val="dash"/>
            <a:round/>
            <a:headEnd len="med" w="med" type="none"/>
            <a:tailEnd len="med" w="med" type="none"/>
          </a:ln>
        </p:spPr>
      </p:cxnSp>
      <p:pic>
        <p:nvPicPr>
          <p:cNvPr descr="{&quot;code&quot;:&quot;$$\\frac{\\partial e}{\\partial y_{n}}$$&quot;,&quot;backgroundColor&quot;:&quot;#FFFFFF&quot;,&quot;font&quot;:{&quot;color&quot;:&quot;#595959&quot;,&quot;family&quot;:&quot;Arial&quot;,&quot;size&quot;:11},&quot;type&quot;:&quot;$$&quot;,&quot;id&quot;:&quot;25&quot;,&quot;backgroundColorModified&quot;:false,&quot;aid&quot;:null,&quot;ts&quot;:1755260874233,&quot;cs&quot;:&quot;mM/gRArJMHO2CaKHNxQiPw==&quot;,&quot;size&quot;:{&quot;width&quot;:31.000010498687704,&quot;height&quot;:40.086220472440964}}" id="93" name="Google Shape;93;p15"/>
          <p:cNvPicPr preferRelativeResize="0"/>
          <p:nvPr/>
        </p:nvPicPr>
        <p:blipFill>
          <a:blip r:embed="rId8">
            <a:alphaModFix/>
          </a:blip>
          <a:stretch>
            <a:fillRect/>
          </a:stretch>
        </p:blipFill>
        <p:spPr>
          <a:xfrm>
            <a:off x="6702213" y="3077913"/>
            <a:ext cx="295275" cy="381821"/>
          </a:xfrm>
          <a:prstGeom prst="rect">
            <a:avLst/>
          </a:prstGeom>
          <a:noFill/>
          <a:ln>
            <a:noFill/>
          </a:ln>
        </p:spPr>
      </p:pic>
      <p:pic>
        <p:nvPicPr>
          <p:cNvPr descr="{&quot;code&quot;:&quot;$$a_{n-1}$$&quot;,&quot;font&quot;:{&quot;color&quot;:&quot;#000000&quot;,&quot;size&quot;:11,&quot;family&quot;:&quot;Arial&quot;},&quot;type&quot;:&quot;$$&quot;,&quot;backgroundColorModified&quot;:false,&quot;backgroundColor&quot;:&quot;#FFFFFF&quot;,&quot;aid&quot;:null,&quot;id&quot;:&quot;26&quot;,&quot;ts&quot;:1755261393563,&quot;cs&quot;:&quot;HzJsxHpH17AsiCzjvpJ2KQ==&quot;,&quot;size&quot;:{&quot;width&quot;:31.166666666666668,&quot;height&quot;:10.333333333333334}}" id="94" name="Google Shape;94;p15"/>
          <p:cNvPicPr preferRelativeResize="0"/>
          <p:nvPr/>
        </p:nvPicPr>
        <p:blipFill>
          <a:blip r:embed="rId9">
            <a:alphaModFix/>
          </a:blip>
          <a:stretch>
            <a:fillRect/>
          </a:stretch>
        </p:blipFill>
        <p:spPr>
          <a:xfrm>
            <a:off x="5148076" y="1879591"/>
            <a:ext cx="296863" cy="98425"/>
          </a:xfrm>
          <a:prstGeom prst="rect">
            <a:avLst/>
          </a:prstGeom>
          <a:noFill/>
          <a:ln>
            <a:noFill/>
          </a:ln>
        </p:spPr>
      </p:pic>
      <p:pic>
        <p:nvPicPr>
          <p:cNvPr descr="{&quot;aid&quot;:null,&quot;font&quot;:{&quot;size&quot;:7.5,&quot;family&quot;:&quot;Arial&quot;,&quot;color&quot;:&quot;#000000&quot;},&quot;code&quot;:&quot;\\begin{lalign*}\n&amp;{\\frac{\\partial e}{\\partial W_{n}}=\\frac{\\partial e}{\\partial y_{n}}a_{n-1}^{T}}\\\\\n&amp;{\\frac{\\partial e}{\\partial a_{n-1}}=W_{n}^{T}\\frac{\\partial e}{\\partial y_{n}}}\t\n\\end{lalign*}&quot;,&quot;backgroundColorModified&quot;:false,&quot;id&quot;:&quot;27&quot;,&quot;backgroundColor&quot;:&quot;#FFFFFF&quot;,&quot;type&quot;:&quot;lalign*&quot;,&quot;ts&quot;:1755261644737,&quot;cs&quot;:&quot;qq7O0He5JfU+NBxOmCTDaA==&quot;,&quot;size&quot;:{&quot;width&quot;:90.66666666666667,&quot;height&quot;:57.166666666666664}}" id="95" name="Google Shape;95;p15"/>
          <p:cNvPicPr preferRelativeResize="0"/>
          <p:nvPr/>
        </p:nvPicPr>
        <p:blipFill>
          <a:blip r:embed="rId10">
            <a:alphaModFix/>
          </a:blip>
          <a:stretch>
            <a:fillRect/>
          </a:stretch>
        </p:blipFill>
        <p:spPr>
          <a:xfrm>
            <a:off x="5687740" y="3062952"/>
            <a:ext cx="863600" cy="544513"/>
          </a:xfrm>
          <a:prstGeom prst="rect">
            <a:avLst/>
          </a:prstGeom>
          <a:noFill/>
          <a:ln>
            <a:noFill/>
          </a:ln>
        </p:spPr>
      </p:pic>
      <p:sp>
        <p:nvSpPr>
          <p:cNvPr id="96" name="Google Shape;96;p15"/>
          <p:cNvSpPr txBox="1"/>
          <p:nvPr/>
        </p:nvSpPr>
        <p:spPr>
          <a:xfrm>
            <a:off x="5692800" y="436372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Used to update the weights of this layer</a:t>
            </a:r>
            <a:endParaRPr sz="1200">
              <a:solidFill>
                <a:schemeClr val="dk2"/>
              </a:solidFill>
            </a:endParaRPr>
          </a:p>
        </p:txBody>
      </p:sp>
      <p:sp>
        <p:nvSpPr>
          <p:cNvPr id="97" name="Google Shape;97;p15"/>
          <p:cNvSpPr txBox="1"/>
          <p:nvPr/>
        </p:nvSpPr>
        <p:spPr>
          <a:xfrm>
            <a:off x="5381975" y="3769138"/>
            <a:ext cx="104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2"/>
                </a:solidFill>
              </a:rPr>
              <a:t>Sent back to previous layers</a:t>
            </a:r>
            <a:endParaRPr b="1" sz="900">
              <a:solidFill>
                <a:schemeClr val="dk2"/>
              </a:solidFill>
            </a:endParaRPr>
          </a:p>
        </p:txBody>
      </p:sp>
      <p:cxnSp>
        <p:nvCxnSpPr>
          <p:cNvPr id="98" name="Google Shape;98;p15"/>
          <p:cNvCxnSpPr/>
          <p:nvPr/>
        </p:nvCxnSpPr>
        <p:spPr>
          <a:xfrm rot="10800000">
            <a:off x="5990915" y="3287833"/>
            <a:ext cx="636600" cy="1120500"/>
          </a:xfrm>
          <a:prstGeom prst="straightConnector1">
            <a:avLst/>
          </a:prstGeom>
          <a:noFill/>
          <a:ln cap="flat" cmpd="sng" w="9525">
            <a:solidFill>
              <a:schemeClr val="dk2"/>
            </a:solidFill>
            <a:prstDash val="solid"/>
            <a:round/>
            <a:headEnd len="med" w="med" type="none"/>
            <a:tailEnd len="med" w="med" type="triangle"/>
          </a:ln>
        </p:spPr>
      </p:cxnSp>
      <p:sp>
        <p:nvSpPr>
          <p:cNvPr id="99" name="Google Shape;99;p15"/>
          <p:cNvSpPr txBox="1"/>
          <p:nvPr/>
        </p:nvSpPr>
        <p:spPr>
          <a:xfrm>
            <a:off x="4154388" y="3620050"/>
            <a:ext cx="1358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No parameters!</a:t>
            </a:r>
            <a:endParaRPr sz="1200">
              <a:solidFill>
                <a:schemeClr val="dk2"/>
              </a:solidFill>
            </a:endParaRPr>
          </a:p>
        </p:txBody>
      </p:sp>
      <p:pic>
        <p:nvPicPr>
          <p:cNvPr descr="{&quot;backgroundColor&quot;:&quot;#FFFFFF&quot;,&quot;type&quot;:&quot;lalign*&quot;,&quot;code&quot;:&quot;\\begin{lalign*}\n&amp;{\\frac{\\partial e}{\\partial W_{1}}=\\frac{\\partial e}{\\partial y_{1}}x^{T}}\\\\\n&amp;{\\frac{\\partial e}{\\partial x}=W_{1}^{T}\\frac{\\partial e}{\\partial y_{1}}}\t\n\\end{lalign*}&quot;,&quot;id&quot;:&quot;27&quot;,&quot;backgroundColorModified&quot;:false,&quot;font&quot;:{&quot;color&quot;:&quot;#000000&quot;,&quot;size&quot;:8.5,&quot;family&quot;:&quot;Arial&quot;},&quot;aid&quot;:null,&quot;ts&quot;:1755261167087,&quot;cs&quot;:&quot;bqoQxo8+zRvFCfNJ8IIztQ==&quot;,&quot;size&quot;:{&quot;width&quot;:89.26368923884513,&quot;height&quot;:65.39639265091861}}" id="100" name="Google Shape;100;p15"/>
          <p:cNvPicPr preferRelativeResize="0"/>
          <p:nvPr/>
        </p:nvPicPr>
        <p:blipFill>
          <a:blip r:embed="rId11">
            <a:alphaModFix/>
          </a:blip>
          <a:stretch>
            <a:fillRect/>
          </a:stretch>
        </p:blipFill>
        <p:spPr>
          <a:xfrm>
            <a:off x="410726" y="3075477"/>
            <a:ext cx="850237" cy="622901"/>
          </a:xfrm>
          <a:prstGeom prst="rect">
            <a:avLst/>
          </a:prstGeom>
          <a:noFill/>
          <a:ln>
            <a:noFill/>
          </a:ln>
        </p:spPr>
      </p:pic>
      <p:pic>
        <p:nvPicPr>
          <p:cNvPr descr="{&quot;id&quot;:&quot;25&quot;,&quot;backgroundColorModified&quot;:false,&quot;aid&quot;:null,&quot;font&quot;:{&quot;family&quot;:&quot;Arial&quot;,&quot;size&quot;:11.5,&quot;color&quot;:&quot;#595959&quot;},&quot;type&quot;:&quot;$&quot;,&quot;backgroundColor&quot;:&quot;#FFFFFF&quot;,&quot;code&quot;:&quot;$y_{1\\,}=W_{1\\,}x$&quot;,&quot;ts&quot;:1755262444592,&quot;cs&quot;:&quot;uaPKqCdFjiyWhM02w0onvA==&quot;,&quot;size&quot;:{&quot;width&quot;:82.25147716535433,&quot;height&quot;:16.36744015748032}}" id="101" name="Google Shape;101;p15"/>
          <p:cNvPicPr preferRelativeResize="0"/>
          <p:nvPr/>
        </p:nvPicPr>
        <p:blipFill>
          <a:blip r:embed="rId12">
            <a:alphaModFix/>
          </a:blip>
          <a:stretch>
            <a:fillRect/>
          </a:stretch>
        </p:blipFill>
        <p:spPr>
          <a:xfrm>
            <a:off x="335023" y="1078176"/>
            <a:ext cx="783445" cy="155900"/>
          </a:xfrm>
          <a:prstGeom prst="rect">
            <a:avLst/>
          </a:prstGeom>
          <a:noFill/>
          <a:ln>
            <a:noFill/>
          </a:ln>
        </p:spPr>
      </p:pic>
      <p:pic>
        <p:nvPicPr>
          <p:cNvPr descr="{&quot;backgroundColor&quot;:&quot;#FFFFFF&quot;,&quot;type&quot;:&quot;$&quot;,&quot;backgroundColorModified&quot;:false,&quot;code&quot;:&quot;$y_{n}=W_{n\\,}a_{n-1}$&quot;,&quot;aid&quot;:null,&quot;id&quot;:&quot;25&quot;,&quot;font&quot;:{&quot;family&quot;:&quot;Arial&quot;,&quot;size&quot;:11,&quot;color&quot;:&quot;#595959&quot;},&quot;ts&quot;:1755261556225,&quot;cs&quot;:&quot;aGfG0ftQtgykb5fhRi5Gvg==&quot;,&quot;size&quot;:{&quot;width&quot;:100.25196587926513,&quot;height&quot;:15.472927559055123}}" id="102" name="Google Shape;102;p15"/>
          <p:cNvPicPr preferRelativeResize="0"/>
          <p:nvPr/>
        </p:nvPicPr>
        <p:blipFill>
          <a:blip r:embed="rId13">
            <a:alphaModFix/>
          </a:blip>
          <a:stretch>
            <a:fillRect/>
          </a:stretch>
        </p:blipFill>
        <p:spPr>
          <a:xfrm>
            <a:off x="5606415" y="1067603"/>
            <a:ext cx="954900" cy="147380"/>
          </a:xfrm>
          <a:prstGeom prst="rect">
            <a:avLst/>
          </a:prstGeom>
          <a:noFill/>
          <a:ln>
            <a:noFill/>
          </a:ln>
        </p:spPr>
      </p:pic>
      <p:sp>
        <p:nvSpPr>
          <p:cNvPr id="103" name="Google Shape;103;p15"/>
          <p:cNvSpPr txBox="1"/>
          <p:nvPr/>
        </p:nvSpPr>
        <p:spPr>
          <a:xfrm>
            <a:off x="6636950" y="3707975"/>
            <a:ext cx="210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Notice we need the output of the previous layer in the backward pass!</a:t>
            </a:r>
            <a:endParaRPr sz="900">
              <a:solidFill>
                <a:schemeClr val="dk2"/>
              </a:solidFill>
            </a:endParaRPr>
          </a:p>
        </p:txBody>
      </p:sp>
      <p:cxnSp>
        <p:nvCxnSpPr>
          <p:cNvPr id="104" name="Google Shape;104;p15"/>
          <p:cNvCxnSpPr>
            <a:endCxn id="95" idx="3"/>
          </p:cNvCxnSpPr>
          <p:nvPr/>
        </p:nvCxnSpPr>
        <p:spPr>
          <a:xfrm rot="10800000">
            <a:off x="6551340" y="3335208"/>
            <a:ext cx="286200" cy="437700"/>
          </a:xfrm>
          <a:prstGeom prst="straightConnector1">
            <a:avLst/>
          </a:prstGeom>
          <a:noFill/>
          <a:ln cap="flat" cmpd="sng" w="9525">
            <a:solidFill>
              <a:schemeClr val="dk2"/>
            </a:solidFill>
            <a:prstDash val="solid"/>
            <a:round/>
            <a:headEnd len="med" w="med" type="none"/>
            <a:tailEnd len="med" w="med" type="triangle"/>
          </a:ln>
        </p:spPr>
      </p:cxnSp>
      <p:sp>
        <p:nvSpPr>
          <p:cNvPr id="105" name="Google Shape;105;p15"/>
          <p:cNvSpPr txBox="1"/>
          <p:nvPr>
            <p:ph type="ctrTitle"/>
          </p:nvPr>
        </p:nvSpPr>
        <p:spPr>
          <a:xfrm>
            <a:off x="-41050" y="234250"/>
            <a:ext cx="3187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480"/>
              <a:t>Backpropagation</a:t>
            </a:r>
            <a:endParaRPr sz="2480"/>
          </a:p>
        </p:txBody>
      </p:sp>
      <p:sp>
        <p:nvSpPr>
          <p:cNvPr id="106" name="Google Shape;106;p15"/>
          <p:cNvSpPr/>
          <p:nvPr/>
        </p:nvSpPr>
        <p:spPr>
          <a:xfrm rot="10800000">
            <a:off x="7441250" y="2992600"/>
            <a:ext cx="954900" cy="171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quot;backgroundColorModified&quot;:false,&quot;id&quot;:&quot;26&quot;,&quot;code&quot;:&quot;$$a_{n-2}$$&quot;,&quot;type&quot;:&quot;$$&quot;,&quot;backgroundColor&quot;:&quot;#FFFFFF&quot;,&quot;aid&quot;:null,&quot;font&quot;:{&quot;color&quot;:&quot;#000000&quot;,&quot;family&quot;:&quot;Arial&quot;,&quot;size&quot;:11},&quot;ts&quot;:1755261284641,&quot;cs&quot;:&quot;NNWgOZ3nzgXb/13j0nQWPQ==&quot;,&quot;size&quot;:{&quot;width&quot;:31.5,&quot;height&quot;:10.333333333333334}}" id="107" name="Google Shape;107;p15"/>
          <p:cNvPicPr preferRelativeResize="0"/>
          <p:nvPr/>
        </p:nvPicPr>
        <p:blipFill>
          <a:blip r:embed="rId14">
            <a:alphaModFix/>
          </a:blip>
          <a:stretch>
            <a:fillRect/>
          </a:stretch>
        </p:blipFill>
        <p:spPr>
          <a:xfrm>
            <a:off x="2824145" y="1858584"/>
            <a:ext cx="300038" cy="98425"/>
          </a:xfrm>
          <a:prstGeom prst="rect">
            <a:avLst/>
          </a:prstGeom>
          <a:noFill/>
          <a:ln>
            <a:noFill/>
          </a:ln>
        </p:spPr>
      </p:pic>
      <p:grpSp>
        <p:nvGrpSpPr>
          <p:cNvPr id="108" name="Google Shape;108;p15"/>
          <p:cNvGrpSpPr/>
          <p:nvPr/>
        </p:nvGrpSpPr>
        <p:grpSpPr>
          <a:xfrm>
            <a:off x="2969050" y="1489350"/>
            <a:ext cx="1471800" cy="1100100"/>
            <a:chOff x="3578650" y="1489350"/>
            <a:chExt cx="1471800" cy="1100100"/>
          </a:xfrm>
        </p:grpSpPr>
        <p:sp>
          <p:nvSpPr>
            <p:cNvPr id="109" name="Google Shape;109;p15"/>
            <p:cNvSpPr txBox="1"/>
            <p:nvPr/>
          </p:nvSpPr>
          <p:spPr>
            <a:xfrm>
              <a:off x="3941100" y="180855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t>
              </a:r>
              <a:endParaRPr sz="1800">
                <a:solidFill>
                  <a:schemeClr val="dk2"/>
                </a:solidFill>
              </a:endParaRPr>
            </a:p>
          </p:txBody>
        </p:sp>
        <p:cxnSp>
          <p:nvCxnSpPr>
            <p:cNvPr id="110" name="Google Shape;110;p15"/>
            <p:cNvCxnSpPr>
              <a:stCxn id="111" idx="3"/>
              <a:endCxn id="112" idx="1"/>
            </p:cNvCxnSpPr>
            <p:nvPr/>
          </p:nvCxnSpPr>
          <p:spPr>
            <a:xfrm>
              <a:off x="4372450" y="2039400"/>
              <a:ext cx="678000" cy="0"/>
            </a:xfrm>
            <a:prstGeom prst="straightConnector1">
              <a:avLst/>
            </a:prstGeom>
            <a:noFill/>
            <a:ln cap="flat" cmpd="sng" w="9525">
              <a:solidFill>
                <a:srgbClr val="595959"/>
              </a:solidFill>
              <a:prstDash val="solid"/>
              <a:round/>
              <a:headEnd len="sm" w="sm" type="none"/>
              <a:tailEnd len="med" w="med" type="triangle"/>
            </a:ln>
          </p:spPr>
        </p:cxnSp>
        <p:sp>
          <p:nvSpPr>
            <p:cNvPr id="111" name="Google Shape;111;p15"/>
            <p:cNvSpPr/>
            <p:nvPr/>
          </p:nvSpPr>
          <p:spPr>
            <a:xfrm>
              <a:off x="3779350" y="1489350"/>
              <a:ext cx="5931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sz="1100"/>
            </a:p>
          </p:txBody>
        </p:sp>
        <p:pic>
          <p:nvPicPr>
            <p:cNvPr descr="{&quot;code&quot;:&quot;$$W_{n-1}$$&quot;,&quot;aid&quot;:null,&quot;id&quot;:&quot;3&quot;,&quot;backgroundColorModified&quot;:false,&quot;type&quot;:&quot;$$&quot;,&quot;backgroundColor&quot;:&quot;#FFFFFF&quot;,&quot;font&quot;:{&quot;color&quot;:&quot;#000000&quot;,&quot;family&quot;:&quot;Arial&quot;,&quot;size&quot;:12},&quot;ts&quot;:1755260290480,&quot;cs&quot;:&quot;Ed+JPRiox70jOjZAtPdSEw==&quot;,&quot;size&quot;:{&quot;width&quot;:41.5,&quot;height&quot;:15.833333333333334}}" id="113" name="Google Shape;113;p15"/>
            <p:cNvPicPr preferRelativeResize="0"/>
            <p:nvPr/>
          </p:nvPicPr>
          <p:blipFill>
            <a:blip r:embed="rId15">
              <a:alphaModFix/>
            </a:blip>
            <a:stretch>
              <a:fillRect/>
            </a:stretch>
          </p:blipFill>
          <p:spPr>
            <a:xfrm>
              <a:off x="3885575" y="1963988"/>
              <a:ext cx="395288" cy="150813"/>
            </a:xfrm>
            <a:prstGeom prst="rect">
              <a:avLst/>
            </a:prstGeom>
            <a:noFill/>
            <a:ln>
              <a:noFill/>
            </a:ln>
          </p:spPr>
        </p:pic>
        <p:cxnSp>
          <p:nvCxnSpPr>
            <p:cNvPr id="114" name="Google Shape;114;p15"/>
            <p:cNvCxnSpPr/>
            <p:nvPr/>
          </p:nvCxnSpPr>
          <p:spPr>
            <a:xfrm>
              <a:off x="3578650" y="2039400"/>
              <a:ext cx="175500" cy="0"/>
            </a:xfrm>
            <a:prstGeom prst="straightConnector1">
              <a:avLst/>
            </a:prstGeom>
            <a:noFill/>
            <a:ln cap="flat" cmpd="sng" w="9525">
              <a:solidFill>
                <a:srgbClr val="595959"/>
              </a:solidFill>
              <a:prstDash val="solid"/>
              <a:round/>
              <a:headEnd len="sm" w="sm" type="none"/>
              <a:tailEnd len="med" w="med" type="triangle"/>
            </a:ln>
          </p:spPr>
        </p:cxnSp>
      </p:grpSp>
      <p:grpSp>
        <p:nvGrpSpPr>
          <p:cNvPr id="115" name="Google Shape;115;p15"/>
          <p:cNvGrpSpPr/>
          <p:nvPr/>
        </p:nvGrpSpPr>
        <p:grpSpPr>
          <a:xfrm>
            <a:off x="2513049" y="1840327"/>
            <a:ext cx="395001" cy="400202"/>
            <a:chOff x="4034225" y="3362525"/>
            <a:chExt cx="455700" cy="461700"/>
          </a:xfrm>
        </p:grpSpPr>
        <p:pic>
          <p:nvPicPr>
            <p:cNvPr descr="{&quot;aid&quot;:null,&quot;code&quot;:&quot;$$...$$&quot;,&quot;font&quot;:{&quot;family&quot;:&quot;Arial&quot;,&quot;size&quot;:10.5,&quot;color&quot;:&quot;#000000&quot;},&quot;backgroundColor&quot;:&quot;#FFFFFF&quot;,&quot;backgroundColorModified&quot;:false,&quot;type&quot;:&quot;$$&quot;,&quot;id&quot;:&quot;4&quot;,&quot;ts&quot;:1755260511281,&quot;cs&quot;:&quot;ytP0/aVkpBm2pk2P7+sS6g==&quot;,&quot;size&quot;:{&quot;width&quot;:17.5,&quot;height&quot;:2.1666666666666665}}" id="116" name="Google Shape;116;p15"/>
            <p:cNvPicPr preferRelativeResize="0"/>
            <p:nvPr/>
          </p:nvPicPr>
          <p:blipFill>
            <a:blip r:embed="rId16">
              <a:alphaModFix/>
            </a:blip>
            <a:stretch>
              <a:fillRect/>
            </a:stretch>
          </p:blipFill>
          <p:spPr>
            <a:xfrm>
              <a:off x="4207300" y="3583063"/>
              <a:ext cx="166688" cy="20638"/>
            </a:xfrm>
            <a:prstGeom prst="rect">
              <a:avLst/>
            </a:prstGeom>
            <a:noFill/>
            <a:ln>
              <a:noFill/>
            </a:ln>
          </p:spPr>
        </p:pic>
        <p:sp>
          <p:nvSpPr>
            <p:cNvPr id="74" name="Google Shape;74;p15"/>
            <p:cNvSpPr txBox="1"/>
            <p:nvPr/>
          </p:nvSpPr>
          <p:spPr>
            <a:xfrm>
              <a:off x="4034225" y="3362525"/>
              <a:ext cx="455700" cy="461700"/>
            </a:xfrm>
            <a:prstGeom prst="rect">
              <a:avLst/>
            </a:prstGeom>
            <a:noFill/>
            <a:ln>
              <a:noFill/>
            </a:ln>
          </p:spPr>
          <p:txBody>
            <a:bodyPr anchorCtr="0" anchor="t" bIns="79250" lIns="79250" spcFirstLastPara="1" rIns="79250" wrap="square" tIns="79250">
              <a:spAutoFit/>
            </a:bodyPr>
            <a:lstStyle/>
            <a:p>
              <a:pPr indent="0" lvl="0" marL="0" rtl="0" algn="l">
                <a:spcBef>
                  <a:spcPts val="0"/>
                </a:spcBef>
                <a:spcAft>
                  <a:spcPts val="0"/>
                </a:spcAft>
                <a:buNone/>
              </a:pPr>
              <a:r>
                <a:t/>
              </a:r>
              <a:endParaRPr sz="1560">
                <a:solidFill>
                  <a:schemeClr val="dk2"/>
                </a:solidFill>
              </a:endParaRPr>
            </a:p>
          </p:txBody>
        </p:sp>
      </p:grpSp>
      <p:sp>
        <p:nvSpPr>
          <p:cNvPr id="112" name="Google Shape;112;p15"/>
          <p:cNvSpPr/>
          <p:nvPr/>
        </p:nvSpPr>
        <p:spPr>
          <a:xfrm>
            <a:off x="4440762" y="1489350"/>
            <a:ext cx="6495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b="1" lang="en" sz="1300"/>
              <a:t>ReLU</a:t>
            </a:r>
            <a:endParaRPr b="1" i="0" sz="1300" u="none" cap="none" strike="noStrike">
              <a:solidFill>
                <a:srgbClr val="000000"/>
              </a:solidFill>
            </a:endParaRPr>
          </a:p>
        </p:txBody>
      </p:sp>
      <p:cxnSp>
        <p:nvCxnSpPr>
          <p:cNvPr id="117" name="Google Shape;117;p15"/>
          <p:cNvCxnSpPr>
            <a:stCxn id="112" idx="3"/>
            <a:endCxn id="76" idx="1"/>
          </p:cNvCxnSpPr>
          <p:nvPr/>
        </p:nvCxnSpPr>
        <p:spPr>
          <a:xfrm>
            <a:off x="5090262" y="2039400"/>
            <a:ext cx="663300" cy="2100"/>
          </a:xfrm>
          <a:prstGeom prst="straightConnector1">
            <a:avLst/>
          </a:prstGeom>
          <a:noFill/>
          <a:ln cap="flat" cmpd="sng" w="9525">
            <a:solidFill>
              <a:srgbClr val="595959"/>
            </a:solidFill>
            <a:prstDash val="solid"/>
            <a:round/>
            <a:headEnd len="sm" w="sm" type="none"/>
            <a:tailEnd len="med" w="med" type="triangle"/>
          </a:ln>
        </p:spPr>
      </p:cxnSp>
      <p:cxnSp>
        <p:nvCxnSpPr>
          <p:cNvPr id="118" name="Google Shape;118;p15"/>
          <p:cNvCxnSpPr/>
          <p:nvPr/>
        </p:nvCxnSpPr>
        <p:spPr>
          <a:xfrm>
            <a:off x="4170075" y="1308600"/>
            <a:ext cx="0" cy="1765800"/>
          </a:xfrm>
          <a:prstGeom prst="straightConnector1">
            <a:avLst/>
          </a:prstGeom>
          <a:noFill/>
          <a:ln cap="flat" cmpd="sng" w="9525">
            <a:solidFill>
              <a:schemeClr val="dk2"/>
            </a:solidFill>
            <a:prstDash val="dash"/>
            <a:round/>
            <a:headEnd len="med" w="med" type="none"/>
            <a:tailEnd len="med" w="med" type="none"/>
          </a:ln>
        </p:spPr>
      </p:cxnSp>
      <p:cxnSp>
        <p:nvCxnSpPr>
          <p:cNvPr id="119" name="Google Shape;119;p15"/>
          <p:cNvCxnSpPr/>
          <p:nvPr/>
        </p:nvCxnSpPr>
        <p:spPr>
          <a:xfrm>
            <a:off x="5500450" y="1141375"/>
            <a:ext cx="0" cy="1938300"/>
          </a:xfrm>
          <a:prstGeom prst="straightConnector1">
            <a:avLst/>
          </a:prstGeom>
          <a:noFill/>
          <a:ln cap="flat" cmpd="sng" w="9525">
            <a:solidFill>
              <a:schemeClr val="dk2"/>
            </a:solidFill>
            <a:prstDash val="dash"/>
            <a:round/>
            <a:headEnd len="med" w="med" type="none"/>
            <a:tailEnd len="med" w="med" type="none"/>
          </a:ln>
        </p:spPr>
      </p:cxnSp>
      <p:pic>
        <p:nvPicPr>
          <p:cNvPr descr="{&quot;font&quot;:{&quot;size&quot;:12,&quot;color&quot;:&quot;#000000&quot;,&quot;family&quot;:&quot;Arial&quot;},&quot;aid&quot;:null,&quot;type&quot;:&quot;$$&quot;,&quot;id&quot;:&quot;5&quot;,&quot;backgroundColor&quot;:&quot;#FFFFFF&quot;,&quot;backgroundColorModified&quot;:false,&quot;code&quot;:&quot;$$a_{1}$$&quot;,&quot;ts&quot;:1755261078204,&quot;cs&quot;:&quot;zld6unW/0mNjLy8FO/JllA==&quot;,&quot;size&quot;:{&quot;width&quot;:15.666666666666666,&quot;height&quot;:11.166666666666666}}" id="120" name="Google Shape;120;p15"/>
          <p:cNvPicPr preferRelativeResize="0"/>
          <p:nvPr/>
        </p:nvPicPr>
        <p:blipFill>
          <a:blip r:embed="rId17">
            <a:alphaModFix/>
          </a:blip>
          <a:stretch>
            <a:fillRect/>
          </a:stretch>
        </p:blipFill>
        <p:spPr>
          <a:xfrm>
            <a:off x="2382135" y="1854600"/>
            <a:ext cx="149225" cy="106363"/>
          </a:xfrm>
          <a:prstGeom prst="rect">
            <a:avLst/>
          </a:prstGeom>
          <a:noFill/>
          <a:ln>
            <a:noFill/>
          </a:ln>
        </p:spPr>
      </p:pic>
      <p:pic>
        <p:nvPicPr>
          <p:cNvPr descr="{&quot;backgroundColorModified&quot;:false,&quot;type&quot;:&quot;$$&quot;,&quot;id&quot;:&quot;26&quot;,&quot;aid&quot;:null,&quot;code&quot;:&quot;$$y_{n-1}$$&quot;,&quot;font&quot;:{&quot;family&quot;:&quot;Arial&quot;,&quot;size&quot;:11,&quot;color&quot;:&quot;#000000&quot;},&quot;backgroundColor&quot;:&quot;#FFFFFF&quot;,&quot;ts&quot;:1755261311908,&quot;cs&quot;:&quot;7mU12nk2z+5i/2Zztp0Ypw==&quot;,&quot;size&quot;:{&quot;width&quot;:30.666666666666668,&quot;height&quot;:11.166666666666666}}" id="121" name="Google Shape;121;p15"/>
          <p:cNvPicPr preferRelativeResize="0"/>
          <p:nvPr/>
        </p:nvPicPr>
        <p:blipFill>
          <a:blip r:embed="rId18">
            <a:alphaModFix/>
          </a:blip>
          <a:stretch>
            <a:fillRect/>
          </a:stretch>
        </p:blipFill>
        <p:spPr>
          <a:xfrm>
            <a:off x="3852456" y="1875616"/>
            <a:ext cx="292100" cy="106363"/>
          </a:xfrm>
          <a:prstGeom prst="rect">
            <a:avLst/>
          </a:prstGeom>
          <a:noFill/>
          <a:ln>
            <a:noFill/>
          </a:ln>
        </p:spPr>
      </p:pic>
      <p:pic>
        <p:nvPicPr>
          <p:cNvPr descr="{&quot;id&quot;:&quot;25&quot;,&quot;backgroundColor&quot;:&quot;#FFFFFF&quot;,&quot;backgroundColorModified&quot;:false,&quot;font&quot;:{&quot;size&quot;:9,&quot;color&quot;:&quot;#595959&quot;,&quot;family&quot;:&quot;Arial&quot;},&quot;aid&quot;:null,&quot;type&quot;:&quot;$&quot;,&quot;code&quot;:&quot;$a_{n-1}=ReLU\\left(y_{n-1}\\right)$&quot;,&quot;ts&quot;:1755261538532,&quot;cs&quot;:&quot;xLiRZLUgTLIjIoEztzYX+Q==&quot;,&quot;size&quot;:{&quot;width&quot;:127.45593254593177,&quot;height&quot;:14.740153018372702}}" id="122" name="Google Shape;122;p15"/>
          <p:cNvPicPr preferRelativeResize="0"/>
          <p:nvPr/>
        </p:nvPicPr>
        <p:blipFill>
          <a:blip r:embed="rId19">
            <a:alphaModFix/>
          </a:blip>
          <a:stretch>
            <a:fillRect/>
          </a:stretch>
        </p:blipFill>
        <p:spPr>
          <a:xfrm>
            <a:off x="4167952" y="1071103"/>
            <a:ext cx="1214018" cy="140400"/>
          </a:xfrm>
          <a:prstGeom prst="rect">
            <a:avLst/>
          </a:prstGeom>
          <a:noFill/>
          <a:ln>
            <a:noFill/>
          </a:ln>
        </p:spPr>
      </p:pic>
      <p:pic>
        <p:nvPicPr>
          <p:cNvPr descr="{&quot;id&quot;:&quot;27&quot;,&quot;aid&quot;:null,&quot;font&quot;:{&quot;family&quot;:&quot;Arial&quot;,&quot;size&quot;:10,&quot;color&quot;:&quot;#000000&quot;},&quot;type&quot;:&quot;lalign*&quot;,&quot;backgroundColorModified&quot;:false,&quot;code&quot;:&quot;\\begin{lalign*}\n&amp;{\\frac{\\partial e}{\\partial y_{n-1,i}}=\\frac{\\partial e}{\\partial a_{n-1,i\\,}}\\text{if}\\;a_{n-1,i}&gt;0}\\\\\n&amp;{\\,\\,\\,\\,\\,\\,\\,\\,\\,\\,\\,\\,\\,\\,\\,\\,\\,\\,\\,\\,\\,\\,=0\\,\\;\\;\\;\\;\\;\\text{otherwise}}\\\\\n&amp;{}\t\n\\end{lalign*}&quot;,&quot;backgroundColor&quot;:&quot;#FFFFFF&quot;,&quot;ts&quot;:1757162153896,&quot;cs&quot;:&quot;B2WGJR0LD4adlzPpgXo8Fg==&quot;,&quot;size&quot;:{&quot;width&quot;:205.83333333333334,&quot;height&quot;:53.833333333333336}}" id="123" name="Google Shape;123;p15"/>
          <p:cNvPicPr preferRelativeResize="0"/>
          <p:nvPr/>
        </p:nvPicPr>
        <p:blipFill>
          <a:blip r:embed="rId20">
            <a:alphaModFix/>
          </a:blip>
          <a:stretch>
            <a:fillRect/>
          </a:stretch>
        </p:blipFill>
        <p:spPr>
          <a:xfrm>
            <a:off x="4098976" y="3124672"/>
            <a:ext cx="1512600" cy="395591"/>
          </a:xfrm>
          <a:prstGeom prst="rect">
            <a:avLst/>
          </a:prstGeom>
          <a:noFill/>
          <a:ln>
            <a:noFill/>
          </a:ln>
        </p:spPr>
      </p:pic>
      <p:pic>
        <p:nvPicPr>
          <p:cNvPr descr="{&quot;font&quot;:{&quot;color&quot;:&quot;#000000&quot;,&quot;size&quot;:7.5,&quot;family&quot;:&quot;Arial&quot;},&quot;type&quot;:&quot;lalign*&quot;,&quot;backgroundColor&quot;:&quot;#FFFFFF&quot;,&quot;backgroundColorModified&quot;:false,&quot;aid&quot;:null,&quot;id&quot;:&quot;27&quot;,&quot;code&quot;:&quot;\\begin{lalign*}\n&amp;{\\frac{\\partial e}{\\partial y_{i,1}}=\\frac{\\partial e}{\\partial a_{i,1\\,}}\\text{if}\\;a_{i,1}&gt;0}\\\\\n&amp;{\\,\\,\\,\\,\\,\\,\\,\\,\\,\\,\\,\\,\\,=0\\,\\;\\;\\;\\;\\;\\text{otherwise}}\\\\\n&amp;{}\t\n\\end{lalign*}&quot;,&quot;ts&quot;:1755262173707,&quot;cs&quot;:&quot;QhY5sxkQgr+XM7MhjN084g==&quot;,&quot;size&quot;:{&quot;width&quot;:120.16666666666667,&quot;height&quot;:40.333333333333336}}" id="124" name="Google Shape;124;p15"/>
          <p:cNvPicPr preferRelativeResize="0"/>
          <p:nvPr/>
        </p:nvPicPr>
        <p:blipFill>
          <a:blip r:embed="rId21">
            <a:alphaModFix/>
          </a:blip>
          <a:stretch>
            <a:fillRect/>
          </a:stretch>
        </p:blipFill>
        <p:spPr>
          <a:xfrm>
            <a:off x="1372456" y="3124063"/>
            <a:ext cx="1144588" cy="384175"/>
          </a:xfrm>
          <a:prstGeom prst="rect">
            <a:avLst/>
          </a:prstGeom>
          <a:noFill/>
          <a:ln>
            <a:noFill/>
          </a:ln>
        </p:spPr>
      </p:pic>
      <p:pic>
        <p:nvPicPr>
          <p:cNvPr descr="{&quot;font&quot;:{&quot;family&quot;:&quot;Arial&quot;,&quot;color&quot;:&quot;#000000&quot;,&quot;size&quot;:7.5},&quot;aid&quot;:null,&quot;code&quot;:&quot;\\begin{lalign*}\n&amp;{\\frac{\\partial e}{\\partial W_{n-1}}=\\frac{\\partial e}{\\partial y_{n-1}}a_{n-2}^{T}}\\\\\n&amp;{\\frac{\\partial e}{\\partial a_{n-2}}=W_{n-1}^{T}\\frac{\\partial e}{\\partial y_{n-1}}}\t\n\\end{lalign*}&quot;,&quot;backgroundColor&quot;:&quot;#FFFFFF&quot;,&quot;type&quot;:&quot;lalign*&quot;,&quot;backgroundColorModified&quot;:false,&quot;id&quot;:&quot;27&quot;,&quot;ts&quot;:1755262366864,&quot;cs&quot;:&quot;EeCKrESTvLyaj759KxpxSA==&quot;,&quot;size&quot;:{&quot;width&quot;:109.66666666666667,&quot;height&quot;:57.16666666666663}}" id="125" name="Google Shape;125;p15"/>
          <p:cNvPicPr preferRelativeResize="0"/>
          <p:nvPr/>
        </p:nvPicPr>
        <p:blipFill>
          <a:blip r:embed="rId22">
            <a:alphaModFix/>
          </a:blip>
          <a:stretch>
            <a:fillRect/>
          </a:stretch>
        </p:blipFill>
        <p:spPr>
          <a:xfrm>
            <a:off x="2809277" y="3043908"/>
            <a:ext cx="1044575" cy="544512"/>
          </a:xfrm>
          <a:prstGeom prst="rect">
            <a:avLst/>
          </a:prstGeom>
          <a:noFill/>
          <a:ln>
            <a:noFill/>
          </a:ln>
        </p:spPr>
      </p:pic>
      <p:pic>
        <p:nvPicPr>
          <p:cNvPr descr="{&quot;id&quot;:&quot;25&quot;,&quot;font&quot;:{&quot;size&quot;:11,&quot;family&quot;:&quot;Arial&quot;,&quot;color&quot;:&quot;#595959&quot;},&quot;backgroundColor&quot;:&quot;#FFFFFF&quot;,&quot;code&quot;:&quot;$y_{n-1}=W_{n-1\\,}a_{n-2}$&quot;,&quot;aid&quot;:null,&quot;backgroundColorModified&quot;:false,&quot;type&quot;:&quot;$&quot;,&quot;ts&quot;:1755262414493,&quot;cs&quot;:&quot;oY8K8eAd4uw0hiF9TwkzWA==&quot;,&quot;size&quot;:{&quot;width&quot;:130.66666666666666,&quot;height&quot;:15.333333333333334}}" id="126" name="Google Shape;126;p15"/>
          <p:cNvPicPr preferRelativeResize="0"/>
          <p:nvPr/>
        </p:nvPicPr>
        <p:blipFill>
          <a:blip r:embed="rId23">
            <a:alphaModFix/>
          </a:blip>
          <a:stretch>
            <a:fillRect/>
          </a:stretch>
        </p:blipFill>
        <p:spPr>
          <a:xfrm>
            <a:off x="2687155" y="1075116"/>
            <a:ext cx="1244600" cy="146050"/>
          </a:xfrm>
          <a:prstGeom prst="rect">
            <a:avLst/>
          </a:prstGeom>
          <a:noFill/>
          <a:ln>
            <a:noFill/>
          </a:ln>
        </p:spPr>
      </p:pic>
      <p:pic>
        <p:nvPicPr>
          <p:cNvPr descr="{&quot;id&quot;:&quot;25&quot;,&quot;type&quot;:&quot;$&quot;,&quot;font&quot;:{&quot;size&quot;:9,&quot;family&quot;:&quot;Arial&quot;,&quot;color&quot;:&quot;#595959&quot;},&quot;code&quot;:&quot;$a_{1}=ReLU\\left(y_{1}\\right)$&quot;,&quot;aid&quot;:null,&quot;backgroundColorModified&quot;:false,&quot;backgroundColor&quot;:&quot;#FFFFFF&quot;,&quot;ts&quot;:1755262480461,&quot;cs&quot;:&quot;YCIacjxf7pfu10pNc9ln1A==&quot;,&quot;size&quot;:{&quot;width&quot;:94.5,&quot;height&quot;:14.166666666666666}}" id="127" name="Google Shape;127;p15"/>
          <p:cNvPicPr preferRelativeResize="0"/>
          <p:nvPr/>
        </p:nvPicPr>
        <p:blipFill>
          <a:blip r:embed="rId24">
            <a:alphaModFix/>
          </a:blip>
          <a:stretch>
            <a:fillRect/>
          </a:stretch>
        </p:blipFill>
        <p:spPr>
          <a:xfrm>
            <a:off x="1481023" y="1078178"/>
            <a:ext cx="900113" cy="134938"/>
          </a:xfrm>
          <a:prstGeom prst="rect">
            <a:avLst/>
          </a:prstGeom>
          <a:noFill/>
          <a:ln>
            <a:noFill/>
          </a:ln>
        </p:spPr>
      </p:pic>
      <p:cxnSp>
        <p:nvCxnSpPr>
          <p:cNvPr id="128" name="Google Shape;128;p15"/>
          <p:cNvCxnSpPr>
            <a:stCxn id="84" idx="2"/>
            <a:endCxn id="111" idx="2"/>
          </p:cNvCxnSpPr>
          <p:nvPr/>
        </p:nvCxnSpPr>
        <p:spPr>
          <a:xfrm rot="5400000">
            <a:off x="5836325" y="-34250"/>
            <a:ext cx="253500" cy="4993800"/>
          </a:xfrm>
          <a:prstGeom prst="bentConnector3">
            <a:avLst>
              <a:gd fmla="val 250424" name="adj1"/>
            </a:avLst>
          </a:prstGeom>
          <a:noFill/>
          <a:ln cap="flat" cmpd="sng" w="9525">
            <a:solidFill>
              <a:schemeClr val="dk2"/>
            </a:solidFill>
            <a:prstDash val="solid"/>
            <a:round/>
            <a:headEnd len="med" w="med" type="none"/>
            <a:tailEnd len="med" w="med" type="triangle"/>
          </a:ln>
        </p:spPr>
      </p:cxnSp>
      <p:sp>
        <p:nvSpPr>
          <p:cNvPr id="129" name="Google Shape;129;p15"/>
          <p:cNvSpPr/>
          <p:nvPr/>
        </p:nvSpPr>
        <p:spPr>
          <a:xfrm>
            <a:off x="386700" y="1344250"/>
            <a:ext cx="1994400" cy="1404900"/>
          </a:xfrm>
          <a:prstGeom prst="roundRect">
            <a:avLst>
              <a:gd fmla="val 607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15"/>
          <p:cNvSpPr txBox="1"/>
          <p:nvPr/>
        </p:nvSpPr>
        <p:spPr>
          <a:xfrm>
            <a:off x="1511647" y="2669776"/>
            <a:ext cx="593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Layer 1</a:t>
            </a:r>
            <a:endParaRPr sz="900">
              <a:solidFill>
                <a:schemeClr val="dk2"/>
              </a:solidFill>
            </a:endParaRPr>
          </a:p>
        </p:txBody>
      </p:sp>
      <p:sp>
        <p:nvSpPr>
          <p:cNvPr id="131" name="Google Shape;131;p15"/>
          <p:cNvSpPr/>
          <p:nvPr/>
        </p:nvSpPr>
        <p:spPr>
          <a:xfrm>
            <a:off x="3024650" y="1344250"/>
            <a:ext cx="2109300" cy="1404900"/>
          </a:xfrm>
          <a:prstGeom prst="roundRect">
            <a:avLst>
              <a:gd fmla="val 607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5"/>
          <p:cNvSpPr txBox="1"/>
          <p:nvPr/>
        </p:nvSpPr>
        <p:spPr>
          <a:xfrm>
            <a:off x="4414348" y="2673361"/>
            <a:ext cx="717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Layer n-1</a:t>
            </a:r>
            <a:endParaRPr sz="900">
              <a:solidFill>
                <a:schemeClr val="dk2"/>
              </a:solidFill>
            </a:endParaRPr>
          </a:p>
        </p:txBody>
      </p:sp>
      <p:sp>
        <p:nvSpPr>
          <p:cNvPr id="133" name="Google Shape;133;p15"/>
          <p:cNvSpPr/>
          <p:nvPr/>
        </p:nvSpPr>
        <p:spPr>
          <a:xfrm>
            <a:off x="5625000" y="1329475"/>
            <a:ext cx="900000" cy="1404900"/>
          </a:xfrm>
          <a:prstGeom prst="roundRect">
            <a:avLst>
              <a:gd fmla="val 607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5"/>
          <p:cNvSpPr txBox="1"/>
          <p:nvPr/>
        </p:nvSpPr>
        <p:spPr>
          <a:xfrm>
            <a:off x="6053848" y="2673199"/>
            <a:ext cx="717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Layer n</a:t>
            </a:r>
            <a:endParaRPr sz="900">
              <a:solidFill>
                <a:schemeClr val="dk2"/>
              </a:solidFill>
            </a:endParaRPr>
          </a:p>
        </p:txBody>
      </p:sp>
      <p:sp>
        <p:nvSpPr>
          <p:cNvPr id="135" name="Google Shape;135;p15"/>
          <p:cNvSpPr/>
          <p:nvPr/>
        </p:nvSpPr>
        <p:spPr>
          <a:xfrm rot="10800000">
            <a:off x="5687313" y="3620057"/>
            <a:ext cx="249900" cy="16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5"/>
          <p:cNvSpPr/>
          <p:nvPr/>
        </p:nvSpPr>
        <p:spPr>
          <a:xfrm rot="10800000">
            <a:off x="4116340" y="3420732"/>
            <a:ext cx="249900" cy="16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15"/>
          <p:cNvSpPr/>
          <p:nvPr/>
        </p:nvSpPr>
        <p:spPr>
          <a:xfrm rot="10800000">
            <a:off x="2822507" y="3634901"/>
            <a:ext cx="249900" cy="16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6"/>
          <p:cNvSpPr txBox="1"/>
          <p:nvPr>
            <p:ph type="ctrTitle"/>
          </p:nvPr>
        </p:nvSpPr>
        <p:spPr>
          <a:xfrm>
            <a:off x="-41050" y="234250"/>
            <a:ext cx="3187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480"/>
              <a:t>Backpropagation</a:t>
            </a:r>
            <a:endParaRPr sz="2480"/>
          </a:p>
        </p:txBody>
      </p:sp>
      <p:pic>
        <p:nvPicPr>
          <p:cNvPr id="143" name="Google Shape;143;p16"/>
          <p:cNvPicPr preferRelativeResize="0"/>
          <p:nvPr/>
        </p:nvPicPr>
        <p:blipFill>
          <a:blip r:embed="rId3">
            <a:alphaModFix/>
          </a:blip>
          <a:stretch>
            <a:fillRect/>
          </a:stretch>
        </p:blipFill>
        <p:spPr>
          <a:xfrm>
            <a:off x="4174150" y="127875"/>
            <a:ext cx="3738731" cy="4986250"/>
          </a:xfrm>
          <a:prstGeom prst="rect">
            <a:avLst/>
          </a:prstGeom>
          <a:noFill/>
          <a:ln>
            <a:noFill/>
          </a:ln>
        </p:spPr>
      </p:pic>
      <p:sp>
        <p:nvSpPr>
          <p:cNvPr id="144" name="Google Shape;144;p16"/>
          <p:cNvSpPr txBox="1"/>
          <p:nvPr/>
        </p:nvSpPr>
        <p:spPr>
          <a:xfrm>
            <a:off x="259350" y="942175"/>
            <a:ext cx="3517200" cy="318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Learning is the process of adjusting the weights of the layers in a network against the gradient.</a:t>
            </a:r>
            <a:endParaRPr sz="1500">
              <a:solidFill>
                <a:schemeClr val="dk2"/>
              </a:solidFill>
            </a:endParaRPr>
          </a:p>
          <a:p>
            <a:pPr indent="0" lvl="0" marL="0" rtl="0" algn="l">
              <a:spcBef>
                <a:spcPts val="0"/>
              </a:spcBef>
              <a:spcAft>
                <a:spcPts val="0"/>
              </a:spcAft>
              <a:buNone/>
            </a:pPr>
            <a:r>
              <a:t/>
            </a:r>
            <a:endParaRPr sz="1500">
              <a:solidFill>
                <a:schemeClr val="dk2"/>
              </a:solidFill>
            </a:endParaRPr>
          </a:p>
          <a:p>
            <a:pPr indent="0" lvl="0" marL="0" rtl="0" algn="l">
              <a:spcBef>
                <a:spcPts val="0"/>
              </a:spcBef>
              <a:spcAft>
                <a:spcPts val="0"/>
              </a:spcAft>
              <a:buNone/>
            </a:pPr>
            <a:r>
              <a:rPr lang="en" sz="1500">
                <a:solidFill>
                  <a:schemeClr val="dk2"/>
                </a:solidFill>
              </a:rPr>
              <a:t>This is done using an algorithm called </a:t>
            </a:r>
            <a:r>
              <a:rPr b="1" lang="en" sz="1500">
                <a:solidFill>
                  <a:schemeClr val="dk2"/>
                </a:solidFill>
              </a:rPr>
              <a:t>Backpropagation</a:t>
            </a:r>
            <a:r>
              <a:rPr lang="en" sz="1500">
                <a:solidFill>
                  <a:schemeClr val="dk2"/>
                </a:solidFill>
              </a:rPr>
              <a:t>.  </a:t>
            </a:r>
            <a:endParaRPr sz="1500">
              <a:solidFill>
                <a:schemeClr val="dk2"/>
              </a:solidFill>
            </a:endParaRPr>
          </a:p>
          <a:p>
            <a:pPr indent="0" lvl="0" marL="0" rtl="0" algn="l">
              <a:spcBef>
                <a:spcPts val="0"/>
              </a:spcBef>
              <a:spcAft>
                <a:spcPts val="0"/>
              </a:spcAft>
              <a:buNone/>
            </a:pPr>
            <a:r>
              <a:t/>
            </a:r>
            <a:endParaRPr sz="1500">
              <a:solidFill>
                <a:schemeClr val="dk2"/>
              </a:solidFill>
            </a:endParaRPr>
          </a:p>
          <a:p>
            <a:pPr indent="0" lvl="0" marL="0" rtl="0" algn="l">
              <a:spcBef>
                <a:spcPts val="0"/>
              </a:spcBef>
              <a:spcAft>
                <a:spcPts val="0"/>
              </a:spcAft>
              <a:buNone/>
            </a:pPr>
            <a:r>
              <a:rPr lang="en" sz="1500">
                <a:solidFill>
                  <a:schemeClr val="dk2"/>
                </a:solidFill>
              </a:rPr>
              <a:t>Key idea is to calculate the derivative of the error against the parameters of the network, and move the parameters against the gradient to gradually lower the error, which directs the network’s output towards the desired output</a:t>
            </a:r>
            <a:endParaRPr sz="15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nvSpPr>
        <p:spPr>
          <a:xfrm>
            <a:off x="317900" y="890650"/>
            <a:ext cx="3517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rPr>
              <a:t>Calculating the derivative of the error against the parameter matrix</a:t>
            </a:r>
            <a:endParaRPr sz="1700">
              <a:solidFill>
                <a:schemeClr val="dk2"/>
              </a:solidFill>
            </a:endParaRPr>
          </a:p>
        </p:txBody>
      </p:sp>
      <p:pic>
        <p:nvPicPr>
          <p:cNvPr id="150" name="Google Shape;150;p17"/>
          <p:cNvPicPr preferRelativeResize="0"/>
          <p:nvPr/>
        </p:nvPicPr>
        <p:blipFill>
          <a:blip r:embed="rId3">
            <a:alphaModFix/>
          </a:blip>
          <a:stretch>
            <a:fillRect/>
          </a:stretch>
        </p:blipFill>
        <p:spPr>
          <a:xfrm>
            <a:off x="4422575" y="0"/>
            <a:ext cx="3856647" cy="5143499"/>
          </a:xfrm>
          <a:prstGeom prst="rect">
            <a:avLst/>
          </a:prstGeom>
          <a:noFill/>
          <a:ln>
            <a:noFill/>
          </a:ln>
        </p:spPr>
      </p:pic>
      <p:sp>
        <p:nvSpPr>
          <p:cNvPr id="151" name="Google Shape;151;p17"/>
          <p:cNvSpPr txBox="1"/>
          <p:nvPr/>
        </p:nvSpPr>
        <p:spPr>
          <a:xfrm>
            <a:off x="317900" y="1759350"/>
            <a:ext cx="35172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Here our loss function is “squared error”</a:t>
            </a:r>
            <a:endParaRPr sz="1600">
              <a:solidFill>
                <a:schemeClr val="dk2"/>
              </a:solidFill>
            </a:endParaRPr>
          </a:p>
          <a:p>
            <a:pPr indent="0" lvl="0" marL="0" rtl="0" algn="l">
              <a:spcBef>
                <a:spcPts val="0"/>
              </a:spcBef>
              <a:spcAft>
                <a:spcPts val="0"/>
              </a:spcAft>
              <a:buNone/>
            </a:pPr>
            <a:r>
              <a:rPr lang="en" sz="1600">
                <a:solidFill>
                  <a:schemeClr val="dk2"/>
                </a:solidFill>
              </a:rPr>
              <a:t>There are several loss functions:</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Root Mean Square </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Cross Entropy Loss</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Contrastive Loss</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n" sz="1600">
                <a:solidFill>
                  <a:schemeClr val="dk2"/>
                </a:solidFill>
              </a:rPr>
              <a:t>We’ll look at these later in the course</a:t>
            </a:r>
            <a:endParaRPr sz="1600">
              <a:solidFill>
                <a:schemeClr val="dk2"/>
              </a:solidFill>
            </a:endParaRPr>
          </a:p>
        </p:txBody>
      </p:sp>
      <p:sp>
        <p:nvSpPr>
          <p:cNvPr id="152" name="Google Shape;152;p17"/>
          <p:cNvSpPr txBox="1"/>
          <p:nvPr>
            <p:ph type="ctrTitle"/>
          </p:nvPr>
        </p:nvSpPr>
        <p:spPr>
          <a:xfrm>
            <a:off x="-41050" y="234250"/>
            <a:ext cx="3187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480"/>
              <a:t>Backpropagation</a:t>
            </a:r>
            <a:endParaRPr sz="248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8"/>
          <p:cNvSpPr txBox="1"/>
          <p:nvPr/>
        </p:nvSpPr>
        <p:spPr>
          <a:xfrm>
            <a:off x="259350" y="896425"/>
            <a:ext cx="3517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rPr>
              <a:t>Calculating the derivative of the error against the parameter matrix</a:t>
            </a:r>
            <a:endParaRPr sz="1700">
              <a:solidFill>
                <a:schemeClr val="dk2"/>
              </a:solidFill>
            </a:endParaRPr>
          </a:p>
        </p:txBody>
      </p:sp>
      <p:pic>
        <p:nvPicPr>
          <p:cNvPr id="158" name="Google Shape;158;p18"/>
          <p:cNvPicPr preferRelativeResize="0"/>
          <p:nvPr/>
        </p:nvPicPr>
        <p:blipFill rotWithShape="1">
          <a:blip r:embed="rId3">
            <a:alphaModFix/>
          </a:blip>
          <a:srcRect b="21259" l="0" r="0" t="0"/>
          <a:stretch/>
        </p:blipFill>
        <p:spPr>
          <a:xfrm>
            <a:off x="4105600" y="181850"/>
            <a:ext cx="4447299" cy="4670275"/>
          </a:xfrm>
          <a:prstGeom prst="rect">
            <a:avLst/>
          </a:prstGeom>
          <a:noFill/>
          <a:ln>
            <a:noFill/>
          </a:ln>
        </p:spPr>
      </p:pic>
      <p:sp>
        <p:nvSpPr>
          <p:cNvPr id="159" name="Google Shape;159;p18"/>
          <p:cNvSpPr txBox="1"/>
          <p:nvPr>
            <p:ph type="ctrTitle"/>
          </p:nvPr>
        </p:nvSpPr>
        <p:spPr>
          <a:xfrm>
            <a:off x="-41050" y="234250"/>
            <a:ext cx="3187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480"/>
              <a:t>Backpropagation</a:t>
            </a:r>
            <a:endParaRPr sz="248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nvSpPr>
        <p:spPr>
          <a:xfrm>
            <a:off x="259350" y="896425"/>
            <a:ext cx="3517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rPr>
              <a:t>Calculating the derivative of the error against the parameter matrix</a:t>
            </a:r>
            <a:endParaRPr sz="1700">
              <a:solidFill>
                <a:schemeClr val="dk2"/>
              </a:solidFill>
            </a:endParaRPr>
          </a:p>
        </p:txBody>
      </p:sp>
      <p:pic>
        <p:nvPicPr>
          <p:cNvPr id="165" name="Google Shape;165;p19"/>
          <p:cNvPicPr preferRelativeResize="0"/>
          <p:nvPr/>
        </p:nvPicPr>
        <p:blipFill>
          <a:blip r:embed="rId3">
            <a:alphaModFix/>
          </a:blip>
          <a:stretch>
            <a:fillRect/>
          </a:stretch>
        </p:blipFill>
        <p:spPr>
          <a:xfrm>
            <a:off x="4462875" y="20750"/>
            <a:ext cx="3825499" cy="5101999"/>
          </a:xfrm>
          <a:prstGeom prst="rect">
            <a:avLst/>
          </a:prstGeom>
          <a:noFill/>
          <a:ln>
            <a:noFill/>
          </a:ln>
        </p:spPr>
      </p:pic>
      <p:sp>
        <p:nvSpPr>
          <p:cNvPr id="166" name="Google Shape;166;p19"/>
          <p:cNvSpPr txBox="1"/>
          <p:nvPr/>
        </p:nvSpPr>
        <p:spPr>
          <a:xfrm>
            <a:off x="313500" y="2419900"/>
            <a:ext cx="30000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This is a key result, because in a typical Transformer model, matrix multiplications account for a significant portion of the operations, often exceeding </a:t>
            </a:r>
            <a:r>
              <a:rPr lang="en" sz="1600" u="sng">
                <a:solidFill>
                  <a:schemeClr val="dk2"/>
                </a:solidFill>
              </a:rPr>
              <a:t>80% of the total runtime</a:t>
            </a:r>
            <a:r>
              <a:rPr lang="en" sz="1600">
                <a:solidFill>
                  <a:schemeClr val="dk2"/>
                </a:solidFill>
              </a:rPr>
              <a:t>. </a:t>
            </a:r>
            <a:endParaRPr sz="1600">
              <a:solidFill>
                <a:schemeClr val="dk2"/>
              </a:solidFill>
            </a:endParaRPr>
          </a:p>
        </p:txBody>
      </p:sp>
      <p:sp>
        <p:nvSpPr>
          <p:cNvPr id="167" name="Google Shape;167;p19"/>
          <p:cNvSpPr txBox="1"/>
          <p:nvPr>
            <p:ph type="ctrTitle"/>
          </p:nvPr>
        </p:nvSpPr>
        <p:spPr>
          <a:xfrm>
            <a:off x="-41050" y="234250"/>
            <a:ext cx="3187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480"/>
              <a:t>Backpropagation</a:t>
            </a:r>
            <a:endParaRPr sz="248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nvSpPr>
        <p:spPr>
          <a:xfrm>
            <a:off x="259350" y="896425"/>
            <a:ext cx="35172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Let’s look at ReLU now..</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b="1" lang="en" sz="1600">
                <a:solidFill>
                  <a:schemeClr val="dk2"/>
                </a:solidFill>
              </a:rPr>
              <a:t>Note:</a:t>
            </a:r>
            <a:r>
              <a:rPr lang="en" sz="1600">
                <a:solidFill>
                  <a:schemeClr val="dk2"/>
                </a:solidFill>
              </a:rPr>
              <a:t> In the derivation on the right, we are consider </a:t>
            </a:r>
            <a:r>
              <a:rPr i="1" lang="en" sz="1600">
                <a:solidFill>
                  <a:schemeClr val="dk2"/>
                </a:solidFill>
              </a:rPr>
              <a:t>x </a:t>
            </a:r>
            <a:r>
              <a:rPr lang="en" sz="1600">
                <a:solidFill>
                  <a:schemeClr val="dk2"/>
                </a:solidFill>
              </a:rPr>
              <a:t>as a 3*1 vector just as an example. In general, </a:t>
            </a:r>
            <a:r>
              <a:rPr i="1" lang="en" sz="1600">
                <a:solidFill>
                  <a:schemeClr val="dk2"/>
                </a:solidFill>
              </a:rPr>
              <a:t>x</a:t>
            </a:r>
            <a:r>
              <a:rPr lang="en" sz="1600">
                <a:solidFill>
                  <a:schemeClr val="dk2"/>
                </a:solidFill>
              </a:rPr>
              <a:t> would be a</a:t>
            </a:r>
            <a:r>
              <a:rPr i="1" lang="en" sz="1600">
                <a:solidFill>
                  <a:schemeClr val="dk2"/>
                </a:solidFill>
              </a:rPr>
              <a:t> m*n </a:t>
            </a:r>
            <a:r>
              <a:rPr lang="en" sz="1600">
                <a:solidFill>
                  <a:schemeClr val="dk2"/>
                </a:solidFill>
              </a:rPr>
              <a:t>matrix</a:t>
            </a:r>
            <a:endParaRPr sz="1600">
              <a:solidFill>
                <a:schemeClr val="dk2"/>
              </a:solidFill>
            </a:endParaRPr>
          </a:p>
        </p:txBody>
      </p:sp>
      <p:sp>
        <p:nvSpPr>
          <p:cNvPr id="173" name="Google Shape;173;p20"/>
          <p:cNvSpPr txBox="1"/>
          <p:nvPr/>
        </p:nvSpPr>
        <p:spPr>
          <a:xfrm>
            <a:off x="259350" y="2694225"/>
            <a:ext cx="30000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2"/>
                </a:solidFill>
              </a:rPr>
              <a:t>Note:</a:t>
            </a:r>
            <a:r>
              <a:rPr lang="en" sz="1600">
                <a:solidFill>
                  <a:schemeClr val="dk2"/>
                </a:solidFill>
              </a:rPr>
              <a:t> ReLU doesn’t have any parameters.. But we still need to calculate the derivative of its output against input</a:t>
            </a:r>
            <a:endParaRPr sz="1600">
              <a:solidFill>
                <a:schemeClr val="dk2"/>
              </a:solidFill>
            </a:endParaRPr>
          </a:p>
        </p:txBody>
      </p:sp>
      <p:pic>
        <p:nvPicPr>
          <p:cNvPr id="174" name="Google Shape;174;p20"/>
          <p:cNvPicPr preferRelativeResize="0"/>
          <p:nvPr/>
        </p:nvPicPr>
        <p:blipFill>
          <a:blip r:embed="rId3">
            <a:alphaModFix/>
          </a:blip>
          <a:stretch>
            <a:fillRect/>
          </a:stretch>
        </p:blipFill>
        <p:spPr>
          <a:xfrm>
            <a:off x="4237575" y="79000"/>
            <a:ext cx="3639324" cy="4853698"/>
          </a:xfrm>
          <a:prstGeom prst="rect">
            <a:avLst/>
          </a:prstGeom>
          <a:noFill/>
          <a:ln>
            <a:noFill/>
          </a:ln>
        </p:spPr>
      </p:pic>
      <p:sp>
        <p:nvSpPr>
          <p:cNvPr id="175" name="Google Shape;175;p20"/>
          <p:cNvSpPr txBox="1"/>
          <p:nvPr>
            <p:ph type="ctrTitle"/>
          </p:nvPr>
        </p:nvSpPr>
        <p:spPr>
          <a:xfrm>
            <a:off x="-41050" y="234250"/>
            <a:ext cx="3187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480"/>
              <a:t>Backpropagation</a:t>
            </a:r>
            <a:endParaRPr sz="248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txBox="1"/>
          <p:nvPr/>
        </p:nvSpPr>
        <p:spPr>
          <a:xfrm>
            <a:off x="259350" y="896425"/>
            <a:ext cx="3517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rPr>
              <a:t>Calculating the derivative of the error against the parameter matrix</a:t>
            </a:r>
            <a:endParaRPr sz="1700">
              <a:solidFill>
                <a:schemeClr val="dk2"/>
              </a:solidFill>
            </a:endParaRPr>
          </a:p>
        </p:txBody>
      </p:sp>
      <p:sp>
        <p:nvSpPr>
          <p:cNvPr id="181" name="Google Shape;181;p21"/>
          <p:cNvSpPr txBox="1"/>
          <p:nvPr/>
        </p:nvSpPr>
        <p:spPr>
          <a:xfrm>
            <a:off x="313500" y="2419900"/>
            <a:ext cx="30000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Each layer uses the derivative of error against its output to calculate derivative of error against its parameters, and the derivative of error against its inputs, which is </a:t>
            </a:r>
            <a:r>
              <a:rPr lang="en" sz="1600" u="sng">
                <a:solidFill>
                  <a:schemeClr val="dk2"/>
                </a:solidFill>
              </a:rPr>
              <a:t>propagated back</a:t>
            </a:r>
            <a:r>
              <a:rPr lang="en" sz="1600">
                <a:solidFill>
                  <a:schemeClr val="dk2"/>
                </a:solidFill>
              </a:rPr>
              <a:t> to the previous layer..</a:t>
            </a:r>
            <a:endParaRPr sz="1600">
              <a:solidFill>
                <a:schemeClr val="dk2"/>
              </a:solidFill>
            </a:endParaRPr>
          </a:p>
        </p:txBody>
      </p:sp>
      <p:pic>
        <p:nvPicPr>
          <p:cNvPr id="182" name="Google Shape;182;p21"/>
          <p:cNvPicPr preferRelativeResize="0"/>
          <p:nvPr/>
        </p:nvPicPr>
        <p:blipFill>
          <a:blip r:embed="rId3">
            <a:alphaModFix/>
          </a:blip>
          <a:stretch>
            <a:fillRect/>
          </a:stretch>
        </p:blipFill>
        <p:spPr>
          <a:xfrm>
            <a:off x="4418825" y="0"/>
            <a:ext cx="3856647" cy="5143499"/>
          </a:xfrm>
          <a:prstGeom prst="rect">
            <a:avLst/>
          </a:prstGeom>
          <a:noFill/>
          <a:ln>
            <a:noFill/>
          </a:ln>
        </p:spPr>
      </p:pic>
      <p:sp>
        <p:nvSpPr>
          <p:cNvPr id="183" name="Google Shape;183;p21"/>
          <p:cNvSpPr txBox="1"/>
          <p:nvPr>
            <p:ph type="ctrTitle"/>
          </p:nvPr>
        </p:nvSpPr>
        <p:spPr>
          <a:xfrm>
            <a:off x="-41050" y="234250"/>
            <a:ext cx="3187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480"/>
              <a:t>Backpropagation</a:t>
            </a:r>
            <a:endParaRPr sz="248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Backpropagation: Batched</a:t>
            </a:r>
            <a:endParaRPr sz="2020"/>
          </a:p>
        </p:txBody>
      </p:sp>
      <p:pic>
        <p:nvPicPr>
          <p:cNvPr id="189" name="Google Shape;189;p22"/>
          <p:cNvPicPr preferRelativeResize="0"/>
          <p:nvPr/>
        </p:nvPicPr>
        <p:blipFill rotWithShape="1">
          <a:blip r:embed="rId3">
            <a:alphaModFix/>
          </a:blip>
          <a:srcRect b="31572" l="5015" r="11672" t="0"/>
          <a:stretch/>
        </p:blipFill>
        <p:spPr>
          <a:xfrm>
            <a:off x="4450525" y="557675"/>
            <a:ext cx="3742125" cy="4099101"/>
          </a:xfrm>
          <a:prstGeom prst="rect">
            <a:avLst/>
          </a:prstGeom>
          <a:noFill/>
          <a:ln>
            <a:noFill/>
          </a:ln>
        </p:spPr>
      </p:pic>
      <p:sp>
        <p:nvSpPr>
          <p:cNvPr id="190" name="Google Shape;190;p22"/>
          <p:cNvSpPr txBox="1"/>
          <p:nvPr/>
        </p:nvSpPr>
        <p:spPr>
          <a:xfrm>
            <a:off x="336350" y="911825"/>
            <a:ext cx="35172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So far, we calculated gradients for a single input. It is common to group the inputs into a batch. Let’s calculate the gradients for the batched case. We’ll also include the bias term now</a:t>
            </a:r>
            <a:endParaRPr sz="15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23"/>
          <p:cNvPicPr preferRelativeResize="0"/>
          <p:nvPr/>
        </p:nvPicPr>
        <p:blipFill rotWithShape="1">
          <a:blip r:embed="rId3">
            <a:alphaModFix/>
          </a:blip>
          <a:srcRect b="4488" l="5977" r="1343" t="1411"/>
          <a:stretch/>
        </p:blipFill>
        <p:spPr>
          <a:xfrm>
            <a:off x="4316350" y="11231"/>
            <a:ext cx="3789900" cy="5132270"/>
          </a:xfrm>
          <a:prstGeom prst="rect">
            <a:avLst/>
          </a:prstGeom>
          <a:noFill/>
          <a:ln>
            <a:noFill/>
          </a:ln>
        </p:spPr>
      </p:pic>
      <p:sp>
        <p:nvSpPr>
          <p:cNvPr id="196" name="Google Shape;196;p23"/>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Backpropagation: Batched</a:t>
            </a:r>
            <a:endParaRPr sz="2020"/>
          </a:p>
        </p:txBody>
      </p:sp>
      <p:sp>
        <p:nvSpPr>
          <p:cNvPr id="197" name="Google Shape;197;p23"/>
          <p:cNvSpPr txBox="1"/>
          <p:nvPr/>
        </p:nvSpPr>
        <p:spPr>
          <a:xfrm>
            <a:off x="336350" y="911825"/>
            <a:ext cx="3517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Derivative of error against the weights</a:t>
            </a:r>
            <a:endParaRPr sz="15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4"/>
          <p:cNvPicPr preferRelativeResize="0"/>
          <p:nvPr/>
        </p:nvPicPr>
        <p:blipFill rotWithShape="1">
          <a:blip r:embed="rId3">
            <a:alphaModFix/>
          </a:blip>
          <a:srcRect b="17005" l="6974" r="18747" t="0"/>
          <a:stretch/>
        </p:blipFill>
        <p:spPr>
          <a:xfrm>
            <a:off x="4506975" y="152400"/>
            <a:ext cx="3331474" cy="4964274"/>
          </a:xfrm>
          <a:prstGeom prst="rect">
            <a:avLst/>
          </a:prstGeom>
          <a:noFill/>
          <a:ln>
            <a:noFill/>
          </a:ln>
        </p:spPr>
      </p:pic>
      <p:sp>
        <p:nvSpPr>
          <p:cNvPr id="203" name="Google Shape;203;p24"/>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Backpropagation: Batched</a:t>
            </a:r>
            <a:endParaRPr sz="202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25"/>
          <p:cNvPicPr preferRelativeResize="0"/>
          <p:nvPr/>
        </p:nvPicPr>
        <p:blipFill rotWithShape="1">
          <a:blip r:embed="rId3">
            <a:alphaModFix/>
          </a:blip>
          <a:srcRect b="2257" l="2510" r="12664" t="0"/>
          <a:stretch/>
        </p:blipFill>
        <p:spPr>
          <a:xfrm>
            <a:off x="4414575" y="0"/>
            <a:ext cx="3347199" cy="5143499"/>
          </a:xfrm>
          <a:prstGeom prst="rect">
            <a:avLst/>
          </a:prstGeom>
          <a:noFill/>
          <a:ln>
            <a:noFill/>
          </a:ln>
        </p:spPr>
      </p:pic>
      <p:sp>
        <p:nvSpPr>
          <p:cNvPr id="209" name="Google Shape;209;p25"/>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Backpropagation: Batched</a:t>
            </a:r>
            <a:endParaRPr sz="2020"/>
          </a:p>
        </p:txBody>
      </p:sp>
      <p:sp>
        <p:nvSpPr>
          <p:cNvPr id="210" name="Google Shape;210;p25"/>
          <p:cNvSpPr txBox="1"/>
          <p:nvPr/>
        </p:nvSpPr>
        <p:spPr>
          <a:xfrm>
            <a:off x="336350" y="911825"/>
            <a:ext cx="3517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Derivative of error against bias </a:t>
            </a:r>
            <a:endParaRPr sz="15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26"/>
          <p:cNvPicPr preferRelativeResize="0"/>
          <p:nvPr/>
        </p:nvPicPr>
        <p:blipFill rotWithShape="1">
          <a:blip r:embed="rId3">
            <a:alphaModFix/>
          </a:blip>
          <a:srcRect b="56470" l="3297" r="0" t="0"/>
          <a:stretch/>
        </p:blipFill>
        <p:spPr>
          <a:xfrm>
            <a:off x="4373525" y="152400"/>
            <a:ext cx="4252499" cy="2552826"/>
          </a:xfrm>
          <a:prstGeom prst="rect">
            <a:avLst/>
          </a:prstGeom>
          <a:noFill/>
          <a:ln>
            <a:noFill/>
          </a:ln>
        </p:spPr>
      </p:pic>
      <p:sp>
        <p:nvSpPr>
          <p:cNvPr id="216" name="Google Shape;216;p26"/>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Backpropagation: Batched</a:t>
            </a:r>
            <a:endParaRPr sz="202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7"/>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Updating Weights..</a:t>
            </a:r>
            <a:endParaRPr sz="2020"/>
          </a:p>
        </p:txBody>
      </p:sp>
      <p:pic>
        <p:nvPicPr>
          <p:cNvPr descr="{&quot;backgroundColorModified&quot;:false,&quot;id&quot;:&quot;9&quot;,&quot;backgroundColor&quot;:&quot;#FFFFFF&quot;,&quot;aid&quot;:null,&quot;font&quot;:{&quot;family&quot;:&quot;Arial&quot;,&quot;size&quot;:16,&quot;color&quot;:&quot;#595959&quot;},&quot;type&quot;:&quot;lalign*&quot;,&quot;code&quot;:&quot;\\begin{lalign*}\n&amp;{\\text{If}\\;y=f\\left(x\\right),\\;}\\\\\n&amp;{\\text{find}\\;f\\,\\text{that}\\;\\text{minimizes}\\;\\text{L(y)}}\t\n\\end{lalign*}&quot;,&quot;ts&quot;:1753561656433,&quot;cs&quot;:&quot;yTReRyOOxMTbp80idXCI2Q==&quot;,&quot;size&quot;:{&quot;width&quot;:281.25,&quot;height&quot;:57.75000000000002}}" id="222" name="Google Shape;222;p27"/>
          <p:cNvPicPr preferRelativeResize="0"/>
          <p:nvPr/>
        </p:nvPicPr>
        <p:blipFill>
          <a:blip r:embed="rId3">
            <a:alphaModFix/>
          </a:blip>
          <a:stretch>
            <a:fillRect/>
          </a:stretch>
        </p:blipFill>
        <p:spPr>
          <a:xfrm>
            <a:off x="472284" y="1835000"/>
            <a:ext cx="2678906" cy="550069"/>
          </a:xfrm>
          <a:prstGeom prst="rect">
            <a:avLst/>
          </a:prstGeom>
          <a:noFill/>
          <a:ln>
            <a:noFill/>
          </a:ln>
        </p:spPr>
      </p:pic>
      <p:sp>
        <p:nvSpPr>
          <p:cNvPr id="223" name="Google Shape;223;p27"/>
          <p:cNvSpPr txBox="1"/>
          <p:nvPr/>
        </p:nvSpPr>
        <p:spPr>
          <a:xfrm>
            <a:off x="362025" y="973425"/>
            <a:ext cx="529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We calculated all these gradients.. Now what? </a:t>
            </a:r>
            <a:endParaRPr>
              <a:solidFill>
                <a:schemeClr val="dk2"/>
              </a:solidFill>
            </a:endParaRPr>
          </a:p>
          <a:p>
            <a:pPr indent="0" lvl="0" marL="0" rtl="0" algn="l">
              <a:spcBef>
                <a:spcPts val="0"/>
              </a:spcBef>
              <a:spcAft>
                <a:spcPts val="0"/>
              </a:spcAft>
              <a:buNone/>
            </a:pPr>
            <a:r>
              <a:rPr lang="en">
                <a:solidFill>
                  <a:schemeClr val="dk2"/>
                </a:solidFill>
              </a:rPr>
              <a:t>Recall the original optimization problem..</a:t>
            </a:r>
            <a:endParaRPr>
              <a:solidFill>
                <a:schemeClr val="dk2"/>
              </a:solidFill>
            </a:endParaRPr>
          </a:p>
        </p:txBody>
      </p:sp>
      <p:sp>
        <p:nvSpPr>
          <p:cNvPr id="224" name="Google Shape;224;p27"/>
          <p:cNvSpPr txBox="1"/>
          <p:nvPr/>
        </p:nvSpPr>
        <p:spPr>
          <a:xfrm>
            <a:off x="426075" y="2511775"/>
            <a:ext cx="7386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We modeled the unknown function </a:t>
            </a:r>
            <a:r>
              <a:rPr i="1" lang="en" sz="1500">
                <a:solidFill>
                  <a:schemeClr val="dk2"/>
                </a:solidFill>
              </a:rPr>
              <a:t>f</a:t>
            </a:r>
            <a:r>
              <a:rPr lang="en" sz="1500">
                <a:solidFill>
                  <a:schemeClr val="dk2"/>
                </a:solidFill>
              </a:rPr>
              <a:t> as a neural network, because neural networks can model any arbitrary function. Finding </a:t>
            </a:r>
            <a:r>
              <a:rPr i="1" lang="en" sz="1500">
                <a:solidFill>
                  <a:schemeClr val="dk2"/>
                </a:solidFill>
              </a:rPr>
              <a:t>f</a:t>
            </a:r>
            <a:r>
              <a:rPr lang="en" sz="1500">
                <a:solidFill>
                  <a:schemeClr val="dk2"/>
                </a:solidFill>
              </a:rPr>
              <a:t> means finding the weights of the network that minimize the loss function. We calculated the gradients so we know which direction to move the weights.</a:t>
            </a:r>
            <a:endParaRPr sz="1500">
              <a:solidFill>
                <a:schemeClr val="dk2"/>
              </a:solidFill>
            </a:endParaRPr>
          </a:p>
        </p:txBody>
      </p:sp>
      <p:pic>
        <p:nvPicPr>
          <p:cNvPr descr="{&quot;code&quot;:&quot;$$w_{t+1}=w_{t}-\\eta\\frac{\\partial e}{\\partial w_{t}}$$&quot;,&quot;backgroundColorModified&quot;:false,&quot;id&quot;:&quot;1&quot;,&quot;font&quot;:{&quot;size&quot;:15.5,&quot;family&quot;:&quot;Arial&quot;,&quot;color&quot;:&quot;#000000&quot;},&quot;type&quot;:&quot;$$&quot;,&quot;backgroundColor&quot;:&quot;#FFFFFF&quot;,&quot;aid&quot;:null,&quot;ts&quot;:1755358546552,&quot;cs&quot;:&quot;ev7DD41i0BjdE3MpD42tcQ==&quot;,&quot;size&quot;:{&quot;width&quot;:193.66666666666666,&quot;height&quot;:54.166666666666664}}" id="225" name="Google Shape;225;p27"/>
          <p:cNvPicPr preferRelativeResize="0"/>
          <p:nvPr/>
        </p:nvPicPr>
        <p:blipFill>
          <a:blip r:embed="rId4">
            <a:alphaModFix/>
          </a:blip>
          <a:stretch>
            <a:fillRect/>
          </a:stretch>
        </p:blipFill>
        <p:spPr>
          <a:xfrm>
            <a:off x="550739" y="3778050"/>
            <a:ext cx="1844675" cy="515938"/>
          </a:xfrm>
          <a:prstGeom prst="rect">
            <a:avLst/>
          </a:prstGeom>
          <a:noFill/>
          <a:ln>
            <a:noFill/>
          </a:ln>
        </p:spPr>
      </p:pic>
      <p:sp>
        <p:nvSpPr>
          <p:cNvPr id="226" name="Google Shape;226;p27"/>
          <p:cNvSpPr txBox="1"/>
          <p:nvPr/>
        </p:nvSpPr>
        <p:spPr>
          <a:xfrm>
            <a:off x="2090325" y="4405950"/>
            <a:ext cx="3438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Learning rate.. This should get smaller as we get closer to the minimum</a:t>
            </a:r>
            <a:endParaRPr>
              <a:solidFill>
                <a:schemeClr val="dk2"/>
              </a:solidFill>
            </a:endParaRPr>
          </a:p>
        </p:txBody>
      </p:sp>
      <p:cxnSp>
        <p:nvCxnSpPr>
          <p:cNvPr id="227" name="Google Shape;227;p27"/>
          <p:cNvCxnSpPr>
            <a:stCxn id="226" idx="1"/>
          </p:cNvCxnSpPr>
          <p:nvPr/>
        </p:nvCxnSpPr>
        <p:spPr>
          <a:xfrm rot="10800000">
            <a:off x="1925025" y="4198950"/>
            <a:ext cx="165300" cy="514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8"/>
          <p:cNvSpPr txBox="1"/>
          <p:nvPr>
            <p:ph type="title"/>
          </p:nvPr>
        </p:nvSpPr>
        <p:spPr>
          <a:xfrm>
            <a:off x="311700" y="445025"/>
            <a:ext cx="4719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Stochastic Minibatch Gradient Descent</a:t>
            </a:r>
            <a:endParaRPr sz="2020"/>
          </a:p>
        </p:txBody>
      </p:sp>
      <p:sp>
        <p:nvSpPr>
          <p:cNvPr id="233" name="Google Shape;233;p28"/>
          <p:cNvSpPr txBox="1"/>
          <p:nvPr/>
        </p:nvSpPr>
        <p:spPr>
          <a:xfrm>
            <a:off x="362025" y="973425"/>
            <a:ext cx="5299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How do we select the batch size?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Say we have </a:t>
            </a:r>
            <a:r>
              <a:rPr i="1" lang="en">
                <a:solidFill>
                  <a:schemeClr val="dk2"/>
                </a:solidFill>
              </a:rPr>
              <a:t>n </a:t>
            </a:r>
            <a:r>
              <a:rPr lang="en">
                <a:solidFill>
                  <a:schemeClr val="dk2"/>
                </a:solidFill>
              </a:rPr>
              <a:t>data points</a:t>
            </a:r>
            <a:endParaRPr>
              <a:solidFill>
                <a:schemeClr val="dk2"/>
              </a:solidFill>
            </a:endParaRPr>
          </a:p>
        </p:txBody>
      </p:sp>
      <p:cxnSp>
        <p:nvCxnSpPr>
          <p:cNvPr id="234" name="Google Shape;234;p28"/>
          <p:cNvCxnSpPr/>
          <p:nvPr/>
        </p:nvCxnSpPr>
        <p:spPr>
          <a:xfrm>
            <a:off x="1750450" y="3064925"/>
            <a:ext cx="4250400" cy="0"/>
          </a:xfrm>
          <a:prstGeom prst="straightConnector1">
            <a:avLst/>
          </a:prstGeom>
          <a:noFill/>
          <a:ln cap="flat" cmpd="sng" w="9525">
            <a:solidFill>
              <a:schemeClr val="dk2"/>
            </a:solidFill>
            <a:prstDash val="solid"/>
            <a:round/>
            <a:headEnd len="med" w="med" type="none"/>
            <a:tailEnd len="med" w="med" type="triangle"/>
          </a:ln>
        </p:spPr>
      </p:cxnSp>
      <p:sp>
        <p:nvSpPr>
          <p:cNvPr id="235" name="Google Shape;235;p28"/>
          <p:cNvSpPr txBox="1"/>
          <p:nvPr/>
        </p:nvSpPr>
        <p:spPr>
          <a:xfrm>
            <a:off x="514425" y="3143550"/>
            <a:ext cx="2740200" cy="1077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B=1</a:t>
            </a:r>
            <a:endParaRPr>
              <a:solidFill>
                <a:schemeClr val="dk2"/>
              </a:solidFill>
            </a:endParaRPr>
          </a:p>
          <a:p>
            <a:pPr indent="0" lvl="0" marL="0" rtl="0" algn="ctr">
              <a:spcBef>
                <a:spcPts val="0"/>
              </a:spcBef>
              <a:spcAft>
                <a:spcPts val="0"/>
              </a:spcAft>
              <a:buNone/>
            </a:pPr>
            <a:r>
              <a:rPr lang="en" sz="1100">
                <a:solidFill>
                  <a:schemeClr val="dk2"/>
                </a:solidFill>
              </a:rPr>
              <a:t>Select a random point from the dataset (without replacement)</a:t>
            </a:r>
            <a:endParaRPr sz="1100">
              <a:solidFill>
                <a:schemeClr val="dk2"/>
              </a:solidFill>
            </a:endParaRPr>
          </a:p>
          <a:p>
            <a:pPr indent="0" lvl="0" marL="0" rtl="0" algn="ctr">
              <a:spcBef>
                <a:spcPts val="0"/>
              </a:spcBef>
              <a:spcAft>
                <a:spcPts val="0"/>
              </a:spcAft>
              <a:buNone/>
            </a:pPr>
            <a:r>
              <a:rPr lang="en" sz="1100">
                <a:solidFill>
                  <a:schemeClr val="dk2"/>
                </a:solidFill>
              </a:rPr>
              <a:t>Calculate gradient and update weights</a:t>
            </a:r>
            <a:endParaRPr sz="1100">
              <a:solidFill>
                <a:schemeClr val="dk2"/>
              </a:solidFill>
            </a:endParaRPr>
          </a:p>
          <a:p>
            <a:pPr indent="0" lvl="0" marL="0" rtl="0" algn="ctr">
              <a:spcBef>
                <a:spcPts val="0"/>
              </a:spcBef>
              <a:spcAft>
                <a:spcPts val="0"/>
              </a:spcAft>
              <a:buNone/>
            </a:pPr>
            <a:r>
              <a:rPr b="1" lang="en" sz="1100">
                <a:solidFill>
                  <a:schemeClr val="dk2"/>
                </a:solidFill>
              </a:rPr>
              <a:t>Problem:</a:t>
            </a:r>
            <a:r>
              <a:rPr lang="en" sz="1100">
                <a:solidFill>
                  <a:schemeClr val="dk2"/>
                </a:solidFill>
              </a:rPr>
              <a:t> Gradient is very noisy</a:t>
            </a:r>
            <a:endParaRPr sz="1100">
              <a:solidFill>
                <a:schemeClr val="dk2"/>
              </a:solidFill>
            </a:endParaRPr>
          </a:p>
        </p:txBody>
      </p:sp>
      <p:sp>
        <p:nvSpPr>
          <p:cNvPr id="236" name="Google Shape;236;p28"/>
          <p:cNvSpPr txBox="1"/>
          <p:nvPr/>
        </p:nvSpPr>
        <p:spPr>
          <a:xfrm>
            <a:off x="4572000" y="3112750"/>
            <a:ext cx="3018900" cy="908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B=n</a:t>
            </a:r>
            <a:endParaRPr>
              <a:solidFill>
                <a:schemeClr val="dk2"/>
              </a:solidFill>
            </a:endParaRPr>
          </a:p>
          <a:p>
            <a:pPr indent="0" lvl="0" marL="0" rtl="0" algn="ctr">
              <a:spcBef>
                <a:spcPts val="0"/>
              </a:spcBef>
              <a:spcAft>
                <a:spcPts val="0"/>
              </a:spcAft>
              <a:buNone/>
            </a:pPr>
            <a:r>
              <a:rPr lang="en" sz="1100">
                <a:solidFill>
                  <a:schemeClr val="dk2"/>
                </a:solidFill>
              </a:rPr>
              <a:t>Select the entire dataset at every iteration</a:t>
            </a:r>
            <a:endParaRPr sz="1100">
              <a:solidFill>
                <a:schemeClr val="dk2"/>
              </a:solidFill>
            </a:endParaRPr>
          </a:p>
          <a:p>
            <a:pPr indent="0" lvl="0" marL="0" rtl="0" algn="ctr">
              <a:spcBef>
                <a:spcPts val="0"/>
              </a:spcBef>
              <a:spcAft>
                <a:spcPts val="0"/>
              </a:spcAft>
              <a:buNone/>
            </a:pPr>
            <a:r>
              <a:rPr lang="en" sz="1100">
                <a:solidFill>
                  <a:schemeClr val="dk2"/>
                </a:solidFill>
              </a:rPr>
              <a:t>Calculate gradient and update weights</a:t>
            </a:r>
            <a:endParaRPr sz="1100">
              <a:solidFill>
                <a:schemeClr val="dk2"/>
              </a:solidFill>
            </a:endParaRPr>
          </a:p>
          <a:p>
            <a:pPr indent="0" lvl="0" marL="0" rtl="0" algn="ctr">
              <a:spcBef>
                <a:spcPts val="0"/>
              </a:spcBef>
              <a:spcAft>
                <a:spcPts val="0"/>
              </a:spcAft>
              <a:buNone/>
            </a:pPr>
            <a:r>
              <a:rPr b="1" lang="en" sz="1100">
                <a:solidFill>
                  <a:schemeClr val="dk2"/>
                </a:solidFill>
              </a:rPr>
              <a:t>Problem:</a:t>
            </a:r>
            <a:r>
              <a:rPr lang="en" sz="1100">
                <a:solidFill>
                  <a:schemeClr val="dk2"/>
                </a:solidFill>
              </a:rPr>
              <a:t> Large matrices, compute heavy</a:t>
            </a:r>
            <a:endParaRPr sz="1100">
              <a:solidFill>
                <a:schemeClr val="dk2"/>
              </a:solidFill>
            </a:endParaRPr>
          </a:p>
        </p:txBody>
      </p:sp>
      <p:sp>
        <p:nvSpPr>
          <p:cNvPr id="237" name="Google Shape;237;p28"/>
          <p:cNvSpPr txBox="1"/>
          <p:nvPr/>
        </p:nvSpPr>
        <p:spPr>
          <a:xfrm>
            <a:off x="1882325" y="1878200"/>
            <a:ext cx="3927000" cy="1077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1&lt;B&lt;n</a:t>
            </a:r>
            <a:endParaRPr>
              <a:solidFill>
                <a:schemeClr val="dk2"/>
              </a:solidFill>
            </a:endParaRPr>
          </a:p>
          <a:p>
            <a:pPr indent="0" lvl="0" marL="0" rtl="0" algn="ctr">
              <a:spcBef>
                <a:spcPts val="0"/>
              </a:spcBef>
              <a:spcAft>
                <a:spcPts val="0"/>
              </a:spcAft>
              <a:buNone/>
            </a:pPr>
            <a:r>
              <a:rPr lang="en" sz="1100">
                <a:solidFill>
                  <a:schemeClr val="dk2"/>
                </a:solidFill>
              </a:rPr>
              <a:t>Select a subset of the dataset at every iteration (without replacement). Calculate gradient and update weights. Do until we sweep through the entire dataset</a:t>
            </a:r>
            <a:endParaRPr sz="1100">
              <a:solidFill>
                <a:schemeClr val="dk2"/>
              </a:solidFill>
            </a:endParaRPr>
          </a:p>
          <a:p>
            <a:pPr indent="0" lvl="0" marL="0" rtl="0" algn="ctr">
              <a:spcBef>
                <a:spcPts val="0"/>
              </a:spcBef>
              <a:spcAft>
                <a:spcPts val="0"/>
              </a:spcAft>
              <a:buNone/>
            </a:pPr>
            <a:r>
              <a:rPr b="1" lang="en" sz="1100">
                <a:solidFill>
                  <a:schemeClr val="dk2"/>
                </a:solidFill>
              </a:rPr>
              <a:t>Best of both worlds. Stable gradients, lower compute</a:t>
            </a:r>
            <a:endParaRPr sz="1100">
              <a:solidFill>
                <a:schemeClr val="dk2"/>
              </a:solidFill>
            </a:endParaRPr>
          </a:p>
        </p:txBody>
      </p:sp>
      <p:cxnSp>
        <p:nvCxnSpPr>
          <p:cNvPr id="238" name="Google Shape;238;p28"/>
          <p:cNvCxnSpPr/>
          <p:nvPr/>
        </p:nvCxnSpPr>
        <p:spPr>
          <a:xfrm>
            <a:off x="1928525" y="4499575"/>
            <a:ext cx="4400700" cy="0"/>
          </a:xfrm>
          <a:prstGeom prst="straightConnector1">
            <a:avLst/>
          </a:prstGeom>
          <a:noFill/>
          <a:ln cap="flat" cmpd="sng" w="9525">
            <a:solidFill>
              <a:schemeClr val="dk2"/>
            </a:solidFill>
            <a:prstDash val="solid"/>
            <a:round/>
            <a:headEnd len="med" w="med" type="none"/>
            <a:tailEnd len="med" w="med" type="triangle"/>
          </a:ln>
        </p:spPr>
      </p:cxnSp>
      <p:sp>
        <p:nvSpPr>
          <p:cNvPr id="239" name="Google Shape;239;p28"/>
          <p:cNvSpPr/>
          <p:nvPr/>
        </p:nvSpPr>
        <p:spPr>
          <a:xfrm rot="-5400000">
            <a:off x="2196275" y="4268950"/>
            <a:ext cx="92400" cy="627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28"/>
          <p:cNvSpPr/>
          <p:nvPr/>
        </p:nvSpPr>
        <p:spPr>
          <a:xfrm rot="-5400000">
            <a:off x="2824175" y="4268950"/>
            <a:ext cx="92400" cy="627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28"/>
          <p:cNvSpPr/>
          <p:nvPr/>
        </p:nvSpPr>
        <p:spPr>
          <a:xfrm rot="-5400000">
            <a:off x="3452075" y="4268950"/>
            <a:ext cx="92400" cy="627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28"/>
          <p:cNvSpPr/>
          <p:nvPr/>
        </p:nvSpPr>
        <p:spPr>
          <a:xfrm rot="-5400000">
            <a:off x="4079975" y="4268950"/>
            <a:ext cx="92400" cy="627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28"/>
          <p:cNvSpPr/>
          <p:nvPr/>
        </p:nvSpPr>
        <p:spPr>
          <a:xfrm rot="-5400000">
            <a:off x="4707875" y="4268950"/>
            <a:ext cx="92400" cy="627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28"/>
          <p:cNvSpPr/>
          <p:nvPr/>
        </p:nvSpPr>
        <p:spPr>
          <a:xfrm rot="-5400000">
            <a:off x="5335775" y="4268950"/>
            <a:ext cx="92400" cy="627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28"/>
          <p:cNvSpPr/>
          <p:nvPr/>
        </p:nvSpPr>
        <p:spPr>
          <a:xfrm rot="-5400000">
            <a:off x="5963675" y="4268950"/>
            <a:ext cx="92400" cy="627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28"/>
          <p:cNvSpPr txBox="1"/>
          <p:nvPr/>
        </p:nvSpPr>
        <p:spPr>
          <a:xfrm>
            <a:off x="893075" y="4536700"/>
            <a:ext cx="6390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Sample B=m at each iteration. A sweep through the entire training dataset is called an epoch. Number of iterations in an epoch: n/B, assuming B divides n</a:t>
            </a:r>
            <a:endParaRPr sz="1100">
              <a:solidFill>
                <a:schemeClr val="dk2"/>
              </a:solidFill>
            </a:endParaRPr>
          </a:p>
        </p:txBody>
      </p:sp>
      <p:cxnSp>
        <p:nvCxnSpPr>
          <p:cNvPr id="247" name="Google Shape;247;p28"/>
          <p:cNvCxnSpPr/>
          <p:nvPr/>
        </p:nvCxnSpPr>
        <p:spPr>
          <a:xfrm flipH="1">
            <a:off x="1750450" y="2977625"/>
            <a:ext cx="5100" cy="174600"/>
          </a:xfrm>
          <a:prstGeom prst="straightConnector1">
            <a:avLst/>
          </a:prstGeom>
          <a:noFill/>
          <a:ln cap="flat" cmpd="sng" w="9525">
            <a:solidFill>
              <a:schemeClr val="dk2"/>
            </a:solidFill>
            <a:prstDash val="solid"/>
            <a:round/>
            <a:headEnd len="med" w="med" type="none"/>
            <a:tailEnd len="med" w="med" type="none"/>
          </a:ln>
        </p:spPr>
      </p:cxnSp>
      <p:cxnSp>
        <p:nvCxnSpPr>
          <p:cNvPr id="248" name="Google Shape;248;p28"/>
          <p:cNvCxnSpPr/>
          <p:nvPr/>
        </p:nvCxnSpPr>
        <p:spPr>
          <a:xfrm flipH="1">
            <a:off x="6000850" y="2977625"/>
            <a:ext cx="5100" cy="174600"/>
          </a:xfrm>
          <a:prstGeom prst="straightConnector1">
            <a:avLst/>
          </a:prstGeom>
          <a:noFill/>
          <a:ln cap="flat" cmpd="sng" w="9525">
            <a:solidFill>
              <a:schemeClr val="dk2"/>
            </a:solidFill>
            <a:prstDash val="solid"/>
            <a:round/>
            <a:headEnd len="med" w="med" type="none"/>
            <a:tailEnd len="med" w="med" type="none"/>
          </a:ln>
        </p:spPr>
      </p:cxnSp>
      <p:cxnSp>
        <p:nvCxnSpPr>
          <p:cNvPr id="249" name="Google Shape;249;p28"/>
          <p:cNvCxnSpPr/>
          <p:nvPr/>
        </p:nvCxnSpPr>
        <p:spPr>
          <a:xfrm flipH="1">
            <a:off x="3704700" y="2977625"/>
            <a:ext cx="5100" cy="174600"/>
          </a:xfrm>
          <a:prstGeom prst="straightConnector1">
            <a:avLst/>
          </a:prstGeom>
          <a:noFill/>
          <a:ln cap="flat" cmpd="sng" w="9525">
            <a:solidFill>
              <a:schemeClr val="dk2"/>
            </a:solidFill>
            <a:prstDash val="solid"/>
            <a:round/>
            <a:headEnd len="med" w="med" type="none"/>
            <a:tailEnd len="med" w="med" type="none"/>
          </a:ln>
        </p:spPr>
      </p:cxnSp>
      <p:sp>
        <p:nvSpPr>
          <p:cNvPr id="250" name="Google Shape;250;p28"/>
          <p:cNvSpPr txBox="1"/>
          <p:nvPr/>
        </p:nvSpPr>
        <p:spPr>
          <a:xfrm>
            <a:off x="6356050" y="4299475"/>
            <a:ext cx="3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n</a:t>
            </a:r>
            <a:endParaRPr>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9"/>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Learning rate schedule</a:t>
            </a:r>
            <a:endParaRPr sz="2020"/>
          </a:p>
        </p:txBody>
      </p:sp>
      <p:sp>
        <p:nvSpPr>
          <p:cNvPr id="256" name="Google Shape;256;p29"/>
          <p:cNvSpPr txBox="1"/>
          <p:nvPr/>
        </p:nvSpPr>
        <p:spPr>
          <a:xfrm>
            <a:off x="362025" y="973425"/>
            <a:ext cx="7322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Recall that in optimization, the learning rate controls the size of the step at each iteration. Generally, the loss function becomes shallower near the minimum.. Thus, we should lower the learning rate as optimization proceeds, otherwise the iterates might bounce along the optimization function rather than settling in. </a:t>
            </a:r>
            <a:endParaRPr>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0"/>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Learning rate schedule</a:t>
            </a:r>
            <a:endParaRPr sz="2020"/>
          </a:p>
        </p:txBody>
      </p:sp>
      <p:sp>
        <p:nvSpPr>
          <p:cNvPr id="262" name="Google Shape;262;p30"/>
          <p:cNvSpPr txBox="1"/>
          <p:nvPr/>
        </p:nvSpPr>
        <p:spPr>
          <a:xfrm>
            <a:off x="311700" y="973425"/>
            <a:ext cx="7322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In deep learning libraries, learning rate is generally adjusted after each epoch. The trajectory of the learning rate from its starting value to final value is called learning rate schedule. Some examples are:</a:t>
            </a:r>
            <a:endParaRPr>
              <a:solidFill>
                <a:schemeClr val="dk2"/>
              </a:solidFill>
            </a:endParaRPr>
          </a:p>
        </p:txBody>
      </p:sp>
      <p:pic>
        <p:nvPicPr>
          <p:cNvPr descr="{&quot;code&quot;:&quot;\\begin{lalign*}\n&amp;{\\text{Linear}\\;\\text{Schedule}}\\\\\n&amp;{\\eta=\\eta_{\\text{start}}+\\left(\\eta_{\\text{end}}-\\eta_{\\text{start}}\\right)\\times\\frac{\\text{epoch}}{\\text{num\\_epoch}}}\\\\\n&amp;{\\text{Cosine}\\;\\text{Schedule}}\\\\\n&amp;{\\eta=\\eta_{\\text{start}}+\\left(\\eta_{\\text{end}}-\\eta_{\\text{start}}\\right)\\times\\left(1+\\cos\\left(\\frac{\\pi\\times\\text{epoch}}{\\text{num\\_epoch}}\\right)\\right)}\\\\\n&amp;{}\t\n\\end{lalign*}&quot;,&quot;aid&quot;:null,&quot;type&quot;:&quot;lalign*&quot;,&quot;id&quot;:&quot;6&quot;,&quot;backgroundColorModified&quot;:false,&quot;font&quot;:{&quot;color&quot;:&quot;#000000&quot;,&quot;family&quot;:&quot;Arial&quot;,&quot;size&quot;:12},&quot;backgroundColor&quot;:&quot;#FFFFFF&quot;,&quot;ts&quot;:1756482414712,&quot;cs&quot;:&quot;z+rOhK+crjPn+UA+qPdICg==&quot;,&quot;size&quot;:{&quot;width&quot;:438.6666666666667,&quot;height&quot;:141}}" id="263" name="Google Shape;263;p30"/>
          <p:cNvPicPr preferRelativeResize="0"/>
          <p:nvPr/>
        </p:nvPicPr>
        <p:blipFill>
          <a:blip r:embed="rId3">
            <a:alphaModFix/>
          </a:blip>
          <a:stretch>
            <a:fillRect/>
          </a:stretch>
        </p:blipFill>
        <p:spPr>
          <a:xfrm>
            <a:off x="393700" y="1894500"/>
            <a:ext cx="4178300" cy="1343025"/>
          </a:xfrm>
          <a:prstGeom prst="rect">
            <a:avLst/>
          </a:prstGeom>
          <a:noFill/>
          <a:ln>
            <a:noFill/>
          </a:ln>
        </p:spPr>
      </p:pic>
      <p:sp>
        <p:nvSpPr>
          <p:cNvPr id="264" name="Google Shape;264;p30"/>
          <p:cNvSpPr txBox="1"/>
          <p:nvPr/>
        </p:nvSpPr>
        <p:spPr>
          <a:xfrm>
            <a:off x="276050" y="3327300"/>
            <a:ext cx="4246800" cy="181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chemeClr val="dk2"/>
                </a:solidFill>
              </a:rPr>
              <a:t>There are several more eg., exponential decay</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b="1" lang="en" sz="1300">
                <a:solidFill>
                  <a:schemeClr val="dk2"/>
                </a:solidFill>
              </a:rPr>
              <a:t>Learning Rate Warmup:</a:t>
            </a:r>
            <a:r>
              <a:rPr lang="en" sz="1300">
                <a:solidFill>
                  <a:schemeClr val="dk2"/>
                </a:solidFill>
              </a:rPr>
              <a:t> For large NNs, learning rate is warmed up from a small starting value to base value, and then decayed following a schedule</a:t>
            </a:r>
            <a:endParaRPr sz="1300">
              <a:solidFill>
                <a:schemeClr val="dk2"/>
              </a:solidFill>
            </a:endParaRPr>
          </a:p>
          <a:p>
            <a:pPr indent="0" lvl="0" marL="0" rtl="0" algn="l">
              <a:spcBef>
                <a:spcPts val="0"/>
              </a:spcBef>
              <a:spcAft>
                <a:spcPts val="0"/>
              </a:spcAft>
              <a:buNone/>
            </a:pPr>
            <a:r>
              <a:t/>
            </a:r>
            <a:endParaRPr sz="1300">
              <a:solidFill>
                <a:schemeClr val="dk2"/>
              </a:solidFill>
            </a:endParaRPr>
          </a:p>
          <a:p>
            <a:pPr indent="0" lvl="0" marL="0" rtl="0" algn="l">
              <a:spcBef>
                <a:spcPts val="0"/>
              </a:spcBef>
              <a:spcAft>
                <a:spcPts val="0"/>
              </a:spcAft>
              <a:buNone/>
            </a:pPr>
            <a:r>
              <a:rPr lang="en" sz="1300">
                <a:solidFill>
                  <a:schemeClr val="dk2"/>
                </a:solidFill>
              </a:rPr>
              <a:t>In large networks, groups of layers can have their </a:t>
            </a:r>
            <a:r>
              <a:rPr lang="en" sz="1300" u="sng">
                <a:solidFill>
                  <a:schemeClr val="hlink"/>
                </a:solidFill>
                <a:hlinkClick r:id="rId4"/>
              </a:rPr>
              <a:t>own learning rates</a:t>
            </a:r>
            <a:endParaRPr sz="1300">
              <a:solidFill>
                <a:schemeClr val="dk2"/>
              </a:solidFill>
            </a:endParaRPr>
          </a:p>
        </p:txBody>
      </p:sp>
      <p:sp>
        <p:nvSpPr>
          <p:cNvPr id="265" name="Google Shape;265;p30"/>
          <p:cNvSpPr txBox="1"/>
          <p:nvPr/>
        </p:nvSpPr>
        <p:spPr>
          <a:xfrm>
            <a:off x="4897200" y="4820400"/>
            <a:ext cx="4246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Cosine schedule </a:t>
            </a:r>
            <a:r>
              <a:rPr lang="en" sz="900" u="sng">
                <a:solidFill>
                  <a:schemeClr val="hlink"/>
                </a:solidFill>
                <a:hlinkClick r:id="rId5"/>
              </a:rPr>
              <a:t>paper</a:t>
            </a:r>
            <a:endParaRPr sz="900">
              <a:solidFill>
                <a:schemeClr val="dk2"/>
              </a:solidFill>
            </a:endParaRPr>
          </a:p>
        </p:txBody>
      </p:sp>
      <p:pic>
        <p:nvPicPr>
          <p:cNvPr id="266" name="Google Shape;266;p30"/>
          <p:cNvPicPr preferRelativeResize="0"/>
          <p:nvPr/>
        </p:nvPicPr>
        <p:blipFill>
          <a:blip r:embed="rId6">
            <a:alphaModFix/>
          </a:blip>
          <a:stretch>
            <a:fillRect/>
          </a:stretch>
        </p:blipFill>
        <p:spPr>
          <a:xfrm>
            <a:off x="4724400" y="1614200"/>
            <a:ext cx="4071725" cy="3053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1"/>
          <p:cNvSpPr txBox="1"/>
          <p:nvPr>
            <p:ph type="title"/>
          </p:nvPr>
        </p:nvSpPr>
        <p:spPr>
          <a:xfrm>
            <a:off x="262700" y="312750"/>
            <a:ext cx="5248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Regularization</a:t>
            </a:r>
            <a:endParaRPr/>
          </a:p>
        </p:txBody>
      </p:sp>
      <p:sp>
        <p:nvSpPr>
          <p:cNvPr id="272" name="Google Shape;272;p31"/>
          <p:cNvSpPr txBox="1"/>
          <p:nvPr/>
        </p:nvSpPr>
        <p:spPr>
          <a:xfrm>
            <a:off x="262700" y="950350"/>
            <a:ext cx="76860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Regularization means imposing constraints on the optimization process to meet certain desirable properties. Eg.,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It is a good idea to keep the weights of a Neural Network small (accomplished by weight decay)</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914400" rtl="0" algn="l">
              <a:spcBef>
                <a:spcPts val="0"/>
              </a:spcBef>
              <a:spcAft>
                <a:spcPts val="0"/>
              </a:spcAft>
              <a:buClr>
                <a:schemeClr val="dk1"/>
              </a:buClr>
              <a:buSzPts val="1100"/>
              <a:buChar char="-"/>
            </a:pPr>
            <a:r>
              <a:rPr lang="en" sz="1100">
                <a:solidFill>
                  <a:schemeClr val="dk1"/>
                </a:solidFill>
              </a:rPr>
              <a:t>Large weights make the model more </a:t>
            </a:r>
            <a:r>
              <a:rPr b="1" lang="en" sz="1100">
                <a:solidFill>
                  <a:schemeClr val="dk1"/>
                </a:solidFill>
              </a:rPr>
              <a:t>sensitive</a:t>
            </a:r>
            <a:r>
              <a:rPr lang="en" sz="1100">
                <a:solidFill>
                  <a:schemeClr val="dk1"/>
                </a:solidFill>
              </a:rPr>
              <a:t> to input noise → risk of overfitting.</a:t>
            </a:r>
            <a:br>
              <a:rPr lang="en" sz="1100">
                <a:solidFill>
                  <a:schemeClr val="dk1"/>
                </a:solidFill>
              </a:rPr>
            </a:br>
            <a:endParaRPr sz="1100">
              <a:solidFill>
                <a:schemeClr val="dk1"/>
              </a:solidFill>
            </a:endParaRPr>
          </a:p>
          <a:p>
            <a:pPr indent="-298450" lvl="0" marL="914400" rtl="0" algn="l">
              <a:spcBef>
                <a:spcPts val="0"/>
              </a:spcBef>
              <a:spcAft>
                <a:spcPts val="0"/>
              </a:spcAft>
              <a:buClr>
                <a:schemeClr val="dk1"/>
              </a:buClr>
              <a:buSzPts val="1100"/>
              <a:buChar char="-"/>
            </a:pPr>
            <a:r>
              <a:rPr lang="en" sz="1100">
                <a:solidFill>
                  <a:schemeClr val="dk1"/>
                </a:solidFill>
              </a:rPr>
              <a:t>Small weights encourage </a:t>
            </a:r>
            <a:r>
              <a:rPr b="1" lang="en" sz="1100">
                <a:solidFill>
                  <a:schemeClr val="dk1"/>
                </a:solidFill>
              </a:rPr>
              <a:t>simpler functions</a:t>
            </a:r>
            <a:r>
              <a:rPr lang="en" sz="1100">
                <a:solidFill>
                  <a:schemeClr val="dk1"/>
                </a:solidFill>
              </a:rPr>
              <a:t>, which often generalize better.</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The network shouldn’t overly rely on a small number of neurons (accomplished by dropout)</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2"/>
          <p:cNvSpPr txBox="1"/>
          <p:nvPr>
            <p:ph type="title"/>
          </p:nvPr>
        </p:nvSpPr>
        <p:spPr>
          <a:xfrm>
            <a:off x="257800" y="146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Regularization: Weight Decay</a:t>
            </a:r>
            <a:endParaRPr/>
          </a:p>
        </p:txBody>
      </p:sp>
      <p:pic>
        <p:nvPicPr>
          <p:cNvPr descr="{&quot;type&quot;:&quot;lalign*&quot;,&quot;backgroundColor&quot;:&quot;#FFFFFF&quot;,&quot;backgroundColorModified&quot;:false,&quot;aid&quot;:null,&quot;code&quot;:&quot;\\begin{lalign*}\n&amp;{\\text{Recall}\\;\\text{the}\\;\\text{weight}\\;\\text{update}\\;\\text{equation.}\\;}\\\\\n&amp;{\\theta_{t+1}=\\theta_{t}-\\eta\\frac{\\partial e\\left(\\theta\\right)}{\\partial \\theta_{t}}\\,}\\\\\n&amp;{\\text{Here}\\;\\text{I'm}\\;\\text{using}\\;\\theta\\,\\text{instead}\\;\\text{of}\\;w\\,\\text{for}\\;\\text{parameters}.\\,e\\left(\\theta\\right)\\,\\text{is}\\;\\text{the}\\;\\text{loss}\\;\\text{function}\\;\\text{and}\\;\\eta\\;\\text{is}\\;\\text{the}\\;\\text{learning}\\;\\text{rate}}\\\\\n&amp;{\\text{Let's}\\;\\text{modify}\\;\\text{the}\\;\\text{Loss}\\;\\text{function}\\;\\text{by}\\;\\text{adding}\\;\\text{a}\\;\\text{term}\\;\\text{proportional}\\;\\text{to}\\;\\text{the}\\;\\text{square}\\;\\text{of}\\;\\text{the}\\;\\text{weights}}\\\\\n&amp;{e_{reg}\\left(\\theta\\right)=e\\left(\\theta\\right)+\\lambda\\sum_{j}^{}\\theta_{j}^{2}\\,\\,\\text{Here,}\\;\\lambda\\,\\text{is}\\;\\text{the}\\;\\text{regularization}\\;\\text{parameter}}\\\\\n&amp;{\\text{Adding}\\;\\text{regularization}\\;\\text{to}\\;\\text{weight}\\;\\text{update,}}\\\\\n&amp;{\\theta_{t+1}=\\theta_{t}-\\eta\\frac{\\partial e_{reg}\\left(\\theta\\right)}{\\partial \\theta_{t}}\\,}\\\\\n&amp;{\\theta_{t+1}=\\theta_{t}-\\eta\\left(\\frac{\\partial e\\left(\\theta\\right)}{\\partial \\theta_{t}}+2\\lambda\\sum_{j}^{}\\theta_{j}\\right)}\\\\\n&amp;{\\text{Notice}\\;\\text{that}\\;\\text{the}\\;\\text{regularization}\\;\\text{parameter}\\;\\text{ends}\\;\\text{up}\\;\\text{being}\\;\\text{multiplied}\\;\\text{by}\\;\\text{the}\\;\\text{learnin}g\\,\\text{rate}}\\\\\n&amp;{\\text{So}\\;\\text{if}\\;\\text{we}\\;\\text{use}\\;\\text{a}\\;\\text{learning}\\;\\text{rate}\\;\\text{schedule,}\\;\\text{the}\\;\\text{effective}\\;\\text{regularization}\\;\\text{strength}\\;\\text{will}\\;\\text{end}\\;\\text{up}\\;\\text{}}\\\\\n&amp;{\\text{decaying}\\;\\text{as}\\;\\text{well}}\\\\\n&amp;{}\\\\\n&amp;{}\\\\\n&amp;{}\t\n\\end{lalign*}&quot;,&quot;font&quot;:{&quot;color&quot;:&quot;#000000&quot;,&quot;size&quot;:9.5,&quot;family&quot;:&quot;Arial&quot;},&quot;id&quot;:&quot;6&quot;,&quot;ts&quot;:1757164002923,&quot;cs&quot;:&quot;aCfwLiqPJpzwYBLfwXGAnA==&quot;,&quot;size&quot;:{&quot;width&quot;:604.5000000000001,&quot;height&quot;:301}}" id="278" name="Google Shape;278;p32"/>
          <p:cNvPicPr preferRelativeResize="0"/>
          <p:nvPr/>
        </p:nvPicPr>
        <p:blipFill>
          <a:blip r:embed="rId3">
            <a:alphaModFix/>
          </a:blip>
          <a:stretch>
            <a:fillRect/>
          </a:stretch>
        </p:blipFill>
        <p:spPr>
          <a:xfrm>
            <a:off x="379350" y="665502"/>
            <a:ext cx="5757863" cy="2867025"/>
          </a:xfrm>
          <a:prstGeom prst="rect">
            <a:avLst/>
          </a:prstGeom>
          <a:noFill/>
          <a:ln>
            <a:noFill/>
          </a:ln>
        </p:spPr>
      </p:pic>
      <p:sp>
        <p:nvSpPr>
          <p:cNvPr id="279" name="Google Shape;279;p32"/>
          <p:cNvSpPr txBox="1"/>
          <p:nvPr/>
        </p:nvSpPr>
        <p:spPr>
          <a:xfrm>
            <a:off x="308250" y="3666800"/>
            <a:ext cx="7447500" cy="133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Generally, regularization is not applied to bias parameters. This is because bias often represents a "baseline prediction" (e.g., class prior probability). Regularizing it could distort this baseline estimate.</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Note: lambda is called “weight decay” in Pytorch.. </a:t>
            </a:r>
            <a:endParaRPr sz="1100">
              <a:solidFill>
                <a:schemeClr val="dk1"/>
              </a:solidFill>
            </a:endParaRPr>
          </a:p>
          <a:p>
            <a:pPr indent="0" lvl="0" marL="0" rtl="0" algn="l">
              <a:lnSpc>
                <a:spcPct val="115000"/>
              </a:lnSpc>
              <a:spcBef>
                <a:spcPts val="1200"/>
              </a:spcBef>
              <a:spcAft>
                <a:spcPts val="1200"/>
              </a:spcAft>
              <a:buNone/>
            </a:pPr>
            <a:r>
              <a:t/>
            </a:r>
            <a:endParaRPr sz="9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3"/>
          <p:cNvSpPr txBox="1"/>
          <p:nvPr>
            <p:ph type="title"/>
          </p:nvPr>
        </p:nvSpPr>
        <p:spPr>
          <a:xfrm>
            <a:off x="262700" y="312750"/>
            <a:ext cx="5248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Regularization: Dropout</a:t>
            </a:r>
            <a:endParaRPr/>
          </a:p>
        </p:txBody>
      </p:sp>
      <p:sp>
        <p:nvSpPr>
          <p:cNvPr id="285" name="Google Shape;285;p33"/>
          <p:cNvSpPr txBox="1"/>
          <p:nvPr/>
        </p:nvSpPr>
        <p:spPr>
          <a:xfrm>
            <a:off x="262700" y="950350"/>
            <a:ext cx="7686000" cy="264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Another regularization method is </a:t>
            </a:r>
            <a:r>
              <a:rPr lang="en" sz="1100" u="sng">
                <a:solidFill>
                  <a:schemeClr val="hlink"/>
                </a:solidFill>
                <a:hlinkClick r:id="rId3"/>
              </a:rPr>
              <a:t>Dropout</a:t>
            </a:r>
            <a:r>
              <a:rPr lang="en" sz="1100">
                <a:solidFill>
                  <a:schemeClr val="dk1"/>
                </a:solidFill>
              </a:rPr>
              <a:t>, where during training, we randomly “drop” (set to zero) a fraction of neurons in a layer. Setting to zero means setting the corresponding activations to 0. The subset of neurons set to 0 is called “dropout mask”. This mask changes every training iteration. </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The intuition is that Neurons can’t rely on specific other neurons being present and thus learn more </a:t>
            </a:r>
            <a:r>
              <a:rPr b="1" lang="en" sz="1100">
                <a:solidFill>
                  <a:schemeClr val="dk1"/>
                </a:solidFill>
              </a:rPr>
              <a:t>independent, robust features</a:t>
            </a:r>
            <a:r>
              <a:rPr lang="en"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Dropout used to be quite popular in older networks to prevent overfitting, but less common in latest Transformer-based networks. This is because the size of training datasets is huge, and each training sample is only seen a small number of times, making overfitting is less of a problem. See </a:t>
            </a:r>
            <a:r>
              <a:rPr lang="en" sz="1100" u="sng">
                <a:solidFill>
                  <a:schemeClr val="hlink"/>
                </a:solidFill>
                <a:hlinkClick r:id="rId4"/>
              </a:rPr>
              <a:t>this</a:t>
            </a:r>
            <a:r>
              <a:rPr lang="en" sz="1100">
                <a:solidFill>
                  <a:schemeClr val="dk1"/>
                </a:solidFill>
              </a:rPr>
              <a:t> article (search for dropout)</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4"/>
          <p:cNvSpPr txBox="1"/>
          <p:nvPr>
            <p:ph type="title"/>
          </p:nvPr>
        </p:nvSpPr>
        <p:spPr>
          <a:xfrm>
            <a:off x="262700" y="312750"/>
            <a:ext cx="5248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Hyperparameters</a:t>
            </a:r>
            <a:endParaRPr/>
          </a:p>
        </p:txBody>
      </p:sp>
      <p:sp>
        <p:nvSpPr>
          <p:cNvPr id="291" name="Google Shape;291;p34"/>
          <p:cNvSpPr txBox="1"/>
          <p:nvPr/>
        </p:nvSpPr>
        <p:spPr>
          <a:xfrm>
            <a:off x="308025" y="1531725"/>
            <a:ext cx="7686000" cy="159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The initial value of these parameters is chosen by guesswork and set at the beginning of a </a:t>
            </a:r>
            <a:r>
              <a:rPr lang="en" sz="1100">
                <a:solidFill>
                  <a:schemeClr val="dk1"/>
                </a:solidFill>
              </a:rPr>
              <a:t>training</a:t>
            </a:r>
            <a:r>
              <a:rPr lang="en" sz="1100">
                <a:solidFill>
                  <a:schemeClr val="dk1"/>
                </a:solidFill>
              </a:rPr>
              <a:t> run. </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A systematic exploration of the best value of these parameters for a given model is called </a:t>
            </a:r>
            <a:r>
              <a:rPr i="1" lang="en" sz="1100">
                <a:solidFill>
                  <a:schemeClr val="dk1"/>
                </a:solidFill>
              </a:rPr>
              <a:t>Hyperparameter Tuning</a:t>
            </a:r>
            <a:r>
              <a:rPr lang="en" sz="1100">
                <a:solidFill>
                  <a:schemeClr val="dk1"/>
                </a:solidFill>
              </a:rPr>
              <a:t>. More on that in a subsequent lecture</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p:txBody>
      </p:sp>
      <p:pic>
        <p:nvPicPr>
          <p:cNvPr descr="{&quot;font&quot;:{&quot;color&quot;:&quot;#000000&quot;,&quot;size&quot;:11,&quot;family&quot;:&quot;Arial&quot;},&quot;code&quot;:&quot;\\begin{lalign*}\n&amp;{\\text{Parameters}\\;\\text{such}\\;\\text{as}\\;\\eta\\,\\text{(learning}\\;\\text{rate),}\\;\\lambda\\,\\text{(regularization}\\;\\text{strength)},\\,\\text{batch}\\;\\text{size},}\\\\\n&amp;{\\text{size}\\;\\text{of}\\;\\text{hidden}\\;\\text{layer,}\\;\\text{number}\\;\\text{of}\\;\\text{layers},\\,\\text{number}\\;\\text{of}\\;\\text{epochs}\\;\\text{etc.,}\\;\\text{are}\\;\\text{called}\\;\\text{\&quot;hyper}\\text{parameters\&quot;}}\t\n\\end{lalign*}&quot;,&quot;backgroundColorModified&quot;:false,&quot;backgroundColor&quot;:&quot;#FFFFFF&quot;,&quot;aid&quot;:null,&quot;id&quot;:&quot;7&quot;,&quot;type&quot;:&quot;lalign*&quot;,&quot;ts&quot;:1757169393178,&quot;cs&quot;:&quot;94kpz/ujo/vIOiRSOF1gxQ==&quot;,&quot;size&quot;:{&quot;width&quot;:675,&quot;height&quot;:39}}" id="292" name="Google Shape;292;p34"/>
          <p:cNvPicPr preferRelativeResize="0"/>
          <p:nvPr/>
        </p:nvPicPr>
        <p:blipFill>
          <a:blip r:embed="rId3">
            <a:alphaModFix/>
          </a:blip>
          <a:stretch>
            <a:fillRect/>
          </a:stretch>
        </p:blipFill>
        <p:spPr>
          <a:xfrm>
            <a:off x="370342" y="1022850"/>
            <a:ext cx="6429375" cy="3714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5"/>
          <p:cNvSpPr txBox="1"/>
          <p:nvPr>
            <p:ph type="title"/>
          </p:nvPr>
        </p:nvSpPr>
        <p:spPr>
          <a:xfrm>
            <a:off x="228425" y="405825"/>
            <a:ext cx="4719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Homework</a:t>
            </a:r>
            <a:endParaRPr sz="2020"/>
          </a:p>
        </p:txBody>
      </p:sp>
      <p:pic>
        <p:nvPicPr>
          <p:cNvPr descr="{&quot;type&quot;:&quot;lalign*&quot;,&quot;backgroundColorModified&quot;:false,&quot;aid&quot;:null,&quot;backgroundColor&quot;:&quot;#FFFFFF&quot;,&quot;font&quot;:{&quot;color&quot;:&quot;#000000&quot;,&quot;size&quot;:12,&quot;family&quot;:&quot;Arial&quot;},&quot;code&quot;:&quot;\\begin{lalign*}\n&amp;{Q1:}\\\\\n&amp;{\\text{if}\\;y=\\log_{}\\left(x\\right)}\\\\\n&amp;{\\frac{dy}{dx}=1/x\\,}\\\\\n&amp;{\\text{Derive}\\;\\text{this}\\;\\text{result}\\;\\text{using}\\;\\text{first}\\;\\text{principles}\\;\\text{(definition}\\;\\text{of}\\;\\text{a}\\;\\text{derivative}\\;\\text{in}\\;\\text{Lecture}\\;\\text{1)}}\\\\\n&amp;{}\\\\\n&amp;{\\text{Q2:}\\;\\text{Let}\\;x\\,\\text{be}\\;\\text{a}\\;\\text{1}\\times3\\,\\text{vector}\\;\\left[x_{1,\\,}x_{2},\\,x_{3}\\right]}\\\\\n&amp;{y=\\frac{1}{3}\\left({\\sqrt[]{x_{1}^{2}+x_{2}^{2}+x_{3}^{2}}}\\right)}\\\\\n&amp;{\\text{Calculate}\\;\\text{the}\\;\\text{partial}\\;\\text{derivative}\\;\\text{of}\\;y\\,\\text{against}\\;x\\,\\text{and}\\;\\text{arrange}\\;\\text{it}\\;\\text{in}\\;\\text{numerator}\\;\\text{and}\\;\\text{denominator}\\;\\text{layouts}\\;\\text{(from}\\;\\text{Lec}\\;\\text{1)}}\\\\\n&amp;{}\\\\\n&amp;{}\t\n\\end{lalign*}&quot;,&quot;id&quot;:&quot;2&quot;,&quot;ts&quot;:1755028405684,&quot;cs&quot;:&quot;7bypWCyFGt6RgB61U1LTSQ==&quot;,&quot;size&quot;:{&quot;width&quot;:910,&quot;height&quot;:237}}" id="298" name="Google Shape;298;p35"/>
          <p:cNvPicPr preferRelativeResize="0"/>
          <p:nvPr/>
        </p:nvPicPr>
        <p:blipFill>
          <a:blip r:embed="rId3">
            <a:alphaModFix/>
          </a:blip>
          <a:stretch>
            <a:fillRect/>
          </a:stretch>
        </p:blipFill>
        <p:spPr>
          <a:xfrm>
            <a:off x="323206" y="945425"/>
            <a:ext cx="8667750" cy="2257425"/>
          </a:xfrm>
          <a:prstGeom prst="rect">
            <a:avLst/>
          </a:prstGeom>
          <a:noFill/>
          <a:ln>
            <a:noFill/>
          </a:ln>
        </p:spPr>
      </p:pic>
      <p:sp>
        <p:nvSpPr>
          <p:cNvPr id="299" name="Google Shape;299;p35"/>
          <p:cNvSpPr txBox="1"/>
          <p:nvPr/>
        </p:nvSpPr>
        <p:spPr>
          <a:xfrm>
            <a:off x="311700" y="3345725"/>
            <a:ext cx="71616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Q3: T</a:t>
            </a:r>
            <a:r>
              <a:rPr lang="en" sz="1600" u="sng">
                <a:solidFill>
                  <a:schemeClr val="hlink"/>
                </a:solidFill>
                <a:hlinkClick r:id="rId4"/>
              </a:rPr>
              <a:t>his</a:t>
            </a:r>
            <a:r>
              <a:rPr lang="en" sz="1600">
                <a:solidFill>
                  <a:schemeClr val="dk2"/>
                </a:solidFill>
              </a:rPr>
              <a:t> code implements the math in slides 3-8. Run it in your favorite Python IDE (Pycharm recommended) and make sure you understand what’s going on. Do the exercise at the bottom of the code</a:t>
            </a:r>
            <a:endParaRPr sz="16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6"/>
          <p:cNvSpPr txBox="1"/>
          <p:nvPr>
            <p:ph type="title"/>
          </p:nvPr>
        </p:nvSpPr>
        <p:spPr>
          <a:xfrm>
            <a:off x="228425" y="405825"/>
            <a:ext cx="4719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Homework</a:t>
            </a:r>
            <a:endParaRPr sz="2020"/>
          </a:p>
        </p:txBody>
      </p:sp>
      <p:sp>
        <p:nvSpPr>
          <p:cNvPr id="305" name="Google Shape;305;p36"/>
          <p:cNvSpPr txBox="1"/>
          <p:nvPr/>
        </p:nvSpPr>
        <p:spPr>
          <a:xfrm>
            <a:off x="302800" y="978525"/>
            <a:ext cx="8430000" cy="378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Q4: </a:t>
            </a:r>
            <a:r>
              <a:rPr lang="en" sz="1300">
                <a:solidFill>
                  <a:schemeClr val="dk2"/>
                </a:solidFill>
              </a:rPr>
              <a:t>Run simple_nn1.py with default parameters. Record the final value of the loss function. Also plot the loss function history to see how it changes</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Change the optimizer from ‘adam’ to ‘simple’. Run the code. Surprised? </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Now change the scale for the weight matrix initialization (in SimpleNN initialization) like below, and run the code again.. </a:t>
            </a:r>
            <a:endParaRPr sz="1300">
              <a:solidFill>
                <a:schemeClr val="dk2"/>
              </a:solidFill>
            </a:endParaRPr>
          </a:p>
          <a:p>
            <a:pPr indent="0" lvl="0" marL="457200" rtl="0" algn="l">
              <a:spcBef>
                <a:spcPts val="0"/>
              </a:spcBef>
              <a:spcAft>
                <a:spcPts val="0"/>
              </a:spcAft>
              <a:buNone/>
            </a:pPr>
            <a:r>
              <a:t/>
            </a:r>
            <a:endParaRPr sz="1300">
              <a:solidFill>
                <a:schemeClr val="dk2"/>
              </a:solidFill>
            </a:endParaRPr>
          </a:p>
          <a:p>
            <a:pPr indent="0" lvl="0" marL="457200" rtl="0" algn="l">
              <a:spcBef>
                <a:spcPts val="0"/>
              </a:spcBef>
              <a:spcAft>
                <a:spcPts val="0"/>
              </a:spcAft>
              <a:buNone/>
            </a:pPr>
            <a:r>
              <a:t/>
            </a:r>
            <a:endParaRPr sz="1300">
              <a:solidFill>
                <a:schemeClr val="dk2"/>
              </a:solidFill>
            </a:endParaRPr>
          </a:p>
          <a:p>
            <a:pPr indent="0" lvl="0" marL="457200" rtl="0" algn="l">
              <a:spcBef>
                <a:spcPts val="0"/>
              </a:spcBef>
              <a:spcAft>
                <a:spcPts val="0"/>
              </a:spcAft>
              <a:buNone/>
            </a:pPr>
            <a:r>
              <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Change the learning rate scheduler from linear to </a:t>
            </a:r>
            <a:r>
              <a:rPr lang="en" sz="1300">
                <a:solidFill>
                  <a:schemeClr val="dk2"/>
                </a:solidFill>
              </a:rPr>
              <a:t>constant and plot the loss function. What do you observe? </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Vary the size of hidden layer: [20, 50, 100, 150], switch the optimizer to Adam, and learning scheduler to linear</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You are effectively doing manual hyperparameter tuning!</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Record the loss progression for each of the above cases and compare the loss progression curves. You’ll need to write the loss_func_history array to disk and write a separate program to compare the loss function across runs..</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Isn’t a pain to compare the output of these experiments? Wouldn’t it be nice if we could somehow record the output of each experiment and compare across runs?</a:t>
            </a:r>
            <a:endParaRPr sz="1300">
              <a:solidFill>
                <a:schemeClr val="dk2"/>
              </a:solidFill>
            </a:endParaRPr>
          </a:p>
        </p:txBody>
      </p:sp>
      <p:pic>
        <p:nvPicPr>
          <p:cNvPr id="306" name="Google Shape;306;p36"/>
          <p:cNvPicPr preferRelativeResize="0"/>
          <p:nvPr/>
        </p:nvPicPr>
        <p:blipFill>
          <a:blip r:embed="rId3">
            <a:alphaModFix/>
          </a:blip>
          <a:stretch>
            <a:fillRect/>
          </a:stretch>
        </p:blipFill>
        <p:spPr>
          <a:xfrm>
            <a:off x="855650" y="2124075"/>
            <a:ext cx="5705475" cy="447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7"/>
          <p:cNvSpPr txBox="1"/>
          <p:nvPr>
            <p:ph type="title"/>
          </p:nvPr>
        </p:nvSpPr>
        <p:spPr>
          <a:xfrm>
            <a:off x="311700" y="445025"/>
            <a:ext cx="4719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What’s next..</a:t>
            </a:r>
            <a:endParaRPr sz="2020"/>
          </a:p>
        </p:txBody>
      </p:sp>
      <p:sp>
        <p:nvSpPr>
          <p:cNvPr id="312" name="Google Shape;312;p37"/>
          <p:cNvSpPr txBox="1"/>
          <p:nvPr/>
        </p:nvSpPr>
        <p:spPr>
          <a:xfrm>
            <a:off x="362025" y="973425"/>
            <a:ext cx="529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Can I use other non-linearities? </a:t>
            </a:r>
            <a:endParaRPr>
              <a:solidFill>
                <a:schemeClr val="dk2"/>
              </a:solidFill>
            </a:endParaRPr>
          </a:p>
          <a:p>
            <a:pPr indent="0" lvl="0" marL="0" rtl="0" algn="l">
              <a:spcBef>
                <a:spcPts val="0"/>
              </a:spcBef>
              <a:spcAft>
                <a:spcPts val="0"/>
              </a:spcAft>
              <a:buNone/>
            </a:pPr>
            <a:r>
              <a:rPr lang="en">
                <a:solidFill>
                  <a:schemeClr val="dk2"/>
                </a:solidFill>
              </a:rPr>
              <a:t>How do I initialize weights?</a:t>
            </a:r>
            <a:endParaRPr>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