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embeddedFontLst>
    <p:embeddedFont>
      <p:font typeface="Roboto Mon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4180863-5E69-4BFA-B9B1-900DD5632A79}">
  <a:tblStyle styleId="{44180863-5E69-4BFA-B9B1-900DD5632A7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obotoMono-regular.fnt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RobotoMono-italic.fntdata"/><Relationship Id="rId14" Type="http://schemas.openxmlformats.org/officeDocument/2006/relationships/slide" Target="slides/slide8.xml"/><Relationship Id="rId36" Type="http://schemas.openxmlformats.org/officeDocument/2006/relationships/font" Target="fonts/RobotoMono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RobotoMono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454173b1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454173b1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3ecbe50c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3ecbe50c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6d42f467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6d42f467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6d42f467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6d42f467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251712e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251712e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251712e0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251712e0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66532a12a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66532a12a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9411be2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9411be2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3ce1a276c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3ce1a276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941d78d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7941d78d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941d78de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7941d78de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941d78de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941d78de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941d78de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941d78de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941d78def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7941d78de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943370a2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7943370a2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7943370a2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7943370a2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57585164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657585164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e28a739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7e28a739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e28a739c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7e28a739c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7ecaeb039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7ecaeb039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7e28a739c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7e28a739c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657585164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657585164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48caa849e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48caa849e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655b9b08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655b9b08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655b9b084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655b9b084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655b9b084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655b9b084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7d6f1c1f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7d6f1c1f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65758516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65758516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Relationship Id="rId4" Type="http://schemas.openxmlformats.org/officeDocument/2006/relationships/image" Target="../media/image3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4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Deep Learning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Other non-linearities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Measuring performance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Optimizers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Memory consumed in forward pass and backward pass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Activation checkpointing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Gradient accumulation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Weight initialization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Batch/Layer normalization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Skip connections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Non-Linearities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Lots of other non-linearities have been explored in literature, we’ll focus on some recent ones:</a:t>
            </a:r>
            <a:endParaRPr sz="14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-"/>
            </a:pPr>
            <a:r>
              <a:rPr b="1" lang="en" sz="1200"/>
              <a:t>Leaky ReLU</a:t>
            </a:r>
            <a:r>
              <a:rPr lang="en" sz="1200"/>
              <a:t>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 sz="1200"/>
              <a:t>Tanh </a:t>
            </a:r>
            <a:endParaRPr b="1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 sz="1200"/>
              <a:t>GELU</a:t>
            </a:r>
            <a:r>
              <a:rPr lang="en" sz="1200"/>
              <a:t> (Gaussian Error Linear Unit)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 sz="1200"/>
              <a:t>Swish</a:t>
            </a:r>
            <a:endParaRPr b="1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 sz="1200"/>
              <a:t>SwiGLU</a:t>
            </a:r>
            <a:r>
              <a:rPr lang="en" sz="1200"/>
              <a:t> (GELU + Swish: Latest in Transformers. Will discuss later)</a:t>
            </a:r>
            <a:endParaRPr sz="1200"/>
          </a:p>
        </p:txBody>
      </p:sp>
      <p:pic>
        <p:nvPicPr>
          <p:cNvPr descr="{&quot;backgroundColor&quot;:&quot;#FFFFFF&quot;,&quot;aid&quot;:null,&quot;font&quot;:{&quot;family&quot;:&quot;Arial&quot;,&quot;size&quot;:11.5,&quot;color&quot;:&quot;#000000&quot;},&quot;id&quot;:&quot;1&quot;,&quot;code&quot;:&quot;\\begin{lalign*}\n&amp;{\\text{Leaky}\\;\\text{ReLU:}\\;x\\to\\max\\left(x,\\,\\alpha x\\right)\\,\\alpha\\,\\sim\\,0.05}\\\\\n&amp;{\\text{Tanh:}\\;x\\to \\tanh\\left(x\\right)}\\\\\n&amp;{\\text{GELU:}\\;x\\to x\\cdot\\Phi\\left(x\\right),\\,\\Phi\\left(x\\right)=\\frac{1}{2}​(1+erf(\\frac{x}{{\\sqrt[]{2}}}​)).\\,\\text{Generally}\\;\\text{an}\\;\\text{approximation}\\;\\text{is}\\;\\text{used}}\\\\\n&amp;{\\text{Swish:}\\;x\\to x\\cdot\\sigma\\left(x\\right),\\,\\sigma\\left(x\\right)=\\frac{1}{1+\\exp\\left(-x\\right)}}\\\\\n&amp;{\\text{}}\t\n\\end{lalign*}&quot;,&quot;backgroundColorModified&quot;:false,&quot;type&quot;:&quot;lalign*&quot;,&quot;ts&quot;:1755827215544,&quot;cs&quot;:&quot;kUei+0G9b4qWVddWRMxyuA==&quot;,&quot;size&quot;:{&quot;width&quot;:677.9211023622049,&quot;height&quot;:138.93171758530187}}"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400" y="3245550"/>
            <a:ext cx="6457199" cy="132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Non-Linearities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09950" y="1046350"/>
            <a:ext cx="6535600" cy="3921349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5678100" y="35483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Tanh:</a:t>
            </a:r>
            <a:r>
              <a:rPr lang="en" sz="1200">
                <a:solidFill>
                  <a:schemeClr val="dk1"/>
                </a:solidFill>
              </a:rPr>
              <a:t> z</a:t>
            </a:r>
            <a:r>
              <a:rPr lang="en" sz="1200">
                <a:solidFill>
                  <a:schemeClr val="dk1"/>
                </a:solidFill>
              </a:rPr>
              <a:t>ero-centered, smooth, but suffers from vanishing gradients</a:t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5738475" y="2651500"/>
            <a:ext cx="30000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LeakyReLU:</a:t>
            </a:r>
            <a:r>
              <a:rPr lang="en" sz="1200">
                <a:solidFill>
                  <a:schemeClr val="dk2"/>
                </a:solidFill>
              </a:rPr>
              <a:t> </a:t>
            </a:r>
            <a:r>
              <a:rPr lang="en" sz="1200">
                <a:solidFill>
                  <a:schemeClr val="dk2"/>
                </a:solidFill>
              </a:rPr>
              <a:t>Allows a small, non-zero gradient when inputs are negative, keeping neurons alive and trainable 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5772975" y="417342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GELU: smoothest, probabilistic, dominates in modern Transformers.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4850" y="1276225"/>
            <a:ext cx="4469475" cy="336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325" y="1608425"/>
            <a:ext cx="3840050" cy="2891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Loss progression using different non-linearities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60053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Classifying MNIST Digits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1500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325" y="2571750"/>
            <a:ext cx="2082874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performance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optimize for can we different from our performance metric</a:t>
            </a:r>
            <a:r>
              <a:rPr lang="en"/>
              <a:t>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optimize for: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Mean Square Error for regression problems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Cross-Entropy Loss for classification problems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measure performance using: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Precision/Recall@k, F1 score, AOC curve for classification problems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Mean Reciprocal Rank (MRR) for Information Retrieval and Ranking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BLEU, BERT Score in Machine Translation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TF-IDF/BM25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Precision/Recall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Accuracy can be misleading, specially when dataset is unbalanced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0" name="Google Shape;110;p21"/>
          <p:cNvGraphicFramePr/>
          <p:nvPr/>
        </p:nvGraphicFramePr>
        <p:xfrm>
          <a:off x="918075" y="240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{44180863-5E69-4BFA-B9B1-900DD5632A79}</a:tableStyleId>
              </a:tblPr>
              <a:tblGrid>
                <a:gridCol w="1107400"/>
                <a:gridCol w="1107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1" name="Google Shape;111;p21"/>
          <p:cNvSpPr txBox="1"/>
          <p:nvPr/>
        </p:nvSpPr>
        <p:spPr>
          <a:xfrm>
            <a:off x="1031150" y="2074600"/>
            <a:ext cx="1017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Declare H0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2084475" y="2074600"/>
            <a:ext cx="1017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Declare H1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13" name="Google Shape;113;p21"/>
          <p:cNvSpPr txBox="1"/>
          <p:nvPr/>
        </p:nvSpPr>
        <p:spPr>
          <a:xfrm>
            <a:off x="311700" y="2428600"/>
            <a:ext cx="54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Is H0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311700" y="2798350"/>
            <a:ext cx="54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Is H1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15" name="Google Shape;115;p21"/>
          <p:cNvSpPr/>
          <p:nvPr/>
        </p:nvSpPr>
        <p:spPr>
          <a:xfrm>
            <a:off x="358875" y="2364650"/>
            <a:ext cx="2984100" cy="506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1"/>
          <p:cNvSpPr txBox="1"/>
          <p:nvPr/>
        </p:nvSpPr>
        <p:spPr>
          <a:xfrm>
            <a:off x="941400" y="3367550"/>
            <a:ext cx="38223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C0D0E"/>
                </a:solidFill>
                <a:highlight>
                  <a:srgbClr val="FFFFFF"/>
                </a:highlight>
              </a:rPr>
              <a:t>precision is the fraction of events where we </a:t>
            </a:r>
            <a:r>
              <a:rPr i="1" lang="en" sz="1150">
                <a:solidFill>
                  <a:srgbClr val="0C0D0E"/>
                </a:solidFill>
                <a:highlight>
                  <a:srgbClr val="FFFFFF"/>
                </a:highlight>
              </a:rPr>
              <a:t>correctly</a:t>
            </a:r>
            <a:r>
              <a:rPr lang="en" sz="1150">
                <a:solidFill>
                  <a:srgbClr val="0C0D0E"/>
                </a:solidFill>
                <a:highlight>
                  <a:srgbClr val="FFFFFF"/>
                </a:highlight>
              </a:rPr>
              <a:t> declared h0, out of all instances where we declared h0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17" name="Google Shape;117;p21"/>
          <p:cNvSpPr/>
          <p:nvPr/>
        </p:nvSpPr>
        <p:spPr>
          <a:xfrm>
            <a:off x="1092650" y="2104100"/>
            <a:ext cx="894600" cy="1184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1"/>
          <p:cNvSpPr txBox="1"/>
          <p:nvPr/>
        </p:nvSpPr>
        <p:spPr>
          <a:xfrm>
            <a:off x="3433875" y="2335250"/>
            <a:ext cx="38223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C0D0E"/>
                </a:solidFill>
                <a:highlight>
                  <a:srgbClr val="FFFFFF"/>
                </a:highlight>
              </a:rPr>
              <a:t>Recall is the fraction of events where we </a:t>
            </a:r>
            <a:r>
              <a:rPr i="1" lang="en" sz="1150">
                <a:solidFill>
                  <a:srgbClr val="0C0D0E"/>
                </a:solidFill>
                <a:highlight>
                  <a:srgbClr val="FFFFFF"/>
                </a:highlight>
              </a:rPr>
              <a:t>correctly</a:t>
            </a:r>
            <a:r>
              <a:rPr lang="en" sz="1150">
                <a:solidFill>
                  <a:srgbClr val="0C0D0E"/>
                </a:solidFill>
                <a:highlight>
                  <a:srgbClr val="FFFFFF"/>
                </a:highlight>
              </a:rPr>
              <a:t> declared h0, out of all instances that are h0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MRR</a:t>
            </a:r>
            <a:endParaRPr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Accuracy can be misleading, specially when dataset is unbalanced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5" name="Google Shape;125;p22"/>
          <p:cNvGraphicFramePr/>
          <p:nvPr/>
        </p:nvGraphicFramePr>
        <p:xfrm>
          <a:off x="918075" y="240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{44180863-5E69-4BFA-B9B1-900DD5632A79}</a:tableStyleId>
              </a:tblPr>
              <a:tblGrid>
                <a:gridCol w="1107400"/>
                <a:gridCol w="1107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6" name="Google Shape;126;p22"/>
          <p:cNvSpPr txBox="1"/>
          <p:nvPr/>
        </p:nvSpPr>
        <p:spPr>
          <a:xfrm>
            <a:off x="1031150" y="2074600"/>
            <a:ext cx="1017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Declare H0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27" name="Google Shape;127;p22"/>
          <p:cNvSpPr txBox="1"/>
          <p:nvPr/>
        </p:nvSpPr>
        <p:spPr>
          <a:xfrm>
            <a:off x="2084475" y="2074600"/>
            <a:ext cx="1017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Declare H1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28" name="Google Shape;128;p22"/>
          <p:cNvSpPr txBox="1"/>
          <p:nvPr/>
        </p:nvSpPr>
        <p:spPr>
          <a:xfrm>
            <a:off x="311700" y="2428600"/>
            <a:ext cx="54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Is H0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311700" y="2798350"/>
            <a:ext cx="54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Is H1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30" name="Google Shape;130;p22"/>
          <p:cNvSpPr/>
          <p:nvPr/>
        </p:nvSpPr>
        <p:spPr>
          <a:xfrm>
            <a:off x="358875" y="2364650"/>
            <a:ext cx="2984100" cy="506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2"/>
          <p:cNvSpPr txBox="1"/>
          <p:nvPr/>
        </p:nvSpPr>
        <p:spPr>
          <a:xfrm>
            <a:off x="941400" y="3367550"/>
            <a:ext cx="38223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C0D0E"/>
                </a:solidFill>
                <a:highlight>
                  <a:srgbClr val="FFFFFF"/>
                </a:highlight>
              </a:rPr>
              <a:t>precision is the fraction of events where we </a:t>
            </a:r>
            <a:r>
              <a:rPr i="1" lang="en" sz="1150">
                <a:solidFill>
                  <a:srgbClr val="0C0D0E"/>
                </a:solidFill>
                <a:highlight>
                  <a:srgbClr val="FFFFFF"/>
                </a:highlight>
              </a:rPr>
              <a:t>correctly</a:t>
            </a:r>
            <a:r>
              <a:rPr lang="en" sz="1150">
                <a:solidFill>
                  <a:srgbClr val="0C0D0E"/>
                </a:solidFill>
                <a:highlight>
                  <a:srgbClr val="FFFFFF"/>
                </a:highlight>
              </a:rPr>
              <a:t> declared h0, out of all instances where we declared h0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32" name="Google Shape;132;p22"/>
          <p:cNvSpPr/>
          <p:nvPr/>
        </p:nvSpPr>
        <p:spPr>
          <a:xfrm>
            <a:off x="1092650" y="2104100"/>
            <a:ext cx="894600" cy="1184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2"/>
          <p:cNvSpPr txBox="1"/>
          <p:nvPr/>
        </p:nvSpPr>
        <p:spPr>
          <a:xfrm>
            <a:off x="3433875" y="2335250"/>
            <a:ext cx="38223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C0D0E"/>
                </a:solidFill>
                <a:highlight>
                  <a:srgbClr val="FFFFFF"/>
                </a:highlight>
              </a:rPr>
              <a:t>Recall is the fraction of events where we </a:t>
            </a:r>
            <a:r>
              <a:rPr i="1" lang="en" sz="1150">
                <a:solidFill>
                  <a:srgbClr val="0C0D0E"/>
                </a:solidFill>
                <a:highlight>
                  <a:srgbClr val="FFFFFF"/>
                </a:highlight>
              </a:rPr>
              <a:t>correctly</a:t>
            </a:r>
            <a:r>
              <a:rPr lang="en" sz="1150">
                <a:solidFill>
                  <a:srgbClr val="0C0D0E"/>
                </a:solidFill>
                <a:highlight>
                  <a:srgbClr val="FFFFFF"/>
                </a:highlight>
              </a:rPr>
              <a:t> declared h0, out of all instances that are h0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TF/IDF</a:t>
            </a:r>
            <a:endParaRPr/>
          </a:p>
        </p:txBody>
      </p:sp>
      <p:sp>
        <p:nvSpPr>
          <p:cNvPr id="139" name="Google Shape;139;p23"/>
          <p:cNvSpPr txBox="1"/>
          <p:nvPr/>
        </p:nvSpPr>
        <p:spPr>
          <a:xfrm>
            <a:off x="178250" y="1017725"/>
            <a:ext cx="79293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Sentence: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"the cat is on the mat"</a:t>
            </a: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Unigrams: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[the, cat, is, on, the, mat]</a:t>
            </a:r>
            <a:b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Bigrams: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[the cat, cat is, is on, on the, the mat]</a:t>
            </a:r>
            <a:b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Trigrams: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[the cat is, cat is on, is on the, on the mat]</a:t>
            </a:r>
            <a:b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4-grams: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[the cat is on, cat is on the, is on the mat]</a:t>
            </a: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283875" y="4020725"/>
            <a:ext cx="7493400" cy="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In information retrieval: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Character n-grams are used in fuzzy search and spell checking.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BLEU </a:t>
            </a:r>
            <a:endParaRPr/>
          </a:p>
        </p:txBody>
      </p:sp>
      <p:sp>
        <p:nvSpPr>
          <p:cNvPr id="146" name="Google Shape;146;p24"/>
          <p:cNvSpPr txBox="1"/>
          <p:nvPr/>
        </p:nvSpPr>
        <p:spPr>
          <a:xfrm>
            <a:off x="178250" y="1017725"/>
            <a:ext cx="79293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Sentence: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"the cat is on the mat"</a:t>
            </a: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Unigrams: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[the, cat, is, on, the, mat]</a:t>
            </a:r>
            <a:b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Bigrams: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[the cat, cat is, is on, on the, the mat]</a:t>
            </a:r>
            <a:b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Trigrams: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[the cat is, cat is on, is on the, on the mat]</a:t>
            </a:r>
            <a:b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4-grams: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[the cat is on, cat is on the, is on the mat]</a:t>
            </a: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283875" y="4020725"/>
            <a:ext cx="7493400" cy="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In information retrieval: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Character n-grams are used in fuzzy search and spell checking.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BERT-Score</a:t>
            </a:r>
            <a:endParaRPr/>
          </a:p>
        </p:txBody>
      </p:sp>
      <p:sp>
        <p:nvSpPr>
          <p:cNvPr id="153" name="Google Shape;153;p25"/>
          <p:cNvSpPr txBox="1"/>
          <p:nvPr/>
        </p:nvSpPr>
        <p:spPr>
          <a:xfrm>
            <a:off x="178250" y="1017725"/>
            <a:ext cx="79293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Sentence: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"the cat is on the mat"</a:t>
            </a: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Unigrams: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[the, cat, is, on, the, mat]</a:t>
            </a:r>
            <a:b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Bigrams: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[the cat, cat is, is on, on the, the mat]</a:t>
            </a:r>
            <a:b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Trigrams: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[the cat is, cat is on, is on the, on the mat]</a:t>
            </a:r>
            <a:b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4-grams: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[the cat is on, cat is on the, is on the mat]</a:t>
            </a: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4" name="Google Shape;154;p25"/>
          <p:cNvSpPr txBox="1"/>
          <p:nvPr/>
        </p:nvSpPr>
        <p:spPr>
          <a:xfrm>
            <a:off x="283875" y="4020725"/>
            <a:ext cx="7493400" cy="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In information retrieval: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Character n-grams are used in fuzzy search and spell checking.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Optimizer	</a:t>
            </a:r>
            <a:endParaRPr/>
          </a:p>
        </p:txBody>
      </p:sp>
      <p:sp>
        <p:nvSpPr>
          <p:cNvPr id="160" name="Google Shape;160;p26"/>
          <p:cNvSpPr txBox="1"/>
          <p:nvPr/>
        </p:nvSpPr>
        <p:spPr>
          <a:xfrm>
            <a:off x="311700" y="4568875"/>
            <a:ext cx="685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AdaGrad: Dividing by sum of square of past gradients removes scaling issue </a:t>
            </a:r>
            <a:endParaRPr sz="100"/>
          </a:p>
        </p:txBody>
      </p:sp>
      <p:sp>
        <p:nvSpPr>
          <p:cNvPr id="161" name="Google Shape;161;p26"/>
          <p:cNvSpPr txBox="1"/>
          <p:nvPr/>
        </p:nvSpPr>
        <p:spPr>
          <a:xfrm>
            <a:off x="2205825" y="1439275"/>
            <a:ext cx="1016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AdaGrad</a:t>
            </a:r>
            <a:endParaRPr sz="1100"/>
          </a:p>
        </p:txBody>
      </p:sp>
      <p:sp>
        <p:nvSpPr>
          <p:cNvPr id="162" name="Google Shape;162;p26"/>
          <p:cNvSpPr txBox="1"/>
          <p:nvPr/>
        </p:nvSpPr>
        <p:spPr>
          <a:xfrm>
            <a:off x="5164125" y="1439275"/>
            <a:ext cx="1016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Adam</a:t>
            </a:r>
            <a:endParaRPr sz="1100"/>
          </a:p>
        </p:txBody>
      </p:sp>
      <p:sp>
        <p:nvSpPr>
          <p:cNvPr id="163" name="Google Shape;163;p26"/>
          <p:cNvSpPr txBox="1"/>
          <p:nvPr/>
        </p:nvSpPr>
        <p:spPr>
          <a:xfrm>
            <a:off x="3613175" y="1591675"/>
            <a:ext cx="1016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RMSProp</a:t>
            </a:r>
            <a:endParaRPr sz="1100"/>
          </a:p>
        </p:txBody>
      </p:sp>
      <p:sp>
        <p:nvSpPr>
          <p:cNvPr id="164" name="Google Shape;164;p26"/>
          <p:cNvSpPr txBox="1"/>
          <p:nvPr/>
        </p:nvSpPr>
        <p:spPr>
          <a:xfrm>
            <a:off x="6715075" y="1439275"/>
            <a:ext cx="1016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AdamW</a:t>
            </a:r>
            <a:endParaRPr sz="1100"/>
          </a:p>
        </p:txBody>
      </p:sp>
      <p:sp>
        <p:nvSpPr>
          <p:cNvPr id="165" name="Google Shape;165;p26"/>
          <p:cNvSpPr txBox="1"/>
          <p:nvPr/>
        </p:nvSpPr>
        <p:spPr>
          <a:xfrm>
            <a:off x="511275" y="1439275"/>
            <a:ext cx="1016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SGD</a:t>
            </a:r>
            <a:endParaRPr sz="1100"/>
          </a:p>
        </p:txBody>
      </p:sp>
      <p:pic>
        <p:nvPicPr>
          <p:cNvPr descr="{&quot;aid&quot;:null,&quot;id&quot;:&quot;1&quot;,&quot;backgroundColor&quot;:&quot;#FFFFFF&quot;,&quot;font&quot;:{&quot;color&quot;:&quot;#000000&quot;,&quot;family&quot;:&quot;Arial&quot;,&quot;size&quot;:15.5},&quot;code&quot;:&quot;\\begin{lalign*}\n&amp;{w_{t+1}=w_{t}-\\eta \\frac{g_{t}}{\\Sigma_{\\tau=1}^{t}g_{\\tau}^{2}+\\epsilon}}\t\n\\end{lalign*}&quot;,&quot;backgroundColorModified&quot;:false,&quot;type&quot;:&quot;lalign*&quot;,&quot;ts&quot;:1756377954408,&quot;cs&quot;:&quot;/VpGRM5OB7g2lnzv/m2WDw==&quot;,&quot;size&quot;:{&quot;width&quot;:266.8,&quot;height&quot;:53.200000000000024}}" id="166" name="Google Shape;16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97828"/>
            <a:ext cx="2541270" cy="506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\\begin{lalign*}\n&amp;{g_{t}=\\frac{\\partial e}{\\partial w_{t}}}\\\\\n&amp;{w_{t+1}=w_{t}-\\eta g_{t\\,}}\t\n\\end{lalign*}&quot;,&quot;aid&quot;:null,&quot;backgroundColorModified&quot;:false,&quot;type&quot;:&quot;lalign*&quot;,&quot;id&quot;:&quot;1&quot;,&quot;font&quot;:{&quot;family&quot;:&quot;Arial&quot;,&quot;color&quot;:&quot;#000000&quot;,&quot;size&quot;:15.5},&quot;backgroundColor&quot;:&quot;#FFFFFF&quot;,&quot;ts&quot;:1756377933570,&quot;cs&quot;:&quot;mprsI/fA1AFZXEj2cjlt5A==&quot;,&quot;size&quot;:{&quot;width&quot;:165,&quot;height&quot;:85}}" id="167" name="Google Shape;16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452" y="2276325"/>
            <a:ext cx="157162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type&quot;:&quot;lalign*&quot;,&quot;font&quot;:{&quot;color&quot;:&quot;#000000&quot;,&quot;size&quot;:15.5,&quot;family&quot;:&quot;Arial&quot;},&quot;id&quot;:&quot;2&quot;,&quot;aid&quot;:null,&quot;backgroundColor&quot;:&quot;#FFFFFF&quot;,&quot;code&quot;:&quot;\\begin{lalign*}\n&amp;{E\\left[g^{2}\\right]_{t}=\\rho E\\left[g^{2}\\right]_{t-1}+\\left(1-\\rho\\right)g_{t}^{2}}\\\\\n&amp;{w_{t+1}=w_{t}-\\eta \\frac{g_{t}}{{\\sqrt[]{E\\left[g^{2}\\right]_{t}+\\epsilon}}}}\t\n\\end{lalign*}&quot;,&quot;ts&quot;:1756378291351,&quot;cs&quot;:&quot;Bh4pNCKR5SJYnFKEHGcUeQ==&quot;,&quot;size&quot;:{&quot;width&quot;:327.5,&quot;height&quot;:96.25}}" id="168" name="Google Shape;16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60250" y="2169158"/>
            <a:ext cx="3119438" cy="9167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2&quot;,&quot;backgroundColor&quot;:&quot;#FFFFFF&quot;,&quot;font&quot;:{&quot;color&quot;:&quot;#000000&quot;,&quot;size&quot;:15.5,&quot;family&quot;:&quot;Arial&quot;},&quot;code&quot;:&quot;\\begin{lalign*}\n&amp;{m_{t}=\\beta _{1}m_{t-1}+\\left(1-\\beta_{1}\\right)g_{t}}\\\\\n&amp;{v_{t}=\\beta _{2}v_{t-1}+\\left(1-\\beta_{2}\\right)v_{t}}\\\\\n&amp;{\\hat{m_{t}}=\\frac{m_{t}}{1-\\beta_{1}^{t}},\\,\\hat{v_{t}}=\\frac{v_{t}}{1-\\beta_{2}^{t}}\\,\\text{Bias}\\;\\text{removal}}\\\\\n&amp;{w_{t+1}=w_{t}-\\eta \\frac{\\hat{m_{t}}}{{\\sqrt[]{\\hat{v_{t}}+\\epsilon}}}}\t\n\\end{lalign*}&quot;,&quot;aid&quot;:null,&quot;type&quot;:&quot;lalign*&quot;,&quot;backgroundColorModified&quot;:false,&quot;ts&quot;:1756378858588,&quot;cs&quot;:&quot;+6SYlcrVMEJXvB60x+1y2Q==&quot;,&quot;size&quot;:{&quot;width&quot;:422.3333333333334,&quot;height&quot;:189}}" id="169" name="Google Shape;169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83439" y="2768658"/>
            <a:ext cx="4022725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/>
        </p:nvSpPr>
        <p:spPr>
          <a:xfrm>
            <a:off x="61850" y="4072225"/>
            <a:ext cx="2882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SGD: Parameter updates are scale dependent</a:t>
            </a:r>
            <a:endParaRPr sz="1100"/>
          </a:p>
        </p:txBody>
      </p:sp>
      <p:sp>
        <p:nvSpPr>
          <p:cNvPr id="171" name="Google Shape;171;p26"/>
          <p:cNvSpPr txBox="1"/>
          <p:nvPr/>
        </p:nvSpPr>
        <p:spPr>
          <a:xfrm>
            <a:off x="147175" y="152575"/>
            <a:ext cx="685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RMSProp</a:t>
            </a:r>
            <a:r>
              <a:rPr lang="en" sz="1500">
                <a:solidFill>
                  <a:schemeClr val="dk1"/>
                </a:solidFill>
              </a:rPr>
              <a:t>: Using exponential moving average keeps denominator bounded </a:t>
            </a:r>
            <a:endParaRPr sz="100"/>
          </a:p>
        </p:txBody>
      </p:sp>
      <p:sp>
        <p:nvSpPr>
          <p:cNvPr id="172" name="Google Shape;172;p26"/>
          <p:cNvSpPr txBox="1"/>
          <p:nvPr/>
        </p:nvSpPr>
        <p:spPr>
          <a:xfrm>
            <a:off x="273175" y="1014200"/>
            <a:ext cx="685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Adam: Scales gradients by unbiased estimator of second moment, uses moving average of the gradient </a:t>
            </a:r>
            <a:endParaRPr sz="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Optimizer	</a:t>
            </a:r>
            <a:endParaRPr/>
          </a:p>
        </p:txBody>
      </p:sp>
      <p:sp>
        <p:nvSpPr>
          <p:cNvPr id="178" name="Google Shape;178;p27"/>
          <p:cNvSpPr txBox="1"/>
          <p:nvPr/>
        </p:nvSpPr>
        <p:spPr>
          <a:xfrm>
            <a:off x="273175" y="1014200"/>
            <a:ext cx="685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Adam vs AdamW</a:t>
            </a:r>
            <a:endParaRPr sz="100"/>
          </a:p>
        </p:txBody>
      </p:sp>
      <p:pic>
        <p:nvPicPr>
          <p:cNvPr descr="{&quot;backgroundColorModified&quot;:false,&quot;font&quot;:{&quot;color&quot;:&quot;#000000&quot;,&quot;size&quot;:12.5,&quot;family&quot;:&quot;Arial&quot;},&quot;code&quot;:&quot;\\begin{lalign*}\n&amp;{\\text{Recall}\\,\\text{weight}\\;\\text{update}\\;\\text{equation}}\\\\\n&amp;{g_{t}=\\frac{\\partial e}{\\partial w_{t}}}\\\\\n&amp;{w_{t+1}=w_{t}-\\eta \\left(f\\left(g_{t}\\right)+\\lambda w_{t}\\right)}\\\\\n&amp;{\\text{Here,}\\;f\\;\\text{is}\\;\\text{the}\\;\\text{modification}\\;\\text{applied}\\;\\text{to}\\;\\text{}}\\\\\n&amp;{\\text{gradients..}\\;\\text{eg.,}\\;\\text{RMSProp}\\;\\text{Adam}\\;\\text{etc.}}\\\\\n&amp;{\\lambda:\\,\\text{Regularization}\\;\\text{strength}}\\\\\n&amp;{\\eta:\\,\\text{Learning}\\;\\text{Rate}}\t\n\\end{lalign*}&quot;,&quot;id&quot;:&quot;1&quot;,&quot;backgroundColor&quot;:&quot;#FFFFFF&quot;,&quot;aid&quot;:null,&quot;type&quot;:&quot;lalign*&quot;,&quot;ts&quot;:1756386523040,&quot;cs&quot;:&quot;EkeU3pw/WyAwkUsj094MeA==&quot;,&quot;size&quot;:{&quot;width&quot;:313.5,&quot;height&quot;:194.75}}" id="179" name="Google Shape;17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056" y="2062475"/>
            <a:ext cx="2986088" cy="1854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&quot;:&quot;#FFFFFF&quot;,&quot;id&quot;:&quot;1&quot;,&quot;code&quot;:&quot;\\begin{lalign*}\n&amp;{\\text{In}\\;\\text{old}\\;\\text{versions}\\;\\text{of}\\;\\text{Adam,}\\;\\text{regularization},}\\\\\n&amp;{\\text{(also}\\;\\text{called}\\;\\text{weight}\\;\\text{decay)}\\;\\text{was}\\;\\text{mixed}\\;\\text{in}\\;\\text{with}\\;\\text{gradient}\\;\\text{}}\\\\\n&amp;{\\text{calculation}}\\\\\n&amp;{g_{t}=\\frac{\\partial e}{\\partial w_{t}}+\\lambda w_{t}}\\\\\n&amp;{w_{t+1}=w_{t}-\\eta \\left(f\\left(g_{t}\\right)\\right)}\t\n\\end{lalign*}&quot;,&quot;backgroundColorModified&quot;:false,&quot;font&quot;:{&quot;size&quot;:12.5,&quot;family&quot;:&quot;Arial&quot;,&quot;color&quot;:&quot;#000000&quot;},&quot;type&quot;:&quot;lalign*&quot;,&quot;ts&quot;:1756386495013,&quot;cs&quot;:&quot;truaaM+mYB6NO6Bnd2hutg==&quot;,&quot;size&quot;:{&quot;width&quot;:452.3333333333334,&quot;height&quot;:144.66666666666663}}" id="180" name="Google Shape;18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3175" y="2668574"/>
            <a:ext cx="4308475" cy="137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 Initialization</a:t>
            </a:r>
            <a:endParaRPr/>
          </a:p>
        </p:txBody>
      </p:sp>
      <p:sp>
        <p:nvSpPr>
          <p:cNvPr id="186" name="Google Shape;186;p28"/>
          <p:cNvSpPr txBox="1"/>
          <p:nvPr/>
        </p:nvSpPr>
        <p:spPr>
          <a:xfrm>
            <a:off x="454800" y="1141050"/>
            <a:ext cx="8211300" cy="23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When stacking many layers, we want to avoid exploding or vanishing activations in the forward pass and gradients in the backward pass. This is accomplished by: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">
                <a:solidFill>
                  <a:schemeClr val="dk2"/>
                </a:solidFill>
              </a:rPr>
              <a:t>Initializing the weights the beginning of training in such a way that the variance of the input equals that of the output for each layer, both during forward and backward pass. Because variance is a measure of the spread of a distribution, bounding the variance bounds the probability of some activations or gradients becoming very large</a:t>
            </a:r>
            <a:br>
              <a:rPr lang="en">
                <a:solidFill>
                  <a:schemeClr val="dk2"/>
                </a:solidFill>
              </a:rPr>
            </a:b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">
                <a:solidFill>
                  <a:schemeClr val="dk2"/>
                </a:solidFill>
              </a:rPr>
              <a:t>Normalizing the mean and variance after each layer  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 initialization</a:t>
            </a:r>
            <a:endParaRPr/>
          </a:p>
        </p:txBody>
      </p:sp>
      <p:pic>
        <p:nvPicPr>
          <p:cNvPr descr="{&quot;backgroundColorModified&quot;:false,&quot;backgroundColor&quot;:&quot;#FFFFFF&quot;,&quot;type&quot;:&quot;lalign*&quot;,&quot;id&quot;:&quot;3&quot;,&quot;font&quot;:{&quot;size&quot;:18,&quot;family&quot;:&quot;Arial&quot;,&quot;color&quot;:&quot;#595959&quot;},&quot;code&quot;:&quot;\\begin{lalign*}\n&amp;{y^{l}=W^{l}x^{l}+b^{l}}\\\\\n&amp;{a^{l}=\\text{ReLU(}y^{l}\\text{)}}\\\\\n&amp;{W^{l}:\\,n\\times m}\\\\\n&amp;{x^{l}:\\,m\\times1}\\\\\n&amp;{y^{l}:\\,n\\times1}\\\\\n&amp;{b^{l}:\\,n\\times1}\t\n\\end{lalign*}&quot;,&quot;aid&quot;:null,&quot;ts&quot;:1757264320199,&quot;cs&quot;:&quot;xxSRwzFZxDSmUA+6OYUc4Q==&quot;,&quot;size&quot;:{&quot;width&quot;:175.60000000000002,&quot;height&quot;:230.40000000000006}}" id="192" name="Google Shape;19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875" y="1596050"/>
            <a:ext cx="1472825" cy="193245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9"/>
          <p:cNvSpPr txBox="1"/>
          <p:nvPr>
            <p:ph idx="1" type="body"/>
          </p:nvPr>
        </p:nvSpPr>
        <p:spPr>
          <a:xfrm>
            <a:off x="429075" y="1102850"/>
            <a:ext cx="3399600" cy="4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Consider layer l in a </a:t>
            </a:r>
            <a:r>
              <a:rPr i="1" lang="en"/>
              <a:t>n </a:t>
            </a:r>
            <a:r>
              <a:rPr lang="en"/>
              <a:t>layer network </a:t>
            </a:r>
            <a:endParaRPr/>
          </a:p>
        </p:txBody>
      </p:sp>
      <p:sp>
        <p:nvSpPr>
          <p:cNvPr id="194" name="Google Shape;194;p29"/>
          <p:cNvSpPr/>
          <p:nvPr/>
        </p:nvSpPr>
        <p:spPr>
          <a:xfrm>
            <a:off x="4530778" y="1492050"/>
            <a:ext cx="618600" cy="1100100"/>
          </a:xfrm>
          <a:prstGeom prst="roundRect">
            <a:avLst>
              <a:gd fmla="val 9734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9"/>
          <p:cNvSpPr/>
          <p:nvPr/>
        </p:nvSpPr>
        <p:spPr>
          <a:xfrm>
            <a:off x="5612405" y="1489800"/>
            <a:ext cx="649500" cy="1100100"/>
          </a:xfrm>
          <a:prstGeom prst="roundRect">
            <a:avLst>
              <a:gd fmla="val 9734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300"/>
              <a:t>ReLU</a:t>
            </a:r>
            <a:endParaRPr b="1" i="0" sz="1300" u="none" cap="none" strike="noStrike">
              <a:solidFill>
                <a:srgbClr val="000000"/>
              </a:solidFill>
            </a:endParaRPr>
          </a:p>
        </p:txBody>
      </p:sp>
      <p:cxnSp>
        <p:nvCxnSpPr>
          <p:cNvPr id="196" name="Google Shape;196;p29"/>
          <p:cNvCxnSpPr>
            <a:stCxn id="195" idx="3"/>
          </p:cNvCxnSpPr>
          <p:nvPr/>
        </p:nvCxnSpPr>
        <p:spPr>
          <a:xfrm>
            <a:off x="6261905" y="2039850"/>
            <a:ext cx="295500" cy="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 initialization</a:t>
            </a:r>
            <a:endParaRPr/>
          </a:p>
        </p:txBody>
      </p:sp>
      <p:pic>
        <p:nvPicPr>
          <p:cNvPr descr="{&quot;backgroundColorModified&quot;:false,&quot;backgroundColor&quot;:&quot;#FFFFFF&quot;,&quot;type&quot;:&quot;lalign*&quot;,&quot;id&quot;:&quot;3&quot;,&quot;font&quot;:{&quot;size&quot;:18,&quot;family&quot;:&quot;Arial&quot;,&quot;color&quot;:&quot;#595959&quot;},&quot;code&quot;:&quot;\\begin{lalign*}\n&amp;{y^{l}=W^{l}x^{l}+b^{l}}\\\\\n&amp;{a^{l}=\\text{ReLU(}y^{l}\\text{)}}\\\\\n&amp;{W^{l}:\\,n\\times m}\\\\\n&amp;{x^{l}:\\,m\\times1}\\\\\n&amp;{y^{l}:\\,n\\times1}\\\\\n&amp;{b^{l}:\\,n\\times1}\t\n\\end{lalign*}&quot;,&quot;aid&quot;:null,&quot;ts&quot;:1757264320199,&quot;cs&quot;:&quot;xxSRwzFZxDSmUA+6OYUc4Q==&quot;,&quot;size&quot;:{&quot;width&quot;:175.60000000000002,&quot;height&quot;:230.40000000000006}}" id="202" name="Google Shape;2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875" y="1596050"/>
            <a:ext cx="1472825" cy="193245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0"/>
          <p:cNvSpPr txBox="1"/>
          <p:nvPr>
            <p:ph idx="1" type="body"/>
          </p:nvPr>
        </p:nvSpPr>
        <p:spPr>
          <a:xfrm>
            <a:off x="429075" y="1102850"/>
            <a:ext cx="3399600" cy="4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Consider layer l in a </a:t>
            </a:r>
            <a:r>
              <a:rPr i="1" lang="en"/>
              <a:t>n </a:t>
            </a:r>
            <a:r>
              <a:rPr lang="en"/>
              <a:t>layer network </a:t>
            </a:r>
            <a:endParaRPr/>
          </a:p>
        </p:txBody>
      </p:sp>
      <p:sp>
        <p:nvSpPr>
          <p:cNvPr id="204" name="Google Shape;204;p30"/>
          <p:cNvSpPr/>
          <p:nvPr/>
        </p:nvSpPr>
        <p:spPr>
          <a:xfrm>
            <a:off x="4530778" y="1492050"/>
            <a:ext cx="618600" cy="1100100"/>
          </a:xfrm>
          <a:prstGeom prst="roundRect">
            <a:avLst>
              <a:gd fmla="val 9734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0"/>
          <p:cNvSpPr/>
          <p:nvPr/>
        </p:nvSpPr>
        <p:spPr>
          <a:xfrm>
            <a:off x="5612405" y="1489800"/>
            <a:ext cx="649500" cy="1100100"/>
          </a:xfrm>
          <a:prstGeom prst="roundRect">
            <a:avLst>
              <a:gd fmla="val 9734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300"/>
              <a:t>ReLU</a:t>
            </a:r>
            <a:endParaRPr b="1" i="0" sz="1300" u="none" cap="none" strike="noStrike">
              <a:solidFill>
                <a:srgbClr val="000000"/>
              </a:solidFill>
            </a:endParaRPr>
          </a:p>
        </p:txBody>
      </p:sp>
      <p:cxnSp>
        <p:nvCxnSpPr>
          <p:cNvPr id="206" name="Google Shape;206;p30"/>
          <p:cNvCxnSpPr>
            <a:stCxn id="205" idx="3"/>
          </p:cNvCxnSpPr>
          <p:nvPr/>
        </p:nvCxnSpPr>
        <p:spPr>
          <a:xfrm>
            <a:off x="6261905" y="2039850"/>
            <a:ext cx="295500" cy="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{&quot;code&quot;:&quot;$$W$$&quot;,&quot;font&quot;:{&quot;size&quot;:12,&quot;family&quot;:&quot;Arial&quot;,&quot;color&quot;:&quot;#000000&quot;},&quot;id&quot;:&quot;7&quot;,&quot;backgroundColorModified&quot;:false,&quot;backgroundColor&quot;:&quot;#FFFFFF&quot;,&quot;type&quot;:&quot;$$&quot;,&quot;aid&quot;:null,&quot;ts&quot;:1757637526408,&quot;cs&quot;:&quot;0vnqKnL0/3q31RZrTsNklA==&quot;,&quot;size&quot;:{&quot;width&quot;:18.833333333333332,&quot;height&quot;:13.333333333333334}}" id="207" name="Google Shape;20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0375" y="1978600"/>
            <a:ext cx="179388" cy="127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8" name="Google Shape;208;p30"/>
          <p:cNvCxnSpPr>
            <a:stCxn id="204" idx="3"/>
            <a:endCxn id="205" idx="1"/>
          </p:cNvCxnSpPr>
          <p:nvPr/>
        </p:nvCxnSpPr>
        <p:spPr>
          <a:xfrm flipH="1" rot="10800000">
            <a:off x="5149378" y="2040000"/>
            <a:ext cx="462900" cy="2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{&quot;code&quot;:&quot;$$x$$&quot;,&quot;aid&quot;:null,&quot;type&quot;:&quot;$$&quot;,&quot;backgroundColor&quot;:&quot;#EEEEEE&quot;,&quot;font&quot;:{&quot;color&quot;:&quot;#000000&quot;,&quot;size&quot;:11,&quot;family&quot;:&quot;Arial&quot;},&quot;id&quot;:&quot;8&quot;,&quot;backgroundColorModified&quot;:false,&quot;ts&quot;:1757637607701,&quot;cs&quot;:&quot;y4ex75ClIDyKeDYwtbjL4Q==&quot;,&quot;size&quot;:{&quot;width&quot;:8.5,&quot;height&quot;:7.833333333333333}}" id="209" name="Google Shape;20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86775" y="2002538"/>
            <a:ext cx="80963" cy="746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backgroundColorModified&quot;:false,&quot;font&quot;:{&quot;size&quot;:11,&quot;color&quot;:&quot;#000000&quot;,&quot;family&quot;:&quot;Arial&quot;},&quot;type&quot;:&quot;$$&quot;,&quot;id&quot;:&quot;9&quot;,&quot;code&quot;:&quot;$$y$$&quot;,&quot;aid&quot;:null,&quot;ts&quot;:1757637626205,&quot;cs&quot;:&quot;mvJEfo9HbHr96DIsyLI6uw==&quot;,&quot;size&quot;:{&quot;width&quot;:8.333333333333334,&quot;height&quot;:11.166666666666666}}" id="210" name="Google Shape;210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24925" y="1986663"/>
            <a:ext cx="79375" cy="106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identities..</a:t>
            </a:r>
            <a:endParaRPr/>
          </a:p>
        </p:txBody>
      </p:sp>
      <p:sp>
        <p:nvSpPr>
          <p:cNvPr id="216" name="Google Shape;216;p31"/>
          <p:cNvSpPr txBox="1"/>
          <p:nvPr>
            <p:ph idx="1" type="body"/>
          </p:nvPr>
        </p:nvSpPr>
        <p:spPr>
          <a:xfrm>
            <a:off x="311700" y="1152475"/>
            <a:ext cx="8580600" cy="9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/>
              <a:t>Note: Conventionally, random variables are written in capital letters.. I’m flouting the convention here</a:t>
            </a:r>
            <a:endParaRPr sz="1500"/>
          </a:p>
        </p:txBody>
      </p:sp>
      <p:pic>
        <p:nvPicPr>
          <p:cNvPr descr="{&quot;type&quot;:&quot;$$&quot;,&quot;id&quot;:&quot;10&quot;,&quot;aid&quot;:null,&quot;code&quot;:&quot;$$E\\left(x\\right)=\\int_{-\\infty}^{\\infty}xf\\left(x\\right)$$&quot;,&quot;backgroundColor&quot;:&quot;#FFFFFF&quot;,&quot;backgroundColorModified&quot;:false,&quot;font&quot;:{&quot;family&quot;:&quot;Arial&quot;,&quot;size&quot;:28,&quot;color&quot;:&quot;#000000&quot;},&quot;ts&quot;:1757637715454,&quot;cs&quot;:&quot;MyvXIE75AgEH8DLuAKBGiA==&quot;,&quot;size&quot;:{&quot;width&quot;:359,&quot;height&quot;:101}}" id="217" name="Google Shape;21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825" y="1972250"/>
            <a:ext cx="2514598" cy="707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id&quot;:&quot;10&quot;,&quot;font&quot;:{&quot;color&quot;:&quot;#000000&quot;,&quot;family&quot;:&quot;Arial&quot;,&quot;size&quot;:28},&quot;backgroundColorModified&quot;:false,&quot;aid&quot;:null,&quot;code&quot;:&quot;$$E\\left(x\\right)=\\sum_{i=1}^{n}p\\left(x_{i}\\right)x_{i}$$&quot;,&quot;type&quot;:&quot;$$&quot;,&quot;ts&quot;:1757637785224,&quot;cs&quot;:&quot;toQsOT9BI+bagiWXaztSkQ==&quot;,&quot;size&quot;:{&quot;width&quot;:366.3333333333333,&quot;height&quot;:112.33333333333333}}" id="218" name="Google Shape;21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823" y="2831450"/>
            <a:ext cx="2307084" cy="707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10&quot;,&quot;aid&quot;:null,&quot;code&quot;:&quot;$$Var\\left(x\\right)=E\\left(x^{2}\\right)-E^{2}\\left(x\\right)$$&quot;,&quot;type&quot;:&quot;$$&quot;,&quot;backgroundColor&quot;:&quot;#FFFFFF&quot;,&quot;font&quot;:{&quot;size&quot;:28,&quot;family&quot;:&quot;Arial&quot;,&quot;color&quot;:&quot;#000000&quot;},&quot;backgroundColorModified&quot;:false,&quot;ts&quot;:1757637842674,&quot;cs&quot;:&quot;yoyMU6vr14IMu1t0hI4dDw==&quot;,&quot;size&quot;:{&quot;width&quot;:495.5,&quot;height&quot;:54.000000000000036}}" id="219" name="Google Shape;21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824" y="3738425"/>
            <a:ext cx="4100924" cy="446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10&quot;,&quot;backgroundColorModified&quot;:false,&quot;font&quot;:{&quot;size&quot;:28,&quot;color&quot;:&quot;#000000&quot;,&quot;family&quot;:&quot;Arial&quot;},&quot;backgroundColor&quot;:&quot;#FFFFFF&quot;,&quot;type&quot;:&quot;align*&quot;,&quot;code&quot;:&quot;\\begin{align*}\n{Var\\left(x\\right)}&amp;={E\\left(x^{2}\\right)-E^{2}\\left(x\\right)}\\\\\n{\\,}&amp;={E\\left(\\left(x-E\\left(x\\right)\\right)^{2}\\right)}\\\\\n{\\,}&amp;={E\\left(x^{2}+E^{2}\\left(x\\right)-2xE\\left(x\\right)\\right)}\\\\\n{\\,}&amp;={E\\left(x^{2}\\right)+E^{2}\\left(x\\right)-2E\\left(x\\right)E\\left(x\\right)}\\\\\n{\\,}&amp;={E\\left(x^{2}\\right)-E^{2}\\left(x\\right)}\t\n\\end{align*}&quot;,&quot;aid&quot;:null,&quot;ts&quot;:1757638107973,&quot;cs&quot;:&quot;VCmm457uUJakQBrXWq6hvg==&quot;,&quot;size&quot;:{&quot;width&quot;:770.5,&quot;height&quot;:347.50000000000006}}" id="220" name="Google Shape;220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08700" y="3113601"/>
            <a:ext cx="4100925" cy="1849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definitions</a:t>
            </a:r>
            <a:endParaRPr/>
          </a:p>
        </p:txBody>
      </p:sp>
      <p:sp>
        <p:nvSpPr>
          <p:cNvPr id="226" name="Google Shape;226;p32"/>
          <p:cNvSpPr txBox="1"/>
          <p:nvPr>
            <p:ph idx="1" type="body"/>
          </p:nvPr>
        </p:nvSpPr>
        <p:spPr>
          <a:xfrm>
            <a:off x="311700" y="1152475"/>
            <a:ext cx="8580600" cy="25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Random variables X and Y are </a:t>
            </a:r>
            <a:r>
              <a:rPr i="1" lang="en" sz="1500"/>
              <a:t>Independent and Identically Distributed (IID)</a:t>
            </a:r>
            <a:r>
              <a:rPr lang="en" sz="1500"/>
              <a:t> if they are independent of each other, and have the same distribution. Eg., repeatedly rolling the same dice, or tossing the same coin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Independent but not identically distributed:</a:t>
            </a:r>
            <a:r>
              <a:rPr lang="en" sz="1500"/>
              <a:t> X: outcome of tossing a biased coin, Y: outcome of tossing an unbiased coin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Identically distributed but not independent:</a:t>
            </a:r>
            <a:r>
              <a:rPr lang="en" sz="1500"/>
              <a:t> Two coins identical in every respect, but </a:t>
            </a:r>
            <a:r>
              <a:rPr lang="en" sz="1500"/>
              <a:t>entangled so that when the first rolls a 1, the second also rolls a 1.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identities..</a:t>
            </a:r>
            <a:endParaRPr/>
          </a:p>
        </p:txBody>
      </p:sp>
      <p:pic>
        <p:nvPicPr>
          <p:cNvPr descr="{&quot;id&quot;:&quot;10&quot;,&quot;type&quot;:&quot;align*&quot;,&quot;backgroundColorModified&quot;:false,&quot;backgroundColor&quot;:&quot;#FFFFFF&quot;,&quot;code&quot;:&quot;\\begin{align*}\n{Var\\left(x+y\\right)}&amp;={E\\left(\\left(x+y\\right)^{2}\\right)-E^{2}\\left(x+y\\right)}\\\\\n{\\,}&amp;={E\\left(x^{2}+y^{2}+2xy\\right)-\\left(E\\left(x\\right)+E\\left(y\\right)\\right)^{2}}\\\\\n{\\,}&amp;={E\\left(x^{2}\\right)+E\\left(y^{2}\\right)+2E\\left(xy\\right)-E^{2}\\left(x\\right)-E^{2}\\left(y\\right)-2E\\left(x\\right)E\\left(y\\right)}\\\\\n{\\,}&amp;={Var\\left(x\\right)+Var\\left(y\\right)+2Cov\\left(x,y\\right)}\\\\\n{\\,}&amp;\\relempty{}\t\n\\end{align*}&quot;,&quot;aid&quot;:null,&quot;font&quot;:{&quot;color&quot;:&quot;#000000&quot;,&quot;size&quot;:14,&quot;family&quot;:&quot;Arial&quot;},&quot;ts&quot;:1757640077806,&quot;cs&quot;:&quot;h+Pm5E5FqlAugmnhdtRSiQ==&quot;,&quot;size&quot;:{&quot;width&quot;:692.5,&quot;height&quot;:136.5}}" id="232" name="Google Shape;23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500" y="1998343"/>
            <a:ext cx="6596063" cy="1300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10&quot;,&quot;aid&quot;:null,&quot;font&quot;:{&quot;size&quot;:11,&quot;family&quot;:&quot;Arial&quot;,&quot;color&quot;:&quot;#000000&quot;},&quot;type&quot;:&quot;gather*&quot;,&quot;code&quot;:&quot;\\begin{gather*}\n{Cov\\left(x,y\\right)=E\\left(xy\\right)-E\\left(x\\right)E\\left(y\\right)\\,\\relempty }\\\\\n{\\relempty \\text{When}\\;x\\,\\text{and}\\;y\\,\\text{are}\\;\\text{independent}}\\\\\n{E\\left(xy\\right)=E\\left(x\\right)E\\left(y\\right)}\\\\\n{\\text{so}\\;Cov\\left(x,y\\right)=0}\\\\\n{\\text{and}\\;Var\\left(x,y\\right)=Var\\left(x\\right)+Var\\left(y\\right)}\\\\\n{\\text{When}\\;Cov\\left(x,y\\right)&gt;0\\,\\left(x\\,\\text{and}\\;y\\,\\text{move}\\;\\text{together}\\right),}\\\\\n{Var\\left(x,y\\right)&gt;Var\\left(x\\right)+Var\\left(y\\right)}\\\\\n{\\text{When}\\;Cov\\left(x,y\\right)&lt;0\\,\\left(x\\,\\text{and}\\;y\\,\\text{move}\\;\\text{in}\\;\\text{opposition}\\right),}\\\\\n{Var\\left(x,y\\right)&lt;Var\\left(x\\right)+Var\\left(y\\right)}\\\\\n{}\t\n\\end{gather*}&quot;,&quot;backgroundColorModified&quot;:false,&quot;backgroundColor&quot;:&quot;#FFFFFF&quot;,&quot;ts&quot;:1757979406187,&quot;cs&quot;:&quot;dkW6WoYc2Dk/whCGjtMcmA==&quot;,&quot;size&quot;:{&quot;width&quot;:373,&quot;height&quot;:196.33333333333334}}" id="233" name="Google Shape;23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194" y="3442868"/>
            <a:ext cx="3552825" cy="187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backgroundColorModified&quot;:false,&quot;code&quot;:&quot;\\begin{align*}\n{E\\left(x+y\\right)=E\\left(x\\right)+E\\left(y\\right)\\,}&amp;\\relempty{}\t\n\\end{align*}&quot;,&quot;font&quot;:{&quot;size&quot;:14,&quot;color&quot;:&quot;#000000&quot;,&quot;family&quot;:&quot;Arial&quot;},&quot;type&quot;:&quot;align*&quot;,&quot;aid&quot;:null,&quot;id&quot;:&quot;11&quot;,&quot;ts&quot;:1757640574843,&quot;cs&quot;:&quot;dlL7Z8TmSr8jgep6ZMx+Yw==&quot;,&quot;size&quot;:{&quot;width&quot;:238.75,&quot;height&quot;:22.25}}" id="234" name="Google Shape;234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1402075"/>
            <a:ext cx="2274094" cy="211931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3"/>
          <p:cNvSpPr txBox="1"/>
          <p:nvPr>
            <p:ph idx="1" type="body"/>
          </p:nvPr>
        </p:nvSpPr>
        <p:spPr>
          <a:xfrm>
            <a:off x="2872200" y="1261438"/>
            <a:ext cx="3399600" cy="4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Always true.. IID or not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id&quot;:&quot;3&quot;,&quot;font&quot;:{&quot;family&quot;:&quot;Arial&quot;,&quot;size&quot;:10,&quot;color&quot;:&quot;#595959&quot;},&quot;backgroundColorModified&quot;:false,&quot;code&quot;:&quot;\\begin{lalign*}\n&amp;{y^{l}=W^{l}x^{l}+b^{l}}\\\\\n&amp;{Var\\left(y^{l}\\right)=Var\\left(W^{l}x^{l}+b^{l}\\right)}\\\\\n&amp;{\\,\\,\\,\\,\\,\\,\\,\\,\\,\\,\\,\\,\\,\\,\\,\\,\\,\\,\\,\\,\\,\\,\\,\\,=\\,Var\\left(W^{l}x^{l}\\right)+Var\\left(b^{l}\\right)}\\\\\n&amp;{\\,\\,\\,\\,\\,\\,\\,\\,\\,\\,\\,\\,\\,\\,\\,\\,\\,\\,\\,\\,\\,\\,\\,\\,\\,=\\,Var\\left(W^{l}x^{l}\\right)}\\\\\n&amp;{\\text{Consider}\\;\\text{variance}\\;\\text{of}\\;\\text{the}\\;i^{th}\\;\\text{element}\\;\\text{of}\\;y^{l}}\\\\\n&amp;{Var\\left(y_{i}^{l}\\right)=Var\\left(\\sum_{k=1}^{m}W_{ik}^{l}x_{k}^{l}\\right)}\\\\\n&amp;{\\,\\,\\,\\,\\,\\,\\,\\,\\,\\,\\,\\,\\,\\,\\,\\,\\,\\,\\,\\,\\,\\,\\,\\,=\\,\\sum_{k=1}^{m}Var\\left(W_{ik}^{l}x_{k}^{l}\\right)}\\\\\n&amp;{\\text{For}\\;\\text{ease}\\;\\text{of}\\;\\text{notation,}\\;\\text{let's}\\;\\text{drop}\\;\\text{the}\\;\\text{superscript}\\;\\text{for}\\;\\text{layer}\\;l\\,\\,\\,\\,\\,\\,\\,\\,\\,\\,\\,\\,\\,\\,\\,\\,\\,\\,\\,\\,\\,\\,}\\\\\n&amp;{\\text{Since}\\;\\text{elements}\\;\\text{of}\\;y,\\,W\\,\\text{and}\\;x\\,\\text{are}\\;\\text{iid,}\\;\\text{we}\\;\\text{can}\\;\\text{drop}\\;\\text{the}\\;\\text{subscript}\\text{s}\\;\\text{well}}\\\\\n&amp;{\\,\\,\\,\\,\\,\\,\\,\\,\\,\\,\\,\\,\\,\\,\\,\\,\\,\\,\\,\\,\\,\\,\\,\\,\\,Var\\left(y\\right)=\\,mVar\\left(Wx\\right)\\,}\\\\\n&amp;{\\text{Here}\\;y,\\,W,\\,x\\,\\text{refer}\\;\\text{to}\\;\\text{individual}\\;\\text{elements}\\;\\text{of}\\;\\text{the}\\;\\text{corresonding}\\;\\text{vectors}}\\\\\n&amp;{\\,\\,\\,\\,\\,\\,\\,\\,\\,\\,\\,\\,\\,\\,\\,\\,\\,\\,\\,\\,\\,\\,\\,\\,\\,=m\\left(E\\left(W^{2}x^{2}\\right)-E^{2}\\left(W\\right)E^{2}\\left(x_{k}\\right)\\right)}\\\\\n&amp;{\\text{Because}\\,E\\left(x\\right)=0\\,\\text{and}\\;E\\left(W\\right)=0,}\\\\\n&amp;{Var\\left(y\\right)=mE\\left(W^{2}x^{2}\\right)}\\\\\n&amp;{\\text{Because}\\;x\\,\\text{and}\\;W\\,\\text{are}\\;\\text{independent,}}\\\\\n&amp;{E\\left(W^{2}x^{2}\\right)=E\\left(W^{2}\\right)E\\left(x^{2}\\right)}\\\\\n&amp;{\\text{Because}\\;E\\left(x\\right)=0\\,\\text{and}\\;E\\left(W\\right)=0,}\\\\\n&amp;{E\\left(W^{2}x^{2}\\right)=\\left(E\\left(W^{2}\\right)-E^{2}\\left(W\\right)\\right)\\left(E\\left(x^{2}\\right)-E^{2}\\left(x\\right)\\right)}\\\\\n&amp;{\\,\\,\\,\\,\\,\\,\\,\\,\\,\\,\\,\\,\\,\\,\\,\\,\\,\\,\\,\\,\\,\\,\\,\\,\\,\\,\\,\\,=\\,Var\\left(W\\right)Var\\left(x\\right)}\\\\\n&amp;{\\text{So}\\;\\text{finally,}}\\\\\n&amp;{Var\\left(y\\right)=mVar\\left(W\\right)Var\\left(x\\right)}\t\n\\end{lalign*}&quot;,&quot;aid&quot;:null,&quot;backgroundColor&quot;:&quot;#FFFFFF&quot;,&quot;type&quot;:&quot;lalign*&quot;,&quot;ts&quot;:1757467014520,&quot;cs&quot;:&quot;htFfbIkhoYLbIFr+L567/g==&quot;,&quot;size&quot;:{&quot;width&quot;:462,&quot;height&quot;:514}}" id="241" name="Google Shape;24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8475" y="179608"/>
            <a:ext cx="4400550" cy="489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{&quot;backgroundColor&quot;:&quot;#FFFFFF&quot;,&quot;type&quot;:&quot;lalign*&quot;,&quot;code&quot;:&quot;\\begin{lalign*}\n&amp;{a=ReLU\\left(y\\right)}\\\\\n&amp;{a\\,=\\,y\\,\\,\\text{if}\\;\\text{y}\\;\\text{&gt;0}\\text{}}\\\\\n&amp;{\\,\\,\\,\\,\\,\\,=0\\,\\text{otherwise}}\\\\\n&amp;{E\\left(a\\right)=\\int_{-\\infty}^{\\infty}af\\left(a\\right)\\,\\text{where}\\;f\\left(a\\right)\\,\\text{is}\\;\\text{probability}\\;\\text{density}\\;\\text{function}\\;\\text{of}\\;\\text{a}}\\\\\n&amp;{\\,\\,\\,\\,\\,\\,\\,\\,\\,\\,\\,\\,\\,\\,\\,=\\int_{0}^{\\infty}yf\\left(y\\right)}\\\\\n&amp;{\\text{We}\\;\\text{know}\\;y\\,\\text{is}\\;\\text{normally}\\;\\text{distributed.}\\;\\text{Let}\\;\\text{the}\\;\\text{mean}\\;\\text{and}\\;\\text{standard}\\;\\text{deviation}\\;\\text{be}\\;\\mu \\;\\text{and}\\;\\sigma\\text{}}\\\\\n&amp;{\\text{Recall:}\\;\\text{Standard}\\;\\text{deviation}\\;\\text{=}\\;\\text{sqrt(Var)}}\\\\\n&amp;{\\text{Following}\\;\\text{definition}\\;\\text{of}\\;\\text{a}\\;\\text{normal}\\;\\text{distribution,}}\\\\\n&amp;{f\\left(y\\right)=\\frac{1}{\\sigma{\\sqrt[]{2\\pi\\mu}}}\\exp\\left(-\\left(y-\\mu\\right)^{2}/2\\sigma^{2}\\right)}\\\\\n&amp;{\\text{Since}\\;\\mu=0,}\\\\\n&amp;{f\\left(y\\right)=\\frac{1}{\\sigma{\\sqrt[]{2\\pi}}}\\exp\\left(-y^{2}/2\\sigma^{2}\\right)}\\\\\n&amp;{\\text{plugging}\\;\\text{in}\\;\\text{the}\\;\\text{above,}}\\\\\n&amp;{\\,E\\left(a\\right)=\\int_{0}^{\\infty}y\\frac{1}{\\sigma{\\sqrt[]{2\\pi}}}\\exp\\left(-y^{2}/2\\sigma^{2}\\right)}\\\\\n&amp;{\\text{From}\\;\\text{integration}\\;\\text{by}\\;\\text{parts,}}\\\\\n&amp;{\\int_{a}^{b}u\\left(x\\right)v^{\\prime}\\left(x\\right)dx=u\\left(b\\right)v\\left(b\\right)-u\\left(a\\right)v\\left(a\\right)-\\int_{a}^{b}u^{\\prime}\\left(x\\right)v\\left(x\\right)dx}\\\\\n&amp;{\\text{Now,}\\,\\frac{d}{dy}\\exp\\left(-y^{2}/2\\sigma^{2}\\right)=-\\frac{y}{\\sigma^{2}}\\exp \\left(y^{2}/2\\sigma^{2}\\right)}\\\\\n&amp;{\\text{Considering}\\;u\\left(y\\right)=-1\\,\\therefore u^{\\prime}\\left(y\\right)=0\\,\\text{and}\\;\\text{}v\\left(y\\right)=\\exp\\left(-y^{2}/2\\sigma^{2}\\right)}\\\\\n&amp;{\\frac{\\sigma}{{\\sqrt[]{2\\pi}}}\\int_{0}^{\\infty}\\frac{y}{\\sigma^{2}}\\exp\\left(-y^{2}/2\\sigma^{2}\\right)=\\frac{\\sigma}{{\\sqrt[]{2\\pi}}}\\left(-1\\times \\exp_{\\lim_{y\\to \\infty}}\\left(-y^{2}/2\\sigma^{2}\\right)-\\left(-1\\times \\exp\\left(0/2\\sigma^{2}\\right)\\right)\\right)}\\\\\n&amp;{\\,\\,\\,\\,\\,\\,\\,\\,\\,\\,\\,\\,\\,\\,\\,\\,\\,\\,\\,\\,\\,\\,\\,\\,\\,\\,\\,\\,\\,\\,\\,\\,\\,\\,\\,\\,\\,\\,\\,\\,\\,\\,\\,\\,\\,\\,\\,\\,\\,\\,\\,\\,\\,\\,\\,\\,\\,\\,\\,\\,\\,\\,\\,\\,\\,\\,\\,\\,\\,\\,\\,\\,\\,\\,\\,=\\frac{\\sigma}{{\\sqrt[]{2\\pi}}}}\t\n\\end{lalign*}&quot;,&quot;backgroundColorModified&quot;:false,&quot;font&quot;:{&quot;family&quot;:&quot;Arial&quot;,&quot;color&quot;:&quot;#595959&quot;,&quot;size&quot;:9},&quot;id&quot;:&quot;3&quot;,&quot;aid&quot;:null,&quot;ts&quot;:1757470647842,&quot;cs&quot;:&quot;A/4hS5hedi/bIr3Toj6j4w==&quot;,&quot;size&quot;:{&quot;width&quot;:534.0000000000001,&quot;height&quot;:520}}" id="246" name="Google Shape;24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8469" y="102450"/>
            <a:ext cx="5086350" cy="49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{&quot;backgroundColorModified&quot;:false,&quot;backgroundColor&quot;:&quot;#FFFFFF&quot;,&quot;code&quot;:&quot;\\begin{lalign*}\n&amp;{\\text{Now}\\;\\text{let's}\\;\\text{calculate}\\;E\\left(a^{2}\\right).\\,\\text{Then}\\;\\text{we}\\;\\text{can}\\;\\text{calculate}\\;Var\\left(a\\right)=E\\left(a^{2}\\right)-E^{2}\\left(a\\right)}\\\\\n&amp;{E\\left(a^{2}\\right)=\\int_{-\\infty}^{\\infty}a^{2}f\\left(a\\right)\\,\\text{where}\\;f\\left(a\\right)\\,\\text{is}\\;\\text{probability}\\;\\text{density}\\;\\text{function}\\;\\text{of}\\;\\text{a}}\\\\\n&amp;{\\,\\,\\,\\,\\,\\,\\,\\,\\,\\,\\,\\,\\,\\,\\,=\\int_{0}^{\\infty}y^{2}f\\left(y\\right)=\\frac{1}{2}\\int_{-\\infty}^{\\infty}y^{2}f\\left(y\\right)\\,\\text{because}\\;y^{2}\\;\\text{is}\\;\\text{a}\\;\\text{symetric}\\;\\text{function}\\;\\text{about}\\;\\text{0}}\\\\\n&amp;{\\text{So}}\\\\\n&amp;{E\\left(a^{2}\\right)=\\frac{1}{2}E\\left(y^{2}\\right)}\\\\\n&amp;{\\text{Because}\\;E\\left(y\\right)=0,\\,E\\left(a^{2}\\right)=\\frac{1}{2}\\left(E\\left(y^{2}\\right)-E^{2}\\left(y\\right)\\right)=\\frac{Var\\left(y\\right)}{2}}\\\\\n&amp;{\\text{Thus,}}\\\\\n&amp;{Var\\left(a\\right)=E\\left(a^{2}\\right)-E^{2}\\left(a\\right)}\\\\\n&amp;{\\,\\,\\,\\,\\,\\,\\,\\,\\,\\,\\,\\,\\,\\,\\,\\,\\,\\,\\,\\,\\,=\\,\\frac{Var\\left(y\\right)}{2}-\\frac{\\sigma^{2}}{2\\pi}}\\\\\n&amp;{\\,\\,\\,\\,\\,\\,\\,\\,\\,\\,\\,\\,\\,\\,\\,\\,\\,\\,\\,\\,\\,=\\,\\frac{mVar\\left(x\\right)Var\\left(W\\right)}{2}-\\frac{\\sigma^{2}}{2\\pi}}\\\\\n&amp;{\\text{Because}\\;\\text{the}\\;\\text{first}\\;\\text{term}\\;\\text{is}\\;\\text{multiplied}\\;\\text{by}\\;\\text{m,}\\;\\text{while}\\;\\text{the}\\;\\text{second}\\;\\text{is}\\;\\text{not,}\\;\\text{we}\\;\\text{generally}}\\\\\n&amp;{\\text{ignore}\\;\\text{the}\\;\\text{second}\\;\\text{term.}\\;\\text{So}}\\\\\n&amp;{Var\\left(a\\right)\\approx\\frac{mVar\\left(x\\right)Var\\left(W\\right)}{2}}\\\\\n&amp;{\\text{We}\\;\\text{want}\\;Var\\left(a\\right)=Var\\left(x\\right),\\,\\text{so:}}\\\\\n&amp;{Var\\left(W\\right)=2/m\\,}\\\\\n&amp;{}\t\n\\end{lalign*}&quot;,&quot;aid&quot;:null,&quot;font&quot;:{&quot;color&quot;:&quot;#000000&quot;,&quot;family&quot;:&quot;Arial&quot;,&quot;size&quot;:9},&quot;type&quot;:&quot;lalign*&quot;,&quot;id&quot;:&quot;4&quot;,&quot;ts&quot;:1757468112737,&quot;cs&quot;:&quot;8ZL4BBwFCnL6a85+fRHiEg==&quot;,&quot;size&quot;:{&quot;width&quot;:477.3333333333333,&quot;height&quot;:396}}" id="251" name="Google Shape;25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3555" y="289425"/>
            <a:ext cx="4546600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Backward Pass</a:t>
            </a:r>
            <a:endParaRPr/>
          </a:p>
        </p:txBody>
      </p:sp>
      <p:pic>
        <p:nvPicPr>
          <p:cNvPr descr="{&quot;backgroundColorModified&quot;:false,&quot;backgroundColor&quot;:&quot;#FFFFFF&quot;,&quot;type&quot;:&quot;lalign*&quot;,&quot;id&quot;:&quot;3&quot;,&quot;font&quot;:{&quot;size&quot;:18,&quot;family&quot;:&quot;Arial&quot;,&quot;color&quot;:&quot;#595959&quot;},&quot;code&quot;:&quot;\\begin{lalign*}\n&amp;{y^{l}=W^{l}x^{l}+b^{l}}\\\\\n&amp;{a^{l}=\\text{ReLU(}y^{l}\\text{)}}\\\\\n&amp;{W^{l}:\\,n\\times m}\\\\\n&amp;{x^{l}:\\,m\\times1}\\\\\n&amp;{y^{l}:\\,n\\times1}\\\\\n&amp;{b^{l}:\\,n\\times1}\t\n\\end{lalign*}&quot;,&quot;aid&quot;:null,&quot;ts&quot;:1757264320199,&quot;cs&quot;:&quot;xxSRwzFZxDSmUA+6OYUc4Q==&quot;,&quot;size&quot;:{&quot;width&quot;:175.60000000000002,&quot;height&quot;:230.40000000000006}}" id="257" name="Google Shape;25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550" y="1645600"/>
            <a:ext cx="1672590" cy="2194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font&quot;:{&quot;color&quot;:&quot;#000000&quot;,&quot;family&quot;:&quot;Arial&quot;,&quot;size&quot;:12},&quot;aid&quot;:null,&quot;id&quot;:&quot;6&quot;,&quot;type&quot;:&quot;lalign*&quot;,&quot;code&quot;:&quot;\\begin{lalign*}\n&amp;{\\text{For}\\;\\text{backward}\\;\\text{pass,}\\;\\text{we}\\;\\text{have}}\\\\\n&amp;{\\frac{\\partial e}{\\partial x}=W^{T}\\frac{\\partial e}{\\partial y}}\\\\\n&amp;{\\frac{\\partial e}{\\partial y}=\\frac{\\partial e}{\\partial a}\\,\\text{when}\\;a&gt;0}\\\\\n&amp;{\\,\\,\\,\\,\\,\\,\\,\\,\\,\\,\\,=\\,0\\,\\,\\text{otherwise}}\\\\\n&amp;{\\text{We}\\;\\text{want}\\;\\text{to}\\,\\text{set}\\;\\text{Var(W)}\\;\\text{such}\\;\\text{that}\\;\\text{Var(}\\frac{\\partial e}{\\partial x}\\text{)=Var(}\\frac{\\partial e}{\\partial a}\\text{)}}\\\\\n&amp;{\\text{As}\\;\\text{before,}\\;\\text{let's}\\;\\text{first}\\;\\text{calculate}\\;\\text{Var}\\left(\\frac{\\partial e}{\\partial y}\\right)\\;\\text{and}\\;\\text{connect}\\;\\text{it}\\;\\text{to}\\;Var\\left(\\frac{\\partial e}{\\partial a}\\right)}\t\n\\end{lalign*}&quot;,&quot;backgroundColorModified&quot;:false,&quot;ts&quot;:1757559581790,&quot;cs&quot;:&quot;vunDcQkrBYjTXqoGvPr00Q==&quot;,&quot;size&quot;:{&quot;width&quot;:567.5,&quot;height&quot;:235}}" id="258" name="Google Shape;25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5971" y="1306550"/>
            <a:ext cx="5405438" cy="22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"/>
          <p:cNvSpPr txBox="1"/>
          <p:nvPr>
            <p:ph type="title"/>
          </p:nvPr>
        </p:nvSpPr>
        <p:spPr>
          <a:xfrm>
            <a:off x="311700" y="445025"/>
            <a:ext cx="227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backgroundColor&quot;:&quot;#FFFFFF&quot;,&quot;type&quot;:&quot;lalign*&quot;,&quot;id&quot;:&quot;5&quot;,&quot;code&quot;:&quot;\\begin{lalign*}\n&amp;{\\frac{\\partial e}{\\partial a}\\,\\text{is}\\;\\text{a}\\,n\\times1\\,\\text{vector,}\\;\\text{whose}\\;\\text{elements}\\;\\text{are}\\;\\text{iid,}\\;\\text{normally}\\;\\text{distributed}\\;\\text{with}\\;\\text{mean=0}}\\\\\n&amp;{\\text{Let's}\\;\\text{consider}\\;\\text{an}\\;\\text{element}\\;\\text{of}\\;\\frac{\\partial e}{\\partial a},\\,\\text{representing}\\;\\text{it}\\;\\text{also}\\;\\text{by}\\;\\frac{\\partial e}{\\partial a}\\,\\text{with}\\;\\text{some}\\;\\text{abuse}\\;\\text{of}\\;\\text{notation}}\\\\\n&amp;{\\frac{\\partial e}{\\partial y}=\\frac{\\partial e}{\\partial a}\\,\\text{for}\\;a&gt;0}\\\\\n&amp;{\\,\\,\\,\\,\\,\\,\\,\\,\\,\\,\\,=0\\,\\,\\,\\,\\,\\,\\text{otherwise}}\\\\\n&amp;{\\,}\\\\\n&amp;{E\\left(\\frac{\\partial e}{\\partial y}\\right)=P\\left(a&gt;0\\right)E\\left(\\frac{\\partial e}{\\partial a_{&gt;0}}\\right)+P\\left(a\\leq0\\right)\\times0}\\\\\n&amp;{\\,\\,\\,\\,\\,\\,\\,\\,\\,\\,\\,\\,\\,\\,\\,\\,\\,\\,\\,\\,\\,\\,\\,\\,\\,=1/2\\,\\times0+1/2\\,\\times0\\,=0}\\\\\n&amp;{\\text{Because}\\;\\text{distribution}\\;\\text{of}\\;a\\,\\text{is}\\;\\text{symmetrical}\\;\\text{about}\\;\\text{0,}\\;\\text{so}\\;\\text{P(a&gt;0)=P(a&lt;0)=1/2}}\\\\\n&amp;{\\text{The}\\;\\text{expression}\\;\\text{above}\\;\\text{partitions}\\;\\frac{\\partial e}{\\partial a}\\,\\text{into}\\;\\text{two}\\;\\text{subsets,}\\;\\text{one}\\,\\text{where}\\;a&gt;0\\;\\text{and}}\\\\\n&amp;{o\\text{other}\\;\\text{where}\\;a\\leq0.\\,\\text{We}\\;\\text{expect}\\;\\text{distributions}\\;\\text{of}\\;a\\,\\text{and}\\;\\frac{\\partial e}{\\partial a}\\,\\text{to}\\;\\text{be}\\;\\text{independent,}}\\\\\n&amp;{\\text{because}\\;\\frac{\\partial e}{\\partial a}\\text{is}\\;\\text{being}\\;\\text{backpropagated}\\;\\text{from}\\;\\text{higher}\\;\\text{layers.}\\;\\text{So,}\\;\\text{since}\\;\\text{}}\\\\\n&amp;{\\;E\\left(\\frac{\\partial e}{\\partial a}\\right)=0,\\,\\text{the}\\;\\text{expectation}\\;\\text{over}\\;\\text{two}\\;\\text{random}\\;\\text{subsets}\\;\\text{of}\\;\\frac{\\partial e}{\\partial a}}\\\\\n&amp;{\\;\\text{should}\\;\\text{also}\\;\\text{be}\\;\\text{zero}}\\\\\n&amp;{Var\\left(\\frac{\\partial e}{\\partial y}\\right)=E\\left(\\left[\\frac{\\partial e}{\\partial y}\\right]^{2}\\right)-E^{2}\\left(\\frac{\\partial e}{\\partial y}\\right)}\\\\\n&amp;{\\,\\,\\,\\,\\,\\,\\,\\,\\,\\,\\,\\,\\,\\,\\,\\,\\,\\,\\,\\,\\,\\,\\,\\,\\,\\,\\,\\,\\,\\,\\,=\\,E\\left(\\left[\\frac{\\partial e}{\\partial y}\\right]^{2}\\right)}\t\n\\end{lalign*}&quot;,&quot;aid&quot;:null,&quot;backgroundColorModified&quot;:false,&quot;font&quot;:{&quot;size&quot;:10.5,&quot;color&quot;:&quot;#000000&quot;,&quot;family&quot;:&quot;Arial&quot;},&quot;ts&quot;:1757559161372,&quot;cs&quot;:&quot;J7vc6jvz33yjMgIOWg8D3w==&quot;,&quot;size&quot;:{&quot;width&quot;:627.5000000000001,&quot;height&quot;:538.5}}" id="265" name="Google Shape;26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9049" y="266449"/>
            <a:ext cx="5976938" cy="5129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type&quot;:&quot;lalign*&quot;,&quot;id&quot;:&quot;5&quot;,&quot;code&quot;:&quot;\\begin{lalign*}\n&amp;{\\text{Continuing}\\;\\text{along,}}\\\\\n&amp;{Var\\left(\\frac{\\partial e}{\\partial y}\\right)=E\\left(\\left[\\frac{\\partial e}{\\partial y}\\right]^{2}\\right)-E^{2}\\left(\\frac{\\partial e}{\\partial y}\\right)}\\\\\n&amp;{\\,\\,\\,\\,\\,\\,\\,\\,\\,\\,\\,\\,\\,\\,\\,\\,\\,\\,\\,\\,\\,\\,\\,\\,\\,\\,\\,\\,\\,\\,\\,=\\,E\\left(\\left[\\frac{\\partial e}{\\partial y}\\right]^{2}\\right)}\\\\\n&amp;{\\text{As}\\;\\text{before,}}\\\\\n&amp;{E\\left(\\left[\\frac{\\partial e}{\\partial y}\\right]^{2}\\right)=P\\left(a&gt;0\\right)E\\left(\\left[\\frac{\\partial e}{\\partial a}\\right]_{a&gt;0}^{2}\\right)+P\\left(a\\leq0\\right)\\times0}\\\\\n&amp;{\\,\\,\\,\\,\\,\\,\\,\\,\\,\\,\\,\\,\\,\\,\\,\\,\\,\\,\\,\\,\\,\\,\\,\\,\\,\\,\\,\\,\\,\\,\\,\\,\\,\\,\\,=\\frac{1}{2}\\left(E\\left(\\left[\\frac{\\partial e}{\\partial a}\\right]_{a&gt;0}^{2}\\right)-E^{2}\\left(\\left[\\frac{\\partial e}{\\partial a}\\right]_{a&gt;0}\\right)\\,\\right)\\because E\\left(\\left[\\frac{\\partial e}{\\partial a}\\right]_{a&gt;0}\\right)=0}\\\\\n&amp;{\\,\\,\\,\\,\\,\\,\\,\\,\\,\\,\\,\\,\\,\\,\\,\\,\\,\\,\\,\\,\\,\\,\\,\\,\\,\\,\\,\\,\\,\\,\\,\\,\\,\\,\\,=\\,\\frac{1}{2}var\\left(\\frac{\\partial e}{\\partial a}\\right)}\\\\\n&amp;{\\text{So:}Var\\left(\\frac{\\partial e}{\\partial y}\\right)=\\frac{1}{2}var\\left(\\frac{\\partial e}{\\partial a}\\right)\\,\\text{similar}\\;\\text{to}\\;\\text{forward}\\;\\text{pass,}\\;\\text{but}\\;\\text{different}\\;\\text{derivation}}\\\\\n&amp;{}\t\n\\end{lalign*}&quot;,&quot;font&quot;:{&quot;size&quot;:12,&quot;color&quot;:&quot;#000000&quot;,&quot;family&quot;:&quot;Arial&quot;},&quot;backgroundColor&quot;:&quot;#FFFFFF&quot;,&quot;aid&quot;:null,&quot;backgroundColorModified&quot;:false,&quot;ts&quot;:1757559433533,&quot;cs&quot;:&quot;dm1Lv53+w19vIOP03RA4tg==&quot;,&quot;size&quot;:{&quot;width&quot;:635.5,&quot;height&quot;:392}}" id="272" name="Google Shape;27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4360" y="548748"/>
            <a:ext cx="6053138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id&quot;:&quot;5&quot;,&quot;backgroundColorModified&quot;:false,&quot;backgroundColor&quot;:&quot;#FFFFFF&quot;,&quot;code&quot;:&quot;\\begin{lalign*}\n&amp;{\\text{As}\\;\\text{with}\\;\\text{forward}\\;\\text{pass,}}\\\\\n&amp;{Var\\left(\\frac{\\partial e}{\\partial x}\\right)=nVar\\left(W\\right)Var\\left(\\frac{\\partial e}{\\partial y}\\right)\\,\\because\\frac{\\partial e}{\\partial x}=W^{T}\\frac{\\partial e}{\\partial y},\\,W^{T}\\text{is}\\;m\\times n}\\\\\n&amp;{\\,\\,\\,\\,\\,\\,\\,\\,\\,\\,\\,\\,\\,\\,\\,\\,\\,\\,\\,\\,\\,\\,\\,\\,\\,\\,\\,\\,\\,\\,\\,=\\,\\frac{n}{2}Var\\left(W\\right)Var\\left(\\frac{\\partial e}{\\partial a}\\right)}\\\\\n&amp;{\\;\\text{We}\\;\\text{want}\\;Var\\left(\\frac{\\partial e}{\\partial x}\\right)=Var\\left(\\frac{\\partial e}{\\partial a}\\right)}\\\\\n&amp;{\\text{So}\\;Var\\left(W\\right)=2/n}\\\\\n&amp;{}\t\n\\end{lalign*}&quot;,&quot;font&quot;:{&quot;family&quot;:&quot;Arial&quot;,&quot;color&quot;:&quot;#000000&quot;,&quot;size&quot;:12},&quot;aid&quot;:null,&quot;type&quot;:&quot;lalign*&quot;,&quot;ts&quot;:1757559931929,&quot;cs&quot;:&quot;r0sjaAhGXdYcj2EUmBzgag==&quot;,&quot;size&quot;:{&quot;width&quot;:543,&quot;height&quot;:195}}" id="279" name="Google Shape;27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9803" y="1603642"/>
            <a:ext cx="5172075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