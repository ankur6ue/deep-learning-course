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02DFE77-02EC-4D0D-B4A5-6E3D87EE2B06}">
  <a:tblStyle styleId="{002DFE77-02EC-4D0D-B4A5-6E3D87EE2B0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3" Type="http://schemas.openxmlformats.org/officeDocument/2006/relationships/slide" Target="slides/slide57.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8d5a660c5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d8d5a660c5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43a5ed137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43a5ed13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8d5a660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8d5a660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3dc60c2b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3dc60c2b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8d5a660c5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8d5a660c5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8d5a660c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8d5a660c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8d5a660c5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d8d5a660c5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8d5a660c5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d8d5a660c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88251a67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88251a67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88251a67d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88251a67d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8d5a660c5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d8d5a660c5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8d5a660c5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d8d5a660c5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d8d5a660c5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d8d5a660c5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88251a67d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88251a67d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88251a67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a88251a67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ef909502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def909502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def909502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def909502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def909502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def909502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def909502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def909502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ef909502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def909502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def909502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def909502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def909502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def909502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df6e96e8a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df6e96e8a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f6e96e8a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df6e96e8a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df6e96e8a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df6e96e8a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e3dc60c2b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e3dc60c2b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ef90950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def90950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e3dc60c2b7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e3dc60c2b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e0893d8a1a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e0893d8a1a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e0893d8a1a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e0893d8a1a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e0893d8a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e0893d8a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e0893d8a1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e0893d8a1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e0893d8a1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e0893d8a1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e0893d8a1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e0893d8a1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e0893d8a1a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e0893d8a1a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e0893d8a1a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e0893d8a1a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d8d5a660c5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d8d5a660c5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9a6157980a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9a6157980a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9a6157980a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9a6157980a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9a6157980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9a6157980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9a6157980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9a6157980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9a6157980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9a6157980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9a6157980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9a6157980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9a6157980a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9a6157980a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9a6157980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9a6157980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9a6157980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9a6157980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9a6157980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9a6157980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9a6157980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9a6157980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9a6157980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9a6157980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9a6157980a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9a6157980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9a6157980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9a6157980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9a6157980a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9a6157980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9a6157980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9a6157980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9a6157980a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9a6157980a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9a6157980a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9a6157980a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b75e36c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db75e36c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e3dc60c2b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e3dc60c2b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1.png"/><Relationship Id="rId4"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Inference Systems:</a:t>
            </a:r>
            <a:endParaRPr/>
          </a:p>
          <a:p>
            <a:pPr indent="0" lvl="0" marL="0" rtl="0" algn="ctr">
              <a:spcBef>
                <a:spcPts val="0"/>
              </a:spcBef>
              <a:spcAft>
                <a:spcPts val="0"/>
              </a:spcAft>
              <a:buNone/>
            </a:pPr>
            <a:r>
              <a:rPr lang="en" sz="2756"/>
              <a:t>vLLM Architecture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Introduction to Deep Learning: Class 5.7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vLLM</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vLLM is a high-throughput and memory-efficient inference and serving engine for Large Language Models (LLMs)</a:t>
            </a:r>
            <a:endParaRPr/>
          </a:p>
          <a:p>
            <a:pPr indent="-342900" lvl="0" marL="457200" rtl="0" algn="l">
              <a:spcBef>
                <a:spcPts val="0"/>
              </a:spcBef>
              <a:spcAft>
                <a:spcPts val="0"/>
              </a:spcAft>
              <a:buSzPts val="1800"/>
              <a:buChar char="-"/>
            </a:pPr>
            <a:r>
              <a:rPr lang="en"/>
              <a:t>Addresses unique challenges involved in generative LLM serving</a:t>
            </a:r>
            <a:endParaRPr/>
          </a:p>
          <a:p>
            <a:pPr indent="-342900" lvl="0" marL="457200" rtl="0" algn="l">
              <a:spcBef>
                <a:spcPts val="0"/>
              </a:spcBef>
              <a:spcAft>
                <a:spcPts val="0"/>
              </a:spcAft>
              <a:buSzPts val="1800"/>
              <a:buChar char="-"/>
            </a:pPr>
            <a:r>
              <a:rPr lang="en"/>
              <a:t>Originally developed in the Sky Computing Lab at UC Berkeley, vLLM has grown into one of the most active open-source AI projects with over 2000 contributors </a:t>
            </a:r>
            <a:endParaRPr/>
          </a:p>
          <a:p>
            <a:pPr indent="-342900" lvl="0" marL="457200" rtl="0" algn="l">
              <a:spcBef>
                <a:spcPts val="0"/>
              </a:spcBef>
              <a:spcAft>
                <a:spcPts val="0"/>
              </a:spcAft>
              <a:buSzPts val="1800"/>
              <a:buChar char="-"/>
            </a:pPr>
            <a:r>
              <a:rPr lang="en"/>
              <a:t>Distributed as a Python package (can be pip install</a:t>
            </a:r>
            <a:r>
              <a:rPr lang="en"/>
              <a:t>ed)</a:t>
            </a:r>
            <a:endParaRPr/>
          </a:p>
          <a:p>
            <a:pPr indent="-342900" lvl="0" marL="457200" rtl="0" algn="l">
              <a:spcBef>
                <a:spcPts val="0"/>
              </a:spcBef>
              <a:spcAft>
                <a:spcPts val="0"/>
              </a:spcAft>
              <a:buSzPts val="1800"/>
              <a:buChar char="-"/>
            </a:pPr>
            <a:r>
              <a:rPr lang="en"/>
              <a:t>Can be used standalone (vllm serve) or integrated in user’s Python code</a:t>
            </a:r>
            <a:endParaRPr/>
          </a:p>
          <a:p>
            <a:pPr indent="-342900" lvl="0" marL="457200" rtl="0" algn="l">
              <a:spcBef>
                <a:spcPts val="0"/>
              </a:spcBef>
              <a:spcAft>
                <a:spcPts val="0"/>
              </a:spcAft>
              <a:buSzPts val="1800"/>
              <a:buChar char="-"/>
            </a:pPr>
            <a:r>
              <a:rPr lang="en"/>
              <a:t>Can be integrated with other serving systems, eg Ray Serve</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2857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p:txBody>
      </p:sp>
      <p:sp>
        <p:nvSpPr>
          <p:cNvPr id="67" name="Google Shape;67;p15"/>
          <p:cNvSpPr txBox="1"/>
          <p:nvPr>
            <p:ph idx="1" type="body"/>
          </p:nvPr>
        </p:nvSpPr>
        <p:spPr>
          <a:xfrm>
            <a:off x="311700" y="1152475"/>
            <a:ext cx="3832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Recap transformer architecture</a:t>
            </a:r>
            <a:endParaRPr/>
          </a:p>
          <a:p>
            <a:pPr indent="-342900" lvl="0" marL="457200" rtl="0" algn="l">
              <a:spcBef>
                <a:spcPts val="0"/>
              </a:spcBef>
              <a:spcAft>
                <a:spcPts val="0"/>
              </a:spcAft>
              <a:buSzPts val="1800"/>
              <a:buChar char="-"/>
            </a:pPr>
            <a:r>
              <a:rPr lang="en"/>
              <a:t>KV caching</a:t>
            </a:r>
            <a:endParaRPr/>
          </a:p>
          <a:p>
            <a:pPr indent="-342900" lvl="0" marL="457200" rtl="0" algn="l">
              <a:spcBef>
                <a:spcPts val="0"/>
              </a:spcBef>
              <a:spcAft>
                <a:spcPts val="0"/>
              </a:spcAft>
              <a:buSzPts val="1800"/>
              <a:buChar char="-"/>
            </a:pPr>
            <a:r>
              <a:rPr lang="en"/>
              <a:t>Paged attention</a:t>
            </a:r>
            <a:endParaRPr/>
          </a:p>
          <a:p>
            <a:pPr indent="-342900" lvl="0" marL="457200" rtl="0" algn="l">
              <a:spcBef>
                <a:spcPts val="0"/>
              </a:spcBef>
              <a:spcAft>
                <a:spcPts val="0"/>
              </a:spcAft>
              <a:buSzPts val="1800"/>
              <a:buChar char="-"/>
            </a:pPr>
            <a:r>
              <a:rPr lang="en"/>
              <a:t>Continuous batching</a:t>
            </a:r>
            <a:endParaRPr/>
          </a:p>
          <a:p>
            <a:pPr indent="-342900" lvl="0" marL="457200" rtl="0" algn="l">
              <a:spcBef>
                <a:spcPts val="0"/>
              </a:spcBef>
              <a:spcAft>
                <a:spcPts val="0"/>
              </a:spcAft>
              <a:buSzPts val="1800"/>
              <a:buChar char="-"/>
            </a:pPr>
            <a:r>
              <a:rPr lang="en"/>
              <a:t>Prefix caching</a:t>
            </a:r>
            <a:endParaRPr/>
          </a:p>
          <a:p>
            <a:pPr indent="-342900" lvl="0" marL="457200" rtl="0" algn="l">
              <a:spcBef>
                <a:spcPts val="0"/>
              </a:spcBef>
              <a:spcAft>
                <a:spcPts val="0"/>
              </a:spcAft>
              <a:buSzPts val="1800"/>
              <a:buChar char="-"/>
            </a:pPr>
            <a:r>
              <a:rPr lang="en"/>
              <a:t>Prefill-Decode disaggregation</a:t>
            </a:r>
            <a:endParaRPr/>
          </a:p>
          <a:p>
            <a:pPr indent="-342900" lvl="0" marL="457200" rtl="0" algn="l">
              <a:spcBef>
                <a:spcPts val="0"/>
              </a:spcBef>
              <a:spcAft>
                <a:spcPts val="0"/>
              </a:spcAft>
              <a:buSzPts val="1800"/>
              <a:buChar char="-"/>
            </a:pPr>
            <a:r>
              <a:rPr lang="en"/>
              <a:t>Speculative decoding</a:t>
            </a:r>
            <a:endParaRPr/>
          </a:p>
          <a:p>
            <a:pPr indent="-342900" lvl="0" marL="457200" rtl="0" algn="l">
              <a:spcBef>
                <a:spcPts val="0"/>
              </a:spcBef>
              <a:spcAft>
                <a:spcPts val="0"/>
              </a:spcAft>
              <a:buSzPts val="1800"/>
              <a:buChar char="-"/>
            </a:pPr>
            <a:r>
              <a:rPr lang="en"/>
              <a:t>Compiled CUDA graphs</a:t>
            </a:r>
            <a:endParaRPr/>
          </a:p>
        </p:txBody>
      </p:sp>
      <p:sp>
        <p:nvSpPr>
          <p:cNvPr id="68" name="Google Shape;68;p15"/>
          <p:cNvSpPr/>
          <p:nvPr/>
        </p:nvSpPr>
        <p:spPr>
          <a:xfrm>
            <a:off x="5177575" y="507850"/>
            <a:ext cx="2369700" cy="6381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User / Client </a:t>
            </a:r>
            <a:r>
              <a:rPr lang="en" sz="1100"/>
              <a:t>                                               </a:t>
            </a:r>
            <a:endParaRPr sz="1100"/>
          </a:p>
          <a:p>
            <a:pPr indent="0" lvl="0" marL="0" rtl="0" algn="ctr">
              <a:spcBef>
                <a:spcPts val="0"/>
              </a:spcBef>
              <a:spcAft>
                <a:spcPts val="0"/>
              </a:spcAft>
              <a:buNone/>
            </a:pPr>
            <a:r>
              <a:rPr lang="en" sz="1100"/>
              <a:t>OpenAI-compatible API, Python SDK, batch/offline inference</a:t>
            </a:r>
            <a:endParaRPr sz="1100"/>
          </a:p>
        </p:txBody>
      </p:sp>
      <p:sp>
        <p:nvSpPr>
          <p:cNvPr id="69" name="Google Shape;69;p15"/>
          <p:cNvSpPr/>
          <p:nvPr/>
        </p:nvSpPr>
        <p:spPr>
          <a:xfrm>
            <a:off x="5177575" y="1481638"/>
            <a:ext cx="2369700" cy="6381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vLLM serving/runtime layer</a:t>
            </a:r>
            <a:endParaRPr b="1" sz="1100"/>
          </a:p>
          <a:p>
            <a:pPr indent="0" lvl="0" marL="0" rtl="0" algn="ctr">
              <a:spcBef>
                <a:spcPts val="0"/>
              </a:spcBef>
              <a:spcAft>
                <a:spcPts val="0"/>
              </a:spcAft>
              <a:buNone/>
            </a:pPr>
            <a:r>
              <a:rPr lang="en" sz="1100"/>
              <a:t>request intake, streaming outputs, cancellation, metrics </a:t>
            </a:r>
            <a:endParaRPr sz="1100"/>
          </a:p>
        </p:txBody>
      </p:sp>
      <p:sp>
        <p:nvSpPr>
          <p:cNvPr id="70" name="Google Shape;70;p15"/>
          <p:cNvSpPr/>
          <p:nvPr/>
        </p:nvSpPr>
        <p:spPr>
          <a:xfrm>
            <a:off x="4345825" y="2411988"/>
            <a:ext cx="4033200" cy="6381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vLLM engine core</a:t>
            </a:r>
            <a:endParaRPr b="1" sz="1100"/>
          </a:p>
          <a:p>
            <a:pPr indent="0" lvl="0" marL="0" rtl="0" algn="ctr">
              <a:spcBef>
                <a:spcPts val="0"/>
              </a:spcBef>
              <a:spcAft>
                <a:spcPts val="0"/>
              </a:spcAft>
              <a:buNone/>
            </a:pPr>
            <a:r>
              <a:rPr lang="en" sz="1100"/>
              <a:t>scheduler, continuous batching, KV-cache manager, prefix cache, block table, model execution coordination</a:t>
            </a:r>
            <a:endParaRPr sz="1100"/>
          </a:p>
        </p:txBody>
      </p:sp>
      <p:sp>
        <p:nvSpPr>
          <p:cNvPr id="71" name="Google Shape;71;p15"/>
          <p:cNvSpPr/>
          <p:nvPr/>
        </p:nvSpPr>
        <p:spPr>
          <a:xfrm>
            <a:off x="4538425" y="3385738"/>
            <a:ext cx="3648000" cy="6381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GPU worker / model executor</a:t>
            </a:r>
            <a:endParaRPr b="1" sz="1100"/>
          </a:p>
          <a:p>
            <a:pPr indent="0" lvl="0" marL="0" rtl="0" algn="ctr">
              <a:spcBef>
                <a:spcPts val="0"/>
              </a:spcBef>
              <a:spcAft>
                <a:spcPts val="0"/>
              </a:spcAft>
              <a:buNone/>
            </a:pPr>
            <a:r>
              <a:rPr lang="en" sz="1100"/>
              <a:t>runs transformer layers, handles TP/PP/DP/EP communication</a:t>
            </a:r>
            <a:endParaRPr sz="1100"/>
          </a:p>
        </p:txBody>
      </p:sp>
      <p:sp>
        <p:nvSpPr>
          <p:cNvPr id="72" name="Google Shape;72;p15"/>
          <p:cNvSpPr/>
          <p:nvPr/>
        </p:nvSpPr>
        <p:spPr>
          <a:xfrm>
            <a:off x="4538425" y="4444375"/>
            <a:ext cx="3648000" cy="6381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Per-layer kernels</a:t>
            </a:r>
            <a:endParaRPr b="1" sz="1100"/>
          </a:p>
          <a:p>
            <a:pPr indent="0" lvl="0" marL="0" rtl="0" algn="ctr">
              <a:spcBef>
                <a:spcPts val="0"/>
              </a:spcBef>
              <a:spcAft>
                <a:spcPts val="0"/>
              </a:spcAft>
              <a:buNone/>
            </a:pPr>
            <a:r>
              <a:rPr lang="en" sz="1100"/>
              <a:t>attention kernels, GEMM kernels, MoE kernels, norm kernels, quantization kernels, sampling kernels </a:t>
            </a:r>
            <a:endParaRPr sz="1100"/>
          </a:p>
        </p:txBody>
      </p:sp>
      <p:cxnSp>
        <p:nvCxnSpPr>
          <p:cNvPr id="73" name="Google Shape;73;p15"/>
          <p:cNvCxnSpPr>
            <a:stCxn id="68" idx="2"/>
            <a:endCxn id="69" idx="0"/>
          </p:cNvCxnSpPr>
          <p:nvPr/>
        </p:nvCxnSpPr>
        <p:spPr>
          <a:xfrm>
            <a:off x="6362425" y="1145950"/>
            <a:ext cx="0" cy="335700"/>
          </a:xfrm>
          <a:prstGeom prst="straightConnector1">
            <a:avLst/>
          </a:prstGeom>
          <a:noFill/>
          <a:ln cap="flat" cmpd="sng" w="9525">
            <a:solidFill>
              <a:srgbClr val="595959"/>
            </a:solidFill>
            <a:prstDash val="solid"/>
            <a:round/>
            <a:headEnd len="med" w="med" type="none"/>
            <a:tailEnd len="med" w="med" type="triangle"/>
          </a:ln>
        </p:spPr>
      </p:cxnSp>
      <p:cxnSp>
        <p:nvCxnSpPr>
          <p:cNvPr id="74" name="Google Shape;74;p15"/>
          <p:cNvCxnSpPr>
            <a:stCxn id="69" idx="2"/>
            <a:endCxn id="70" idx="0"/>
          </p:cNvCxnSpPr>
          <p:nvPr/>
        </p:nvCxnSpPr>
        <p:spPr>
          <a:xfrm>
            <a:off x="6362425" y="2119738"/>
            <a:ext cx="0" cy="292200"/>
          </a:xfrm>
          <a:prstGeom prst="straightConnector1">
            <a:avLst/>
          </a:prstGeom>
          <a:noFill/>
          <a:ln cap="flat" cmpd="sng" w="9525">
            <a:solidFill>
              <a:srgbClr val="595959"/>
            </a:solidFill>
            <a:prstDash val="solid"/>
            <a:round/>
            <a:headEnd len="med" w="med" type="none"/>
            <a:tailEnd len="med" w="med" type="triangle"/>
          </a:ln>
        </p:spPr>
      </p:cxnSp>
      <p:cxnSp>
        <p:nvCxnSpPr>
          <p:cNvPr id="75" name="Google Shape;75;p15"/>
          <p:cNvCxnSpPr>
            <a:stCxn id="70" idx="2"/>
            <a:endCxn id="71" idx="0"/>
          </p:cNvCxnSpPr>
          <p:nvPr/>
        </p:nvCxnSpPr>
        <p:spPr>
          <a:xfrm>
            <a:off x="6362425" y="3050088"/>
            <a:ext cx="0" cy="335700"/>
          </a:xfrm>
          <a:prstGeom prst="straightConnector1">
            <a:avLst/>
          </a:prstGeom>
          <a:noFill/>
          <a:ln cap="flat" cmpd="sng" w="9525">
            <a:solidFill>
              <a:srgbClr val="595959"/>
            </a:solidFill>
            <a:prstDash val="solid"/>
            <a:round/>
            <a:headEnd len="med" w="med" type="none"/>
            <a:tailEnd len="med" w="med" type="triangle"/>
          </a:ln>
        </p:spPr>
      </p:cxnSp>
      <p:cxnSp>
        <p:nvCxnSpPr>
          <p:cNvPr id="76" name="Google Shape;76;p15"/>
          <p:cNvCxnSpPr>
            <a:stCxn id="71" idx="2"/>
            <a:endCxn id="72" idx="0"/>
          </p:cNvCxnSpPr>
          <p:nvPr/>
        </p:nvCxnSpPr>
        <p:spPr>
          <a:xfrm>
            <a:off x="6362425" y="4023838"/>
            <a:ext cx="0" cy="420600"/>
          </a:xfrm>
          <a:prstGeom prst="straightConnector1">
            <a:avLst/>
          </a:prstGeom>
          <a:noFill/>
          <a:ln cap="flat" cmpd="sng" w="9525">
            <a:solidFill>
              <a:srgbClr val="595959"/>
            </a:solidFill>
            <a:prstDash val="solid"/>
            <a:round/>
            <a:headEnd len="med" w="med" type="none"/>
            <a:tailEnd len="med" w="med" type="triangle"/>
          </a:ln>
        </p:spPr>
      </p:cxnSp>
      <p:cxnSp>
        <p:nvCxnSpPr>
          <p:cNvPr id="77" name="Google Shape;77;p15"/>
          <p:cNvCxnSpPr>
            <a:stCxn id="70" idx="1"/>
          </p:cNvCxnSpPr>
          <p:nvPr/>
        </p:nvCxnSpPr>
        <p:spPr>
          <a:xfrm rot="10800000">
            <a:off x="2727025" y="1947138"/>
            <a:ext cx="1618800" cy="783900"/>
          </a:xfrm>
          <a:prstGeom prst="straightConnector1">
            <a:avLst/>
          </a:prstGeom>
          <a:noFill/>
          <a:ln cap="flat" cmpd="sng" w="9525">
            <a:solidFill>
              <a:schemeClr val="dk2"/>
            </a:solidFill>
            <a:prstDash val="solid"/>
            <a:round/>
            <a:headEnd len="med" w="med" type="none"/>
            <a:tailEnd len="med" w="med" type="none"/>
          </a:ln>
        </p:spPr>
      </p:cxnSp>
      <p:cxnSp>
        <p:nvCxnSpPr>
          <p:cNvPr id="78" name="Google Shape;78;p15"/>
          <p:cNvCxnSpPr>
            <a:stCxn id="70" idx="1"/>
          </p:cNvCxnSpPr>
          <p:nvPr/>
        </p:nvCxnSpPr>
        <p:spPr>
          <a:xfrm flipH="1">
            <a:off x="3407725" y="2731038"/>
            <a:ext cx="938100" cy="828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does this matter?</a:t>
            </a:r>
            <a:endParaRPr/>
          </a:p>
        </p:txBody>
      </p:sp>
      <p:sp>
        <p:nvSpPr>
          <p:cNvPr id="84" name="Google Shape;84;p16"/>
          <p:cNvSpPr txBox="1"/>
          <p:nvPr>
            <p:ph idx="1" type="body"/>
          </p:nvPr>
        </p:nvSpPr>
        <p:spPr>
          <a:xfrm>
            <a:off x="311700" y="1152475"/>
            <a:ext cx="8520600" cy="356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SLM serving for CDA using Ray + vLLM</a:t>
            </a:r>
            <a:endParaRPr/>
          </a:p>
          <a:p>
            <a:pPr indent="-342900" lvl="0" marL="457200" rtl="0" algn="l">
              <a:spcBef>
                <a:spcPts val="1200"/>
              </a:spcBef>
              <a:spcAft>
                <a:spcPts val="0"/>
              </a:spcAft>
              <a:buSzPts val="1800"/>
              <a:buAutoNum type="arabicPeriod"/>
            </a:pPr>
            <a:r>
              <a:rPr lang="en"/>
              <a:t>Original vLLM + Ray configuration: 1200 ms</a:t>
            </a:r>
            <a:endParaRPr/>
          </a:p>
          <a:p>
            <a:pPr indent="-342900" lvl="0" marL="457200" rtl="0" algn="l">
              <a:spcBef>
                <a:spcPts val="0"/>
              </a:spcBef>
              <a:spcAft>
                <a:spcPts val="0"/>
              </a:spcAft>
              <a:buSzPts val="1800"/>
              <a:buAutoNum type="arabicPeriod"/>
            </a:pPr>
            <a:r>
              <a:rPr lang="en"/>
              <a:t>Split out vLLM and Ray (initialize vLLM engine within Ray replicas): - 20%</a:t>
            </a:r>
            <a:endParaRPr/>
          </a:p>
          <a:p>
            <a:pPr indent="-342900" lvl="0" marL="457200" rtl="0" algn="l">
              <a:spcBef>
                <a:spcPts val="0"/>
              </a:spcBef>
              <a:spcAft>
                <a:spcPts val="0"/>
              </a:spcAft>
              <a:buSzPts val="1800"/>
              <a:buAutoNum type="arabicPeriod"/>
            </a:pPr>
            <a:r>
              <a:rPr lang="en"/>
              <a:t>Use mp backend for vllm: </a:t>
            </a:r>
            <a:endParaRPr/>
          </a:p>
          <a:p>
            <a:pPr indent="-342900" lvl="0" marL="457200" rtl="0" algn="l">
              <a:spcBef>
                <a:spcPts val="0"/>
              </a:spcBef>
              <a:spcAft>
                <a:spcPts val="0"/>
              </a:spcAft>
              <a:buSzPts val="1800"/>
              <a:buAutoNum type="arabicPeriod"/>
            </a:pPr>
            <a:r>
              <a:rPr lang="en"/>
              <a:t>Harmony template changes</a:t>
            </a:r>
            <a:endParaRPr/>
          </a:p>
          <a:p>
            <a:pPr indent="-342900" lvl="0" marL="457200" rtl="0" algn="l">
              <a:spcBef>
                <a:spcPts val="0"/>
              </a:spcBef>
              <a:spcAft>
                <a:spcPts val="0"/>
              </a:spcAft>
              <a:buSzPts val="1800"/>
              <a:buAutoNum type="arabicPeriod"/>
            </a:pPr>
            <a:r>
              <a:rPr lang="en"/>
              <a:t>Adjust max_model_length, </a:t>
            </a:r>
            <a:r>
              <a:rPr lang="en"/>
              <a:t>max_num_batched_tokens per use-case</a:t>
            </a:r>
            <a:endParaRPr/>
          </a:p>
          <a:p>
            <a:pPr indent="-342900" lvl="0" marL="457200" rtl="0" algn="l">
              <a:spcBef>
                <a:spcPts val="0"/>
              </a:spcBef>
              <a:spcAft>
                <a:spcPts val="0"/>
              </a:spcAft>
              <a:buSzPts val="1800"/>
              <a:buAutoNum type="arabicPeriod"/>
            </a:pPr>
            <a:r>
              <a:rPr lang="en"/>
              <a:t>Use C++ HA Proxy in Ray</a:t>
            </a:r>
            <a:endParaRPr/>
          </a:p>
          <a:p>
            <a:pPr indent="-342900" lvl="0" marL="457200" rtl="0" algn="l">
              <a:spcBef>
                <a:spcPts val="0"/>
              </a:spcBef>
              <a:spcAft>
                <a:spcPts val="0"/>
              </a:spcAft>
              <a:buSzPts val="1800"/>
              <a:buAutoNum type="arabicPeriod"/>
            </a:pPr>
            <a:r>
              <a:rPr lang="en"/>
              <a:t>Speculative decoding techniques</a:t>
            </a:r>
            <a:endParaRPr/>
          </a:p>
          <a:p>
            <a:pPr indent="-342900" lvl="0" marL="457200" rtl="0" algn="l">
              <a:spcBef>
                <a:spcPts val="0"/>
              </a:spcBef>
              <a:spcAft>
                <a:spcPts val="0"/>
              </a:spcAft>
              <a:buSzPts val="1800"/>
              <a:buAutoNum type="arabicPeriod"/>
            </a:pPr>
            <a:r>
              <a:rPr lang="en"/>
              <a:t>Merge suffix decode tree across replicas</a:t>
            </a:r>
            <a:r>
              <a:rPr lang="en"/>
              <a:t> </a:t>
            </a:r>
            <a:endParaRPr/>
          </a:p>
          <a:p>
            <a:pPr indent="-342900" lvl="0" marL="457200" rtl="0" algn="l">
              <a:spcBef>
                <a:spcPts val="0"/>
              </a:spcBef>
              <a:spcAft>
                <a:spcPts val="0"/>
              </a:spcAft>
              <a:buSzPts val="1800"/>
              <a:buAutoNum type="arabicPeriod"/>
            </a:pPr>
            <a:r>
              <a:rPr lang="en"/>
              <a:t>Skip quantizing sliding window KV vectors: </a:t>
            </a:r>
            <a:endParaRPr/>
          </a:p>
          <a:p>
            <a:pPr indent="-342900" lvl="0" marL="457200" rtl="0" algn="l">
              <a:spcBef>
                <a:spcPts val="0"/>
              </a:spcBef>
              <a:spcAft>
                <a:spcPts val="0"/>
              </a:spcAft>
              <a:buSzPts val="1800"/>
              <a:buAutoNum type="arabicPeriod"/>
            </a:pPr>
            <a:r>
              <a:rPr lang="en"/>
              <a:t>Optimized CUDA graphs: ~250 ms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7"/>
          <p:cNvPicPr preferRelativeResize="0"/>
          <p:nvPr/>
        </p:nvPicPr>
        <p:blipFill>
          <a:blip r:embed="rId3">
            <a:alphaModFix/>
          </a:blip>
          <a:stretch>
            <a:fillRect/>
          </a:stretch>
        </p:blipFill>
        <p:spPr>
          <a:xfrm>
            <a:off x="2716575" y="415770"/>
            <a:ext cx="2992099" cy="2741801"/>
          </a:xfrm>
          <a:prstGeom prst="rect">
            <a:avLst/>
          </a:prstGeom>
          <a:noFill/>
          <a:ln>
            <a:noFill/>
          </a:ln>
        </p:spPr>
      </p:pic>
      <p:sp>
        <p:nvSpPr>
          <p:cNvPr id="90" name="Google Shape;90;p17"/>
          <p:cNvSpPr txBox="1"/>
          <p:nvPr>
            <p:ph idx="1" type="body"/>
          </p:nvPr>
        </p:nvSpPr>
        <p:spPr>
          <a:xfrm>
            <a:off x="2360175" y="4761725"/>
            <a:ext cx="2114700" cy="457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Input Sentence</a:t>
            </a:r>
            <a:endParaRPr/>
          </a:p>
        </p:txBody>
      </p:sp>
      <p:graphicFrame>
        <p:nvGraphicFramePr>
          <p:cNvPr id="91" name="Google Shape;91;p17"/>
          <p:cNvGraphicFramePr/>
          <p:nvPr/>
        </p:nvGraphicFramePr>
        <p:xfrm>
          <a:off x="435413" y="4365516"/>
          <a:ext cx="3000000" cy="3000000"/>
        </p:xfrm>
        <a:graphic>
          <a:graphicData uri="http://schemas.openxmlformats.org/drawingml/2006/table">
            <a:tbl>
              <a:tblPr>
                <a:noFill/>
                <a:tableStyleId>{002DFE77-02EC-4D0D-B4A5-6E3D87EE2B06}</a:tableStyleId>
              </a:tblPr>
              <a:tblGrid>
                <a:gridCol w="504925"/>
                <a:gridCol w="504925"/>
                <a:gridCol w="504925"/>
                <a:gridCol w="504925"/>
                <a:gridCol w="504925"/>
                <a:gridCol w="504925"/>
                <a:gridCol w="504925"/>
                <a:gridCol w="504925"/>
                <a:gridCol w="470125"/>
                <a:gridCol w="470125"/>
                <a:gridCol w="470125"/>
                <a:gridCol w="470125"/>
              </a:tblGrid>
              <a:tr h="381000">
                <a:tc>
                  <a:txBody>
                    <a:bodyPr/>
                    <a:lstStyle/>
                    <a:p>
                      <a:pPr indent="0" lvl="0" marL="0" rtl="0" algn="l">
                        <a:spcBef>
                          <a:spcPts val="0"/>
                        </a:spcBef>
                        <a:spcAft>
                          <a:spcPts val="0"/>
                        </a:spcAft>
                        <a:buNone/>
                      </a:pPr>
                      <a:r>
                        <a:rPr lang="en"/>
                        <a:t>t1</a:t>
                      </a:r>
                      <a:endParaRPr/>
                    </a:p>
                  </a:txBody>
                  <a:tcPr marT="91425" marB="91425" marR="91425" marL="91425"/>
                </a:tc>
                <a:tc>
                  <a:txBody>
                    <a:bodyPr/>
                    <a:lstStyle/>
                    <a:p>
                      <a:pPr indent="0" lvl="0" marL="0" rtl="0" algn="l">
                        <a:spcBef>
                          <a:spcPts val="0"/>
                        </a:spcBef>
                        <a:spcAft>
                          <a:spcPts val="0"/>
                        </a:spcAft>
                        <a:buNone/>
                      </a:pPr>
                      <a:r>
                        <a:rPr lang="en"/>
                        <a:t>t2</a:t>
                      </a:r>
                      <a:endParaRPr/>
                    </a:p>
                  </a:txBody>
                  <a:tcPr marT="91425" marB="91425" marR="91425" marL="91425"/>
                </a:tc>
                <a:tc>
                  <a:txBody>
                    <a:bodyPr/>
                    <a:lstStyle/>
                    <a:p>
                      <a:pPr indent="0" lvl="0" marL="0" rtl="0" algn="l">
                        <a:spcBef>
                          <a:spcPts val="0"/>
                        </a:spcBef>
                        <a:spcAft>
                          <a:spcPts val="0"/>
                        </a:spcAft>
                        <a:buNone/>
                      </a:pPr>
                      <a:r>
                        <a:rPr lang="en"/>
                        <a:t>t3</a:t>
                      </a:r>
                      <a:endParaRPr/>
                    </a:p>
                  </a:txBody>
                  <a:tcPr marT="91425" marB="91425" marR="91425" marL="91425"/>
                </a:tc>
                <a:tc>
                  <a:txBody>
                    <a:bodyPr/>
                    <a:lstStyle/>
                    <a:p>
                      <a:pPr indent="0" lvl="0" marL="0" rtl="0" algn="l">
                        <a:spcBef>
                          <a:spcPts val="0"/>
                        </a:spcBef>
                        <a:spcAft>
                          <a:spcPts val="0"/>
                        </a:spcAft>
                        <a:buNone/>
                      </a:pPr>
                      <a:r>
                        <a:rPr lang="en"/>
                        <a:t>t4</a:t>
                      </a:r>
                      <a:endParaRPr/>
                    </a:p>
                  </a:txBody>
                  <a:tcPr marT="91425" marB="91425" marR="91425" marL="91425"/>
                </a:tc>
                <a:tc>
                  <a:txBody>
                    <a:bodyPr/>
                    <a:lstStyle/>
                    <a:p>
                      <a:pPr indent="0" lvl="0" marL="0" rtl="0" algn="l">
                        <a:spcBef>
                          <a:spcPts val="0"/>
                        </a:spcBef>
                        <a:spcAft>
                          <a:spcPts val="0"/>
                        </a:spcAft>
                        <a:buNone/>
                      </a:pPr>
                      <a:r>
                        <a:rPr lang="en"/>
                        <a:t>t5</a:t>
                      </a:r>
                      <a:endParaRPr/>
                    </a:p>
                  </a:txBody>
                  <a:tcPr marT="91425" marB="91425" marR="91425" marL="91425"/>
                </a:tc>
                <a:tc>
                  <a:txBody>
                    <a:bodyPr/>
                    <a:lstStyle/>
                    <a:p>
                      <a:pPr indent="0" lvl="0" marL="0" rtl="0" algn="l">
                        <a:spcBef>
                          <a:spcPts val="0"/>
                        </a:spcBef>
                        <a:spcAft>
                          <a:spcPts val="0"/>
                        </a:spcAft>
                        <a:buNone/>
                      </a:pPr>
                      <a:r>
                        <a:rPr lang="en"/>
                        <a:t>t6</a:t>
                      </a:r>
                      <a:endParaRPr/>
                    </a:p>
                  </a:txBody>
                  <a:tcPr marT="91425" marB="91425" marR="91425" marL="91425"/>
                </a:tc>
                <a:tc>
                  <a:txBody>
                    <a:bodyPr/>
                    <a:lstStyle/>
                    <a:p>
                      <a:pPr indent="0" lvl="0" marL="0" rtl="0" algn="l">
                        <a:spcBef>
                          <a:spcPts val="0"/>
                        </a:spcBef>
                        <a:spcAft>
                          <a:spcPts val="0"/>
                        </a:spcAft>
                        <a:buNone/>
                      </a:pPr>
                      <a:r>
                        <a:rPr lang="en"/>
                        <a:t>t7</a:t>
                      </a:r>
                      <a:endParaRPr/>
                    </a:p>
                  </a:txBody>
                  <a:tcPr marT="91425" marB="91425" marR="91425" marL="91425"/>
                </a:tc>
                <a:tc>
                  <a:txBody>
                    <a:bodyPr/>
                    <a:lstStyle/>
                    <a:p>
                      <a:pPr indent="0" lvl="0" marL="0" rtl="0" algn="l">
                        <a:spcBef>
                          <a:spcPts val="0"/>
                        </a:spcBef>
                        <a:spcAft>
                          <a:spcPts val="0"/>
                        </a:spcAft>
                        <a:buNone/>
                      </a:pPr>
                      <a:r>
                        <a:rPr lang="en"/>
                        <a:t>t8</a:t>
                      </a:r>
                      <a:endParaRPr/>
                    </a:p>
                  </a:txBody>
                  <a:tcPr marT="91425" marB="91425" marR="91425" marL="91425"/>
                </a:tc>
                <a:tc>
                  <a:txBody>
                    <a:bodyPr/>
                    <a:lstStyle/>
                    <a:p>
                      <a:pPr indent="0" lvl="0" marL="0" rtl="0" algn="l">
                        <a:spcBef>
                          <a:spcPts val="0"/>
                        </a:spcBef>
                        <a:spcAft>
                          <a:spcPts val="0"/>
                        </a:spcAft>
                        <a:buNone/>
                      </a:pPr>
                      <a:r>
                        <a:rPr lang="en" sz="1200"/>
                        <a:t>pad</a:t>
                      </a:r>
                      <a:endParaRPr sz="1200"/>
                    </a:p>
                  </a:txBody>
                  <a:tcPr marT="91425" marB="91425" marR="91425" marL="91425"/>
                </a:tc>
                <a:tc>
                  <a:txBody>
                    <a:bodyPr/>
                    <a:lstStyle/>
                    <a:p>
                      <a:pPr indent="0" lvl="0" marL="0" rtl="0" algn="l">
                        <a:spcBef>
                          <a:spcPts val="0"/>
                        </a:spcBef>
                        <a:spcAft>
                          <a:spcPts val="0"/>
                        </a:spcAft>
                        <a:buNone/>
                      </a:pPr>
                      <a:r>
                        <a:rPr lang="en" sz="1100"/>
                        <a:t>pad</a:t>
                      </a:r>
                      <a:endParaRPr sz="1100"/>
                    </a:p>
                  </a:txBody>
                  <a:tcPr marT="91425" marB="91425" marR="91425" marL="91425"/>
                </a:tc>
                <a:tc>
                  <a:txBody>
                    <a:bodyPr/>
                    <a:lstStyle/>
                    <a:p>
                      <a:pPr indent="0" lvl="0" marL="0" rtl="0" algn="l">
                        <a:spcBef>
                          <a:spcPts val="0"/>
                        </a:spcBef>
                        <a:spcAft>
                          <a:spcPts val="0"/>
                        </a:spcAft>
                        <a:buNone/>
                      </a:pPr>
                      <a:r>
                        <a:rPr lang="en" sz="1100"/>
                        <a:t>pad</a:t>
                      </a:r>
                      <a:endParaRPr sz="1100"/>
                    </a:p>
                  </a:txBody>
                  <a:tcPr marT="91425" marB="91425" marR="91425" marL="91425"/>
                </a:tc>
                <a:tc>
                  <a:txBody>
                    <a:bodyPr/>
                    <a:lstStyle/>
                    <a:p>
                      <a:pPr indent="0" lvl="0" marL="0" rtl="0" algn="l">
                        <a:spcBef>
                          <a:spcPts val="0"/>
                        </a:spcBef>
                        <a:spcAft>
                          <a:spcPts val="0"/>
                        </a:spcAft>
                        <a:buNone/>
                      </a:pPr>
                      <a:r>
                        <a:rPr lang="en" sz="1100"/>
                        <a:t>pad</a:t>
                      </a:r>
                      <a:endParaRPr sz="1100"/>
                    </a:p>
                  </a:txBody>
                  <a:tcPr marT="91425" marB="91425" marR="91425" marL="91425"/>
                </a:tc>
              </a:tr>
            </a:tbl>
          </a:graphicData>
        </a:graphic>
      </p:graphicFrame>
      <p:graphicFrame>
        <p:nvGraphicFramePr>
          <p:cNvPr id="92" name="Google Shape;92;p17"/>
          <p:cNvGraphicFramePr/>
          <p:nvPr/>
        </p:nvGraphicFramePr>
        <p:xfrm>
          <a:off x="435413" y="3769154"/>
          <a:ext cx="3000000" cy="3000000"/>
        </p:xfrm>
        <a:graphic>
          <a:graphicData uri="http://schemas.openxmlformats.org/drawingml/2006/table">
            <a:tbl>
              <a:tblPr>
                <a:noFill/>
                <a:tableStyleId>{002DFE77-02EC-4D0D-B4A5-6E3D87EE2B06}</a:tableStyleId>
              </a:tblPr>
              <a:tblGrid>
                <a:gridCol w="504925"/>
                <a:gridCol w="504925"/>
                <a:gridCol w="504925"/>
                <a:gridCol w="504925"/>
                <a:gridCol w="504925"/>
                <a:gridCol w="504925"/>
                <a:gridCol w="504925"/>
                <a:gridCol w="504925"/>
                <a:gridCol w="470100"/>
                <a:gridCol w="470100"/>
                <a:gridCol w="470100"/>
                <a:gridCol w="470100"/>
              </a:tblGrid>
              <a:tr h="381000">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sz="1500"/>
                        <a:t>0</a:t>
                      </a:r>
                      <a:endParaRPr sz="1500"/>
                    </a:p>
                  </a:txBody>
                  <a:tcPr marT="91425" marB="91425" marR="91425" marL="91425"/>
                </a:tc>
                <a:tc>
                  <a:txBody>
                    <a:bodyPr/>
                    <a:lstStyle/>
                    <a:p>
                      <a:pPr indent="0" lvl="0" marL="0" rtl="0" algn="l">
                        <a:spcBef>
                          <a:spcPts val="0"/>
                        </a:spcBef>
                        <a:spcAft>
                          <a:spcPts val="0"/>
                        </a:spcAft>
                        <a:buNone/>
                      </a:pPr>
                      <a:r>
                        <a:rPr lang="en" sz="1500"/>
                        <a:t>0</a:t>
                      </a:r>
                      <a:endParaRPr sz="1500"/>
                    </a:p>
                  </a:txBody>
                  <a:tcPr marT="91425" marB="91425" marR="91425" marL="91425"/>
                </a:tc>
                <a:tc>
                  <a:txBody>
                    <a:bodyPr/>
                    <a:lstStyle/>
                    <a:p>
                      <a:pPr indent="0" lvl="0" marL="0" rtl="0" algn="l">
                        <a:spcBef>
                          <a:spcPts val="0"/>
                        </a:spcBef>
                        <a:spcAft>
                          <a:spcPts val="0"/>
                        </a:spcAft>
                        <a:buNone/>
                      </a:pPr>
                      <a:r>
                        <a:rPr lang="en" sz="1500"/>
                        <a:t>0</a:t>
                      </a:r>
                      <a:endParaRPr sz="1500"/>
                    </a:p>
                  </a:txBody>
                  <a:tcPr marT="91425" marB="91425" marR="91425" marL="91425"/>
                </a:tc>
              </a:tr>
            </a:tbl>
          </a:graphicData>
        </a:graphic>
      </p:graphicFrame>
      <p:graphicFrame>
        <p:nvGraphicFramePr>
          <p:cNvPr id="93" name="Google Shape;93;p17"/>
          <p:cNvGraphicFramePr/>
          <p:nvPr/>
        </p:nvGraphicFramePr>
        <p:xfrm>
          <a:off x="435463" y="3157579"/>
          <a:ext cx="3000000" cy="3000000"/>
        </p:xfrm>
        <a:graphic>
          <a:graphicData uri="http://schemas.openxmlformats.org/drawingml/2006/table">
            <a:tbl>
              <a:tblPr>
                <a:noFill/>
                <a:tableStyleId>{002DFE77-02EC-4D0D-B4A5-6E3D87EE2B06}</a:tableStyleId>
              </a:tblPr>
              <a:tblGrid>
                <a:gridCol w="504925"/>
                <a:gridCol w="504925"/>
                <a:gridCol w="504925"/>
                <a:gridCol w="504925"/>
                <a:gridCol w="504925"/>
                <a:gridCol w="504925"/>
                <a:gridCol w="504925"/>
                <a:gridCol w="504925"/>
                <a:gridCol w="470100"/>
                <a:gridCol w="470100"/>
                <a:gridCol w="470100"/>
                <a:gridCol w="470100"/>
              </a:tblGrid>
              <a:tr h="400200">
                <a:tc>
                  <a:txBody>
                    <a:bodyPr/>
                    <a:lstStyle/>
                    <a:p>
                      <a:pPr indent="0" lvl="0" marL="0" rtl="0" algn="l">
                        <a:spcBef>
                          <a:spcPts val="0"/>
                        </a:spcBef>
                        <a:spcAft>
                          <a:spcPts val="0"/>
                        </a:spcAft>
                        <a:buNone/>
                      </a:pPr>
                      <a:r>
                        <a:rPr lang="en" sz="900"/>
                        <a:t>e1+p1</a:t>
                      </a:r>
                      <a:endParaRPr sz="900"/>
                    </a:p>
                  </a:txBody>
                  <a:tcPr marT="91425" marB="91425" marR="91425" marL="91425"/>
                </a:tc>
                <a:tc>
                  <a:txBody>
                    <a:bodyPr/>
                    <a:lstStyle/>
                    <a:p>
                      <a:pPr indent="0" lvl="0" marL="0" rtl="0" algn="l">
                        <a:spcBef>
                          <a:spcPts val="0"/>
                        </a:spcBef>
                        <a:spcAft>
                          <a:spcPts val="0"/>
                        </a:spcAft>
                        <a:buNone/>
                      </a:pPr>
                      <a:r>
                        <a:rPr lang="en" sz="900"/>
                        <a:t>e2+p2</a:t>
                      </a:r>
                      <a:endParaRPr sz="900"/>
                    </a:p>
                  </a:txBody>
                  <a:tcPr marT="91425" marB="91425" marR="91425" marL="91425"/>
                </a:tc>
                <a:tc>
                  <a:txBody>
                    <a:bodyPr/>
                    <a:lstStyle/>
                    <a:p>
                      <a:pPr indent="0" lvl="0" marL="0" rtl="0" algn="l">
                        <a:spcBef>
                          <a:spcPts val="0"/>
                        </a:spcBef>
                        <a:spcAft>
                          <a:spcPts val="0"/>
                        </a:spcAft>
                        <a:buNone/>
                      </a:pPr>
                      <a:r>
                        <a:rPr lang="en" sz="900"/>
                        <a:t>e3+p3</a:t>
                      </a:r>
                      <a:endParaRPr sz="900"/>
                    </a:p>
                  </a:txBody>
                  <a:tcPr marT="91425" marB="91425" marR="91425" marL="91425"/>
                </a:tc>
                <a:tc>
                  <a:txBody>
                    <a:bodyPr/>
                    <a:lstStyle/>
                    <a:p>
                      <a:pPr indent="0" lvl="0" marL="0" rtl="0" algn="l">
                        <a:spcBef>
                          <a:spcPts val="0"/>
                        </a:spcBef>
                        <a:spcAft>
                          <a:spcPts val="0"/>
                        </a:spcAft>
                        <a:buNone/>
                      </a:pPr>
                      <a:r>
                        <a:rPr lang="en" sz="900"/>
                        <a:t>e4+p4</a:t>
                      </a:r>
                      <a:endParaRPr sz="900"/>
                    </a:p>
                  </a:txBody>
                  <a:tcPr marT="91425" marB="91425" marR="91425" marL="91425"/>
                </a:tc>
                <a:tc>
                  <a:txBody>
                    <a:bodyPr/>
                    <a:lstStyle/>
                    <a:p>
                      <a:pPr indent="0" lvl="0" marL="0" rtl="0" algn="l">
                        <a:spcBef>
                          <a:spcPts val="0"/>
                        </a:spcBef>
                        <a:spcAft>
                          <a:spcPts val="0"/>
                        </a:spcAft>
                        <a:buNone/>
                      </a:pPr>
                      <a:r>
                        <a:rPr lang="en" sz="900"/>
                        <a:t>e5+p5</a:t>
                      </a:r>
                      <a:endParaRPr sz="900"/>
                    </a:p>
                  </a:txBody>
                  <a:tcPr marT="91425" marB="91425" marR="91425" marL="91425"/>
                </a:tc>
                <a:tc>
                  <a:txBody>
                    <a:bodyPr/>
                    <a:lstStyle/>
                    <a:p>
                      <a:pPr indent="0" lvl="0" marL="0" rtl="0" algn="l">
                        <a:spcBef>
                          <a:spcPts val="0"/>
                        </a:spcBef>
                        <a:spcAft>
                          <a:spcPts val="0"/>
                        </a:spcAft>
                        <a:buNone/>
                      </a:pPr>
                      <a:r>
                        <a:rPr lang="en" sz="900"/>
                        <a:t>e6+p6</a:t>
                      </a:r>
                      <a:endParaRPr sz="900"/>
                    </a:p>
                  </a:txBody>
                  <a:tcPr marT="91425" marB="91425" marR="91425" marL="91425"/>
                </a:tc>
                <a:tc>
                  <a:txBody>
                    <a:bodyPr/>
                    <a:lstStyle/>
                    <a:p>
                      <a:pPr indent="0" lvl="0" marL="0" rtl="0" algn="l">
                        <a:spcBef>
                          <a:spcPts val="0"/>
                        </a:spcBef>
                        <a:spcAft>
                          <a:spcPts val="0"/>
                        </a:spcAft>
                        <a:buNone/>
                      </a:pPr>
                      <a:r>
                        <a:rPr lang="en" sz="900"/>
                        <a:t>e7+p7</a:t>
                      </a:r>
                      <a:endParaRPr sz="900"/>
                    </a:p>
                  </a:txBody>
                  <a:tcPr marT="91425" marB="91425" marR="91425" marL="91425"/>
                </a:tc>
                <a:tc>
                  <a:txBody>
                    <a:bodyPr/>
                    <a:lstStyle/>
                    <a:p>
                      <a:pPr indent="0" lvl="0" marL="0" rtl="0" algn="l">
                        <a:spcBef>
                          <a:spcPts val="0"/>
                        </a:spcBef>
                        <a:spcAft>
                          <a:spcPts val="0"/>
                        </a:spcAft>
                        <a:buNone/>
                      </a:pPr>
                      <a:r>
                        <a:rPr lang="en" sz="900"/>
                        <a:t>e8+p8</a:t>
                      </a:r>
                      <a:endParaRPr sz="900"/>
                    </a:p>
                  </a:txBody>
                  <a:tcPr marT="91425" marB="91425" marR="91425" marL="91425"/>
                </a:tc>
                <a:tc>
                  <a:txBody>
                    <a:bodyPr/>
                    <a:lstStyle/>
                    <a:p>
                      <a:pPr indent="0" lvl="0" marL="0" rtl="0" algn="l">
                        <a:spcBef>
                          <a:spcPts val="0"/>
                        </a:spcBef>
                        <a:spcAft>
                          <a:spcPts val="0"/>
                        </a:spcAft>
                        <a:buNone/>
                      </a:pPr>
                      <a:r>
                        <a:rPr lang="en" sz="800"/>
                        <a:t>e_pad+p9</a:t>
                      </a:r>
                      <a:endParaRPr sz="800"/>
                    </a:p>
                  </a:txBody>
                  <a:tcPr marT="91425" marB="91425" marR="91425" marL="91425"/>
                </a:tc>
                <a:tc>
                  <a:txBody>
                    <a:bodyPr/>
                    <a:lstStyle/>
                    <a:p>
                      <a:pPr indent="0" lvl="0" marL="0" rtl="0" algn="l">
                        <a:spcBef>
                          <a:spcPts val="0"/>
                        </a:spcBef>
                        <a:spcAft>
                          <a:spcPts val="0"/>
                        </a:spcAft>
                        <a:buNone/>
                      </a:pPr>
                      <a:r>
                        <a:rPr lang="en" sz="800"/>
                        <a:t>e_pad+p10</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e_pad+p11</a:t>
                      </a:r>
                      <a:endParaRPr sz="1000"/>
                    </a:p>
                  </a:txBody>
                  <a:tcPr marT="91425" marB="91425" marR="91425" marL="91425"/>
                </a:tc>
                <a:tc>
                  <a:txBody>
                    <a:bodyPr/>
                    <a:lstStyle/>
                    <a:p>
                      <a:pPr indent="0" lvl="0" marL="0" rtl="0" algn="l">
                        <a:spcBef>
                          <a:spcPts val="0"/>
                        </a:spcBef>
                        <a:spcAft>
                          <a:spcPts val="0"/>
                        </a:spcAft>
                        <a:buNone/>
                      </a:pPr>
                      <a:r>
                        <a:rPr lang="en" sz="800">
                          <a:solidFill>
                            <a:schemeClr val="dk1"/>
                          </a:solidFill>
                        </a:rPr>
                        <a:t>e_pad+p12</a:t>
                      </a:r>
                      <a:endParaRPr sz="1000"/>
                    </a:p>
                  </a:txBody>
                  <a:tcPr marT="91425" marB="91425" marR="91425" marL="91425"/>
                </a:tc>
              </a:tr>
            </a:tbl>
          </a:graphicData>
        </a:graphic>
      </p:graphicFrame>
      <p:sp>
        <p:nvSpPr>
          <p:cNvPr id="94" name="Google Shape;94;p17"/>
          <p:cNvSpPr txBox="1"/>
          <p:nvPr>
            <p:ph type="title"/>
          </p:nvPr>
        </p:nvSpPr>
        <p:spPr>
          <a:xfrm>
            <a:off x="133950" y="20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 Recap: Transformer Architecture</a:t>
            </a:r>
            <a:endParaRPr/>
          </a:p>
        </p:txBody>
      </p:sp>
      <p:sp>
        <p:nvSpPr>
          <p:cNvPr id="95" name="Google Shape;95;p17"/>
          <p:cNvSpPr txBox="1"/>
          <p:nvPr/>
        </p:nvSpPr>
        <p:spPr>
          <a:xfrm>
            <a:off x="6907425" y="3063113"/>
            <a:ext cx="2114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Trainable token + position embeddings</a:t>
            </a:r>
            <a:endParaRPr b="1">
              <a:solidFill>
                <a:schemeClr val="dk2"/>
              </a:solidFill>
            </a:endParaRPr>
          </a:p>
        </p:txBody>
      </p:sp>
      <p:sp>
        <p:nvSpPr>
          <p:cNvPr id="96" name="Google Shape;96;p17"/>
          <p:cNvSpPr txBox="1"/>
          <p:nvPr/>
        </p:nvSpPr>
        <p:spPr>
          <a:xfrm>
            <a:off x="7051825" y="3774763"/>
            <a:ext cx="150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Attention mask</a:t>
            </a:r>
            <a:endParaRPr b="1">
              <a:solidFill>
                <a:schemeClr val="dk2"/>
              </a:solidFill>
            </a:endParaRPr>
          </a:p>
        </p:txBody>
      </p:sp>
      <p:sp>
        <p:nvSpPr>
          <p:cNvPr id="97" name="Google Shape;97;p17"/>
          <p:cNvSpPr txBox="1"/>
          <p:nvPr/>
        </p:nvSpPr>
        <p:spPr>
          <a:xfrm>
            <a:off x="7184675" y="4285488"/>
            <a:ext cx="150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Tokenization</a:t>
            </a:r>
            <a:endParaRPr b="1">
              <a:solidFill>
                <a:schemeClr val="dk2"/>
              </a:solidFill>
            </a:endParaRPr>
          </a:p>
        </p:txBody>
      </p:sp>
      <p:sp>
        <p:nvSpPr>
          <p:cNvPr id="98" name="Google Shape;98;p17"/>
          <p:cNvSpPr txBox="1"/>
          <p:nvPr/>
        </p:nvSpPr>
        <p:spPr>
          <a:xfrm>
            <a:off x="95175" y="755425"/>
            <a:ext cx="2621400" cy="206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Attention Block</a:t>
            </a:r>
            <a:endParaRPr b="1">
              <a:solidFill>
                <a:schemeClr val="dk2"/>
              </a:solidFill>
            </a:endParaRPr>
          </a:p>
          <a:p>
            <a:pPr indent="0" lvl="0" marL="0" rtl="0" algn="ctr">
              <a:spcBef>
                <a:spcPts val="0"/>
              </a:spcBef>
              <a:spcAft>
                <a:spcPts val="0"/>
              </a:spcAft>
              <a:buNone/>
            </a:pPr>
            <a:r>
              <a:rPr lang="en" sz="1200">
                <a:solidFill>
                  <a:schemeClr val="dk2"/>
                </a:solidFill>
              </a:rPr>
              <a:t>Outputs contextualized embeddings</a:t>
            </a:r>
            <a:endParaRPr sz="1200">
              <a:solidFill>
                <a:schemeClr val="dk2"/>
              </a:solidFill>
            </a:endParaRPr>
          </a:p>
          <a:p>
            <a:pPr indent="0" lvl="0" marL="0" rtl="0" algn="ctr">
              <a:spcBef>
                <a:spcPts val="0"/>
              </a:spcBef>
              <a:spcAft>
                <a:spcPts val="0"/>
              </a:spcAft>
              <a:buNone/>
            </a:pPr>
            <a:r>
              <a:rPr b="1" lang="en" sz="1200">
                <a:solidFill>
                  <a:schemeClr val="dk2"/>
                </a:solidFill>
              </a:rPr>
              <a:t>Feed Forward: </a:t>
            </a:r>
            <a:r>
              <a:rPr lang="en" sz="1200">
                <a:solidFill>
                  <a:schemeClr val="dk2"/>
                </a:solidFill>
              </a:rPr>
              <a:t>Mixes info across embedding (channel) dimension with non-linearities</a:t>
            </a:r>
            <a:endParaRPr sz="1200">
              <a:solidFill>
                <a:schemeClr val="dk2"/>
              </a:solidFill>
            </a:endParaRPr>
          </a:p>
          <a:p>
            <a:pPr indent="0" lvl="0" marL="0" rtl="0" algn="ctr">
              <a:spcBef>
                <a:spcPts val="0"/>
              </a:spcBef>
              <a:spcAft>
                <a:spcPts val="0"/>
              </a:spcAft>
              <a:buNone/>
            </a:pPr>
            <a:r>
              <a:rPr b="1" lang="en" sz="1200">
                <a:solidFill>
                  <a:schemeClr val="dk2"/>
                </a:solidFill>
              </a:rPr>
              <a:t>Skip Connection: </a:t>
            </a:r>
            <a:r>
              <a:rPr lang="en" sz="1200">
                <a:solidFill>
                  <a:schemeClr val="dk2"/>
                </a:solidFill>
              </a:rPr>
              <a:t>Stable optimization, don’t destroy previous representation </a:t>
            </a:r>
            <a:endParaRPr sz="1200">
              <a:solidFill>
                <a:schemeClr val="dk2"/>
              </a:solidFill>
            </a:endParaRPr>
          </a:p>
          <a:p>
            <a:pPr indent="0" lvl="0" marL="0" rtl="0" algn="ctr">
              <a:spcBef>
                <a:spcPts val="0"/>
              </a:spcBef>
              <a:spcAft>
                <a:spcPts val="0"/>
              </a:spcAft>
              <a:buNone/>
            </a:pPr>
            <a:r>
              <a:rPr b="1" lang="en" sz="1200">
                <a:solidFill>
                  <a:schemeClr val="dk2"/>
                </a:solidFill>
              </a:rPr>
              <a:t>LayerNorm:</a:t>
            </a:r>
            <a:r>
              <a:rPr lang="en" sz="1200">
                <a:solidFill>
                  <a:schemeClr val="dk2"/>
                </a:solidFill>
              </a:rPr>
              <a:t> Keeps activations well-scaled, learning stable</a:t>
            </a:r>
            <a:endParaRPr sz="1200">
              <a:solidFill>
                <a:schemeClr val="dk2"/>
              </a:solidFill>
            </a:endParaRPr>
          </a:p>
        </p:txBody>
      </p:sp>
      <p:sp>
        <p:nvSpPr>
          <p:cNvPr id="99" name="Google Shape;99;p17"/>
          <p:cNvSpPr/>
          <p:nvPr/>
        </p:nvSpPr>
        <p:spPr>
          <a:xfrm>
            <a:off x="2751900" y="480175"/>
            <a:ext cx="1883700" cy="2601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7"/>
          <p:cNvSpPr/>
          <p:nvPr/>
        </p:nvSpPr>
        <p:spPr>
          <a:xfrm>
            <a:off x="7078900" y="1890525"/>
            <a:ext cx="1293300" cy="457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Transformer</a:t>
            </a:r>
            <a:endParaRPr/>
          </a:p>
        </p:txBody>
      </p:sp>
      <p:sp>
        <p:nvSpPr>
          <p:cNvPr id="101" name="Google Shape;101;p17"/>
          <p:cNvSpPr/>
          <p:nvPr/>
        </p:nvSpPr>
        <p:spPr>
          <a:xfrm>
            <a:off x="7078900" y="1234450"/>
            <a:ext cx="1293300" cy="457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FC layer</a:t>
            </a:r>
            <a:endParaRPr/>
          </a:p>
        </p:txBody>
      </p:sp>
      <p:cxnSp>
        <p:nvCxnSpPr>
          <p:cNvPr id="102" name="Google Shape;102;p17"/>
          <p:cNvCxnSpPr>
            <a:stCxn id="100" idx="0"/>
            <a:endCxn id="101" idx="2"/>
          </p:cNvCxnSpPr>
          <p:nvPr/>
        </p:nvCxnSpPr>
        <p:spPr>
          <a:xfrm rot="10800000">
            <a:off x="7725550" y="1692225"/>
            <a:ext cx="0" cy="198300"/>
          </a:xfrm>
          <a:prstGeom prst="straightConnector1">
            <a:avLst/>
          </a:prstGeom>
          <a:noFill/>
          <a:ln cap="flat" cmpd="sng" w="9525">
            <a:solidFill>
              <a:schemeClr val="dk2"/>
            </a:solidFill>
            <a:prstDash val="solid"/>
            <a:round/>
            <a:headEnd len="med" w="med" type="none"/>
            <a:tailEnd len="med" w="med" type="triangle"/>
          </a:ln>
        </p:spPr>
      </p:cxnSp>
      <p:sp>
        <p:nvSpPr>
          <p:cNvPr id="103" name="Google Shape;103;p17"/>
          <p:cNvSpPr/>
          <p:nvPr/>
        </p:nvSpPr>
        <p:spPr>
          <a:xfrm>
            <a:off x="7078900" y="554675"/>
            <a:ext cx="1293300" cy="457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Softmax</a:t>
            </a:r>
            <a:endParaRPr/>
          </a:p>
        </p:txBody>
      </p:sp>
      <p:cxnSp>
        <p:nvCxnSpPr>
          <p:cNvPr id="104" name="Google Shape;104;p17"/>
          <p:cNvCxnSpPr>
            <a:stCxn id="101" idx="0"/>
            <a:endCxn id="103" idx="2"/>
          </p:cNvCxnSpPr>
          <p:nvPr/>
        </p:nvCxnSpPr>
        <p:spPr>
          <a:xfrm rot="10800000">
            <a:off x="7725550" y="1012450"/>
            <a:ext cx="0" cy="222000"/>
          </a:xfrm>
          <a:prstGeom prst="straightConnector1">
            <a:avLst/>
          </a:prstGeom>
          <a:noFill/>
          <a:ln cap="flat" cmpd="sng" w="9525">
            <a:solidFill>
              <a:schemeClr val="dk2"/>
            </a:solidFill>
            <a:prstDash val="solid"/>
            <a:round/>
            <a:headEnd len="med" w="med" type="none"/>
            <a:tailEnd len="med" w="med" type="triangle"/>
          </a:ln>
        </p:spPr>
      </p:cxnSp>
      <p:sp>
        <p:nvSpPr>
          <p:cNvPr id="105" name="Google Shape;105;p17"/>
          <p:cNvSpPr txBox="1"/>
          <p:nvPr/>
        </p:nvSpPr>
        <p:spPr>
          <a:xfrm>
            <a:off x="7408900" y="2546600"/>
            <a:ext cx="708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input</a:t>
            </a:r>
            <a:endParaRPr sz="1800">
              <a:solidFill>
                <a:schemeClr val="dk2"/>
              </a:solidFill>
            </a:endParaRPr>
          </a:p>
        </p:txBody>
      </p:sp>
      <p:cxnSp>
        <p:nvCxnSpPr>
          <p:cNvPr id="106" name="Google Shape;106;p17"/>
          <p:cNvCxnSpPr/>
          <p:nvPr/>
        </p:nvCxnSpPr>
        <p:spPr>
          <a:xfrm rot="10800000">
            <a:off x="7725550" y="2348325"/>
            <a:ext cx="0" cy="279600"/>
          </a:xfrm>
          <a:prstGeom prst="straightConnector1">
            <a:avLst/>
          </a:prstGeom>
          <a:noFill/>
          <a:ln cap="flat" cmpd="sng" w="9525">
            <a:solidFill>
              <a:schemeClr val="dk2"/>
            </a:solidFill>
            <a:prstDash val="solid"/>
            <a:round/>
            <a:headEnd len="med" w="med" type="none"/>
            <a:tailEnd len="med" w="med" type="triangle"/>
          </a:ln>
        </p:spPr>
      </p:cxnSp>
      <p:sp>
        <p:nvSpPr>
          <p:cNvPr id="107" name="Google Shape;107;p17"/>
          <p:cNvSpPr txBox="1"/>
          <p:nvPr/>
        </p:nvSpPr>
        <p:spPr>
          <a:xfrm>
            <a:off x="6289200" y="1573225"/>
            <a:ext cx="708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T, H</a:t>
            </a:r>
            <a:endParaRPr sz="1500">
              <a:solidFill>
                <a:schemeClr val="dk2"/>
              </a:solidFill>
            </a:endParaRPr>
          </a:p>
        </p:txBody>
      </p:sp>
      <p:sp>
        <p:nvSpPr>
          <p:cNvPr id="108" name="Google Shape;108;p17"/>
          <p:cNvSpPr txBox="1"/>
          <p:nvPr/>
        </p:nvSpPr>
        <p:spPr>
          <a:xfrm>
            <a:off x="6315213" y="805600"/>
            <a:ext cx="708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T, V</a:t>
            </a:r>
            <a:endParaRPr sz="1500">
              <a:solidFill>
                <a:schemeClr val="dk2"/>
              </a:solidFill>
            </a:endParaRPr>
          </a:p>
        </p:txBody>
      </p:sp>
      <p:sp>
        <p:nvSpPr>
          <p:cNvPr id="109" name="Google Shape;109;p17"/>
          <p:cNvSpPr txBox="1"/>
          <p:nvPr/>
        </p:nvSpPr>
        <p:spPr>
          <a:xfrm>
            <a:off x="6683350" y="-20100"/>
            <a:ext cx="208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Next token distribution</a:t>
            </a:r>
            <a:endParaRPr>
              <a:solidFill>
                <a:schemeClr val="dk2"/>
              </a:solidFill>
            </a:endParaRPr>
          </a:p>
        </p:txBody>
      </p:sp>
      <p:cxnSp>
        <p:nvCxnSpPr>
          <p:cNvPr id="110" name="Google Shape;110;p17"/>
          <p:cNvCxnSpPr>
            <a:stCxn id="103" idx="0"/>
            <a:endCxn id="109" idx="2"/>
          </p:cNvCxnSpPr>
          <p:nvPr/>
        </p:nvCxnSpPr>
        <p:spPr>
          <a:xfrm rot="10800000">
            <a:off x="7725550" y="380075"/>
            <a:ext cx="0" cy="174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Attention Summary</a:t>
            </a:r>
            <a:endParaRPr/>
          </a:p>
        </p:txBody>
      </p:sp>
      <p:pic>
        <p:nvPicPr>
          <p:cNvPr descr="{&quot;aid&quot;:null,&quot;id&quot;:&quot;1&quot;,&quot;font&quot;:{&quot;size&quot;:12,&quot;family&quot;:&quot;Arial&quot;,&quot;color&quot;:&quot;#000000&quot;},&quot;backgroundColor&quot;:&quot;#FFFFFF&quot;,&quot;backgroundColorModified&quot;:false,&quot;type&quot;:&quot;gather*&quot;,&quot;code&quot;:&quot;\\begin{gather*}\n{\\text{Single}\\;\\text{Headed}\\;\\text{Attention}\\;\\text{Calculations}}\\\\\n{X:\\,T\\times D_{e}}\\\\\n{W_{Q},\\,W_{K}:\\,D_{e}\\times D_{k}}\\\\\n{W_{V}:\\,D_{e}\\times D_{v}}\\\\\n{W_{O}:\\,D_{v}\\times D_{e}}\\\\\n{\\boldsymbol{\\boldsymbol{\\underline{\\text{Step}\\;\\text{1:}\\;\\text{X,}\\;\\text{Q,}\\;\\text{K,}\\;\\text{V}\\;\\text{projections}}}}}\\\\\n{Q:\\,XW_{Q}:\\,T\\times D_{k},\\,K:\\,XW_{K}:\\,T\\times D_{k},\\,V:\\,XW_{V}:\\,T\\times D_{v}}\\\\\n{}\\\\\n{\\underline{\\text{Step}\\;\\text{2:}\\;\\text{Attention}\\;\\text{scores}\\;\\text{+}\\;\\text{normalization}}}\\\\\n{\\text{Raw}\\;\\text{attention}\\;\\text{scores}\\;\\text{(with}\\;\\text{masking):}}\\\\\n{A_{raw}=QK^{T}:\\,T\\times T}\\\\\n{\\text{Normalize}}\\\\\n{A=\\text{Softmax(}\\frac{A_{raw}}{{\\sqrt[]{d_{k}}}}\\text{)}}\t\n\\end{gather*}&quot;,&quot;ts&quot;:1776946476569,&quot;cs&quot;:&quot;WF3JUhaXBg+gje4RKqPNXQ==&quot;,&quot;size&quot;:{&quot;width&quot;:498.5,&quot;height&quot;:352}}" id="116" name="Google Shape;116;p18"/>
          <p:cNvPicPr preferRelativeResize="0"/>
          <p:nvPr/>
        </p:nvPicPr>
        <p:blipFill>
          <a:blip r:embed="rId3">
            <a:alphaModFix/>
          </a:blip>
          <a:stretch>
            <a:fillRect/>
          </a:stretch>
        </p:blipFill>
        <p:spPr>
          <a:xfrm>
            <a:off x="519896" y="1273975"/>
            <a:ext cx="4748213" cy="3352800"/>
          </a:xfrm>
          <a:prstGeom prst="rect">
            <a:avLst/>
          </a:prstGeom>
          <a:noFill/>
          <a:ln>
            <a:noFill/>
          </a:ln>
        </p:spPr>
      </p:pic>
      <p:pic>
        <p:nvPicPr>
          <p:cNvPr descr="{&quot;type&quot;:&quot;gather*&quot;,&quot;backgroundColorModified&quot;:false,&quot;id&quot;:&quot;2&quot;,&quot;backgroundColor&quot;:&quot;#FFFFFF&quot;,&quot;font&quot;:{&quot;family&quot;:&quot;Arial&quot;,&quot;size&quot;:14,&quot;color&quot;:&quot;#000000&quot;},&quot;aid&quot;:null,&quot;code&quot;:&quot;\\begin{gather*}\n{\\underline{\\text{Step}\\;\\text{3:}\\;\\text{Value}\\;\\text{projection}}}\\\\\n{O=AV:\\,T\\times D_{v}}\\\\\n{}\\\\\n{\\underline{\\text{Step}\\;\\text{4:}\\;\\text{Output}\\;\\text{projection}}}\\\\\n{Y=OW_{o}=T\\times D_{e}}\t\n\\end{gather*}&quot;,&quot;ts&quot;:1775923498729,&quot;cs&quot;:&quot;p25N5Vtcc4aHz1LwQLZjWQ==&quot;,&quot;size&quot;:{&quot;width&quot;:244.40000000000006,&quot;height&quot;:144.8}}" id="117" name="Google Shape;117;p18"/>
          <p:cNvPicPr preferRelativeResize="0"/>
          <p:nvPr/>
        </p:nvPicPr>
        <p:blipFill>
          <a:blip r:embed="rId4">
            <a:alphaModFix/>
          </a:blip>
          <a:stretch>
            <a:fillRect/>
          </a:stretch>
        </p:blipFill>
        <p:spPr>
          <a:xfrm>
            <a:off x="6171537" y="1345875"/>
            <a:ext cx="2327910" cy="13792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Generative Model: Inference</a:t>
            </a:r>
            <a:endParaRPr/>
          </a:p>
        </p:txBody>
      </p:sp>
      <p:sp>
        <p:nvSpPr>
          <p:cNvPr id="123" name="Google Shape;123;p19"/>
          <p:cNvSpPr txBox="1"/>
          <p:nvPr>
            <p:ph idx="1" type="body"/>
          </p:nvPr>
        </p:nvSpPr>
        <p:spPr>
          <a:xfrm>
            <a:off x="354875" y="975475"/>
            <a:ext cx="8520600" cy="58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Key idea:</a:t>
            </a:r>
            <a:r>
              <a:rPr lang="en"/>
              <a:t> Autoregressively generate one token after the other</a:t>
            </a:r>
            <a:endParaRPr/>
          </a:p>
        </p:txBody>
      </p:sp>
      <p:sp>
        <p:nvSpPr>
          <p:cNvPr id="124" name="Google Shape;124;p19"/>
          <p:cNvSpPr/>
          <p:nvPr/>
        </p:nvSpPr>
        <p:spPr>
          <a:xfrm>
            <a:off x="981467" y="3492336"/>
            <a:ext cx="1226700" cy="583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Transformer</a:t>
            </a:r>
            <a:br>
              <a:rPr lang="en"/>
            </a:br>
            <a:r>
              <a:rPr lang="en" sz="1100"/>
              <a:t>+ FC + Softmax</a:t>
            </a:r>
            <a:endParaRPr sz="1100"/>
          </a:p>
        </p:txBody>
      </p:sp>
      <p:sp>
        <p:nvSpPr>
          <p:cNvPr id="125" name="Google Shape;125;p19"/>
          <p:cNvSpPr txBox="1"/>
          <p:nvPr/>
        </p:nvSpPr>
        <p:spPr>
          <a:xfrm>
            <a:off x="355217" y="4330261"/>
            <a:ext cx="2479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&lt;BOS&gt;, The, quick, brown </a:t>
            </a:r>
            <a:r>
              <a:rPr lang="en" sz="1300">
                <a:solidFill>
                  <a:srgbClr val="FF0000"/>
                </a:solidFill>
              </a:rPr>
              <a:t>_</a:t>
            </a:r>
            <a:endParaRPr sz="1300">
              <a:solidFill>
                <a:srgbClr val="FF0000"/>
              </a:solidFill>
            </a:endParaRPr>
          </a:p>
        </p:txBody>
      </p:sp>
      <p:cxnSp>
        <p:nvCxnSpPr>
          <p:cNvPr id="126" name="Google Shape;126;p19"/>
          <p:cNvCxnSpPr>
            <a:stCxn id="125" idx="0"/>
            <a:endCxn id="124" idx="2"/>
          </p:cNvCxnSpPr>
          <p:nvPr/>
        </p:nvCxnSpPr>
        <p:spPr>
          <a:xfrm rot="10800000">
            <a:off x="1594817" y="4075561"/>
            <a:ext cx="0" cy="254700"/>
          </a:xfrm>
          <a:prstGeom prst="straightConnector1">
            <a:avLst/>
          </a:prstGeom>
          <a:noFill/>
          <a:ln cap="flat" cmpd="sng" w="9525">
            <a:solidFill>
              <a:schemeClr val="dk2"/>
            </a:solidFill>
            <a:prstDash val="solid"/>
            <a:round/>
            <a:headEnd len="med" w="med" type="none"/>
            <a:tailEnd len="med" w="med" type="triangle"/>
          </a:ln>
        </p:spPr>
      </p:cxnSp>
      <p:cxnSp>
        <p:nvCxnSpPr>
          <p:cNvPr id="127" name="Google Shape;127;p19"/>
          <p:cNvCxnSpPr>
            <a:stCxn id="124" idx="0"/>
            <a:endCxn id="128" idx="2"/>
          </p:cNvCxnSpPr>
          <p:nvPr/>
        </p:nvCxnSpPr>
        <p:spPr>
          <a:xfrm rot="10800000">
            <a:off x="1594817" y="3312036"/>
            <a:ext cx="0" cy="180300"/>
          </a:xfrm>
          <a:prstGeom prst="straightConnector1">
            <a:avLst/>
          </a:prstGeom>
          <a:noFill/>
          <a:ln cap="flat" cmpd="sng" w="9525">
            <a:solidFill>
              <a:schemeClr val="dk2"/>
            </a:solidFill>
            <a:prstDash val="solid"/>
            <a:round/>
            <a:headEnd len="med" w="med" type="none"/>
            <a:tailEnd len="med" w="med" type="triangle"/>
          </a:ln>
        </p:spPr>
      </p:cxnSp>
      <p:sp>
        <p:nvSpPr>
          <p:cNvPr id="128" name="Google Shape;128;p19"/>
          <p:cNvSpPr txBox="1"/>
          <p:nvPr/>
        </p:nvSpPr>
        <p:spPr>
          <a:xfrm>
            <a:off x="253667" y="2696499"/>
            <a:ext cx="2682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Probability distribution over tokens: p(</a:t>
            </a:r>
            <a:r>
              <a:rPr lang="en">
                <a:solidFill>
                  <a:srgbClr val="FF0000"/>
                </a:solidFill>
              </a:rPr>
              <a:t>t</a:t>
            </a:r>
            <a:r>
              <a:rPr lang="en">
                <a:solidFill>
                  <a:schemeClr val="dk2"/>
                </a:solidFill>
              </a:rPr>
              <a:t>)</a:t>
            </a:r>
            <a:endParaRPr>
              <a:solidFill>
                <a:schemeClr val="dk2"/>
              </a:solidFill>
            </a:endParaRPr>
          </a:p>
        </p:txBody>
      </p:sp>
      <p:cxnSp>
        <p:nvCxnSpPr>
          <p:cNvPr id="129" name="Google Shape;129;p19"/>
          <p:cNvCxnSpPr>
            <a:stCxn id="128" idx="0"/>
            <a:endCxn id="130" idx="2"/>
          </p:cNvCxnSpPr>
          <p:nvPr/>
        </p:nvCxnSpPr>
        <p:spPr>
          <a:xfrm rot="10800000">
            <a:off x="1594817" y="2516199"/>
            <a:ext cx="0" cy="180300"/>
          </a:xfrm>
          <a:prstGeom prst="straightConnector1">
            <a:avLst/>
          </a:prstGeom>
          <a:noFill/>
          <a:ln cap="flat" cmpd="sng" w="9525">
            <a:solidFill>
              <a:schemeClr val="dk2"/>
            </a:solidFill>
            <a:prstDash val="solid"/>
            <a:round/>
            <a:headEnd len="med" w="med" type="none"/>
            <a:tailEnd len="med" w="med" type="triangle"/>
          </a:ln>
        </p:spPr>
      </p:cxnSp>
      <p:sp>
        <p:nvSpPr>
          <p:cNvPr id="131" name="Google Shape;131;p19"/>
          <p:cNvSpPr/>
          <p:nvPr/>
        </p:nvSpPr>
        <p:spPr>
          <a:xfrm>
            <a:off x="4162875" y="3453436"/>
            <a:ext cx="1226700" cy="583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Transformer</a:t>
            </a:r>
            <a:r>
              <a:rPr lang="en" sz="1100">
                <a:solidFill>
                  <a:schemeClr val="dk1"/>
                </a:solidFill>
              </a:rPr>
              <a:t>+ FC + Softmax</a:t>
            </a:r>
            <a:endParaRPr/>
          </a:p>
        </p:txBody>
      </p:sp>
      <p:sp>
        <p:nvSpPr>
          <p:cNvPr id="130" name="Google Shape;130;p19"/>
          <p:cNvSpPr txBox="1"/>
          <p:nvPr/>
        </p:nvSpPr>
        <p:spPr>
          <a:xfrm>
            <a:off x="253667" y="2116074"/>
            <a:ext cx="268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Decoding: Sample a token</a:t>
            </a:r>
            <a:endParaRPr>
              <a:solidFill>
                <a:schemeClr val="dk2"/>
              </a:solidFill>
            </a:endParaRPr>
          </a:p>
        </p:txBody>
      </p:sp>
      <p:cxnSp>
        <p:nvCxnSpPr>
          <p:cNvPr id="132" name="Google Shape;132;p19"/>
          <p:cNvCxnSpPr>
            <a:stCxn id="130" idx="0"/>
            <a:endCxn id="133" idx="2"/>
          </p:cNvCxnSpPr>
          <p:nvPr/>
        </p:nvCxnSpPr>
        <p:spPr>
          <a:xfrm rot="10800000">
            <a:off x="1594817" y="1918674"/>
            <a:ext cx="0" cy="197400"/>
          </a:xfrm>
          <a:prstGeom prst="straightConnector1">
            <a:avLst/>
          </a:prstGeom>
          <a:noFill/>
          <a:ln cap="flat" cmpd="sng" w="9525">
            <a:solidFill>
              <a:schemeClr val="dk2"/>
            </a:solidFill>
            <a:prstDash val="solid"/>
            <a:round/>
            <a:headEnd len="med" w="med" type="none"/>
            <a:tailEnd len="med" w="med" type="triangle"/>
          </a:ln>
        </p:spPr>
      </p:cxnSp>
      <p:sp>
        <p:nvSpPr>
          <p:cNvPr id="133" name="Google Shape;133;p19"/>
          <p:cNvSpPr txBox="1"/>
          <p:nvPr/>
        </p:nvSpPr>
        <p:spPr>
          <a:xfrm>
            <a:off x="962042" y="1518336"/>
            <a:ext cx="1265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fox</a:t>
            </a:r>
            <a:endParaRPr b="1">
              <a:solidFill>
                <a:schemeClr val="dk2"/>
              </a:solidFill>
            </a:endParaRPr>
          </a:p>
        </p:txBody>
      </p:sp>
      <p:sp>
        <p:nvSpPr>
          <p:cNvPr id="134" name="Google Shape;134;p19"/>
          <p:cNvSpPr txBox="1"/>
          <p:nvPr/>
        </p:nvSpPr>
        <p:spPr>
          <a:xfrm>
            <a:off x="3221825" y="4330261"/>
            <a:ext cx="2786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&lt;BOS&gt;, The, quick, brown, fox </a:t>
            </a:r>
            <a:r>
              <a:rPr lang="en" sz="1300">
                <a:solidFill>
                  <a:srgbClr val="FF0000"/>
                </a:solidFill>
              </a:rPr>
              <a:t>_</a:t>
            </a:r>
            <a:endParaRPr sz="1300">
              <a:solidFill>
                <a:schemeClr val="dk2"/>
              </a:solidFill>
            </a:endParaRPr>
          </a:p>
        </p:txBody>
      </p:sp>
      <p:cxnSp>
        <p:nvCxnSpPr>
          <p:cNvPr id="135" name="Google Shape;135;p19"/>
          <p:cNvCxnSpPr>
            <a:stCxn id="133" idx="3"/>
            <a:endCxn id="134" idx="1"/>
          </p:cNvCxnSpPr>
          <p:nvPr/>
        </p:nvCxnSpPr>
        <p:spPr>
          <a:xfrm>
            <a:off x="2227442" y="1718436"/>
            <a:ext cx="994500" cy="2804400"/>
          </a:xfrm>
          <a:prstGeom prst="bentConnector3">
            <a:avLst>
              <a:gd fmla="val 49994" name="adj1"/>
            </a:avLst>
          </a:prstGeom>
          <a:noFill/>
          <a:ln cap="flat" cmpd="sng" w="9525">
            <a:solidFill>
              <a:schemeClr val="dk2"/>
            </a:solidFill>
            <a:prstDash val="solid"/>
            <a:round/>
            <a:headEnd len="med" w="med" type="none"/>
            <a:tailEnd len="med" w="med" type="stealth"/>
          </a:ln>
        </p:spPr>
      </p:cxnSp>
      <p:sp>
        <p:nvSpPr>
          <p:cNvPr id="136" name="Google Shape;136;p19"/>
          <p:cNvSpPr txBox="1"/>
          <p:nvPr/>
        </p:nvSpPr>
        <p:spPr>
          <a:xfrm>
            <a:off x="3435075" y="2696499"/>
            <a:ext cx="268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p(</a:t>
            </a:r>
            <a:r>
              <a:rPr lang="en">
                <a:solidFill>
                  <a:srgbClr val="FF0000"/>
                </a:solidFill>
              </a:rPr>
              <a:t>t</a:t>
            </a:r>
            <a:r>
              <a:rPr lang="en">
                <a:solidFill>
                  <a:schemeClr val="dk2"/>
                </a:solidFill>
              </a:rPr>
              <a:t>)</a:t>
            </a:r>
            <a:endParaRPr>
              <a:solidFill>
                <a:schemeClr val="dk2"/>
              </a:solidFill>
            </a:endParaRPr>
          </a:p>
        </p:txBody>
      </p:sp>
      <p:cxnSp>
        <p:nvCxnSpPr>
          <p:cNvPr id="137" name="Google Shape;137;p19"/>
          <p:cNvCxnSpPr>
            <a:stCxn id="136" idx="0"/>
            <a:endCxn id="138" idx="2"/>
          </p:cNvCxnSpPr>
          <p:nvPr/>
        </p:nvCxnSpPr>
        <p:spPr>
          <a:xfrm rot="10800000">
            <a:off x="4776225" y="2516199"/>
            <a:ext cx="0" cy="180300"/>
          </a:xfrm>
          <a:prstGeom prst="straightConnector1">
            <a:avLst/>
          </a:prstGeom>
          <a:noFill/>
          <a:ln cap="flat" cmpd="sng" w="9525">
            <a:solidFill>
              <a:schemeClr val="dk2"/>
            </a:solidFill>
            <a:prstDash val="solid"/>
            <a:round/>
            <a:headEnd len="med" w="med" type="none"/>
            <a:tailEnd len="med" w="med" type="triangle"/>
          </a:ln>
        </p:spPr>
      </p:cxnSp>
      <p:sp>
        <p:nvSpPr>
          <p:cNvPr id="138" name="Google Shape;138;p19"/>
          <p:cNvSpPr txBox="1"/>
          <p:nvPr/>
        </p:nvSpPr>
        <p:spPr>
          <a:xfrm>
            <a:off x="3435075" y="2116074"/>
            <a:ext cx="268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Decoding</a:t>
            </a:r>
            <a:endParaRPr>
              <a:solidFill>
                <a:schemeClr val="dk2"/>
              </a:solidFill>
            </a:endParaRPr>
          </a:p>
        </p:txBody>
      </p:sp>
      <p:cxnSp>
        <p:nvCxnSpPr>
          <p:cNvPr id="139" name="Google Shape;139;p19"/>
          <p:cNvCxnSpPr>
            <a:stCxn id="131" idx="0"/>
            <a:endCxn id="136" idx="2"/>
          </p:cNvCxnSpPr>
          <p:nvPr/>
        </p:nvCxnSpPr>
        <p:spPr>
          <a:xfrm rot="10800000">
            <a:off x="4776225" y="3096736"/>
            <a:ext cx="0" cy="356700"/>
          </a:xfrm>
          <a:prstGeom prst="straightConnector1">
            <a:avLst/>
          </a:prstGeom>
          <a:noFill/>
          <a:ln cap="flat" cmpd="sng" w="9525">
            <a:solidFill>
              <a:schemeClr val="dk2"/>
            </a:solidFill>
            <a:prstDash val="solid"/>
            <a:round/>
            <a:headEnd len="med" w="med" type="none"/>
            <a:tailEnd len="med" w="med" type="triangle"/>
          </a:ln>
        </p:spPr>
      </p:cxnSp>
      <p:cxnSp>
        <p:nvCxnSpPr>
          <p:cNvPr id="140" name="Google Shape;140;p19"/>
          <p:cNvCxnSpPr/>
          <p:nvPr/>
        </p:nvCxnSpPr>
        <p:spPr>
          <a:xfrm rot="10800000">
            <a:off x="4776234" y="1958774"/>
            <a:ext cx="0" cy="197400"/>
          </a:xfrm>
          <a:prstGeom prst="straightConnector1">
            <a:avLst/>
          </a:prstGeom>
          <a:noFill/>
          <a:ln cap="flat" cmpd="sng" w="9525">
            <a:solidFill>
              <a:schemeClr val="dk2"/>
            </a:solidFill>
            <a:prstDash val="solid"/>
            <a:round/>
            <a:headEnd len="med" w="med" type="none"/>
            <a:tailEnd len="med" w="med" type="triangle"/>
          </a:ln>
        </p:spPr>
      </p:cxnSp>
      <p:sp>
        <p:nvSpPr>
          <p:cNvPr id="141" name="Google Shape;141;p19"/>
          <p:cNvSpPr txBox="1"/>
          <p:nvPr/>
        </p:nvSpPr>
        <p:spPr>
          <a:xfrm>
            <a:off x="4143525" y="1530136"/>
            <a:ext cx="1265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jumps</a:t>
            </a:r>
            <a:endParaRPr b="1">
              <a:solidFill>
                <a:schemeClr val="dk2"/>
              </a:solidFill>
            </a:endParaRPr>
          </a:p>
        </p:txBody>
      </p:sp>
      <p:sp>
        <p:nvSpPr>
          <p:cNvPr id="142" name="Google Shape;142;p19"/>
          <p:cNvSpPr/>
          <p:nvPr/>
        </p:nvSpPr>
        <p:spPr>
          <a:xfrm>
            <a:off x="7050723" y="3453436"/>
            <a:ext cx="1226700" cy="583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Transformer</a:t>
            </a:r>
            <a:r>
              <a:rPr lang="en" sz="1100">
                <a:solidFill>
                  <a:schemeClr val="dk1"/>
                </a:solidFill>
              </a:rPr>
              <a:t>+ FC + Softmax</a:t>
            </a:r>
            <a:endParaRPr/>
          </a:p>
        </p:txBody>
      </p:sp>
      <p:sp>
        <p:nvSpPr>
          <p:cNvPr id="143" name="Google Shape;143;p19"/>
          <p:cNvSpPr txBox="1"/>
          <p:nvPr/>
        </p:nvSpPr>
        <p:spPr>
          <a:xfrm>
            <a:off x="6047100" y="4330261"/>
            <a:ext cx="3142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&lt;BOS&gt;, The, quick, brown, fox, jumps </a:t>
            </a:r>
            <a:r>
              <a:rPr lang="en" sz="1300">
                <a:solidFill>
                  <a:srgbClr val="FF0000"/>
                </a:solidFill>
              </a:rPr>
              <a:t>_</a:t>
            </a:r>
            <a:endParaRPr sz="1300">
              <a:solidFill>
                <a:schemeClr val="dk2"/>
              </a:solidFill>
            </a:endParaRPr>
          </a:p>
        </p:txBody>
      </p:sp>
      <p:sp>
        <p:nvSpPr>
          <p:cNvPr id="144" name="Google Shape;144;p19"/>
          <p:cNvSpPr txBox="1"/>
          <p:nvPr/>
        </p:nvSpPr>
        <p:spPr>
          <a:xfrm>
            <a:off x="6322923" y="2696499"/>
            <a:ext cx="268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p(</a:t>
            </a:r>
            <a:r>
              <a:rPr lang="en">
                <a:solidFill>
                  <a:srgbClr val="FF0000"/>
                </a:solidFill>
              </a:rPr>
              <a:t>t</a:t>
            </a:r>
            <a:r>
              <a:rPr lang="en">
                <a:solidFill>
                  <a:schemeClr val="dk2"/>
                </a:solidFill>
              </a:rPr>
              <a:t>)</a:t>
            </a:r>
            <a:endParaRPr>
              <a:solidFill>
                <a:schemeClr val="dk2"/>
              </a:solidFill>
            </a:endParaRPr>
          </a:p>
        </p:txBody>
      </p:sp>
      <p:cxnSp>
        <p:nvCxnSpPr>
          <p:cNvPr id="145" name="Google Shape;145;p19"/>
          <p:cNvCxnSpPr>
            <a:stCxn id="144" idx="0"/>
            <a:endCxn id="146" idx="2"/>
          </p:cNvCxnSpPr>
          <p:nvPr/>
        </p:nvCxnSpPr>
        <p:spPr>
          <a:xfrm rot="10800000">
            <a:off x="7664073" y="2516199"/>
            <a:ext cx="0" cy="180300"/>
          </a:xfrm>
          <a:prstGeom prst="straightConnector1">
            <a:avLst/>
          </a:prstGeom>
          <a:noFill/>
          <a:ln cap="flat" cmpd="sng" w="9525">
            <a:solidFill>
              <a:schemeClr val="dk2"/>
            </a:solidFill>
            <a:prstDash val="solid"/>
            <a:round/>
            <a:headEnd len="med" w="med" type="none"/>
            <a:tailEnd len="med" w="med" type="triangle"/>
          </a:ln>
        </p:spPr>
      </p:cxnSp>
      <p:sp>
        <p:nvSpPr>
          <p:cNvPr id="146" name="Google Shape;146;p19"/>
          <p:cNvSpPr txBox="1"/>
          <p:nvPr/>
        </p:nvSpPr>
        <p:spPr>
          <a:xfrm>
            <a:off x="6322923" y="2116074"/>
            <a:ext cx="268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Decoding</a:t>
            </a:r>
            <a:endParaRPr>
              <a:solidFill>
                <a:schemeClr val="dk2"/>
              </a:solidFill>
            </a:endParaRPr>
          </a:p>
        </p:txBody>
      </p:sp>
      <p:cxnSp>
        <p:nvCxnSpPr>
          <p:cNvPr id="147" name="Google Shape;147;p19"/>
          <p:cNvCxnSpPr>
            <a:stCxn id="142" idx="0"/>
            <a:endCxn id="144" idx="2"/>
          </p:cNvCxnSpPr>
          <p:nvPr/>
        </p:nvCxnSpPr>
        <p:spPr>
          <a:xfrm rot="10800000">
            <a:off x="7664073" y="3096736"/>
            <a:ext cx="0" cy="356700"/>
          </a:xfrm>
          <a:prstGeom prst="straightConnector1">
            <a:avLst/>
          </a:prstGeom>
          <a:noFill/>
          <a:ln cap="flat" cmpd="sng" w="9525">
            <a:solidFill>
              <a:schemeClr val="dk2"/>
            </a:solidFill>
            <a:prstDash val="solid"/>
            <a:round/>
            <a:headEnd len="med" w="med" type="none"/>
            <a:tailEnd len="med" w="med" type="triangle"/>
          </a:ln>
        </p:spPr>
      </p:cxnSp>
      <p:cxnSp>
        <p:nvCxnSpPr>
          <p:cNvPr id="148" name="Google Shape;148;p19"/>
          <p:cNvCxnSpPr/>
          <p:nvPr/>
        </p:nvCxnSpPr>
        <p:spPr>
          <a:xfrm rot="10800000">
            <a:off x="7664082" y="1958774"/>
            <a:ext cx="0" cy="197400"/>
          </a:xfrm>
          <a:prstGeom prst="straightConnector1">
            <a:avLst/>
          </a:prstGeom>
          <a:noFill/>
          <a:ln cap="flat" cmpd="sng" w="9525">
            <a:solidFill>
              <a:schemeClr val="dk2"/>
            </a:solidFill>
            <a:prstDash val="solid"/>
            <a:round/>
            <a:headEnd len="med" w="med" type="none"/>
            <a:tailEnd len="med" w="med" type="triangle"/>
          </a:ln>
        </p:spPr>
      </p:cxnSp>
      <p:sp>
        <p:nvSpPr>
          <p:cNvPr id="149" name="Google Shape;149;p19"/>
          <p:cNvSpPr txBox="1"/>
          <p:nvPr/>
        </p:nvSpPr>
        <p:spPr>
          <a:xfrm>
            <a:off x="7031375" y="1535661"/>
            <a:ext cx="1265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over</a:t>
            </a:r>
            <a:endParaRPr b="1">
              <a:solidFill>
                <a:schemeClr val="dk2"/>
              </a:solidFill>
            </a:endParaRPr>
          </a:p>
        </p:txBody>
      </p:sp>
      <p:cxnSp>
        <p:nvCxnSpPr>
          <p:cNvPr id="150" name="Google Shape;150;p19"/>
          <p:cNvCxnSpPr/>
          <p:nvPr/>
        </p:nvCxnSpPr>
        <p:spPr>
          <a:xfrm rot="10800000">
            <a:off x="4776225" y="4075561"/>
            <a:ext cx="0" cy="254700"/>
          </a:xfrm>
          <a:prstGeom prst="straightConnector1">
            <a:avLst/>
          </a:prstGeom>
          <a:noFill/>
          <a:ln cap="flat" cmpd="sng" w="9525">
            <a:solidFill>
              <a:schemeClr val="dk2"/>
            </a:solidFill>
            <a:prstDash val="solid"/>
            <a:round/>
            <a:headEnd len="med" w="med" type="none"/>
            <a:tailEnd len="med" w="med" type="triangle"/>
          </a:ln>
        </p:spPr>
      </p:cxnSp>
      <p:cxnSp>
        <p:nvCxnSpPr>
          <p:cNvPr id="151" name="Google Shape;151;p19"/>
          <p:cNvCxnSpPr/>
          <p:nvPr/>
        </p:nvCxnSpPr>
        <p:spPr>
          <a:xfrm rot="10800000">
            <a:off x="7664073" y="4075561"/>
            <a:ext cx="0" cy="254700"/>
          </a:xfrm>
          <a:prstGeom prst="straightConnector1">
            <a:avLst/>
          </a:prstGeom>
          <a:noFill/>
          <a:ln cap="flat" cmpd="sng" w="9525">
            <a:solidFill>
              <a:schemeClr val="dk2"/>
            </a:solidFill>
            <a:prstDash val="solid"/>
            <a:round/>
            <a:headEnd len="med" w="med" type="none"/>
            <a:tailEnd len="med" w="med" type="triangle"/>
          </a:ln>
        </p:spPr>
      </p:cxnSp>
      <p:cxnSp>
        <p:nvCxnSpPr>
          <p:cNvPr id="152" name="Google Shape;152;p19"/>
          <p:cNvCxnSpPr>
            <a:stCxn id="141" idx="3"/>
            <a:endCxn id="143" idx="1"/>
          </p:cNvCxnSpPr>
          <p:nvPr/>
        </p:nvCxnSpPr>
        <p:spPr>
          <a:xfrm>
            <a:off x="5408925" y="1730236"/>
            <a:ext cx="638100" cy="2792400"/>
          </a:xfrm>
          <a:prstGeom prst="bentConnector3">
            <a:avLst>
              <a:gd fmla="val 50006" name="adj1"/>
            </a:avLst>
          </a:prstGeom>
          <a:noFill/>
          <a:ln cap="flat" cmpd="sng" w="9525">
            <a:solidFill>
              <a:schemeClr val="dk2"/>
            </a:solidFill>
            <a:prstDash val="solid"/>
            <a:round/>
            <a:headEnd len="med" w="med" type="none"/>
            <a:tailEnd len="med" w="med" type="stealth"/>
          </a:ln>
        </p:spPr>
      </p:cxnSp>
      <p:sp>
        <p:nvSpPr>
          <p:cNvPr id="153" name="Google Shape;153;p19"/>
          <p:cNvSpPr txBox="1"/>
          <p:nvPr/>
        </p:nvSpPr>
        <p:spPr>
          <a:xfrm>
            <a:off x="1221176" y="4773403"/>
            <a:ext cx="747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rPr>
              <a:t>Prefill</a:t>
            </a:r>
            <a:endParaRPr b="1" sz="1300">
              <a:solidFill>
                <a:srgbClr val="FF0000"/>
              </a:solidFill>
            </a:endParaRPr>
          </a:p>
        </p:txBody>
      </p:sp>
      <p:sp>
        <p:nvSpPr>
          <p:cNvPr id="154" name="Google Shape;154;p19"/>
          <p:cNvSpPr txBox="1"/>
          <p:nvPr/>
        </p:nvSpPr>
        <p:spPr>
          <a:xfrm>
            <a:off x="4415350" y="4773391"/>
            <a:ext cx="821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rPr>
              <a:t>Decode</a:t>
            </a:r>
            <a:endParaRPr b="1" sz="1300">
              <a:solidFill>
                <a:srgbClr val="FF0000"/>
              </a:solidFill>
            </a:endParaRPr>
          </a:p>
        </p:txBody>
      </p:sp>
      <p:sp>
        <p:nvSpPr>
          <p:cNvPr id="155" name="Google Shape;155;p19"/>
          <p:cNvSpPr txBox="1"/>
          <p:nvPr/>
        </p:nvSpPr>
        <p:spPr>
          <a:xfrm>
            <a:off x="7253225" y="4773403"/>
            <a:ext cx="821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2"/>
                </a:solidFill>
              </a:rPr>
              <a:t>Decode</a:t>
            </a:r>
            <a:endParaRPr b="1" sz="130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KV Caching</a:t>
            </a:r>
            <a:endParaRPr/>
          </a:p>
        </p:txBody>
      </p:sp>
      <p:pic>
        <p:nvPicPr>
          <p:cNvPr descr="{&quot;aid&quot;:null,&quot;backgroundColorModified&quot;:false,&quot;code&quot;:&quot;\\begin{gather*}\n{\\text{At}\\;\\text{step}\\;\\text{t,}\\;\\text{we}\\;\\text{generate}\\;\\text{token}\\;x_{t},\\,\\text{which}\\;\\text{depends}\\;\\text{on}\\;x_{1},\\,x_{2}...\\,x_{t-1}}\\\\\n{\\text{At}\\;\\text{step}\\;\\text{t+1,}\\;\\text{we}\\;\\text{generate}\\;\\text{token}\\;x_{t+1},\\,\\text{which}\\;\\text{depends}\\;\\text{on}\\;x_{1},\\,x_{2}...\\,x_{t-1},\\,x_{t}}\\\\\n{\\text{Rather}\\;\\text{than}\\;\\text{do}\\;\\text{the}\\;\\text{entire}\\;\\text{calculation}\\;\\text{every}\\;\\text{time}\\;\\text{step,}\\;\\text{we}\\;\\text{can}\\;\\text{}}\\\\\n{\\text{reuse}\\;\\text{the}\\;\\text{calculations}\\;\\text{already}\\;\\text{performed}}\\\\\n{\\text{Specifically,}\\;\\text{we}\\;\\text{can}\\;\\text{reuse}\\;\\text{the}\\;\\text{KV}\\;\\text{vectors}\\;\\text{already}\\;\\text{calculated}\\;\\text{for}}\\\\\n{x_{i\\leq t},\\,\\text{and}\\;\\text{only}\\;\\text{calculate}\\;\\text{Q,}\\;\\text{K,}\\;\\text{V}\\;\\text{projections}\\;\\text{for}\\;x_{t}}\\\\\n{\\text{This}\\;\\text{is}\\;\\text{possible}\\;\\text{because}\\;\\text{because}\\;\\text{of}\\;\\text{the}\\;\\text{autoregressive}\\;\\text{decoding}}\\\\\n{\\text{token}\\;\\text{t}\\;\\text{can}\\;\\text{only}\\;\\text{attend}\\;\\text{to}\\;\\text{tokens}\\;\\text{\\{1,2...t\\}}}\\\\\n{\\text{So}\\;\\text{the}\\;\\text{hidden}\\;\\text{state}\\;\\text{at}\\;\\text{position}\\;\\text{t}}\\\\\n{h_{t}=f\\left(x_{1},\\,x_{2}...x_{t}\\right)}\\\\\n{\\text{is}\\;\\text{final}\\;\\text{once}\\;\\text{computed.}\\;\\text{Future}\\;\\text{tokens}\\;\\text{can't}\\;\\text{change}\\;\\text{it}}\t\n\\end{gather*}&quot;,&quot;type&quot;:&quot;gather*&quot;,&quot;id&quot;:&quot;4&quot;,&quot;backgroundColor&quot;:&quot;#FFFFFF&quot;,&quot;font&quot;:{&quot;size&quot;:12,&quot;family&quot;:&quot;Arial&quot;,&quot;color&quot;:&quot;#000000&quot;},&quot;ts&quot;:1776990253471,&quot;cs&quot;:&quot;uCjNOjnxjuGCcsHQF5MiHg==&quot;,&quot;size&quot;:{&quot;width&quot;:592,&quot;height&quot;:261.5}}" id="161" name="Google Shape;161;p20"/>
          <p:cNvPicPr preferRelativeResize="0"/>
          <p:nvPr/>
        </p:nvPicPr>
        <p:blipFill>
          <a:blip r:embed="rId3">
            <a:alphaModFix/>
          </a:blip>
          <a:stretch>
            <a:fillRect/>
          </a:stretch>
        </p:blipFill>
        <p:spPr>
          <a:xfrm>
            <a:off x="428275" y="1367775"/>
            <a:ext cx="5638800" cy="2490788"/>
          </a:xfrm>
          <a:prstGeom prst="rect">
            <a:avLst/>
          </a:prstGeom>
          <a:noFill/>
          <a:ln>
            <a:noFill/>
          </a:ln>
        </p:spPr>
      </p:pic>
      <p:sp>
        <p:nvSpPr>
          <p:cNvPr id="162" name="Google Shape;162;p20"/>
          <p:cNvSpPr txBox="1"/>
          <p:nvPr/>
        </p:nvSpPr>
        <p:spPr>
          <a:xfrm>
            <a:off x="6219700" y="1205875"/>
            <a:ext cx="23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The quick brown -&gt; fox</a:t>
            </a:r>
            <a:endParaRPr>
              <a:solidFill>
                <a:schemeClr val="dk2"/>
              </a:solidFill>
            </a:endParaRPr>
          </a:p>
        </p:txBody>
      </p:sp>
      <p:sp>
        <p:nvSpPr>
          <p:cNvPr id="163" name="Google Shape;163;p20"/>
          <p:cNvSpPr txBox="1"/>
          <p:nvPr/>
        </p:nvSpPr>
        <p:spPr>
          <a:xfrm>
            <a:off x="6219700" y="1509675"/>
            <a:ext cx="264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The quick brown fox -&gt; jumps</a:t>
            </a:r>
            <a:endParaRPr>
              <a:solidFill>
                <a:schemeClr val="dk2"/>
              </a:solidFill>
            </a:endParaRPr>
          </a:p>
        </p:txBody>
      </p:sp>
      <p:sp>
        <p:nvSpPr>
          <p:cNvPr id="164" name="Google Shape;164;p20"/>
          <p:cNvSpPr txBox="1"/>
          <p:nvPr/>
        </p:nvSpPr>
        <p:spPr>
          <a:xfrm>
            <a:off x="394725" y="4268250"/>
            <a:ext cx="699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Storing the previously calculated KV vector is called KV caching. </a:t>
            </a:r>
            <a:endParaRPr>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 Inference: Prefill and Decode</a:t>
            </a:r>
            <a:endParaRPr/>
          </a:p>
        </p:txBody>
      </p:sp>
      <p:sp>
        <p:nvSpPr>
          <p:cNvPr id="170" name="Google Shape;17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LLM inference has two phases:</a:t>
            </a:r>
            <a:endParaRPr/>
          </a:p>
          <a:p>
            <a:pPr indent="-342900" lvl="0" marL="457200" rtl="0" algn="l">
              <a:spcBef>
                <a:spcPts val="1200"/>
              </a:spcBef>
              <a:spcAft>
                <a:spcPts val="0"/>
              </a:spcAft>
              <a:buSzPts val="1800"/>
              <a:buChar char="-"/>
            </a:pPr>
            <a:r>
              <a:rPr b="1" lang="en"/>
              <a:t>Prefill</a:t>
            </a:r>
            <a:r>
              <a:rPr lang="en"/>
              <a:t>: process the input token, fill the KV cache. Compute bound, because we can process a large number of tokens in parallel. </a:t>
            </a:r>
            <a:endParaRPr/>
          </a:p>
          <a:p>
            <a:pPr indent="-342900" lvl="0" marL="457200" rtl="0" algn="l">
              <a:spcBef>
                <a:spcPts val="0"/>
              </a:spcBef>
              <a:spcAft>
                <a:spcPts val="0"/>
              </a:spcAft>
              <a:buSzPts val="1800"/>
              <a:buChar char="-"/>
            </a:pPr>
            <a:r>
              <a:rPr b="1" lang="en"/>
              <a:t>Decode</a:t>
            </a:r>
            <a:r>
              <a:rPr lang="en"/>
              <a:t>: Generate new tokens autoregressively. Memory bound, because lot of KV data must be transferred to the compute units (streaming microprocessors on a GPU)</a:t>
            </a:r>
            <a:endParaRPr/>
          </a:p>
          <a:p>
            <a:pPr indent="0" lvl="0" marL="0" rtl="0" algn="l">
              <a:spcBef>
                <a:spcPts val="1200"/>
              </a:spcBef>
              <a:spcAft>
                <a:spcPts val="0"/>
              </a:spcAft>
              <a:buNone/>
            </a:pPr>
            <a:r>
              <a:rPr lang="en"/>
              <a:t>For one request:</a:t>
            </a:r>
            <a:endParaRPr/>
          </a:p>
          <a:p>
            <a:pPr indent="0" lvl="0" marL="0" rtl="0" algn="l">
              <a:spcBef>
                <a:spcPts val="1200"/>
              </a:spcBef>
              <a:spcAft>
                <a:spcPts val="0"/>
              </a:spcAft>
              <a:buNone/>
            </a:pPr>
            <a:r>
              <a:rPr lang="en"/>
              <a:t>Prompt tokens -&gt; Prefill, generate first token -&gt; decode 1 -&gt; decode 2 … -&gt; until EOS or some threshold is exceeded</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Size of KV cache</a:t>
            </a:r>
            <a:endParaRPr/>
          </a:p>
        </p:txBody>
      </p:sp>
      <p:sp>
        <p:nvSpPr>
          <p:cNvPr id="176" name="Google Shape;176;p22"/>
          <p:cNvSpPr/>
          <p:nvPr/>
        </p:nvSpPr>
        <p:spPr>
          <a:xfrm>
            <a:off x="3237140" y="3059675"/>
            <a:ext cx="1902600" cy="36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Layer 1</a:t>
            </a:r>
            <a:endParaRPr/>
          </a:p>
        </p:txBody>
      </p:sp>
      <p:sp>
        <p:nvSpPr>
          <p:cNvPr id="177" name="Google Shape;177;p22"/>
          <p:cNvSpPr/>
          <p:nvPr/>
        </p:nvSpPr>
        <p:spPr>
          <a:xfrm>
            <a:off x="3237140" y="2487825"/>
            <a:ext cx="1902600" cy="36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Layer 2</a:t>
            </a:r>
            <a:endParaRPr/>
          </a:p>
        </p:txBody>
      </p:sp>
      <p:sp>
        <p:nvSpPr>
          <p:cNvPr id="178" name="Google Shape;178;p22"/>
          <p:cNvSpPr/>
          <p:nvPr/>
        </p:nvSpPr>
        <p:spPr>
          <a:xfrm>
            <a:off x="3237140" y="1797375"/>
            <a:ext cx="1902600" cy="36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Layer N</a:t>
            </a:r>
            <a:endParaRPr/>
          </a:p>
        </p:txBody>
      </p:sp>
      <p:sp>
        <p:nvSpPr>
          <p:cNvPr id="179" name="Google Shape;179;p22"/>
          <p:cNvSpPr txBox="1"/>
          <p:nvPr/>
        </p:nvSpPr>
        <p:spPr>
          <a:xfrm>
            <a:off x="2556890" y="3773700"/>
            <a:ext cx="3263100" cy="13698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a:solidFill>
                  <a:schemeClr val="dk2"/>
                </a:solidFill>
              </a:rPr>
              <a:t>Birds fly home [PAD] [PAD] [PAD]</a:t>
            </a:r>
            <a:endParaRPr>
              <a:solidFill>
                <a:schemeClr val="dk2"/>
              </a:solidFill>
            </a:endParaRPr>
          </a:p>
          <a:p>
            <a:pPr indent="0" lvl="0" marL="0" rtl="0" algn="ctr">
              <a:lnSpc>
                <a:spcPct val="150000"/>
              </a:lnSpc>
              <a:spcBef>
                <a:spcPts val="0"/>
              </a:spcBef>
              <a:spcAft>
                <a:spcPts val="0"/>
              </a:spcAft>
              <a:buNone/>
            </a:pPr>
            <a:r>
              <a:rPr lang="en">
                <a:solidFill>
                  <a:schemeClr val="dk2"/>
                </a:solidFill>
              </a:rPr>
              <a:t>The cat chased mice [PAD] [PAD]</a:t>
            </a:r>
            <a:endParaRPr>
              <a:solidFill>
                <a:schemeClr val="dk2"/>
              </a:solidFill>
            </a:endParaRPr>
          </a:p>
          <a:p>
            <a:pPr indent="0" lvl="0" marL="0" rtl="0" algn="ctr">
              <a:lnSpc>
                <a:spcPct val="150000"/>
              </a:lnSpc>
              <a:spcBef>
                <a:spcPts val="0"/>
              </a:spcBef>
              <a:spcAft>
                <a:spcPts val="0"/>
              </a:spcAft>
              <a:buNone/>
            </a:pPr>
            <a:r>
              <a:rPr lang="en">
                <a:solidFill>
                  <a:schemeClr val="dk2"/>
                </a:solidFill>
              </a:rPr>
              <a:t>A small dog barked loudly [PAD]</a:t>
            </a:r>
            <a:endParaRPr>
              <a:solidFill>
                <a:schemeClr val="dk2"/>
              </a:solidFill>
            </a:endParaRPr>
          </a:p>
          <a:p>
            <a:pPr indent="0" lvl="0" marL="0" rtl="0" algn="ctr">
              <a:lnSpc>
                <a:spcPct val="150000"/>
              </a:lnSpc>
              <a:spcBef>
                <a:spcPts val="0"/>
              </a:spcBef>
              <a:spcAft>
                <a:spcPts val="0"/>
              </a:spcAft>
              <a:buNone/>
            </a:pPr>
            <a:r>
              <a:rPr lang="en">
                <a:solidFill>
                  <a:schemeClr val="dk2"/>
                </a:solidFill>
              </a:rPr>
              <a:t>The children played outside after lunch</a:t>
            </a:r>
            <a:endParaRPr>
              <a:solidFill>
                <a:schemeClr val="dk2"/>
              </a:solidFill>
            </a:endParaRPr>
          </a:p>
        </p:txBody>
      </p:sp>
      <p:sp>
        <p:nvSpPr>
          <p:cNvPr id="180" name="Google Shape;180;p22"/>
          <p:cNvSpPr txBox="1"/>
          <p:nvPr/>
        </p:nvSpPr>
        <p:spPr>
          <a:xfrm>
            <a:off x="1279490" y="4263800"/>
            <a:ext cx="13200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solidFill>
                  <a:schemeClr val="dk2"/>
                </a:solidFill>
              </a:rPr>
              <a:t>B = 4, T = 6</a:t>
            </a:r>
            <a:endParaRPr>
              <a:solidFill>
                <a:schemeClr val="dk2"/>
              </a:solidFill>
            </a:endParaRPr>
          </a:p>
        </p:txBody>
      </p:sp>
      <p:sp>
        <p:nvSpPr>
          <p:cNvPr id="181" name="Google Shape;181;p22"/>
          <p:cNvSpPr txBox="1"/>
          <p:nvPr/>
        </p:nvSpPr>
        <p:spPr>
          <a:xfrm>
            <a:off x="4007565" y="1986050"/>
            <a:ext cx="485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t>
            </a:r>
            <a:endParaRPr sz="1800">
              <a:solidFill>
                <a:schemeClr val="dk2"/>
              </a:solidFill>
            </a:endParaRPr>
          </a:p>
        </p:txBody>
      </p:sp>
      <p:cxnSp>
        <p:nvCxnSpPr>
          <p:cNvPr id="182" name="Google Shape;182;p22"/>
          <p:cNvCxnSpPr>
            <a:stCxn id="179" idx="0"/>
            <a:endCxn id="176" idx="2"/>
          </p:cNvCxnSpPr>
          <p:nvPr/>
        </p:nvCxnSpPr>
        <p:spPr>
          <a:xfrm rot="10800000">
            <a:off x="4188440" y="3419700"/>
            <a:ext cx="0" cy="354000"/>
          </a:xfrm>
          <a:prstGeom prst="straightConnector1">
            <a:avLst/>
          </a:prstGeom>
          <a:noFill/>
          <a:ln cap="flat" cmpd="sng" w="9525">
            <a:solidFill>
              <a:schemeClr val="dk2"/>
            </a:solidFill>
            <a:prstDash val="solid"/>
            <a:round/>
            <a:headEnd len="med" w="med" type="none"/>
            <a:tailEnd len="med" w="med" type="triangle"/>
          </a:ln>
        </p:spPr>
      </p:cxnSp>
      <p:cxnSp>
        <p:nvCxnSpPr>
          <p:cNvPr id="183" name="Google Shape;183;p22"/>
          <p:cNvCxnSpPr>
            <a:stCxn id="176" idx="0"/>
            <a:endCxn id="177" idx="2"/>
          </p:cNvCxnSpPr>
          <p:nvPr/>
        </p:nvCxnSpPr>
        <p:spPr>
          <a:xfrm rot="10800000">
            <a:off x="4188440" y="2847875"/>
            <a:ext cx="0" cy="211800"/>
          </a:xfrm>
          <a:prstGeom prst="straightConnector1">
            <a:avLst/>
          </a:prstGeom>
          <a:noFill/>
          <a:ln cap="flat" cmpd="sng" w="9525">
            <a:solidFill>
              <a:schemeClr val="dk2"/>
            </a:solidFill>
            <a:prstDash val="solid"/>
            <a:round/>
            <a:headEnd len="med" w="med" type="none"/>
            <a:tailEnd len="med" w="med" type="triangle"/>
          </a:ln>
        </p:spPr>
      </p:cxnSp>
      <p:sp>
        <p:nvSpPr>
          <p:cNvPr id="184" name="Google Shape;184;p22"/>
          <p:cNvSpPr txBox="1"/>
          <p:nvPr/>
        </p:nvSpPr>
        <p:spPr>
          <a:xfrm>
            <a:off x="1474415" y="2571750"/>
            <a:ext cx="13200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solidFill>
                  <a:schemeClr val="dk2"/>
                </a:solidFill>
              </a:rPr>
              <a:t>N layers</a:t>
            </a:r>
            <a:endParaRPr>
              <a:solidFill>
                <a:schemeClr val="dk2"/>
              </a:solidFill>
            </a:endParaRPr>
          </a:p>
        </p:txBody>
      </p:sp>
      <p:pic>
        <p:nvPicPr>
          <p:cNvPr descr="{&quot;code&quot;:&quot;$$\\text{Size}\\;\\text{of}\\;\\text{KV}\\;\\text{cache:}\\;\\text{B}\\times T\\times N\\times H\\times D$$&quot;,&quot;aid&quot;:null,&quot;backgroundColorModified&quot;:false,&quot;id&quot;:&quot;1&quot;,&quot;backgroundColor&quot;:&quot;#FFFFFF&quot;,&quot;type&quot;:&quot;$$&quot;,&quot;font&quot;:{&quot;color&quot;:&quot;#000000&quot;,&quot;size&quot;:12,&quot;family&quot;:&quot;Arial&quot;},&quot;ts&quot;:1779276002534,&quot;cs&quot;:&quot;kzSMBMy5VsrChPNxBEPyng==&quot;,&quot;size&quot;:{&quot;width&quot;:313,&quot;height&quot;:14}}" id="185" name="Google Shape;185;p22"/>
          <p:cNvPicPr preferRelativeResize="0"/>
          <p:nvPr/>
        </p:nvPicPr>
        <p:blipFill>
          <a:blip r:embed="rId3">
            <a:alphaModFix/>
          </a:blip>
          <a:stretch>
            <a:fillRect/>
          </a:stretch>
        </p:blipFill>
        <p:spPr>
          <a:xfrm>
            <a:off x="394225" y="1146550"/>
            <a:ext cx="2981325" cy="133350"/>
          </a:xfrm>
          <a:prstGeom prst="rect">
            <a:avLst/>
          </a:prstGeom>
          <a:noFill/>
          <a:ln>
            <a:noFill/>
          </a:ln>
        </p:spPr>
      </p:pic>
      <p:sp>
        <p:nvSpPr>
          <p:cNvPr id="186" name="Google Shape;186;p22"/>
          <p:cNvSpPr txBox="1"/>
          <p:nvPr/>
        </p:nvSpPr>
        <p:spPr>
          <a:xfrm>
            <a:off x="334675" y="1379150"/>
            <a:ext cx="3426300" cy="723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solidFill>
                  <a:schemeClr val="dk2"/>
                </a:solidFill>
              </a:rPr>
              <a:t>D: Head dimension</a:t>
            </a:r>
            <a:endParaRPr>
              <a:solidFill>
                <a:schemeClr val="dk2"/>
              </a:solidFill>
            </a:endParaRPr>
          </a:p>
          <a:p>
            <a:pPr indent="0" lvl="0" marL="0" rtl="0" algn="l">
              <a:lnSpc>
                <a:spcPct val="150000"/>
              </a:lnSpc>
              <a:spcBef>
                <a:spcPts val="0"/>
              </a:spcBef>
              <a:spcAft>
                <a:spcPts val="0"/>
              </a:spcAft>
              <a:buNone/>
            </a:pPr>
            <a:r>
              <a:rPr lang="en">
                <a:solidFill>
                  <a:schemeClr val="dk2"/>
                </a:solidFill>
              </a:rPr>
              <a:t>H: Num Heads</a:t>
            </a:r>
            <a:endParaRPr>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with KV caching: Memory Fragmentation</a:t>
            </a:r>
            <a:endParaRPr/>
          </a:p>
        </p:txBody>
      </p:sp>
      <p:sp>
        <p:nvSpPr>
          <p:cNvPr id="192" name="Google Shape;192;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Size of the cache per sequence: [seq len, num layers, num heads, head dimension]</a:t>
            </a:r>
            <a:endParaRPr/>
          </a:p>
          <a:p>
            <a:pPr indent="0" lvl="0" marL="0" rtl="0" algn="l">
              <a:spcBef>
                <a:spcPts val="1200"/>
              </a:spcBef>
              <a:spcAft>
                <a:spcPts val="0"/>
              </a:spcAft>
              <a:buNone/>
            </a:pPr>
            <a:r>
              <a:rPr lang="en"/>
              <a:t>As decoding </a:t>
            </a:r>
            <a:r>
              <a:rPr lang="en"/>
              <a:t>proceeds</a:t>
            </a:r>
            <a:r>
              <a:rPr lang="en"/>
              <a:t>, sequence length grows token by token. KV vectors are calculated for the current token are added to the cache. Thus, KV cache memory grows linearly, and is needed for the entire request</a:t>
            </a:r>
            <a:endParaRPr/>
          </a:p>
          <a:p>
            <a:pPr indent="0" lvl="0" marL="0" rtl="0" algn="l">
              <a:spcBef>
                <a:spcPts val="1200"/>
              </a:spcBef>
              <a:spcAft>
                <a:spcPts val="0"/>
              </a:spcAft>
              <a:buNone/>
            </a:pPr>
            <a:r>
              <a:rPr lang="en"/>
              <a:t>In a real serving system</a:t>
            </a:r>
            <a:endParaRPr/>
          </a:p>
          <a:p>
            <a:pPr indent="-342900" lvl="0" marL="457200" rtl="0" algn="l">
              <a:spcBef>
                <a:spcPts val="1200"/>
              </a:spcBef>
              <a:spcAft>
                <a:spcPts val="0"/>
              </a:spcAft>
              <a:buSzPts val="1800"/>
              <a:buChar char="-"/>
            </a:pPr>
            <a:r>
              <a:rPr lang="en"/>
              <a:t>Many requests</a:t>
            </a:r>
            <a:endParaRPr/>
          </a:p>
          <a:p>
            <a:pPr indent="-342900" lvl="0" marL="457200" rtl="0" algn="l">
              <a:spcBef>
                <a:spcPts val="0"/>
              </a:spcBef>
              <a:spcAft>
                <a:spcPts val="0"/>
              </a:spcAft>
              <a:buSzPts val="1800"/>
              <a:buChar char="-"/>
            </a:pPr>
            <a:r>
              <a:rPr lang="en"/>
              <a:t>Each with different prefix lengths</a:t>
            </a:r>
            <a:endParaRPr/>
          </a:p>
          <a:p>
            <a:pPr indent="-342900" lvl="0" marL="457200" rtl="0" algn="l">
              <a:spcBef>
                <a:spcPts val="0"/>
              </a:spcBef>
              <a:spcAft>
                <a:spcPts val="0"/>
              </a:spcAft>
              <a:buSzPts val="1800"/>
              <a:buChar char="-"/>
            </a:pPr>
            <a:r>
              <a:rPr lang="en"/>
              <a:t>Each with different number of generated tokens.. We don’t know </a:t>
            </a:r>
            <a:r>
              <a:rPr lang="en"/>
              <a:t>a priori</a:t>
            </a:r>
            <a:r>
              <a:rPr lang="en"/>
              <a:t> when generation would end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Memory Fragmentation</a:t>
            </a:r>
            <a:endParaRPr/>
          </a:p>
          <a:p>
            <a:pPr indent="0" lvl="0" marL="0" rtl="0" algn="l">
              <a:spcBef>
                <a:spcPts val="0"/>
              </a:spcBef>
              <a:spcAft>
                <a:spcPts val="0"/>
              </a:spcAft>
              <a:buNone/>
            </a:pPr>
            <a:r>
              <a:t/>
            </a:r>
            <a:endParaRPr/>
          </a:p>
        </p:txBody>
      </p:sp>
      <p:sp>
        <p:nvSpPr>
          <p:cNvPr id="198" name="Google Shape;198;p24"/>
          <p:cNvSpPr txBox="1"/>
          <p:nvPr>
            <p:ph idx="1" type="body"/>
          </p:nvPr>
        </p:nvSpPr>
        <p:spPr>
          <a:xfrm>
            <a:off x="337225" y="1075875"/>
            <a:ext cx="5240100" cy="244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t>You allocate one big block per sequence</a:t>
            </a:r>
            <a:endParaRPr sz="1300"/>
          </a:p>
          <a:p>
            <a:pPr indent="0" lvl="0" marL="0" rtl="0" algn="l">
              <a:spcBef>
                <a:spcPts val="1200"/>
              </a:spcBef>
              <a:spcAft>
                <a:spcPts val="0"/>
              </a:spcAft>
              <a:buNone/>
            </a:pPr>
            <a:r>
              <a:rPr lang="en" sz="1300"/>
              <a:t>Request A: 2048 tokens</a:t>
            </a:r>
            <a:endParaRPr sz="1300"/>
          </a:p>
          <a:p>
            <a:pPr indent="0" lvl="0" marL="0" rtl="0" algn="l">
              <a:spcBef>
                <a:spcPts val="1200"/>
              </a:spcBef>
              <a:spcAft>
                <a:spcPts val="0"/>
              </a:spcAft>
              <a:buNone/>
            </a:pPr>
            <a:r>
              <a:rPr lang="en" sz="1300"/>
              <a:t>Request B: 512 tokens</a:t>
            </a:r>
            <a:endParaRPr sz="1300"/>
          </a:p>
          <a:p>
            <a:pPr indent="0" lvl="0" marL="0" rtl="0" algn="l">
              <a:spcBef>
                <a:spcPts val="1200"/>
              </a:spcBef>
              <a:spcAft>
                <a:spcPts val="0"/>
              </a:spcAft>
              <a:buNone/>
            </a:pPr>
            <a:r>
              <a:rPr lang="en" sz="1300"/>
              <a:t>Request C: 4096 tokens..</a:t>
            </a:r>
            <a:endParaRPr sz="1300"/>
          </a:p>
          <a:p>
            <a:pPr indent="0" lvl="0" marL="0" rtl="0" algn="l">
              <a:spcBef>
                <a:spcPts val="1200"/>
              </a:spcBef>
              <a:spcAft>
                <a:spcPts val="1200"/>
              </a:spcAft>
              <a:buNone/>
            </a:pPr>
            <a:r>
              <a:rPr lang="en" sz="1300"/>
              <a:t>If I </a:t>
            </a:r>
            <a:r>
              <a:rPr lang="en" sz="1300"/>
              <a:t>reserve a block of 4K tokens, that wastes memory for A and B, but not enough for C. I’ll have to reallocate another bigger block, and copy the KV cache in the middle of decode!</a:t>
            </a:r>
            <a:endParaRPr sz="1300"/>
          </a:p>
        </p:txBody>
      </p:sp>
      <p:graphicFrame>
        <p:nvGraphicFramePr>
          <p:cNvPr id="199" name="Google Shape;199;p24"/>
          <p:cNvGraphicFramePr/>
          <p:nvPr/>
        </p:nvGraphicFramePr>
        <p:xfrm>
          <a:off x="280425" y="3956298"/>
          <a:ext cx="3000000" cy="3000000"/>
        </p:xfrm>
        <a:graphic>
          <a:graphicData uri="http://schemas.openxmlformats.org/drawingml/2006/table">
            <a:tbl>
              <a:tblPr>
                <a:noFill/>
                <a:tableStyleId>{002DFE77-02EC-4D0D-B4A5-6E3D87EE2B06}</a:tableStyleId>
              </a:tblPr>
              <a:tblGrid>
                <a:gridCol w="568050"/>
                <a:gridCol w="568050"/>
                <a:gridCol w="568050"/>
                <a:gridCol w="619100"/>
                <a:gridCol w="597850"/>
                <a:gridCol w="602075"/>
                <a:gridCol w="440425"/>
                <a:gridCol w="470175"/>
                <a:gridCol w="461675"/>
                <a:gridCol w="678700"/>
                <a:gridCol w="682900"/>
                <a:gridCol w="636125"/>
                <a:gridCol w="610600"/>
                <a:gridCol w="516975"/>
                <a:gridCol w="593575"/>
              </a:tblGrid>
              <a:tr h="381000">
                <a:tc>
                  <a:txBody>
                    <a:bodyPr/>
                    <a:lstStyle/>
                    <a:p>
                      <a:pPr indent="0" lvl="0" marL="0" rtl="0" algn="l">
                        <a:spcBef>
                          <a:spcPts val="0"/>
                        </a:spcBef>
                        <a:spcAft>
                          <a:spcPts val="0"/>
                        </a:spcAft>
                        <a:buNone/>
                      </a:pPr>
                      <a:r>
                        <a:rPr lang="en" sz="1100"/>
                        <a:t>birds</a:t>
                      </a:r>
                      <a:endParaRPr sz="1100"/>
                    </a:p>
                  </a:txBody>
                  <a:tcPr marT="91425" marB="91425" marR="91425" marL="91425"/>
                </a:tc>
                <a:tc>
                  <a:txBody>
                    <a:bodyPr/>
                    <a:lstStyle/>
                    <a:p>
                      <a:pPr indent="0" lvl="0" marL="0" rtl="0" algn="l">
                        <a:spcBef>
                          <a:spcPts val="0"/>
                        </a:spcBef>
                        <a:spcAft>
                          <a:spcPts val="0"/>
                        </a:spcAft>
                        <a:buNone/>
                      </a:pPr>
                      <a:r>
                        <a:rPr lang="en" sz="1100"/>
                        <a:t>fly</a:t>
                      </a:r>
                      <a:endParaRPr sz="1100"/>
                    </a:p>
                  </a:txBody>
                  <a:tcPr marT="91425" marB="91425" marR="91425" marL="91425"/>
                </a:tc>
                <a:tc>
                  <a:txBody>
                    <a:bodyPr/>
                    <a:lstStyle/>
                    <a:p>
                      <a:pPr indent="0" lvl="0" marL="0" rtl="0" algn="l">
                        <a:spcBef>
                          <a:spcPts val="0"/>
                        </a:spcBef>
                        <a:spcAft>
                          <a:spcPts val="0"/>
                        </a:spcAft>
                        <a:buNone/>
                      </a:pPr>
                      <a:r>
                        <a:rPr lang="en" sz="1100">
                          <a:solidFill>
                            <a:schemeClr val="accent1"/>
                          </a:solidFill>
                        </a:rPr>
                        <a:t>home</a:t>
                      </a:r>
                      <a:endParaRPr sz="1100">
                        <a:solidFill>
                          <a:schemeClr val="accent1"/>
                        </a:solidFill>
                      </a:endParaRPr>
                    </a:p>
                  </a:txBody>
                  <a:tcPr marT="91425" marB="91425" marR="91425" marL="91425"/>
                </a:tc>
                <a:tc>
                  <a:txBody>
                    <a:bodyPr/>
                    <a:lstStyle/>
                    <a:p>
                      <a:pPr indent="0" lvl="0" marL="0" rtl="0" algn="l">
                        <a:spcBef>
                          <a:spcPts val="0"/>
                        </a:spcBef>
                        <a:spcAft>
                          <a:spcPts val="0"/>
                        </a:spcAft>
                        <a:buNone/>
                      </a:pPr>
                      <a:r>
                        <a:rPr lang="en" sz="1100">
                          <a:solidFill>
                            <a:schemeClr val="accent1"/>
                          </a:solidFill>
                        </a:rPr>
                        <a:t>&lt;eos&gt;</a:t>
                      </a:r>
                      <a:endParaRPr sz="1100">
                        <a:solidFill>
                          <a:schemeClr val="accent1"/>
                        </a:solidFill>
                      </a:endParaRPr>
                    </a:p>
                  </a:txBody>
                  <a:tcPr marT="91425" marB="91425" marR="91425" marL="91425"/>
                </a:tc>
                <a:tc>
                  <a:txBody>
                    <a:bodyPr/>
                    <a:lstStyle/>
                    <a:p>
                      <a:pPr indent="0" lvl="0" marL="0" rtl="0" algn="l">
                        <a:spcBef>
                          <a:spcPts val="0"/>
                        </a:spcBef>
                        <a:spcAft>
                          <a:spcPts val="0"/>
                        </a:spcAft>
                        <a:buNone/>
                      </a:pPr>
                      <a:r>
                        <a:t/>
                      </a:r>
                      <a:endParaRPr sz="1100"/>
                    </a:p>
                  </a:txBody>
                  <a:tcPr marT="91425" marB="91425" marR="91425" marL="91425">
                    <a:solidFill>
                      <a:srgbClr val="FF0000"/>
                    </a:solidFill>
                  </a:tcPr>
                </a:tc>
                <a:tc>
                  <a:txBody>
                    <a:bodyPr/>
                    <a:lstStyle/>
                    <a:p>
                      <a:pPr indent="0" lvl="0" marL="0" rtl="0" algn="l">
                        <a:spcBef>
                          <a:spcPts val="0"/>
                        </a:spcBef>
                        <a:spcAft>
                          <a:spcPts val="0"/>
                        </a:spcAft>
                        <a:buNone/>
                      </a:pPr>
                      <a:r>
                        <a:t/>
                      </a:r>
                      <a:endParaRPr sz="1100"/>
                    </a:p>
                  </a:txBody>
                  <a:tcPr marT="91425" marB="91425" marR="91425" marL="91425">
                    <a:solidFill>
                      <a:srgbClr val="FF0000"/>
                    </a:solidFill>
                  </a:tcPr>
                </a:tc>
                <a:tc>
                  <a:txBody>
                    <a:bodyPr/>
                    <a:lstStyle/>
                    <a:p>
                      <a:pPr indent="0" lvl="0" marL="0" rtl="0" algn="l">
                        <a:spcBef>
                          <a:spcPts val="0"/>
                        </a:spcBef>
                        <a:spcAft>
                          <a:spcPts val="0"/>
                        </a:spcAft>
                        <a:buNone/>
                      </a:pPr>
                      <a:r>
                        <a:t/>
                      </a:r>
                      <a:endParaRPr sz="1100"/>
                    </a:p>
                  </a:txBody>
                  <a:tcPr marT="91425" marB="91425" marR="91425" marL="91425">
                    <a:solidFill>
                      <a:schemeClr val="dk2"/>
                    </a:solidFill>
                  </a:tcPr>
                </a:tc>
                <a:tc>
                  <a:txBody>
                    <a:bodyPr/>
                    <a:lstStyle/>
                    <a:p>
                      <a:pPr indent="0" lvl="0" marL="0" rtl="0" algn="l">
                        <a:spcBef>
                          <a:spcPts val="0"/>
                        </a:spcBef>
                        <a:spcAft>
                          <a:spcPts val="0"/>
                        </a:spcAft>
                        <a:buNone/>
                      </a:pPr>
                      <a:r>
                        <a:t/>
                      </a:r>
                      <a:endParaRPr sz="1100"/>
                    </a:p>
                  </a:txBody>
                  <a:tcPr marT="91425" marB="91425" marR="91425" marL="91425">
                    <a:solidFill>
                      <a:schemeClr val="dk2"/>
                    </a:solidFill>
                  </a:tcPr>
                </a:tc>
                <a:tc>
                  <a:txBody>
                    <a:bodyPr/>
                    <a:lstStyle/>
                    <a:p>
                      <a:pPr indent="0" lvl="0" marL="0" rtl="0" algn="l">
                        <a:spcBef>
                          <a:spcPts val="0"/>
                        </a:spcBef>
                        <a:spcAft>
                          <a:spcPts val="0"/>
                        </a:spcAft>
                        <a:buNone/>
                      </a:pPr>
                      <a:r>
                        <a:rPr lang="en" sz="1100"/>
                        <a:t>The </a:t>
                      </a:r>
                      <a:endParaRPr sz="1100"/>
                    </a:p>
                  </a:txBody>
                  <a:tcPr marT="91425" marB="91425" marR="91425" marL="91425"/>
                </a:tc>
                <a:tc>
                  <a:txBody>
                    <a:bodyPr/>
                    <a:lstStyle/>
                    <a:p>
                      <a:pPr indent="0" lvl="0" marL="0" rtl="0" algn="l">
                        <a:spcBef>
                          <a:spcPts val="0"/>
                        </a:spcBef>
                        <a:spcAft>
                          <a:spcPts val="0"/>
                        </a:spcAft>
                        <a:buNone/>
                      </a:pPr>
                      <a:r>
                        <a:rPr lang="en" sz="1100"/>
                        <a:t>cat</a:t>
                      </a:r>
                      <a:endParaRPr sz="1100"/>
                    </a:p>
                  </a:txBody>
                  <a:tcPr marT="91425" marB="91425" marR="91425" marL="91425"/>
                </a:tc>
                <a:tc>
                  <a:txBody>
                    <a:bodyPr/>
                    <a:lstStyle/>
                    <a:p>
                      <a:pPr indent="0" lvl="0" marL="0" rtl="0" algn="l">
                        <a:spcBef>
                          <a:spcPts val="0"/>
                        </a:spcBef>
                        <a:spcAft>
                          <a:spcPts val="0"/>
                        </a:spcAft>
                        <a:buNone/>
                      </a:pPr>
                      <a:r>
                        <a:rPr lang="en" sz="1100"/>
                        <a:t>chased</a:t>
                      </a:r>
                      <a:endParaRPr sz="1100"/>
                    </a:p>
                  </a:txBody>
                  <a:tcPr marT="91425" marB="91425" marR="91425" marL="91425"/>
                </a:tc>
                <a:tc>
                  <a:txBody>
                    <a:bodyPr/>
                    <a:lstStyle/>
                    <a:p>
                      <a:pPr indent="0" lvl="0" marL="0" rtl="0" algn="l">
                        <a:spcBef>
                          <a:spcPts val="0"/>
                        </a:spcBef>
                        <a:spcAft>
                          <a:spcPts val="0"/>
                        </a:spcAft>
                        <a:buNone/>
                      </a:pPr>
                      <a:r>
                        <a:rPr lang="en" sz="1100">
                          <a:solidFill>
                            <a:schemeClr val="accent1"/>
                          </a:solidFill>
                        </a:rPr>
                        <a:t>mice</a:t>
                      </a:r>
                      <a:endParaRPr sz="1100">
                        <a:solidFill>
                          <a:schemeClr val="accent1"/>
                        </a:solidFill>
                      </a:endParaRPr>
                    </a:p>
                  </a:txBody>
                  <a:tcPr marT="91425" marB="91425" marR="91425" marL="91425"/>
                </a:tc>
                <a:tc>
                  <a:txBody>
                    <a:bodyPr/>
                    <a:lstStyle/>
                    <a:p>
                      <a:pPr indent="0" lvl="0" marL="0" rtl="0" algn="l">
                        <a:spcBef>
                          <a:spcPts val="0"/>
                        </a:spcBef>
                        <a:spcAft>
                          <a:spcPts val="0"/>
                        </a:spcAft>
                        <a:buNone/>
                      </a:pPr>
                      <a:r>
                        <a:rPr lang="en" sz="1100">
                          <a:solidFill>
                            <a:schemeClr val="accent1"/>
                          </a:solidFill>
                        </a:rPr>
                        <a:t>&lt;eos&gt;</a:t>
                      </a:r>
                      <a:endParaRPr sz="1100">
                        <a:solidFill>
                          <a:schemeClr val="accent1"/>
                        </a:solidFill>
                      </a:endParaRPr>
                    </a:p>
                  </a:txBody>
                  <a:tcPr marT="91425" marB="91425" marR="91425" marL="91425"/>
                </a:tc>
                <a:tc>
                  <a:txBody>
                    <a:bodyPr/>
                    <a:lstStyle/>
                    <a:p>
                      <a:pPr indent="0" lvl="0" marL="0" rtl="0" algn="l">
                        <a:spcBef>
                          <a:spcPts val="0"/>
                        </a:spcBef>
                        <a:spcAft>
                          <a:spcPts val="0"/>
                        </a:spcAft>
                        <a:buNone/>
                      </a:pPr>
                      <a:r>
                        <a:t/>
                      </a:r>
                      <a:endParaRPr sz="1100"/>
                    </a:p>
                  </a:txBody>
                  <a:tcPr marT="91425" marB="91425" marR="91425" marL="91425">
                    <a:solidFill>
                      <a:srgbClr val="FF0000"/>
                    </a:solidFill>
                  </a:tcPr>
                </a:tc>
                <a:tc>
                  <a:txBody>
                    <a:bodyPr/>
                    <a:lstStyle/>
                    <a:p>
                      <a:pPr indent="0" lvl="0" marL="0" rtl="0" algn="l">
                        <a:spcBef>
                          <a:spcPts val="0"/>
                        </a:spcBef>
                        <a:spcAft>
                          <a:spcPts val="0"/>
                        </a:spcAft>
                        <a:buNone/>
                      </a:pPr>
                      <a:r>
                        <a:t/>
                      </a:r>
                      <a:endParaRPr sz="1100"/>
                    </a:p>
                  </a:txBody>
                  <a:tcPr marT="91425" marB="91425" marR="91425" marL="91425">
                    <a:solidFill>
                      <a:schemeClr val="dk2"/>
                    </a:solidFill>
                  </a:tcPr>
                </a:tc>
              </a:tr>
              <a:tr h="381000">
                <a:tc>
                  <a:txBody>
                    <a:bodyPr/>
                    <a:lstStyle/>
                    <a:p>
                      <a:pPr indent="0" lvl="0" marL="0" rtl="0" algn="l">
                        <a:spcBef>
                          <a:spcPts val="0"/>
                        </a:spcBef>
                        <a:spcAft>
                          <a:spcPts val="0"/>
                        </a:spcAft>
                        <a:buNone/>
                      </a:pPr>
                      <a:r>
                        <a:rPr lang="en" sz="1100"/>
                        <a:t>A </a:t>
                      </a:r>
                      <a:endParaRPr/>
                    </a:p>
                  </a:txBody>
                  <a:tcPr marT="91425" marB="91425" marR="91425" marL="91425"/>
                </a:tc>
                <a:tc>
                  <a:txBody>
                    <a:bodyPr/>
                    <a:lstStyle/>
                    <a:p>
                      <a:pPr indent="0" lvl="0" marL="0" rtl="0" algn="l">
                        <a:spcBef>
                          <a:spcPts val="0"/>
                        </a:spcBef>
                        <a:spcAft>
                          <a:spcPts val="0"/>
                        </a:spcAft>
                        <a:buNone/>
                      </a:pPr>
                      <a:r>
                        <a:rPr lang="en" sz="1100"/>
                        <a:t>small</a:t>
                      </a:r>
                      <a:endParaRPr sz="1100"/>
                    </a:p>
                  </a:txBody>
                  <a:tcPr marT="91425" marB="91425" marR="91425" marL="91425"/>
                </a:tc>
                <a:tc>
                  <a:txBody>
                    <a:bodyPr/>
                    <a:lstStyle/>
                    <a:p>
                      <a:pPr indent="0" lvl="0" marL="0" rtl="0" algn="l">
                        <a:spcBef>
                          <a:spcPts val="0"/>
                        </a:spcBef>
                        <a:spcAft>
                          <a:spcPts val="0"/>
                        </a:spcAft>
                        <a:buNone/>
                      </a:pPr>
                      <a:r>
                        <a:rPr lang="en" sz="1100"/>
                        <a:t>dog</a:t>
                      </a:r>
                      <a:endParaRPr sz="1100"/>
                    </a:p>
                  </a:txBody>
                  <a:tcPr marT="91425" marB="91425" marR="91425" marL="91425"/>
                </a:tc>
                <a:tc>
                  <a:txBody>
                    <a:bodyPr/>
                    <a:lstStyle/>
                    <a:p>
                      <a:pPr indent="0" lvl="0" marL="0" rtl="0" algn="l">
                        <a:spcBef>
                          <a:spcPts val="0"/>
                        </a:spcBef>
                        <a:spcAft>
                          <a:spcPts val="0"/>
                        </a:spcAft>
                        <a:buNone/>
                      </a:pPr>
                      <a:r>
                        <a:rPr lang="en" sz="1100">
                          <a:solidFill>
                            <a:schemeClr val="accent1"/>
                          </a:solidFill>
                        </a:rPr>
                        <a:t>barked</a:t>
                      </a:r>
                      <a:endParaRPr sz="1100">
                        <a:solidFill>
                          <a:schemeClr val="accent1"/>
                        </a:solidFill>
                      </a:endParaRPr>
                    </a:p>
                  </a:txBody>
                  <a:tcPr marT="91425" marB="91425" marR="91425" marL="91425"/>
                </a:tc>
                <a:tc>
                  <a:txBody>
                    <a:bodyPr/>
                    <a:lstStyle/>
                    <a:p>
                      <a:pPr indent="0" lvl="0" marL="0" rtl="0" algn="l">
                        <a:spcBef>
                          <a:spcPts val="0"/>
                        </a:spcBef>
                        <a:spcAft>
                          <a:spcPts val="0"/>
                        </a:spcAft>
                        <a:buNone/>
                      </a:pPr>
                      <a:r>
                        <a:rPr lang="en" sz="1100">
                          <a:solidFill>
                            <a:schemeClr val="accent1"/>
                          </a:solidFill>
                        </a:rPr>
                        <a:t>loudly</a:t>
                      </a:r>
                      <a:endParaRPr sz="1100">
                        <a:solidFill>
                          <a:schemeClr val="accent1"/>
                        </a:solidFill>
                      </a:endParaRPr>
                    </a:p>
                  </a:txBody>
                  <a:tcPr marT="91425" marB="91425" marR="91425" marL="91425"/>
                </a:tc>
                <a:tc>
                  <a:txBody>
                    <a:bodyPr/>
                    <a:lstStyle/>
                    <a:p>
                      <a:pPr indent="0" lvl="0" marL="0" rtl="0" algn="l">
                        <a:spcBef>
                          <a:spcPts val="0"/>
                        </a:spcBef>
                        <a:spcAft>
                          <a:spcPts val="0"/>
                        </a:spcAft>
                        <a:buNone/>
                      </a:pPr>
                      <a:r>
                        <a:rPr lang="en" sz="1100">
                          <a:solidFill>
                            <a:schemeClr val="accent1"/>
                          </a:solidFill>
                        </a:rPr>
                        <a:t>&lt;eos&gt;</a:t>
                      </a:r>
                      <a:endParaRPr sz="1100">
                        <a:solidFill>
                          <a:schemeClr val="accent1"/>
                        </a:solidFill>
                      </a:endParaRPr>
                    </a:p>
                  </a:txBody>
                  <a:tcPr marT="91425" marB="91425" marR="91425" marL="91425"/>
                </a:tc>
                <a:tc>
                  <a:txBody>
                    <a:bodyPr/>
                    <a:lstStyle/>
                    <a:p>
                      <a:pPr indent="0" lvl="0" marL="0" rtl="0" algn="l">
                        <a:spcBef>
                          <a:spcPts val="0"/>
                        </a:spcBef>
                        <a:spcAft>
                          <a:spcPts val="0"/>
                        </a:spcAft>
                        <a:buNone/>
                      </a:pPr>
                      <a:r>
                        <a:t/>
                      </a:r>
                      <a:endParaRPr sz="1100"/>
                    </a:p>
                  </a:txBody>
                  <a:tcPr marT="91425" marB="91425" marR="91425" marL="91425">
                    <a:solidFill>
                      <a:schemeClr val="dk2"/>
                    </a:solidFill>
                  </a:tcPr>
                </a:tc>
                <a:tc>
                  <a:txBody>
                    <a:bodyPr/>
                    <a:lstStyle/>
                    <a:p>
                      <a:pPr indent="0" lvl="0" marL="0" rtl="0" algn="l">
                        <a:spcBef>
                          <a:spcPts val="0"/>
                        </a:spcBef>
                        <a:spcAft>
                          <a:spcPts val="0"/>
                        </a:spcAft>
                        <a:buNone/>
                      </a:pPr>
                      <a:r>
                        <a:t/>
                      </a:r>
                      <a:endParaRPr sz="1100"/>
                    </a:p>
                  </a:txBody>
                  <a:tcPr marT="91425" marB="91425" marR="91425" marL="91425">
                    <a:solidFill>
                      <a:schemeClr val="dk2"/>
                    </a:solidFill>
                  </a:tcPr>
                </a:tc>
                <a:tc>
                  <a:txBody>
                    <a:bodyPr/>
                    <a:lstStyle/>
                    <a:p>
                      <a:pPr indent="0" lvl="0" marL="0" rtl="0" algn="l">
                        <a:spcBef>
                          <a:spcPts val="0"/>
                        </a:spcBef>
                        <a:spcAft>
                          <a:spcPts val="0"/>
                        </a:spcAft>
                        <a:buNone/>
                      </a:pPr>
                      <a:r>
                        <a:rPr lang="en" sz="1100"/>
                        <a:t>The </a:t>
                      </a:r>
                      <a:endParaRPr sz="1100"/>
                    </a:p>
                  </a:txBody>
                  <a:tcPr marT="91425" marB="91425" marR="91425" marL="91425"/>
                </a:tc>
                <a:tc>
                  <a:txBody>
                    <a:bodyPr/>
                    <a:lstStyle/>
                    <a:p>
                      <a:pPr indent="0" lvl="0" marL="0" rtl="0" algn="l">
                        <a:spcBef>
                          <a:spcPts val="0"/>
                        </a:spcBef>
                        <a:spcAft>
                          <a:spcPts val="0"/>
                        </a:spcAft>
                        <a:buNone/>
                      </a:pPr>
                      <a:r>
                        <a:rPr lang="en" sz="1100"/>
                        <a:t>children</a:t>
                      </a:r>
                      <a:endParaRPr sz="1100"/>
                    </a:p>
                  </a:txBody>
                  <a:tcPr marT="91425" marB="91425" marR="91425" marL="91425"/>
                </a:tc>
                <a:tc>
                  <a:txBody>
                    <a:bodyPr/>
                    <a:lstStyle/>
                    <a:p>
                      <a:pPr indent="0" lvl="0" marL="0" rtl="0" algn="l">
                        <a:spcBef>
                          <a:spcPts val="0"/>
                        </a:spcBef>
                        <a:spcAft>
                          <a:spcPts val="0"/>
                        </a:spcAft>
                        <a:buNone/>
                      </a:pPr>
                      <a:r>
                        <a:rPr lang="en" sz="1100"/>
                        <a:t>p</a:t>
                      </a:r>
                      <a:r>
                        <a:rPr lang="en" sz="1100"/>
                        <a:t>layed </a:t>
                      </a:r>
                      <a:endParaRPr sz="1100"/>
                    </a:p>
                  </a:txBody>
                  <a:tcPr marT="91425" marB="91425" marR="91425" marL="91425"/>
                </a:tc>
                <a:tc>
                  <a:txBody>
                    <a:bodyPr/>
                    <a:lstStyle/>
                    <a:p>
                      <a:pPr indent="0" lvl="0" marL="0" rtl="0" algn="l">
                        <a:spcBef>
                          <a:spcPts val="0"/>
                        </a:spcBef>
                        <a:spcAft>
                          <a:spcPts val="0"/>
                        </a:spcAft>
                        <a:buNone/>
                      </a:pPr>
                      <a:r>
                        <a:rPr lang="en" sz="1100"/>
                        <a:t>outside</a:t>
                      </a:r>
                      <a:endParaRPr sz="1100"/>
                    </a:p>
                  </a:txBody>
                  <a:tcPr marT="91425" marB="91425" marR="91425" marL="91425"/>
                </a:tc>
                <a:tc>
                  <a:txBody>
                    <a:bodyPr/>
                    <a:lstStyle/>
                    <a:p>
                      <a:pPr indent="0" lvl="0" marL="0" rtl="0" algn="l">
                        <a:spcBef>
                          <a:spcPts val="0"/>
                        </a:spcBef>
                        <a:spcAft>
                          <a:spcPts val="0"/>
                        </a:spcAft>
                        <a:buNone/>
                      </a:pPr>
                      <a:r>
                        <a:rPr lang="en" sz="1100">
                          <a:solidFill>
                            <a:schemeClr val="accent1"/>
                          </a:solidFill>
                        </a:rPr>
                        <a:t>after</a:t>
                      </a:r>
                      <a:endParaRPr sz="1100">
                        <a:solidFill>
                          <a:schemeClr val="accent1"/>
                        </a:solidFill>
                      </a:endParaRPr>
                    </a:p>
                  </a:txBody>
                  <a:tcPr marT="91425" marB="91425" marR="91425" marL="91425"/>
                </a:tc>
                <a:tc>
                  <a:txBody>
                    <a:bodyPr/>
                    <a:lstStyle/>
                    <a:p>
                      <a:pPr indent="0" lvl="0" marL="0" rtl="0" algn="l">
                        <a:spcBef>
                          <a:spcPts val="0"/>
                        </a:spcBef>
                        <a:spcAft>
                          <a:spcPts val="0"/>
                        </a:spcAft>
                        <a:buNone/>
                      </a:pPr>
                      <a:r>
                        <a:rPr lang="en" sz="1100">
                          <a:solidFill>
                            <a:schemeClr val="accent1"/>
                          </a:solidFill>
                        </a:rPr>
                        <a:t>lunch</a:t>
                      </a:r>
                      <a:endParaRPr sz="1100">
                        <a:solidFill>
                          <a:schemeClr val="accent1"/>
                        </a:solidFill>
                      </a:endParaRPr>
                    </a:p>
                  </a:txBody>
                  <a:tcPr marT="91425" marB="91425" marR="91425" marL="91425"/>
                </a:tc>
                <a:tc>
                  <a:txBody>
                    <a:bodyPr/>
                    <a:lstStyle/>
                    <a:p>
                      <a:pPr indent="0" lvl="0" marL="0" rtl="0" algn="l">
                        <a:spcBef>
                          <a:spcPts val="0"/>
                        </a:spcBef>
                        <a:spcAft>
                          <a:spcPts val="0"/>
                        </a:spcAft>
                        <a:buNone/>
                      </a:pPr>
                      <a:r>
                        <a:rPr lang="en" sz="1100">
                          <a:solidFill>
                            <a:schemeClr val="accent1"/>
                          </a:solidFill>
                        </a:rPr>
                        <a:t>&lt;eos&gt;</a:t>
                      </a:r>
                      <a:endParaRPr sz="1100">
                        <a:solidFill>
                          <a:schemeClr val="accent1"/>
                        </a:solidFill>
                      </a:endParaRPr>
                    </a:p>
                  </a:txBody>
                  <a:tcPr marT="91425" marB="91425" marR="91425" marL="91425">
                    <a:solidFill>
                      <a:srgbClr val="B7B7B7"/>
                    </a:solidFill>
                  </a:tcPr>
                </a:tc>
              </a:tr>
            </a:tbl>
          </a:graphicData>
        </a:graphic>
      </p:graphicFrame>
      <p:sp>
        <p:nvSpPr>
          <p:cNvPr id="200" name="Google Shape;200;p24"/>
          <p:cNvSpPr txBox="1"/>
          <p:nvPr/>
        </p:nvSpPr>
        <p:spPr>
          <a:xfrm>
            <a:off x="6128775" y="1254259"/>
            <a:ext cx="24504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Example</a:t>
            </a:r>
            <a:endParaRPr sz="1800">
              <a:solidFill>
                <a:schemeClr val="dk2"/>
              </a:solidFill>
            </a:endParaRPr>
          </a:p>
          <a:p>
            <a:pPr indent="0" lvl="0" marL="0" rtl="0" algn="ctr">
              <a:spcBef>
                <a:spcPts val="0"/>
              </a:spcBef>
              <a:spcAft>
                <a:spcPts val="0"/>
              </a:spcAft>
              <a:buNone/>
            </a:pPr>
            <a:r>
              <a:rPr lang="en" sz="1800">
                <a:solidFill>
                  <a:schemeClr val="dk2"/>
                </a:solidFill>
              </a:rPr>
              <a:t>Block size: 6</a:t>
            </a:r>
            <a:endParaRPr sz="1800">
              <a:solidFill>
                <a:schemeClr val="dk2"/>
              </a:solidFill>
            </a:endParaRPr>
          </a:p>
        </p:txBody>
      </p:sp>
      <p:sp>
        <p:nvSpPr>
          <p:cNvPr id="201" name="Google Shape;201;p24"/>
          <p:cNvSpPr/>
          <p:nvPr/>
        </p:nvSpPr>
        <p:spPr>
          <a:xfrm>
            <a:off x="6236875" y="2006359"/>
            <a:ext cx="438300" cy="3828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24"/>
          <p:cNvSpPr/>
          <p:nvPr/>
        </p:nvSpPr>
        <p:spPr>
          <a:xfrm>
            <a:off x="6236875" y="2426784"/>
            <a:ext cx="438300" cy="3828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24"/>
          <p:cNvSpPr txBox="1"/>
          <p:nvPr/>
        </p:nvSpPr>
        <p:spPr>
          <a:xfrm>
            <a:off x="6716150" y="1966909"/>
            <a:ext cx="245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Internal fragmentation</a:t>
            </a:r>
            <a:endParaRPr sz="1800">
              <a:solidFill>
                <a:schemeClr val="dk2"/>
              </a:solidFill>
            </a:endParaRPr>
          </a:p>
        </p:txBody>
      </p:sp>
      <p:sp>
        <p:nvSpPr>
          <p:cNvPr id="204" name="Google Shape;204;p24"/>
          <p:cNvSpPr txBox="1"/>
          <p:nvPr/>
        </p:nvSpPr>
        <p:spPr>
          <a:xfrm>
            <a:off x="6716150" y="2347884"/>
            <a:ext cx="2525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External</a:t>
            </a:r>
            <a:r>
              <a:rPr lang="en" sz="1800">
                <a:solidFill>
                  <a:schemeClr val="dk2"/>
                </a:solidFill>
              </a:rPr>
              <a:t> fragmentation</a:t>
            </a:r>
            <a:endParaRPr sz="1800">
              <a:solidFill>
                <a:schemeClr val="dk2"/>
              </a:solidFill>
            </a:endParaRPr>
          </a:p>
        </p:txBody>
      </p:sp>
      <p:sp>
        <p:nvSpPr>
          <p:cNvPr id="205" name="Google Shape;205;p24"/>
          <p:cNvSpPr/>
          <p:nvPr/>
        </p:nvSpPr>
        <p:spPr>
          <a:xfrm rot="-5400000">
            <a:off x="1946775" y="2085356"/>
            <a:ext cx="152100" cy="34848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24"/>
          <p:cNvSpPr txBox="1"/>
          <p:nvPr/>
        </p:nvSpPr>
        <p:spPr>
          <a:xfrm>
            <a:off x="1523050" y="3432000"/>
            <a:ext cx="1059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Request 1</a:t>
            </a:r>
            <a:endParaRPr sz="1300">
              <a:solidFill>
                <a:schemeClr val="dk2"/>
              </a:solidFill>
            </a:endParaRPr>
          </a:p>
        </p:txBody>
      </p:sp>
      <p:sp>
        <p:nvSpPr>
          <p:cNvPr id="207" name="Google Shape;207;p24"/>
          <p:cNvSpPr/>
          <p:nvPr/>
        </p:nvSpPr>
        <p:spPr>
          <a:xfrm rot="-5400000">
            <a:off x="6404550" y="2075069"/>
            <a:ext cx="152100" cy="34848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24"/>
          <p:cNvSpPr txBox="1"/>
          <p:nvPr/>
        </p:nvSpPr>
        <p:spPr>
          <a:xfrm>
            <a:off x="5950950" y="3425800"/>
            <a:ext cx="1059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Request 2</a:t>
            </a:r>
            <a:endParaRPr sz="1300">
              <a:solidFill>
                <a:schemeClr val="dk2"/>
              </a:solidFill>
            </a:endParaRPr>
          </a:p>
        </p:txBody>
      </p:sp>
      <p:sp>
        <p:nvSpPr>
          <p:cNvPr id="209" name="Google Shape;209;p24"/>
          <p:cNvSpPr/>
          <p:nvPr/>
        </p:nvSpPr>
        <p:spPr>
          <a:xfrm flipH="1" rot="-5400000">
            <a:off x="1933425" y="3146514"/>
            <a:ext cx="121500" cy="3427500"/>
          </a:xfrm>
          <a:prstGeom prst="rightBrace">
            <a:avLst>
              <a:gd fmla="val 50000" name="adj1"/>
              <a:gd fmla="val 49864"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4"/>
          <p:cNvSpPr txBox="1"/>
          <p:nvPr/>
        </p:nvSpPr>
        <p:spPr>
          <a:xfrm>
            <a:off x="1464525" y="4829300"/>
            <a:ext cx="1059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Request 3</a:t>
            </a:r>
            <a:endParaRPr sz="1300">
              <a:solidFill>
                <a:schemeClr val="dk2"/>
              </a:solidFill>
            </a:endParaRPr>
          </a:p>
        </p:txBody>
      </p:sp>
      <p:sp>
        <p:nvSpPr>
          <p:cNvPr id="211" name="Google Shape;211;p24"/>
          <p:cNvSpPr/>
          <p:nvPr/>
        </p:nvSpPr>
        <p:spPr>
          <a:xfrm flipH="1" rot="-5400000">
            <a:off x="6713300" y="2789650"/>
            <a:ext cx="144600" cy="4075500"/>
          </a:xfrm>
          <a:prstGeom prst="rightBrace">
            <a:avLst>
              <a:gd fmla="val 50000" name="adj1"/>
              <a:gd fmla="val 49864"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24"/>
          <p:cNvSpPr txBox="1"/>
          <p:nvPr/>
        </p:nvSpPr>
        <p:spPr>
          <a:xfrm>
            <a:off x="6255950" y="4781075"/>
            <a:ext cx="1059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Request 4</a:t>
            </a:r>
            <a:endParaRPr sz="1300">
              <a:solidFill>
                <a:schemeClr val="dk2"/>
              </a:solidFill>
            </a:endParaRPr>
          </a:p>
        </p:txBody>
      </p:sp>
      <p:sp>
        <p:nvSpPr>
          <p:cNvPr id="213" name="Google Shape;213;p24"/>
          <p:cNvSpPr/>
          <p:nvPr/>
        </p:nvSpPr>
        <p:spPr>
          <a:xfrm>
            <a:off x="6236875" y="2847209"/>
            <a:ext cx="438300" cy="382800"/>
          </a:xfrm>
          <a:prstGeom prst="rect">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4"/>
          <p:cNvSpPr txBox="1"/>
          <p:nvPr/>
        </p:nvSpPr>
        <p:spPr>
          <a:xfrm>
            <a:off x="6754450" y="2807759"/>
            <a:ext cx="2525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OOM</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5"/>
          <p:cNvSpPr txBox="1"/>
          <p:nvPr>
            <p:ph type="title"/>
          </p:nvPr>
        </p:nvSpPr>
        <p:spPr>
          <a:xfrm>
            <a:off x="273400" y="415111"/>
            <a:ext cx="3108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Paged attention</a:t>
            </a:r>
            <a:endParaRPr/>
          </a:p>
        </p:txBody>
      </p:sp>
      <p:sp>
        <p:nvSpPr>
          <p:cNvPr id="220" name="Google Shape;220;p25"/>
          <p:cNvSpPr txBox="1"/>
          <p:nvPr/>
        </p:nvSpPr>
        <p:spPr>
          <a:xfrm>
            <a:off x="872150" y="4485650"/>
            <a:ext cx="7483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No need to guess seq len. Just request new blocks from the paged cache. Increment ref count of the block. When completion finishes, </a:t>
            </a:r>
            <a:r>
              <a:rPr i="1" lang="en" sz="1200">
                <a:solidFill>
                  <a:schemeClr val="dk2"/>
                </a:solidFill>
              </a:rPr>
              <a:t>reduce ref count. </a:t>
            </a:r>
            <a:r>
              <a:rPr lang="en" sz="1200">
                <a:solidFill>
                  <a:schemeClr val="dk2"/>
                </a:solidFill>
              </a:rPr>
              <a:t>Physical pages with ref count = 0 will be recycled as needed.</a:t>
            </a:r>
            <a:endParaRPr sz="1200">
              <a:solidFill>
                <a:schemeClr val="dk2"/>
              </a:solidFill>
            </a:endParaRPr>
          </a:p>
        </p:txBody>
      </p:sp>
      <p:graphicFrame>
        <p:nvGraphicFramePr>
          <p:cNvPr id="221" name="Google Shape;221;p25"/>
          <p:cNvGraphicFramePr/>
          <p:nvPr/>
        </p:nvGraphicFramePr>
        <p:xfrm>
          <a:off x="658475" y="2961286"/>
          <a:ext cx="3000000" cy="3000000"/>
        </p:xfrm>
        <a:graphic>
          <a:graphicData uri="http://schemas.openxmlformats.org/drawingml/2006/table">
            <a:tbl>
              <a:tblPr>
                <a:noFill/>
                <a:tableStyleId>{002DFE77-02EC-4D0D-B4A5-6E3D87EE2B06}</a:tableStyleId>
              </a:tblPr>
              <a:tblGrid>
                <a:gridCol w="387100"/>
              </a:tblGrid>
              <a:tr h="366900">
                <a:tc>
                  <a:txBody>
                    <a:bodyPr/>
                    <a:lstStyle/>
                    <a:p>
                      <a:pPr indent="0" lvl="0" marL="0" rtl="0" algn="l">
                        <a:spcBef>
                          <a:spcPts val="0"/>
                        </a:spcBef>
                        <a:spcAft>
                          <a:spcPts val="0"/>
                        </a:spcAft>
                        <a:buNone/>
                      </a:pPr>
                      <a:r>
                        <a:rPr lang="en"/>
                        <a:t>4</a:t>
                      </a:r>
                      <a:endParaRPr/>
                    </a:p>
                  </a:txBody>
                  <a:tcPr marT="91425" marB="91425" marR="91425" marL="91425"/>
                </a:tc>
              </a:tr>
              <a:tr h="383425">
                <a:tc>
                  <a:txBody>
                    <a:bodyPr/>
                    <a:lstStyle/>
                    <a:p>
                      <a:pPr indent="0" lvl="0" marL="0" rtl="0" algn="l">
                        <a:spcBef>
                          <a:spcPts val="0"/>
                        </a:spcBef>
                        <a:spcAft>
                          <a:spcPts val="0"/>
                        </a:spcAft>
                        <a:buNone/>
                      </a:pPr>
                      <a:r>
                        <a:rPr lang="en"/>
                        <a:t>2</a:t>
                      </a:r>
                      <a:endParaRPr/>
                    </a:p>
                  </a:txBody>
                  <a:tcPr marT="91425" marB="91425" marR="91425" marL="91425"/>
                </a:tc>
              </a:tr>
            </a:tbl>
          </a:graphicData>
        </a:graphic>
      </p:graphicFrame>
      <p:sp>
        <p:nvSpPr>
          <p:cNvPr id="222" name="Google Shape;222;p25"/>
          <p:cNvSpPr txBox="1"/>
          <p:nvPr/>
        </p:nvSpPr>
        <p:spPr>
          <a:xfrm>
            <a:off x="132125" y="2162736"/>
            <a:ext cx="2565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2"/>
                </a:solidFill>
              </a:rPr>
              <a:t>Request A:</a:t>
            </a:r>
            <a:r>
              <a:rPr lang="en" sz="1600">
                <a:solidFill>
                  <a:schemeClr val="dk2"/>
                </a:solidFill>
              </a:rPr>
              <a:t> </a:t>
            </a:r>
            <a:endParaRPr sz="1600">
              <a:solidFill>
                <a:schemeClr val="dk2"/>
              </a:solidFill>
            </a:endParaRPr>
          </a:p>
          <a:p>
            <a:pPr indent="0" lvl="0" marL="0" rtl="0" algn="ctr">
              <a:spcBef>
                <a:spcPts val="0"/>
              </a:spcBef>
              <a:spcAft>
                <a:spcPts val="0"/>
              </a:spcAft>
              <a:buNone/>
            </a:pPr>
            <a:r>
              <a:rPr lang="en" sz="1600">
                <a:solidFill>
                  <a:schemeClr val="dk2"/>
                </a:solidFill>
              </a:rPr>
              <a:t>The cat chased </a:t>
            </a:r>
            <a:r>
              <a:rPr lang="en" sz="1600">
                <a:solidFill>
                  <a:schemeClr val="accent1"/>
                </a:solidFill>
              </a:rPr>
              <a:t>mice eos</a:t>
            </a:r>
            <a:r>
              <a:rPr lang="en" sz="1600">
                <a:solidFill>
                  <a:schemeClr val="dk2"/>
                </a:solidFill>
              </a:rPr>
              <a:t> </a:t>
            </a:r>
            <a:endParaRPr sz="1600">
              <a:solidFill>
                <a:schemeClr val="dk2"/>
              </a:solidFill>
            </a:endParaRPr>
          </a:p>
          <a:p>
            <a:pPr indent="0" lvl="0" marL="0" rtl="0" algn="ctr">
              <a:spcBef>
                <a:spcPts val="0"/>
              </a:spcBef>
              <a:spcAft>
                <a:spcPts val="0"/>
              </a:spcAft>
              <a:buNone/>
            </a:pPr>
            <a:r>
              <a:t/>
            </a:r>
            <a:endParaRPr sz="1600">
              <a:solidFill>
                <a:schemeClr val="dk2"/>
              </a:solidFill>
            </a:endParaRPr>
          </a:p>
        </p:txBody>
      </p:sp>
      <p:graphicFrame>
        <p:nvGraphicFramePr>
          <p:cNvPr id="223" name="Google Shape;223;p25"/>
          <p:cNvGraphicFramePr/>
          <p:nvPr/>
        </p:nvGraphicFramePr>
        <p:xfrm>
          <a:off x="8134925" y="2941886"/>
          <a:ext cx="3000000" cy="3000000"/>
        </p:xfrm>
        <a:graphic>
          <a:graphicData uri="http://schemas.openxmlformats.org/drawingml/2006/table">
            <a:tbl>
              <a:tblPr>
                <a:noFill/>
                <a:tableStyleId>{002DFE77-02EC-4D0D-B4A5-6E3D87EE2B06}</a:tableStyleId>
              </a:tblPr>
              <a:tblGrid>
                <a:gridCol w="382850"/>
              </a:tblGrid>
              <a:tr h="360750">
                <a:tc>
                  <a:txBody>
                    <a:bodyPr/>
                    <a:lstStyle/>
                    <a:p>
                      <a:pPr indent="0" lvl="0" marL="0" rtl="0" algn="l">
                        <a:spcBef>
                          <a:spcPts val="0"/>
                        </a:spcBef>
                        <a:spcAft>
                          <a:spcPts val="0"/>
                        </a:spcAft>
                        <a:buNone/>
                      </a:pPr>
                      <a:r>
                        <a:rPr lang="en"/>
                        <a:t>0</a:t>
                      </a:r>
                      <a:endParaRPr/>
                    </a:p>
                  </a:txBody>
                  <a:tcPr marT="91425" marB="91425" marR="91425" marL="91425"/>
                </a:tc>
              </a:tr>
              <a:tr h="360750">
                <a:tc>
                  <a:txBody>
                    <a:bodyPr/>
                    <a:lstStyle/>
                    <a:p>
                      <a:pPr indent="0" lvl="0" marL="0" rtl="0" algn="l">
                        <a:spcBef>
                          <a:spcPts val="0"/>
                        </a:spcBef>
                        <a:spcAft>
                          <a:spcPts val="0"/>
                        </a:spcAft>
                        <a:buNone/>
                      </a:pPr>
                      <a:r>
                        <a:rPr lang="en"/>
                        <a:t>1</a:t>
                      </a:r>
                      <a:endParaRPr/>
                    </a:p>
                  </a:txBody>
                  <a:tcPr marT="91425" marB="91425" marR="91425" marL="91425"/>
                </a:tc>
              </a:tr>
              <a:tr h="360750">
                <a:tc>
                  <a:txBody>
                    <a:bodyPr/>
                    <a:lstStyle/>
                    <a:p>
                      <a:pPr indent="0" lvl="0" marL="0" rtl="0" algn="l">
                        <a:spcBef>
                          <a:spcPts val="0"/>
                        </a:spcBef>
                        <a:spcAft>
                          <a:spcPts val="0"/>
                        </a:spcAft>
                        <a:buNone/>
                      </a:pPr>
                      <a:r>
                        <a:rPr lang="en"/>
                        <a:t>5</a:t>
                      </a:r>
                      <a:endParaRPr/>
                    </a:p>
                  </a:txBody>
                  <a:tcPr marT="91425" marB="91425" marR="91425" marL="91425"/>
                </a:tc>
              </a:tr>
            </a:tbl>
          </a:graphicData>
        </a:graphic>
      </p:graphicFrame>
      <p:graphicFrame>
        <p:nvGraphicFramePr>
          <p:cNvPr id="224" name="Google Shape;224;p25"/>
          <p:cNvGraphicFramePr/>
          <p:nvPr/>
        </p:nvGraphicFramePr>
        <p:xfrm>
          <a:off x="3060538" y="1675549"/>
          <a:ext cx="3000000" cy="3000000"/>
        </p:xfrm>
        <a:graphic>
          <a:graphicData uri="http://schemas.openxmlformats.org/drawingml/2006/table">
            <a:tbl>
              <a:tblPr>
                <a:noFill/>
                <a:tableStyleId>{002DFE77-02EC-4D0D-B4A5-6E3D87EE2B06}</a:tableStyleId>
              </a:tblPr>
              <a:tblGrid>
                <a:gridCol w="483550"/>
                <a:gridCol w="901475"/>
                <a:gridCol w="827150"/>
                <a:gridCol w="847225"/>
              </a:tblGrid>
              <a:tr h="381000">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0</a:t>
                      </a:r>
                      <a:endParaRPr/>
                    </a:p>
                  </a:txBody>
                  <a:tcPr marT="91425" marB="91425" marR="91425" marL="91425">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1</a:t>
                      </a:r>
                      <a:endParaRPr/>
                    </a:p>
                  </a:txBody>
                  <a:tcPr marT="91425" marB="91425" marR="91425" marL="91425">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2</a:t>
                      </a:r>
                      <a:endParaRPr/>
                    </a:p>
                  </a:txBody>
                  <a:tcPr marT="91425" marB="91425" marR="91425" marL="91425">
                    <a:solidFill>
                      <a:schemeClr val="lt2"/>
                    </a:solidFill>
                  </a:tcPr>
                </a:tc>
              </a:tr>
              <a:tr h="381000">
                <a:tc>
                  <a:txBody>
                    <a:bodyPr/>
                    <a:lstStyle/>
                    <a:p>
                      <a:pPr indent="0" lvl="0" marL="0" rtl="0" algn="l">
                        <a:spcBef>
                          <a:spcPts val="0"/>
                        </a:spcBef>
                        <a:spcAft>
                          <a:spcPts val="0"/>
                        </a:spcAft>
                        <a:buNone/>
                      </a:pPr>
                      <a:r>
                        <a:rPr lang="en"/>
                        <a:t>0</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The</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children</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played</a:t>
                      </a:r>
                      <a:endParaRPr/>
                    </a:p>
                  </a:txBody>
                  <a:tcPr marT="91425" marB="91425" marR="91425" marL="91425"/>
                </a:tc>
              </a:tr>
              <a:tr h="381000">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outside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after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lunch</a:t>
                      </a: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mice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eos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3</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The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cat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chased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eos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25" name="Google Shape;225;p25"/>
          <p:cNvSpPr txBox="1"/>
          <p:nvPr/>
        </p:nvSpPr>
        <p:spPr>
          <a:xfrm>
            <a:off x="132125" y="1647861"/>
            <a:ext cx="3272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2"/>
                </a:solidFill>
              </a:rPr>
              <a:t>Block table row: idx // page_size</a:t>
            </a:r>
            <a:endParaRPr b="1" sz="1100">
              <a:solidFill>
                <a:schemeClr val="dk2"/>
              </a:solidFill>
            </a:endParaRPr>
          </a:p>
          <a:p>
            <a:pPr indent="0" lvl="0" marL="0" rtl="0" algn="l">
              <a:spcBef>
                <a:spcPts val="0"/>
              </a:spcBef>
              <a:spcAft>
                <a:spcPts val="0"/>
              </a:spcAft>
              <a:buNone/>
            </a:pPr>
            <a:r>
              <a:rPr b="1" lang="en" sz="1100">
                <a:solidFill>
                  <a:schemeClr val="dk2"/>
                </a:solidFill>
              </a:rPr>
              <a:t>Row offset: idx % page_size</a:t>
            </a:r>
            <a:endParaRPr b="1" sz="1100">
              <a:solidFill>
                <a:schemeClr val="dk2"/>
              </a:solidFill>
            </a:endParaRPr>
          </a:p>
        </p:txBody>
      </p:sp>
      <p:sp>
        <p:nvSpPr>
          <p:cNvPr id="226" name="Google Shape;226;p25"/>
          <p:cNvSpPr/>
          <p:nvPr/>
        </p:nvSpPr>
        <p:spPr>
          <a:xfrm>
            <a:off x="1195475" y="2781086"/>
            <a:ext cx="1160275" cy="765775"/>
          </a:xfrm>
          <a:custGeom>
            <a:rect b="b" l="l" r="r" t="t"/>
            <a:pathLst>
              <a:path extrusionOk="0" h="30631" w="46411">
                <a:moveTo>
                  <a:pt x="46288" y="0"/>
                </a:moveTo>
                <a:cubicBezTo>
                  <a:pt x="45437" y="2978"/>
                  <a:pt x="48897" y="12763"/>
                  <a:pt x="41182" y="17868"/>
                </a:cubicBezTo>
                <a:cubicBezTo>
                  <a:pt x="33467" y="22973"/>
                  <a:pt x="6864" y="28504"/>
                  <a:pt x="0" y="30631"/>
                </a:cubicBezTo>
              </a:path>
            </a:pathLst>
          </a:custGeom>
          <a:noFill/>
          <a:ln cap="flat" cmpd="sng" w="9525">
            <a:solidFill>
              <a:schemeClr val="dk2"/>
            </a:solidFill>
            <a:prstDash val="solid"/>
            <a:round/>
            <a:headEnd len="med" w="med" type="none"/>
            <a:tailEnd len="med" w="med" type="stealth"/>
          </a:ln>
        </p:spPr>
      </p:sp>
      <p:sp>
        <p:nvSpPr>
          <p:cNvPr id="227" name="Google Shape;227;p25"/>
          <p:cNvSpPr txBox="1"/>
          <p:nvPr/>
        </p:nvSpPr>
        <p:spPr>
          <a:xfrm>
            <a:off x="1131025" y="2892911"/>
            <a:ext cx="1698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Block table row: 4 // 3 = 1</a:t>
            </a:r>
            <a:endParaRPr sz="1300"/>
          </a:p>
        </p:txBody>
      </p:sp>
      <p:sp>
        <p:nvSpPr>
          <p:cNvPr id="228" name="Google Shape;228;p25"/>
          <p:cNvSpPr txBox="1"/>
          <p:nvPr/>
        </p:nvSpPr>
        <p:spPr>
          <a:xfrm>
            <a:off x="1385525" y="3652461"/>
            <a:ext cx="1557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rPr>
              <a:t>Row offset: 4 % 3 = 1</a:t>
            </a:r>
            <a:endParaRPr sz="900">
              <a:solidFill>
                <a:schemeClr val="dk2"/>
              </a:solidFill>
            </a:endParaRPr>
          </a:p>
        </p:txBody>
      </p:sp>
      <p:sp>
        <p:nvSpPr>
          <p:cNvPr id="229" name="Google Shape;229;p25"/>
          <p:cNvSpPr/>
          <p:nvPr/>
        </p:nvSpPr>
        <p:spPr>
          <a:xfrm>
            <a:off x="1204000" y="3198011"/>
            <a:ext cx="3518325" cy="363250"/>
          </a:xfrm>
          <a:custGeom>
            <a:rect b="b" l="l" r="r" t="t"/>
            <a:pathLst>
              <a:path extrusionOk="0" h="14530" w="140733">
                <a:moveTo>
                  <a:pt x="0" y="14295"/>
                </a:moveTo>
                <a:cubicBezTo>
                  <a:pt x="20733" y="14096"/>
                  <a:pt x="100942" y="15486"/>
                  <a:pt x="124397" y="13103"/>
                </a:cubicBezTo>
                <a:cubicBezTo>
                  <a:pt x="147853" y="10721"/>
                  <a:pt x="138010" y="2184"/>
                  <a:pt x="140733" y="0"/>
                </a:cubicBezTo>
              </a:path>
            </a:pathLst>
          </a:custGeom>
          <a:noFill/>
          <a:ln cap="flat" cmpd="sng" w="9525">
            <a:solidFill>
              <a:schemeClr val="dk2"/>
            </a:solidFill>
            <a:prstDash val="solid"/>
            <a:round/>
            <a:headEnd len="med" w="med" type="none"/>
            <a:tailEnd len="med" w="med" type="stealth"/>
          </a:ln>
        </p:spPr>
      </p:sp>
      <p:sp>
        <p:nvSpPr>
          <p:cNvPr id="230" name="Google Shape;230;p25"/>
          <p:cNvSpPr txBox="1"/>
          <p:nvPr/>
        </p:nvSpPr>
        <p:spPr>
          <a:xfrm>
            <a:off x="6222475" y="2039586"/>
            <a:ext cx="2565300" cy="1169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2"/>
                </a:solidFill>
              </a:rPr>
              <a:t>Request B:</a:t>
            </a:r>
            <a:r>
              <a:rPr lang="en" sz="1600">
                <a:solidFill>
                  <a:schemeClr val="dk2"/>
                </a:solidFill>
              </a:rPr>
              <a:t> </a:t>
            </a:r>
            <a:endParaRPr sz="1600">
              <a:solidFill>
                <a:schemeClr val="dk2"/>
              </a:solidFill>
            </a:endParaRPr>
          </a:p>
          <a:p>
            <a:pPr indent="0" lvl="0" marL="0" rtl="0" algn="ctr">
              <a:spcBef>
                <a:spcPts val="0"/>
              </a:spcBef>
              <a:spcAft>
                <a:spcPts val="0"/>
              </a:spcAft>
              <a:buNone/>
            </a:pPr>
            <a:r>
              <a:rPr lang="en" sz="1600">
                <a:solidFill>
                  <a:schemeClr val="dk2"/>
                </a:solidFill>
              </a:rPr>
              <a:t>The children played </a:t>
            </a:r>
            <a:r>
              <a:rPr lang="en" sz="1600">
                <a:solidFill>
                  <a:schemeClr val="accent1"/>
                </a:solidFill>
              </a:rPr>
              <a:t>outside after lunch eos</a:t>
            </a:r>
            <a:r>
              <a:rPr lang="en" sz="1600">
                <a:solidFill>
                  <a:schemeClr val="dk2"/>
                </a:solidFill>
              </a:rPr>
              <a:t> </a:t>
            </a:r>
            <a:endParaRPr sz="1600">
              <a:solidFill>
                <a:schemeClr val="dk2"/>
              </a:solidFill>
            </a:endParaRPr>
          </a:p>
          <a:p>
            <a:pPr indent="0" lvl="0" marL="0" rtl="0" algn="ctr">
              <a:spcBef>
                <a:spcPts val="0"/>
              </a:spcBef>
              <a:spcAft>
                <a:spcPts val="0"/>
              </a:spcAft>
              <a:buNone/>
            </a:pPr>
            <a:r>
              <a:t/>
            </a:r>
            <a:endParaRPr sz="1600">
              <a:solidFill>
                <a:schemeClr val="dk2"/>
              </a:solidFill>
            </a:endParaRPr>
          </a:p>
        </p:txBody>
      </p:sp>
      <p:sp>
        <p:nvSpPr>
          <p:cNvPr id="231" name="Google Shape;231;p25"/>
          <p:cNvSpPr txBox="1"/>
          <p:nvPr/>
        </p:nvSpPr>
        <p:spPr>
          <a:xfrm>
            <a:off x="6245100" y="3086136"/>
            <a:ext cx="1777800" cy="6465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 sz="1000">
                <a:solidFill>
                  <a:schemeClr val="dk2"/>
                </a:solidFill>
              </a:rPr>
              <a:t>lunch</a:t>
            </a:r>
            <a:endParaRPr sz="1000">
              <a:solidFill>
                <a:schemeClr val="dk2"/>
              </a:solidFill>
            </a:endParaRPr>
          </a:p>
          <a:p>
            <a:pPr indent="0" lvl="0" marL="0" rtl="0" algn="l">
              <a:spcBef>
                <a:spcPts val="0"/>
              </a:spcBef>
              <a:spcAft>
                <a:spcPts val="0"/>
              </a:spcAft>
              <a:buNone/>
            </a:pPr>
            <a:r>
              <a:rPr lang="en" sz="1000">
                <a:solidFill>
                  <a:schemeClr val="dk2"/>
                </a:solidFill>
              </a:rPr>
              <a:t>Block table row: 5 // 3 = 1</a:t>
            </a:r>
            <a:endParaRPr sz="1000">
              <a:solidFill>
                <a:schemeClr val="dk2"/>
              </a:solidFill>
            </a:endParaRPr>
          </a:p>
          <a:p>
            <a:pPr indent="0" lvl="0" marL="0" rtl="0" algn="l">
              <a:spcBef>
                <a:spcPts val="0"/>
              </a:spcBef>
              <a:spcAft>
                <a:spcPts val="0"/>
              </a:spcAft>
              <a:buNone/>
            </a:pPr>
            <a:r>
              <a:rPr lang="en" sz="1000">
                <a:solidFill>
                  <a:schemeClr val="dk2"/>
                </a:solidFill>
              </a:rPr>
              <a:t>Block table offset: 5 % 3 = 2</a:t>
            </a:r>
            <a:endParaRPr sz="1000">
              <a:solidFill>
                <a:schemeClr val="dk2"/>
              </a:solidFill>
            </a:endParaRPr>
          </a:p>
        </p:txBody>
      </p:sp>
      <p:sp>
        <p:nvSpPr>
          <p:cNvPr id="232" name="Google Shape;232;p25"/>
          <p:cNvSpPr txBox="1"/>
          <p:nvPr/>
        </p:nvSpPr>
        <p:spPr>
          <a:xfrm>
            <a:off x="3266825" y="998461"/>
            <a:ext cx="25653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2"/>
                </a:solidFill>
              </a:rPr>
              <a:t>Physical KV Cache</a:t>
            </a:r>
            <a:endParaRPr b="1" sz="1600">
              <a:solidFill>
                <a:schemeClr val="dk2"/>
              </a:solidFill>
            </a:endParaRPr>
          </a:p>
          <a:p>
            <a:pPr indent="0" lvl="0" marL="0" rtl="0" algn="ctr">
              <a:spcBef>
                <a:spcPts val="0"/>
              </a:spcBef>
              <a:spcAft>
                <a:spcPts val="0"/>
              </a:spcAft>
              <a:buNone/>
            </a:pPr>
            <a:r>
              <a:rPr lang="en" sz="1600">
                <a:solidFill>
                  <a:schemeClr val="dk2"/>
                </a:solidFill>
              </a:rPr>
              <a:t>Page size = 3</a:t>
            </a:r>
            <a:r>
              <a:rPr lang="en" sz="1600">
                <a:solidFill>
                  <a:schemeClr val="dk2"/>
                </a:solidFill>
              </a:rPr>
              <a:t> </a:t>
            </a:r>
            <a:endParaRPr sz="1600">
              <a:solidFill>
                <a:schemeClr val="dk2"/>
              </a:solidFill>
            </a:endParaRPr>
          </a:p>
        </p:txBody>
      </p:sp>
      <p:sp>
        <p:nvSpPr>
          <p:cNvPr id="233" name="Google Shape;233;p25"/>
          <p:cNvSpPr txBox="1"/>
          <p:nvPr/>
        </p:nvSpPr>
        <p:spPr>
          <a:xfrm>
            <a:off x="3038750" y="181700"/>
            <a:ext cx="6048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Key idea:</a:t>
            </a:r>
            <a:r>
              <a:rPr lang="en">
                <a:solidFill>
                  <a:schemeClr val="dk2"/>
                </a:solidFill>
              </a:rPr>
              <a:t> Instead of each sequence owning its own contiguous memory block, it maintains a logical view of several small physical blocks</a:t>
            </a:r>
            <a:endParaRPr>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Paged Attention: Impact </a:t>
            </a:r>
            <a:endParaRPr/>
          </a:p>
        </p:txBody>
      </p:sp>
      <p:pic>
        <p:nvPicPr>
          <p:cNvPr id="239" name="Google Shape;239;p26"/>
          <p:cNvPicPr preferRelativeResize="0"/>
          <p:nvPr/>
        </p:nvPicPr>
        <p:blipFill>
          <a:blip r:embed="rId3">
            <a:alphaModFix/>
          </a:blip>
          <a:stretch>
            <a:fillRect/>
          </a:stretch>
        </p:blipFill>
        <p:spPr>
          <a:xfrm>
            <a:off x="152400" y="1170125"/>
            <a:ext cx="5539451" cy="3296075"/>
          </a:xfrm>
          <a:prstGeom prst="rect">
            <a:avLst/>
          </a:prstGeom>
          <a:noFill/>
          <a:ln>
            <a:noFill/>
          </a:ln>
        </p:spPr>
      </p:pic>
      <p:sp>
        <p:nvSpPr>
          <p:cNvPr id="240" name="Google Shape;240;p26"/>
          <p:cNvSpPr txBox="1"/>
          <p:nvPr/>
        </p:nvSpPr>
        <p:spPr>
          <a:xfrm>
            <a:off x="650650" y="4585800"/>
            <a:ext cx="6428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Source: https://arxiv.org/pdf/2309.06180</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Paged Attention	</a:t>
            </a:r>
            <a:endParaRPr/>
          </a:p>
        </p:txBody>
      </p:sp>
      <p:sp>
        <p:nvSpPr>
          <p:cNvPr id="246" name="Google Shape;24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attention backend must be able to deal with non-contiguous memory blocks</a:t>
            </a:r>
            <a:endParaRPr/>
          </a:p>
        </p:txBody>
      </p:sp>
      <p:graphicFrame>
        <p:nvGraphicFramePr>
          <p:cNvPr id="247" name="Google Shape;247;p27"/>
          <p:cNvGraphicFramePr/>
          <p:nvPr/>
        </p:nvGraphicFramePr>
        <p:xfrm>
          <a:off x="2792513" y="1696824"/>
          <a:ext cx="3000000" cy="3000000"/>
        </p:xfrm>
        <a:graphic>
          <a:graphicData uri="http://schemas.openxmlformats.org/drawingml/2006/table">
            <a:tbl>
              <a:tblPr>
                <a:noFill/>
                <a:tableStyleId>{002DFE77-02EC-4D0D-B4A5-6E3D87EE2B06}</a:tableStyleId>
              </a:tblPr>
              <a:tblGrid>
                <a:gridCol w="483550"/>
                <a:gridCol w="901475"/>
                <a:gridCol w="827150"/>
                <a:gridCol w="847225"/>
              </a:tblGrid>
              <a:tr h="381000">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0</a:t>
                      </a:r>
                      <a:endParaRPr/>
                    </a:p>
                  </a:txBody>
                  <a:tcPr marT="91425" marB="91425" marR="91425" marL="91425">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1</a:t>
                      </a:r>
                      <a:endParaRPr/>
                    </a:p>
                  </a:txBody>
                  <a:tcPr marT="91425" marB="91425" marR="91425" marL="91425">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2</a:t>
                      </a:r>
                      <a:endParaRPr/>
                    </a:p>
                  </a:txBody>
                  <a:tcPr marT="91425" marB="91425" marR="91425" marL="91425">
                    <a:solidFill>
                      <a:schemeClr val="lt2"/>
                    </a:solidFill>
                  </a:tcPr>
                </a:tc>
              </a:tr>
              <a:tr h="381000">
                <a:tc>
                  <a:txBody>
                    <a:bodyPr/>
                    <a:lstStyle/>
                    <a:p>
                      <a:pPr indent="0" lvl="0" marL="0" rtl="0" algn="l">
                        <a:spcBef>
                          <a:spcPts val="0"/>
                        </a:spcBef>
                        <a:spcAft>
                          <a:spcPts val="0"/>
                        </a:spcAft>
                        <a:buNone/>
                      </a:pPr>
                      <a:r>
                        <a:rPr lang="en"/>
                        <a:t>0</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solidFill>
                            <a:srgbClr val="FF0000"/>
                          </a:solidFill>
                        </a:rPr>
                        <a:t>four</a:t>
                      </a:r>
                      <a:endParaRPr>
                        <a:solidFill>
                          <a:srgbClr val="FF0000"/>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FF0000"/>
                          </a:solidFill>
                        </a:rPr>
                        <a:t>score</a:t>
                      </a:r>
                      <a:endParaRPr>
                        <a:solidFill>
                          <a:srgbClr val="FF0000"/>
                        </a:solidFill>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FF0000"/>
                          </a:solidFill>
                        </a:rPr>
                        <a:t>and</a:t>
                      </a:r>
                      <a:endParaRPr>
                        <a:solidFill>
                          <a:srgbClr val="FF0000"/>
                        </a:solidFill>
                      </a:endParaRPr>
                    </a:p>
                  </a:txBody>
                  <a:tcPr marT="91425" marB="91425" marR="91425" marL="91425"/>
                </a:tc>
              </a:tr>
              <a:tr h="381000">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outside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after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lunch</a:t>
                      </a: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a:t>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t>mice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3</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solidFill>
                            <a:srgbClr val="FF0000"/>
                          </a:solidFill>
                        </a:rPr>
                        <a:t>seven</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FF0000"/>
                          </a:solidFill>
                        </a:rPr>
                        <a:t>years</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FF0000"/>
                          </a:solidFill>
                        </a:rPr>
                        <a:t>ago</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
                          <a:solidFill>
                            <a:srgbClr val="FF0000"/>
                          </a:solidFill>
                        </a:rPr>
                        <a:t>our</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48" name="Google Shape;248;p27"/>
          <p:cNvSpPr txBox="1"/>
          <p:nvPr/>
        </p:nvSpPr>
        <p:spPr>
          <a:xfrm>
            <a:off x="744525" y="2852675"/>
            <a:ext cx="927600" cy="461700"/>
          </a:xfrm>
          <a:prstGeom prst="rect">
            <a:avLst/>
          </a:prstGeom>
          <a:solidFill>
            <a:srgbClr val="9E9E9E"/>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fathers</a:t>
            </a:r>
            <a:endParaRPr sz="1800">
              <a:solidFill>
                <a:schemeClr val="dk2"/>
              </a:solidFill>
            </a:endParaRPr>
          </a:p>
        </p:txBody>
      </p:sp>
      <p:sp>
        <p:nvSpPr>
          <p:cNvPr id="249" name="Google Shape;249;p27"/>
          <p:cNvSpPr txBox="1"/>
          <p:nvPr/>
        </p:nvSpPr>
        <p:spPr>
          <a:xfrm>
            <a:off x="377875" y="3424325"/>
            <a:ext cx="161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Query vector</a:t>
            </a:r>
            <a:endParaRPr sz="1800">
              <a:solidFill>
                <a:schemeClr val="dk2"/>
              </a:solidFill>
            </a:endParaRPr>
          </a:p>
        </p:txBody>
      </p:sp>
      <p:cxnSp>
        <p:nvCxnSpPr>
          <p:cNvPr id="250" name="Google Shape;250;p27"/>
          <p:cNvCxnSpPr>
            <a:stCxn id="248" idx="3"/>
          </p:cNvCxnSpPr>
          <p:nvPr/>
        </p:nvCxnSpPr>
        <p:spPr>
          <a:xfrm flipH="1" rot="10800000">
            <a:off x="1672125" y="2286725"/>
            <a:ext cx="1050600" cy="796800"/>
          </a:xfrm>
          <a:prstGeom prst="straightConnector1">
            <a:avLst/>
          </a:prstGeom>
          <a:noFill/>
          <a:ln cap="flat" cmpd="sng" w="9525">
            <a:solidFill>
              <a:schemeClr val="dk2"/>
            </a:solidFill>
            <a:prstDash val="solid"/>
            <a:round/>
            <a:headEnd len="med" w="med" type="none"/>
            <a:tailEnd len="med" w="med" type="triangle"/>
          </a:ln>
        </p:spPr>
      </p:cxnSp>
      <p:cxnSp>
        <p:nvCxnSpPr>
          <p:cNvPr id="251" name="Google Shape;251;p27"/>
          <p:cNvCxnSpPr>
            <a:stCxn id="248" idx="3"/>
          </p:cNvCxnSpPr>
          <p:nvPr/>
        </p:nvCxnSpPr>
        <p:spPr>
          <a:xfrm>
            <a:off x="1672125" y="3083525"/>
            <a:ext cx="1067700" cy="747600"/>
          </a:xfrm>
          <a:prstGeom prst="straightConnector1">
            <a:avLst/>
          </a:prstGeom>
          <a:noFill/>
          <a:ln cap="flat" cmpd="sng" w="9525">
            <a:solidFill>
              <a:schemeClr val="dk2"/>
            </a:solidFill>
            <a:prstDash val="solid"/>
            <a:round/>
            <a:headEnd len="med" w="med" type="none"/>
            <a:tailEnd len="med" w="med" type="triangle"/>
          </a:ln>
        </p:spPr>
      </p:cxnSp>
      <p:cxnSp>
        <p:nvCxnSpPr>
          <p:cNvPr id="252" name="Google Shape;252;p27"/>
          <p:cNvCxnSpPr>
            <a:stCxn id="248" idx="3"/>
          </p:cNvCxnSpPr>
          <p:nvPr/>
        </p:nvCxnSpPr>
        <p:spPr>
          <a:xfrm>
            <a:off x="1672125" y="3083525"/>
            <a:ext cx="1038000" cy="1143300"/>
          </a:xfrm>
          <a:prstGeom prst="straightConnector1">
            <a:avLst/>
          </a:prstGeom>
          <a:noFill/>
          <a:ln cap="flat" cmpd="sng" w="9525">
            <a:solidFill>
              <a:schemeClr val="dk2"/>
            </a:solidFill>
            <a:prstDash val="solid"/>
            <a:round/>
            <a:headEnd len="med" w="med" type="none"/>
            <a:tailEnd len="med" w="med" type="triangle"/>
          </a:ln>
        </p:spPr>
      </p:cxnSp>
      <p:pic>
        <p:nvPicPr>
          <p:cNvPr id="253" name="Google Shape;253;p27"/>
          <p:cNvPicPr preferRelativeResize="0"/>
          <p:nvPr/>
        </p:nvPicPr>
        <p:blipFill>
          <a:blip r:embed="rId3">
            <a:alphaModFix/>
          </a:blip>
          <a:stretch>
            <a:fillRect/>
          </a:stretch>
        </p:blipFill>
        <p:spPr>
          <a:xfrm>
            <a:off x="5934322" y="2200409"/>
            <a:ext cx="3059400" cy="16045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Chunked prefill + </a:t>
            </a:r>
            <a:r>
              <a:rPr lang="en"/>
              <a:t>continuous</a:t>
            </a:r>
            <a:r>
              <a:rPr lang="en"/>
              <a:t> batching</a:t>
            </a:r>
            <a:endParaRPr/>
          </a:p>
        </p:txBody>
      </p:sp>
      <p:sp>
        <p:nvSpPr>
          <p:cNvPr id="259" name="Google Shape;25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LLM inference has two phases:</a:t>
            </a:r>
            <a:endParaRPr/>
          </a:p>
          <a:p>
            <a:pPr indent="-342900" lvl="0" marL="457200" rtl="0" algn="l">
              <a:spcBef>
                <a:spcPts val="1200"/>
              </a:spcBef>
              <a:spcAft>
                <a:spcPts val="0"/>
              </a:spcAft>
              <a:buSzPts val="1800"/>
              <a:buChar char="-"/>
            </a:pPr>
            <a:r>
              <a:rPr b="1" lang="en"/>
              <a:t>Prefill</a:t>
            </a:r>
            <a:r>
              <a:rPr lang="en"/>
              <a:t>: process input tokens, fill the KV cache. Compute bound, because we can process a large number of tokens in parallel. </a:t>
            </a:r>
            <a:endParaRPr/>
          </a:p>
          <a:p>
            <a:pPr indent="-342900" lvl="0" marL="457200" rtl="0" algn="l">
              <a:spcBef>
                <a:spcPts val="0"/>
              </a:spcBef>
              <a:spcAft>
                <a:spcPts val="0"/>
              </a:spcAft>
              <a:buSzPts val="1800"/>
              <a:buChar char="-"/>
            </a:pPr>
            <a:r>
              <a:rPr b="1" lang="en"/>
              <a:t>Decode</a:t>
            </a:r>
            <a:r>
              <a:rPr lang="en"/>
              <a:t>: Generate new tokens autoregressively. Memory bound, because lot of KV data must be </a:t>
            </a:r>
            <a:r>
              <a:rPr lang="en"/>
              <a:t>transferred</a:t>
            </a:r>
            <a:r>
              <a:rPr lang="en"/>
              <a:t> to the compute units (streaming microprocessors on a GPU)</a:t>
            </a:r>
            <a:endParaRPr/>
          </a:p>
          <a:p>
            <a:pPr indent="0" lvl="0" marL="0" rtl="0" algn="l">
              <a:spcBef>
                <a:spcPts val="1200"/>
              </a:spcBef>
              <a:spcAft>
                <a:spcPts val="0"/>
              </a:spcAft>
              <a:buNone/>
            </a:pPr>
            <a:r>
              <a:rPr lang="en"/>
              <a:t>For one request:</a:t>
            </a:r>
            <a:endParaRPr/>
          </a:p>
          <a:p>
            <a:pPr indent="0" lvl="0" marL="0" rtl="0" algn="l">
              <a:spcBef>
                <a:spcPts val="1200"/>
              </a:spcBef>
              <a:spcAft>
                <a:spcPts val="0"/>
              </a:spcAft>
              <a:buNone/>
            </a:pPr>
            <a:r>
              <a:rPr lang="en"/>
              <a:t>Prompt tokens -&gt; Prefill, generate first token -&gt; decode 1 -&gt; decode 2 … -&gt; until EOS or some threshold is exceeded</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problem..</a:t>
            </a:r>
            <a:endParaRPr/>
          </a:p>
        </p:txBody>
      </p:sp>
      <p:sp>
        <p:nvSpPr>
          <p:cNvPr id="265" name="Google Shape;26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Real servers have several requests at different stages</a:t>
            </a:r>
            <a:endParaRPr/>
          </a:p>
          <a:p>
            <a:pPr indent="0" lvl="0" marL="0" rtl="0" algn="l">
              <a:spcBef>
                <a:spcPts val="1200"/>
              </a:spcBef>
              <a:spcAft>
                <a:spcPts val="0"/>
              </a:spcAft>
              <a:buNone/>
            </a:pPr>
            <a:r>
              <a:rPr lang="en"/>
              <a:t>Request A: already decoding</a:t>
            </a:r>
            <a:endParaRPr/>
          </a:p>
          <a:p>
            <a:pPr indent="0" lvl="0" marL="0" rtl="0" algn="l">
              <a:spcBef>
                <a:spcPts val="1200"/>
              </a:spcBef>
              <a:spcAft>
                <a:spcPts val="0"/>
              </a:spcAft>
              <a:buNone/>
            </a:pPr>
            <a:r>
              <a:rPr lang="en"/>
              <a:t>Request B: new long prompt, needs prefill</a:t>
            </a:r>
            <a:endParaRPr/>
          </a:p>
          <a:p>
            <a:pPr indent="0" lvl="0" marL="0" rtl="0" algn="l">
              <a:spcBef>
                <a:spcPts val="1200"/>
              </a:spcBef>
              <a:spcAft>
                <a:spcPts val="0"/>
              </a:spcAft>
              <a:buNone/>
            </a:pPr>
            <a:r>
              <a:rPr lang="en"/>
              <a:t>Request C: already decoding</a:t>
            </a:r>
            <a:endParaRPr/>
          </a:p>
          <a:p>
            <a:pPr indent="0" lvl="0" marL="0" rtl="0" algn="l">
              <a:spcBef>
                <a:spcPts val="1200"/>
              </a:spcBef>
              <a:spcAft>
                <a:spcPts val="0"/>
              </a:spcAft>
              <a:buNone/>
            </a:pPr>
            <a:r>
              <a:rPr lang="en"/>
              <a:t>Request D: new short prompt</a:t>
            </a:r>
            <a:endParaRPr/>
          </a:p>
          <a:p>
            <a:pPr indent="0" lvl="0" marL="0" rtl="0" algn="l">
              <a:spcBef>
                <a:spcPts val="1200"/>
              </a:spcBef>
              <a:spcAft>
                <a:spcPts val="1200"/>
              </a:spcAft>
              <a:buNone/>
            </a:pPr>
            <a:r>
              <a:rPr lang="en"/>
              <a:t>Request E: Almost done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Static Batching	</a:t>
            </a:r>
            <a:endParaRPr/>
          </a:p>
        </p:txBody>
      </p:sp>
      <p:sp>
        <p:nvSpPr>
          <p:cNvPr id="271" name="Google Shape;27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You collect requests into a batch and then process it all together, which means waiting until the entire batch processing is finished. Works well when the the execution time per request is roughly the same</a:t>
            </a:r>
            <a:endParaRPr/>
          </a:p>
          <a:p>
            <a:pPr indent="0" lvl="0" marL="0" rtl="0" algn="l">
              <a:spcBef>
                <a:spcPts val="1200"/>
              </a:spcBef>
              <a:spcAft>
                <a:spcPts val="0"/>
              </a:spcAft>
              <a:buNone/>
            </a:pPr>
            <a:r>
              <a:rPr lang="en"/>
              <a:t>Not so for LLM serving. Consider:</a:t>
            </a:r>
            <a:endParaRPr/>
          </a:p>
          <a:p>
            <a:pPr indent="0" lvl="0" marL="0" rtl="0" algn="l">
              <a:spcBef>
                <a:spcPts val="1200"/>
              </a:spcBef>
              <a:spcAft>
                <a:spcPts val="0"/>
              </a:spcAft>
              <a:buNone/>
            </a:pPr>
            <a:r>
              <a:rPr lang="en"/>
              <a:t>Current batch:</a:t>
            </a:r>
            <a:endParaRPr/>
          </a:p>
          <a:p>
            <a:pPr indent="0" lvl="0" marL="0" rtl="0" algn="l">
              <a:spcBef>
                <a:spcPts val="1200"/>
              </a:spcBef>
              <a:spcAft>
                <a:spcPts val="0"/>
              </a:spcAft>
              <a:buNone/>
            </a:pPr>
            <a:r>
              <a:rPr lang="en"/>
              <a:t>A: generate 10 tokens</a:t>
            </a:r>
            <a:br>
              <a:rPr lang="en"/>
            </a:br>
            <a:r>
              <a:rPr lang="en"/>
              <a:t>B: generate 40 tokens</a:t>
            </a:r>
            <a:br>
              <a:rPr lang="en"/>
            </a:br>
            <a:r>
              <a:rPr lang="en"/>
              <a:t>C: generate 20 tokens</a:t>
            </a:r>
            <a:endParaRPr/>
          </a:p>
          <a:p>
            <a:pPr indent="0" lvl="0" marL="0" rtl="0" algn="l">
              <a:spcBef>
                <a:spcPts val="1200"/>
              </a:spcBef>
              <a:spcAft>
                <a:spcPts val="1200"/>
              </a:spcAft>
              <a:buNone/>
            </a:pPr>
            <a:r>
              <a:rPr lang="en"/>
              <a:t>We’ll need to wait 40 steps until the batch is done.. All the while requests D, E.. are waiting, and GPU is heavily underutilized because decode is memory bound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Continuous batching + Chunked prefill</a:t>
            </a:r>
            <a:endParaRPr/>
          </a:p>
        </p:txBody>
      </p:sp>
      <p:sp>
        <p:nvSpPr>
          <p:cNvPr id="277" name="Google Shape;27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Revisit the current batch every engine step and adjust</a:t>
            </a:r>
            <a:endParaRPr/>
          </a:p>
          <a:p>
            <a:pPr indent="-342900" lvl="0" marL="457200" rtl="0" algn="l">
              <a:spcBef>
                <a:spcPts val="1200"/>
              </a:spcBef>
              <a:spcAft>
                <a:spcPts val="0"/>
              </a:spcAft>
              <a:buSzPts val="1800"/>
              <a:buChar char="-"/>
            </a:pPr>
            <a:r>
              <a:rPr lang="en"/>
              <a:t>Which new requests are ready to be admitted?</a:t>
            </a:r>
            <a:endParaRPr/>
          </a:p>
          <a:p>
            <a:pPr indent="-342900" lvl="0" marL="457200" rtl="0" algn="l">
              <a:spcBef>
                <a:spcPts val="0"/>
              </a:spcBef>
              <a:spcAft>
                <a:spcPts val="0"/>
              </a:spcAft>
              <a:buSzPts val="1800"/>
              <a:buChar char="-"/>
            </a:pPr>
            <a:r>
              <a:rPr lang="en"/>
              <a:t>How many tokens can I process?</a:t>
            </a:r>
            <a:endParaRPr/>
          </a:p>
          <a:p>
            <a:pPr indent="-342900" lvl="0" marL="457200" rtl="0" algn="l">
              <a:spcBef>
                <a:spcPts val="0"/>
              </a:spcBef>
              <a:spcAft>
                <a:spcPts val="0"/>
              </a:spcAft>
              <a:buSzPts val="1800"/>
              <a:buChar char="-"/>
            </a:pPr>
            <a:r>
              <a:rPr lang="en"/>
              <a:t>How much kv cache memory is available?</a:t>
            </a:r>
            <a:endParaRPr/>
          </a:p>
          <a:p>
            <a:pPr indent="-342900" lvl="0" marL="457200" rtl="0" algn="l">
              <a:spcBef>
                <a:spcPts val="0"/>
              </a:spcBef>
              <a:spcAft>
                <a:spcPts val="0"/>
              </a:spcAft>
              <a:buSzPts val="1800"/>
              <a:buChar char="-"/>
            </a:pPr>
            <a:r>
              <a:rPr lang="en"/>
              <a:t>Which requests are finished and can be removed?</a:t>
            </a:r>
            <a:endParaRPr/>
          </a:p>
          <a:p>
            <a:pPr indent="0" lvl="0" marL="0" rtl="0" algn="l">
              <a:spcBef>
                <a:spcPts val="1200"/>
              </a:spcBef>
              <a:spcAft>
                <a:spcPts val="1200"/>
              </a:spcAft>
              <a:buNone/>
            </a:pPr>
            <a:r>
              <a:rPr lang="en"/>
              <a:t>Batch size is no longer static!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Continuous</a:t>
            </a:r>
            <a:r>
              <a:rPr lang="en"/>
              <a:t> Batching and Chunked Prefill: Example	</a:t>
            </a:r>
            <a:endParaRPr/>
          </a:p>
        </p:txBody>
      </p:sp>
      <p:sp>
        <p:nvSpPr>
          <p:cNvPr id="283" name="Google Shape;28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t=0: Request A: prompt length = 100, num generated tokens = 10</a:t>
            </a:r>
            <a:endParaRPr/>
          </a:p>
          <a:p>
            <a:pPr indent="0" lvl="0" marL="0" rtl="0" algn="l">
              <a:spcBef>
                <a:spcPts val="1200"/>
              </a:spcBef>
              <a:spcAft>
                <a:spcPts val="0"/>
              </a:spcAft>
              <a:buNone/>
            </a:pPr>
            <a:r>
              <a:rPr lang="en"/>
              <a:t>t=1: Request B: prompt length = 50, num generated tokens = 5</a:t>
            </a:r>
            <a:br>
              <a:rPr lang="en"/>
            </a:br>
            <a:r>
              <a:rPr lang="en"/>
              <a:t>       Request C: prompt length = 60, num generated tokens = 10</a:t>
            </a:r>
            <a:endParaRPr/>
          </a:p>
          <a:p>
            <a:pPr indent="0" lvl="0" marL="0" rtl="0" algn="l">
              <a:spcBef>
                <a:spcPts val="1200"/>
              </a:spcBef>
              <a:spcAft>
                <a:spcPts val="0"/>
              </a:spcAft>
              <a:buNone/>
            </a:pPr>
            <a:r>
              <a:rPr lang="en"/>
              <a:t>max_num_batched_tokens = 60</a:t>
            </a:r>
            <a:endParaRPr/>
          </a:p>
          <a:p>
            <a:pPr indent="0" lvl="0" marL="0" rtl="0" algn="l">
              <a:spcBef>
                <a:spcPts val="1200"/>
              </a:spcBef>
              <a:spcAft>
                <a:spcPts val="0"/>
              </a:spcAft>
              <a:buNone/>
            </a:pPr>
            <a:r>
              <a:rPr b="1" lang="en"/>
              <a:t>Step 1:</a:t>
            </a:r>
            <a:r>
              <a:rPr lang="en"/>
              <a:t> prefill first 60 tokens in request A (chunked prefill)</a:t>
            </a:r>
            <a:endParaRPr/>
          </a:p>
          <a:p>
            <a:pPr indent="0" lvl="0" marL="0" rtl="0" algn="l">
              <a:spcBef>
                <a:spcPts val="1200"/>
              </a:spcBef>
              <a:spcAft>
                <a:spcPts val="0"/>
              </a:spcAft>
              <a:buNone/>
            </a:pPr>
            <a:r>
              <a:rPr b="1" lang="en"/>
              <a:t>Step 2:</a:t>
            </a:r>
            <a:r>
              <a:rPr lang="en"/>
              <a:t> prefill remaining 40 tokens in A, generate first token. Prefill 20 tokens in request B</a:t>
            </a:r>
            <a:endParaRPr/>
          </a:p>
          <a:p>
            <a:pPr indent="0" lvl="0" marL="0" rtl="0" algn="l">
              <a:spcBef>
                <a:spcPts val="1200"/>
              </a:spcBef>
              <a:spcAft>
                <a:spcPts val="0"/>
              </a:spcAft>
              <a:buClr>
                <a:schemeClr val="dk1"/>
              </a:buClr>
              <a:buSzPct val="61111"/>
              <a:buFont typeface="Arial"/>
              <a:buNone/>
            </a:pPr>
            <a:r>
              <a:rPr b="1" lang="en"/>
              <a:t>Step 3:</a:t>
            </a:r>
            <a:r>
              <a:rPr lang="en"/>
              <a:t> Decode 1 token in A, prefill 30 tokens in B, 29 tokens in C</a:t>
            </a:r>
            <a:endParaRPr/>
          </a:p>
          <a:p>
            <a:pPr indent="0" lvl="0" marL="0" rtl="0" algn="l">
              <a:spcBef>
                <a:spcPts val="1200"/>
              </a:spcBef>
              <a:spcAft>
                <a:spcPts val="0"/>
              </a:spcAft>
              <a:buClr>
                <a:schemeClr val="dk1"/>
              </a:buClr>
              <a:buSzPct val="61111"/>
              <a:buFont typeface="Arial"/>
              <a:buNone/>
            </a:pPr>
            <a:r>
              <a:rPr i="1" lang="en"/>
              <a:t>Without chunked prefill, I would have processed all 100 prompt tokens in request A, increasing TTFT for requests B and C</a:t>
            </a:r>
            <a:endParaRPr i="1"/>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Continuous Batching and chunked prefill</a:t>
            </a:r>
            <a:endParaRPr/>
          </a:p>
        </p:txBody>
      </p:sp>
      <p:sp>
        <p:nvSpPr>
          <p:cNvPr id="289" name="Google Shape;289;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Key parameters: </a:t>
            </a:r>
            <a:endParaRPr/>
          </a:p>
          <a:p>
            <a:pPr indent="0" lvl="0" marL="0" rtl="0" algn="l">
              <a:spcBef>
                <a:spcPts val="1200"/>
              </a:spcBef>
              <a:spcAft>
                <a:spcPts val="0"/>
              </a:spcAft>
              <a:buNone/>
            </a:pPr>
            <a:r>
              <a:rPr b="1" lang="en"/>
              <a:t>m</a:t>
            </a:r>
            <a:r>
              <a:rPr b="1" lang="en"/>
              <a:t>ax_num_batched_tokens</a:t>
            </a:r>
            <a:r>
              <a:rPr lang="en"/>
              <a:t>: total number of tokens to consider in each vllm step. Should be set such that the total GPU compute is used for throughput sensitive </a:t>
            </a:r>
            <a:r>
              <a:rPr lang="en"/>
              <a:t>applications. A smaller number will lower the latency per step (tokens might generate faster for sequences in decode, but overall throughput may fall as prefill takes longer)</a:t>
            </a:r>
            <a:endParaRPr/>
          </a:p>
          <a:p>
            <a:pPr indent="0" lvl="0" marL="0" rtl="0" algn="l">
              <a:spcBef>
                <a:spcPts val="1200"/>
              </a:spcBef>
              <a:spcAft>
                <a:spcPts val="0"/>
              </a:spcAft>
              <a:buNone/>
            </a:pPr>
            <a:r>
              <a:rPr b="1" lang="en"/>
              <a:t>max_num_seqs:</a:t>
            </a:r>
            <a:r>
              <a:rPr lang="en"/>
              <a:t> maximum number of sequences to include in a batch</a:t>
            </a:r>
            <a:endParaRPr/>
          </a:p>
          <a:p>
            <a:pPr indent="0" lvl="0" marL="0" rtl="0" algn="l">
              <a:spcBef>
                <a:spcPts val="1200"/>
              </a:spcBef>
              <a:spcAft>
                <a:spcPts val="0"/>
              </a:spcAft>
              <a:buNone/>
            </a:pPr>
            <a:r>
              <a:rPr b="1" lang="en"/>
              <a:t>max_model_len: </a:t>
            </a:r>
            <a:r>
              <a:rPr lang="en"/>
              <a:t>maximum total sequence length vllm will handle, including prompt tokens and generated tokens. Lower max_model_len means less memory reserved for K/V cache, hence more memory </a:t>
            </a:r>
            <a:r>
              <a:rPr lang="en"/>
              <a:t>available</a:t>
            </a:r>
            <a:r>
              <a:rPr lang="en"/>
              <a:t> during decode</a:t>
            </a:r>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Prefix Caching</a:t>
            </a:r>
            <a:endParaRPr/>
          </a:p>
        </p:txBody>
      </p:sp>
      <p:sp>
        <p:nvSpPr>
          <p:cNvPr id="295" name="Google Shape;295;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600"/>
              <a:t>Do not recompute the KV cache for prompt tokens that have already been processed before. Reuse the cached KV blocks.</a:t>
            </a:r>
            <a:endParaRPr sz="1600"/>
          </a:p>
          <a:p>
            <a:pPr indent="0" lvl="0" marL="0" rtl="0" algn="l">
              <a:spcBef>
                <a:spcPts val="1200"/>
              </a:spcBef>
              <a:spcAft>
                <a:spcPts val="0"/>
              </a:spcAft>
              <a:buNone/>
            </a:pPr>
            <a:r>
              <a:rPr b="1" lang="en" sz="1600"/>
              <a:t>Eg: Prompt 1</a:t>
            </a:r>
            <a:br>
              <a:rPr b="1" lang="en" sz="1600"/>
            </a:br>
            <a:r>
              <a:rPr lang="en" sz="1600"/>
              <a:t>System: You are a helpful assistant.</a:t>
            </a:r>
            <a:br>
              <a:rPr lang="en" sz="1600"/>
            </a:br>
            <a:r>
              <a:rPr lang="en" sz="1600"/>
              <a:t>User: Here is a long document…</a:t>
            </a:r>
            <a:br>
              <a:rPr lang="en" sz="1600"/>
            </a:br>
            <a:r>
              <a:rPr lang="en" sz="1600"/>
              <a:t>Question: Summarize the document.</a:t>
            </a:r>
            <a:endParaRPr sz="1600"/>
          </a:p>
          <a:p>
            <a:pPr indent="0" lvl="0" marL="0" rtl="0" algn="l">
              <a:spcBef>
                <a:spcPts val="1200"/>
              </a:spcBef>
              <a:spcAft>
                <a:spcPts val="0"/>
              </a:spcAft>
              <a:buNone/>
            </a:pPr>
            <a:r>
              <a:rPr b="1" lang="en" sz="1600"/>
              <a:t>Prompt 2:</a:t>
            </a:r>
            <a:br>
              <a:rPr b="1" lang="en" sz="1600"/>
            </a:br>
            <a:r>
              <a:rPr lang="en" sz="1600"/>
              <a:t>System: You are a helpful assistant.</a:t>
            </a:r>
            <a:br>
              <a:rPr lang="en" sz="1600"/>
            </a:br>
            <a:r>
              <a:rPr lang="en" sz="1600"/>
              <a:t>User: Here is a long document…</a:t>
            </a:r>
            <a:br>
              <a:rPr lang="en" sz="1600"/>
            </a:br>
            <a:r>
              <a:rPr lang="en" sz="1600"/>
              <a:t>Question: Extract the main entities.</a:t>
            </a:r>
            <a:endParaRPr sz="1600"/>
          </a:p>
          <a:p>
            <a:pPr indent="0" lvl="0" marL="0" rtl="0" algn="l">
              <a:spcBef>
                <a:spcPts val="1200"/>
              </a:spcBef>
              <a:spcAft>
                <a:spcPts val="1200"/>
              </a:spcAft>
              <a:buNone/>
            </a:pPr>
            <a:r>
              <a:rPr lang="en" sz="1600"/>
              <a:t>Instead of calculating K/V cache again for prompt 2, reuse the kv cache for the shared prefix</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Prefix caching </a:t>
            </a:r>
            <a:endParaRPr/>
          </a:p>
        </p:txBody>
      </p:sp>
      <p:sp>
        <p:nvSpPr>
          <p:cNvPr id="301" name="Google Shape;301;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8750"/>
              <a:buFont typeface="Arial"/>
              <a:buNone/>
            </a:pPr>
            <a:r>
              <a:rPr b="1" lang="en" sz="1600"/>
              <a:t>Eg: Prompt 1</a:t>
            </a:r>
            <a:br>
              <a:rPr b="1" lang="en" sz="1600"/>
            </a:br>
            <a:r>
              <a:rPr lang="en" sz="1600">
                <a:solidFill>
                  <a:schemeClr val="accent1"/>
                </a:solidFill>
              </a:rPr>
              <a:t>Assistant:</a:t>
            </a:r>
            <a:r>
              <a:rPr lang="en" sz="1600"/>
              <a:t> You are a helpful assistant.</a:t>
            </a:r>
            <a:br>
              <a:rPr lang="en" sz="1600"/>
            </a:br>
            <a:r>
              <a:rPr lang="en" sz="1600"/>
              <a:t>User: Here is a long document…</a:t>
            </a:r>
            <a:br>
              <a:rPr lang="en" sz="1600"/>
            </a:br>
            <a:r>
              <a:rPr lang="en" sz="1600"/>
              <a:t>Question: Summarize the document.</a:t>
            </a:r>
            <a:endParaRPr sz="1600"/>
          </a:p>
          <a:p>
            <a:pPr indent="0" lvl="0" marL="0" rtl="0" algn="l">
              <a:spcBef>
                <a:spcPts val="1200"/>
              </a:spcBef>
              <a:spcAft>
                <a:spcPts val="0"/>
              </a:spcAft>
              <a:buNone/>
            </a:pPr>
            <a:r>
              <a:rPr b="1" lang="en" sz="1600"/>
              <a:t>Prompt 2:</a:t>
            </a:r>
            <a:br>
              <a:rPr b="1" lang="en" sz="1600"/>
            </a:br>
            <a:r>
              <a:rPr lang="en" sz="1600"/>
              <a:t>System: You are a helpful assistant.</a:t>
            </a:r>
            <a:br>
              <a:rPr lang="en" sz="1600"/>
            </a:br>
            <a:r>
              <a:rPr lang="en" sz="1600"/>
              <a:t>User: Here is a long document…</a:t>
            </a:r>
            <a:br>
              <a:rPr lang="en" sz="1600"/>
            </a:br>
            <a:r>
              <a:rPr lang="en" sz="1600"/>
              <a:t>Question: Extract the main entities.</a:t>
            </a:r>
            <a:endParaRPr sz="1600"/>
          </a:p>
          <a:p>
            <a:pPr indent="0" lvl="0" marL="0" rtl="0" algn="l">
              <a:spcBef>
                <a:spcPts val="1200"/>
              </a:spcBef>
              <a:spcAft>
                <a:spcPts val="0"/>
              </a:spcAft>
              <a:buNone/>
            </a:pPr>
            <a:r>
              <a:rPr lang="en" sz="1600"/>
              <a:t>Prefix caching can’t be used here.. K/V cache of subsequent tokens depend on the previous tokens..</a:t>
            </a:r>
            <a:endParaRPr sz="1600"/>
          </a:p>
          <a:p>
            <a:pPr indent="0" lvl="0" marL="0" rtl="0" algn="l">
              <a:spcBef>
                <a:spcPts val="1200"/>
              </a:spcBef>
              <a:spcAft>
                <a:spcPts val="1200"/>
              </a:spcAft>
              <a:buClr>
                <a:schemeClr val="dk1"/>
              </a:buClr>
              <a:buSzPct val="68750"/>
              <a:buFont typeface="Arial"/>
              <a:buNone/>
            </a:pPr>
            <a:r>
              <a:rPr lang="en" sz="1600"/>
              <a:t>Prefix caching only improved prefill, hence TTFT. Doesn’t affect decode. To improve decode performance, a different class of techniques are used: speculative decoding</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Prefix caching </a:t>
            </a:r>
            <a:endParaRPr/>
          </a:p>
        </p:txBody>
      </p:sp>
      <p:sp>
        <p:nvSpPr>
          <p:cNvPr id="307" name="Google Shape;307;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Prompt 1: </a:t>
            </a:r>
            <a:r>
              <a:rPr lang="en"/>
              <a:t>[A, B, C, D, E, F, G, H, I, J]</a:t>
            </a:r>
            <a:endParaRPr/>
          </a:p>
          <a:p>
            <a:pPr indent="0" lvl="0" marL="0" rtl="0" algn="l">
              <a:spcBef>
                <a:spcPts val="1200"/>
              </a:spcBef>
              <a:spcAft>
                <a:spcPts val="0"/>
              </a:spcAft>
              <a:buNone/>
            </a:pPr>
            <a:r>
              <a:rPr lang="en"/>
              <a:t>KV cache blocks:</a:t>
            </a:r>
            <a:endParaRPr/>
          </a:p>
          <a:p>
            <a:pPr indent="0" lvl="0" marL="0" rtl="0" algn="l">
              <a:spcBef>
                <a:spcPts val="1200"/>
              </a:spcBef>
              <a:spcAft>
                <a:spcPts val="0"/>
              </a:spcAft>
              <a:buNone/>
            </a:pPr>
            <a:r>
              <a:rPr lang="en"/>
              <a:t>Block 0: [A, B, C, D]</a:t>
            </a:r>
            <a:br>
              <a:rPr lang="en"/>
            </a:br>
            <a:r>
              <a:rPr lang="en"/>
              <a:t>Block 1: [E, F, G, H]</a:t>
            </a:r>
            <a:br>
              <a:rPr lang="en"/>
            </a:br>
            <a:r>
              <a:rPr lang="en"/>
              <a:t>Block 2: [I, J, _, _]</a:t>
            </a:r>
            <a:endParaRPr/>
          </a:p>
          <a:p>
            <a:pPr indent="0" lvl="0" marL="0" rtl="0" algn="l">
              <a:spcBef>
                <a:spcPts val="1200"/>
              </a:spcBef>
              <a:spcAft>
                <a:spcPts val="0"/>
              </a:spcAft>
              <a:buNone/>
            </a:pPr>
            <a:r>
              <a:rPr lang="en"/>
              <a:t>Prompt 2: </a:t>
            </a:r>
            <a:r>
              <a:rPr lang="en"/>
              <a:t>[A, B, C, D, E, F, G, H, I, </a:t>
            </a:r>
            <a:r>
              <a:rPr lang="en">
                <a:solidFill>
                  <a:schemeClr val="accent5"/>
                </a:solidFill>
              </a:rPr>
              <a:t>K</a:t>
            </a:r>
            <a:r>
              <a:rPr lang="en"/>
              <a:t>]</a:t>
            </a:r>
            <a:endParaRPr/>
          </a:p>
          <a:p>
            <a:pPr indent="0" lvl="0" marL="0" rtl="0" algn="l">
              <a:spcBef>
                <a:spcPts val="1200"/>
              </a:spcBef>
              <a:spcAft>
                <a:spcPts val="1200"/>
              </a:spcAft>
              <a:buNone/>
            </a:pPr>
            <a:r>
              <a:rPr lang="en"/>
              <a:t>Only </a:t>
            </a:r>
            <a:r>
              <a:rPr b="1" lang="en"/>
              <a:t>full blocks</a:t>
            </a:r>
            <a:r>
              <a:rPr lang="en"/>
              <a:t> are used, so K/V for I won’t be used</a:t>
            </a:r>
            <a:br>
              <a:rPr lang="en"/>
            </a:br>
            <a:r>
              <a:rPr lang="en"/>
              <a:t>Prompt 3: [A, B, C, </a:t>
            </a:r>
            <a:r>
              <a:rPr lang="en">
                <a:solidFill>
                  <a:schemeClr val="accent5"/>
                </a:solidFill>
              </a:rPr>
              <a:t>C</a:t>
            </a:r>
            <a:r>
              <a:rPr lang="en"/>
              <a:t>, E, F, G, H, I, J]: </a:t>
            </a:r>
            <a:r>
              <a:rPr b="1" lang="en"/>
              <a:t>No match, even though E, F, G, H match block 1</a:t>
            </a:r>
            <a:endParaRPr b="1"/>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Prefix caching Implementation</a:t>
            </a:r>
            <a:endParaRPr/>
          </a:p>
          <a:p>
            <a:pPr indent="0" lvl="0" marL="0" rtl="0" algn="l">
              <a:spcBef>
                <a:spcPts val="0"/>
              </a:spcBef>
              <a:spcAft>
                <a:spcPts val="0"/>
              </a:spcAft>
              <a:buNone/>
            </a:pPr>
            <a:r>
              <a:t/>
            </a:r>
            <a:endParaRPr/>
          </a:p>
        </p:txBody>
      </p:sp>
      <p:sp>
        <p:nvSpPr>
          <p:cNvPr id="313" name="Google Shape;313;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Prompt 1: [A, B, C, D, E, F, G, H, I, J, K, L]</a:t>
            </a:r>
            <a:endParaRPr/>
          </a:p>
          <a:p>
            <a:pPr indent="0" lvl="0" marL="0" rtl="0" algn="l">
              <a:spcBef>
                <a:spcPts val="1200"/>
              </a:spcBef>
              <a:spcAft>
                <a:spcPts val="0"/>
              </a:spcAft>
              <a:buNone/>
            </a:pPr>
            <a:r>
              <a:rPr lang="en"/>
              <a:t>Block 0: [A, B, C, D] -&gt; hash(ABCD)</a:t>
            </a:r>
            <a:br>
              <a:rPr lang="en"/>
            </a:br>
            <a:r>
              <a:rPr lang="en"/>
              <a:t>Block 1: [E, F, G, H] -&gt; hash(hash(block0) + EFGH)</a:t>
            </a:r>
            <a:br>
              <a:rPr lang="en"/>
            </a:br>
            <a:r>
              <a:rPr lang="en"/>
              <a:t>Block 2: [I, J, K, L] -&gt; hash(hash(block1) + IJKL)</a:t>
            </a:r>
            <a:endParaRPr/>
          </a:p>
          <a:p>
            <a:pPr indent="0" lvl="0" marL="0" rtl="0" algn="l">
              <a:spcBef>
                <a:spcPts val="1200"/>
              </a:spcBef>
              <a:spcAft>
                <a:spcPts val="0"/>
              </a:spcAft>
              <a:buNone/>
            </a:pPr>
            <a:r>
              <a:rPr lang="en"/>
              <a:t>Sequence [A, B, C, D, E]: hash (ABCD) -&gt; hit, increment ref count for block 0, allocate KV cache block for E</a:t>
            </a:r>
            <a:endParaRPr/>
          </a:p>
          <a:p>
            <a:pPr indent="0" lvl="0" marL="0" rtl="0" algn="l">
              <a:spcBef>
                <a:spcPts val="1200"/>
              </a:spcBef>
              <a:spcAft>
                <a:spcPts val="0"/>
              </a:spcAft>
              <a:buNone/>
            </a:pPr>
            <a:r>
              <a:rPr lang="en"/>
              <a:t>Sequence [B, A, C, D, E]: hash (BACD) -&gt; no hit</a:t>
            </a:r>
            <a:endParaRPr/>
          </a:p>
          <a:p>
            <a:pPr indent="0" lvl="0" marL="0" rtl="0" algn="l">
              <a:spcBef>
                <a:spcPts val="1200"/>
              </a:spcBef>
              <a:spcAft>
                <a:spcPts val="0"/>
              </a:spcAft>
              <a:buNone/>
            </a:pPr>
            <a:r>
              <a:rPr lang="en"/>
              <a:t>Sequence [A, B, C, D, E, F, G, H, K]: hits for block 0, 1, increment their ref count, allocate KV cache for K</a:t>
            </a:r>
            <a:endParaRPr/>
          </a:p>
          <a:p>
            <a:pPr indent="0" lvl="0" marL="0" rtl="0" algn="l">
              <a:spcBef>
                <a:spcPts val="1200"/>
              </a:spcBef>
              <a:spcAft>
                <a:spcPts val="0"/>
              </a:spcAft>
              <a:buNone/>
            </a:pPr>
            <a:r>
              <a:rPr lang="en"/>
              <a:t>Sequence [A, B, </a:t>
            </a:r>
            <a:r>
              <a:rPr lang="en">
                <a:solidFill>
                  <a:schemeClr val="accent5"/>
                </a:solidFill>
              </a:rPr>
              <a:t>D</a:t>
            </a:r>
            <a:r>
              <a:rPr lang="en"/>
              <a:t>, D, E, F, G, H, K]: No hits! Even though E,F,G,H match</a:t>
            </a:r>
            <a:endParaRPr/>
          </a:p>
          <a:p>
            <a:pPr indent="0" lvl="0" marL="0" rtl="0" algn="l">
              <a:spcBef>
                <a:spcPts val="1200"/>
              </a:spcBef>
              <a:spcAft>
                <a:spcPts val="1200"/>
              </a:spcAft>
              <a:buClr>
                <a:schemeClr val="dk1"/>
              </a:buClr>
              <a:buSzPct val="61111"/>
              <a:buFont typeface="Arial"/>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Prefix Caching: Security consideration </a:t>
            </a:r>
            <a:endParaRPr/>
          </a:p>
        </p:txBody>
      </p:sp>
      <p:sp>
        <p:nvSpPr>
          <p:cNvPr id="319" name="Google Shape;319;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t>Prefix caching can leak information through timing in multi-tenant settings.</a:t>
            </a:r>
            <a:endParaRPr/>
          </a:p>
          <a:p>
            <a:pPr indent="0" lvl="0" marL="0" rtl="0" algn="l">
              <a:spcBef>
                <a:spcPts val="1200"/>
              </a:spcBef>
              <a:spcAft>
                <a:spcPts val="0"/>
              </a:spcAft>
              <a:buClr>
                <a:schemeClr val="dk1"/>
              </a:buClr>
              <a:buSzPts val="1100"/>
              <a:buFont typeface="Arial"/>
              <a:buNone/>
            </a:pPr>
            <a:r>
              <a:rPr lang="en"/>
              <a:t>If user B can send a prompt and observe that it is much faster, they might infer that someone else recently used the same prefix.</a:t>
            </a:r>
            <a:endParaRPr/>
          </a:p>
          <a:p>
            <a:pPr indent="0" lvl="0" marL="0" rtl="0" algn="l">
              <a:spcBef>
                <a:spcPts val="1200"/>
              </a:spcBef>
              <a:spcAft>
                <a:spcPts val="0"/>
              </a:spcAft>
              <a:buClr>
                <a:schemeClr val="dk1"/>
              </a:buClr>
              <a:buSzPts val="1100"/>
              <a:buFont typeface="Arial"/>
              <a:buNone/>
            </a:pPr>
            <a:r>
              <a:rPr lang="en"/>
              <a:t>To mitigate this, vLLM supports </a:t>
            </a:r>
            <a:r>
              <a:rPr b="1" lang="en"/>
              <a:t>cache salting</a:t>
            </a:r>
            <a:r>
              <a:rPr lang="en"/>
              <a:t> through </a:t>
            </a:r>
            <a:r>
              <a:rPr i="1" lang="en"/>
              <a:t>cache_salt</a:t>
            </a:r>
            <a:r>
              <a:rPr lang="en"/>
              <a:t> that is injected into the first block hash so that only requests with the same salt can reuse cached KV blocks. This isolates cache sharing to an intended trust group.</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Prefill-Decode Disaggregation </a:t>
            </a:r>
            <a:endParaRPr/>
          </a:p>
        </p:txBody>
      </p:sp>
      <p:sp>
        <p:nvSpPr>
          <p:cNvPr id="325" name="Google Shape;325;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For large models and context </a:t>
            </a:r>
            <a:r>
              <a:rPr lang="en"/>
              <a:t>lengths</a:t>
            </a:r>
            <a:r>
              <a:rPr lang="en"/>
              <a:t>, it may make sense to separate prefill and decode on different GPUs, that share KV cache</a:t>
            </a:r>
            <a:endParaRPr/>
          </a:p>
        </p:txBody>
      </p:sp>
      <p:sp>
        <p:nvSpPr>
          <p:cNvPr id="326" name="Google Shape;326;p39"/>
          <p:cNvSpPr/>
          <p:nvPr/>
        </p:nvSpPr>
        <p:spPr>
          <a:xfrm>
            <a:off x="1446500" y="2402450"/>
            <a:ext cx="1633500" cy="5106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GPU 1</a:t>
            </a:r>
            <a:endParaRPr/>
          </a:p>
          <a:p>
            <a:pPr indent="0" lvl="0" marL="0" rtl="0" algn="ctr">
              <a:spcBef>
                <a:spcPts val="0"/>
              </a:spcBef>
              <a:spcAft>
                <a:spcPts val="0"/>
              </a:spcAft>
              <a:buNone/>
            </a:pPr>
            <a:r>
              <a:rPr lang="en"/>
              <a:t>Large compute</a:t>
            </a:r>
            <a:endParaRPr/>
          </a:p>
        </p:txBody>
      </p:sp>
      <p:sp>
        <p:nvSpPr>
          <p:cNvPr id="327" name="Google Shape;327;p39"/>
          <p:cNvSpPr/>
          <p:nvPr/>
        </p:nvSpPr>
        <p:spPr>
          <a:xfrm>
            <a:off x="1446500" y="3252575"/>
            <a:ext cx="1633500" cy="5106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GPU 2</a:t>
            </a:r>
            <a:endParaRPr/>
          </a:p>
          <a:p>
            <a:pPr indent="0" lvl="0" marL="0" rtl="0" algn="ctr">
              <a:spcBef>
                <a:spcPts val="0"/>
              </a:spcBef>
              <a:spcAft>
                <a:spcPts val="0"/>
              </a:spcAft>
              <a:buNone/>
            </a:pPr>
            <a:r>
              <a:rPr lang="en"/>
              <a:t>Large VRAM</a:t>
            </a:r>
            <a:endParaRPr/>
          </a:p>
        </p:txBody>
      </p:sp>
      <p:cxnSp>
        <p:nvCxnSpPr>
          <p:cNvPr id="328" name="Google Shape;328;p39"/>
          <p:cNvCxnSpPr>
            <a:stCxn id="326" idx="3"/>
            <a:endCxn id="327" idx="3"/>
          </p:cNvCxnSpPr>
          <p:nvPr/>
        </p:nvCxnSpPr>
        <p:spPr>
          <a:xfrm>
            <a:off x="3080000" y="2657750"/>
            <a:ext cx="600" cy="850200"/>
          </a:xfrm>
          <a:prstGeom prst="bentConnector3">
            <a:avLst>
              <a:gd fmla="val 39687500" name="adj1"/>
            </a:avLst>
          </a:prstGeom>
          <a:noFill/>
          <a:ln cap="flat" cmpd="sng" w="9525">
            <a:solidFill>
              <a:schemeClr val="dk2"/>
            </a:solidFill>
            <a:prstDash val="solid"/>
            <a:round/>
            <a:headEnd len="med" w="med" type="stealth"/>
            <a:tailEnd len="med" w="med" type="stealth"/>
          </a:ln>
        </p:spPr>
      </p:cxnSp>
      <p:sp>
        <p:nvSpPr>
          <p:cNvPr id="329" name="Google Shape;329;p39"/>
          <p:cNvSpPr txBox="1"/>
          <p:nvPr/>
        </p:nvSpPr>
        <p:spPr>
          <a:xfrm>
            <a:off x="3433250" y="2752025"/>
            <a:ext cx="2450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High-speed GPU interconnect</a:t>
            </a:r>
            <a:endParaRPr sz="1800">
              <a:solidFill>
                <a:schemeClr val="dk2"/>
              </a:solidFill>
            </a:endParaRPr>
          </a:p>
        </p:txBody>
      </p:sp>
      <p:sp>
        <p:nvSpPr>
          <p:cNvPr id="330" name="Google Shape;330;p39"/>
          <p:cNvSpPr txBox="1"/>
          <p:nvPr/>
        </p:nvSpPr>
        <p:spPr>
          <a:xfrm>
            <a:off x="378650" y="2402450"/>
            <a:ext cx="82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Prefill</a:t>
            </a:r>
            <a:endParaRPr sz="1800">
              <a:solidFill>
                <a:schemeClr val="dk2"/>
              </a:solidFill>
            </a:endParaRPr>
          </a:p>
        </p:txBody>
      </p:sp>
      <p:sp>
        <p:nvSpPr>
          <p:cNvPr id="331" name="Google Shape;331;p39"/>
          <p:cNvSpPr txBox="1"/>
          <p:nvPr/>
        </p:nvSpPr>
        <p:spPr>
          <a:xfrm>
            <a:off x="298250" y="3277025"/>
            <a:ext cx="990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Decode</a:t>
            </a:r>
            <a:endParaRPr sz="1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Advanced Features	</a:t>
            </a:r>
            <a:endParaRPr/>
          </a:p>
        </p:txBody>
      </p:sp>
      <p:sp>
        <p:nvSpPr>
          <p:cNvPr id="337" name="Google Shape;337;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
              <a:t>CUDA Graph compilation</a:t>
            </a:r>
            <a:endParaRPr b="1"/>
          </a:p>
          <a:p>
            <a:pPr indent="-317500" lvl="1" marL="914400" rtl="0" algn="l">
              <a:spcBef>
                <a:spcPts val="0"/>
              </a:spcBef>
              <a:spcAft>
                <a:spcPts val="0"/>
              </a:spcAft>
              <a:buSzPts val="1400"/>
              <a:buChar char="-"/>
            </a:pPr>
            <a:r>
              <a:rPr lang="en"/>
              <a:t>During a forward pass, for every generated token, several CUDA kernels (matmul, flash attention, non-linearities etc) need to be launched. This can be a significant overhead, where the amount of computation per kernel launch is relatively low (as in decode)</a:t>
            </a:r>
            <a:endParaRPr/>
          </a:p>
          <a:p>
            <a:pPr indent="-317500" lvl="1" marL="914400" rtl="0" algn="l">
              <a:spcBef>
                <a:spcPts val="0"/>
              </a:spcBef>
              <a:spcAft>
                <a:spcPts val="0"/>
              </a:spcAft>
              <a:buSzPts val="1400"/>
              <a:buChar char="-"/>
            </a:pPr>
            <a:r>
              <a:rPr b="1" lang="en"/>
              <a:t>Solution:</a:t>
            </a:r>
            <a:r>
              <a:rPr lang="en"/>
              <a:t> Capture the sequence of kernel launches.. Kernel A -&gt; B -&gt; C, and replay, i.e., do one consolidated kernel launch rather than many individual launches</a:t>
            </a:r>
            <a:br>
              <a:rPr lang="en"/>
            </a:br>
            <a:endParaRPr/>
          </a:p>
          <a:p>
            <a:pPr indent="-342900" lvl="0" marL="457200" rtl="0" algn="l">
              <a:spcBef>
                <a:spcPts val="0"/>
              </a:spcBef>
              <a:spcAft>
                <a:spcPts val="0"/>
              </a:spcAft>
              <a:buSzPts val="1800"/>
              <a:buChar char="-"/>
            </a:pPr>
            <a:r>
              <a:rPr b="1" lang="en"/>
              <a:t>Speculative decoding:</a:t>
            </a:r>
            <a:r>
              <a:rPr lang="en"/>
              <a:t> </a:t>
            </a:r>
            <a:endParaRPr/>
          </a:p>
          <a:p>
            <a:pPr indent="-317500" lvl="1" marL="914400" rtl="0" algn="l">
              <a:spcBef>
                <a:spcPts val="0"/>
              </a:spcBef>
              <a:spcAft>
                <a:spcPts val="0"/>
              </a:spcAft>
              <a:buSzPts val="1400"/>
              <a:buChar char="-"/>
            </a:pPr>
            <a:r>
              <a:rPr lang="en"/>
              <a:t>Some tokens are easier to guess than others. Instead of asking the target model to generate all tokens one by one, use a smaller draft mechanism to propose several likely tokens at once, then use the target model to </a:t>
            </a:r>
            <a:r>
              <a:rPr i="1" lang="en"/>
              <a:t>validate </a:t>
            </a:r>
            <a:r>
              <a:rPr lang="en"/>
              <a:t>all the draft tokens at once. </a:t>
            </a:r>
            <a:r>
              <a:rPr lang="en"/>
              <a:t>Keep the draft tokens until the point where the target and draft begin to disagree.</a:t>
            </a:r>
            <a:br>
              <a:rPr lang="en"/>
            </a:br>
            <a:endParaRPr/>
          </a:p>
          <a:p>
            <a:pPr indent="-317500" lvl="1" marL="914400" rtl="0" algn="l">
              <a:spcBef>
                <a:spcPts val="0"/>
              </a:spcBef>
              <a:spcAft>
                <a:spcPts val="0"/>
              </a:spcAft>
              <a:buSzPts val="1400"/>
              <a:buChar char="-"/>
            </a:pPr>
            <a:r>
              <a:rPr lang="en"/>
              <a:t>vllm supports several speculative decoding techniques. Some use a smaller model (eagle, medusa..) others are model-less (suffix decoding)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43" name="Google Shape;343;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Engine.schedule: which requests to handle in this scheduler step</a:t>
            </a:r>
            <a:endParaRPr/>
          </a:p>
          <a:p>
            <a:pPr indent="0" lvl="0" marL="0" rtl="0" algn="l">
              <a:spcBef>
                <a:spcPts val="1200"/>
              </a:spcBef>
              <a:spcAft>
                <a:spcPts val="1200"/>
              </a:spcAft>
              <a:buNone/>
            </a:pPr>
            <a:r>
              <a:rPr lang="en"/>
              <a:t>Create chunks: decode first, then prefill</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Forward pass: Input preprocess</a:t>
            </a:r>
            <a:endParaRPr/>
          </a:p>
        </p:txBody>
      </p:sp>
      <p:sp>
        <p:nvSpPr>
          <p:cNvPr id="349" name="Google Shape;349;p42"/>
          <p:cNvSpPr txBox="1"/>
          <p:nvPr>
            <p:ph idx="1" type="body"/>
          </p:nvPr>
        </p:nvSpPr>
        <p:spPr>
          <a:xfrm>
            <a:off x="311700" y="1152475"/>
            <a:ext cx="56403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sz="1500"/>
              <a:t>3 requests have cached prefix lengths: 0, 3, 6, chunk lengths: </a:t>
            </a:r>
            <a:r>
              <a:rPr lang="en" sz="1500"/>
              <a:t>2, 4, 3</a:t>
            </a:r>
            <a:r>
              <a:rPr lang="en" sz="1500"/>
              <a:t> </a:t>
            </a:r>
            <a:endParaRPr sz="1500"/>
          </a:p>
          <a:p>
            <a:pPr indent="0" lvl="0" marL="0" rtl="0" algn="l">
              <a:spcBef>
                <a:spcPts val="1200"/>
              </a:spcBef>
              <a:spcAft>
                <a:spcPts val="0"/>
              </a:spcAft>
              <a:buNone/>
            </a:pPr>
            <a:r>
              <a:rPr lang="en" sz="1500"/>
              <a:t>Calculate max chunk len: 4</a:t>
            </a:r>
            <a:endParaRPr sz="1500"/>
          </a:p>
          <a:p>
            <a:pPr indent="0" lvl="0" marL="0" rtl="0" algn="l">
              <a:spcBef>
                <a:spcPts val="1200"/>
              </a:spcBef>
              <a:spcAft>
                <a:spcPts val="0"/>
              </a:spcAft>
              <a:buNone/>
            </a:pPr>
            <a:r>
              <a:rPr lang="en" sz="1500"/>
              <a:t>Allocate a B, 4 tensor, fill with paddings, add tokens</a:t>
            </a:r>
            <a:endParaRPr sz="1500"/>
          </a:p>
          <a:p>
            <a:pPr indent="0" lvl="0" marL="0" rtl="0" algn="l">
              <a:spcBef>
                <a:spcPts val="1200"/>
              </a:spcBef>
              <a:spcAft>
                <a:spcPts val="0"/>
              </a:spcAft>
              <a:buNone/>
            </a:pPr>
            <a:r>
              <a:rPr lang="en" sz="1500"/>
              <a:t>Create a position tensor, needs to reflect true position of the tokens, reflecting prompt tokens computed so far. These are needed to calculate rope embeddings correctly</a:t>
            </a:r>
            <a:endParaRPr sz="1500"/>
          </a:p>
          <a:p>
            <a:pPr indent="0" lvl="0" marL="0" rtl="0" algn="l">
              <a:spcBef>
                <a:spcPts val="1200"/>
              </a:spcBef>
              <a:spcAft>
                <a:spcPts val="0"/>
              </a:spcAft>
              <a:buNone/>
            </a:pPr>
            <a:r>
              <a:rPr lang="en" sz="1500"/>
              <a:t>We run the forward pass for the entire tensor, and then mask out the invalid input tokens</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a:p>
        </p:txBody>
      </p:sp>
      <p:graphicFrame>
        <p:nvGraphicFramePr>
          <p:cNvPr id="350" name="Google Shape;350;p42"/>
          <p:cNvGraphicFramePr/>
          <p:nvPr/>
        </p:nvGraphicFramePr>
        <p:xfrm>
          <a:off x="6461150" y="1327300"/>
          <a:ext cx="3000000" cy="3000000"/>
        </p:xfrm>
        <a:graphic>
          <a:graphicData uri="http://schemas.openxmlformats.org/drawingml/2006/table">
            <a:tbl>
              <a:tblPr>
                <a:noFill/>
                <a:tableStyleId>{002DFE77-02EC-4D0D-B4A5-6E3D87EE2B06}</a:tableStyleId>
              </a:tblPr>
              <a:tblGrid>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solidFill>
                      <a:schemeClr val="dk2"/>
                    </a:solidFill>
                  </a:tcPr>
                </a:tc>
                <a:tc>
                  <a:txBody>
                    <a:bodyPr/>
                    <a:lstStyle/>
                    <a:p>
                      <a:pPr indent="0" lvl="0" marL="0" rtl="0" algn="l">
                        <a:spcBef>
                          <a:spcPts val="0"/>
                        </a:spcBef>
                        <a:spcAft>
                          <a:spcPts val="0"/>
                        </a:spcAft>
                        <a:buNone/>
                      </a:pPr>
                      <a:r>
                        <a:t/>
                      </a:r>
                      <a:endParaRPr/>
                    </a:p>
                  </a:txBody>
                  <a:tcPr marT="91425" marB="91425" marR="91425" marL="91425">
                    <a:solidFill>
                      <a:schemeClr val="dk2"/>
                    </a:solidFil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graphicFrame>
        <p:nvGraphicFramePr>
          <p:cNvPr id="351" name="Google Shape;351;p42"/>
          <p:cNvGraphicFramePr/>
          <p:nvPr/>
        </p:nvGraphicFramePr>
        <p:xfrm>
          <a:off x="6443375" y="2825475"/>
          <a:ext cx="3000000" cy="3000000"/>
        </p:xfrm>
        <a:graphic>
          <a:graphicData uri="http://schemas.openxmlformats.org/drawingml/2006/table">
            <a:tbl>
              <a:tblPr>
                <a:noFill/>
                <a:tableStyleId>{002DFE77-02EC-4D0D-B4A5-6E3D87EE2B06}</a:tableStyleId>
              </a:tblPr>
              <a:tblGrid>
                <a:gridCol w="382850"/>
                <a:gridCol w="382850"/>
                <a:gridCol w="382850"/>
                <a:gridCol w="382850"/>
              </a:tblGrid>
              <a:tr h="381000">
                <a:tc>
                  <a:txBody>
                    <a:bodyPr/>
                    <a:lstStyle/>
                    <a:p>
                      <a:pPr indent="0" lvl="0" marL="0" rtl="0" algn="l">
                        <a:spcBef>
                          <a:spcPts val="0"/>
                        </a:spcBef>
                        <a:spcAft>
                          <a:spcPts val="0"/>
                        </a:spcAft>
                        <a:buNone/>
                      </a:pPr>
                      <a:r>
                        <a:rPr lang="en"/>
                        <a:t>0</a:t>
                      </a:r>
                      <a:endParaRPr/>
                    </a:p>
                  </a:txBody>
                  <a:tcPr marT="91425" marB="91425" marR="91425" marL="91425">
                    <a:solidFill>
                      <a:schemeClr val="dk2"/>
                    </a:solidFill>
                  </a:tcPr>
                </a:tc>
                <a:tc>
                  <a:txBody>
                    <a:bodyPr/>
                    <a:lstStyle/>
                    <a:p>
                      <a:pPr indent="0" lvl="0" marL="0" rtl="0" algn="l">
                        <a:spcBef>
                          <a:spcPts val="0"/>
                        </a:spcBef>
                        <a:spcAft>
                          <a:spcPts val="0"/>
                        </a:spcAft>
                        <a:buNone/>
                      </a:pPr>
                      <a:r>
                        <a:rPr lang="en"/>
                        <a:t>1</a:t>
                      </a:r>
                      <a:endParaRPr/>
                    </a:p>
                  </a:txBody>
                  <a:tcPr marT="91425" marB="91425" marR="91425" marL="91425">
                    <a:solidFill>
                      <a:schemeClr val="dk2"/>
                    </a:solidFil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3</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4</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5</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6</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r>
              <a:tr h="381000">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6</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7</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Filling kv_cache in a batch</a:t>
            </a:r>
            <a:endParaRPr/>
          </a:p>
        </p:txBody>
      </p:sp>
      <p:sp>
        <p:nvSpPr>
          <p:cNvPr id="357" name="Google Shape;357;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3 requests have cached prefix lengths: 0, 3, 6</a:t>
            </a:r>
            <a:endParaRPr sz="1500"/>
          </a:p>
          <a:p>
            <a:pPr indent="0" lvl="0" marL="0" rtl="0" algn="l">
              <a:spcBef>
                <a:spcPts val="1200"/>
              </a:spcBef>
              <a:spcAft>
                <a:spcPts val="0"/>
              </a:spcAft>
              <a:buNone/>
            </a:pPr>
            <a:r>
              <a:rPr lang="en" sz="1500"/>
              <a:t>For each layer,</a:t>
            </a:r>
            <a:endParaRPr sz="1500"/>
          </a:p>
          <a:p>
            <a:pPr indent="0" lvl="0" marL="0" rtl="0" algn="l">
              <a:spcBef>
                <a:spcPts val="1200"/>
              </a:spcBef>
              <a:spcAft>
                <a:spcPts val="0"/>
              </a:spcAft>
              <a:buNone/>
            </a:pPr>
            <a:r>
              <a:rPr lang="en" sz="1500"/>
              <a:t>Allocate a kv-cache of size (12, h, d)</a:t>
            </a:r>
            <a:endParaRPr sz="1500"/>
          </a:p>
          <a:p>
            <a:pPr indent="0" lvl="0" marL="0" rtl="0" algn="l">
              <a:spcBef>
                <a:spcPts val="1200"/>
              </a:spcBef>
              <a:spcAft>
                <a:spcPts val="0"/>
              </a:spcAft>
              <a:buNone/>
            </a:pPr>
            <a:r>
              <a:rPr lang="en" sz="1500"/>
              <a:t>Copy the physical pages from the kv_cache, using per request indices in the block table. Limit the copy to the cached prefix lengths for each request</a:t>
            </a:r>
            <a:endParaRPr sz="1500"/>
          </a:p>
          <a:p>
            <a:pPr indent="0" lvl="0" marL="0" rtl="0" algn="l">
              <a:spcBef>
                <a:spcPts val="1200"/>
              </a:spcBef>
              <a:spcAft>
                <a:spcPts val="0"/>
              </a:spcAft>
              <a:buNone/>
            </a:pPr>
            <a:r>
              <a:rPr lang="en" sz="1500"/>
              <a:t>Now the materialized kv_cache block will look like this:</a:t>
            </a:r>
            <a:endParaRPr sz="1500"/>
          </a:p>
          <a:p>
            <a:pPr indent="0" lvl="0" marL="0" rtl="0" algn="l">
              <a:spcBef>
                <a:spcPts val="1200"/>
              </a:spcBef>
              <a:spcAft>
                <a:spcPts val="1200"/>
              </a:spcAft>
              <a:buNone/>
            </a:pPr>
            <a:r>
              <a:t/>
            </a:r>
            <a:endParaRPr/>
          </a:p>
        </p:txBody>
      </p:sp>
      <p:graphicFrame>
        <p:nvGraphicFramePr>
          <p:cNvPr id="358" name="Google Shape;358;p43"/>
          <p:cNvGraphicFramePr/>
          <p:nvPr/>
        </p:nvGraphicFramePr>
        <p:xfrm>
          <a:off x="718525" y="3599875"/>
          <a:ext cx="3000000" cy="3000000"/>
        </p:xfrm>
        <a:graphic>
          <a:graphicData uri="http://schemas.openxmlformats.org/drawingml/2006/table">
            <a:tbl>
              <a:tblPr>
                <a:noFill/>
                <a:tableStyleId>{002DFE77-02EC-4D0D-B4A5-6E3D87EE2B06}</a:tableStyleId>
              </a:tblPr>
              <a:tblGrid>
                <a:gridCol w="382850"/>
                <a:gridCol w="382850"/>
                <a:gridCol w="382850"/>
                <a:gridCol w="382850"/>
                <a:gridCol w="382850"/>
                <a:gridCol w="399075"/>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r>
            </a:tbl>
          </a:graphicData>
        </a:graphic>
      </p:graphicFrame>
      <p:sp>
        <p:nvSpPr>
          <p:cNvPr id="359" name="Google Shape;359;p43"/>
          <p:cNvSpPr txBox="1"/>
          <p:nvPr/>
        </p:nvSpPr>
        <p:spPr>
          <a:xfrm>
            <a:off x="5594500" y="4082925"/>
            <a:ext cx="24504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Note: we are copying tensors from physical kv cache, not ideal</a:t>
            </a:r>
            <a:endParaRPr sz="1800">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Adding new K/V for Query chunks</a:t>
            </a:r>
            <a:endParaRPr/>
          </a:p>
        </p:txBody>
      </p:sp>
      <p:sp>
        <p:nvSpPr>
          <p:cNvPr id="365" name="Google Shape;365;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500"/>
              <a:t>3 requests have chunked prefill lengths: 2, 4, 3</a:t>
            </a:r>
            <a:endParaRPr sz="1500"/>
          </a:p>
          <a:p>
            <a:pPr indent="0" lvl="0" marL="0" rtl="0" algn="l">
              <a:spcBef>
                <a:spcPts val="1200"/>
              </a:spcBef>
              <a:spcAft>
                <a:spcPts val="0"/>
              </a:spcAft>
              <a:buNone/>
            </a:pPr>
            <a:r>
              <a:rPr lang="en" sz="1500"/>
              <a:t>Calculate max_sequence_length, including cached kv and chunked prefill = max(2, 7, 9) = 9</a:t>
            </a:r>
            <a:endParaRPr sz="1500"/>
          </a:p>
          <a:p>
            <a:pPr indent="0" lvl="0" marL="0" rtl="0" algn="l">
              <a:spcBef>
                <a:spcPts val="1200"/>
              </a:spcBef>
              <a:spcAft>
                <a:spcPts val="0"/>
              </a:spcAft>
              <a:buNone/>
            </a:pPr>
            <a:r>
              <a:rPr lang="en" sz="1500"/>
              <a:t>Create a B, 9 tensor fill with padding</a:t>
            </a:r>
            <a:endParaRPr sz="1500"/>
          </a:p>
          <a:p>
            <a:pPr indent="0" lvl="0" marL="0" rtl="0" algn="l">
              <a:spcBef>
                <a:spcPts val="1200"/>
              </a:spcBef>
              <a:spcAft>
                <a:spcPts val="0"/>
              </a:spcAft>
              <a:buNone/>
            </a:pPr>
            <a:r>
              <a:rPr lang="en" sz="1500"/>
              <a:t>Calculate new k/v vectors corresponding to max_chunk_len (for each request, only the k/v until the query_len will be valid..). </a:t>
            </a:r>
            <a:endParaRPr sz="1500"/>
          </a:p>
          <a:p>
            <a:pPr indent="0" lvl="0" marL="0" rtl="0" algn="l">
              <a:spcBef>
                <a:spcPts val="1200"/>
              </a:spcBef>
              <a:spcAft>
                <a:spcPts val="0"/>
              </a:spcAft>
              <a:buNone/>
            </a:pPr>
            <a:r>
              <a:rPr lang="en" sz="1500"/>
              <a:t>Arrange each row of kv as: valid_past | valid_current_chunk | padding</a:t>
            </a:r>
            <a:endParaRPr sz="1500"/>
          </a:p>
          <a:p>
            <a:pPr indent="0" lvl="0" marL="0" rtl="0" algn="l">
              <a:spcBef>
                <a:spcPts val="1200"/>
              </a:spcBef>
              <a:spcAft>
                <a:spcPts val="0"/>
              </a:spcAft>
              <a:buNone/>
            </a:pPr>
            <a:r>
              <a:rPr lang="en" sz="1500"/>
              <a:t>Key_len tells us how much is real, how much padding</a:t>
            </a:r>
            <a:endParaRPr sz="1500"/>
          </a:p>
          <a:p>
            <a:pPr indent="0" lvl="0" marL="0" rtl="0" algn="l">
              <a:spcBef>
                <a:spcPts val="1200"/>
              </a:spcBef>
              <a:spcAft>
                <a:spcPts val="0"/>
              </a:spcAft>
              <a:buNone/>
            </a:pPr>
            <a:r>
              <a:rPr lang="en" sz="1500"/>
              <a:t>Cu_seq_len_q: [0, 2, 6, 9]</a:t>
            </a:r>
            <a:endParaRPr sz="1500"/>
          </a:p>
          <a:p>
            <a:pPr indent="0" lvl="0" marL="0" rtl="0" algn="l">
              <a:spcBef>
                <a:spcPts val="1200"/>
              </a:spcBef>
              <a:spcAft>
                <a:spcPts val="1200"/>
              </a:spcAft>
              <a:buClr>
                <a:schemeClr val="dk1"/>
              </a:buClr>
              <a:buSzPts val="1100"/>
              <a:buFont typeface="Arial"/>
              <a:buNone/>
            </a:pPr>
            <a:r>
              <a:t/>
            </a:r>
            <a:endParaRPr sz="1500"/>
          </a:p>
        </p:txBody>
      </p:sp>
      <p:graphicFrame>
        <p:nvGraphicFramePr>
          <p:cNvPr id="366" name="Google Shape;366;p44"/>
          <p:cNvGraphicFramePr/>
          <p:nvPr/>
        </p:nvGraphicFramePr>
        <p:xfrm>
          <a:off x="5500400" y="3774300"/>
          <a:ext cx="3000000" cy="3000000"/>
        </p:xfrm>
        <a:graphic>
          <a:graphicData uri="http://schemas.openxmlformats.org/drawingml/2006/table">
            <a:tbl>
              <a:tblPr>
                <a:noFill/>
                <a:tableStyleId>{002DFE77-02EC-4D0D-B4A5-6E3D87EE2B06}</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solidFill>
                      <a:schemeClr val="accent1"/>
                    </a:solidFill>
                  </a:tcPr>
                </a:tc>
                <a:tc>
                  <a:txBody>
                    <a:bodyPr/>
                    <a:lstStyle/>
                    <a:p>
                      <a:pPr indent="0" lvl="0" marL="0" rtl="0" algn="l">
                        <a:spcBef>
                          <a:spcPts val="0"/>
                        </a:spcBef>
                        <a:spcAft>
                          <a:spcPts val="0"/>
                        </a:spcAft>
                        <a:buNone/>
                      </a:pPr>
                      <a:r>
                        <a:t/>
                      </a:r>
                      <a:endParaRPr/>
                    </a:p>
                  </a:txBody>
                  <a:tcPr marT="91425" marB="91425" marR="91425" marL="91425">
                    <a:solidFill>
                      <a:schemeClr val="accent1"/>
                    </a:solidFil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B cap="flat" cmpd="sng" w="9525">
                      <a:solidFill>
                        <a:srgbClr val="B7B7B7"/>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accent1"/>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Create attention mask</a:t>
            </a:r>
            <a:endParaRPr/>
          </a:p>
        </p:txBody>
      </p:sp>
      <p:sp>
        <p:nvSpPr>
          <p:cNvPr id="372" name="Google Shape;372;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 1, max_query, max_key </a:t>
            </a:r>
            <a:endParaRPr/>
          </a:p>
          <a:p>
            <a:pPr indent="0" lvl="0" marL="0" rtl="0" algn="l">
              <a:spcBef>
                <a:spcPts val="1200"/>
              </a:spcBef>
              <a:spcAft>
                <a:spcPts val="0"/>
              </a:spcAft>
              <a:buNone/>
            </a:pPr>
            <a:r>
              <a:rPr lang="en"/>
              <a:t>Not a jagged mask per sequence</a:t>
            </a:r>
            <a:endParaRPr/>
          </a:p>
          <a:p>
            <a:pPr indent="0" lvl="0" marL="0" rtl="0" algn="l">
              <a:spcBef>
                <a:spcPts val="1200"/>
              </a:spcBef>
              <a:spcAft>
                <a:spcPts val="0"/>
              </a:spcAft>
              <a:buNone/>
            </a:pPr>
            <a:r>
              <a:rPr lang="en"/>
              <a:t>The 1 is for broadcasting across multiple attention heads</a:t>
            </a:r>
            <a:endParaRPr/>
          </a:p>
          <a:p>
            <a:pPr indent="0" lvl="0" marL="0" rtl="0" algn="l">
              <a:spcBef>
                <a:spcPts val="1200"/>
              </a:spcBef>
              <a:spcAft>
                <a:spcPts val="0"/>
              </a:spcAft>
              <a:buNone/>
            </a:pPr>
            <a:r>
              <a:rPr lang="en"/>
              <a:t>For sequence 2,</a:t>
            </a:r>
            <a:endParaRPr/>
          </a:p>
          <a:p>
            <a:pPr indent="0" lvl="0" marL="0" rtl="0" algn="l">
              <a:spcBef>
                <a:spcPts val="1200"/>
              </a:spcBef>
              <a:spcAft>
                <a:spcPts val="1200"/>
              </a:spcAft>
              <a:buNone/>
            </a:pPr>
            <a:r>
              <a:t/>
            </a:r>
            <a:endParaRPr/>
          </a:p>
        </p:txBody>
      </p:sp>
      <p:graphicFrame>
        <p:nvGraphicFramePr>
          <p:cNvPr id="373" name="Google Shape;373;p45"/>
          <p:cNvGraphicFramePr/>
          <p:nvPr/>
        </p:nvGraphicFramePr>
        <p:xfrm>
          <a:off x="726975" y="3337050"/>
          <a:ext cx="3000000" cy="3000000"/>
        </p:xfrm>
        <a:graphic>
          <a:graphicData uri="http://schemas.openxmlformats.org/drawingml/2006/table">
            <a:tbl>
              <a:tblPr>
                <a:noFill/>
                <a:tableStyleId>{002DFE77-02EC-4D0D-B4A5-6E3D87EE2B06}</a:tableStyleId>
              </a:tblPr>
              <a:tblGrid>
                <a:gridCol w="458775"/>
                <a:gridCol w="458775"/>
                <a:gridCol w="458775"/>
                <a:gridCol w="458775"/>
                <a:gridCol w="458775"/>
                <a:gridCol w="458775"/>
                <a:gridCol w="458775"/>
                <a:gridCol w="458775"/>
                <a:gridCol w="458775"/>
              </a:tblGrid>
              <a:tr h="381000">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rPr lang="en"/>
                        <a:t>-inf</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Create attention mask</a:t>
            </a:r>
            <a:endParaRPr/>
          </a:p>
          <a:p>
            <a:pPr indent="0" lvl="0" marL="0" rtl="0" algn="l">
              <a:spcBef>
                <a:spcPts val="0"/>
              </a:spcBef>
              <a:spcAft>
                <a:spcPts val="0"/>
              </a:spcAft>
              <a:buNone/>
            </a:pPr>
            <a:r>
              <a:t/>
            </a:r>
            <a:endParaRPr/>
          </a:p>
        </p:txBody>
      </p:sp>
      <p:sp>
        <p:nvSpPr>
          <p:cNvPr id="379" name="Google Shape;379;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seq 3</a:t>
            </a:r>
            <a:endParaRPr/>
          </a:p>
          <a:p>
            <a:pPr indent="0" lvl="0" marL="0" rtl="0" algn="l">
              <a:spcBef>
                <a:spcPts val="1200"/>
              </a:spcBef>
              <a:spcAft>
                <a:spcPts val="0"/>
              </a:spcAft>
              <a:buNone/>
            </a:pPr>
            <a:r>
              <a:rPr lang="en"/>
              <a:t>Talk about sliding window attention</a:t>
            </a:r>
            <a:endParaRPr/>
          </a:p>
          <a:p>
            <a:pPr indent="0" lvl="0" marL="0" rtl="0" algn="l">
              <a:spcBef>
                <a:spcPts val="1200"/>
              </a:spcBef>
              <a:spcAft>
                <a:spcPts val="1200"/>
              </a:spcAft>
              <a:buNone/>
            </a:pPr>
            <a:r>
              <a:t/>
            </a:r>
            <a:endParaRPr/>
          </a:p>
        </p:txBody>
      </p:sp>
      <p:graphicFrame>
        <p:nvGraphicFramePr>
          <p:cNvPr id="380" name="Google Shape;380;p46"/>
          <p:cNvGraphicFramePr/>
          <p:nvPr/>
        </p:nvGraphicFramePr>
        <p:xfrm>
          <a:off x="4094600" y="1017725"/>
          <a:ext cx="3000000" cy="3000000"/>
        </p:xfrm>
        <a:graphic>
          <a:graphicData uri="http://schemas.openxmlformats.org/drawingml/2006/table">
            <a:tbl>
              <a:tblPr>
                <a:noFill/>
                <a:tableStyleId>{002DFE77-02EC-4D0D-B4A5-6E3D87EE2B06}</a:tableStyleId>
              </a:tblPr>
              <a:tblGrid>
                <a:gridCol w="458775"/>
                <a:gridCol w="458775"/>
                <a:gridCol w="458775"/>
                <a:gridCol w="458775"/>
                <a:gridCol w="458775"/>
                <a:gridCol w="458775"/>
                <a:gridCol w="458775"/>
                <a:gridCol w="458775"/>
                <a:gridCol w="458775"/>
              </a:tblGrid>
              <a:tr h="381000">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rPr lang="en">
                          <a:solidFill>
                            <a:schemeClr val="dk1"/>
                          </a:solidFill>
                        </a:rPr>
                        <a:t>-inf</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-inf</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rPr lang="en">
                          <a:solidFill>
                            <a:schemeClr val="dk1"/>
                          </a:solidFill>
                        </a:rPr>
                        <a:t>-inf</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c>
                  <a:txBody>
                    <a:bodyPr/>
                    <a:lstStyle/>
                    <a:p>
                      <a:pPr indent="0" lvl="0" marL="0" rtl="0" algn="l">
                        <a:spcBef>
                          <a:spcPts val="0"/>
                        </a:spcBef>
                        <a:spcAft>
                          <a:spcPts val="0"/>
                        </a:spcAft>
                        <a:buNone/>
                      </a:pPr>
                      <a:r>
                        <a:t/>
                      </a:r>
                      <a:endParaRPr/>
                    </a:p>
                  </a:txBody>
                  <a:tcPr marT="91425" marB="91425" marR="91425" marL="91425">
                    <a:solidFill>
                      <a:schemeClr val="accent5"/>
                    </a:solidFill>
                  </a:tcPr>
                </a:tc>
              </a:tr>
              <a:tr h="381000">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-inf</a:t>
                      </a:r>
                      <a:endParaRPr/>
                    </a:p>
                  </a:txBody>
                  <a:tcPr marT="91425" marB="91425" marR="91425" marL="91425">
                    <a:solidFill>
                      <a:schemeClr val="lt1"/>
                    </a:solidFill>
                  </a:tcPr>
                </a:tc>
                <a:tc>
                  <a:txBody>
                    <a:bodyPr/>
                    <a:lstStyle/>
                    <a:p>
                      <a:pPr indent="0" lvl="0" marL="0" rtl="0" algn="l">
                        <a:spcBef>
                          <a:spcPts val="0"/>
                        </a:spcBef>
                        <a:spcAft>
                          <a:spcPts val="0"/>
                        </a:spcAft>
                        <a:buNone/>
                      </a:pPr>
                      <a:r>
                        <a:rPr lang="en">
                          <a:solidFill>
                            <a:schemeClr val="dk1"/>
                          </a:solidFill>
                        </a:rPr>
                        <a:t>-inf</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-inf</a:t>
                      </a:r>
                      <a:endParaRPr/>
                    </a:p>
                  </a:txBody>
                  <a:tcPr marT="91425" marB="91425" marR="91425" marL="91425"/>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Decode</a:t>
            </a:r>
            <a:endParaRPr/>
          </a:p>
        </p:txBody>
      </p:sp>
      <p:sp>
        <p:nvSpPr>
          <p:cNvPr id="386" name="Google Shape;386;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For decode, we just need to calculate kv for the last decoded token.. So input_ids is the last token for each request.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Calling attention</a:t>
            </a:r>
            <a:endParaRPr/>
          </a:p>
        </p:txBody>
      </p:sp>
      <p:pic>
        <p:nvPicPr>
          <p:cNvPr id="392" name="Google Shape;392;p48"/>
          <p:cNvPicPr preferRelativeResize="0"/>
          <p:nvPr/>
        </p:nvPicPr>
        <p:blipFill>
          <a:blip r:embed="rId3">
            <a:alphaModFix/>
          </a:blip>
          <a:stretch>
            <a:fillRect/>
          </a:stretch>
        </p:blipFill>
        <p:spPr>
          <a:xfrm>
            <a:off x="599138" y="2116513"/>
            <a:ext cx="6924675" cy="1914525"/>
          </a:xfrm>
          <a:prstGeom prst="rect">
            <a:avLst/>
          </a:prstGeom>
          <a:noFill/>
          <a:ln>
            <a:noFill/>
          </a:ln>
        </p:spPr>
      </p:pic>
      <p:sp>
        <p:nvSpPr>
          <p:cNvPr id="393" name="Google Shape;393;p48"/>
          <p:cNvSpPr txBox="1"/>
          <p:nvPr/>
        </p:nvSpPr>
        <p:spPr>
          <a:xfrm>
            <a:off x="4305450" y="262000"/>
            <a:ext cx="4216200" cy="193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query_lengths = [</a:t>
            </a:r>
            <a:r>
              <a:rPr lang="en" sz="1500">
                <a:solidFill>
                  <a:schemeClr val="dk2"/>
                </a:solidFill>
              </a:rPr>
              <a:t>2, 4, 3]</a:t>
            </a:r>
            <a:endParaRPr sz="1500">
              <a:solidFill>
                <a:schemeClr val="dk2"/>
              </a:solidFill>
            </a:endParaRPr>
          </a:p>
          <a:p>
            <a:pPr indent="0" lvl="0" marL="0" rtl="0" algn="l">
              <a:spcBef>
                <a:spcPts val="0"/>
              </a:spcBef>
              <a:spcAft>
                <a:spcPts val="0"/>
              </a:spcAft>
              <a:buNone/>
            </a:pPr>
            <a:r>
              <a:rPr lang="en" sz="1500">
                <a:solidFill>
                  <a:schemeClr val="dk2"/>
                </a:solidFill>
              </a:rPr>
              <a:t>Past_lens = [0, 3, 6]: cached k/v len per sequence</a:t>
            </a:r>
            <a:endParaRPr sz="1500">
              <a:solidFill>
                <a:schemeClr val="dk2"/>
              </a:solidFill>
            </a:endParaRPr>
          </a:p>
          <a:p>
            <a:pPr indent="0" lvl="0" marL="0" rtl="0" algn="l">
              <a:spcBef>
                <a:spcPts val="0"/>
              </a:spcBef>
              <a:spcAft>
                <a:spcPts val="0"/>
              </a:spcAft>
              <a:buClr>
                <a:schemeClr val="dk1"/>
              </a:buClr>
              <a:buSzPts val="1100"/>
              <a:buFont typeface="Arial"/>
              <a:buNone/>
            </a:pPr>
            <a:r>
              <a:rPr lang="en" sz="1800">
                <a:solidFill>
                  <a:schemeClr val="dk2"/>
                </a:solidFill>
              </a:rPr>
              <a:t>key_lengths = [</a:t>
            </a:r>
            <a:r>
              <a:rPr lang="en" sz="1500">
                <a:solidFill>
                  <a:schemeClr val="dk2"/>
                </a:solidFill>
              </a:rPr>
              <a:t>2, 7, 9]: note: doesn’t have to be the sum of query_len + past_len.. Eg., for sliding window attention!</a:t>
            </a:r>
            <a:endParaRPr sz="15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Paged Attention: Memory Savings</a:t>
            </a:r>
            <a:endParaRPr/>
          </a:p>
        </p:txBody>
      </p:sp>
      <p:pic>
        <p:nvPicPr>
          <p:cNvPr id="399" name="Google Shape;399;p49"/>
          <p:cNvPicPr preferRelativeResize="0"/>
          <p:nvPr/>
        </p:nvPicPr>
        <p:blipFill>
          <a:blip r:embed="rId3">
            <a:alphaModFix/>
          </a:blip>
          <a:stretch>
            <a:fillRect/>
          </a:stretch>
        </p:blipFill>
        <p:spPr>
          <a:xfrm>
            <a:off x="267275" y="1170125"/>
            <a:ext cx="5712986" cy="38209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vLLM and FlashAttention</a:t>
            </a:r>
            <a:endParaRPr/>
          </a:p>
        </p:txBody>
      </p:sp>
      <p:sp>
        <p:nvSpPr>
          <p:cNvPr id="405" name="Google Shape;405;p50"/>
          <p:cNvSpPr/>
          <p:nvPr/>
        </p:nvSpPr>
        <p:spPr>
          <a:xfrm>
            <a:off x="5177575" y="507850"/>
            <a:ext cx="2369700" cy="63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User / Client </a:t>
            </a:r>
            <a:r>
              <a:rPr lang="en" sz="1100"/>
              <a:t>                                               </a:t>
            </a:r>
            <a:endParaRPr sz="1100"/>
          </a:p>
          <a:p>
            <a:pPr indent="0" lvl="0" marL="0" rtl="0" algn="ctr">
              <a:spcBef>
                <a:spcPts val="0"/>
              </a:spcBef>
              <a:spcAft>
                <a:spcPts val="0"/>
              </a:spcAft>
              <a:buNone/>
            </a:pPr>
            <a:r>
              <a:rPr lang="en" sz="1100"/>
              <a:t>OpenAI-compatible API, Python API, batch/offline inference</a:t>
            </a:r>
            <a:endParaRPr sz="1100"/>
          </a:p>
        </p:txBody>
      </p:sp>
      <p:sp>
        <p:nvSpPr>
          <p:cNvPr id="406" name="Google Shape;406;p50"/>
          <p:cNvSpPr/>
          <p:nvPr/>
        </p:nvSpPr>
        <p:spPr>
          <a:xfrm>
            <a:off x="5177575" y="1481638"/>
            <a:ext cx="2369700" cy="63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vLLM serving/runtime layer</a:t>
            </a:r>
            <a:endParaRPr b="1" sz="1100"/>
          </a:p>
          <a:p>
            <a:pPr indent="0" lvl="0" marL="0" rtl="0" algn="ctr">
              <a:spcBef>
                <a:spcPts val="0"/>
              </a:spcBef>
              <a:spcAft>
                <a:spcPts val="0"/>
              </a:spcAft>
              <a:buNone/>
            </a:pPr>
            <a:r>
              <a:rPr lang="en" sz="1100"/>
              <a:t>request intake, streaming outputs, cancellation, metrics </a:t>
            </a:r>
            <a:endParaRPr sz="1100"/>
          </a:p>
        </p:txBody>
      </p:sp>
      <p:sp>
        <p:nvSpPr>
          <p:cNvPr id="407" name="Google Shape;407;p50"/>
          <p:cNvSpPr/>
          <p:nvPr/>
        </p:nvSpPr>
        <p:spPr>
          <a:xfrm>
            <a:off x="4345825" y="2411988"/>
            <a:ext cx="4033200" cy="63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vLLM engine core</a:t>
            </a:r>
            <a:endParaRPr b="1" sz="1100"/>
          </a:p>
          <a:p>
            <a:pPr indent="0" lvl="0" marL="0" rtl="0" algn="ctr">
              <a:spcBef>
                <a:spcPts val="0"/>
              </a:spcBef>
              <a:spcAft>
                <a:spcPts val="0"/>
              </a:spcAft>
              <a:buNone/>
            </a:pPr>
            <a:r>
              <a:rPr lang="en" sz="1100"/>
              <a:t>scheduler, continuous batching, KV-cache manager,prefix cache, block table, model execution coordination</a:t>
            </a:r>
            <a:endParaRPr sz="1100"/>
          </a:p>
        </p:txBody>
      </p:sp>
      <p:sp>
        <p:nvSpPr>
          <p:cNvPr id="408" name="Google Shape;408;p50"/>
          <p:cNvSpPr/>
          <p:nvPr/>
        </p:nvSpPr>
        <p:spPr>
          <a:xfrm>
            <a:off x="4538425" y="3385738"/>
            <a:ext cx="3648000" cy="63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GPU worker / model executor</a:t>
            </a:r>
            <a:endParaRPr b="1" sz="1100"/>
          </a:p>
          <a:p>
            <a:pPr indent="0" lvl="0" marL="0" rtl="0" algn="ctr">
              <a:spcBef>
                <a:spcPts val="0"/>
              </a:spcBef>
              <a:spcAft>
                <a:spcPts val="0"/>
              </a:spcAft>
              <a:buNone/>
            </a:pPr>
            <a:r>
              <a:rPr lang="en" sz="1100"/>
              <a:t>runs transformer layers, handles TP/PP/DP/EP communication</a:t>
            </a:r>
            <a:endParaRPr sz="1100"/>
          </a:p>
        </p:txBody>
      </p:sp>
      <p:sp>
        <p:nvSpPr>
          <p:cNvPr id="409" name="Google Shape;409;p50"/>
          <p:cNvSpPr/>
          <p:nvPr/>
        </p:nvSpPr>
        <p:spPr>
          <a:xfrm>
            <a:off x="4538425" y="4444375"/>
            <a:ext cx="3648000" cy="63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Per-layer kernels</a:t>
            </a:r>
            <a:endParaRPr b="1" sz="1100"/>
          </a:p>
          <a:p>
            <a:pPr indent="0" lvl="0" marL="0" rtl="0" algn="ctr">
              <a:spcBef>
                <a:spcPts val="0"/>
              </a:spcBef>
              <a:spcAft>
                <a:spcPts val="0"/>
              </a:spcAft>
              <a:buNone/>
            </a:pPr>
            <a:r>
              <a:rPr lang="en" sz="1100"/>
              <a:t>attention kernels, GEMM kernels, MoE kernels, norm kernels, quantization kernels, sampling kernels </a:t>
            </a:r>
            <a:endParaRPr sz="1100"/>
          </a:p>
        </p:txBody>
      </p:sp>
      <p:cxnSp>
        <p:nvCxnSpPr>
          <p:cNvPr id="410" name="Google Shape;410;p50"/>
          <p:cNvCxnSpPr>
            <a:stCxn id="405" idx="2"/>
            <a:endCxn id="406" idx="0"/>
          </p:cNvCxnSpPr>
          <p:nvPr/>
        </p:nvCxnSpPr>
        <p:spPr>
          <a:xfrm>
            <a:off x="6362425" y="1145950"/>
            <a:ext cx="0" cy="335700"/>
          </a:xfrm>
          <a:prstGeom prst="straightConnector1">
            <a:avLst/>
          </a:prstGeom>
          <a:noFill/>
          <a:ln cap="flat" cmpd="sng" w="9525">
            <a:solidFill>
              <a:schemeClr val="dk2"/>
            </a:solidFill>
            <a:prstDash val="solid"/>
            <a:round/>
            <a:headEnd len="med" w="med" type="none"/>
            <a:tailEnd len="med" w="med" type="triangle"/>
          </a:ln>
        </p:spPr>
      </p:cxnSp>
      <p:cxnSp>
        <p:nvCxnSpPr>
          <p:cNvPr id="411" name="Google Shape;411;p50"/>
          <p:cNvCxnSpPr>
            <a:stCxn id="406" idx="2"/>
            <a:endCxn id="407" idx="0"/>
          </p:cNvCxnSpPr>
          <p:nvPr/>
        </p:nvCxnSpPr>
        <p:spPr>
          <a:xfrm>
            <a:off x="6362425" y="2119738"/>
            <a:ext cx="0" cy="292200"/>
          </a:xfrm>
          <a:prstGeom prst="straightConnector1">
            <a:avLst/>
          </a:prstGeom>
          <a:noFill/>
          <a:ln cap="flat" cmpd="sng" w="9525">
            <a:solidFill>
              <a:schemeClr val="dk2"/>
            </a:solidFill>
            <a:prstDash val="solid"/>
            <a:round/>
            <a:headEnd len="med" w="med" type="none"/>
            <a:tailEnd len="med" w="med" type="triangle"/>
          </a:ln>
        </p:spPr>
      </p:cxnSp>
      <p:cxnSp>
        <p:nvCxnSpPr>
          <p:cNvPr id="412" name="Google Shape;412;p50"/>
          <p:cNvCxnSpPr>
            <a:stCxn id="407" idx="2"/>
            <a:endCxn id="408" idx="0"/>
          </p:cNvCxnSpPr>
          <p:nvPr/>
        </p:nvCxnSpPr>
        <p:spPr>
          <a:xfrm>
            <a:off x="6362425" y="3050088"/>
            <a:ext cx="0" cy="335700"/>
          </a:xfrm>
          <a:prstGeom prst="straightConnector1">
            <a:avLst/>
          </a:prstGeom>
          <a:noFill/>
          <a:ln cap="flat" cmpd="sng" w="9525">
            <a:solidFill>
              <a:schemeClr val="dk2"/>
            </a:solidFill>
            <a:prstDash val="solid"/>
            <a:round/>
            <a:headEnd len="med" w="med" type="none"/>
            <a:tailEnd len="med" w="med" type="triangle"/>
          </a:ln>
        </p:spPr>
      </p:cxnSp>
      <p:cxnSp>
        <p:nvCxnSpPr>
          <p:cNvPr id="413" name="Google Shape;413;p50"/>
          <p:cNvCxnSpPr>
            <a:stCxn id="408" idx="2"/>
            <a:endCxn id="409" idx="0"/>
          </p:cNvCxnSpPr>
          <p:nvPr/>
        </p:nvCxnSpPr>
        <p:spPr>
          <a:xfrm>
            <a:off x="6362425" y="4023838"/>
            <a:ext cx="0" cy="420600"/>
          </a:xfrm>
          <a:prstGeom prst="straightConnector1">
            <a:avLst/>
          </a:prstGeom>
          <a:noFill/>
          <a:ln cap="flat" cmpd="sng" w="9525">
            <a:solidFill>
              <a:schemeClr val="dk2"/>
            </a:solidFill>
            <a:prstDash val="solid"/>
            <a:round/>
            <a:headEnd len="med" w="med" type="none"/>
            <a:tailEnd len="med" w="med" type="triangle"/>
          </a:ln>
        </p:spPr>
      </p:cxnSp>
      <p:cxnSp>
        <p:nvCxnSpPr>
          <p:cNvPr id="414" name="Google Shape;414;p50"/>
          <p:cNvCxnSpPr/>
          <p:nvPr/>
        </p:nvCxnSpPr>
        <p:spPr>
          <a:xfrm rot="10800000">
            <a:off x="6313475" y="4221925"/>
            <a:ext cx="0" cy="23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1"/>
          <p:cNvSpPr txBox="1"/>
          <p:nvPr>
            <p:ph type="title"/>
          </p:nvPr>
        </p:nvSpPr>
        <p:spPr>
          <a:xfrm>
            <a:off x="311700" y="445025"/>
            <a:ext cx="4159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vLLM and FlashAttention</a:t>
            </a:r>
            <a:endParaRPr/>
          </a:p>
        </p:txBody>
      </p:sp>
      <p:sp>
        <p:nvSpPr>
          <p:cNvPr id="420" name="Google Shape;420;p51"/>
          <p:cNvSpPr txBox="1"/>
          <p:nvPr/>
        </p:nvSpPr>
        <p:spPr>
          <a:xfrm>
            <a:off x="5102550" y="4514463"/>
            <a:ext cx="2450400" cy="615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Input token embedding lookup, position embeddings</a:t>
            </a:r>
            <a:endParaRPr>
              <a:solidFill>
                <a:schemeClr val="dk2"/>
              </a:solidFill>
            </a:endParaRPr>
          </a:p>
        </p:txBody>
      </p:sp>
      <p:sp>
        <p:nvSpPr>
          <p:cNvPr id="421" name="Google Shape;421;p51"/>
          <p:cNvSpPr txBox="1"/>
          <p:nvPr/>
        </p:nvSpPr>
        <p:spPr>
          <a:xfrm>
            <a:off x="5102550" y="3880663"/>
            <a:ext cx="24504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For each transformer layer</a:t>
            </a:r>
            <a:endParaRPr>
              <a:solidFill>
                <a:schemeClr val="dk2"/>
              </a:solidFill>
            </a:endParaRPr>
          </a:p>
        </p:txBody>
      </p:sp>
      <p:sp>
        <p:nvSpPr>
          <p:cNvPr id="422" name="Google Shape;422;p51"/>
          <p:cNvSpPr txBox="1"/>
          <p:nvPr/>
        </p:nvSpPr>
        <p:spPr>
          <a:xfrm>
            <a:off x="5102550" y="3246863"/>
            <a:ext cx="24504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RMS/LayerNorm kernel</a:t>
            </a:r>
            <a:endParaRPr>
              <a:solidFill>
                <a:schemeClr val="dk2"/>
              </a:solidFill>
            </a:endParaRPr>
          </a:p>
        </p:txBody>
      </p:sp>
      <p:sp>
        <p:nvSpPr>
          <p:cNvPr id="423" name="Google Shape;423;p51"/>
          <p:cNvSpPr txBox="1"/>
          <p:nvPr/>
        </p:nvSpPr>
        <p:spPr>
          <a:xfrm>
            <a:off x="4879200" y="2630588"/>
            <a:ext cx="28971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QKV Projection: matmul kernel</a:t>
            </a:r>
            <a:endParaRPr>
              <a:solidFill>
                <a:schemeClr val="dk2"/>
              </a:solidFill>
            </a:endParaRPr>
          </a:p>
        </p:txBody>
      </p:sp>
      <p:sp>
        <p:nvSpPr>
          <p:cNvPr id="424" name="Google Shape;424;p51"/>
          <p:cNvSpPr txBox="1"/>
          <p:nvPr/>
        </p:nvSpPr>
        <p:spPr>
          <a:xfrm>
            <a:off x="4913250" y="1995950"/>
            <a:ext cx="28290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Attention: FlashAttention kernel</a:t>
            </a:r>
            <a:endParaRPr>
              <a:solidFill>
                <a:schemeClr val="dk2"/>
              </a:solidFill>
            </a:endParaRPr>
          </a:p>
        </p:txBody>
      </p:sp>
      <p:sp>
        <p:nvSpPr>
          <p:cNvPr id="425" name="Google Shape;425;p51"/>
          <p:cNvSpPr txBox="1"/>
          <p:nvPr/>
        </p:nvSpPr>
        <p:spPr>
          <a:xfrm>
            <a:off x="4913250" y="1331650"/>
            <a:ext cx="28290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Output Projection: matmul kernel</a:t>
            </a:r>
            <a:endParaRPr>
              <a:solidFill>
                <a:schemeClr val="dk2"/>
              </a:solidFill>
            </a:endParaRPr>
          </a:p>
        </p:txBody>
      </p:sp>
      <p:sp>
        <p:nvSpPr>
          <p:cNvPr id="426" name="Google Shape;426;p51"/>
          <p:cNvSpPr txBox="1"/>
          <p:nvPr/>
        </p:nvSpPr>
        <p:spPr>
          <a:xfrm>
            <a:off x="4913250" y="744450"/>
            <a:ext cx="28290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MLP: matmul kernel</a:t>
            </a:r>
            <a:endParaRPr>
              <a:solidFill>
                <a:schemeClr val="dk2"/>
              </a:solidFill>
            </a:endParaRPr>
          </a:p>
        </p:txBody>
      </p:sp>
      <p:sp>
        <p:nvSpPr>
          <p:cNvPr id="427" name="Google Shape;427;p51"/>
          <p:cNvSpPr txBox="1"/>
          <p:nvPr/>
        </p:nvSpPr>
        <p:spPr>
          <a:xfrm>
            <a:off x="4913250" y="183677"/>
            <a:ext cx="28290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Sampling kernel</a:t>
            </a:r>
            <a:endParaRPr>
              <a:solidFill>
                <a:schemeClr val="dk2"/>
              </a:solidFill>
            </a:endParaRPr>
          </a:p>
        </p:txBody>
      </p:sp>
      <p:cxnSp>
        <p:nvCxnSpPr>
          <p:cNvPr id="428" name="Google Shape;428;p51"/>
          <p:cNvCxnSpPr>
            <a:stCxn id="420" idx="0"/>
            <a:endCxn id="421" idx="2"/>
          </p:cNvCxnSpPr>
          <p:nvPr/>
        </p:nvCxnSpPr>
        <p:spPr>
          <a:xfrm rot="10800000">
            <a:off x="6327750" y="4280763"/>
            <a:ext cx="0" cy="233700"/>
          </a:xfrm>
          <a:prstGeom prst="straightConnector1">
            <a:avLst/>
          </a:prstGeom>
          <a:noFill/>
          <a:ln cap="flat" cmpd="sng" w="9525">
            <a:solidFill>
              <a:schemeClr val="dk2"/>
            </a:solidFill>
            <a:prstDash val="solid"/>
            <a:round/>
            <a:headEnd len="med" w="med" type="none"/>
            <a:tailEnd len="med" w="med" type="triangle"/>
          </a:ln>
        </p:spPr>
      </p:cxnSp>
      <p:cxnSp>
        <p:nvCxnSpPr>
          <p:cNvPr id="429" name="Google Shape;429;p51"/>
          <p:cNvCxnSpPr>
            <a:stCxn id="421" idx="0"/>
            <a:endCxn id="422" idx="2"/>
          </p:cNvCxnSpPr>
          <p:nvPr/>
        </p:nvCxnSpPr>
        <p:spPr>
          <a:xfrm rot="10800000">
            <a:off x="6327750" y="3646963"/>
            <a:ext cx="0" cy="233700"/>
          </a:xfrm>
          <a:prstGeom prst="straightConnector1">
            <a:avLst/>
          </a:prstGeom>
          <a:noFill/>
          <a:ln cap="flat" cmpd="sng" w="9525">
            <a:solidFill>
              <a:schemeClr val="dk2"/>
            </a:solidFill>
            <a:prstDash val="solid"/>
            <a:round/>
            <a:headEnd len="med" w="med" type="none"/>
            <a:tailEnd len="med" w="med" type="triangle"/>
          </a:ln>
        </p:spPr>
      </p:cxnSp>
      <p:cxnSp>
        <p:nvCxnSpPr>
          <p:cNvPr id="430" name="Google Shape;430;p51"/>
          <p:cNvCxnSpPr/>
          <p:nvPr/>
        </p:nvCxnSpPr>
        <p:spPr>
          <a:xfrm rot="10800000">
            <a:off x="6327750" y="3021725"/>
            <a:ext cx="0" cy="233700"/>
          </a:xfrm>
          <a:prstGeom prst="straightConnector1">
            <a:avLst/>
          </a:prstGeom>
          <a:noFill/>
          <a:ln cap="flat" cmpd="sng" w="9525">
            <a:solidFill>
              <a:schemeClr val="dk2"/>
            </a:solidFill>
            <a:prstDash val="solid"/>
            <a:round/>
            <a:headEnd len="med" w="med" type="none"/>
            <a:tailEnd len="med" w="med" type="triangle"/>
          </a:ln>
        </p:spPr>
      </p:cxnSp>
      <p:cxnSp>
        <p:nvCxnSpPr>
          <p:cNvPr id="431" name="Google Shape;431;p51"/>
          <p:cNvCxnSpPr/>
          <p:nvPr/>
        </p:nvCxnSpPr>
        <p:spPr>
          <a:xfrm rot="10800000">
            <a:off x="6327750" y="2396513"/>
            <a:ext cx="0" cy="233700"/>
          </a:xfrm>
          <a:prstGeom prst="straightConnector1">
            <a:avLst/>
          </a:prstGeom>
          <a:noFill/>
          <a:ln cap="flat" cmpd="sng" w="9525">
            <a:solidFill>
              <a:schemeClr val="dk2"/>
            </a:solidFill>
            <a:prstDash val="solid"/>
            <a:round/>
            <a:headEnd len="med" w="med" type="none"/>
            <a:tailEnd len="med" w="med" type="triangle"/>
          </a:ln>
        </p:spPr>
      </p:cxnSp>
      <p:cxnSp>
        <p:nvCxnSpPr>
          <p:cNvPr id="432" name="Google Shape;432;p51"/>
          <p:cNvCxnSpPr>
            <a:stCxn id="424" idx="0"/>
            <a:endCxn id="425" idx="2"/>
          </p:cNvCxnSpPr>
          <p:nvPr/>
        </p:nvCxnSpPr>
        <p:spPr>
          <a:xfrm rot="10800000">
            <a:off x="6327750" y="1731950"/>
            <a:ext cx="0" cy="264000"/>
          </a:xfrm>
          <a:prstGeom prst="straightConnector1">
            <a:avLst/>
          </a:prstGeom>
          <a:noFill/>
          <a:ln cap="flat" cmpd="sng" w="9525">
            <a:solidFill>
              <a:schemeClr val="dk2"/>
            </a:solidFill>
            <a:prstDash val="solid"/>
            <a:round/>
            <a:headEnd len="med" w="med" type="none"/>
            <a:tailEnd len="med" w="med" type="triangle"/>
          </a:ln>
        </p:spPr>
      </p:cxnSp>
      <p:cxnSp>
        <p:nvCxnSpPr>
          <p:cNvPr id="433" name="Google Shape;433;p51"/>
          <p:cNvCxnSpPr>
            <a:stCxn id="425" idx="0"/>
            <a:endCxn id="426" idx="2"/>
          </p:cNvCxnSpPr>
          <p:nvPr/>
        </p:nvCxnSpPr>
        <p:spPr>
          <a:xfrm rot="10800000">
            <a:off x="6327750" y="1144750"/>
            <a:ext cx="0" cy="186900"/>
          </a:xfrm>
          <a:prstGeom prst="straightConnector1">
            <a:avLst/>
          </a:prstGeom>
          <a:noFill/>
          <a:ln cap="flat" cmpd="sng" w="9525">
            <a:solidFill>
              <a:schemeClr val="dk2"/>
            </a:solidFill>
            <a:prstDash val="solid"/>
            <a:round/>
            <a:headEnd len="med" w="med" type="none"/>
            <a:tailEnd len="med" w="med" type="triangle"/>
          </a:ln>
        </p:spPr>
      </p:cxnSp>
      <p:cxnSp>
        <p:nvCxnSpPr>
          <p:cNvPr id="434" name="Google Shape;434;p51"/>
          <p:cNvCxnSpPr>
            <a:stCxn id="426" idx="0"/>
            <a:endCxn id="427" idx="2"/>
          </p:cNvCxnSpPr>
          <p:nvPr/>
        </p:nvCxnSpPr>
        <p:spPr>
          <a:xfrm rot="10800000">
            <a:off x="6327750" y="583950"/>
            <a:ext cx="0" cy="160500"/>
          </a:xfrm>
          <a:prstGeom prst="straightConnector1">
            <a:avLst/>
          </a:prstGeom>
          <a:noFill/>
          <a:ln cap="flat" cmpd="sng" w="9525">
            <a:solidFill>
              <a:schemeClr val="dk2"/>
            </a:solidFill>
            <a:prstDash val="solid"/>
            <a:round/>
            <a:headEnd len="med" w="med" type="none"/>
            <a:tailEnd len="med" w="med" type="triangle"/>
          </a:ln>
        </p:spPr>
      </p:cxnSp>
      <p:cxnSp>
        <p:nvCxnSpPr>
          <p:cNvPr id="435" name="Google Shape;435;p51"/>
          <p:cNvCxnSpPr>
            <a:stCxn id="426" idx="3"/>
            <a:endCxn id="421" idx="3"/>
          </p:cNvCxnSpPr>
          <p:nvPr/>
        </p:nvCxnSpPr>
        <p:spPr>
          <a:xfrm flipH="1">
            <a:off x="7552950" y="944550"/>
            <a:ext cx="189300" cy="3136200"/>
          </a:xfrm>
          <a:prstGeom prst="bentConnector3">
            <a:avLst>
              <a:gd fmla="val -125792"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Arithmetic Intensity</a:t>
            </a:r>
            <a:endParaRPr/>
          </a:p>
        </p:txBody>
      </p:sp>
      <p:sp>
        <p:nvSpPr>
          <p:cNvPr id="441" name="Google Shape;441;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Arithmetic Intensity (AI):</a:t>
            </a:r>
            <a:r>
              <a:rPr lang="en"/>
              <a:t> How much computation we do per unit of data moved</a:t>
            </a:r>
            <a:endParaRPr/>
          </a:p>
          <a:p>
            <a:pPr indent="0" lvl="0" marL="0" rtl="0" algn="l">
              <a:spcBef>
                <a:spcPts val="1200"/>
              </a:spcBef>
              <a:spcAft>
                <a:spcPts val="0"/>
              </a:spcAft>
              <a:buNone/>
            </a:pPr>
            <a:r>
              <a:rPr lang="en"/>
              <a:t>AI = FLOPs/Bytes moved</a:t>
            </a:r>
            <a:endParaRPr/>
          </a:p>
          <a:p>
            <a:pPr indent="0" lvl="0" marL="0" rtl="0" algn="l">
              <a:spcBef>
                <a:spcPts val="1200"/>
              </a:spcBef>
              <a:spcAft>
                <a:spcPts val="0"/>
              </a:spcAft>
              <a:buNone/>
            </a:pPr>
            <a:r>
              <a:rPr lang="en"/>
              <a:t>High AI: Lot of math per unit data moved, compute bound </a:t>
            </a:r>
            <a:endParaRPr/>
          </a:p>
          <a:p>
            <a:pPr indent="0" lvl="0" marL="0" rtl="0" algn="l">
              <a:spcBef>
                <a:spcPts val="1200"/>
              </a:spcBef>
              <a:spcAft>
                <a:spcPts val="0"/>
              </a:spcAft>
              <a:buNone/>
            </a:pPr>
            <a:r>
              <a:rPr lang="en"/>
              <a:t>Low</a:t>
            </a:r>
            <a:r>
              <a:rPr lang="en"/>
              <a:t> AI: Little math per unit data moved, memory bandwidth-bound </a:t>
            </a:r>
            <a:endParaRPr/>
          </a:p>
          <a:p>
            <a:pPr indent="0" lvl="0" marL="0" rtl="0" algn="l">
              <a:spcBef>
                <a:spcPts val="1200"/>
              </a:spcBef>
              <a:spcAft>
                <a:spcPts val="0"/>
              </a:spcAft>
              <a:buNone/>
            </a:pPr>
            <a:r>
              <a:rPr b="1" lang="en"/>
              <a:t>Examples</a:t>
            </a:r>
            <a:endParaRPr b="1"/>
          </a:p>
          <a:p>
            <a:pPr indent="0" lvl="0" marL="0" rtl="0" algn="l">
              <a:spcBef>
                <a:spcPts val="1200"/>
              </a:spcBef>
              <a:spcAft>
                <a:spcPts val="0"/>
              </a:spcAft>
              <a:buNone/>
            </a:pPr>
            <a:r>
              <a:rPr lang="en"/>
              <a:t>y = x + 1: just one calculation for 1 R/W</a:t>
            </a:r>
            <a:endParaRPr/>
          </a:p>
          <a:p>
            <a:pPr indent="0" lvl="0" marL="0" rtl="0" algn="l">
              <a:spcBef>
                <a:spcPts val="1200"/>
              </a:spcBef>
              <a:spcAft>
                <a:spcPts val="1200"/>
              </a:spcAft>
              <a:buClr>
                <a:schemeClr val="dk1"/>
              </a:buClr>
              <a:buSzPts val="1100"/>
              <a:buFont typeface="Arial"/>
              <a:buNone/>
            </a:pPr>
            <a:r>
              <a:rPr lang="en"/>
              <a:t>Matrix Multiplication: High AI (each row/col is used to calculate several elements of the output matrix)</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FlashAttention	</a:t>
            </a:r>
            <a:endParaRPr/>
          </a:p>
        </p:txBody>
      </p:sp>
      <p:pic>
        <p:nvPicPr>
          <p:cNvPr descr="{&quot;font&quot;:{&quot;family&quot;:&quot;Arial&quot;,&quot;color&quot;:&quot;#595959&quot;,&quot;size&quot;:14},&quot;type&quot;:&quot;gather*&quot;,&quot;aid&quot;:null,&quot;code&quot;:&quot;\\begin{gather*}\n{\\text{Recall}\\;\\text{Softmax}\\;\\text{Operation}}\\\\\n{\\text{For}\\;\\text{one}\\;\\text{attention}\\;\\text{head,}\\;\\text{sequence}\\;\\text{length}\\;N,\\,\\text{head}\\;\\text{dimension}\\;d}\\\\\n{Q,K,V\\,\\in\\Re^{N\\times d}}\\\\\n{\\,\\text{Scaled}\\;\\text{dot}\\;\\text{product}\\;\\text{attention}\\;\\text{}}\\\\\n{S=\\frac{QK^{T}}{{\\sqrt[]{d}}}\\,\\left(N\\times N\\right)}\\\\\n{P=\\text{Softmax(S)}\\,\\left(N\\times N\\right)}\\\\\n{O=PV\\,\\left(N\\times d\\right)}\\\\\n{\\text{Complexity:}\\;\\text{O(}N^{2}d\\text{)}}\t\n\\end{gather*}&quot;,&quot;id&quot;:&quot;6&quot;,&quot;backgroundColorModified&quot;:false,&quot;backgroundColor&quot;:&quot;#FFFFFF&quot;,&quot;ts&quot;:1777509873589,&quot;cs&quot;:&quot;2Ora+RpX7XL7wlInz9Iwlw==&quot;,&quot;size&quot;:{&quot;width&quot;:583.9266908136483,&quot;height&quot;:261.1679343832021}}" id="447" name="Google Shape;447;p53"/>
          <p:cNvPicPr preferRelativeResize="0"/>
          <p:nvPr/>
        </p:nvPicPr>
        <p:blipFill>
          <a:blip r:embed="rId3">
            <a:alphaModFix/>
          </a:blip>
          <a:stretch>
            <a:fillRect/>
          </a:stretch>
        </p:blipFill>
        <p:spPr>
          <a:xfrm>
            <a:off x="311700" y="1194625"/>
            <a:ext cx="5561902" cy="24876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GPU Architecture</a:t>
            </a:r>
            <a:endParaRPr/>
          </a:p>
        </p:txBody>
      </p:sp>
      <p:pic>
        <p:nvPicPr>
          <p:cNvPr id="453" name="Google Shape;453;p54"/>
          <p:cNvPicPr preferRelativeResize="0"/>
          <p:nvPr/>
        </p:nvPicPr>
        <p:blipFill>
          <a:blip r:embed="rId3">
            <a:alphaModFix/>
          </a:blip>
          <a:stretch>
            <a:fillRect/>
          </a:stretch>
        </p:blipFill>
        <p:spPr>
          <a:xfrm>
            <a:off x="2454800" y="970175"/>
            <a:ext cx="6670200" cy="3679725"/>
          </a:xfrm>
          <a:prstGeom prst="rect">
            <a:avLst/>
          </a:prstGeom>
          <a:noFill/>
          <a:ln>
            <a:noFill/>
          </a:ln>
        </p:spPr>
      </p:pic>
      <p:sp>
        <p:nvSpPr>
          <p:cNvPr id="454" name="Google Shape;454;p54"/>
          <p:cNvSpPr txBox="1"/>
          <p:nvPr/>
        </p:nvSpPr>
        <p:spPr>
          <a:xfrm>
            <a:off x="59600" y="1338850"/>
            <a:ext cx="24504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Streaming</a:t>
            </a:r>
            <a:r>
              <a:rPr b="1" lang="en">
                <a:solidFill>
                  <a:schemeClr val="dk2"/>
                </a:solidFill>
              </a:rPr>
              <a:t> Microprocessors (SM): </a:t>
            </a:r>
            <a:r>
              <a:rPr lang="en">
                <a:solidFill>
                  <a:schemeClr val="dk2"/>
                </a:solidFill>
              </a:rPr>
              <a:t>Where </a:t>
            </a:r>
            <a:r>
              <a:rPr lang="en">
                <a:solidFill>
                  <a:schemeClr val="dk2"/>
                </a:solidFill>
              </a:rPr>
              <a:t>calculations</a:t>
            </a:r>
            <a:r>
              <a:rPr lang="en">
                <a:solidFill>
                  <a:schemeClr val="dk2"/>
                </a:solidFill>
              </a:rPr>
              <a:t> happen</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b="1" lang="en">
                <a:solidFill>
                  <a:schemeClr val="dk2"/>
                </a:solidFill>
              </a:rPr>
              <a:t>SRAM:</a:t>
            </a:r>
            <a:r>
              <a:rPr lang="en">
                <a:solidFill>
                  <a:schemeClr val="dk2"/>
                </a:solidFill>
              </a:rPr>
              <a:t> Local data storage</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b="1" lang="en">
                <a:solidFill>
                  <a:schemeClr val="dk2"/>
                </a:solidFill>
              </a:rPr>
              <a:t>DRAM: </a:t>
            </a:r>
            <a:r>
              <a:rPr lang="en">
                <a:solidFill>
                  <a:schemeClr val="dk2"/>
                </a:solidFill>
              </a:rPr>
              <a:t>Global memory, but data must be transferred to SRAM for compute </a:t>
            </a:r>
            <a:endParaRPr>
              <a:solidFill>
                <a:schemeClr val="dk2"/>
              </a:solidFill>
            </a:endParaRPr>
          </a:p>
          <a:p>
            <a:pPr indent="0" lvl="0" marL="0" rtl="0" algn="l">
              <a:spcBef>
                <a:spcPts val="0"/>
              </a:spcBef>
              <a:spcAft>
                <a:spcPts val="0"/>
              </a:spcAft>
              <a:buNone/>
            </a:pPr>
            <a:r>
              <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Attention: Naive Implementation</a:t>
            </a:r>
            <a:endParaRPr/>
          </a:p>
        </p:txBody>
      </p:sp>
      <p:sp>
        <p:nvSpPr>
          <p:cNvPr id="460" name="Google Shape;460;p55"/>
          <p:cNvSpPr txBox="1"/>
          <p:nvPr>
            <p:ph idx="1" type="body"/>
          </p:nvPr>
        </p:nvSpPr>
        <p:spPr>
          <a:xfrm>
            <a:off x="407650" y="24628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t>Problem 1: </a:t>
            </a:r>
            <a:r>
              <a:rPr lang="en" sz="1500"/>
              <a:t>The intermediate matrices can be huge. </a:t>
            </a:r>
            <a:endParaRPr sz="1500"/>
          </a:p>
          <a:p>
            <a:pPr indent="0" lvl="0" marL="0" rtl="0" algn="l">
              <a:spcBef>
                <a:spcPts val="1200"/>
              </a:spcBef>
              <a:spcAft>
                <a:spcPts val="0"/>
              </a:spcAft>
              <a:buNone/>
            </a:pPr>
            <a:r>
              <a:rPr lang="en" sz="1500"/>
              <a:t>Say N = 8192, then each attention matrix (fp16) = 8192*8192*2 bytes ~134 MB</a:t>
            </a:r>
            <a:endParaRPr sz="1500"/>
          </a:p>
          <a:p>
            <a:pPr indent="0" lvl="0" marL="0" rtl="0" algn="l">
              <a:spcBef>
                <a:spcPts val="1200"/>
              </a:spcBef>
              <a:spcAft>
                <a:spcPts val="0"/>
              </a:spcAft>
              <a:buNone/>
            </a:pPr>
            <a:r>
              <a:rPr lang="en" sz="1500"/>
              <a:t>This much data must be written back and forth for every attention head for every layer for every sequence in the batch</a:t>
            </a:r>
            <a:endParaRPr sz="1500"/>
          </a:p>
          <a:p>
            <a:pPr indent="0" lvl="0" marL="0" marR="0" rtl="0" algn="l">
              <a:lnSpc>
                <a:spcPct val="100000"/>
              </a:lnSpc>
              <a:spcBef>
                <a:spcPts val="1200"/>
              </a:spcBef>
              <a:spcAft>
                <a:spcPts val="0"/>
              </a:spcAft>
              <a:buNone/>
            </a:pPr>
            <a:r>
              <a:t/>
            </a:r>
            <a:endParaRPr sz="800">
              <a:solidFill>
                <a:srgbClr val="000000"/>
              </a:solidFill>
            </a:endParaRPr>
          </a:p>
        </p:txBody>
      </p:sp>
      <p:pic>
        <p:nvPicPr>
          <p:cNvPr id="461" name="Google Shape;461;p55"/>
          <p:cNvPicPr preferRelativeResize="0"/>
          <p:nvPr/>
        </p:nvPicPr>
        <p:blipFill>
          <a:blip r:embed="rId3">
            <a:alphaModFix/>
          </a:blip>
          <a:stretch>
            <a:fillRect/>
          </a:stretch>
        </p:blipFill>
        <p:spPr>
          <a:xfrm>
            <a:off x="407650" y="1229700"/>
            <a:ext cx="8048625" cy="10668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Attention: Naive Implementation</a:t>
            </a:r>
            <a:endParaRPr/>
          </a:p>
          <a:p>
            <a:pPr indent="0" lvl="0" marL="0" rtl="0" algn="l">
              <a:spcBef>
                <a:spcPts val="0"/>
              </a:spcBef>
              <a:spcAft>
                <a:spcPts val="0"/>
              </a:spcAft>
              <a:buNone/>
            </a:pPr>
            <a:r>
              <a:t/>
            </a:r>
            <a:endParaRPr/>
          </a:p>
        </p:txBody>
      </p:sp>
      <p:sp>
        <p:nvSpPr>
          <p:cNvPr id="467" name="Google Shape;467;p56"/>
          <p:cNvSpPr txBox="1"/>
          <p:nvPr>
            <p:ph idx="1" type="body"/>
          </p:nvPr>
        </p:nvSpPr>
        <p:spPr>
          <a:xfrm>
            <a:off x="371275" y="23054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t>Problem 2:</a:t>
            </a:r>
            <a:r>
              <a:rPr lang="en" sz="1500"/>
              <a:t> Multiple kernel launches, which also precludes sharing data, as one kernel can’t access previous kernel’s SRAM</a:t>
            </a:r>
            <a:endParaRPr i="1" sz="1500"/>
          </a:p>
          <a:p>
            <a:pPr indent="0" lvl="0" marL="0" rtl="0" algn="l">
              <a:spcBef>
                <a:spcPts val="1200"/>
              </a:spcBef>
              <a:spcAft>
                <a:spcPts val="1200"/>
              </a:spcAft>
              <a:buClr>
                <a:schemeClr val="dk1"/>
              </a:buClr>
              <a:buSzPts val="1100"/>
              <a:buFont typeface="Arial"/>
              <a:buNone/>
            </a:pPr>
            <a:r>
              <a:t/>
            </a:r>
            <a:endParaRPr sz="1500"/>
          </a:p>
        </p:txBody>
      </p:sp>
      <p:pic>
        <p:nvPicPr>
          <p:cNvPr id="468" name="Google Shape;468;p56"/>
          <p:cNvPicPr preferRelativeResize="0"/>
          <p:nvPr/>
        </p:nvPicPr>
        <p:blipFill>
          <a:blip r:embed="rId3">
            <a:alphaModFix/>
          </a:blip>
          <a:stretch>
            <a:fillRect/>
          </a:stretch>
        </p:blipFill>
        <p:spPr>
          <a:xfrm>
            <a:off x="494650" y="1191400"/>
            <a:ext cx="7415441" cy="9828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 Tiling, Streaming and Kernel Fusion</a:t>
            </a:r>
            <a:endParaRPr/>
          </a:p>
        </p:txBody>
      </p:sp>
      <p:sp>
        <p:nvSpPr>
          <p:cNvPr id="474" name="Google Shape;474;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 sz="1500"/>
              <a:t>Flash Attention</a:t>
            </a:r>
            <a:r>
              <a:rPr lang="en" sz="1500"/>
              <a:t> does two big things:</a:t>
            </a:r>
            <a:endParaRPr sz="1500"/>
          </a:p>
          <a:p>
            <a:pPr indent="0" lvl="0" marL="0" rtl="0" algn="l">
              <a:lnSpc>
                <a:spcPct val="100000"/>
              </a:lnSpc>
              <a:spcBef>
                <a:spcPts val="0"/>
              </a:spcBef>
              <a:spcAft>
                <a:spcPts val="0"/>
              </a:spcAft>
              <a:buNone/>
            </a:pPr>
            <a:r>
              <a:t/>
            </a:r>
            <a:endParaRPr sz="1500"/>
          </a:p>
          <a:p>
            <a:pPr indent="-323850" lvl="0" marL="457200" rtl="0" algn="l">
              <a:lnSpc>
                <a:spcPct val="100000"/>
              </a:lnSpc>
              <a:spcBef>
                <a:spcPts val="0"/>
              </a:spcBef>
              <a:spcAft>
                <a:spcPts val="0"/>
              </a:spcAft>
              <a:buSzPts val="1500"/>
              <a:buAutoNum type="arabicPeriod"/>
            </a:pPr>
            <a:r>
              <a:rPr lang="en" sz="1500"/>
              <a:t>Do not make the GPU remember the whole attention matrix. Stream through it in tiles and accumulate the final answer.</a:t>
            </a:r>
            <a:br>
              <a:rPr lang="en" sz="1500"/>
            </a:br>
            <a:endParaRPr sz="1500"/>
          </a:p>
          <a:p>
            <a:pPr indent="-323850" lvl="0" marL="457200" rtl="0" algn="l">
              <a:lnSpc>
                <a:spcPct val="100000"/>
              </a:lnSpc>
              <a:spcBef>
                <a:spcPts val="0"/>
              </a:spcBef>
              <a:spcAft>
                <a:spcPts val="0"/>
              </a:spcAft>
              <a:buSzPts val="1500"/>
              <a:buAutoNum type="arabicPeriod"/>
            </a:pPr>
            <a:r>
              <a:rPr lang="en" sz="1500"/>
              <a:t>Fuse the various calculations in attention into a single kernel. This is called </a:t>
            </a:r>
            <a:r>
              <a:rPr i="1" lang="en" sz="1500"/>
              <a:t>kernel fusion</a:t>
            </a:r>
            <a:endParaRPr sz="1500"/>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Tiled multiplication</a:t>
            </a:r>
            <a:endParaRPr/>
          </a:p>
        </p:txBody>
      </p:sp>
      <p:sp>
        <p:nvSpPr>
          <p:cNvPr id="480" name="Google Shape;480;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Recall what we are doing in the attention operation</a:t>
            </a:r>
            <a:endParaRPr/>
          </a:p>
          <a:p>
            <a:pPr indent="-342900" lvl="0" marL="457200" rtl="0" algn="l">
              <a:spcBef>
                <a:spcPts val="1200"/>
              </a:spcBef>
              <a:spcAft>
                <a:spcPts val="0"/>
              </a:spcAft>
              <a:buSzPts val="1800"/>
              <a:buChar char="-"/>
            </a:pPr>
            <a:r>
              <a:rPr lang="en"/>
              <a:t>For a query vector, we calculate the dot product against all the key vectors to get raw attention scores</a:t>
            </a:r>
            <a:endParaRPr/>
          </a:p>
          <a:p>
            <a:pPr indent="-342900" lvl="0" marL="457200" rtl="0" algn="l">
              <a:spcBef>
                <a:spcPts val="0"/>
              </a:spcBef>
              <a:spcAft>
                <a:spcPts val="0"/>
              </a:spcAft>
              <a:buSzPts val="1800"/>
              <a:buChar char="-"/>
            </a:pPr>
            <a:r>
              <a:rPr lang="en"/>
              <a:t>We normalize the scores</a:t>
            </a:r>
            <a:endParaRPr/>
          </a:p>
          <a:p>
            <a:pPr indent="-342900" lvl="0" marL="457200" rtl="0" algn="l">
              <a:spcBef>
                <a:spcPts val="0"/>
              </a:spcBef>
              <a:spcAft>
                <a:spcPts val="0"/>
              </a:spcAft>
              <a:buSzPts val="1800"/>
              <a:buChar char="-"/>
            </a:pPr>
            <a:r>
              <a:rPr lang="en"/>
              <a:t>We calculate a weighted average of the value vectors with the attention scores as the weights</a:t>
            </a:r>
            <a:endParaRPr/>
          </a:p>
          <a:p>
            <a:pPr indent="0" lvl="0" marL="0" rtl="0" algn="l">
              <a:spcBef>
                <a:spcPts val="1200"/>
              </a:spcBef>
              <a:spcAft>
                <a:spcPts val="1200"/>
              </a:spcAft>
              <a:buClr>
                <a:schemeClr val="dk1"/>
              </a:buClr>
              <a:buSzPts val="1100"/>
              <a:buFont typeface="Arial"/>
              <a:buNone/>
            </a:pPr>
            <a:r>
              <a:rPr lang="en"/>
              <a:t>Let’s say we didn’t have the normalization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Tiled multiplication</a:t>
            </a:r>
            <a:endParaRPr/>
          </a:p>
        </p:txBody>
      </p:sp>
      <p:graphicFrame>
        <p:nvGraphicFramePr>
          <p:cNvPr id="486" name="Google Shape;486;p59"/>
          <p:cNvGraphicFramePr/>
          <p:nvPr/>
        </p:nvGraphicFramePr>
        <p:xfrm>
          <a:off x="311700" y="1619725"/>
          <a:ext cx="3000000" cy="3000000"/>
        </p:xfrm>
        <a:graphic>
          <a:graphicData uri="http://schemas.openxmlformats.org/drawingml/2006/table">
            <a:tbl>
              <a:tblPr>
                <a:noFill/>
                <a:tableStyleId>{002DFE77-02EC-4D0D-B4A5-6E3D87EE2B06}</a:tableStyleId>
              </a:tblPr>
              <a:tblGrid>
                <a:gridCol w="382850"/>
                <a:gridCol w="382850"/>
                <a:gridCol w="382850"/>
                <a:gridCol w="382850"/>
                <a:gridCol w="382850"/>
              </a:tblGrid>
              <a:tr h="268550">
                <a:tc>
                  <a:txBody>
                    <a:bodyPr/>
                    <a:lstStyle/>
                    <a:p>
                      <a:pPr indent="0" lvl="0" marL="0" rtl="0" algn="l">
                        <a:spcBef>
                          <a:spcPts val="0"/>
                        </a:spcBef>
                        <a:spcAft>
                          <a:spcPts val="0"/>
                        </a:spcAft>
                        <a:buNone/>
                      </a:pPr>
                      <a:r>
                        <a:t/>
                      </a:r>
                      <a:endParaRPr sz="800"/>
                    </a:p>
                  </a:txBody>
                  <a:tcPr marT="91425" marB="91425" marR="91425" marL="91425">
                    <a:solidFill>
                      <a:srgbClr val="9FC5E8"/>
                    </a:solidFill>
                  </a:tcPr>
                </a:tc>
                <a:tc>
                  <a:txBody>
                    <a:bodyPr/>
                    <a:lstStyle/>
                    <a:p>
                      <a:pPr indent="0" lvl="0" marL="0" rtl="0" algn="l">
                        <a:spcBef>
                          <a:spcPts val="0"/>
                        </a:spcBef>
                        <a:spcAft>
                          <a:spcPts val="0"/>
                        </a:spcAft>
                        <a:buNone/>
                      </a:pPr>
                      <a:r>
                        <a:t/>
                      </a:r>
                      <a:endParaRPr sz="800"/>
                    </a:p>
                  </a:txBody>
                  <a:tcPr marT="91425" marB="91425" marR="91425" marL="91425">
                    <a:solidFill>
                      <a:srgbClr val="9FC5E8"/>
                    </a:solidFill>
                  </a:tcPr>
                </a:tc>
                <a:tc>
                  <a:txBody>
                    <a:bodyPr/>
                    <a:lstStyle/>
                    <a:p>
                      <a:pPr indent="0" lvl="0" marL="0" rtl="0" algn="l">
                        <a:spcBef>
                          <a:spcPts val="0"/>
                        </a:spcBef>
                        <a:spcAft>
                          <a:spcPts val="0"/>
                        </a:spcAft>
                        <a:buNone/>
                      </a:pPr>
                      <a:r>
                        <a:t/>
                      </a:r>
                      <a:endParaRPr sz="800"/>
                    </a:p>
                  </a:txBody>
                  <a:tcPr marT="91425" marB="91425" marR="91425" marL="91425">
                    <a:solidFill>
                      <a:srgbClr val="9FC5E8"/>
                    </a:solidFill>
                  </a:tcPr>
                </a:tc>
                <a:tc>
                  <a:txBody>
                    <a:bodyPr/>
                    <a:lstStyle/>
                    <a:p>
                      <a:pPr indent="0" lvl="0" marL="0" rtl="0" algn="l">
                        <a:spcBef>
                          <a:spcPts val="0"/>
                        </a:spcBef>
                        <a:spcAft>
                          <a:spcPts val="0"/>
                        </a:spcAft>
                        <a:buNone/>
                      </a:pPr>
                      <a:r>
                        <a:t/>
                      </a:r>
                      <a:endParaRPr sz="800"/>
                    </a:p>
                  </a:txBody>
                  <a:tcPr marT="91425" marB="91425" marR="91425" marL="91425">
                    <a:solidFill>
                      <a:srgbClr val="9FC5E8"/>
                    </a:solidFill>
                  </a:tcPr>
                </a:tc>
                <a:tc>
                  <a:txBody>
                    <a:bodyPr/>
                    <a:lstStyle/>
                    <a:p>
                      <a:pPr indent="0" lvl="0" marL="0" rtl="0" algn="l">
                        <a:spcBef>
                          <a:spcPts val="0"/>
                        </a:spcBef>
                        <a:spcAft>
                          <a:spcPts val="0"/>
                        </a:spcAft>
                        <a:buNone/>
                      </a:pPr>
                      <a:r>
                        <a:t/>
                      </a:r>
                      <a:endParaRPr sz="800"/>
                    </a:p>
                  </a:txBody>
                  <a:tcPr marT="91425" marB="91425" marR="91425" marL="91425">
                    <a:solidFill>
                      <a:srgbClr val="9FC5E8"/>
                    </a:solidFill>
                  </a:tcPr>
                </a:tc>
              </a:tr>
            </a:tbl>
          </a:graphicData>
        </a:graphic>
      </p:graphicFrame>
      <p:graphicFrame>
        <p:nvGraphicFramePr>
          <p:cNvPr id="487" name="Google Shape;487;p59"/>
          <p:cNvGraphicFramePr/>
          <p:nvPr/>
        </p:nvGraphicFramePr>
        <p:xfrm>
          <a:off x="2746200" y="1619250"/>
          <a:ext cx="3000000" cy="3000000"/>
        </p:xfrm>
        <a:graphic>
          <a:graphicData uri="http://schemas.openxmlformats.org/drawingml/2006/table">
            <a:tbl>
              <a:tblPr>
                <a:noFill/>
                <a:tableStyleId>{002DFE77-02EC-4D0D-B4A5-6E3D87EE2B06}</a:tableStyleId>
              </a:tblPr>
              <a:tblGrid>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bl>
          </a:graphicData>
        </a:graphic>
      </p:graphicFrame>
      <p:graphicFrame>
        <p:nvGraphicFramePr>
          <p:cNvPr id="488" name="Google Shape;488;p59"/>
          <p:cNvGraphicFramePr/>
          <p:nvPr/>
        </p:nvGraphicFramePr>
        <p:xfrm>
          <a:off x="5563550" y="1619250"/>
          <a:ext cx="3000000" cy="3000000"/>
        </p:xfrm>
        <a:graphic>
          <a:graphicData uri="http://schemas.openxmlformats.org/drawingml/2006/table">
            <a:tbl>
              <a:tblPr>
                <a:noFill/>
                <a:tableStyleId>{002DFE77-02EC-4D0D-B4A5-6E3D87EE2B06}</a:tableStyleId>
              </a:tblPr>
              <a:tblGrid>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bl>
          </a:graphicData>
        </a:graphic>
      </p:graphicFrame>
      <p:sp>
        <p:nvSpPr>
          <p:cNvPr id="489" name="Google Shape;489;p59"/>
          <p:cNvSpPr txBox="1"/>
          <p:nvPr/>
        </p:nvSpPr>
        <p:spPr>
          <a:xfrm>
            <a:off x="472300" y="2057850"/>
            <a:ext cx="166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Query vector</a:t>
            </a:r>
            <a:endParaRPr sz="1800">
              <a:solidFill>
                <a:schemeClr val="dk2"/>
              </a:solidFill>
            </a:endParaRPr>
          </a:p>
        </p:txBody>
      </p:sp>
      <p:sp>
        <p:nvSpPr>
          <p:cNvPr id="490" name="Google Shape;490;p59"/>
          <p:cNvSpPr txBox="1"/>
          <p:nvPr/>
        </p:nvSpPr>
        <p:spPr>
          <a:xfrm>
            <a:off x="2722075" y="1017725"/>
            <a:ext cx="2421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2"/>
                </a:solidFill>
              </a:rPr>
              <a:t>Read first two columns of the key matrix</a:t>
            </a:r>
            <a:endParaRPr sz="1500">
              <a:solidFill>
                <a:schemeClr val="dk2"/>
              </a:solidFill>
            </a:endParaRPr>
          </a:p>
        </p:txBody>
      </p:sp>
      <p:sp>
        <p:nvSpPr>
          <p:cNvPr id="491" name="Google Shape;491;p59"/>
          <p:cNvSpPr txBox="1"/>
          <p:nvPr/>
        </p:nvSpPr>
        <p:spPr>
          <a:xfrm>
            <a:off x="5501300" y="1017725"/>
            <a:ext cx="2421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2"/>
                </a:solidFill>
              </a:rPr>
              <a:t>Read first two columns of the value matrix</a:t>
            </a:r>
            <a:endParaRPr sz="1500">
              <a:solidFill>
                <a:schemeClr val="dk2"/>
              </a:solidFill>
            </a:endParaRPr>
          </a:p>
        </p:txBody>
      </p:sp>
      <p:sp>
        <p:nvSpPr>
          <p:cNvPr id="492" name="Google Shape;492;p59"/>
          <p:cNvSpPr txBox="1"/>
          <p:nvPr/>
        </p:nvSpPr>
        <p:spPr>
          <a:xfrm>
            <a:off x="334675" y="2888825"/>
            <a:ext cx="34305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Divide K, V matrices into blocks</a:t>
            </a:r>
            <a:endParaRPr sz="1200">
              <a:solidFill>
                <a:schemeClr val="dk2"/>
              </a:solidFill>
            </a:endParaRPr>
          </a:p>
          <a:p>
            <a:pPr indent="0" lvl="0" marL="0" rtl="0" algn="l">
              <a:spcBef>
                <a:spcPts val="0"/>
              </a:spcBef>
              <a:spcAft>
                <a:spcPts val="0"/>
              </a:spcAft>
              <a:buNone/>
            </a:pPr>
            <a:r>
              <a:rPr lang="en" sz="1200">
                <a:solidFill>
                  <a:schemeClr val="dk2"/>
                </a:solidFill>
              </a:rPr>
              <a:t>Given a query vector,</a:t>
            </a:r>
            <a:endParaRPr sz="1200">
              <a:solidFill>
                <a:schemeClr val="dk2"/>
              </a:solidFill>
            </a:endParaRPr>
          </a:p>
          <a:p>
            <a:pPr indent="0" lvl="0" marL="0" rtl="0" algn="l">
              <a:spcBef>
                <a:spcPts val="0"/>
              </a:spcBef>
              <a:spcAft>
                <a:spcPts val="0"/>
              </a:spcAft>
              <a:buNone/>
            </a:pPr>
            <a:r>
              <a:rPr lang="en" sz="1200">
                <a:solidFill>
                  <a:schemeClr val="dk2"/>
                </a:solidFill>
              </a:rPr>
              <a:t>Initialize output vector</a:t>
            </a:r>
            <a:endParaRPr sz="1200">
              <a:solidFill>
                <a:schemeClr val="dk2"/>
              </a:solidFill>
            </a:endParaRPr>
          </a:p>
          <a:p>
            <a:pPr indent="0" lvl="0" marL="0" rtl="0" algn="l">
              <a:spcBef>
                <a:spcPts val="0"/>
              </a:spcBef>
              <a:spcAft>
                <a:spcPts val="0"/>
              </a:spcAft>
              <a:buNone/>
            </a:pPr>
            <a:r>
              <a:rPr lang="en" sz="1200">
                <a:solidFill>
                  <a:schemeClr val="dk2"/>
                </a:solidFill>
              </a:rPr>
              <a:t>For every K, V block:</a:t>
            </a:r>
            <a:endParaRPr sz="1200">
              <a:solidFill>
                <a:schemeClr val="dk2"/>
              </a:solidFill>
            </a:endParaRPr>
          </a:p>
          <a:p>
            <a:pPr indent="-304800" lvl="0" marL="457200" rtl="0" algn="l">
              <a:spcBef>
                <a:spcPts val="0"/>
              </a:spcBef>
              <a:spcAft>
                <a:spcPts val="0"/>
              </a:spcAft>
              <a:buClr>
                <a:schemeClr val="dk2"/>
              </a:buClr>
              <a:buSzPts val="1200"/>
              <a:buAutoNum type="arabicPeriod"/>
            </a:pPr>
            <a:r>
              <a:rPr lang="en" sz="1200">
                <a:solidFill>
                  <a:schemeClr val="dk2"/>
                </a:solidFill>
              </a:rPr>
              <a:t>Calculate dot product between query and K block</a:t>
            </a:r>
            <a:endParaRPr sz="1200">
              <a:solidFill>
                <a:schemeClr val="dk2"/>
              </a:solidFill>
            </a:endParaRPr>
          </a:p>
          <a:p>
            <a:pPr indent="-304800" lvl="0" marL="457200" rtl="0" algn="l">
              <a:spcBef>
                <a:spcPts val="0"/>
              </a:spcBef>
              <a:spcAft>
                <a:spcPts val="0"/>
              </a:spcAft>
              <a:buClr>
                <a:schemeClr val="dk2"/>
              </a:buClr>
              <a:buSzPts val="1200"/>
              <a:buAutoNum type="arabicPeriod"/>
            </a:pPr>
            <a:r>
              <a:rPr lang="en" sz="1200">
                <a:solidFill>
                  <a:schemeClr val="dk2"/>
                </a:solidFill>
              </a:rPr>
              <a:t>Use the coefficients to calculate weighted average of V block</a:t>
            </a:r>
            <a:endParaRPr sz="1200">
              <a:solidFill>
                <a:schemeClr val="dk2"/>
              </a:solidFill>
            </a:endParaRPr>
          </a:p>
          <a:p>
            <a:pPr indent="-304800" lvl="0" marL="457200" rtl="0" algn="l">
              <a:spcBef>
                <a:spcPts val="0"/>
              </a:spcBef>
              <a:spcAft>
                <a:spcPts val="0"/>
              </a:spcAft>
              <a:buClr>
                <a:schemeClr val="dk2"/>
              </a:buClr>
              <a:buSzPts val="1200"/>
              <a:buAutoNum type="arabicPeriod"/>
            </a:pPr>
            <a:r>
              <a:rPr lang="en" sz="1200">
                <a:solidFill>
                  <a:schemeClr val="dk2"/>
                </a:solidFill>
              </a:rPr>
              <a:t>Accumulate weighted average into the output vector</a:t>
            </a:r>
            <a:endParaRPr sz="1200">
              <a:solidFill>
                <a:schemeClr val="dk2"/>
              </a:solidFill>
            </a:endParaRPr>
          </a:p>
          <a:p>
            <a:pPr indent="0" lvl="0" marL="0" rtl="0" algn="l">
              <a:spcBef>
                <a:spcPts val="0"/>
              </a:spcBef>
              <a:spcAft>
                <a:spcPts val="0"/>
              </a:spcAft>
              <a:buNone/>
            </a:pPr>
            <a:r>
              <a:rPr lang="en" sz="1200">
                <a:solidFill>
                  <a:schemeClr val="dk2"/>
                </a:solidFill>
              </a:rPr>
              <a:t>Write output vector back to HBM</a:t>
            </a:r>
            <a:endParaRPr sz="1200">
              <a:solidFill>
                <a:schemeClr val="dk2"/>
              </a:solidFill>
            </a:endParaRPr>
          </a:p>
        </p:txBody>
      </p:sp>
      <p:sp>
        <p:nvSpPr>
          <p:cNvPr id="493" name="Google Shape;493;p59"/>
          <p:cNvSpPr txBox="1"/>
          <p:nvPr/>
        </p:nvSpPr>
        <p:spPr>
          <a:xfrm>
            <a:off x="4277600" y="3964400"/>
            <a:ext cx="34305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Advantage: I’m reading less data each time (B*D for each block), the full matrix multiplcation vector doesn’t need to be materialized. </a:t>
            </a:r>
            <a:endParaRPr sz="1200">
              <a:solidFill>
                <a:schemeClr val="dk2"/>
              </a:solidFill>
            </a:endParaRPr>
          </a:p>
          <a:p>
            <a:pPr indent="0" lvl="0" marL="0" rtl="0" algn="l">
              <a:spcBef>
                <a:spcPts val="0"/>
              </a:spcBef>
              <a:spcAft>
                <a:spcPts val="0"/>
              </a:spcAft>
              <a:buNone/>
            </a:pPr>
            <a:r>
              <a:rPr lang="en" sz="1200">
                <a:solidFill>
                  <a:schemeClr val="dk2"/>
                </a:solidFill>
              </a:rPr>
              <a:t> </a:t>
            </a:r>
            <a:endParaRPr sz="1200">
              <a:solidFill>
                <a:schemeClr val="dk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Tiled multiplication</a:t>
            </a:r>
            <a:endParaRPr/>
          </a:p>
        </p:txBody>
      </p:sp>
      <p:graphicFrame>
        <p:nvGraphicFramePr>
          <p:cNvPr id="499" name="Google Shape;499;p60"/>
          <p:cNvGraphicFramePr/>
          <p:nvPr/>
        </p:nvGraphicFramePr>
        <p:xfrm>
          <a:off x="2746200" y="1551175"/>
          <a:ext cx="3000000" cy="3000000"/>
        </p:xfrm>
        <a:graphic>
          <a:graphicData uri="http://schemas.openxmlformats.org/drawingml/2006/table">
            <a:tbl>
              <a:tblPr>
                <a:noFill/>
                <a:tableStyleId>{002DFE77-02EC-4D0D-B4A5-6E3D87EE2B06}</a:tableStyleId>
              </a:tblPr>
              <a:tblGrid>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bl>
          </a:graphicData>
        </a:graphic>
      </p:graphicFrame>
      <p:graphicFrame>
        <p:nvGraphicFramePr>
          <p:cNvPr id="500" name="Google Shape;500;p60"/>
          <p:cNvGraphicFramePr/>
          <p:nvPr/>
        </p:nvGraphicFramePr>
        <p:xfrm>
          <a:off x="5563550" y="1551175"/>
          <a:ext cx="3000000" cy="3000000"/>
        </p:xfrm>
        <a:graphic>
          <a:graphicData uri="http://schemas.openxmlformats.org/drawingml/2006/table">
            <a:tbl>
              <a:tblPr>
                <a:noFill/>
                <a:tableStyleId>{002DFE77-02EC-4D0D-B4A5-6E3D87EE2B06}</a:tableStyleId>
              </a:tblPr>
              <a:tblGrid>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bl>
          </a:graphicData>
        </a:graphic>
      </p:graphicFrame>
      <p:sp>
        <p:nvSpPr>
          <p:cNvPr id="501" name="Google Shape;501;p60"/>
          <p:cNvSpPr txBox="1"/>
          <p:nvPr/>
        </p:nvSpPr>
        <p:spPr>
          <a:xfrm>
            <a:off x="373475" y="3980850"/>
            <a:ext cx="166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Query matrix</a:t>
            </a:r>
            <a:endParaRPr sz="1800">
              <a:solidFill>
                <a:schemeClr val="dk2"/>
              </a:solidFill>
            </a:endParaRPr>
          </a:p>
        </p:txBody>
      </p:sp>
      <p:sp>
        <p:nvSpPr>
          <p:cNvPr id="502" name="Google Shape;502;p60"/>
          <p:cNvSpPr txBox="1"/>
          <p:nvPr/>
        </p:nvSpPr>
        <p:spPr>
          <a:xfrm>
            <a:off x="2722075" y="949650"/>
            <a:ext cx="2421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2"/>
                </a:solidFill>
              </a:rPr>
              <a:t>Read first two columns of the key matrix</a:t>
            </a:r>
            <a:endParaRPr sz="1500">
              <a:solidFill>
                <a:schemeClr val="dk2"/>
              </a:solidFill>
            </a:endParaRPr>
          </a:p>
        </p:txBody>
      </p:sp>
      <p:sp>
        <p:nvSpPr>
          <p:cNvPr id="503" name="Google Shape;503;p60"/>
          <p:cNvSpPr txBox="1"/>
          <p:nvPr/>
        </p:nvSpPr>
        <p:spPr>
          <a:xfrm>
            <a:off x="5501300" y="949650"/>
            <a:ext cx="2421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2"/>
                </a:solidFill>
              </a:rPr>
              <a:t>Read first two columns of the value matrix</a:t>
            </a:r>
            <a:endParaRPr sz="1500">
              <a:solidFill>
                <a:schemeClr val="dk2"/>
              </a:solidFill>
            </a:endParaRPr>
          </a:p>
        </p:txBody>
      </p:sp>
      <p:sp>
        <p:nvSpPr>
          <p:cNvPr id="504" name="Google Shape;504;p60"/>
          <p:cNvSpPr txBox="1"/>
          <p:nvPr/>
        </p:nvSpPr>
        <p:spPr>
          <a:xfrm>
            <a:off x="3641775" y="3513625"/>
            <a:ext cx="45852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rPr>
              <a:t>Divide K, V matrices into blocks. The block size for K, V must be equal, query block size can be different</a:t>
            </a:r>
            <a:endParaRPr sz="1100">
              <a:solidFill>
                <a:schemeClr val="dk2"/>
              </a:solidFill>
            </a:endParaRPr>
          </a:p>
          <a:p>
            <a:pPr indent="0" lvl="0" marL="0" rtl="0" algn="l">
              <a:spcBef>
                <a:spcPts val="0"/>
              </a:spcBef>
              <a:spcAft>
                <a:spcPts val="0"/>
              </a:spcAft>
              <a:buNone/>
            </a:pPr>
            <a:r>
              <a:rPr lang="en" sz="1100">
                <a:solidFill>
                  <a:schemeClr val="dk2"/>
                </a:solidFill>
              </a:rPr>
              <a:t>Given a query matrix,</a:t>
            </a:r>
            <a:endParaRPr sz="1100">
              <a:solidFill>
                <a:schemeClr val="dk2"/>
              </a:solidFill>
            </a:endParaRPr>
          </a:p>
          <a:p>
            <a:pPr indent="0" lvl="0" marL="0" rtl="0" algn="l">
              <a:spcBef>
                <a:spcPts val="0"/>
              </a:spcBef>
              <a:spcAft>
                <a:spcPts val="0"/>
              </a:spcAft>
              <a:buNone/>
            </a:pPr>
            <a:r>
              <a:rPr lang="en" sz="1100">
                <a:solidFill>
                  <a:schemeClr val="dk2"/>
                </a:solidFill>
              </a:rPr>
              <a:t>Initialize output </a:t>
            </a:r>
            <a:r>
              <a:rPr i="1" lang="en" sz="1100">
                <a:solidFill>
                  <a:schemeClr val="dk2"/>
                </a:solidFill>
              </a:rPr>
              <a:t>matrix</a:t>
            </a:r>
            <a:endParaRPr i="1" sz="1100">
              <a:solidFill>
                <a:schemeClr val="dk2"/>
              </a:solidFill>
            </a:endParaRPr>
          </a:p>
          <a:p>
            <a:pPr indent="0" lvl="0" marL="0" rtl="0" algn="l">
              <a:spcBef>
                <a:spcPts val="0"/>
              </a:spcBef>
              <a:spcAft>
                <a:spcPts val="0"/>
              </a:spcAft>
              <a:buNone/>
            </a:pPr>
            <a:r>
              <a:rPr lang="en" sz="1100">
                <a:solidFill>
                  <a:schemeClr val="dk2"/>
                </a:solidFill>
              </a:rPr>
              <a:t>For every K, V block:</a:t>
            </a:r>
            <a:endParaRPr sz="1100">
              <a:solidFill>
                <a:schemeClr val="dk2"/>
              </a:solidFill>
            </a:endParaRPr>
          </a:p>
          <a:p>
            <a:pPr indent="-298450" lvl="0" marL="457200" rtl="0" algn="l">
              <a:spcBef>
                <a:spcPts val="0"/>
              </a:spcBef>
              <a:spcAft>
                <a:spcPts val="0"/>
              </a:spcAft>
              <a:buClr>
                <a:schemeClr val="dk2"/>
              </a:buClr>
              <a:buSzPts val="1100"/>
              <a:buAutoNum type="arabicPeriod"/>
            </a:pPr>
            <a:r>
              <a:rPr lang="en" sz="1100">
                <a:solidFill>
                  <a:schemeClr val="dk2"/>
                </a:solidFill>
              </a:rPr>
              <a:t>Calculate dot product between query and K block</a:t>
            </a:r>
            <a:endParaRPr sz="1100">
              <a:solidFill>
                <a:schemeClr val="dk2"/>
              </a:solidFill>
            </a:endParaRPr>
          </a:p>
          <a:p>
            <a:pPr indent="-298450" lvl="0" marL="457200" rtl="0" algn="l">
              <a:spcBef>
                <a:spcPts val="0"/>
              </a:spcBef>
              <a:spcAft>
                <a:spcPts val="0"/>
              </a:spcAft>
              <a:buClr>
                <a:schemeClr val="dk2"/>
              </a:buClr>
              <a:buSzPts val="1100"/>
              <a:buAutoNum type="arabicPeriod"/>
            </a:pPr>
            <a:r>
              <a:rPr lang="en" sz="1100">
                <a:solidFill>
                  <a:schemeClr val="dk2"/>
                </a:solidFill>
              </a:rPr>
              <a:t>Use the coefficients to calculate weighted average of V block</a:t>
            </a:r>
            <a:endParaRPr sz="1100">
              <a:solidFill>
                <a:schemeClr val="dk2"/>
              </a:solidFill>
            </a:endParaRPr>
          </a:p>
          <a:p>
            <a:pPr indent="-298450" lvl="0" marL="457200" rtl="0" algn="l">
              <a:spcBef>
                <a:spcPts val="0"/>
              </a:spcBef>
              <a:spcAft>
                <a:spcPts val="0"/>
              </a:spcAft>
              <a:buClr>
                <a:schemeClr val="dk2"/>
              </a:buClr>
              <a:buSzPts val="1100"/>
              <a:buAutoNum type="arabicPeriod"/>
            </a:pPr>
            <a:r>
              <a:rPr lang="en" sz="1100">
                <a:solidFill>
                  <a:schemeClr val="dk2"/>
                </a:solidFill>
              </a:rPr>
              <a:t>Accumulate weighted average into the output matrix</a:t>
            </a:r>
            <a:endParaRPr sz="1100">
              <a:solidFill>
                <a:schemeClr val="dk2"/>
              </a:solidFill>
            </a:endParaRPr>
          </a:p>
          <a:p>
            <a:pPr indent="0" lvl="0" marL="0" rtl="0" algn="l">
              <a:spcBef>
                <a:spcPts val="0"/>
              </a:spcBef>
              <a:spcAft>
                <a:spcPts val="0"/>
              </a:spcAft>
              <a:buNone/>
            </a:pPr>
            <a:r>
              <a:rPr lang="en" sz="1100">
                <a:solidFill>
                  <a:schemeClr val="dk2"/>
                </a:solidFill>
              </a:rPr>
              <a:t>Write output vector back to HBM</a:t>
            </a:r>
            <a:endParaRPr sz="1100">
              <a:solidFill>
                <a:schemeClr val="dk2"/>
              </a:solidFill>
            </a:endParaRPr>
          </a:p>
        </p:txBody>
      </p:sp>
      <p:graphicFrame>
        <p:nvGraphicFramePr>
          <p:cNvPr id="505" name="Google Shape;505;p60"/>
          <p:cNvGraphicFramePr/>
          <p:nvPr/>
        </p:nvGraphicFramePr>
        <p:xfrm>
          <a:off x="56675" y="1571700"/>
          <a:ext cx="3000000" cy="3000000"/>
        </p:xfrm>
        <a:graphic>
          <a:graphicData uri="http://schemas.openxmlformats.org/drawingml/2006/table">
            <a:tbl>
              <a:tblPr>
                <a:noFill/>
                <a:tableStyleId>{002DFE77-02EC-4D0D-B4A5-6E3D87EE2B06}</a:tableStyleId>
              </a:tblPr>
              <a:tblGrid>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r>
              <a:tr h="381000">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r>
              <a:tr h="381000">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bl>
          </a:graphicData>
        </a:graphic>
      </p:graphicFrame>
      <p:sp>
        <p:nvSpPr>
          <p:cNvPr id="506" name="Google Shape;506;p60"/>
          <p:cNvSpPr txBox="1"/>
          <p:nvPr/>
        </p:nvSpPr>
        <p:spPr>
          <a:xfrm>
            <a:off x="32550" y="970175"/>
            <a:ext cx="2421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2"/>
                </a:solidFill>
              </a:rPr>
              <a:t>Read first three rows of the query matrix</a:t>
            </a:r>
            <a:endParaRPr sz="1500">
              <a:solidFill>
                <a:schemeClr val="dk2"/>
              </a:solidFill>
            </a:endParaRPr>
          </a:p>
        </p:txBody>
      </p:sp>
      <p:sp>
        <p:nvSpPr>
          <p:cNvPr id="507" name="Google Shape;507;p60"/>
          <p:cNvSpPr txBox="1"/>
          <p:nvPr/>
        </p:nvSpPr>
        <p:spPr>
          <a:xfrm>
            <a:off x="4058675" y="253275"/>
            <a:ext cx="4084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The idea can </a:t>
            </a:r>
            <a:r>
              <a:rPr lang="en" sz="1800">
                <a:solidFill>
                  <a:schemeClr val="dk2"/>
                </a:solidFill>
              </a:rPr>
              <a:t>easily be extended to multiple query rows </a:t>
            </a:r>
            <a:endParaRPr sz="1800">
              <a:solidFill>
                <a:schemeClr val="dk2"/>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1"/>
          <p:cNvSpPr txBox="1"/>
          <p:nvPr>
            <p:ph type="title"/>
          </p:nvPr>
        </p:nvSpPr>
        <p:spPr>
          <a:xfrm>
            <a:off x="243625" y="3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Tiled multiplication</a:t>
            </a:r>
            <a:endParaRPr/>
          </a:p>
        </p:txBody>
      </p:sp>
      <p:graphicFrame>
        <p:nvGraphicFramePr>
          <p:cNvPr id="513" name="Google Shape;513;p61"/>
          <p:cNvGraphicFramePr/>
          <p:nvPr/>
        </p:nvGraphicFramePr>
        <p:xfrm>
          <a:off x="3397100" y="832200"/>
          <a:ext cx="3000000" cy="3000000"/>
        </p:xfrm>
        <a:graphic>
          <a:graphicData uri="http://schemas.openxmlformats.org/drawingml/2006/table">
            <a:tbl>
              <a:tblPr>
                <a:noFill/>
                <a:tableStyleId>{002DFE77-02EC-4D0D-B4A5-6E3D87EE2B06}</a:tableStyleId>
              </a:tblPr>
              <a:tblGrid>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solidFill>
                      <a:srgbClr val="93C47D"/>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bl>
          </a:graphicData>
        </a:graphic>
      </p:graphicFrame>
      <p:graphicFrame>
        <p:nvGraphicFramePr>
          <p:cNvPr id="514" name="Google Shape;514;p61"/>
          <p:cNvGraphicFramePr/>
          <p:nvPr/>
        </p:nvGraphicFramePr>
        <p:xfrm>
          <a:off x="6214450" y="832200"/>
          <a:ext cx="3000000" cy="3000000"/>
        </p:xfrm>
        <a:graphic>
          <a:graphicData uri="http://schemas.openxmlformats.org/drawingml/2006/table">
            <a:tbl>
              <a:tblPr>
                <a:noFill/>
                <a:tableStyleId>{002DFE77-02EC-4D0D-B4A5-6E3D87EE2B06}</a:tableStyleId>
              </a:tblPr>
              <a:tblGrid>
                <a:gridCol w="382850"/>
                <a:gridCol w="382850"/>
                <a:gridCol w="382850"/>
                <a:gridCol w="382850"/>
                <a:gridCol w="382850"/>
                <a:gridCol w="382850"/>
              </a:tblGrid>
              <a:tr h="381000">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EA9999"/>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EA9999"/>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EA9999"/>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EA9999"/>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EA9999"/>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bl>
          </a:graphicData>
        </a:graphic>
      </p:graphicFrame>
      <p:sp>
        <p:nvSpPr>
          <p:cNvPr id="515" name="Google Shape;515;p61"/>
          <p:cNvSpPr txBox="1"/>
          <p:nvPr/>
        </p:nvSpPr>
        <p:spPr>
          <a:xfrm>
            <a:off x="364975" y="4044650"/>
            <a:ext cx="166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Query matrix</a:t>
            </a:r>
            <a:endParaRPr sz="1800">
              <a:solidFill>
                <a:schemeClr val="dk2"/>
              </a:solidFill>
            </a:endParaRPr>
          </a:p>
        </p:txBody>
      </p:sp>
      <p:sp>
        <p:nvSpPr>
          <p:cNvPr id="516" name="Google Shape;516;p61"/>
          <p:cNvSpPr txBox="1"/>
          <p:nvPr/>
        </p:nvSpPr>
        <p:spPr>
          <a:xfrm>
            <a:off x="3372975" y="230675"/>
            <a:ext cx="2421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2"/>
                </a:solidFill>
              </a:rPr>
              <a:t>keys</a:t>
            </a:r>
            <a:endParaRPr sz="1500">
              <a:solidFill>
                <a:schemeClr val="dk2"/>
              </a:solidFill>
            </a:endParaRPr>
          </a:p>
        </p:txBody>
      </p:sp>
      <p:sp>
        <p:nvSpPr>
          <p:cNvPr id="517" name="Google Shape;517;p61"/>
          <p:cNvSpPr txBox="1"/>
          <p:nvPr/>
        </p:nvSpPr>
        <p:spPr>
          <a:xfrm>
            <a:off x="6152200" y="230675"/>
            <a:ext cx="2421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2"/>
                </a:solidFill>
              </a:rPr>
              <a:t>values</a:t>
            </a:r>
            <a:endParaRPr sz="1500">
              <a:solidFill>
                <a:schemeClr val="dk2"/>
              </a:solidFill>
            </a:endParaRPr>
          </a:p>
        </p:txBody>
      </p:sp>
      <p:graphicFrame>
        <p:nvGraphicFramePr>
          <p:cNvPr id="518" name="Google Shape;518;p61"/>
          <p:cNvGraphicFramePr/>
          <p:nvPr/>
        </p:nvGraphicFramePr>
        <p:xfrm>
          <a:off x="48175" y="1644025"/>
          <a:ext cx="3000000" cy="3000000"/>
        </p:xfrm>
        <a:graphic>
          <a:graphicData uri="http://schemas.openxmlformats.org/drawingml/2006/table">
            <a:tbl>
              <a:tblPr>
                <a:noFill/>
                <a:tableStyleId>{002DFE77-02EC-4D0D-B4A5-6E3D87EE2B06}</a:tableStyleId>
              </a:tblPr>
              <a:tblGrid>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r>
              <a:tr h="381000">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r>
              <a:tr h="381000">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c>
                  <a:txBody>
                    <a:bodyPr/>
                    <a:lstStyle/>
                    <a:p>
                      <a:pPr indent="0" lvl="0" marL="0" rtl="0" algn="l">
                        <a:spcBef>
                          <a:spcPts val="0"/>
                        </a:spcBef>
                        <a:spcAft>
                          <a:spcPts val="0"/>
                        </a:spcAft>
                        <a:buNone/>
                      </a:pPr>
                      <a:r>
                        <a:t/>
                      </a:r>
                      <a:endParaRPr sz="800"/>
                    </a:p>
                  </a:txBody>
                  <a:tcPr marT="91425" marB="91425" marR="91425" marL="91425">
                    <a:solidFill>
                      <a:schemeClr val="accent1"/>
                    </a:solidFill>
                  </a:tcPr>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bl>
          </a:graphicData>
        </a:graphic>
      </p:graphicFrame>
      <p:sp>
        <p:nvSpPr>
          <p:cNvPr id="519" name="Google Shape;519;p61"/>
          <p:cNvSpPr txBox="1"/>
          <p:nvPr/>
        </p:nvSpPr>
        <p:spPr>
          <a:xfrm>
            <a:off x="24050" y="1042500"/>
            <a:ext cx="2421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2"/>
                </a:solidFill>
              </a:rPr>
              <a:t>Read first three rows of the query matrix</a:t>
            </a:r>
            <a:endParaRPr sz="1500">
              <a:solidFill>
                <a:schemeClr val="dk2"/>
              </a:solidFill>
            </a:endParaRPr>
          </a:p>
        </p:txBody>
      </p:sp>
      <p:graphicFrame>
        <p:nvGraphicFramePr>
          <p:cNvPr id="520" name="Google Shape;520;p61"/>
          <p:cNvGraphicFramePr/>
          <p:nvPr/>
        </p:nvGraphicFramePr>
        <p:xfrm>
          <a:off x="3397100" y="3140650"/>
          <a:ext cx="3000000" cy="3000000"/>
        </p:xfrm>
        <a:graphic>
          <a:graphicData uri="http://schemas.openxmlformats.org/drawingml/2006/table">
            <a:tbl>
              <a:tblPr>
                <a:noFill/>
                <a:tableStyleId>{002DFE77-02EC-4D0D-B4A5-6E3D87EE2B06}</a:tableStyleId>
              </a:tblPr>
              <a:tblGrid>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93C47D"/>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93C47D"/>
                    </a:solidFill>
                  </a:tcPr>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93C47D"/>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93C47D"/>
                    </a:solidFill>
                  </a:tcPr>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93C47D"/>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93C47D"/>
                    </a:solidFill>
                  </a:tcPr>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93C47D"/>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93C47D"/>
                    </a:solidFill>
                  </a:tcPr>
                </a:tc>
              </a:tr>
              <a:tr h="381000">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93C47D"/>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rgbClr val="93C47D"/>
                    </a:solidFill>
                  </a:tcPr>
                </a:tc>
              </a:tr>
            </a:tbl>
          </a:graphicData>
        </a:graphic>
      </p:graphicFrame>
      <p:graphicFrame>
        <p:nvGraphicFramePr>
          <p:cNvPr id="521" name="Google Shape;521;p61"/>
          <p:cNvGraphicFramePr/>
          <p:nvPr/>
        </p:nvGraphicFramePr>
        <p:xfrm>
          <a:off x="6214450" y="3140650"/>
          <a:ext cx="3000000" cy="3000000"/>
        </p:xfrm>
        <a:graphic>
          <a:graphicData uri="http://schemas.openxmlformats.org/drawingml/2006/table">
            <a:tbl>
              <a:tblPr>
                <a:noFill/>
                <a:tableStyleId>{002DFE77-02EC-4D0D-B4A5-6E3D87EE2B06}</a:tableStyleId>
              </a:tblPr>
              <a:tblGrid>
                <a:gridCol w="382850"/>
                <a:gridCol w="382850"/>
                <a:gridCol w="382850"/>
                <a:gridCol w="382850"/>
                <a:gridCol w="382850"/>
                <a:gridCol w="382850"/>
              </a:tblGrid>
              <a:tr h="381000">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r>
              <a:tr h="381000">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r>
              <a:tr h="381000">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r>
              <a:tr h="381000">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r>
              <a:tr h="381000">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marR="0" rtl="0" algn="l">
                        <a:lnSpc>
                          <a:spcPct val="100000"/>
                        </a:lnSpc>
                        <a:spcBef>
                          <a:spcPts val="0"/>
                        </a:spcBef>
                        <a:spcAft>
                          <a:spcPts val="0"/>
                        </a:spcAft>
                        <a:buNone/>
                      </a:pPr>
                      <a:r>
                        <a:t/>
                      </a:r>
                      <a:endParaRPr sz="800"/>
                    </a:p>
                  </a:txBody>
                  <a:tcPr marT="91425" marB="91425" marR="91425" marL="91425">
                    <a:solidFill>
                      <a:schemeClr val="lt1"/>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c>
                  <a:txBody>
                    <a:bodyPr/>
                    <a:lstStyle/>
                    <a:p>
                      <a:pPr indent="0" lvl="0" marL="0" rtl="0" algn="l">
                        <a:spcBef>
                          <a:spcPts val="0"/>
                        </a:spcBef>
                        <a:spcAft>
                          <a:spcPts val="0"/>
                        </a:spcAft>
                        <a:buNone/>
                      </a:pPr>
                      <a:r>
                        <a:t/>
                      </a:r>
                      <a:endParaRPr sz="800"/>
                    </a:p>
                  </a:txBody>
                  <a:tcPr marT="91425" marB="91425" marR="91425" marL="91425">
                    <a:solidFill>
                      <a:srgbClr val="EA9999"/>
                    </a:solidFill>
                  </a:tcPr>
                </a:tc>
              </a:tr>
            </a:tbl>
          </a:graphicData>
        </a:graphic>
      </p:graphicFrame>
      <p:sp>
        <p:nvSpPr>
          <p:cNvPr id="522" name="Google Shape;522;p61"/>
          <p:cNvSpPr txBox="1"/>
          <p:nvPr/>
        </p:nvSpPr>
        <p:spPr>
          <a:xfrm>
            <a:off x="4734500" y="372700"/>
            <a:ext cx="2421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2"/>
                </a:solidFill>
              </a:rPr>
              <a:t>Iteration 2</a:t>
            </a:r>
            <a:endParaRPr sz="1500">
              <a:solidFill>
                <a:schemeClr val="dk2"/>
              </a:solidFill>
            </a:endParaRPr>
          </a:p>
        </p:txBody>
      </p:sp>
      <p:sp>
        <p:nvSpPr>
          <p:cNvPr id="523" name="Google Shape;523;p61"/>
          <p:cNvSpPr txBox="1"/>
          <p:nvPr/>
        </p:nvSpPr>
        <p:spPr>
          <a:xfrm>
            <a:off x="4734500" y="2787025"/>
            <a:ext cx="2421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2"/>
                </a:solidFill>
              </a:rPr>
              <a:t>Iteration 3</a:t>
            </a:r>
            <a:endParaRPr sz="1500">
              <a:solidFill>
                <a:schemeClr val="dk2"/>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Softmax</a:t>
            </a:r>
            <a:endParaRPr/>
          </a:p>
        </p:txBody>
      </p:sp>
      <p:pic>
        <p:nvPicPr>
          <p:cNvPr descr="{&quot;font&quot;:{&quot;family&quot;:&quot;Arial&quot;,&quot;color&quot;:&quot;#595959&quot;,&quot;size&quot;:15.5},&quot;backgroundColorModified&quot;:false,&quot;id&quot;:&quot;7&quot;,&quot;backgroundColor&quot;:&quot;#FFFFFF&quot;,&quot;type&quot;:&quot;gather*&quot;,&quot;aid&quot;:null,&quot;code&quot;:&quot;\\begin{gather*}\n{\\text{For}\\;\\text{every}\\;\\text{query,}\\;\\text{attention}\\;\\text{requires}}\\\\\n{O_{i}=\\sum_{j}^{}\\frac{\\exp\\left(S_{ij}\\right)}{\\sum_{k}^{}\\exp\\left(S_{ik}\\right)}V_{j}}\\\\\n{\\text{The}\\;\\text{denominator}\\;\\text{depends}\\;\\text{on}\\;\\text{all}\\;\\text{the}\\;\\text{keys..so}\\;\\text{how}\\;\\text{can}\\;\\text{we}\\;\\text{process}\\;\\text{blocks}\\;\\text{at}\\;\\text{a}\\;\\text{time?}\\;\\text{}}\t\n\\end{gather*}&quot;,&quot;ts&quot;:1777516993917,&quot;cs&quot;:&quot;8v5ojyxpcqqRw6jrcIW8RA==&quot;,&quot;size&quot;:{&quot;width&quot;:873.7846582677166,&quot;height&quot;:131.1994881889764}}" id="529" name="Google Shape;529;p62"/>
          <p:cNvPicPr preferRelativeResize="0"/>
          <p:nvPr/>
        </p:nvPicPr>
        <p:blipFill>
          <a:blip r:embed="rId3">
            <a:alphaModFix/>
          </a:blip>
          <a:stretch>
            <a:fillRect/>
          </a:stretch>
        </p:blipFill>
        <p:spPr>
          <a:xfrm>
            <a:off x="337225" y="1142700"/>
            <a:ext cx="8322799" cy="1249675"/>
          </a:xfrm>
          <a:prstGeom prst="rect">
            <a:avLst/>
          </a:prstGeom>
          <a:noFill/>
          <a:ln>
            <a:noFill/>
          </a:ln>
        </p:spPr>
      </p:pic>
      <p:pic>
        <p:nvPicPr>
          <p:cNvPr descr="{&quot;backgroundColorModified&quot;:false,&quot;code&quot;:&quot;\\begin{gather*}\n{\\text{First,}\\;\\text{a}\\;\\text{trick}\\;\\text{for}\\;\\text{numerical}\\;\\text{stability}}\\\\\n{O_{i}=\\sum_{j}^{}P_{ij}V_{j}}\\\\\n{P_{j}=\\frac{\\exp\\left(S_{ij}-m_{i}\\right)}{\\sum_{k}^{}\\left(\\exp\\left(S_{ik}\\right)-m_{i}\\right)}}\\\\\n{m_{i}=\\max_{k}\\left(S_{ik}\\right)\\text{}}\\\\\n{\\text{Subtracting}\\;\\text{the}\\;\\text{max}\\;\\text{and}\\;\\text{then}\\;\\text{exponentiating}\\;\\text{makes}\\;\\text{exponentials}\\;\\text{smaller}\\;\\text{and}\\;\\text{reduces}\\;\\text{overflow}}\t\n\\end{gather*}&quot;,&quot;type&quot;:&quot;gather*&quot;,&quot;backgroundColor&quot;:&quot;#FFFFFF&quot;,&quot;aid&quot;:null,&quot;font&quot;:{&quot;color&quot;:&quot;#595959&quot;,&quot;size&quot;:13.5,&quot;family&quot;:&quot;Arial&quot;},&quot;id&quot;:&quot;7&quot;,&quot;ts&quot;:1777548074963,&quot;cs&quot;:&quot;+nLeFuwj5QI9gs3u47Bkvw==&quot;,&quot;size&quot;:{&quot;width&quot;:869,&quot;height&quot;:206}}" id="530" name="Google Shape;530;p62"/>
          <p:cNvPicPr preferRelativeResize="0"/>
          <p:nvPr/>
        </p:nvPicPr>
        <p:blipFill>
          <a:blip r:embed="rId4">
            <a:alphaModFix/>
          </a:blip>
          <a:stretch>
            <a:fillRect/>
          </a:stretch>
        </p:blipFill>
        <p:spPr>
          <a:xfrm>
            <a:off x="225550" y="2767147"/>
            <a:ext cx="8277225" cy="19621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Softmax</a:t>
            </a:r>
            <a:endParaRPr/>
          </a:p>
        </p:txBody>
      </p:sp>
      <p:pic>
        <p:nvPicPr>
          <p:cNvPr descr="{&quot;backgroundColorModified&quot;:false,&quot;code&quot;:&quot;\\begin{gather*}\n{\\text{First,}\\;\\text{a}\\;\\text{trick}\\;\\text{for}\\;\\text{numerical}\\;\\text{stability}}\\\\\n{O_{i}=\\sum_{j}^{}P_{ij}V_{j}}\\\\\n{P_{j}=\\frac{\\exp\\left(S_{ij}-m_{i}\\right)}{\\sum_{k}^{}\\left(\\exp\\left(S_{ik}\\right)-m_{i}\\right)}}\\\\\n{m_{i}=\\max_{k}\\left(S_{ik}\\right)\\text{}}\\\\\n{\\text{Subtracting}\\;\\text{the}\\;\\text{max}\\;\\text{and}\\;\\text{then}\\;\\text{exponentiating}\\;\\text{makes}\\;\\text{exponentials}\\;\\text{smaller}\\;\\text{and}\\;\\text{reduces}\\;\\text{overflow}}\t\n\\end{gather*}&quot;,&quot;type&quot;:&quot;gather*&quot;,&quot;backgroundColor&quot;:&quot;#FFFFFF&quot;,&quot;aid&quot;:null,&quot;font&quot;:{&quot;color&quot;:&quot;#595959&quot;,&quot;size&quot;:13.5,&quot;family&quot;:&quot;Arial&quot;},&quot;id&quot;:&quot;7&quot;,&quot;ts&quot;:1777548074963,&quot;cs&quot;:&quot;+nLeFuwj5QI9gs3u47Bkvw==&quot;,&quot;size&quot;:{&quot;width&quot;:869,&quot;height&quot;:206}}" id="536" name="Google Shape;536;p63"/>
          <p:cNvPicPr preferRelativeResize="0"/>
          <p:nvPr/>
        </p:nvPicPr>
        <p:blipFill>
          <a:blip r:embed="rId3">
            <a:alphaModFix/>
          </a:blip>
          <a:stretch>
            <a:fillRect/>
          </a:stretch>
        </p:blipFill>
        <p:spPr>
          <a:xfrm>
            <a:off x="242575" y="1197272"/>
            <a:ext cx="8277225" cy="1962150"/>
          </a:xfrm>
          <a:prstGeom prst="rect">
            <a:avLst/>
          </a:prstGeom>
          <a:noFill/>
          <a:ln>
            <a:noFill/>
          </a:ln>
        </p:spPr>
      </p:pic>
      <p:sp>
        <p:nvSpPr>
          <p:cNvPr id="537" name="Google Shape;537;p63"/>
          <p:cNvSpPr txBox="1"/>
          <p:nvPr/>
        </p:nvSpPr>
        <p:spPr>
          <a:xfrm>
            <a:off x="242575" y="3606450"/>
            <a:ext cx="3573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To compute the denominator and the sum, we need all the keys!</a:t>
            </a:r>
            <a:endParaRPr sz="1800">
              <a:solidFill>
                <a:schemeClr val="dk2"/>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solution: Online Softmax</a:t>
            </a:r>
            <a:endParaRPr/>
          </a:p>
        </p:txBody>
      </p:sp>
      <p:pic>
        <p:nvPicPr>
          <p:cNvPr descr="{&quot;type&quot;:&quot;gather*&quot;,&quot;backgroundColorModified&quot;:false,&quot;code&quot;:&quot;\\begin{gather*}\n{\\text{Maintain}\\;\\text{three}\\;\\text{running}\\;\\text{quantities:}}\\\\\n{m_{i}:\\,\\text{max}\\;\\text{score}\\;\\text{seen}\\;\\text{so}\\;\\text{far}}\\\\\n{l_{i}:\\,\\text{running}\\;\\text{softmax}\\;\\text{denominator,}\\;\\text{adjusted}\\;\\text{for}\\;\\text{current}\\;\\text{max}}\\\\\n{o_{i}:\\,\\text{running}\\;\\text{output}}\\\\\n{\\text{For}\\;\\text{a}\\;\\text{query}\\;i,\\,\\text{suppose}\\;\\text{after}\\;\\text{processing}\\;\\text{the}\\;\\text{previous}\\;\\text{block,}\\;\\text{we}\\;\\text{have}}\\\\\n{m_{old},l_{old},\\,o_{old}}\t\n\\end{gather*}&quot;,&quot;font&quot;:{&quot;family&quot;:&quot;Arial&quot;,&quot;size&quot;:18,&quot;color&quot;:&quot;#595959&quot;},&quot;aid&quot;:null,&quot;backgroundColor&quot;:&quot;#FFFFFF&quot;,&quot;id&quot;:&quot;8&quot;,&quot;ts&quot;:1777549510954,&quot;cs&quot;:&quot;c6JOJJ1QWubLUphLKc9pWg==&quot;,&quot;size&quot;:{&quot;width&quot;:813.5,&quot;height&quot;:208.5}}" id="543" name="Google Shape;543;p64"/>
          <p:cNvPicPr preferRelativeResize="0"/>
          <p:nvPr/>
        </p:nvPicPr>
        <p:blipFill>
          <a:blip r:embed="rId3">
            <a:alphaModFix/>
          </a:blip>
          <a:stretch>
            <a:fillRect/>
          </a:stretch>
        </p:blipFill>
        <p:spPr>
          <a:xfrm>
            <a:off x="411225" y="2519874"/>
            <a:ext cx="6676525" cy="1711175"/>
          </a:xfrm>
          <a:prstGeom prst="rect">
            <a:avLst/>
          </a:prstGeom>
          <a:noFill/>
          <a:ln>
            <a:noFill/>
          </a:ln>
        </p:spPr>
      </p:pic>
      <p:sp>
        <p:nvSpPr>
          <p:cNvPr id="544" name="Google Shape;544;p64"/>
          <p:cNvSpPr txBox="1"/>
          <p:nvPr/>
        </p:nvSpPr>
        <p:spPr>
          <a:xfrm>
            <a:off x="370175" y="1241025"/>
            <a:ext cx="7572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Core idea:</a:t>
            </a:r>
            <a:r>
              <a:rPr lang="en" sz="1800">
                <a:solidFill>
                  <a:schemeClr val="dk2"/>
                </a:solidFill>
              </a:rPr>
              <a:t> Maintain running counters that are updated as K, V are streamed in, such that the final output is the same</a:t>
            </a:r>
            <a:endParaRPr sz="1800">
              <a:solidFill>
                <a:schemeClr val="dk2"/>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The solution: Online Softmax</a:t>
            </a:r>
            <a:endParaRPr/>
          </a:p>
        </p:txBody>
      </p:sp>
      <p:pic>
        <p:nvPicPr>
          <p:cNvPr descr="{&quot;code&quot;:&quot;\\begin{gather*}\n{\\text{For}\\;\\text{a}\\;\\text{new}\\;\\text{KV}\\;\\text{block:}}\\\\\n{1.\\,\\text{calculate}\\;S_{ij}\\,\\text{and}\\;\\text{take}\\;\\text{max:}}\\\\\n{m_{block}=\\max_{j}\\left(S_{ij}\\right)}\\\\\n{\\text{New}\\;\\text{global}\\;\\text{max:}\\;\\text{}}\\\\\n{m_{new}=\\max\\left(m_{old},m_{block}\\right)}\\\\\n{}\\\\\n{2.\\,\\text{Calculate}\\,\\text{new}\\,\\text{running}\\;\\text{denominator}\\;\\text{adjusting}\\;\\text{for}\\;\\text{the}\\;\\text{new}\\;\\text{max}}\\\\\n{l_{new}=\\exp\\left(m_{old}-m_{new}\\right)l_{old}+\\sum_{j\\in \\text{block}}^{}\\exp\\left(S_{ij}-m_{new}\\right)}\\\\\n{3.\\,\\text{Similarly,}\\;\\text{rescale}\\;\\text{the}\\;\\text{output}\\;\\text{accumulator}}\\\\\n{o_{new}=\\exp\\left(m_{old}-m_{new}\\right)o_{old}+\\sum_{j\\in \\text{block}}^{}\\exp\\left(S_{ij}-m_{new}\\right)V_{j}}\\\\\n{\\text{After}\\;\\text{processing}\\;\\text{all}\\;\\text{the}\\;\\text{KV}\\;\\text{blocks},}\\\\\n{O_{i}=\\frac{o_{i}}{l_{i}}}\t\n\\end{gather*}&quot;,&quot;aid&quot;:null,&quot;font&quot;:{&quot;family&quot;:&quot;Arial&quot;,&quot;size&quot;:13.5,&quot;color&quot;:&quot;#595959&quot;},&quot;type&quot;:&quot;gather*&quot;,&quot;backgroundColorModified&quot;:false,&quot;id&quot;:&quot;8&quot;,&quot;backgroundColor&quot;:&quot;#FFFFFF&quot;,&quot;ts&quot;:1777599949551,&quot;cs&quot;:&quot;Yypy8s84lX7KKtEk7TCnkg==&quot;,&quot;size&quot;:{&quot;width&quot;:588,&quot;height&quot;:424.5}}" id="550" name="Google Shape;550;p65"/>
          <p:cNvPicPr preferRelativeResize="0"/>
          <p:nvPr/>
        </p:nvPicPr>
        <p:blipFill>
          <a:blip r:embed="rId3">
            <a:alphaModFix/>
          </a:blip>
          <a:stretch>
            <a:fillRect/>
          </a:stretch>
        </p:blipFill>
        <p:spPr>
          <a:xfrm>
            <a:off x="533650" y="1063312"/>
            <a:ext cx="5600700" cy="4043363"/>
          </a:xfrm>
          <a:prstGeom prst="rect">
            <a:avLst/>
          </a:prstGeom>
          <a:noFill/>
          <a:ln>
            <a:noFill/>
          </a:ln>
        </p:spPr>
      </p:pic>
      <p:sp>
        <p:nvSpPr>
          <p:cNvPr id="551" name="Google Shape;551;p65"/>
          <p:cNvSpPr txBox="1"/>
          <p:nvPr/>
        </p:nvSpPr>
        <p:spPr>
          <a:xfrm>
            <a:off x="5126575" y="1036825"/>
            <a:ext cx="35736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2"/>
                </a:solidFill>
              </a:rPr>
              <a:t>Note:</a:t>
            </a:r>
            <a:r>
              <a:rPr lang="en" sz="1600">
                <a:solidFill>
                  <a:schemeClr val="dk2"/>
                </a:solidFill>
              </a:rPr>
              <a:t> the running averages can stay in SRAM, as KV blocks are streamed in to the same FlashAttention kernel. No new kernel launches</a:t>
            </a:r>
            <a:endParaRPr sz="1600">
              <a:solidFill>
                <a:schemeClr val="dk2"/>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FlashAttention: Summary</a:t>
            </a:r>
            <a:endParaRPr/>
          </a:p>
        </p:txBody>
      </p:sp>
      <p:sp>
        <p:nvSpPr>
          <p:cNvPr id="557" name="Google Shape;557;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Traditional attention is slow because:</a:t>
            </a:r>
            <a:endParaRPr/>
          </a:p>
          <a:p>
            <a:pPr indent="-342900" lvl="0" marL="457200" rtl="0" algn="l">
              <a:spcBef>
                <a:spcPts val="1200"/>
              </a:spcBef>
              <a:spcAft>
                <a:spcPts val="0"/>
              </a:spcAft>
              <a:buSzPts val="1800"/>
              <a:buChar char="-"/>
            </a:pPr>
            <a:r>
              <a:rPr lang="en"/>
              <a:t>Materializes N^2 intermediates </a:t>
            </a:r>
            <a:endParaRPr/>
          </a:p>
          <a:p>
            <a:pPr indent="-342900" lvl="0" marL="457200" rtl="0" algn="l">
              <a:spcBef>
                <a:spcPts val="0"/>
              </a:spcBef>
              <a:spcAft>
                <a:spcPts val="0"/>
              </a:spcAft>
              <a:buSzPts val="1800"/>
              <a:buChar char="-"/>
            </a:pPr>
            <a:r>
              <a:rPr lang="en"/>
              <a:t>Repeatedly moves them through HBM between separate kernels. HBM may be large enough to store them, but the bandwidth cost of writing and rereading them is huge. </a:t>
            </a:r>
            <a:endParaRPr/>
          </a:p>
          <a:p>
            <a:pPr indent="0" lvl="0" marL="0" rtl="0" algn="l">
              <a:spcBef>
                <a:spcPts val="1200"/>
              </a:spcBef>
              <a:spcAft>
                <a:spcPts val="1200"/>
              </a:spcAft>
              <a:buNone/>
            </a:pPr>
            <a:r>
              <a:rPr lang="en"/>
              <a:t>FlashAttention </a:t>
            </a:r>
            <a:r>
              <a:rPr b="1" lang="en"/>
              <a:t>fuses</a:t>
            </a:r>
            <a:r>
              <a:rPr lang="en"/>
              <a:t> the attention computation and uses </a:t>
            </a:r>
            <a:r>
              <a:rPr b="1" lang="en"/>
              <a:t>tiled online softmax</a:t>
            </a:r>
            <a:r>
              <a:rPr lang="en"/>
              <a:t> so each small score tile is created on-chip, consumed immediately, and never written to HBM.</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 vs Inference</a:t>
            </a:r>
            <a:endParaRPr/>
          </a:p>
        </p:txBody>
      </p:sp>
      <p:sp>
        <p:nvSpPr>
          <p:cNvPr id="563" name="Google Shape;563;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Training</a:t>
            </a:r>
            <a:r>
              <a:rPr lang="en"/>
              <a:t> requires forward and backward pass, and avoiding the N,N attention matrix was a key enabler in making long-context training possible. Adapting the backprop math in the backward pass to FlashAttention is tricky!</a:t>
            </a:r>
            <a:endParaRPr/>
          </a:p>
          <a:p>
            <a:pPr indent="0" lvl="0" marL="0" rtl="0" algn="l">
              <a:spcBef>
                <a:spcPts val="1200"/>
              </a:spcBef>
              <a:spcAft>
                <a:spcPts val="0"/>
              </a:spcAft>
              <a:buNone/>
            </a:pPr>
            <a:r>
              <a:rPr lang="en"/>
              <a:t>For </a:t>
            </a:r>
            <a:r>
              <a:rPr b="1" lang="en"/>
              <a:t>Inference prefill</a:t>
            </a:r>
            <a:r>
              <a:rPr lang="en"/>
              <a:t>, we process the entire prompt at once, and FlashAttention is critical to lower TTFT</a:t>
            </a:r>
            <a:endParaRPr/>
          </a:p>
          <a:p>
            <a:pPr indent="0" lvl="0" marL="0" rtl="0" algn="l">
              <a:spcBef>
                <a:spcPts val="1200"/>
              </a:spcBef>
              <a:spcAft>
                <a:spcPts val="0"/>
              </a:spcAft>
              <a:buNone/>
            </a:pPr>
            <a:r>
              <a:rPr lang="en"/>
              <a:t>For </a:t>
            </a:r>
            <a:r>
              <a:rPr b="1" lang="en"/>
              <a:t>Inference decode</a:t>
            </a:r>
            <a:r>
              <a:rPr lang="en"/>
              <a:t>, we are calculating attention score of the current token wrt previous KV cache.. So the attention matrix is only 1,N and FlashAttention is less important. </a:t>
            </a:r>
            <a:endParaRPr/>
          </a:p>
          <a:p>
            <a:pPr indent="0" lvl="0" marL="0" rtl="0" algn="l">
              <a:spcBef>
                <a:spcPts val="1200"/>
              </a:spcBef>
              <a:spcAft>
                <a:spcPts val="1200"/>
              </a:spcAft>
              <a:buNone/>
            </a:pPr>
            <a:r>
              <a:rPr lang="en"/>
              <a:t>Decode is dominated by reading KV </a:t>
            </a:r>
            <a:r>
              <a:rPr lang="en"/>
              <a:t>cache</a:t>
            </a:r>
            <a:r>
              <a:rPr lang="en"/>
              <a:t> from memory, so paged attention, kv cache layout become more important..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Prefix to block mapping	</a:t>
            </a:r>
            <a:endParaRPr/>
          </a:p>
        </p:txBody>
      </p:sp>
      <p:sp>
        <p:nvSpPr>
          <p:cNvPr id="569" name="Google Shape;569;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10000"/>
          </a:bodyPr>
          <a:lstStyle/>
          <a:p>
            <a:pPr indent="0" lvl="0" marL="0" rtl="0" algn="l">
              <a:spcBef>
                <a:spcPts val="0"/>
              </a:spcBef>
              <a:spcAft>
                <a:spcPts val="0"/>
              </a:spcAft>
              <a:buClr>
                <a:schemeClr val="dk1"/>
              </a:buClr>
              <a:buSzPct val="61111"/>
              <a:buFont typeface="Arial"/>
              <a:buNone/>
            </a:pPr>
            <a:r>
              <a:rPr lang="en"/>
              <a:t>By storing entries keyed by the entire prefix up to that block, not just by the block contents.</a:t>
            </a:r>
            <a:endParaRPr/>
          </a:p>
          <a:p>
            <a:pPr indent="0" lvl="0" marL="0" rtl="0" algn="l">
              <a:spcBef>
                <a:spcPts val="1200"/>
              </a:spcBef>
              <a:spcAft>
                <a:spcPts val="0"/>
              </a:spcAft>
              <a:buClr>
                <a:schemeClr val="dk1"/>
              </a:buClr>
              <a:buSzPct val="61111"/>
              <a:buFont typeface="Arial"/>
              <a:buNone/>
            </a:pPr>
            <a:r>
              <a:rPr lang="en"/>
              <a:t>So if block_size = 4 and prompt is:</a:t>
            </a:r>
            <a:endParaRPr/>
          </a:p>
          <a:p>
            <a:pPr indent="0" lvl="0" marL="0" rtl="0" algn="l">
              <a:spcBef>
                <a:spcPts val="1200"/>
              </a:spcBef>
              <a:spcAft>
                <a:spcPts val="0"/>
              </a:spcAft>
              <a:buClr>
                <a:schemeClr val="dk1"/>
              </a:buClr>
              <a:buSzPct val="61111"/>
              <a:buFont typeface="Arial"/>
              <a:buNone/>
            </a:pPr>
            <a:r>
              <a:rPr lang="en"/>
              <a:t>block 0: A B C D</a:t>
            </a:r>
            <a:endParaRPr/>
          </a:p>
          <a:p>
            <a:pPr indent="0" lvl="0" marL="0" rtl="0" algn="l">
              <a:spcBef>
                <a:spcPts val="1200"/>
              </a:spcBef>
              <a:spcAft>
                <a:spcPts val="0"/>
              </a:spcAft>
              <a:buClr>
                <a:schemeClr val="dk1"/>
              </a:buClr>
              <a:buSzPct val="61111"/>
              <a:buFont typeface="Arial"/>
              <a:buNone/>
            </a:pPr>
            <a:r>
              <a:rPr lang="en"/>
              <a:t>block 1: E F G H</a:t>
            </a:r>
            <a:endParaRPr/>
          </a:p>
          <a:p>
            <a:pPr indent="0" lvl="0" marL="0" rtl="0" algn="l">
              <a:spcBef>
                <a:spcPts val="1200"/>
              </a:spcBef>
              <a:spcAft>
                <a:spcPts val="0"/>
              </a:spcAft>
              <a:buClr>
                <a:schemeClr val="dk1"/>
              </a:buClr>
              <a:buSzPct val="61111"/>
              <a:buFont typeface="Arial"/>
              <a:buNone/>
            </a:pPr>
            <a:r>
              <a:rPr lang="en"/>
              <a:t>block 2: I J K L</a:t>
            </a:r>
            <a:endParaRPr/>
          </a:p>
          <a:p>
            <a:pPr indent="0" lvl="0" marL="0" rtl="0" algn="l">
              <a:spcBef>
                <a:spcPts val="1200"/>
              </a:spcBef>
              <a:spcAft>
                <a:spcPts val="0"/>
              </a:spcAft>
              <a:buNone/>
            </a:pPr>
            <a:r>
              <a:rPr lang="en"/>
              <a:t>then </a:t>
            </a:r>
            <a:r>
              <a:rPr lang="en"/>
              <a:t>the cache stores mappings like:</a:t>
            </a:r>
            <a:endParaRPr/>
          </a:p>
          <a:p>
            <a:pPr indent="0" lvl="0" marL="0" rtl="0" algn="l">
              <a:spcBef>
                <a:spcPts val="1200"/>
              </a:spcBef>
              <a:spcAft>
                <a:spcPts val="0"/>
              </a:spcAft>
              <a:buClr>
                <a:schemeClr val="dk1"/>
              </a:buClr>
              <a:buSzPct val="61111"/>
              <a:buFont typeface="Arial"/>
              <a:buNone/>
            </a:pPr>
            <a:r>
              <a:rPr lang="en"/>
              <a:t>(A,B,C,D) -&gt; block_id_0</a:t>
            </a:r>
            <a:endParaRPr/>
          </a:p>
          <a:p>
            <a:pPr indent="0" lvl="0" marL="0" rtl="0" algn="l">
              <a:spcBef>
                <a:spcPts val="1200"/>
              </a:spcBef>
              <a:spcAft>
                <a:spcPts val="0"/>
              </a:spcAft>
              <a:buClr>
                <a:schemeClr val="dk1"/>
              </a:buClr>
              <a:buSzPct val="61111"/>
              <a:buFont typeface="Arial"/>
              <a:buNone/>
            </a:pPr>
            <a:r>
              <a:rPr lang="en"/>
              <a:t>(A,B,C,D,E,F,G,H) -&gt; block_id_1</a:t>
            </a:r>
            <a:endParaRPr/>
          </a:p>
          <a:p>
            <a:pPr indent="0" lvl="0" marL="0" rtl="0" algn="l">
              <a:spcBef>
                <a:spcPts val="1200"/>
              </a:spcBef>
              <a:spcAft>
                <a:spcPts val="0"/>
              </a:spcAft>
              <a:buClr>
                <a:schemeClr val="dk1"/>
              </a:buClr>
              <a:buSzPct val="61111"/>
              <a:buFont typeface="Arial"/>
              <a:buNone/>
            </a:pPr>
            <a:r>
              <a:rPr lang="en"/>
              <a:t>(A,B,C,D,E,F,G,H,I,J,K,L) -&gt; block_id_2</a:t>
            </a:r>
            <a:endParaRPr/>
          </a:p>
          <a:p>
            <a:pPr indent="0" lvl="0" marL="0" rtl="0" algn="l">
              <a:spcBef>
                <a:spcPts val="1200"/>
              </a:spcBef>
              <a:spcAft>
                <a:spcPts val="0"/>
              </a:spcAft>
              <a:buClr>
                <a:schemeClr val="dk1"/>
              </a:buClr>
              <a:buSzPct val="61111"/>
              <a:buFont typeface="Arial"/>
              <a:buNone/>
            </a:pPr>
            <a:r>
              <a:rPr lang="en"/>
              <a:t>That is why prefix_len keeps growing. On lookup:</a:t>
            </a:r>
            <a:endParaRPr/>
          </a:p>
          <a:p>
            <a:pPr indent="0" lvl="0" marL="0" rtl="0" algn="l">
              <a:spcBef>
                <a:spcPts val="1200"/>
              </a:spcBef>
              <a:spcAft>
                <a:spcPts val="0"/>
              </a:spcAft>
              <a:buClr>
                <a:schemeClr val="dk1"/>
              </a:buClr>
              <a:buSzPct val="61111"/>
              <a:buFont typeface="Arial"/>
              <a:buNone/>
            </a:pPr>
            <a:r>
              <a:rPr lang="en"/>
              <a:t>for blo</a:t>
            </a:r>
            <a:r>
              <a:rPr lang="en"/>
              <a:t>c</a:t>
            </a:r>
            <a:r>
              <a:rPr lang="en"/>
              <a:t>k_idx = 0, it asks “do I have the first full block of this prompt?”</a:t>
            </a:r>
            <a:endParaRPr/>
          </a:p>
          <a:p>
            <a:pPr indent="0" lvl="0" marL="0" rtl="0" algn="l">
              <a:spcBef>
                <a:spcPts val="1200"/>
              </a:spcBef>
              <a:spcAft>
                <a:spcPts val="0"/>
              </a:spcAft>
              <a:buClr>
                <a:schemeClr val="dk1"/>
              </a:buClr>
              <a:buSzPct val="61111"/>
              <a:buFont typeface="Arial"/>
              <a:buNone/>
            </a:pPr>
            <a:r>
              <a:rPr lang="en"/>
              <a:t>for block_idx = 1, it asks “do I have the first two full blocks of this prompt?”</a:t>
            </a:r>
            <a:endParaRPr/>
          </a:p>
          <a:p>
            <a:pPr indent="0" lvl="0" marL="0" rtl="0" algn="l">
              <a:spcBef>
                <a:spcPts val="1200"/>
              </a:spcBef>
              <a:spcAft>
                <a:spcPts val="0"/>
              </a:spcAft>
              <a:buClr>
                <a:schemeClr val="dk1"/>
              </a:buClr>
              <a:buSzPct val="61111"/>
              <a:buFont typeface="Arial"/>
              <a:buNone/>
            </a:pPr>
            <a:r>
              <a:rPr lang="en"/>
              <a:t>and so on</a:t>
            </a:r>
            <a:endParaRPr/>
          </a:p>
          <a:p>
            <a:pPr indent="0" lvl="0" marL="0" rtl="0" algn="l">
              <a:spcBef>
                <a:spcPts val="1200"/>
              </a:spcBef>
              <a:spcAft>
                <a:spcPts val="0"/>
              </a:spcAft>
              <a:buClr>
                <a:schemeClr val="dk1"/>
              </a:buClr>
              <a:buSzPct val="61111"/>
              <a:buFont typeface="Arial"/>
              <a:buNone/>
            </a:pPr>
            <a:r>
              <a:rPr lang="en"/>
              <a:t>If any longer prefix is missing, lookup stops.</a:t>
            </a:r>
            <a:endParaRPr/>
          </a:p>
          <a:p>
            <a:pPr indent="0" lvl="0" marL="0" rtl="0" algn="l">
              <a:spcBef>
                <a:spcPts val="1200"/>
              </a:spcBef>
              <a:spcAft>
                <a:spcPts val="12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Continuous Batching and chunked prefill</a:t>
            </a:r>
            <a:endParaRPr/>
          </a:p>
        </p:txBody>
      </p:sp>
      <p:sp>
        <p:nvSpPr>
          <p:cNvPr id="575" name="Google Shape;575;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Another consequence of continuous batching and chunked prefill is that we are no longer passing padded sequences to the model</a:t>
            </a:r>
            <a:endParaRPr/>
          </a:p>
          <a:p>
            <a:pPr indent="0" lvl="0" marL="0" rtl="0" algn="l">
              <a:spcBef>
                <a:spcPts val="1200"/>
              </a:spcBef>
              <a:spcAft>
                <a:spcPts val="0"/>
              </a:spcAft>
              <a:buNone/>
            </a:pPr>
            <a:r>
              <a:rPr lang="en"/>
              <a:t>Before:</a:t>
            </a:r>
            <a:endParaRPr/>
          </a:p>
          <a:p>
            <a:pPr indent="0" lvl="0" marL="0" rtl="0" algn="l">
              <a:spcBef>
                <a:spcPts val="1200"/>
              </a:spcBef>
              <a:spcAft>
                <a:spcPts val="0"/>
              </a:spcAft>
              <a:buNone/>
            </a:pPr>
            <a:r>
              <a:rPr lang="en"/>
              <a:t>Bird fly home </a:t>
            </a:r>
            <a:r>
              <a:rPr lang="en">
                <a:solidFill>
                  <a:srgbClr val="FF0000"/>
                </a:solidFill>
              </a:rPr>
              <a:t>pad</a:t>
            </a:r>
            <a:r>
              <a:rPr lang="en"/>
              <a:t> </a:t>
            </a:r>
            <a:r>
              <a:rPr lang="en">
                <a:solidFill>
                  <a:srgbClr val="FF0000"/>
                </a:solidFill>
              </a:rPr>
              <a:t>pad</a:t>
            </a:r>
            <a:r>
              <a:rPr lang="en"/>
              <a:t> </a:t>
            </a:r>
            <a:br>
              <a:rPr lang="en"/>
            </a:br>
            <a:r>
              <a:rPr lang="en"/>
              <a:t>Children played in the sand</a:t>
            </a:r>
            <a:br>
              <a:rPr lang="en"/>
            </a:br>
            <a:r>
              <a:rPr lang="en"/>
              <a:t>The cat caught mice </a:t>
            </a:r>
            <a:r>
              <a:rPr lang="en">
                <a:solidFill>
                  <a:srgbClr val="FF0000"/>
                </a:solidFill>
              </a:rPr>
              <a:t>pad</a:t>
            </a:r>
            <a:endParaRPr>
              <a:solidFill>
                <a:srgbClr val="FF0000"/>
              </a:solidFill>
            </a:endParaRPr>
          </a:p>
          <a:p>
            <a:pPr indent="0" lvl="0" marL="0" rtl="0" algn="l">
              <a:spcBef>
                <a:spcPts val="1200"/>
              </a:spcBef>
              <a:spcAft>
                <a:spcPts val="0"/>
              </a:spcAft>
              <a:buNone/>
            </a:pPr>
            <a:r>
              <a:rPr lang="en">
                <a:solidFill>
                  <a:srgbClr val="000000"/>
                </a:solidFill>
              </a:rPr>
              <a:t>Now:</a:t>
            </a:r>
            <a:endParaRPr>
              <a:solidFill>
                <a:srgbClr val="000000"/>
              </a:solidFill>
            </a:endParaRPr>
          </a:p>
          <a:p>
            <a:pPr indent="0" lvl="0" marL="0" rtl="0" algn="l">
              <a:spcBef>
                <a:spcPts val="1200"/>
              </a:spcBef>
              <a:spcAft>
                <a:spcPts val="0"/>
              </a:spcAft>
              <a:buNone/>
            </a:pPr>
            <a:r>
              <a:t/>
            </a:r>
            <a:endParaRPr>
              <a:solidFill>
                <a:srgbClr val="000000"/>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