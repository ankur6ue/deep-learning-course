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B836C8-1DD1-41B9-B845-22F31B83603E}">
  <a:tblStyle styleId="{8FB836C8-1DD1-41B9-B845-22F31B83603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1.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g3d8d5a660c5_0_3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g3d8d5a660c5_0_3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e5572e8fe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e5572e8fe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e82c63d41f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e82c63d41f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f547d881a5_1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f547d881a5_1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f5ef51aa9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f5ef51aa9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f5ef51aa9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f5ef51aa9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8" name="Shape 88"/>
        <p:cNvGrpSpPr/>
        <p:nvPr/>
      </p:nvGrpSpPr>
      <p:grpSpPr>
        <a:xfrm>
          <a:off x="0" y="0"/>
          <a:ext cx="0" cy="0"/>
          <a:chOff x="0" y="0"/>
          <a:chExt cx="0" cy="0"/>
        </a:xfrm>
      </p:grpSpPr>
      <p:sp>
        <p:nvSpPr>
          <p:cNvPr id="89" name="Google Shape;89;g3f5ef51aa96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0" name="Google Shape;90;g3f5ef51aa96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f5ef51aa96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f5ef51aa96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f5ef51aa96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f5ef51aa96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f5ef51aa96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f5ef51aa96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5ef51aa96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5ef51aa96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f5ef51aa96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f5ef51aa96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3f5ef51aa96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3f5ef51aa96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3f5ef51aa96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3f5ef51aa96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4" name="Shape 164"/>
        <p:cNvGrpSpPr/>
        <p:nvPr/>
      </p:nvGrpSpPr>
      <p:grpSpPr>
        <a:xfrm>
          <a:off x="0" y="0"/>
          <a:ext cx="0" cy="0"/>
          <a:chOff x="0" y="0"/>
          <a:chExt cx="0" cy="0"/>
        </a:xfrm>
      </p:grpSpPr>
      <p:sp>
        <p:nvSpPr>
          <p:cNvPr id="165" name="Google Shape;165;g3f5ef51aa96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6" name="Google Shape;166;g3f5ef51aa96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f5ef51aa96_0_1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 name="Google Shape;173;g3f5ef51aa96_0_1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4.png"/><Relationship Id="rId4"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13.png"/><Relationship Id="rId4" Type="http://schemas.openxmlformats.org/officeDocument/2006/relationships/image" Target="../media/image4.png"/><Relationship Id="rId5" Type="http://schemas.openxmlformats.org/officeDocument/2006/relationships/image" Target="../media/image11.png"/><Relationship Id="rId6" Type="http://schemas.openxmlformats.org/officeDocument/2006/relationships/image" Target="../media/image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Reinforcement Learning</a:t>
            </a:r>
            <a:endParaRPr/>
          </a:p>
          <a:p>
            <a:pPr indent="0" lvl="0" marL="0" rtl="0" algn="ctr">
              <a:spcBef>
                <a:spcPts val="0"/>
              </a:spcBef>
              <a:spcAft>
                <a:spcPts val="0"/>
              </a:spcAft>
              <a:buNone/>
            </a:pPr>
            <a:r>
              <a:rPr lang="en" sz="2756"/>
              <a:t>Actor-Critic, GAE, and PPO</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Introduction to Deep Learning: Class 7.5</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Module outline</a:t>
            </a:r>
            <a:endParaRPr/>
          </a:p>
        </p:txBody>
      </p:sp>
      <p:graphicFrame>
        <p:nvGraphicFramePr>
          <p:cNvPr id="61" name="Google Shape;61;p14"/>
          <p:cNvGraphicFramePr/>
          <p:nvPr/>
        </p:nvGraphicFramePr>
        <p:xfrm>
          <a:off x="362875" y="1086650"/>
          <a:ext cx="3000000" cy="3000000"/>
        </p:xfrm>
        <a:graphic>
          <a:graphicData uri="http://schemas.openxmlformats.org/drawingml/2006/table">
            <a:tbl>
              <a:tblPr>
                <a:noFill/>
                <a:tableStyleId>{8FB836C8-1DD1-41B9-B845-22F31B83603E}</a:tableStyleId>
              </a:tblPr>
              <a:tblGrid>
                <a:gridCol w="710750"/>
                <a:gridCol w="3159225"/>
                <a:gridCol w="4182700"/>
              </a:tblGrid>
              <a:tr h="200025">
                <a:tc>
                  <a:txBody>
                    <a:bodyPr/>
                    <a:lstStyle/>
                    <a:p>
                      <a:pPr indent="0" lvl="0" marL="0" rtl="0" algn="ctr">
                        <a:lnSpc>
                          <a:spcPct val="115000"/>
                        </a:lnSpc>
                        <a:spcBef>
                          <a:spcPts val="0"/>
                        </a:spcBef>
                        <a:spcAft>
                          <a:spcPts val="0"/>
                        </a:spcAft>
                        <a:buNone/>
                      </a:pPr>
                      <a:r>
                        <a:rPr b="1" lang="en" sz="1500">
                          <a:solidFill>
                            <a:schemeClr val="dk2"/>
                          </a:solidFill>
                        </a:rPr>
                        <a:t>Class</a:t>
                      </a:r>
                      <a:endParaRPr b="1"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solidFill>
                            <a:schemeClr val="dk2"/>
                          </a:solidFill>
                        </a:rPr>
                        <a:t>Title</a:t>
                      </a:r>
                      <a:endParaRPr b="1"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 sz="1500">
                          <a:solidFill>
                            <a:schemeClr val="dk2"/>
                          </a:solidFill>
                        </a:rPr>
                        <a:t>Main output</a:t>
                      </a:r>
                      <a:endParaRPr b="1"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sz="1500">
                          <a:solidFill>
                            <a:schemeClr val="dk2"/>
                          </a:solidFill>
                        </a:rPr>
                        <a:t>1</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Bandits, MDPs, Returns</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agent/environment/reward</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sz="1500">
                          <a:solidFill>
                            <a:schemeClr val="dk2"/>
                          </a:solidFill>
                        </a:rPr>
                        <a:t>2</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Value Functions and Bellman Equations</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Learning to solve a reinforcement learning problems by iteratively estimating the </a:t>
                      </a:r>
                      <a:r>
                        <a:rPr lang="en" sz="1500">
                          <a:solidFill>
                            <a:schemeClr val="dk2"/>
                          </a:solidFill>
                        </a:rPr>
                        <a:t>value</a:t>
                      </a:r>
                      <a:r>
                        <a:rPr lang="en" sz="1500">
                          <a:solidFill>
                            <a:schemeClr val="dk2"/>
                          </a:solidFill>
                        </a:rPr>
                        <a:t> of a state</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sz="1500">
                          <a:solidFill>
                            <a:schemeClr val="dk2"/>
                          </a:solidFill>
                        </a:rPr>
                        <a:t>3</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Monte Carlo, TD, SARSA, Q-Learning</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On-policy vs off-policy, sampled experience</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sz="1500">
                          <a:solidFill>
                            <a:schemeClr val="dk2"/>
                          </a:solidFill>
                        </a:rPr>
                        <a:t>4</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Policy Gradients and REINFORCE</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log-prob weighted by reward</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sz="1500">
                          <a:solidFill>
                            <a:schemeClr val="dk2"/>
                          </a:solidFill>
                        </a:rPr>
                        <a:t>5</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Actor-Critic and PPO</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advantage, critic, clipping</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r h="200025">
                <a:tc>
                  <a:txBody>
                    <a:bodyPr/>
                    <a:lstStyle/>
                    <a:p>
                      <a:pPr indent="0" lvl="0" marL="0" rtl="0" algn="ctr">
                        <a:spcBef>
                          <a:spcPts val="0"/>
                        </a:spcBef>
                        <a:spcAft>
                          <a:spcPts val="0"/>
                        </a:spcAft>
                        <a:buNone/>
                      </a:pPr>
                      <a:r>
                        <a:rPr lang="en" sz="1500">
                          <a:solidFill>
                            <a:schemeClr val="dk2"/>
                          </a:solidFill>
                        </a:rPr>
                        <a:t>6</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RLHF and GRPO</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c>
                  <a:txBody>
                    <a:bodyPr/>
                    <a:lstStyle/>
                    <a:p>
                      <a:pPr indent="0" lvl="0" marL="0" rtl="0" algn="ctr">
                        <a:spcBef>
                          <a:spcPts val="0"/>
                        </a:spcBef>
                        <a:spcAft>
                          <a:spcPts val="0"/>
                        </a:spcAft>
                        <a:buNone/>
                      </a:pPr>
                      <a:r>
                        <a:rPr lang="en" sz="1500">
                          <a:solidFill>
                            <a:schemeClr val="dk2"/>
                          </a:solidFill>
                        </a:rPr>
                        <a:t>PPO/GRPO to LLM training</a:t>
                      </a:r>
                      <a:endParaRPr sz="1500">
                        <a:solidFill>
                          <a:schemeClr val="dk2"/>
                        </a:solidFill>
                      </a:endParaRPr>
                    </a:p>
                  </a:txBody>
                  <a:tcPr marT="91425" marB="91425" marR="91425" marL="91425">
                    <a:lnL cap="flat" cmpd="sng" w="9525">
                      <a:solidFill>
                        <a:schemeClr val="dk2"/>
                      </a:solidFill>
                      <a:prstDash val="solid"/>
                      <a:round/>
                      <a:headEnd len="sm" w="sm" type="none"/>
                      <a:tailEnd len="sm" w="sm" type="none"/>
                    </a:lnL>
                    <a:lnR cap="flat" cmpd="sng" w="9525">
                      <a:solidFill>
                        <a:schemeClr val="dk2"/>
                      </a:solidFill>
                      <a:prstDash val="solid"/>
                      <a:round/>
                      <a:headEnd len="sm" w="sm" type="none"/>
                      <a:tailEnd len="sm" w="sm" type="none"/>
                    </a:lnR>
                    <a:lnT cap="flat" cmpd="sng" w="9525">
                      <a:solidFill>
                        <a:schemeClr val="dk2"/>
                      </a:solidFill>
                      <a:prstDash val="solid"/>
                      <a:round/>
                      <a:headEnd len="sm" w="sm" type="none"/>
                      <a:tailEnd len="sm" w="sm" type="none"/>
                    </a:lnT>
                    <a:lnB cap="flat" cmpd="sng" w="9525">
                      <a:solidFill>
                        <a:schemeClr val="dk2"/>
                      </a:solidFill>
                      <a:prstDash val="solid"/>
                      <a:round/>
                      <a:headEnd len="sm" w="sm" type="none"/>
                      <a:tailEnd len="sm" w="sm" type="none"/>
                    </a:lnB>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Agenda and references</a:t>
            </a:r>
            <a:endParaRPr/>
          </a:p>
        </p:txBody>
      </p:sp>
      <p:sp>
        <p:nvSpPr>
          <p:cNvPr id="67" name="Google Shape;67;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04800" lvl="0" marL="457200" rtl="0" algn="l">
              <a:spcBef>
                <a:spcPts val="0"/>
              </a:spcBef>
              <a:spcAft>
                <a:spcPts val="0"/>
              </a:spcAft>
              <a:buSzPts val="1200"/>
              <a:buChar char="●"/>
            </a:pPr>
            <a:r>
              <a:rPr lang="en" sz="1200"/>
              <a:t>GRPO and its variants</a:t>
            </a:r>
            <a:endParaRPr sz="12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PPO: </a:t>
            </a:r>
            <a:r>
              <a:rPr i="1" lang="en"/>
              <a:t>Proximal </a:t>
            </a:r>
            <a:r>
              <a:rPr lang="en"/>
              <a:t>Policy Optimization</a:t>
            </a:r>
            <a:endParaRPr/>
          </a:p>
        </p:txBody>
      </p:sp>
      <p:pic>
        <p:nvPicPr>
          <p:cNvPr descr="{&quot;id&quot;:&quot;9&quot;,&quot;backgroundColorModified&quot;:false,&quot;font&quot;:{&quot;color&quot;:&quot;#595959&quot;,&quot;size&quot;:13.5,&quot;family&quot;:&quot;Arial&quot;},&quot;aid&quot;:null,&quot;backgroundColor&quot;:&quot;#FFFFFF&quot;,&quot;type&quot;:&quot;gather*&quot;,&quot;code&quot;:&quot;\\begin{gather*}\n{\\text{Typical}\\;\\text{PPO}\\;\\text{loss}\\;\\text{has}\\;\\text{three}\\;\\text{components}}\\\\\n{\\text{Policy}\\;\\text{loss:}}\\\\\n{L_{policy}=-\\min\\left(r_{t}A_{t},\\,\\left(r_{t},\\,1-\\epsilon,\\,1+\\epsilon\\right)A_{t}\\right)}\\\\\n{}\\\\\n{\\text{Value}\\;\\text{loss:}}\\\\\n{\\text{Critic}\\;\\text{target:}\\,V_{\\text{old}}\\left(S_{t}\\right)+A_{t}}\\\\\n{\\text{Here}\\;V_{old}\\,\\text{refers}\\;\\text{to}\\;\\text{the}\\;\\text{value}\\text{s}\\;\\text{during}\\;\\text{rollout}}\\\\\n{L_{value}=\\frac{1}{2}\\left(V\\left(S_{t}\\right)-A_{t}-V_{\\text{old}}\\left(S_{t}\\right)\\right)^{2}}\\\\\n{}\\\\\n{\\text{Entropy}\\;\\text{loss:}}\\\\\n{L_{entropy}=-\\sum_{a}^{}\\pi_{\\theta}\\left(\\giventhat{a}{S_{t}}\\right)\\log_{}\\pi_{\\theta}\\left(\\giventhat{a}{S_{t}}\\right)}\\\\\n{\\text{Encourage}\\text{s}\\;\\text{exploration,}\\;\\text{helps}\\;\\text{prevents}\\;\\text{policy}\\;\\text{collapse}}\t\n\\end{gather*}&quot;,&quot;ts&quot;:1784251625035,&quot;cs&quot;:&quot;ZdNcxs3ULCItJjZ6dI5wHQ==&quot;,&quot;size&quot;:{&quot;width&quot;:495,&quot;height&quot;:373.5}}" id="73" name="Google Shape;73;p16"/>
          <p:cNvPicPr preferRelativeResize="0"/>
          <p:nvPr/>
        </p:nvPicPr>
        <p:blipFill>
          <a:blip r:embed="rId3">
            <a:alphaModFix/>
          </a:blip>
          <a:stretch>
            <a:fillRect/>
          </a:stretch>
        </p:blipFill>
        <p:spPr>
          <a:xfrm>
            <a:off x="170175" y="1085875"/>
            <a:ext cx="4032349" cy="3042600"/>
          </a:xfrm>
          <a:prstGeom prst="rect">
            <a:avLst/>
          </a:prstGeom>
          <a:noFill/>
          <a:ln>
            <a:noFill/>
          </a:ln>
        </p:spPr>
      </p:pic>
      <p:pic>
        <p:nvPicPr>
          <p:cNvPr descr="{&quot;type&quot;:&quot;gather*&quot;,&quot;aid&quot;:null,&quot;font&quot;:{&quot;family&quot;:&quot;Arial&quot;,&quot;color&quot;:&quot;#595959&quot;,&quot;size&quot;:11.5},&quot;backgroundColor&quot;:&quot;#FFFFFF&quot;,&quot;id&quot;:&quot;6&quot;,&quot;backgroundColorModified&quot;:false,&quot;code&quot;:&quot;\\begin{gather*}\n{\\text{Rollouts}\\;\\text{are}\\;\\text{generated}\\;\\text{using}\\;\\text{old}\\;\\text{policy:}\\;\\pi_{\\theta _{old}}}\\\\\n{\\text{During}\\;\\text{optimization,}\\;\\text{parameters}\\;\\text{change,}\\;\\text{producing}\\;\\pi_{\\theta _{new}}\\left(\\giventhat{A_{t}}{S_{t}}\\right)}\\\\\n{\\text{For}\\;\\text{every}\\;\\text{action}\\;\\text{store}\\;\\text{its}\\;\\text{old}\\;\\text{log}\\;\\text{prob}\\;\\log_{}\\pi_{\\theta _{old}}\\left(\\giventhat{A_{t}}{S_{t}}\\right)}\\\\\n{\\text{During}\\;\\text{optimzation},\\,\\text{compute:}}\\\\\n{\\pi_{\\theta }\\left(\\giventhat{A_{t}}{S_{t}}\\right)}\\\\\n{\\text{Then}\\;\\text{calculate}\\;\\text{probability}\\;\\text{ratio:}}\\\\\n{r_{t}\\left(\\theta\\right)=\\frac{\\pi_{\\theta _{new}}\\left(\\giventhat{A_{t}}{S_{t}}\\right)}{\\pi_{\\theta _{old}}\\left(\\giventhat{A_{t}}{S_{t}}\\right)}}\t\n\\end{gather*}&quot;,&quot;ts&quot;:1785496680281,&quot;cs&quot;:&quot;HwO0mLJPx0e85iqzJ9NjUw==&quot;,&quot;size&quot;:{&quot;width&quot;:505.5,&quot;height&quot;:184}}" id="74" name="Google Shape;74;p16"/>
          <p:cNvPicPr preferRelativeResize="0"/>
          <p:nvPr/>
        </p:nvPicPr>
        <p:blipFill>
          <a:blip r:embed="rId4">
            <a:alphaModFix/>
          </a:blip>
          <a:stretch>
            <a:fillRect/>
          </a:stretch>
        </p:blipFill>
        <p:spPr>
          <a:xfrm>
            <a:off x="4244124" y="1327293"/>
            <a:ext cx="4814888" cy="17526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Difficulty applying PPO to LLMs</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Unlike Cartpole, in a LLM, we generally get a reward signal in the end, once generation has completed, rather than for every token. This makes value function </a:t>
            </a:r>
            <a:r>
              <a:rPr lang="en"/>
              <a:t>training</a:t>
            </a:r>
            <a:r>
              <a:rPr lang="en"/>
              <a:t> unstable, due to the credit assignment problem</a:t>
            </a:r>
            <a:endParaRPr/>
          </a:p>
          <a:p>
            <a:pPr indent="0" lvl="0" marL="0" rtl="0" algn="l">
              <a:spcBef>
                <a:spcPts val="1200"/>
              </a:spcBef>
              <a:spcAft>
                <a:spcPts val="0"/>
              </a:spcAft>
              <a:buNone/>
            </a:pPr>
            <a:r>
              <a:rPr lang="en"/>
              <a:t>Recall:</a:t>
            </a:r>
            <a:endParaRPr/>
          </a:p>
          <a:p>
            <a:pPr indent="-342900" lvl="0" marL="457200" rtl="0" algn="l">
              <a:spcBef>
                <a:spcPts val="1200"/>
              </a:spcBef>
              <a:spcAft>
                <a:spcPts val="0"/>
              </a:spcAft>
              <a:buSzPts val="1800"/>
              <a:buChar char="-"/>
            </a:pPr>
            <a:r>
              <a:rPr lang="en"/>
              <a:t>State</a:t>
            </a:r>
            <a:endParaRPr/>
          </a:p>
          <a:p>
            <a:pPr indent="-342900" lvl="0" marL="457200" rtl="0" algn="l">
              <a:spcBef>
                <a:spcPts val="0"/>
              </a:spcBef>
              <a:spcAft>
                <a:spcPts val="0"/>
              </a:spcAft>
              <a:buSzPts val="1800"/>
              <a:buChar char="-"/>
            </a:pPr>
            <a:r>
              <a:rPr lang="en"/>
              <a:t>Action</a:t>
            </a:r>
            <a:endParaRPr/>
          </a:p>
          <a:p>
            <a:pPr indent="-342900" lvl="0" marL="457200" rtl="0" algn="l">
              <a:spcBef>
                <a:spcPts val="0"/>
              </a:spcBef>
              <a:spcAft>
                <a:spcPts val="0"/>
              </a:spcAft>
              <a:buSzPts val="1800"/>
              <a:buChar char="-"/>
            </a:pPr>
            <a:r>
              <a:rPr lang="en"/>
              <a:t>Policy</a:t>
            </a:r>
            <a:endParaRPr/>
          </a:p>
          <a:p>
            <a:pPr indent="-342900" lvl="0" marL="457200" rtl="0" algn="l">
              <a:spcBef>
                <a:spcPts val="0"/>
              </a:spcBef>
              <a:spcAft>
                <a:spcPts val="0"/>
              </a:spcAft>
              <a:buSzPts val="1800"/>
              <a:buChar char="-"/>
            </a:pPr>
            <a:r>
              <a:rPr lang="en"/>
              <a:t>Reward</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Group Relative Policy Optimization (GRPO)</a:t>
            </a:r>
            <a:endParaRPr/>
          </a:p>
        </p:txBody>
      </p:sp>
      <p:pic>
        <p:nvPicPr>
          <p:cNvPr descr="{&quot;aid&quot;:null,&quot;type&quot;:&quot;gather*&quot;,&quot;backgroundColor&quot;:&quot;#FFFFFF&quot;,&quot;backgroundColorModified&quot;:false,&quot;code&quot;:&quot;\\begin{gather*}\n{\\text{For}\\;\\text{every}\\;\\text{prompt}\\;q,}\\\\\n{1.\\,\\text{Generate}\\;G\\;\\text{completions}\\;\\text{from}\\;\\text{the}\\;\\text{old}\\;\\text{policy}:}\\\\\n{o_{1},\\,o_{2},\\,...o_{G}\\sim\\pi_{\\theta_{old}}}\\\\\n{2.\\,\\text{Score}\\;\\text{eac}\\text{h}\\;\\text{completion}:}\\\\\n{r_{i}=R\\left(q,\\,o_{i}\\right)}\\\\\n{3.\\,\\text{Compare}\\;\\text{each}\\;\\text{completion}\\;\\text{with}\\;\\text{other}\\;\\text{completions}\\;\\text{for}\\;\\text{the}\\;\\text{same}\\;\\text{prompt}}\\\\\n{4.\\,\\text{Use}\\;\\text{the}\\;\\text{relative}\\;\\text{reward}\\;\\text{as}\\;\\text{the}\\;\\text{advantage}}\\\\\n{5.\\,\\text{Optimize}\\;\\text{the}\\;\\text{policy}\\;\\text{with}\\;\\text{a}\\;\\text{PPO}\\;\\text{style}\\;\\text{clipped}\\;\\text{objective}}\t\n\\end{gather*}&quot;,&quot;id&quot;:&quot;1&quot;,&quot;font&quot;:{&quot;size&quot;:16.5,&quot;color&quot;:&quot;#595959&quot;,&quot;family&quot;:&quot;Arial&quot;},&quot;ts&quot;:1785496766510,&quot;cs&quot;:&quot;7yNIdHnKMgQcwpcRaCewkQ==&quot;,&quot;size&quot;:{&quot;width&quot;:828.073594488189,&quot;height&quot;:263.86088661417324}}" id="86" name="Google Shape;86;p18"/>
          <p:cNvPicPr preferRelativeResize="0"/>
          <p:nvPr/>
        </p:nvPicPr>
        <p:blipFill>
          <a:blip r:embed="rId3">
            <a:alphaModFix/>
          </a:blip>
          <a:stretch>
            <a:fillRect/>
          </a:stretch>
        </p:blipFill>
        <p:spPr>
          <a:xfrm>
            <a:off x="361125" y="2066613"/>
            <a:ext cx="7887401" cy="2513275"/>
          </a:xfrm>
          <a:prstGeom prst="rect">
            <a:avLst/>
          </a:prstGeom>
          <a:noFill/>
          <a:ln>
            <a:noFill/>
          </a:ln>
        </p:spPr>
      </p:pic>
      <p:sp>
        <p:nvSpPr>
          <p:cNvPr id="87" name="Google Shape;87;p18"/>
          <p:cNvSpPr txBox="1"/>
          <p:nvPr/>
        </p:nvSpPr>
        <p:spPr>
          <a:xfrm>
            <a:off x="419675" y="1210225"/>
            <a:ext cx="79398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1800">
                <a:solidFill>
                  <a:schemeClr val="dk2"/>
                </a:solidFill>
              </a:rPr>
              <a:t>Main idea:</a:t>
            </a:r>
            <a:r>
              <a:rPr lang="en" sz="1800">
                <a:solidFill>
                  <a:schemeClr val="dk2"/>
                </a:solidFill>
              </a:rPr>
              <a:t> Generate multiple completions for a prompt, and use relative rewards as the </a:t>
            </a:r>
            <a:r>
              <a:rPr lang="en" sz="1800">
                <a:solidFill>
                  <a:schemeClr val="dk2"/>
                </a:solidFill>
              </a:rPr>
              <a:t>advantage. No need for separate value estimation</a:t>
            </a:r>
            <a:r>
              <a:rPr lang="en" sz="1800">
                <a:solidFill>
                  <a:schemeClr val="dk2"/>
                </a:solidFill>
              </a:rPr>
              <a:t> </a:t>
            </a:r>
            <a:endParaRPr sz="1800">
              <a:solidFill>
                <a:schemeClr val="dk2"/>
              </a:solidFil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 name="Shape 91"/>
        <p:cNvGrpSpPr/>
        <p:nvPr/>
      </p:nvGrpSpPr>
      <p:grpSpPr>
        <a:xfrm>
          <a:off x="0" y="0"/>
          <a:ext cx="0" cy="0"/>
          <a:chOff x="0" y="0"/>
          <a:chExt cx="0" cy="0"/>
        </a:xfrm>
      </p:grpSpPr>
      <p:sp>
        <p:nvSpPr>
          <p:cNvPr id="92" name="Google Shape;92;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GRPO’s main idea</a:t>
            </a:r>
            <a:endParaRPr/>
          </a:p>
        </p:txBody>
      </p:sp>
      <p:pic>
        <p:nvPicPr>
          <p:cNvPr descr="{&quot;font&quot;:{&quot;family&quot;:&quot;Arial&quot;,&quot;size&quot;:13.5,&quot;color&quot;:&quot;#000000&quot;},&quot;backgroundColor&quot;:&quot;#FFFFFF&quot;,&quot;aid&quot;:null,&quot;id&quot;:&quot;2&quot;,&quot;type&quot;:&quot;gather*&quot;,&quot;backgroundColorModified&quot;:false,&quot;code&quot;:&quot;\\begin{gather*}\n{\\text{For}\\;\\text{one}\\;\\text{prompt,}\\;\\text{suppose}\\;\\text{rewards}\\;\\text{are:}}\\\\\n{r\\,=\\,\\left(r_{1},\\,r_{2}...r_{G}\\right)}\\\\\n{\\text{Calculate}\\;\\text{group}\\;\\text{mean:}}\\\\\n{\\mu_{q}=\\frac{1}{G}\\sum_{i=1}^{G}r_{i}}\\\\\n{\\text{and}\\;\\text{the}\\;\\text{group}\\;\\text{standard}\\;\\text{deviation}}\\\\\n{\\sigma_{q}={\\sqrt[]{\\frac{1}{G}\\sum_{i=1}^{G}\\left(r_{i}-\\mu_{q}\\right)^{2}}}}\\\\\n{\\text{Calculate}\\;\\text{normalized}\\;\\text{advantage:}}\\\\\n{A_{i}=\\frac{r_{i}-\\mu_{q}}{\\sigma_{q}+\\epsilon}}\\\\\n{\\text{The}\\;\\text{same}\\;\\text{advantage}\\;\\text{is}\\;\\text{applied}\\;\\text{to}\\;\\text{every}\\;\\text{token}\\;\\text{in}\\;\\text{the}\\;\\text{completion}}\\\\\n{A_{i,t}=A_{i},\\,\\forall t\\in\\left\\{1,\\,2,\\,...\\,\\left|o_{i}\\right|\\right\\}}\\\\\n{}\t\n\\end{gather*}&quot;,&quot;ts&quot;:1785374683659,&quot;cs&quot;:&quot;WAXO3QGqd1lGlDYUAEd3uA==&quot;,&quot;size&quot;:{&quot;width&quot;:585.3436349081366,&quot;height&quot;:395.7560236220473}}" id="93" name="Google Shape;93;p19"/>
          <p:cNvPicPr preferRelativeResize="0"/>
          <p:nvPr/>
        </p:nvPicPr>
        <p:blipFill>
          <a:blip r:embed="rId3">
            <a:alphaModFix/>
          </a:blip>
          <a:stretch>
            <a:fillRect/>
          </a:stretch>
        </p:blipFill>
        <p:spPr>
          <a:xfrm>
            <a:off x="600222" y="1055400"/>
            <a:ext cx="5575398" cy="37695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GRPO: Observations</a:t>
            </a:r>
            <a:endParaRPr/>
          </a:p>
        </p:txBody>
      </p:sp>
      <p:sp>
        <p:nvSpPr>
          <p:cNvPr id="99" name="Google Shape;9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The rewards are relative to the group. Harder prompt groups may have lower rewards..</a:t>
            </a:r>
            <a:endParaRPr/>
          </a:p>
          <a:p>
            <a:pPr indent="-342900" lvl="0" marL="457200" rtl="0" algn="l">
              <a:spcBef>
                <a:spcPts val="0"/>
              </a:spcBef>
              <a:spcAft>
                <a:spcPts val="0"/>
              </a:spcAft>
              <a:buSzPts val="1800"/>
              <a:buChar char="-"/>
            </a:pPr>
            <a:r>
              <a:rPr lang="en"/>
              <a:t>The same reward is broadcast to all tokens in the completion. If response was better than average, all tokens are encouraged. If response was worse than average, all tokens are discouraged</a:t>
            </a:r>
            <a:endParaRPr/>
          </a:p>
          <a:p>
            <a:pPr indent="-342900" lvl="0" marL="457200" rtl="0" algn="l">
              <a:spcBef>
                <a:spcPts val="0"/>
              </a:spcBef>
              <a:spcAft>
                <a:spcPts val="0"/>
              </a:spcAft>
              <a:buSzPts val="1800"/>
              <a:buChar char="-"/>
            </a:pPr>
            <a:r>
              <a:rPr lang="en"/>
              <a:t>We need diversity of responses for GRPO to work. If all rewards are the same, there is no learning signal</a:t>
            </a:r>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GRPO: Full objective</a:t>
            </a:r>
            <a:endParaRPr/>
          </a:p>
        </p:txBody>
      </p:sp>
      <p:sp>
        <p:nvSpPr>
          <p:cNvPr id="105" name="Google Shape;105;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t/>
            </a:r>
            <a:endParaRPr/>
          </a:p>
          <a:p>
            <a:pPr indent="0" lvl="0" marL="0" rtl="0" algn="l">
              <a:spcBef>
                <a:spcPts val="1200"/>
              </a:spcBef>
              <a:spcAft>
                <a:spcPts val="1200"/>
              </a:spcAft>
              <a:buNone/>
            </a:pPr>
            <a:r>
              <a:t/>
            </a:r>
            <a:endParaRPr/>
          </a:p>
        </p:txBody>
      </p:sp>
      <p:pic>
        <p:nvPicPr>
          <p:cNvPr descr="{&quot;font&quot;:{&quot;color&quot;:&quot;#595959&quot;,&quot;family&quot;:&quot;Arial&quot;,&quot;size&quot;:20},&quot;backgroundColor&quot;:&quot;#FFFFFF&quot;,&quot;id&quot;:&quot;3&quot;,&quot;backgroundColorModified&quot;:false,&quot;type&quot;:&quot;gather*&quot;,&quot;aid&quot;:null,&quot;code&quot;:&quot;\\begin{gather*}\n{J_{GRPO}=\\frac{1}{G}\\sum_{i=1}^{G}\\frac{1}{\\left|o_{i}\\right|}\\sum_{t=1}^{\\left|o_{i}\\right|}\\left\\{\\min\\left(r_{i,t}A_{i},\\,\\text{clip(}r_{i,t},1-\\epsilon,\\,1+\\epsilon\\text{)}A_{i}\\right)-\\beta D_{KL}\\right\\}}\\\\\n{r_{i,t}=\\frac{\\pi_{\\theta}\\left(\\giventhat{o_{i,t}}{q,\\,o_{i,&lt;t}}\\right)}{\\pi_{\\theta_{old}}\\left(\\giventhat{o_{i,t}}{q,\\,o_{i,&lt;t}}\\right)}}\t\n\\end{gather*}&quot;,&quot;ts&quot;:1785375603651,&quot;cs&quot;:&quot;Kc8e1j7B7aygaEBJiITmfg==&quot;,&quot;size&quot;:{&quot;width&quot;:969.8714330708661,&quot;height&quot;:183.1049803149606}}" id="106" name="Google Shape;106;p21"/>
          <p:cNvPicPr preferRelativeResize="0"/>
          <p:nvPr/>
        </p:nvPicPr>
        <p:blipFill>
          <a:blip r:embed="rId3">
            <a:alphaModFix/>
          </a:blip>
          <a:stretch>
            <a:fillRect/>
          </a:stretch>
        </p:blipFill>
        <p:spPr>
          <a:xfrm>
            <a:off x="214725" y="2571750"/>
            <a:ext cx="8115424" cy="1532125"/>
          </a:xfrm>
          <a:prstGeom prst="rect">
            <a:avLst/>
          </a:prstGeom>
          <a:noFill/>
          <a:ln>
            <a:noFill/>
          </a:ln>
        </p:spPr>
      </p:pic>
      <p:sp>
        <p:nvSpPr>
          <p:cNvPr id="107" name="Google Shape;107;p21"/>
          <p:cNvSpPr txBox="1"/>
          <p:nvPr/>
        </p:nvSpPr>
        <p:spPr>
          <a:xfrm>
            <a:off x="3142700" y="4352950"/>
            <a:ext cx="281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800">
              <a:solidFill>
                <a:schemeClr val="dk2"/>
              </a:solidFill>
            </a:endParaRPr>
          </a:p>
        </p:txBody>
      </p:sp>
      <p:sp>
        <p:nvSpPr>
          <p:cNvPr id="108" name="Google Shape;108;p21"/>
          <p:cNvSpPr txBox="1"/>
          <p:nvPr/>
        </p:nvSpPr>
        <p:spPr>
          <a:xfrm>
            <a:off x="4406600" y="4255350"/>
            <a:ext cx="28110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600">
                <a:solidFill>
                  <a:schemeClr val="dk2"/>
                </a:solidFill>
              </a:rPr>
              <a:t>t</a:t>
            </a:r>
            <a:r>
              <a:rPr lang="en" sz="1600">
                <a:solidFill>
                  <a:schemeClr val="dk2"/>
                </a:solidFill>
              </a:rPr>
              <a:t>oken </a:t>
            </a:r>
            <a:r>
              <a:rPr i="1" lang="en" sz="1600">
                <a:solidFill>
                  <a:schemeClr val="dk2"/>
                </a:solidFill>
              </a:rPr>
              <a:t>t </a:t>
            </a:r>
            <a:r>
              <a:rPr lang="en" sz="1600">
                <a:solidFill>
                  <a:schemeClr val="dk2"/>
                </a:solidFill>
              </a:rPr>
              <a:t>in completion </a:t>
            </a:r>
            <a:r>
              <a:rPr i="1" lang="en" sz="1600">
                <a:solidFill>
                  <a:schemeClr val="dk2"/>
                </a:solidFill>
              </a:rPr>
              <a:t>i</a:t>
            </a:r>
            <a:endParaRPr i="1" sz="1600">
              <a:solidFill>
                <a:schemeClr val="dk2"/>
              </a:solidFill>
            </a:endParaRPr>
          </a:p>
        </p:txBody>
      </p:sp>
      <p:cxnSp>
        <p:nvCxnSpPr>
          <p:cNvPr id="109" name="Google Shape;109;p21"/>
          <p:cNvCxnSpPr/>
          <p:nvPr/>
        </p:nvCxnSpPr>
        <p:spPr>
          <a:xfrm rot="10800000">
            <a:off x="4479825" y="4138275"/>
            <a:ext cx="146400" cy="185400"/>
          </a:xfrm>
          <a:prstGeom prst="straightConnector1">
            <a:avLst/>
          </a:prstGeom>
          <a:noFill/>
          <a:ln cap="flat" cmpd="sng" w="9525">
            <a:solidFill>
              <a:schemeClr val="dk2"/>
            </a:solidFill>
            <a:prstDash val="solid"/>
            <a:round/>
            <a:headEnd len="med" w="med" type="none"/>
            <a:tailEnd len="med" w="med" type="triangle"/>
          </a:ln>
        </p:spPr>
      </p:cxnSp>
      <p:sp>
        <p:nvSpPr>
          <p:cNvPr id="110" name="Google Shape;110;p21"/>
          <p:cNvSpPr txBox="1"/>
          <p:nvPr/>
        </p:nvSpPr>
        <p:spPr>
          <a:xfrm>
            <a:off x="5953700" y="3812650"/>
            <a:ext cx="34803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policy used for generating completions</a:t>
            </a:r>
            <a:endParaRPr i="1" sz="1500">
              <a:solidFill>
                <a:schemeClr val="dk2"/>
              </a:solidFill>
            </a:endParaRPr>
          </a:p>
        </p:txBody>
      </p:sp>
      <p:sp>
        <p:nvSpPr>
          <p:cNvPr id="111" name="Google Shape;111;p21"/>
          <p:cNvSpPr txBox="1"/>
          <p:nvPr/>
        </p:nvSpPr>
        <p:spPr>
          <a:xfrm>
            <a:off x="5929425" y="3369950"/>
            <a:ext cx="21642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policy bring optimized</a:t>
            </a:r>
            <a:endParaRPr i="1" sz="1500">
              <a:solidFill>
                <a:schemeClr val="dk2"/>
              </a:solidFill>
            </a:endParaRPr>
          </a:p>
        </p:txBody>
      </p:sp>
      <p:cxnSp>
        <p:nvCxnSpPr>
          <p:cNvPr id="112" name="Google Shape;112;p21"/>
          <p:cNvCxnSpPr>
            <a:stCxn id="110" idx="1"/>
          </p:cNvCxnSpPr>
          <p:nvPr/>
        </p:nvCxnSpPr>
        <p:spPr>
          <a:xfrm rot="10800000">
            <a:off x="5680400" y="3988000"/>
            <a:ext cx="273300" cy="32400"/>
          </a:xfrm>
          <a:prstGeom prst="straightConnector1">
            <a:avLst/>
          </a:prstGeom>
          <a:noFill/>
          <a:ln cap="flat" cmpd="sng" w="9525">
            <a:solidFill>
              <a:schemeClr val="dk2"/>
            </a:solidFill>
            <a:prstDash val="solid"/>
            <a:round/>
            <a:headEnd len="med" w="med" type="none"/>
            <a:tailEnd len="med" w="med" type="triangle"/>
          </a:ln>
        </p:spPr>
      </p:cxnSp>
      <p:cxnSp>
        <p:nvCxnSpPr>
          <p:cNvPr id="113" name="Google Shape;113;p21"/>
          <p:cNvCxnSpPr/>
          <p:nvPr/>
        </p:nvCxnSpPr>
        <p:spPr>
          <a:xfrm rot="10800000">
            <a:off x="5618900" y="3625100"/>
            <a:ext cx="348300" cy="10500"/>
          </a:xfrm>
          <a:prstGeom prst="straightConnector1">
            <a:avLst/>
          </a:prstGeom>
          <a:noFill/>
          <a:ln cap="flat" cmpd="sng" w="9525">
            <a:solidFill>
              <a:schemeClr val="dk2"/>
            </a:solidFill>
            <a:prstDash val="solid"/>
            <a:round/>
            <a:headEnd len="med" w="med" type="none"/>
            <a:tailEnd len="med" w="med" type="triangle"/>
          </a:ln>
        </p:spPr>
      </p:cxnSp>
      <p:sp>
        <p:nvSpPr>
          <p:cNvPr id="114" name="Google Shape;114;p21"/>
          <p:cNvSpPr txBox="1"/>
          <p:nvPr/>
        </p:nvSpPr>
        <p:spPr>
          <a:xfrm>
            <a:off x="967700" y="4049200"/>
            <a:ext cx="2508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Importance sampling ratio</a:t>
            </a:r>
            <a:endParaRPr i="1" sz="1500">
              <a:solidFill>
                <a:schemeClr val="dk2"/>
              </a:solidFill>
            </a:endParaRPr>
          </a:p>
        </p:txBody>
      </p:sp>
      <p:sp>
        <p:nvSpPr>
          <p:cNvPr id="115" name="Google Shape;115;p21"/>
          <p:cNvSpPr txBox="1"/>
          <p:nvPr/>
        </p:nvSpPr>
        <p:spPr>
          <a:xfrm>
            <a:off x="3354400" y="1471488"/>
            <a:ext cx="25089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Average over tokens in a completion</a:t>
            </a:r>
            <a:endParaRPr i="1" sz="1500">
              <a:solidFill>
                <a:schemeClr val="dk2"/>
              </a:solidFill>
            </a:endParaRPr>
          </a:p>
        </p:txBody>
      </p:sp>
      <p:cxnSp>
        <p:nvCxnSpPr>
          <p:cNvPr id="116" name="Google Shape;116;p21"/>
          <p:cNvCxnSpPr/>
          <p:nvPr/>
        </p:nvCxnSpPr>
        <p:spPr>
          <a:xfrm flipH="1">
            <a:off x="2924425" y="1909425"/>
            <a:ext cx="453300" cy="524400"/>
          </a:xfrm>
          <a:prstGeom prst="straightConnector1">
            <a:avLst/>
          </a:prstGeom>
          <a:noFill/>
          <a:ln cap="flat" cmpd="sng" w="9525">
            <a:solidFill>
              <a:schemeClr val="dk2"/>
            </a:solidFill>
            <a:prstDash val="solid"/>
            <a:round/>
            <a:headEnd len="med" w="med" type="none"/>
            <a:tailEnd len="med" w="med" type="triangle"/>
          </a:ln>
        </p:spPr>
      </p:cxnSp>
      <p:sp>
        <p:nvSpPr>
          <p:cNvPr id="117" name="Google Shape;117;p21"/>
          <p:cNvSpPr txBox="1"/>
          <p:nvPr/>
        </p:nvSpPr>
        <p:spPr>
          <a:xfrm>
            <a:off x="362425" y="1562538"/>
            <a:ext cx="2508900" cy="415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500">
                <a:solidFill>
                  <a:schemeClr val="dk2"/>
                </a:solidFill>
              </a:rPr>
              <a:t>Average over completions</a:t>
            </a:r>
            <a:endParaRPr i="1" sz="1500">
              <a:solidFill>
                <a:schemeClr val="dk2"/>
              </a:solidFill>
            </a:endParaRPr>
          </a:p>
        </p:txBody>
      </p:sp>
      <p:cxnSp>
        <p:nvCxnSpPr>
          <p:cNvPr id="118" name="Google Shape;118;p21"/>
          <p:cNvCxnSpPr/>
          <p:nvPr/>
        </p:nvCxnSpPr>
        <p:spPr>
          <a:xfrm>
            <a:off x="1531025" y="1978050"/>
            <a:ext cx="161400" cy="7011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Clipping logic</a:t>
            </a:r>
            <a:endParaRPr/>
          </a:p>
        </p:txBody>
      </p:sp>
      <p:sp>
        <p:nvSpPr>
          <p:cNvPr id="124" name="Google Shape;124;p22"/>
          <p:cNvSpPr txBox="1"/>
          <p:nvPr>
            <p:ph idx="1" type="body"/>
          </p:nvPr>
        </p:nvSpPr>
        <p:spPr>
          <a:xfrm>
            <a:off x="602225" y="364032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Say At &gt; 1, rt = 1.1, epsilon = 0.2. Then the action At is more likely under the new policy than the old policy, and the gradient update will make it even likelier. But if rt = 1.3, clipping happens, and we have L = 1.2*A_t, whose gradient wrt the policy parameters is zero</a:t>
            </a:r>
            <a:endParaRPr/>
          </a:p>
        </p:txBody>
      </p:sp>
      <p:pic>
        <p:nvPicPr>
          <p:cNvPr descr="{&quot;font&quot;:{&quot;color&quot;:&quot;#595959&quot;,&quot;family&quot;:&quot;Arial&quot;,&quot;size&quot;:11.5},&quot;backgroundColor&quot;:&quot;#FFFFFF&quot;,&quot;aid&quot;:null,&quot;type&quot;:&quot;gather*&quot;,&quot;id&quot;:&quot;6&quot;,&quot;backgroundColorModified&quot;:false,&quot;code&quot;:&quot;\\begin{gather*}\n{\\text{Rollouts}\\;\\text{are}\\;\\text{generated}\\;\\text{using}\\;\\text{old}\\;\\text{policy:}\\;\\pi_{\\theta _{old}}}\\\\\n{\\text{During}\\;\\text{optimization,}\\;\\text{parameters}\\;\\text{change,}\\;\\text{producing}\\;\\pi_{\\theta _{new}}\\left(\\giventhat{A_{t}}{S_{t}}\\right)}\\\\\n{\\text{For}\\;\\text{every}\\;\\text{action}\\;\\text{store}\\;\\text{its}\\;\\text{old}\\;\\text{log}\\;\\text{prob}\\;\\log_{}\\pi_{\\theta _{old}}\\left(\\giventhat{A_{t}}{S_{t}}\\right)}\\\\\n{\\text{During}\\;\\text{optimzation},\\,\\text{compute:}}\\\\\n{\\pi_{\\theta }\\left(\\giventhat{A_{t}}{S_{t}}\\right)}\\\\\n{\\text{Then}\\;\\text{calculate}\\;\\text{probability}\\;\\text{ratio:}}\\\\\n{r_{t}\\left(\\theta\\right)=\\frac{\\pi_{\\theta _{new}}\\left(\\giventhat{A_{t}}{S_{t}}\\right)}{\\pi_{\\theta _{old}}\\left(\\giventhat{A_{t}}{S_{t}}\\right)}}\\\\\n{\\text{Update}\\;\\text{PPO}\\;\\text{objective}\\;\\text{by}\\;\\text{clipped}\\;\\text{objective}}\\\\\n{L_{}^{CLIP}\\left(\\theta\\right)=E_{t}\\left[\\min\\left(r_{t}\\left(\\theta\\right)A_{t},\\,\\text{clip}\\left(r_{t}\\left(\\theta\\right),\\,1-\\epsilon,\\,1+\\epsilon\\right)A_{t}\\right)\\right]}\t\n\\end{gather*}&quot;,&quot;ts&quot;:1784246492251,&quot;cs&quot;:&quot;YvPPrdM49mt8PnwMQTbuNg==&quot;,&quot;size&quot;:{&quot;width&quot;:511.9220167979002,&quot;height&quot;:237.02892913385836}}" id="125" name="Google Shape;125;p22"/>
          <p:cNvPicPr preferRelativeResize="0"/>
          <p:nvPr/>
        </p:nvPicPr>
        <p:blipFill>
          <a:blip r:embed="rId3">
            <a:alphaModFix/>
          </a:blip>
          <a:stretch>
            <a:fillRect/>
          </a:stretch>
        </p:blipFill>
        <p:spPr>
          <a:xfrm>
            <a:off x="669874" y="1225950"/>
            <a:ext cx="4876057" cy="225770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sp>
        <p:nvSpPr>
          <p:cNvPr id="130" name="Google Shape;130;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Clipping logic</a:t>
            </a:r>
            <a:endParaRPr/>
          </a:p>
        </p:txBody>
      </p:sp>
      <p:pic>
        <p:nvPicPr>
          <p:cNvPr descr="{&quot;backgroundColorModified&quot;:false,&quot;id&quot;:&quot;7&quot;,&quot;code&quot;:&quot;\\begin{gather*}\n{\\text{Say }A_{t}\\,\\text{&gt; 1, }\\epsilon\\text{ = 0.2}}\\\\\n{\\text{if}\\;r_{t}=1.1,}\\\\\n{L\\left(\\theta\\right)=r_{t}A_{t},\\,\\text{an}\\text{d}\\;\\text{the}\\;\\text{policy}\\;\\text{update}\\;\\text{would}\\;\\text{make}\\;A_{t}\\,\\text{more}\\;\\text{likely}}\\\\\n{\\text{if}\\;r_{t}=1.3,}\\\\\n{\\text{clipping}\\;\\text{would}\\;\\text{kick}\\;\\text{in,}}\\\\\n{L\\left(\\theta\\right)=1.2A_{t}}\\\\\n{\\text{Since}\\;A_{t\\,}\\text{doesn't}\\;\\text{directly}\\;\\text{depend}\\;\\text{on}\\;\\text{the}\\;\\text{policy}\\;\\text{being}\\;\\text{optimized,}\\;\\text{the}\\;\\text{gradient}\\;\\text{wrt}}\\\\\n{\\text{policy}\\;\\text{params}\\;\\text{is}\\;\\text{0.}\\;\\text{The}\\;\\text{new}\\;\\text{policy}\\;\\text{is}\\;\\text{already}\\;\\text{making}\\;\\text{this}\\;\\text{action}\\;\\text{more}\\;\\text{likely,}\\;\\text{we}\\;\\text{don't}\\;\\text{}}\\\\\n{\\text{want}\\;\\text{to}\\;\\text{encourage}\\;\\text{it}\\;\\text{even}\\;\\text{more}\\,\\text{for}\\;\\text{this}\\;\\text{episode}}\\\\\n{\\text{What}\\;\\text{if}\\;A_{t}&lt;0?}\\\\\n{r_{t}=1.3}\\\\\n{\\text{Now,}\\;\\text{the}\\;\\text{new}\\;\\text{policy}\\;\\text{is}\\;\\text{making}\\;\\text{a}\\;\\text{less}\\;\\text{advantageous}\\;\\text{more}\\;\\text{likely..}\\;\\text{}}\\\\\n{\\min \\left(r_{t}A_{t},\\,clip\\left(r_{t},\\,1-\\epsilon,\\,1+\\epsilon\\right)A_{t}\\right)}\\\\\n{=\\min\\left(1.3A_{t},\\,1.2A_{t}\\right)=r_{t}A_{t},\\,\\text{since}\\;A_{t}\\,\\text{is}\\;\\text{negative}}\\\\\n{\\text{So}\\;\\text{we}\\;\\text{don't}\\;\\text{have}\\;\\text{clipping,}\\;\\text{and}\\;\\text{the}\\;\\text{gradient}\\;\\text{will}\\;\\text{drive}\\;\\text{the}\\;\\text{policy}\\;\\text{to}\\;\\text{}}\\\\\n{\\text{lower}\\;\\text{the}\\;\\text{probability}\\;\\text{of}\\;\\text{this}\\;\\text{disadvantageous}\\;\\text{action}}\\\\\n{}\\\\\n{}\\\\\n{}\\\\\n{}\t\n\\end{gather*}&quot;,&quot;aid&quot;:null,&quot;font&quot;:{&quot;size&quot;:12,&quot;color&quot;:&quot;#000000&quot;,&quot;family&quot;:&quot;Arial&quot;},&quot;backgroundColor&quot;:&quot;#FFFFFF&quot;,&quot;type&quot;:&quot;gather*&quot;,&quot;ts&quot;:1784248929871,&quot;cs&quot;:&quot;52sms5orE47/DQPDhhmH1g==&quot;,&quot;size&quot;:{&quot;width&quot;:693.5,&quot;height&quot;:383.5}}" id="131" name="Google Shape;131;p23"/>
          <p:cNvPicPr preferRelativeResize="0"/>
          <p:nvPr/>
        </p:nvPicPr>
        <p:blipFill>
          <a:blip r:embed="rId3">
            <a:alphaModFix/>
          </a:blip>
          <a:stretch>
            <a:fillRect/>
          </a:stretch>
        </p:blipFill>
        <p:spPr>
          <a:xfrm>
            <a:off x="18147901" y="2076625"/>
            <a:ext cx="6605588" cy="3652838"/>
          </a:xfrm>
          <a:prstGeom prst="rect">
            <a:avLst/>
          </a:prstGeom>
          <a:noFill/>
          <a:ln>
            <a:noFill/>
          </a:ln>
        </p:spPr>
      </p:pic>
      <p:pic>
        <p:nvPicPr>
          <p:cNvPr descr="{&quot;backgroundColorModified&quot;:false,&quot;font&quot;:{&quot;size&quot;:11,&quot;family&quot;:&quot;Arial&quot;,&quot;color&quot;:&quot;#595959&quot;},&quot;code&quot;:&quot;\\begin{gather*}\n{\\text{Say }A_{t}\\,\\text{&gt; 1, }\\epsilon\\text{ = 0.2}}\\\\\n{\\text{if}\\;r_{t}=1.1,}\\\\\n{L\\left(\\theta\\right)=r_{t}A_{t},\\,\\text{an}\\text{d}\\;\\text{the}\\;\\text{policy}\\;\\text{update}\\;\\text{would}\\;\\text{make}\\;A_{t}\\,\\text{more}\\;\\text{likely}}\\\\\n{\\text{if}\\;r_{t}=1.3,}\\\\\n{\\text{clipping}\\;\\text{would}\\;\\text{kick}\\;\\text{in,}}\\\\\n{L\\left(\\theta\\right)=1.2A_{t}}\\\\\n{\\text{Since}\\;A_{t\\,}\\text{doesn't}\\;\\text{directly}\\;\\text{depend}\\;\\text{on}\\;\\text{the}\\;\\text{policy}\\;\\text{being}\\;\\text{optimized,}\\;\\text{the}\\;\\text{gradient}\\;\\text{wrt}}\\\\\n{\\text{policy}\\;\\text{params}\\;\\text{is}\\;\\text{0.}\\;\\text{The}\\;\\text{new}\\;\\text{policy}\\;\\text{is}\\;\\text{already}\\;\\text{making}\\;\\text{this}\\;\\text{action}\\;\\text{more}\\;\\text{likely,}\\;\\text{we}\\;\\text{don't}\\;\\text{}}\\\\\n{\\text{want}\\;\\text{to}\\;\\text{encourage}\\;\\text{it}\\;\\text{even}\\;\\text{more}\\,\\text{for}\\;\\text{this}\\;\\text{episode}}\\\\\n{\\text{What}\\;\\text{if}\\;A_{t}&lt;0?}\\\\\n{r_{t}=1.3}\\\\\n{\\text{Now,}\\;\\text{the}\\;\\text{new}\\;\\text{policy}\\;\\text{is}\\;\\text{making}\\;\\text{a}\\;\\text{less}\\;\\text{advantageous}\\;\\text{more}\\;\\text{likely..}\\;\\text{}}\\\\\n{\\min \\left(r_{t}A_{t},\\,clip\\left(r_{t},\\,1-\\epsilon,\\,1+\\epsilon\\right)A_{t}\\right)}\\\\\n{=\\min\\left(1.3A_{t},\\,1.2A_{t}\\right)=r_{t}A_{t},\\,\\text{since}\\;A_{t}\\,\\text{is}\\;\\text{negative}}\\\\\n{\\text{So}\\;\\text{we}\\;\\text{don't}\\;\\text{have}\\;\\text{clipping,}\\;\\text{and}\\;\\text{the}\\;\\text{gradient}\\;\\text{will}\\;\\text{drive}\\;\\text{the}\\;\\text{policy}\\;\\text{to}\\;\\text{}}\\\\\n{\\text{lower}\\;\\text{the}\\;\\text{probability}\\;\\text{of}\\;\\text{this}\\;\\text{disadvantageous}\\;\\text{action}}\t\n\\end{gather*}&quot;,&quot;backgroundColor&quot;:&quot;#FFFFFF&quot;,&quot;aid&quot;:null,&quot;id&quot;:&quot;8&quot;,&quot;type&quot;:&quot;gather*&quot;,&quot;ts&quot;:1784248992411,&quot;cs&quot;:&quot;UIDprof20Qo12YY4bd7YTg==&quot;,&quot;size&quot;:{&quot;width&quot;:655.7243674540683,&quot;height&quot;:362.5406692913386}}" id="132" name="Google Shape;132;p23"/>
          <p:cNvPicPr preferRelativeResize="0"/>
          <p:nvPr/>
        </p:nvPicPr>
        <p:blipFill>
          <a:blip r:embed="rId4">
            <a:alphaModFix/>
          </a:blip>
          <a:stretch>
            <a:fillRect/>
          </a:stretch>
        </p:blipFill>
        <p:spPr>
          <a:xfrm>
            <a:off x="687475" y="1129625"/>
            <a:ext cx="6245775" cy="34532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KL Regularization</a:t>
            </a:r>
            <a:endParaRPr/>
          </a:p>
        </p:txBody>
      </p:sp>
      <p:sp>
        <p:nvSpPr>
          <p:cNvPr id="138" name="Google Shape;138;p24"/>
          <p:cNvSpPr/>
          <p:nvPr/>
        </p:nvSpPr>
        <p:spPr>
          <a:xfrm>
            <a:off x="595350" y="1483500"/>
            <a:ext cx="1366500" cy="50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Next token prediction</a:t>
            </a:r>
            <a:endParaRPr/>
          </a:p>
        </p:txBody>
      </p:sp>
      <p:sp>
        <p:nvSpPr>
          <p:cNvPr id="139" name="Google Shape;139;p24"/>
          <p:cNvSpPr/>
          <p:nvPr/>
        </p:nvSpPr>
        <p:spPr>
          <a:xfrm>
            <a:off x="595350" y="2320350"/>
            <a:ext cx="1366500" cy="50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SFT</a:t>
            </a:r>
            <a:endParaRPr/>
          </a:p>
        </p:txBody>
      </p:sp>
      <p:cxnSp>
        <p:nvCxnSpPr>
          <p:cNvPr id="140" name="Google Shape;140;p24"/>
          <p:cNvCxnSpPr>
            <a:stCxn id="138" idx="2"/>
            <a:endCxn id="139" idx="0"/>
          </p:cNvCxnSpPr>
          <p:nvPr/>
        </p:nvCxnSpPr>
        <p:spPr>
          <a:xfrm>
            <a:off x="1278600" y="1986300"/>
            <a:ext cx="0" cy="334200"/>
          </a:xfrm>
          <a:prstGeom prst="straightConnector1">
            <a:avLst/>
          </a:prstGeom>
          <a:noFill/>
          <a:ln cap="flat" cmpd="sng" w="9525">
            <a:solidFill>
              <a:schemeClr val="dk2"/>
            </a:solidFill>
            <a:prstDash val="solid"/>
            <a:round/>
            <a:headEnd len="med" w="med" type="none"/>
            <a:tailEnd len="med" w="med" type="triangle"/>
          </a:ln>
        </p:spPr>
      </p:cxnSp>
      <p:sp>
        <p:nvSpPr>
          <p:cNvPr id="141" name="Google Shape;141;p24"/>
          <p:cNvSpPr/>
          <p:nvPr/>
        </p:nvSpPr>
        <p:spPr>
          <a:xfrm>
            <a:off x="595350" y="3209625"/>
            <a:ext cx="1366500" cy="502800"/>
          </a:xfrm>
          <a:prstGeom prst="roundRect">
            <a:avLst>
              <a:gd fmla="val 16667"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a:t>RL</a:t>
            </a:r>
            <a:endParaRPr/>
          </a:p>
        </p:txBody>
      </p:sp>
      <p:cxnSp>
        <p:nvCxnSpPr>
          <p:cNvPr id="142" name="Google Shape;142;p24"/>
          <p:cNvCxnSpPr>
            <a:stCxn id="139" idx="2"/>
            <a:endCxn id="141" idx="0"/>
          </p:cNvCxnSpPr>
          <p:nvPr/>
        </p:nvCxnSpPr>
        <p:spPr>
          <a:xfrm>
            <a:off x="1278600" y="2823150"/>
            <a:ext cx="0" cy="386400"/>
          </a:xfrm>
          <a:prstGeom prst="straightConnector1">
            <a:avLst/>
          </a:prstGeom>
          <a:noFill/>
          <a:ln cap="flat" cmpd="sng" w="9525">
            <a:solidFill>
              <a:schemeClr val="dk2"/>
            </a:solidFill>
            <a:prstDash val="solid"/>
            <a:round/>
            <a:headEnd len="med" w="med" type="none"/>
            <a:tailEnd len="med" w="med" type="triangle"/>
          </a:ln>
        </p:spPr>
      </p:cxnSp>
      <p:pic>
        <p:nvPicPr>
          <p:cNvPr descr="{&quot;backgroundColorModified&quot;:false,&quot;backgroundColor&quot;:&quot;#EEEEEE&quot;,&quot;id&quot;:&quot;4&quot;,&quot;font&quot;:{&quot;color&quot;:&quot;#000000&quot;,&quot;family&quot;:&quot;Arial&quot;,&quot;size&quot;:14},&quot;code&quot;:&quot;$$D_{KL}\\left(\\pi_{\\theta}\\left|\\right|\\pi_{\\text{ref}}\\right)=\\pi_{\\theta}\\left(t\\right)\\log_{}\\frac{\\pi_{\\theta}\\left(t\\right)}{\\pi_{\\text{ref}}\\left(t\\right)}$$&quot;,&quot;aid&quot;:null,&quot;type&quot;:&quot;$$&quot;,&quot;ts&quot;:1785456020443,&quot;cs&quot;:&quot;bVENhUP912oeKlNvuzsugg==&quot;,&quot;size&quot;:{&quot;width&quot;:317.75,&quot;height&quot;:53}}" id="143" name="Google Shape;143;p24"/>
          <p:cNvPicPr preferRelativeResize="0"/>
          <p:nvPr/>
        </p:nvPicPr>
        <p:blipFill>
          <a:blip r:embed="rId3">
            <a:alphaModFix/>
          </a:blip>
          <a:stretch>
            <a:fillRect/>
          </a:stretch>
        </p:blipFill>
        <p:spPr>
          <a:xfrm>
            <a:off x="2239375" y="2493482"/>
            <a:ext cx="3026569" cy="504825"/>
          </a:xfrm>
          <a:prstGeom prst="rect">
            <a:avLst/>
          </a:prstGeom>
          <a:noFill/>
          <a:ln>
            <a:noFill/>
          </a:ln>
        </p:spPr>
      </p:pic>
      <p:pic>
        <p:nvPicPr>
          <p:cNvPr descr="{&quot;backgroundColorModified&quot;:false,&quot;type&quot;:&quot;$$&quot;,&quot;id&quot;:&quot;4&quot;,&quot;code&quot;:&quot;$$\\pi_{\\text{ref}}$$&quot;,&quot;aid&quot;:null,&quot;font&quot;:{&quot;size&quot;:14,&quot;family&quot;:&quot;Arial&quot;,&quot;color&quot;:&quot;#000000&quot;},&quot;backgroundColor&quot;:&quot;#EEEEEE&quot;,&quot;ts&quot;:1785456048507,&quot;cs&quot;:&quot;dR52NYZVGFdUTdKIWugDPw==&quot;,&quot;size&quot;:{&quot;width&quot;:31.666666666666668,&quot;height&quot;:13}}" id="144" name="Google Shape;144;p24"/>
          <p:cNvPicPr preferRelativeResize="0"/>
          <p:nvPr/>
        </p:nvPicPr>
        <p:blipFill>
          <a:blip r:embed="rId4">
            <a:alphaModFix/>
          </a:blip>
          <a:stretch>
            <a:fillRect/>
          </a:stretch>
        </p:blipFill>
        <p:spPr>
          <a:xfrm>
            <a:off x="1416283" y="2954482"/>
            <a:ext cx="301625" cy="123825"/>
          </a:xfrm>
          <a:prstGeom prst="rect">
            <a:avLst/>
          </a:prstGeom>
          <a:noFill/>
          <a:ln>
            <a:noFill/>
          </a:ln>
        </p:spPr>
      </p:pic>
      <p:pic>
        <p:nvPicPr>
          <p:cNvPr descr="{&quot;font&quot;:{&quot;family&quot;:&quot;Arial&quot;,&quot;color&quot;:&quot;#000000&quot;,&quot;size&quot;:14},&quot;type&quot;:&quot;$$&quot;,&quot;backgroundColor&quot;:&quot;#EEEEEE&quot;,&quot;code&quot;:&quot;$$\\pi_{\\text{old}}$$&quot;,&quot;id&quot;:&quot;4&quot;,&quot;aid&quot;:null,&quot;backgroundColorModified&quot;:false,&quot;ts&quot;:1785456072626,&quot;cs&quot;:&quot;9POf7ewA+K9zi5tsvYCNNQ==&quot;,&quot;size&quot;:{&quot;width&quot;:33.333333333333336,&quot;height&quot;:13}}" id="145" name="Google Shape;145;p24"/>
          <p:cNvPicPr preferRelativeResize="0"/>
          <p:nvPr/>
        </p:nvPicPr>
        <p:blipFill>
          <a:blip r:embed="rId5">
            <a:alphaModFix/>
          </a:blip>
          <a:stretch>
            <a:fillRect/>
          </a:stretch>
        </p:blipFill>
        <p:spPr>
          <a:xfrm>
            <a:off x="2298058" y="3399115"/>
            <a:ext cx="317500" cy="123825"/>
          </a:xfrm>
          <a:prstGeom prst="rect">
            <a:avLst/>
          </a:prstGeom>
          <a:noFill/>
          <a:ln>
            <a:noFill/>
          </a:ln>
        </p:spPr>
      </p:pic>
      <p:pic>
        <p:nvPicPr>
          <p:cNvPr descr="{&quot;aid&quot;:null,&quot;font&quot;:{&quot;color&quot;:&quot;#000000&quot;,&quot;family&quot;:&quot;Arial&quot;,&quot;size&quot;:14},&quot;backgroundColorModified&quot;:false,&quot;type&quot;:&quot;$$&quot;,&quot;id&quot;:&quot;4&quot;,&quot;code&quot;:&quot;$$\\pi_{\\theta}$$&quot;,&quot;backgroundColor&quot;:&quot;#EEEEEE&quot;,&quot;ts&quot;:1785456112042,&quot;cs&quot;:&quot;NGVRhx3w+EqtFVPcskkAbA==&quot;,&quot;size&quot;:{&quot;width&quot;:20.166666666666668,&quot;height&quot;:13}}" id="146" name="Google Shape;146;p24"/>
          <p:cNvPicPr preferRelativeResize="0"/>
          <p:nvPr/>
        </p:nvPicPr>
        <p:blipFill>
          <a:blip r:embed="rId6">
            <a:alphaModFix/>
          </a:blip>
          <a:stretch>
            <a:fillRect/>
          </a:stretch>
        </p:blipFill>
        <p:spPr>
          <a:xfrm>
            <a:off x="1182552" y="4067553"/>
            <a:ext cx="192088" cy="123825"/>
          </a:xfrm>
          <a:prstGeom prst="rect">
            <a:avLst/>
          </a:prstGeom>
          <a:noFill/>
          <a:ln>
            <a:noFill/>
          </a:ln>
        </p:spPr>
      </p:pic>
      <p:cxnSp>
        <p:nvCxnSpPr>
          <p:cNvPr id="147" name="Google Shape;147;p24"/>
          <p:cNvCxnSpPr>
            <a:stCxn id="145" idx="1"/>
            <a:endCxn id="141" idx="3"/>
          </p:cNvCxnSpPr>
          <p:nvPr/>
        </p:nvCxnSpPr>
        <p:spPr>
          <a:xfrm rot="10800000">
            <a:off x="1961758" y="3461028"/>
            <a:ext cx="336300" cy="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p24"/>
          <p:cNvCxnSpPr>
            <a:stCxn id="146" idx="0"/>
            <a:endCxn id="141" idx="2"/>
          </p:cNvCxnSpPr>
          <p:nvPr/>
        </p:nvCxnSpPr>
        <p:spPr>
          <a:xfrm rot="10800000">
            <a:off x="1278596" y="3712353"/>
            <a:ext cx="0" cy="355200"/>
          </a:xfrm>
          <a:prstGeom prst="straightConnector1">
            <a:avLst/>
          </a:prstGeom>
          <a:noFill/>
          <a:ln cap="flat" cmpd="sng" w="9525">
            <a:solidFill>
              <a:schemeClr val="dk2"/>
            </a:solidFill>
            <a:prstDash val="solid"/>
            <a:round/>
            <a:headEnd len="med" w="med" type="none"/>
            <a:tailEnd len="med" w="med" type="triangle"/>
          </a:ln>
        </p:spPr>
      </p:cxnSp>
      <p:sp>
        <p:nvSpPr>
          <p:cNvPr id="149" name="Google Shape;149;p24"/>
          <p:cNvSpPr txBox="1"/>
          <p:nvPr/>
        </p:nvSpPr>
        <p:spPr>
          <a:xfrm>
            <a:off x="2795775" y="3181925"/>
            <a:ext cx="28110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Policy used to generate rollouts</a:t>
            </a:r>
            <a:endParaRPr sz="1800">
              <a:solidFill>
                <a:schemeClr val="dk2"/>
              </a:solidFill>
            </a:endParaRPr>
          </a:p>
        </p:txBody>
      </p:sp>
      <p:sp>
        <p:nvSpPr>
          <p:cNvPr id="150" name="Google Shape;150;p24"/>
          <p:cNvSpPr txBox="1"/>
          <p:nvPr/>
        </p:nvSpPr>
        <p:spPr>
          <a:xfrm>
            <a:off x="1455225" y="4009225"/>
            <a:ext cx="2811000" cy="461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800">
                <a:solidFill>
                  <a:schemeClr val="dk2"/>
                </a:solidFill>
              </a:rPr>
              <a:t>Policy being trained</a:t>
            </a:r>
            <a:endParaRPr sz="1800">
              <a:solidFill>
                <a:schemeClr val="dk2"/>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GRPO Algorithm: Recap</a:t>
            </a:r>
            <a:endParaRPr/>
          </a:p>
        </p:txBody>
      </p:sp>
      <p:sp>
        <p:nvSpPr>
          <p:cNvPr id="156" name="Google Shape;156;p25"/>
          <p:cNvSpPr txBox="1"/>
          <p:nvPr>
            <p:ph idx="1" type="body"/>
          </p:nvPr>
        </p:nvSpPr>
        <p:spPr>
          <a:xfrm>
            <a:off x="311700" y="1152475"/>
            <a:ext cx="8520600" cy="3643500"/>
          </a:xfrm>
          <a:prstGeom prst="rect">
            <a:avLst/>
          </a:prstGeom>
        </p:spPr>
        <p:txBody>
          <a:bodyPr anchorCtr="0" anchor="t" bIns="91425" lIns="91425" spcFirstLastPara="1" rIns="91425" wrap="square" tIns="91425">
            <a:normAutofit fontScale="55000" lnSpcReduction="20000"/>
          </a:bodyPr>
          <a:lstStyle/>
          <a:p>
            <a:pPr indent="0" lvl="0" marL="0" rtl="0" algn="l">
              <a:spcBef>
                <a:spcPts val="0"/>
              </a:spcBef>
              <a:spcAft>
                <a:spcPts val="0"/>
              </a:spcAft>
              <a:buNone/>
            </a:pPr>
            <a:r>
              <a:rPr lang="en"/>
              <a:t>1. Sample a batch of prompts. </a:t>
            </a:r>
            <a:endParaRPr/>
          </a:p>
          <a:p>
            <a:pPr indent="0" lvl="0" marL="0" rtl="0" algn="l">
              <a:spcBef>
                <a:spcPts val="1200"/>
              </a:spcBef>
              <a:spcAft>
                <a:spcPts val="0"/>
              </a:spcAft>
              <a:buNone/>
            </a:pPr>
            <a:r>
              <a:rPr lang="en"/>
              <a:t>2. Snapshot the rollout policy π_old. </a:t>
            </a:r>
            <a:endParaRPr/>
          </a:p>
          <a:p>
            <a:pPr indent="0" lvl="0" marL="0" rtl="0" algn="l">
              <a:spcBef>
                <a:spcPts val="1200"/>
              </a:spcBef>
              <a:spcAft>
                <a:spcPts val="0"/>
              </a:spcAft>
              <a:buNone/>
            </a:pPr>
            <a:r>
              <a:rPr lang="en"/>
              <a:t>3. For every prompt, sample G completions. </a:t>
            </a:r>
            <a:endParaRPr/>
          </a:p>
          <a:p>
            <a:pPr indent="0" lvl="0" marL="0" rtl="0" algn="l">
              <a:spcBef>
                <a:spcPts val="1200"/>
              </a:spcBef>
              <a:spcAft>
                <a:spcPts val="0"/>
              </a:spcAft>
              <a:buNone/>
            </a:pPr>
            <a:r>
              <a:rPr lang="en"/>
              <a:t>4. Calculate rewards for all completions. </a:t>
            </a:r>
            <a:endParaRPr/>
          </a:p>
          <a:p>
            <a:pPr indent="0" lvl="0" marL="0" rtl="0" algn="l">
              <a:spcBef>
                <a:spcPts val="1200"/>
              </a:spcBef>
              <a:spcAft>
                <a:spcPts val="0"/>
              </a:spcAft>
              <a:buNone/>
            </a:pPr>
            <a:r>
              <a:rPr lang="en"/>
              <a:t>5. Normalize rewards within each prompt group. </a:t>
            </a:r>
            <a:endParaRPr/>
          </a:p>
          <a:p>
            <a:pPr indent="0" lvl="0" marL="0" rtl="0" algn="l">
              <a:spcBef>
                <a:spcPts val="1200"/>
              </a:spcBef>
              <a:spcAft>
                <a:spcPts val="0"/>
              </a:spcAft>
              <a:buNone/>
            </a:pPr>
            <a:r>
              <a:rPr lang="en"/>
              <a:t>7. Store old token log probabilities. </a:t>
            </a:r>
            <a:endParaRPr/>
          </a:p>
          <a:p>
            <a:pPr indent="0" lvl="0" marL="0" rtl="0" algn="l">
              <a:spcBef>
                <a:spcPts val="1200"/>
              </a:spcBef>
              <a:spcAft>
                <a:spcPts val="0"/>
              </a:spcAft>
              <a:buNone/>
            </a:pPr>
            <a:r>
              <a:rPr lang="en"/>
              <a:t>8. For one or more optimization passes: </a:t>
            </a:r>
            <a:endParaRPr/>
          </a:p>
          <a:p>
            <a:pPr indent="457200" lvl="0" marL="0" rtl="0" algn="l">
              <a:spcBef>
                <a:spcPts val="1200"/>
              </a:spcBef>
              <a:spcAft>
                <a:spcPts val="0"/>
              </a:spcAft>
              <a:buNone/>
            </a:pPr>
            <a:r>
              <a:rPr lang="en"/>
              <a:t>recompute current token log probabilities </a:t>
            </a:r>
            <a:br>
              <a:rPr lang="en"/>
            </a:br>
            <a:r>
              <a:rPr lang="en"/>
              <a:t>	form new/old ratios </a:t>
            </a:r>
            <a:br>
              <a:rPr lang="en"/>
            </a:br>
            <a:r>
              <a:rPr lang="en"/>
              <a:t>	apply PPO clipping </a:t>
            </a:r>
            <a:br>
              <a:rPr lang="en"/>
            </a:br>
            <a:r>
              <a:rPr lang="en"/>
              <a:t>	optionally add KL to reference policy </a:t>
            </a:r>
            <a:br>
              <a:rPr lang="en"/>
            </a:br>
            <a:r>
              <a:rPr lang="en"/>
              <a:t>	update policy parameters </a:t>
            </a:r>
            <a:endParaRPr/>
          </a:p>
          <a:p>
            <a:pPr indent="0" lvl="0" marL="0" rtl="0" algn="l">
              <a:spcBef>
                <a:spcPts val="1200"/>
              </a:spcBef>
              <a:spcAft>
                <a:spcPts val="0"/>
              </a:spcAft>
              <a:buNone/>
            </a:pPr>
            <a:r>
              <a:rPr lang="en"/>
              <a:t>9. Set </a:t>
            </a:r>
            <a:r>
              <a:rPr lang="en"/>
              <a:t>π_old = updated policy. Π_ref doesn’t change</a:t>
            </a:r>
            <a:endParaRPr/>
          </a:p>
          <a:p>
            <a:pPr indent="0" lvl="0" marL="0" rtl="0" algn="l">
              <a:spcBef>
                <a:spcPts val="1200"/>
              </a:spcBef>
              <a:spcAft>
                <a:spcPts val="1200"/>
              </a:spcAft>
              <a:buNone/>
            </a:pPr>
            <a:r>
              <a:rPr lang="en"/>
              <a:t>10. Repeat with newly generated completions.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GRPO variants</a:t>
            </a:r>
            <a:endParaRPr/>
          </a:p>
        </p:txBody>
      </p:sp>
      <p:sp>
        <p:nvSpPr>
          <p:cNvPr id="162" name="Google Shape;16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Dividing by standard dev can amplify small reward differentials, remove division by standard deviation</a:t>
            </a:r>
            <a:endParaRPr/>
          </a:p>
          <a:p>
            <a:pPr indent="-317500" lvl="1" marL="914400" rtl="0" algn="l">
              <a:spcBef>
                <a:spcPts val="0"/>
              </a:spcBef>
              <a:spcAft>
                <a:spcPts val="0"/>
              </a:spcAft>
              <a:buSzPts val="1400"/>
              <a:buChar char="○"/>
            </a:pPr>
            <a:r>
              <a:rPr lang="en"/>
              <a:t>G1 = [0, 0, 0, 0.01], G2 = [0, 0, 0, 1] will produce identical normalized advantage</a:t>
            </a:r>
            <a:endParaRPr/>
          </a:p>
          <a:p>
            <a:pPr indent="-342900" lvl="0" marL="457200" rtl="0" algn="l">
              <a:spcBef>
                <a:spcPts val="0"/>
              </a:spcBef>
              <a:spcAft>
                <a:spcPts val="0"/>
              </a:spcAft>
              <a:buSzPts val="1800"/>
              <a:buChar char="●"/>
            </a:pPr>
            <a:r>
              <a:rPr lang="en"/>
              <a:t>Clip higher </a:t>
            </a:r>
            <a:endParaRPr/>
          </a:p>
          <a:p>
            <a:pPr indent="0" lvl="0" marL="0" rtl="0" algn="l">
              <a:spcBef>
                <a:spcPts val="1200"/>
              </a:spcBef>
              <a:spcAft>
                <a:spcPts val="1200"/>
              </a:spcAft>
              <a:buNone/>
            </a:pPr>
            <a:r>
              <a:t/>
            </a:r>
            <a:endParaRPr/>
          </a:p>
        </p:txBody>
      </p:sp>
      <p:pic>
        <p:nvPicPr>
          <p:cNvPr descr="{&quot;code&quot;:&quot;\\begin{lalign*}\n&amp;{\\text{Standar}\\text{d}\\;\\text{GRPO:}\\;r_{i,t}:\\,\\left[1-\\epsilon,\\,1+\\epsilon\\right]}\\\\\n&amp;{\\text{Clip-higher:}\\;r_{i,t}:\\,\\left[1-\\epsilon_{low},\\,1+\\epsilon_{high}\\right],\\,\\epsilon_{high}&gt;\\epsilon_{low}}\\\\\n&amp;{\\text{Reason:}}\\\\\n&amp;{\\text{if}\\;\\text{a}\\;\\text{token}\\;\\text{has}\\;\\pi_{old}\\left(t\\right)\\,=\\,0.01,\\,GRPO\\,\\text{will}\\;\\text{stop}\\;\\text{encouraging}\\;\\text{it}\\;\\text{once}\\;\\text{it}\\;\\text{reaches}}\\\\\n&amp;{0.01\\,\\times1.2\\,=\\,0.012,\\,\\text{only}\\;\\text{a}\\;\\text{small}\\;\\text{absolute}\\;\\text{increase}}\\\\\n&amp;{\\text{By}\\;\\text{raising}\\;\\text{upper}\\;\\text{clipping}\\;\\text{limit,}\\;\\text{clip-higher}\\;\\text{gives}\\;\\text{low}\\;\\text{prob},}\\\\\n&amp;{\\text{positive}\\;\\text{advantage}\\;\\text{tokens}\\;\\text{more}\\;\\text{room}\\;\\text{to}\\;\\text{increase.}\\;\\text{Lower}}\\\\\n&amp;{\\text{clip}\\;\\text{boundary}\\;\\text{stays,}\\;\\text{because}\\;\\text{allowing}\\;\\text{bad}\\;\\text{token}\\;\\text{probs}\\;\\text{to}\\;\\text{fall}}\\\\\n&amp;{\\text{too}\\;\\text{aggresively}\\;\\text{may}\\;\\text{collapse}\\;\\text{available}\\;\\text{sampling}\\;\\text{space}}\t\n\\end{lalign*}&quot;,&quot;type&quot;:&quot;lalign*&quot;,&quot;backgroundColorModified&quot;:false,&quot;backgroundColor&quot;:&quot;#FFFFFF&quot;,&quot;aid&quot;:null,&quot;font&quot;:{&quot;color&quot;:&quot;#000000&quot;,&quot;size&quot;:11,&quot;family&quot;:&quot;Arial&quot;},&quot;id&quot;:&quot;5&quot;,&quot;ts&quot;:1785499558336,&quot;cs&quot;:&quot;MNxv+qVrr59jLvDFGUZGXw==&quot;,&quot;size&quot;:{&quot;width&quot;:585.1181270341209,&quot;height&quot;:203.0262398950131}}" id="163" name="Google Shape;163;p26"/>
          <p:cNvPicPr preferRelativeResize="0"/>
          <p:nvPr/>
        </p:nvPicPr>
        <p:blipFill>
          <a:blip r:embed="rId3">
            <a:alphaModFix/>
          </a:blip>
          <a:stretch>
            <a:fillRect/>
          </a:stretch>
        </p:blipFill>
        <p:spPr>
          <a:xfrm>
            <a:off x="853825" y="2635050"/>
            <a:ext cx="5573250" cy="19338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7" name="Shape 167"/>
        <p:cNvGrpSpPr/>
        <p:nvPr/>
      </p:nvGrpSpPr>
      <p:grpSpPr>
        <a:xfrm>
          <a:off x="0" y="0"/>
          <a:ext cx="0" cy="0"/>
          <a:chOff x="0" y="0"/>
          <a:chExt cx="0" cy="0"/>
        </a:xfrm>
      </p:grpSpPr>
      <p:sp>
        <p:nvSpPr>
          <p:cNvPr id="168" name="Google Shape;168;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GRPO variants</a:t>
            </a:r>
            <a:endParaRPr/>
          </a:p>
        </p:txBody>
      </p:sp>
      <p:sp>
        <p:nvSpPr>
          <p:cNvPr id="169" name="Google Shape;169;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Token level policy gradient loss </a:t>
            </a:r>
            <a:endParaRPr/>
          </a:p>
          <a:p>
            <a:pPr indent="0" lvl="0" marL="0" rtl="0" algn="l">
              <a:spcBef>
                <a:spcPts val="1200"/>
              </a:spcBef>
              <a:spcAft>
                <a:spcPts val="1200"/>
              </a:spcAft>
              <a:buNone/>
            </a:pPr>
            <a:r>
              <a:t/>
            </a:r>
            <a:endParaRPr/>
          </a:p>
        </p:txBody>
      </p:sp>
      <p:pic>
        <p:nvPicPr>
          <p:cNvPr descr="{&quot;backgroundColor&quot;:&quot;#FFFFFF&quot;,&quot;aid&quot;:null,&quot;id&quot;:&quot;6&quot;,&quot;code&quot;:&quot;\\begin{lalign*}\n&amp;{\\text{Original}\\;\\text{GRPO}\\;\\text{first}\\;\\text{averages}\\;\\text{over}\\;\\text{the}\\;\\text{tokens}\\;\\text{in}\\;\\text{each}\\;\\text{completion,}\\;\\text{then}\\;\\text{averages}\\;\\text{}}\\\\\n&amp;{\\text{over}\\;\\text{completions}}\\\\\n&amp;{\\frac{1}{G}\\sum_{i=1}^{G}\\frac{1}{T_{i}}\\sum_{t=1}^{T_{i}}l_{i,t}}\\\\\n&amp;{\\text{This}\\;\\text{means}\\;\\text{tokens}\\;\\text{in}\\;\\text{longer}\\;\\text{completions}\\;\\text{receive}\\;\\text{lower}\\;\\text{effective}\\;\\text{weight}}\\\\\n&amp;{\\text{DAPO}\\;\\text{adjusts}\\;\\text{the}\\;\\text{averaging}\\;\\text{so}\\;\\text{each}\\;\\text{token}\\;\\text{receives}\\;\\text{roughly}\\;\\text{equal}\\;\\text{weight}}\\\\\n&amp;{\\frac{\\sum_{i=1}^{G}\\sum_{t=1}^{T_{i}}l_{i,t}}{\\sum_{i=1}^{G}T_{i}}}\\\\\n&amp;{}\\\\\n&amp;{}\t\n\\end{lalign*}&quot;,&quot;type&quot;:&quot;lalign*&quot;,&quot;font&quot;:{&quot;size&quot;:11,&quot;family&quot;:&quot;Arial&quot;,&quot;color&quot;:&quot;#000000&quot;},&quot;backgroundColorModified&quot;:false,&quot;ts&quot;:1785500169628,&quot;cs&quot;:&quot;UyZVWzff8Xs1INNBFetqUQ==&quot;,&quot;size&quot;:{&quot;width&quot;:595,&quot;height&quot;:197.5}}" id="170" name="Google Shape;170;p27"/>
          <p:cNvPicPr preferRelativeResize="0"/>
          <p:nvPr/>
        </p:nvPicPr>
        <p:blipFill>
          <a:blip r:embed="rId3">
            <a:alphaModFix/>
          </a:blip>
          <a:stretch>
            <a:fillRect/>
          </a:stretch>
        </p:blipFill>
        <p:spPr>
          <a:xfrm>
            <a:off x="499675" y="1851475"/>
            <a:ext cx="5667375" cy="188118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Course recap</a:t>
            </a:r>
            <a:endParaRPr/>
          </a:p>
        </p:txBody>
      </p:sp>
      <p:sp>
        <p:nvSpPr>
          <p:cNvPr id="176" name="Google Shape;176;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n"/>
              <a:t>Optimization, matrix math, derivatives</a:t>
            </a:r>
            <a:endParaRPr/>
          </a:p>
          <a:p>
            <a:pPr indent="-342900" lvl="0" marL="457200" rtl="0" algn="l">
              <a:spcBef>
                <a:spcPts val="0"/>
              </a:spcBef>
              <a:spcAft>
                <a:spcPts val="0"/>
              </a:spcAft>
              <a:buSzPts val="1800"/>
              <a:buChar char="-"/>
            </a:pPr>
            <a:r>
              <a:rPr lang="en"/>
              <a:t>Neural networks, forward pass, backward pass, backprop</a:t>
            </a:r>
            <a:endParaRPr/>
          </a:p>
          <a:p>
            <a:pPr indent="-342900" lvl="0" marL="457200" rtl="0" algn="l">
              <a:spcBef>
                <a:spcPts val="0"/>
              </a:spcBef>
              <a:spcAft>
                <a:spcPts val="0"/>
              </a:spcAft>
              <a:buSzPts val="1800"/>
              <a:buChar char="-"/>
            </a:pPr>
            <a:r>
              <a:rPr lang="en"/>
              <a:t>Monitoring, </a:t>
            </a:r>
            <a:r>
              <a:rPr lang="en"/>
              <a:t>drift, explainability methods</a:t>
            </a:r>
            <a:endParaRPr/>
          </a:p>
          <a:p>
            <a:pPr indent="-342900" lvl="0" marL="457200" rtl="0" algn="l">
              <a:spcBef>
                <a:spcPts val="0"/>
              </a:spcBef>
              <a:spcAft>
                <a:spcPts val="0"/>
              </a:spcAft>
              <a:buSzPts val="1800"/>
              <a:buChar char="-"/>
            </a:pPr>
            <a:r>
              <a:rPr lang="en"/>
              <a:t>Information retrieval--relevancy metrics, lexical vs semantic </a:t>
            </a:r>
            <a:endParaRPr/>
          </a:p>
          <a:p>
            <a:pPr indent="-342900" lvl="0" marL="457200" rtl="0" algn="l">
              <a:spcBef>
                <a:spcPts val="0"/>
              </a:spcBef>
              <a:spcAft>
                <a:spcPts val="0"/>
              </a:spcAft>
              <a:buSzPts val="1800"/>
              <a:buChar char="-"/>
            </a:pPr>
            <a:r>
              <a:rPr lang="en"/>
              <a:t>Neural architectures and transformer systems</a:t>
            </a:r>
            <a:endParaRPr/>
          </a:p>
          <a:p>
            <a:pPr indent="-342900" lvl="0" marL="457200" rtl="0" algn="l">
              <a:spcBef>
                <a:spcPts val="0"/>
              </a:spcBef>
              <a:spcAft>
                <a:spcPts val="0"/>
              </a:spcAft>
              <a:buSzPts val="1800"/>
              <a:buChar char="-"/>
            </a:pPr>
            <a:r>
              <a:rPr lang="en"/>
              <a:t>Reinforcement Learning</a:t>
            </a:r>
            <a:endParaRPr/>
          </a:p>
          <a:p>
            <a:pPr indent="-342900" lvl="0" marL="457200" rtl="0" algn="l">
              <a:spcBef>
                <a:spcPts val="0"/>
              </a:spcBef>
              <a:spcAft>
                <a:spcPts val="0"/>
              </a:spcAft>
              <a:buSzPts val="1800"/>
              <a:buChar char="-"/>
            </a:pPr>
            <a:r>
              <a:rPr lang="en"/>
              <a:t>Inference engines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