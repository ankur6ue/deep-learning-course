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BE944C-A2AA-4A12-A494-E47727EED314}">
  <a:tblStyle styleId="{54BE944C-A2AA-4A12-A494-E47727EED3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572e8f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572e8f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2c63d4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2c63d4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2ee7fd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2ee7fd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5572e8f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5572e8f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2ee7fd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2ee7fd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2ee7fd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d2ee7fd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2ee7fd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2ee7fd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d2ee7fdf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d2ee7fdf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d2ee7fdf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d2ee7fdf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2ee7fd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d2ee7fd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82c63d4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82c63d4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82c63d4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82c63d4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82c63d4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82c63d4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d2ee7fdf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d2ee7fdf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82c63d41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82c63d41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Agents, Environment, Rewards, Exploration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7.1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outline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62875" y="10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{54BE944C-A2AA-4A12-A494-E47727EED314}</a:tableStyleId>
              </a:tblPr>
              <a:tblGrid>
                <a:gridCol w="710750"/>
                <a:gridCol w="3159225"/>
                <a:gridCol w="4182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Class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Title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Main output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1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Bandits, MDPs, Returns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agent/environment/reward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2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 Functions and Bellman Equations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Learning to solve a reinforcement learning problems by iteratively estimating the 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 of a state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3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Monte Carlo, TD, SARSA, Q-Learning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On-policy vs off-policy, sampled experience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4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Policy Gradients and REINFORCE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log-prob weighted by 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5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Actor-Critic and PPO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advantage, critic, clipping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6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RLHF and GRPO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PPO/GRPO to LLM training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What makes reinforcement learning different from supervised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The agent-environment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States, actions, rewards, trajectories, returns, and policies.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The exploration-vs-exploitation tradeoff.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Why bandits are the simplest RL-like problem.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6. How epsilon-greedy learning works.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7. How an LLM can be viewed as a policy.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vs Reinforcement Learning	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Supervised Learning:</a:t>
            </a:r>
            <a:r>
              <a:rPr lang="en"/>
              <a:t> Direct learning signal</a:t>
            </a:r>
            <a:br>
              <a:rPr lang="en"/>
            </a:br>
            <a:r>
              <a:rPr lang="en"/>
              <a:t>	- </a:t>
            </a:r>
            <a:r>
              <a:rPr lang="en" sz="1400"/>
              <a:t>Model output-&gt; Compare to ground truth -&gt; loss -&gt; gradients -&gt; weight update</a:t>
            </a:r>
            <a:r>
              <a:rPr lang="en"/>
              <a:t> </a:t>
            </a:r>
            <a:br>
              <a:rPr lang="en"/>
            </a:br>
            <a:r>
              <a:rPr lang="en"/>
              <a:t>	- </a:t>
            </a:r>
            <a:r>
              <a:rPr lang="en" sz="1600"/>
              <a:t>Training data distribution is fixed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Reinforcement Learning:</a:t>
            </a:r>
            <a:r>
              <a:rPr lang="en"/>
              <a:t> Model takes some action, which influences the environment. Feedback on the action may come later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a move in chess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Recommend an offer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Predict a token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Training data depends on agents interaction with the environment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Agent-Environment loop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state</a:t>
            </a:r>
            <a:r>
              <a:rPr lang="en"/>
              <a:t>:  what the agent sees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action</a:t>
            </a:r>
            <a:r>
              <a:rPr lang="en"/>
              <a:t>: what the agent does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reward</a:t>
            </a:r>
            <a:r>
              <a:rPr lang="en"/>
              <a:t>: scalar feedback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next state</a:t>
            </a:r>
            <a:r>
              <a:rPr lang="en"/>
              <a:t>: what happens after the action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Episodes and Trajectories	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1978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Episode</a:t>
            </a:r>
            <a:r>
              <a:rPr lang="en"/>
              <a:t>: Full (State, Action) sequence until some end state (eg., game over)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id&quot;:&quot;1&quot;,&quot;backgroundColorModified&quot;:false,&quot;code&quot;:&quot;$$\\tau:\\left(S_{0},A_{0},R_{1},S_{1},A_{1},R_{2},S_{2},A_{2}...R_{T},S_{T},A_{T}\\right)$$&quot;,&quot;type&quot;:&quot;$$&quot;,&quot;backgroundColor&quot;:&quot;#FFFFFF&quot;,&quot;font&quot;:{&quot;color&quot;:&quot;#595959&quot;,&quot;family&quot;:&quot;Arial&quot;,&quot;size&quot;:18},&quot;ts&quot;:1780364900662,&quot;cs&quot;:&quot;AQg7G1SdbIcPXaVXvLb15Q==&quot;,&quot;size&quot;:{&quot;width&quot;:572,&quot;height&quot;:28.5}}"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050" y="1769000"/>
            <a:ext cx="5448300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595959&quot;,&quot;family&quot;:&quot;Arial&quot;,&quot;size&quot;:18},&quot;code&quot;:&quot;\\begin{gather*}\n{\\text{For}\\;\\text{a}\\;\\text{finite}\\;\\text{episode:}}\\\\\n{G_{t}=R_{t+1}+\\gamma R_{t+2}+\\gamma^{2}R_{t+3}+...+\\gamma^{T}R_{t+T+1}}\t\n\\end{gather*}&quot;,&quot;type&quot;:&quot;gather*&quot;,&quot;backgroundColorModified&quot;:false,&quot;backgroundColor&quot;:&quot;#FFFFFF&quot;,&quot;id&quot;:&quot;1&quot;,&quot;ts&quot;:1780365583001,&quot;cs&quot;:&quot;bt1SEurw+Ql1EbeBvlVsjg==&quot;,&quot;size&quot;:{&quot;width&quot;:548,&quot;height&quot;:67}}"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8098" y="4134356"/>
            <a:ext cx="52197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08800" y="3114925"/>
            <a:ext cx="81978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Return vs Reward</a:t>
            </a:r>
            <a:r>
              <a:rPr lang="en"/>
              <a:t>. You get a reward potentially after every action. Return is the total (potentially discounted) reward for an episode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policy defines a probability distribution over actions at a state</a:t>
            </a:r>
            <a:endParaRPr/>
          </a:p>
        </p:txBody>
      </p:sp>
      <p:pic>
        <p:nvPicPr>
          <p:cNvPr descr="{&quot;type&quot;:&quot;gather*&quot;,&quot;aid&quot;:null,&quot;backgroundColor&quot;:&quot;#FFFFFF&quot;,&quot;backgroundColorModified&quot;:false,&quot;code&quot;:&quot;\\begin{gather*}\n{\\pi\\left(a|s\\right)=P\\left(A_{t}=a|s_{t}=s\\right)}\\\\\n{\\text{For}\\;\\text{deep}\\;\\text{learning},\\,\\text{the}\\;\\text{neural}\\;\\text{network}\\;\\text{is}\\;\\text{the}\\;\\text{policy}}\\\\\n{\\text{It}\\;\\text{outputs}\\;\\text{a}\\;\\text{distribution}\\;\\text{over}\\;\\text{actions}}\\\\\n{\\pi_{\\theta}\\left(\\giventhat{y_{t}}{x,y_{&lt;t}}\\right)}\t\n\\end{gather*}&quot;,&quot;id&quot;:&quot;2&quot;,&quot;font&quot;:{&quot;size&quot;:18,&quot;family&quot;:&quot;Arial&quot;,&quot;color&quot;:&quot;#595959&quot;},&quot;ts&quot;:1780366358969,&quot;cs&quot;:&quot;b0AA7aUpo78gV/jFRyOjhg==&quot;,&quot;size&quot;:{&quot;width&quot;:615.5,&quot;height&quot;:138}}"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800" y="2072400"/>
            <a:ext cx="5862638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RL Objective	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a policy that maximizes total expected return.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a parameterized policy, find the parameters so that trajectories sampled from the policy have high expected returns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Multi-arm bandits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K arms. Each arm has an unknown pay-off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Try the arms, learn their payoff and maximise rewards in the least number of tries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Reinforcement learning loop: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 with an arm payoff estimate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Choose an arm (policy)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Get a reward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Update payoff estimate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Repeat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state transitions here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Multi-arm bandits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code&quot;:&quot;\\begin{gather*}\n{\\text{Let}\\;\\text{there}\\;\\text{be}\\;\\text{K}\\;\\text{actions}}\\\\\n{\\text{Each}\\;\\text{action}\\;\\text{has}\\;\\text{a}\\text{n}\\;\\text{unknown}\\;\\text{expected}\\;\\text{reward}}\\\\\n{q\\left(a\\right)=E\\left[\\giventhat{R}{A=a}\\right]}\\\\\n{\\text{The}\\;\\text{agent}\\;\\text{doesn't}\\;\\text{know}\\;\\text{q(a),}\\;\\text{but}\\;\\text{maintains}\\;\\text{an}\\;\\text{estimate}\\;\\text{of}\\;\\text{it}:\\,Q_{t}\\left(A\\right)}\\\\\n{\\text{Greedy}\\;\\text{policy:}}\\\\\n{A_{t}=\\arg \\max_{a}\\left(Q_{t}\\left(a\\right)\\right)}\\\\\n{\\text{But}\\;\\text{if}\\;\\text{we}\\;\\text{use}\\;\\text{a}\\;\\text{greedy}\\;\\text{policy,}\\;\\text{we'll}\\;\\text{never}\\;\\text{discover}\\;\\text{the}\\;\\text{pay-off}\\;\\text{from}\\;\\text{other}\\;\\text{arms}}\\\\\n{\\text{that}\\;\\text{may}\\;\\text{have}\\;\\text{returned}\\;\\text{a}\\;\\text{lower}\\;\\text{reward}\\;\\text{initially}}\\\\\n{\\text{This}\\;\\text{is}\\;\\text{the}\\;\\text{exploration-exploitation}\\;\\text{trade-off!}}\\\\\n{}\t\n\\end{gather*}&quot;,&quot;id&quot;:&quot;3&quot;,&quot;type&quot;:&quot;gather*&quot;,&quot;backgroundColorModified&quot;:false,&quot;font&quot;:{&quot;color&quot;:&quot;#595959&quot;,&quot;size&quot;:18,&quot;family&quot;:&quot;Arial&quot;},&quot;backgroundColor&quot;:&quot;#FFFFFF&quot;,&quot;ts&quot;:1780401573996,&quot;cs&quot;:&quot;2BepaA4ywM1ibISzp+WjYQ==&quot;,&quot;size&quot;:{&quot;width&quot;:947,&quot;height&quot;:332}}"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25" y="1203050"/>
            <a:ext cx="8276825" cy="2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Multi-arm bandits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type&quot;:&quot;gather*&quot;,&quot;backgroundColorModified&quot;:false,&quot;code&quot;:&quot;\\begin{gather*}\n{\\text{Epsilon}\\;\\text{Greedy}\\;\\text{Policies}}\\\\\n{\\text{Simplest}\\;\\text{exploration}\\;\\text{policy}}\\\\\n{\\text{With}\\;\\text{probability}\\;1-\\epsilon:}\\\\\n{A_{t}=\\arg\\,\\max_{a}\\left(Q_{t}\\left(a\\right)\\right)}\\\\\n{\\text{With}\\;\\text{probability}\\;\\epsilon}\\\\\n{A_{t}=\\text{Uniform(\\{1,2...K\\})}}\\\\\n{\\epsilon=0:\\,\\text{pure}\\;\\text{exploitation}}\\\\\n{\\epsilon=1:\\,\\text{pure}\\;\\text{exploration}}\\\\\n{\\text{}}\t\n\\end{gather*}&quot;,&quot;font&quot;:{&quot;color&quot;:&quot;#595959&quot;,&quot;family&quot;:&quot;Arial&quot;,&quot;size&quot;:16.5},&quot;backgroundColor&quot;:&quot;#FFFFFF&quot;,&quot;id&quot;:&quot;3&quot;,&quot;ts&quot;:1780401896358,&quot;cs&quot;:&quot;N+HHmwRERcEf5wBkEnNdAg==&quot;,&quot;size&quot;:{&quot;width&quot;:302.5,&quot;height&quot;:270.5}}"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03" y="1323100"/>
            <a:ext cx="2881313" cy="2576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code&quot;:&quot;\\begin{gather*}\n{\\text{Updating}\\;\\text{action}\\;\\text{payoff}\\;\\text{estimates:}\\text{}}\\\\\n{\\text{Suppose}\\;\\text{we}\\;\\text{selected}\\;\\text{action}\\;a,\\,N\\left(a\\right)\\,\\text{times}}\\\\\n{\\text{sample}\\;\\text{average}\\;\\text{estimate:}}\\\\\n{Q\\left(a\\right)=\\frac{\\text{sum}\\;\\text{of}\\;\\text{rewards}\\;\\text{from}\\;\\text{action}\\;\\text{a}}{N\\left(a\\right)}}\\\\\n{\\text{If}\\;\\text{we}\\;\\text{receiv}\\text{e}\\;\\text{reward}\\;R_{n}\\,\\text{we}\\;\\text{can}\\;\\text{apply}\\;\\text{an}\\;\\text{incremental}\\;\\text{update:}}\\\\\n{Q_{n+1}\\left(a\\right)=Q_{n}\\left(a\\right)+\\frac{1}{n}\\left(R_{n}-Q_{n}\\left(a\\right)\\right)}\\\\\n{\\text{Can}\\;\\text{think}\\;\\text{of}\\;\\text{this}\\;\\text{as}\\;\\text{applying}\\;\\text{a}\\;\\text{correction}}\\\\\n{\\text{scaled}\\;\\text{by}\\;\\text{a}\\;\\text{step}\\;\\text{size}\\;\\times\\,\\text{estimation}\\;\\text{error}}\\\\\n{\\text{If}\\;\\text{reward}\\;\\text{distribution}\\;\\text{changes}\\;\\text{over}\\;\\text{time,}\\;\\text{we}\\;\\text{can}\\;\\text{}}\\\\\n{\\text{apply}\\;\\text{a}\\;\\text{constant}\\;\\text{learning}\\;\\text{rate:}}\\\\\n{Q_{n+1}\\left(a\\right)=Q_{n}\\left(a\\right)+\\alpha\\left(R_{n}-Q_{n}\\left(a\\right)\\right)}\t\n\\end{gather*}&quot;,&quot;backgroundColorModified&quot;:false,&quot;type&quot;:&quot;gather*&quot;,&quot;id&quot;:&quot;4&quot;,&quot;font&quot;:{&quot;family&quot;:&quot;Arial&quot;,&quot;color&quot;:&quot;#000000&quot;,&quot;size&quot;:14.5},&quot;ts&quot;:1780525346001,&quot;cs&quot;:&quot;yY7TrhgWI2+O3xOIe8iU5g==&quot;,&quot;size&quot;:{&quot;width&quot;:594.5,&quot;height&quot;:370.5}}"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896" y="807238"/>
            <a:ext cx="5662613" cy="352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Multi-arm Bandit simulation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303275" cy="322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075" y="1170125"/>
            <a:ext cx="4383525" cy="3287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Regret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Regret measures how much reward we lost because we did not always pick the best action.</a:t>
            </a:r>
            <a:endParaRPr/>
          </a:p>
        </p:txBody>
      </p:sp>
      <p:pic>
        <p:nvPicPr>
          <p:cNvPr descr="{&quot;type&quot;:&quot;gather*&quot;,&quot;backgroundColorModified&quot;:false,&quot;id&quot;:&quot;5&quot;,&quot;font&quot;:{&quot;size&quot;:18,&quot;color&quot;:&quot;#595959&quot;,&quot;family&quot;:&quot;Arial&quot;},&quot;code&quot;:&quot;\\begin{gather*}\n{\\text{Optimal}\\;\\text{action:}}\\\\\n{a^{\\star}=\\arg \\max_{a}\\left(q_{\\star}\\left(a\\right)\\right)}\\\\\n{\\text{optimal}\\;\\text{expected}\\;\\text{reward:}}\\\\\n{q_{\\star}\\left(a^{\\star}\\right)}\\\\\n{\\text{regret:}\\;q_{\\star}\\left(a^{\\star}\\right)-q_{\\star}\\left(A_{t}\\right)}\\\\\n{\\text{Cumulative}\\;\\text{regret:}}\\\\\n{\\sum_{t=1}^{T}q_{\\star}\\left(a^{\\star}\\right)-q_{\\star}\\left(A_{t}\\right)}\t\n\\end{gather*}&quot;,&quot;aid&quot;:null,&quot;backgroundColor&quot;:&quot;#FFFFFF&quot;,&quot;ts&quot;:1780526300003,&quot;cs&quot;:&quot;/bv97APMIy1gSmHb3Iai2g==&quot;,&quot;size&quot;:{&quot;width&quot;:306.5,&quot;height&quot;:311.75}}"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425" y="1757625"/>
            <a:ext cx="2919413" cy="2969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Decision Process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4317575" y="656475"/>
            <a:ext cx="400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LLMs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State:</a:t>
            </a:r>
            <a:r>
              <a:rPr lang="en" sz="1600"/>
              <a:t> prompt + generated tokens so far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Action:</a:t>
            </a:r>
            <a:r>
              <a:rPr lang="en" sz="1600"/>
              <a:t> next token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Policy:</a:t>
            </a:r>
            <a:r>
              <a:rPr lang="en" sz="1600"/>
              <a:t> Language model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/>
              <a:t>Reward:</a:t>
            </a:r>
            <a:r>
              <a:rPr lang="en" sz="1600"/>
              <a:t> Human preference, reward score model, verifier score</a:t>
            </a:r>
            <a:endParaRPr sz="1600"/>
          </a:p>
        </p:txBody>
      </p:sp>
      <p:pic>
        <p:nvPicPr>
          <p:cNvPr descr="{&quot;backgroundColorModified&quot;:false,&quot;code&quot;:&quot;\\begin{gather*}\n{\\text{Markov}\\;\\text{Decision}\\;\\text{Process}\\;\\text{(MDP)}}\\\\\n{\\left(S,A,P,R\\right)}\\\\\n{S:\\,\\text{States}}\\\\\n{A:\\,\\text{Actions}}\\\\\n{P:\\,\\text{State}\\;\\text{transition}\\;\\text{dynamics}\\;P\\left(\\giventhat{s_{t+1}}{s_{t},A_{t}}\\right)}\\\\\n{R:\\,\\text{Rewards}\\;R\\left(s,a\\right)}\\\\\n{}\\\\\n{\\text{Markov}\\;\\text{Property}}\\\\\n{P\\left(\\giventhat{S_{t+1}}{S_{t},A_{t},S_{t-1},\\,A_{t-1}...}\\right)=P\\left(\\giventhat{S_{t+1}}{S_{t},A_{t}}\\right)}\t\n\\end{gather*}&quot;,&quot;aid&quot;:null,&quot;font&quot;:{&quot;color&quot;:&quot;#000000&quot;,&quot;size&quot;:12,&quot;family&quot;:&quot;Arial&quot;},&quot;backgroundColor&quot;:&quot;#FFFFFF&quot;,&quot;id&quot;:&quot;6&quot;,&quot;type&quot;:&quot;gather*&quot;,&quot;ts&quot;:1780527884132,&quot;cs&quot;:&quot;eGDQ08c5eONrc82lInSuvQ==&quot;,&quot;size&quot;:{&quot;width&quot;:386.3333333333333,&quot;height&quot;:214}}"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75" y="1132175"/>
            <a:ext cx="367982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7&quot;,&quot;backgroundColorModified&quot;:false,&quot;font&quot;:{&quot;color&quot;:&quot;#595959&quot;,&quot;size&quot;:18,&quot;family&quot;:&quot;Arial&quot;},&quot;code&quot;:&quot;\\begin{lalign*}\n&amp;{s_{t}=\\left(x,\\,y_{1},y_{2},\\,...y_{t-1\\,}\\right)}\\\\\n&amp;{a_{t}=y_{t}}\\\\\n&amp;{s_{t+1}=\\left(x,\\,y_{1},y_{2},\\,...y_{t-1},\\,y_{t}\\right)}\\\\\n&amp;{\\text{State}\\;\\text{transition}\\;\\text{dynamics}\\;\\text{is}\\;\\text{deterministic}}\\\\\n&amp;{P\\left(\\giventhat{a_{t}}{s_{t}}\\right)=\\pi_{\\theta}\\left(\\giventhat{y_{t}}{x,\\,y_{&lt;t}}\\right)}\t\n\\end{lalign*}&quot;,&quot;type&quot;:&quot;lalign*&quot;,&quot;backgroundColor&quot;:&quot;#FFFFFF&quot;,&quot;ts&quot;:1780528320293,&quot;cs&quot;:&quot;Vc1IfBHTYmkOIumGMX5gSg==&quot;,&quot;size&quot;:{&quot;width&quot;:507.5,&quot;height&quot;:174.5}}"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0175" y="3331950"/>
            <a:ext cx="4669099" cy="16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RL for LLMs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Huge action space (vocabulary)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Delayed rewards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 trajectories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problems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Replace sample average update with constant step size update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Try for different values of alpha = [0.01, 0.1, 0.5]</a:t>
            </a:r>
            <a:endParaRPr/>
          </a:p>
        </p:txBody>
      </p:sp>
      <p:pic>
        <p:nvPicPr>
          <p:cNvPr descr="{&quot;id&quot;:&quot;8&quot;,&quot;backgroundColor&quot;:&quot;#FFFFFF&quot;,&quot;font&quot;:{&quot;family&quot;:&quot;Arial&quot;,&quot;size&quot;:14,&quot;color&quot;:&quot;#595959&quot;},&quot;aid&quot;:null,&quot;type&quot;:&quot;$$&quot;,&quot;code&quot;:&quot;$$Q_{t+1}=Q_{t}+\\alpha\\left(R_{t}-Q_{t}\\right)$$&quot;,&quot;backgroundColorModified&quot;:false,&quot;ts&quot;:1780614255061,&quot;cs&quot;:&quot;QY4NpCWsRAzx6TBw3ZYgsw==&quot;,&quot;size&quot;:{&quot;width&quot;:232.20000000000005,&quot;height&quot;:22}}"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125" y="1568925"/>
            <a:ext cx="221170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