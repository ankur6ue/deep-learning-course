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E43F02-8E6A-475F-9B91-693FE132AF3E}">
  <a:tblStyle styleId="{C6E43F02-8E6A-475F-9B91-693FE132AF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d5a660c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d5a660c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572e8f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572e8f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2c63d4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2c63d4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44145ec0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44145ec0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28b7f94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28b7f94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28b7f94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528b7f9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28b7f94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528b7f94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28b7f94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28b7f94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28b7f9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528b7f9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28b7f94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528b7f94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28b7f94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528b7f94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28b7f94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28b7f94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28b7f9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528b7f9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28b7f94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528b7f94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528b7f94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528b7f94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47d881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547d881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47d881a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547d881a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Actor-Critic, GAE, and PPO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7.5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outline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62875" y="10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{C6E43F02-8E6A-475F-9B91-693FE132AF3E}</a:tableStyleId>
              </a:tblPr>
              <a:tblGrid>
                <a:gridCol w="710750"/>
                <a:gridCol w="3159225"/>
                <a:gridCol w="4182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Class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Title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Main output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1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Bandits, MDPs, Returns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agent/environment/reward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2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 Functions and Bellman Equations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Learning to solve a reinforcement learning problems by iteratively estimating the 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 of a state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3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Monte Carlo, TD, SARSA, Q-Learning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On-policy vs off-policy, sampled experience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4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Policy Gradients and REINFORCE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log-prob weighted by 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5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Actor-Critic and PPO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advantage, critic, clipping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6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RLHF and GRPO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PPO/GRPO to LLM training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and references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Agenda: </a:t>
            </a:r>
            <a:endParaRPr sz="4600"/>
          </a:p>
          <a:p>
            <a:pPr indent="-3001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The roles of the actor and critic.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The difference between Monte Carlo and bootstrapped advantage estimates.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One-step and n-step actor-critic.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The bias-variance tradeoff in advantage estimation.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Generalized Advantage Estimation, or GAE.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Why reusing on-policy rollouts can destabilize policy gradients.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Old-policy versus new-policy log probabilities.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Importance-sampling probability ratios.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The PPO clipped surrogate objective.</a:t>
            </a:r>
            <a:endParaRPr sz="4508"/>
          </a:p>
          <a:p>
            <a:pPr indent="-3001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8"/>
              <a:t>The complete PPO rollout and training loop.</a:t>
            </a:r>
            <a:endParaRPr sz="45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objective</a:t>
            </a:r>
            <a:endParaRPr/>
          </a:p>
        </p:txBody>
      </p:sp>
      <p:pic>
        <p:nvPicPr>
          <p:cNvPr descr="{&quot;font&quot;:{&quot;color&quot;:&quot;#000000&quot;,&quot;family&quot;:&quot;Arial&quot;,&quot;size&quot;:13.25},&quot;code&quot;:&quot;\\begin{gather*}\n{\\text{We}\\;\\text{want}\\;\\text{to}\\;\\text{maximize}\\;\\text{expected}\\;\\text{return:}}\\\\\n{J\\left(\\theta\\right)=E_{\\tau\\sim\\pi_{\\theta}}\\left[R\\left(\\tau\\right)\\right]}\\\\\n{\\text{Here}\\;\\text{}}\\\\\n{\\tau=\\left(S_{0},\\,A_{0},\\,R_{1},\\,S_{1},\\,A_{1},\\,R_{2\\,....}\\right)}\\\\\n{\\text{is}\\;\\text{a}\\;\\text{trajectory}\\;\\text{sampled}\\;\\text{by}\\;\\text{following}\\;\\text{the}\\;\\text{policy}\\;\\pi_{\\theta}}\\\\\n{\\text{For}\\;\\text{episodic}\\;\\text{tasks,}}\\\\\n{R\\left(\\tau\\right)=\\sum_{t=0}^{T-1}\\gamma^{t}R_{t+1}}\\\\\n{\\text{So}\\;\\text{objective}\\;\\text{is}\\;\\text{to}\\;\\text{chose}\\;\\theta,\\,\\text{so}\\;\\text{policies}\\;\\text{sampled}\\;\\text{from}\\;\\pi_{\\theta}\\,\\text{have}\\;\\text{high}\\;\\text{return}}\t\n\\end{gather*}&quot;,&quot;backgroundColor&quot;:&quot;#FFFFFF&quot;,&quot;backgroundColorModified&quot;:false,&quot;aid&quot;:null,&quot;id&quot;:&quot;2&quot;,&quot;type&quot;:&quot;gather*&quot;,&quot;ts&quot;:1783559178964,&quot;cs&quot;:&quot;aadgujPsi9kooq9qde00Jw==&quot;,&quot;size&quot;:{&quot;width&quot;:630,&quot;height&quot;:248.5}}"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00" y="1090825"/>
            <a:ext cx="6000750" cy="236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 Recap</a:t>
            </a:r>
            <a:endParaRPr/>
          </a:p>
        </p:txBody>
      </p:sp>
      <p:pic>
        <p:nvPicPr>
          <p:cNvPr descr="{&quot;backgroundColorModified&quot;:false,&quot;code&quot;:&quot;\\begin{gather*}\n{\\text{Reinforce}\\;\\text{estimates}\\;\\text{the}\\;\\text{gradient}\\;\\text{using:}}\\\\\n{\\nabla_{\\theta}J_{\\theta}\\sim\\sum_{t=0}^{T-1}G_{t}\\nabla_{\\theta}\\log_{}\\pi_{\\theta}\\left(\\giventhat{A_{t}}{S_{t}}\\right)}\\\\\n{\\text{With}\\;\\text{corresponding}\\;\\text{loss:}}\\\\\n{L_{REINFORCE}=-\\sum_{t=0}^{T-1}G_{t}\\log_{}\\pi_{\\theta}\\left(\\giventhat{A_{t}}{S_{t}}\\right)}\\\\\n{G_{t}\\,\\text{is}\\;\\text{the}\\;\\text{discounted}\\;\\text{rewards}\\;\\text{from}\\;\\text{time}\\;t\\,\\text{onwards}}\\\\\n{G_{t}=R_{t+1}+\\gamma R_{t+2}+\\gamma^{2}R_{t+3}...}\t\n\\end{gather*}&quot;,&quot;id&quot;:&quot;5&quot;,&quot;type&quot;:&quot;gather*&quot;,&quot;aid&quot;:null,&quot;font&quot;:{&quot;family&quot;:&quot;Arial&quot;,&quot;color&quot;:&quot;#000000&quot;,&quot;size&quot;:12},&quot;backgroundColor&quot;:&quot;#FFFFFF&quot;,&quot;ts&quot;:1784290954656,&quot;cs&quot;:&quot;iqKFQS+jKIR7Cdmf17I94Q==&quot;,&quot;size&quot;:{&quot;width&quot;:412.6168267716535,&quot;height&quot;:224.8609157480315}}"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75" y="1176750"/>
            <a:ext cx="3930175" cy="214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family&quot;:&quot;Arial&quot;,&quot;size&quot;:12,&quot;color&quot;:&quot;#000000&quot;},&quot;backgroundColor&quot;:&quot;#FFFFFF&quot;,&quot;type&quot;:&quot;gather*&quot;,&quot;code&quot;:&quot;\\begin{gather*}\n{\\text{To}\\;\\text{make}\\;\\text{the}\\;\\text{gradient}\\;\\text{estimates}\\;\\text{more}\\;\\text{stable,}\\;\\text{we}\\;\\text{subtract}\\;\\text{a}\\;\\text{baseline}\\;\\text{provided}\\;\\text{by}\\;\\text{the}\\;\\text{value}\\;\\text{estimate}}\\\\\n{\\text{We}\\;\\text{can}\\;\\text{do}\\;\\text{that}\\;\\text{as}\\;\\text{the}\\;\\text{value}\\;\\text{estimate}\\;\\text{doesn't}\\;\\text{depend}\\;\\text{on}\\;\\text{the}\\;\\text{policy}}\\\\\n{L_{policy}=-\\sum_{t=0}^{T-1}\\left(G_{t}-V_{\\Phi}\\left(S_{t}\\right)\\right)\\log_{}\\pi_{\\theta}\\left(\\giventhat{A_{t}}{S_{t}}\\right)}\\\\\n{A_{t}=G_{t}-V_{\\Phi}\\left(S_{t}\\right)}\\\\\n{\\text{is}\\;\\text{the}\\;\\text{advantage}\\;\\text{of}\\;\\text{action}\\;A_{t}\\;\\text{that}\\;\\text{tells}\\;\\text{us}\\;\\text{how}\\;\\text{much}\\;\\text{better}\\;\\text{or}\\;\\text{worse}\\;\\text{that}\\;\\text{action}\\;\\text{was}\\;\\text{than}\\;\\text{expected}}\t\n\\end{gather*}&quot;,&quot;backgroundColorModified&quot;:false,&quot;id&quot;:&quot;1&quot;,&quot;ts&quot;:1784075892551,&quot;cs&quot;:&quot;RoD0t+zz8MQKI3kmi4f9xQ==&quot;,&quot;size&quot;:{&quot;width&quot;:802,&quot;height&quot;:152}}"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326" y="3525150"/>
            <a:ext cx="76390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 limitations</a:t>
            </a:r>
            <a:endParaRPr/>
          </a:p>
        </p:txBody>
      </p:sp>
      <p:sp>
        <p:nvSpPr>
          <p:cNvPr id="86" name="Google Shape;86;p18"/>
          <p:cNvSpPr txBox="1"/>
          <p:nvPr/>
        </p:nvSpPr>
        <p:spPr>
          <a:xfrm>
            <a:off x="343750" y="1218175"/>
            <a:ext cx="7692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Reinforce has several limitations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must usually wait until the episode ends.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Monte Carlo returns have high variance.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 single unusually good or bad episode can produce a large update resulting in dramatic changes in the policy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Actor-Critic</a:t>
            </a:r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343750" y="1218175"/>
            <a:ext cx="6154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Actor:</a:t>
            </a:r>
            <a:r>
              <a:rPr lang="en" sz="1800">
                <a:solidFill>
                  <a:schemeClr val="dk2"/>
                </a:solidFill>
              </a:rPr>
              <a:t> The policy. Decides that action to take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Critic:</a:t>
            </a:r>
            <a:r>
              <a:rPr lang="en" sz="1800">
                <a:solidFill>
                  <a:schemeClr val="dk2"/>
                </a:solidFill>
              </a:rPr>
              <a:t> estimates the value of each state, i.e., the future reward the actor should expect from a state. The critic provides a learning signal to the actor. Was the outcome of this action better or worse than expected?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Step Actor Critic</a:t>
            </a:r>
            <a:endParaRPr/>
          </a:p>
        </p:txBody>
      </p:sp>
      <p:pic>
        <p:nvPicPr>
          <p:cNvPr descr="{&quot;code&quot;:&quot;\\begin{gather*}\n{\\text{In}\\;\\text{steady}\\;\\text{state:}}\\\\\n{V_{\\Phi}\\left(S_{t}\\right)=R_{t+1}+\\gamma V_{\\Phi}\\left(S_{t+1}\\right)}\\\\\n{\\text{So,}\\;\\text{the}\\;\\text{difference}\\;\\delta_{t}=V_{\\Phi}\\left(S_{t}\\right)-R_{t+1}-\\gamma V_{\\Phi}\\left(S_{t+1}\\right)\\,\\text{is}\\;\\text{our}\\;\\text{learning}\\;\\text{signal}}\\\\\n{\\text{and}\\;\\text{one}\\;\\text{step}\\;\\text{estimate}\\;\\text{of}\\;\\text{the}\\;\\text{advantage}}\\\\\n{\\hat{A_{t}^{1}}=\\delta_{t}}\\\\\n{\\text{Actor}\\;\\text{loss:}\\;\\text{}-\\sum_{t=0}^{T-1}\\log_{}\\pi_{\\theta}\\left(\\giventhat{A_{t}}{A_{t}}\\right)\\delta_{t}}\\\\\n{\\text{Critic}\\;\\text{Loss}\\;\\text{=}\\;\\sum_{t=0}^{T-1}\\left(V_{\\Phi}\\left(S_{t}\\right)-R_{t+1}-\\gamma V_{\\Phi}\\left(S_{t+1}\\right)\\right)^{2}\\,}\\\\\n{}\t\n\\end{gather*}&quot;,&quot;backgroundColorModified&quot;:false,&quot;backgroundColor&quot;:&quot;#FFFFFF&quot;,&quot;type&quot;:&quot;gather*&quot;,&quot;id&quot;:&quot;2&quot;,&quot;aid&quot;:null,&quot;font&quot;:{&quot;family&quot;:&quot;Arial&quot;,&quot;size&quot;:15,&quot;color&quot;:&quot;#000000&quot;},&quot;ts&quot;:1784077009658,&quot;cs&quot;:&quot;UkO4kpjI7Q/BiE1Pn6A52w==&quot;,&quot;size&quot;:{&quot;width&quot;:740.616835695538,&quot;height&quot;:312.5537973753281}}"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050" y="1190800"/>
            <a:ext cx="7054375" cy="297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Step Actor Critic</a:t>
            </a:r>
            <a:endParaRPr/>
          </a:p>
        </p:txBody>
      </p:sp>
      <p:pic>
        <p:nvPicPr>
          <p:cNvPr descr="{&quot;id&quot;:&quot;2&quot;,&quot;type&quot;:&quot;gather*&quot;,&quot;font&quot;:{&quot;color&quot;:&quot;#000000&quot;,&quot;family&quot;:&quot;Arial&quot;,&quot;size&quot;:15},&quot;backgroundColor&quot;:&quot;#FFFFFF&quot;,&quot;aid&quot;:null,&quot;code&quot;:&quot;\\begin{gather*}\n{\\text{In}\\;\\text{steady}\\;\\text{state:}}\\\\\n{V_{\\Phi}\\left(S_{t}\\right)=R_{t+1}+\\gamma V_{\\Phi}\\left(S_{t+1}\\right)}\\\\\n{\\text{So,}\\;\\text{the}\\;\\text{difference}\\;\\delta_{t}=V_{\\Phi}\\left(S_{t}\\right)-R_{t+1}-\\gamma V_{\\Phi}\\left(S_{t+1}\\right)\\,\\text{is}\\;\\text{our}\\;\\text{learning}\\;\\text{signal}}\\\\\n{\\text{and}\\;\\text{one}\\;\\text{step}\\;\\text{estimate}\\;\\text{of}\\;\\text{the}\\;\\text{advantage}}\\\\\n{\\hat{A_{t}^{1}}=\\delta_{t}}\\\\\n{\\text{Actor}\\;\\text{loss:}\\;\\text{}-\\log_{}\\pi_{\\theta}\\left(\\giventhat{A_{t}}{A_{t}}\\right)\\delta_{t}}\\\\\n{\\text{Critic}\\;\\text{Loss}\\;\\text{=}\\;\\left(V_{\\Phi}\\left(S_{t}\\right)-R_{t+1}-\\gamma V_{\\Phi}\\left(S_{t+1}\\right)\\right)^{2}\\,}\\\\\n{\\text{Note}\\;\\text{we}\\;\\text{are}\\;\\text{doing}\\;\\text{a}\\;\\text{policy}\\;\\text{update}\\;\\text{at}\\;\\text{every}\\;\\text{step}\\;\\text{of}\\;\\text{the}\\;\\text{rollout}}\\\\\n{\\text{In}\\;\\text{REINFORCE,}\\;\\text{we}\\;\\text{did}\\;\\text{a}\\;\\text{policy}\\;\\text{update}\\;\\text{once}\\;\\text{for}\\;\\text{an}\\;\\text{entire}\\;\\text{trajectory}}\t\n\\end{gather*}&quot;,&quot;backgroundColorModified&quot;:false,&quot;ts&quot;:1784077860950,&quot;cs&quot;:&quot;Vvsw5wNsCB1h/NmqqArWew==&quot;,&quot;size&quot;:{&quot;width&quot;:726.5,&quot;height&quot;:281.5}}"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050" y="1312643"/>
            <a:ext cx="6919913" cy="268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Step Actor Critic</a:t>
            </a:r>
            <a:endParaRPr/>
          </a:p>
        </p:txBody>
      </p:sp>
      <p:sp>
        <p:nvSpPr>
          <p:cNvPr id="110" name="Google Shape;110;p22"/>
          <p:cNvSpPr txBox="1"/>
          <p:nvPr/>
        </p:nvSpPr>
        <p:spPr>
          <a:xfrm>
            <a:off x="437850" y="1230450"/>
            <a:ext cx="790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REINFORCE:</a:t>
            </a:r>
            <a:r>
              <a:rPr lang="en" sz="1800">
                <a:solidFill>
                  <a:schemeClr val="dk2"/>
                </a:solidFill>
              </a:rPr>
              <a:t> Lower bias, high variance. Different trajectories may result in significantly different rewards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One step Actor-Critic: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Potentially</a:t>
            </a:r>
            <a:r>
              <a:rPr lang="en" sz="1800">
                <a:solidFill>
                  <a:schemeClr val="dk2"/>
                </a:solidFill>
              </a:rPr>
              <a:t> higher bias (if our value estimates are off), but lower variance (just one step)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Multi-step Actor Critic</a:t>
            </a:r>
            <a:endParaRPr/>
          </a:p>
        </p:txBody>
      </p:sp>
      <p:pic>
        <p:nvPicPr>
          <p:cNvPr descr="{&quot;aid&quot;:null,&quot;code&quot;:&quot;\\begin{gather*}\n{\\text{One}\\;\\text{step}\\;\\text{actor-critic}\\;\\text{uses:}}\\\\\n{G_{t}^{1}=R_{t+1}+\\gamma V_{\\Phi}\\left(S_{t+1}\\right)}\\\\\n{\\text{Two}\\;\\text{step:}}\\\\\n{G_{t}^{2}=R_{t+1}+\\gamma R_{t+2}+\\gamma ^{2}V_{\\Phi}\\left(S_{t+2}\\right)}\\\\\n{\\text{More}\\;\\text{generally}}\\\\\n{G_{t}^{n}=\\sum_{l=0}^{n}\\gamma ^{l}R_{t+l+1}+\\gamma ^{n}V_{\\Phi}\\left(S_{t+n}\\right)}\\\\\n{\\text{n-step}\\;\\text{advantage:}}\\\\\n{\\hat{A_{t}^{n}}=G_{t}^{n}-V_{\\Phi}\\left(S_{t}\\right)}\\\\\n{\\text{Increasing}\\;\\text{n:}}\\\\\n{\\text{Usually}\\;\\text{lowers}\\;\\text{bias}\\;\\text{(reduced}\\;\\text{dependence}\\;\\text{on}\\;\\text{critic)}}\\\\\n{\\text{Usually}\\;\\text{increases}\\;\\text{variance}\\;\\text{(more}\\;\\text{rewards}\\;\\text{from}\\;\\text{longer}\\;\\text{rollouts)}}\t\n\\end{gather*}&quot;,&quot;backgroundColor&quot;:&quot;#FFFFFF&quot;,&quot;type&quot;:&quot;gather*&quot;,&quot;backgroundColorModified&quot;:false,&quot;id&quot;:&quot;3&quot;,&quot;font&quot;:{&quot;size&quot;:15,&quot;family&quot;:&quot;Arial&quot;,&quot;color&quot;:&quot;#000000&quot;},&quot;ts&quot;:1784112280259,&quot;cs&quot;:&quot;uxJVf3HdfT/ebBu5x//LLw==&quot;,&quot;size&quot;:{&quot;width&quot;:632,&quot;height&quot;:385.5}}"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350" y="1110950"/>
            <a:ext cx="6019800" cy="3671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extremes</a:t>
            </a:r>
            <a:endParaRPr/>
          </a:p>
        </p:txBody>
      </p:sp>
      <p:pic>
        <p:nvPicPr>
          <p:cNvPr descr="{&quot;font&quot;:{&quot;color&quot;:&quot;#000000&quot;,&quot;family&quot;:&quot;Arial&quot;,&quot;size&quot;:14},&quot;aid&quot;:null,&quot;backgroundColorModified&quot;:false,&quot;backgroundColor&quot;:&quot;#FFFFFF&quot;,&quot;type&quot;:&quot;gather*&quot;,&quot;id&quot;:&quot;4&quot;,&quot;code&quot;:&quot;\\begin{gather*}\n{\\text{One}\\;\\text{step}\\,\\text{residual}}\\\\\n{\\delta_{t}=R_{t+1}+\\gamma V_{\\Phi}\\left(S_{t+1}\\right)-V_{\\Phi}\\left(S_{t}\\right)}\\\\\n{\\text{More}\\;\\text{critic}\\;\\text{bias,}\\;\\text{low}\\;\\text{variance}}\\\\\n{}\\\\\n{\\text{Monte}\\;\\text{Carlo}}\\\\\n{\\delta_{t}=G_{t}-V_{\\Phi}\\left(S_{t}\\right)}\\\\\n{\\text{Less}\\;\\text{critic}\\;\\text{bias,}\\;\\text{high}\\;\\text{trajectory}\\;\\text{variance}}\\\\\n{}\\\\\n{\\text{Can}\\;\\text{we}\\;\\text{do}\\;\\text{something}\\;\\text{in}\\;\\text{between?}}\\\\\n{\\delta_{t}=R_{t+1}+\\gamma V_{\\Phi}\\left(S_{t+1}\\right)-V_{\\Phi}\\left(S_{t}\\right)}\\\\\n{\\delta_{t+1}=R_{t+2}+\\gamma V_{\\Phi}\\left(S_{t+2}\\right)-V_{\\Phi}\\left(S_{t+1}\\right)}\\\\\n{\\text{Define}}\\\\\n{A_{t}^{GAE}=\\delta_{t}+\\lambda \\gamma\\delta_{t+1}+\\left(\\lambda \\gamma\\right)^{2}\\delta_{t+2}...}\\\\\n{A_{t}^{GAE}=\\sum_{l=0}^{\\infty}\\left(\\lambda \\gamma\\right)^{l}\\delta_{t+l}}\\\\\n{\\gamma:\\,\\text{reward}\\;\\text{discounting}}\\\\\n{\\lambda:\\,\\text{How}\\;\\text{far}\\;\\text{advantage}\\;\\text{info}\\;\\text{propagates}}\t\n\\end{gather*}&quot;,&quot;ts&quot;:1784115715455,&quot;cs&quot;:&quot;3X6CEt/8Ygfyw8jWxjpIbA==&quot;,&quot;size&quot;:{&quot;width&quot;:378,&quot;height&quot;:491.5}}"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9375" y="79825"/>
            <a:ext cx="3600450" cy="4681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GAE: </a:t>
            </a:r>
            <a:r>
              <a:rPr lang="en"/>
              <a:t>Recursive</a:t>
            </a:r>
            <a:r>
              <a:rPr lang="en"/>
              <a:t> </a:t>
            </a:r>
            <a:r>
              <a:rPr lang="en"/>
              <a:t>calculation</a:t>
            </a:r>
            <a:endParaRPr/>
          </a:p>
        </p:txBody>
      </p:sp>
      <p:pic>
        <p:nvPicPr>
          <p:cNvPr descr="{&quot;type&quot;:&quot;gather*&quot;,&quot;font&quot;:{&quot;color&quot;:&quot;#000000&quot;,&quot;family&quot;:&quot;Arial&quot;,&quot;size&quot;:14},&quot;aid&quot;:null,&quot;backgroundColorModified&quot;:false,&quot;id&quot;:&quot;4&quot;,&quot;backgroundColor&quot;:&quot;#FFFFFF&quot;,&quot;code&quot;:&quot;\\begin{gather*}\n{\\text{GAE}\\;\\text{can}\\;\\text{be}\\;\\text{calculated}\\;\\text{recursively}}\\\\\n{\\delta_{t}=\\,R_{t+1}+\\gamma V_{\\Phi}\\left(S_{t+1}\\right)-V_{\\Phi}\\left(S_{t}\\right)}\\\\\n{A_{t}=\\delta_{t}+\\gamma\\lambda A_{t+1}}\\\\\n{\\text{At}\\;\\text{terminal}\\;\\text{states,}\\;\\text{}}\\\\\n{V_{\\Phi}\\left(S_{t}\\right)=0}\t\n\\end{gather*}&quot;,&quot;ts&quot;:1784117847762,&quot;cs&quot;:&quot;rCX9RTsf11GvUWXoDQuMZQ==&quot;,&quot;size&quot;:{&quot;width&quot;:324.75,&quot;height&quot;:135}}"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200" y="1123907"/>
            <a:ext cx="3093244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backgroundColorModified&quot;:false,&quot;code&quot;:&quot;\\begin{gather*}\n{\\text{When}\\;\\lambda=0,\\,\\text{we}\\;\\text{have}\\;\\text{}\\,}\\\\\n{A_{t}=\\delta_{t},\\,\\text{one}\\;\\text{step}\\;\\text{TD}}\\\\\n{\\text{When}\\;\\lambda=1,}\\\\\n{\\text{We}\\;\\text{estimate}\\;\\text{approaches}\\;\\text{Monte}\\;\\text{Carlo}\\;\\text{style}\\;\\text{advantage}}\t\n\\end{gather*}&quot;,&quot;id&quot;:&quot;5&quot;,&quot;font&quot;:{&quot;color&quot;:&quot;#000000&quot;,&quot;family&quot;:&quot;Arial&quot;,&quot;size&quot;:15.5},&quot;type&quot;:&quot;gather*&quot;,&quot;ts&quot;:1784249093401,&quot;cs&quot;:&quot;uGnHwHv3X+ZLPR2OmTwMvQ==&quot;,&quot;size&quot;:{&quot;width&quot;:581.5328692913386,&quot;height&quot;:120.0288874015748}}" id="129" name="Google Shape;1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050" y="3197874"/>
            <a:ext cx="5539101" cy="11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GAE, policy updates can get off-policy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4325700" cy="17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Reinforce:</a:t>
            </a:r>
            <a:br>
              <a:rPr b="1" lang="en" sz="1600"/>
            </a:br>
            <a:r>
              <a:rPr b="1" lang="en" sz="1600"/>
              <a:t>- </a:t>
            </a:r>
            <a:r>
              <a:rPr lang="en" sz="1600"/>
              <a:t>collect trajectory with π_old </a:t>
            </a:r>
            <a:br>
              <a:rPr lang="en" sz="1600"/>
            </a:br>
            <a:r>
              <a:rPr lang="en" sz="1600"/>
              <a:t>- compute one gradient from that trajectory </a:t>
            </a:r>
            <a:br>
              <a:rPr lang="en" sz="1600"/>
            </a:br>
            <a:r>
              <a:rPr lang="en" sz="1600"/>
              <a:t>- update policy once </a:t>
            </a:r>
            <a:br>
              <a:rPr lang="en" sz="1600"/>
            </a:br>
            <a:r>
              <a:rPr lang="en" sz="1600"/>
              <a:t>- discard trajectory</a:t>
            </a:r>
            <a:endParaRPr sz="1600"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4446175" y="1152475"/>
            <a:ext cx="4325700" cy="17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GAE</a:t>
            </a:r>
            <a:r>
              <a:rPr b="1" lang="en" sz="1600"/>
              <a:t>:</a:t>
            </a:r>
            <a:br>
              <a:rPr b="1" lang="en" sz="1600"/>
            </a:br>
            <a:r>
              <a:rPr b="1" lang="en" sz="1600"/>
              <a:t>- </a:t>
            </a:r>
            <a:r>
              <a:rPr lang="en" sz="1600"/>
              <a:t>collect rollout with π_old epoch </a:t>
            </a:r>
            <a:br>
              <a:rPr lang="en" sz="1600"/>
            </a:br>
            <a:r>
              <a:rPr lang="en" sz="1600"/>
              <a:t>- minibatch 1 → update </a:t>
            </a:r>
            <a:br>
              <a:rPr lang="en" sz="1600"/>
            </a:br>
            <a:r>
              <a:rPr lang="en" sz="1600"/>
              <a:t>- minibatch 2 → update </a:t>
            </a:r>
            <a:br>
              <a:rPr lang="en" sz="1600"/>
            </a:br>
            <a:r>
              <a:rPr lang="en" sz="1600"/>
              <a:t>- minibatch 3 → update</a:t>
            </a:r>
            <a:endParaRPr sz="1600"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57000" y="2985350"/>
            <a:ext cx="6522300" cy="17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After every update, the policy used to generate rollouts is getting increasingly out of step with the policy being updated.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Sample rollout: </a:t>
            </a:r>
            <a:br>
              <a:rPr lang="en" sz="1600"/>
            </a:br>
            <a:r>
              <a:rPr lang="en" sz="1600"/>
              <a:t>state s0 → action left</a:t>
            </a:r>
            <a:br>
              <a:rPr lang="en" sz="1600"/>
            </a:br>
            <a:r>
              <a:rPr lang="en" sz="1600"/>
              <a:t>state s1 → action right</a:t>
            </a:r>
            <a:br>
              <a:rPr lang="en" sz="1600"/>
            </a:br>
            <a:r>
              <a:rPr lang="en" sz="1600"/>
              <a:t>state s2 → action right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Suppose π_old(right | s2) = 0.40 π_new(right | s2) = 0.70. Suppose the advantage of this action is positive. We want to increase the probability of this action. But, the updated policy is already assigning a higher probability than the old policy.. We don’t want to encourage an even higher increase..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off-policy updates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602225" y="3640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Say At &gt; 1, rt = 1.1, epsilon = 0.2. Then the action At is more likely under the new policy than the old policy, and the gradient update will make it even likelier. But if rt = 1.3, clipping happens, and we have L = </a:t>
            </a:r>
            <a:endParaRPr/>
          </a:p>
        </p:txBody>
      </p:sp>
      <p:pic>
        <p:nvPicPr>
          <p:cNvPr descr="{&quot;font&quot;:{&quot;color&quot;:&quot;#595959&quot;,&quot;family&quot;:&quot;Arial&quot;,&quot;size&quot;:11.5},&quot;backgroundColor&quot;:&quot;#FFFFFF&quot;,&quot;aid&quot;:null,&quot;type&quot;:&quot;gather*&quot;,&quot;id&quot;:&quot;6&quot;,&quot;backgroundColorModified&quot;:false,&quot;code&quot;:&quot;\\begin{gather*}\n{\\text{Rollouts}\\;\\text{are}\\;\\text{generated}\\;\\text{using}\\;\\text{old}\\;\\text{policy:}\\;\\pi_{\\theta _{old}}}\\\\\n{\\text{During}\\;\\text{optimization,}\\;\\text{parameters}\\;\\text{change,}\\;\\text{producing}\\;\\pi_{\\theta _{new}}\\left(\\giventhat{A_{t}}{S_{t}}\\right)}\\\\\n{\\text{For}\\;\\text{every}\\;\\text{action}\\;\\text{store}\\;\\text{its}\\;\\text{old}\\;\\text{log}\\;\\text{prob}\\;\\log_{}\\pi_{\\theta _{old}}\\left(\\giventhat{A_{t}}{S_{t}}\\right)}\\\\\n{\\text{During}\\;\\text{optimzation},\\,\\text{compute:}}\\\\\n{\\pi_{\\theta }\\left(\\giventhat{A_{t}}{S_{t}}\\right)}\\\\\n{\\text{Then}\\;\\text{calculate}\\;\\text{probability}\\;\\text{ratio:}}\\\\\n{r_{t}\\left(\\theta\\right)=\\frac{\\pi_{\\theta _{new}}\\left(\\giventhat{A_{t}}{S_{t}}\\right)}{\\pi_{\\theta _{old}}\\left(\\giventhat{A_{t}}{S_{t}}\\right)}}\\\\\n{\\text{Update}\\;\\text{PPO}\\;\\text{objective}\\;\\text{by}\\;\\text{clipped}\\;\\text{objective}}\\\\\n{L_{}^{CLIP}\\left(\\theta\\right)=E_{t}\\left[\\min\\left(r_{t}\\left(\\theta\\right)A_{t},\\,\\text{clip}\\left(r_{t}\\left(\\theta\\right),\\,1-\\epsilon,\\,1+\\epsilon\\right)A_{t}\\right)\\right]}\t\n\\end{gather*}&quot;,&quot;ts&quot;:1784246492251,&quot;cs&quot;:&quot;YvPPrdM49mt8PnwMQTbuNg==&quot;,&quot;size&quot;:{&quot;width&quot;:511.9220167979002,&quot;height&quot;:237.02892913385836}}"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74" y="1225950"/>
            <a:ext cx="4876057" cy="225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id&quot;:&quot;7&quot;,&quot;code&quot;:&quot;\\begin{gather*}\n{\\text{Say }A_{t}\\,\\text{&gt; 1, }\\epsilon\\text{ = 0.2}}\\\\\n{\\text{if}\\;r_{t}=1.1,}\\\\\n{L\\left(\\theta\\right)=r_{t}A_{t},\\,\\text{an}\\text{d}\\;\\text{the}\\;\\text{policy}\\;\\text{update}\\;\\text{would}\\;\\text{make}\\;A_{t}\\,\\text{more}\\;\\text{likely}}\\\\\n{\\text{if}\\;r_{t}=1.3,}\\\\\n{\\text{clipping}\\;\\text{would}\\;\\text{kick}\\;\\text{in,}}\\\\\n{L\\left(\\theta\\right)=1.2A_{t}}\\\\\n{\\text{Since}\\;A_{t\\,}\\text{doesn't}\\;\\text{directly}\\;\\text{depend}\\;\\text{on}\\;\\text{the}\\;\\text{policy}\\;\\text{being}\\;\\text{optimized,}\\;\\text{the}\\;\\text{gradient}\\;\\text{wrt}}\\\\\n{\\text{policy}\\;\\text{params}\\;\\text{is}\\;\\text{0.}\\;\\text{The}\\;\\text{new}\\;\\text{policy}\\;\\text{is}\\;\\text{already}\\;\\text{making}\\;\\text{this}\\;\\text{action}\\;\\text{more}\\;\\text{likely,}\\;\\text{we}\\;\\text{don't}\\;\\text{}}\\\\\n{\\text{want}\\;\\text{to}\\;\\text{encourage}\\;\\text{it}\\;\\text{even}\\;\\text{more}\\,\\text{for}\\;\\text{this}\\;\\text{episode}}\\\\\n{\\text{What}\\;\\text{if}\\;A_{t}&lt;0?}\\\\\n{r_{t}=1.3}\\\\\n{\\text{Now,}\\;\\text{the}\\;\\text{new}\\;\\text{policy}\\;\\text{is}\\;\\text{making}\\;\\text{a}\\;\\text{less}\\;\\text{advantageous}\\;\\text{more}\\;\\text{likely..}\\;\\text{}}\\\\\n{\\min \\left(r_{t}A_{t},\\,clip\\left(r_{t},\\,1-\\epsilon,\\,1+\\epsilon\\right)A_{t}\\right)}\\\\\n{=\\min\\left(1.3A_{t},\\,1.2A_{t}\\right)=r_{t}A_{t},\\,\\text{since}\\;A_{t}\\,\\text{is}\\;\\text{negative}}\\\\\n{\\text{So}\\;\\text{we}\\;\\text{don't}\\;\\text{have}\\;\\text{clipping,}\\;\\text{and}\\;\\text{the}\\;\\text{gradient}\\;\\text{will}\\;\\text{drive}\\;\\text{the}\\;\\text{policy}\\;\\text{to}\\;\\text{}}\\\\\n{\\text{lower}\\;\\text{the}\\;\\text{probability}\\;\\text{of}\\;\\text{this}\\;\\text{disadvantageous}\\;\\text{action}}\\\\\n{}\\\\\n{}\\\\\n{}\\\\\n{}\t\n\\end{gather*}&quot;,&quot;aid&quot;:null,&quot;font&quot;:{&quot;size&quot;:12,&quot;color&quot;:&quot;#000000&quot;,&quot;family&quot;:&quot;Arial&quot;},&quot;backgroundColor&quot;:&quot;#FFFFFF&quot;,&quot;type&quot;:&quot;gather*&quot;,&quot;ts&quot;:1784248929871,&quot;cs&quot;:&quot;52sms5orE47/DQPDhhmH1g==&quot;,&quot;size&quot;:{&quot;width&quot;:693.5,&quot;height&quot;:383.5}}"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7901" y="2076625"/>
            <a:ext cx="6605588" cy="3652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size&quot;:11,&quot;family&quot;:&quot;Arial&quot;,&quot;color&quot;:&quot;#595959&quot;},&quot;code&quot;:&quot;\\begin{gather*}\n{\\text{Say }A_{t}\\,\\text{&gt; 1, }\\epsilon\\text{ = 0.2}}\\\\\n{\\text{if}\\;r_{t}=1.1,}\\\\\n{L\\left(\\theta\\right)=r_{t}A_{t},\\,\\text{an}\\text{d}\\;\\text{the}\\;\\text{policy}\\;\\text{update}\\;\\text{would}\\;\\text{make}\\;A_{t}\\,\\text{more}\\;\\text{likely}}\\\\\n{\\text{if}\\;r_{t}=1.3,}\\\\\n{\\text{clipping}\\;\\text{would}\\;\\text{kick}\\;\\text{in,}}\\\\\n{L\\left(\\theta\\right)=1.2A_{t}}\\\\\n{\\text{Since}\\;A_{t\\,}\\text{doesn't}\\;\\text{directly}\\;\\text{depend}\\;\\text{on}\\;\\text{the}\\;\\text{policy}\\;\\text{being}\\;\\text{optimized,}\\;\\text{the}\\;\\text{gradient}\\;\\text{wrt}}\\\\\n{\\text{policy}\\;\\text{params}\\;\\text{is}\\;\\text{0.}\\;\\text{The}\\;\\text{new}\\;\\text{policy}\\;\\text{is}\\;\\text{already}\\;\\text{making}\\;\\text{this}\\;\\text{action}\\;\\text{more}\\;\\text{likely,}\\;\\text{we}\\;\\text{don't}\\;\\text{}}\\\\\n{\\text{want}\\;\\text{to}\\;\\text{encourage}\\;\\text{it}\\;\\text{even}\\;\\text{more}\\,\\text{for}\\;\\text{this}\\;\\text{episode}}\\\\\n{\\text{What}\\;\\text{if}\\;A_{t}&lt;0?}\\\\\n{r_{t}=1.3}\\\\\n{\\text{Now,}\\;\\text{the}\\;\\text{new}\\;\\text{policy}\\;\\text{is}\\;\\text{making}\\;\\text{a}\\;\\text{less}\\;\\text{advantageous}\\;\\text{more}\\;\\text{likely..}\\;\\text{}}\\\\\n{\\min \\left(r_{t}A_{t},\\,clip\\left(r_{t},\\,1-\\epsilon,\\,1+\\epsilon\\right)A_{t}\\right)}\\\\\n{=\\min\\left(1.3A_{t},\\,1.2A_{t}\\right)=r_{t}A_{t},\\,\\text{since}\\;A_{t}\\,\\text{is}\\;\\text{negative}}\\\\\n{\\text{So}\\;\\text{we}\\;\\text{don't}\\;\\text{have}\\;\\text{clipping,}\\;\\text{and}\\;\\text{the}\\;\\text{gradient}\\;\\text{will}\\;\\text{drive}\\;\\text{the}\\;\\text{policy}\\;\\text{to}\\;\\text{}}\\\\\n{\\text{lower}\\;\\text{the}\\;\\text{probability}\\;\\text{of}\\;\\text{this}\\;\\text{disadvantageous}\\;\\text{action}}\t\n\\end{gather*}&quot;,&quot;backgroundColor&quot;:&quot;#FFFFFF&quot;,&quot;aid&quot;:null,&quot;id&quot;:&quot;8&quot;,&quot;type&quot;:&quot;gather*&quot;,&quot;ts&quot;:1784248992411,&quot;cs&quot;:&quot;UIDprof20Qo12YY4bd7YTg==&quot;,&quot;size&quot;:{&quot;width&quot;:655.7243674540683,&quot;height&quot;:362.5406692913386}}" id="151" name="Google Shape;1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475" y="1129625"/>
            <a:ext cx="6245775" cy="34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PPO: </a:t>
            </a:r>
            <a:r>
              <a:rPr i="1" lang="en"/>
              <a:t>Proximal </a:t>
            </a:r>
            <a:r>
              <a:rPr lang="en"/>
              <a:t>Policy Optimization</a:t>
            </a:r>
            <a:endParaRPr/>
          </a:p>
        </p:txBody>
      </p:sp>
      <p:pic>
        <p:nvPicPr>
          <p:cNvPr descr="{&quot;id&quot;:&quot;9&quot;,&quot;backgroundColorModified&quot;:false,&quot;font&quot;:{&quot;color&quot;:&quot;#595959&quot;,&quot;size&quot;:13.5,&quot;family&quot;:&quot;Arial&quot;},&quot;aid&quot;:null,&quot;backgroundColor&quot;:&quot;#FFFFFF&quot;,&quot;type&quot;:&quot;gather*&quot;,&quot;code&quot;:&quot;\\begin{gather*}\n{\\text{Typical}\\;\\text{PPO}\\;\\text{loss}\\;\\text{has}\\;\\text{three}\\;\\text{components}}\\\\\n{\\text{Policy}\\;\\text{loss:}}\\\\\n{L_{policy}=-\\min\\left(r_{t}A_{t},\\,\\left(r_{t},\\,1-\\epsilon,\\,1+\\epsilon\\right)A_{t}\\right)}\\\\\n{}\\\\\n{\\text{Value}\\;\\text{loss:}}\\\\\n{\\text{Critic}\\;\\text{target:}\\,V_{\\text{old}}\\left(S_{t}\\right)+A_{t}}\\\\\n{\\text{Here}\\;V_{old}\\,\\text{refers}\\;\\text{to}\\;\\text{the}\\;\\text{value}\\text{s}\\;\\text{during}\\;\\text{rollout}}\\\\\n{L_{value}=\\frac{1}{2}\\left(V\\left(S_{t}\\right)-A_{t}-V_{\\text{old}}\\left(S_{t}\\right)\\right)^{2}}\\\\\n{}\\\\\n{\\text{Entropy}\\;\\text{loss:}}\\\\\n{L_{entropy}=-\\sum_{a}^{}\\pi_{\\theta}\\left(\\giventhat{a}{S_{t}}\\right)\\log_{}\\pi_{\\theta}\\left(\\giventhat{a}{S_{t}}\\right)}\\\\\n{\\text{Encourage}\\text{s}\\;\\text{exploration,}\\;\\text{helps}\\;\\text{prevents}\\;\\text{policy}\\;\\text{collapse}}\t\n\\end{gather*}&quot;,&quot;ts&quot;:1784251625035,&quot;cs&quot;:&quot;ZdNcxs3ULCItJjZ6dI5wHQ==&quot;,&quot;size&quot;:{&quot;width&quot;:495,&quot;height&quot;:373.5}}"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348" y="1071222"/>
            <a:ext cx="4714875" cy="3557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