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927DD5-FE5A-45B0-A39B-E773442A8574}">
  <a:tblStyle styleId="{EB927DD5-FE5A-45B0-A39B-E773442A857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8d5a660c5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8d5a660c5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5572e8f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5572e8f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82c63d41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82c63d41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5572e8fe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5572e8f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44145ec0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44145ec0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44145ec0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44145ec0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44145ec0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44145ec0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44145ec0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44145ec0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44145ec0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44145ec0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44145ec0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44145ec0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44145ec0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44145ec0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44145ec0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44145ec0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44145ec0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44145ec0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44145ec0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44145ec0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6"/>
              <a:t>Policy Gradients and Reinforce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Learning: Class 7.4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outline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362875" y="10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{EB927DD5-FE5A-45B0-A39B-E773442A8574}</a:tableStyleId>
              </a:tblPr>
              <a:tblGrid>
                <a:gridCol w="710750"/>
                <a:gridCol w="3159225"/>
                <a:gridCol w="4182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</a:rPr>
                        <a:t>Class</a:t>
                      </a:r>
                      <a:endParaRPr b="1"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</a:rPr>
                        <a:t>Title</a:t>
                      </a:r>
                      <a:endParaRPr b="1"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2"/>
                          </a:solidFill>
                        </a:rPr>
                        <a:t>Main output</a:t>
                      </a:r>
                      <a:endParaRPr b="1"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1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Bandits, MDPs, Returns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agent/environment/reward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2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Value Functions and Bellman Equations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Learning to solve a reinforcement learning problems by iteratively estimating the </a:t>
                      </a:r>
                      <a:r>
                        <a:rPr lang="en" sz="1500">
                          <a:solidFill>
                            <a:schemeClr val="dk2"/>
                          </a:solidFill>
                        </a:rPr>
                        <a:t>value</a:t>
                      </a:r>
                      <a:r>
                        <a:rPr lang="en" sz="1500">
                          <a:solidFill>
                            <a:schemeClr val="dk2"/>
                          </a:solidFill>
                        </a:rPr>
                        <a:t> of a state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3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Monte Carlo, TD, SARSA, Q-Learning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On-policy vs off-policy, sampled experience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4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Policy Gradients and REINFORCE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log-prob weighted by reward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5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Actor-Critic and PPO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advantage, critic, clipping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6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RLHF and GRPO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PPO/GRPO to LLM training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 and references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1. Why value-based methods are not always enough.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What a parameterized stochastic policy 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The policy objective J(θ).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The log-derivative trick.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 The REINFORCE gradient estimator.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6. Why policy-gradient methods increase probabilities of rewarding actions.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8. How to implement REINFORCE in PyTorch.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9. How this connects to LLM sequence-level reinforcement learning.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idea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490600" cy="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25"/>
              <a:t>So far, we learnt about value functions and action value functions and then we use those functions to choose the optimal action. </a:t>
            </a:r>
            <a:endParaRPr sz="132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25"/>
              <a:t>But for many modern RL problems, especially neural policies and LLMs, we want to directly optimize a parameterized policy:</a:t>
            </a:r>
            <a:endParaRPr sz="132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25"/>
              <a:t>t</a:t>
            </a:r>
            <a:r>
              <a:rPr lang="en" sz="1325"/>
              <a:t>o learn how to modify the model’s parameters to make high reward trajectories more likely. </a:t>
            </a:r>
            <a:endParaRPr sz="132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25"/>
              <a:t>This maps directly to LLMs, because at every decode step, the LLM produces a probability distribution over tokens (actions). That takes us deterministically to the next state, where we run decode again.. </a:t>
            </a:r>
            <a:endParaRPr sz="132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25"/>
              <a:t>Sequence of generated tokens is the trajectory. At the end of the generation (or also in between), we get a reward. Goal is to find the best policy (network parameters) to maximise reward</a:t>
            </a:r>
            <a:endParaRPr sz="132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sz="1325"/>
          </a:p>
        </p:txBody>
      </p:sp>
      <p:pic>
        <p:nvPicPr>
          <p:cNvPr descr="{&quot;code&quot;:&quot;$$\\pi_{\\theta}\\left(\\giventhat{a}{s}\\right)$$&quot;,&quot;font&quot;:{&quot;size&quot;:13.25,&quot;family&quot;:&quot;Arial&quot;,&quot;color&quot;:&quot;#595959&quot;},&quot;backgroundColorModified&quot;:false,&quot;type&quot;:&quot;$$&quot;,&quot;backgroundColor&quot;:&quot;#FFFFFF&quot;,&quot;aid&quot;:null,&quot;id&quot;:&quot;1&quot;,&quot;ts&quot;:1783558432726,&quot;cs&quot;:&quot;hAypT7S75lpnB6l81jvoWA==&quot;,&quot;size&quot;:{&quot;width&quot;:71.16666666666667,&quot;height&quot;:20.833333333333332}}"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000" y="2125050"/>
            <a:ext cx="677863" cy="198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 objective</a:t>
            </a:r>
            <a:endParaRPr/>
          </a:p>
        </p:txBody>
      </p:sp>
      <p:pic>
        <p:nvPicPr>
          <p:cNvPr descr="{&quot;font&quot;:{&quot;color&quot;:&quot;#000000&quot;,&quot;family&quot;:&quot;Arial&quot;,&quot;size&quot;:13.25},&quot;code&quot;:&quot;\\begin{gather*}\n{\\text{We}\\;\\text{want}\\;\\text{to}\\;\\text{maximize}\\;\\text{expected}\\;\\text{return:}}\\\\\n{J\\left(\\theta\\right)=E_{\\tau\\sim\\pi_{\\theta}}\\left[R\\left(\\tau\\right)\\right]}\\\\\n{\\text{Here}\\;\\text{}}\\\\\n{\\tau=\\left(S_{0},\\,A_{0},\\,R_{1},\\,S_{1},\\,A_{1},\\,R_{2\\,....}\\right)}\\\\\n{\\text{is}\\;\\text{a}\\;\\text{trajectory}\\;\\text{sampled}\\;\\text{by}\\;\\text{following}\\;\\text{the}\\;\\text{policy}\\;\\pi_{\\theta}}\\\\\n{\\text{For}\\;\\text{episodic}\\;\\text{tasks,}}\\\\\n{R\\left(\\tau\\right)=\\sum_{t=0}^{T-1}\\gamma^{t}R_{t+1}}\\\\\n{\\text{So}\\;\\text{objective}\\;\\text{is}\\;\\text{to}\\;\\text{chose}\\;\\theta,\\,\\text{so}\\;\\text{policies}\\;\\text{sampled}\\;\\text{from}\\;\\pi_{\\theta}\\,\\text{have}\\;\\text{high}\\;\\text{return}}\t\n\\end{gather*}&quot;,&quot;backgroundColor&quot;:&quot;#FFFFFF&quot;,&quot;backgroundColorModified&quot;:false,&quot;aid&quot;:null,&quot;id&quot;:&quot;2&quot;,&quot;type&quot;:&quot;gather*&quot;,&quot;ts&quot;:1783559178964,&quot;cs&quot;:&quot;aadgujPsi9kooq9qde00Jw==&quot;,&quot;size&quot;:{&quot;width&quot;:630,&quot;height&quot;:248.5}}"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550" y="1352375"/>
            <a:ext cx="6000750" cy="236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derivative trick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need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distribution over trajectories depends on the policy pi_theta.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is, changing the policy changes which trajectories we sample.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 need a way to differentiate an expectation over samples from the policy.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where the log-derivative trick enters.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code&quot;:&quot;\\begin{gather*}\n{\\nabla _{\\theta}J\\left(\\theta\\right)}\\\\\n{\\text{where}}\\\\\n{J\\left(\\theta\\right)=E_{\\tau\\sim\\pi_{\\theta}}\\left[R\\left(\\tau\\right)\\right]}\t\n\\end{gather*}&quot;,&quot;font&quot;:{&quot;color&quot;:&quot;#595959&quot;,&quot;family&quot;:&quot;Arial&quot;,&quot;size&quot;:16.5},&quot;type&quot;:&quot;gather*&quot;,&quot;id&quot;:&quot;3&quot;,&quot;backgroundColorModified&quot;:false,&quot;aid&quot;:null,&quot;backgroundColor&quot;:&quot;#FFFFFF&quot;,&quot;ts&quot;:1783560322342,&quot;cs&quot;:&quot;fLOQY6oPcFg6uPiWphTErQ==&quot;,&quot;size&quot;:{&quot;width&quot;:221.6903,&quot;height&quot;:93.33336614173227}}"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875" y="1291175"/>
            <a:ext cx="2111600" cy="88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derivative trick</a:t>
            </a:r>
            <a:endParaRPr/>
          </a:p>
        </p:txBody>
      </p:sp>
      <p:pic>
        <p:nvPicPr>
          <p:cNvPr descr="{&quot;backgroundColor&quot;:&quot;#FFFFFF&quot;,&quot;id&quot;:&quot;4&quot;,&quot;aid&quot;:null,&quot;code&quot;:&quot;\\begin{gather*}\n{\\nabla_{\\theta}\\log_{}p_{\\theta}\\left(x\\right)=\\frac{\\nabla_{\\theta}p_{\\theta}\\left(x\\right)}{p_{\\theta}\\left(x\\right)}}\\\\\n{\\text{Eg,}\\;\\text{for}\\;p_{\\theta}\\left(x\\right)=\\sin\\left(x\\theta \\right)}\\\\\n{\\diff{\\log_{}\\left(\\sin\\left(x\\theta \\right)\\right)}{\\theta}=\\frac{x\\cos\\left(x\\theta\\right)}{\\sin\\left(x\\theta\\right)}}\\\\\n{\\text{so}}\\\\\n{\\nabla_{\\theta}p_{\\theta}\\left(x\\right)=p_{\\theta}\\left(x\\right)\\nabla_{\\theta}\\log_{}p_{\\theta}\\left(x\\right)}\t\n\\end{gather*}&quot;,&quot;font&quot;:{&quot;family&quot;:&quot;Arial&quot;,&quot;size&quot;:12,&quot;color&quot;:&quot;#000000&quot;},&quot;type&quot;:&quot;gather*&quot;,&quot;backgroundColorModified&quot;:false,&quot;ts&quot;:1783560866172,&quot;cs&quot;:&quot;cAHH9ifGTLvWIW1wjmQ/XA==&quot;,&quot;size&quot;:{&quot;width&quot;:238.20000000000005,&quot;height&quot;:169.79999999999998}}"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475" y="1413750"/>
            <a:ext cx="2268855" cy="161734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523800" y="3325475"/>
            <a:ext cx="566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This helps us move gradients into log probabilities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 gradient</a:t>
            </a:r>
            <a:endParaRPr/>
          </a:p>
        </p:txBody>
      </p:sp>
      <p:sp>
        <p:nvSpPr>
          <p:cNvPr id="100" name="Google Shape;100;p20"/>
          <p:cNvSpPr txBox="1"/>
          <p:nvPr/>
        </p:nvSpPr>
        <p:spPr>
          <a:xfrm>
            <a:off x="3762450" y="3389750"/>
            <a:ext cx="4452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So now we no longer have the gradient of an expectation, rather expectation of a gradient.. But how do we calculate the probability of a trajectory under a model theta? 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descr="{&quot;type&quot;:&quot;gather*&quot;,&quot;font&quot;:{&quot;family&quot;:&quot;Arial&quot;,&quot;color&quot;:&quot;#595959&quot;,&quot;size&quot;:13},&quot;backgroundColorModified&quot;:false,&quot;backgroundColor&quot;:&quot;#FFFFFF&quot;,&quot;code&quot;:&quot;\\begin{gather*}\n{J\\left(\\theta\\right)=E_{\\tau\\sim\\pi_{\\theta}}\\left[R\\left(\\tau\\right)\\right]}\\\\\n{=\\sum_{\\tau}^{}P_{\\theta}\\left(\\tau\\right)R\\left(\\tau\\right)}\\\\\n{\\text{Take}\\;\\text{gradient}}\\\\\n{\\nabla_{\\theta}J\\left(\\theta\\right)=\\nabla_{\\theta}\\sum_{\\tau}^{}P_{\\theta}\\left(\\tau\\right)R\\left(\\tau\\right)}\\\\\n{=\\sum_{\\tau}^{}\\nabla_{\\theta}P_{\\theta}\\left(\\tau\\right)R\\left(\\tau\\right)}\\\\\n{\\text{Using}\\;\\text{log}\\;\\text{derivative}\\;\\text{trick}}\\\\\n{=\\sum_{\\tau}^{}P_{\\theta}\\left(\\tau\\right)\\nabla_{\\theta}\\log_{} \\left(P_{\\theta}\\left(\\tau\\right)\\right)R\\left(\\tau\\right)}\\\\\n{=E_{\\tau\\sim\\pi_{\\theta}}\\left(\\nabla_{\\theta}\\log_{} \\left(P_{\\theta}\\left(\\tau\\right)\\right)R\\left(\\tau\\right)\\right)}\\\\\n{}\t\n\\end{gather*}&quot;,&quot;id&quot;:&quot;3&quot;,&quot;aid&quot;:null,&quot;ts&quot;:1783593173681,&quot;cs&quot;:&quot;sVkZWPVMLT/uaiHMS4o6qA==&quot;,&quot;size&quot;:{&quot;width&quot;:280.2256640419947,&quot;height&quot;:327.41996299212593}}"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99" y="1217525"/>
            <a:ext cx="2669149" cy="311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 gradient</a:t>
            </a:r>
            <a:endParaRPr/>
          </a:p>
        </p:txBody>
      </p:sp>
      <p:pic>
        <p:nvPicPr>
          <p:cNvPr descr="{&quot;aid&quot;:null,&quot;type&quot;:&quot;gather*&quot;,&quot;backgroundColorModified&quot;:false,&quot;backgroundColor&quot;:&quot;#FFFFFF&quot;,&quot;code&quot;:&quot;\\begin{gather*}\n{\\text{A}\\;\\text{trajectory}\\;\\text{is}\\;\\text{simply}\\;\\text{a}\\;\\text{sequence}\\;\\text{o}\\;\\text{states,}\\;\\text{action,}\\;\\text{rewards}}\\\\\n{\\tau=\\left(S_{0},\\,A_{0},\\,R_{1},\\,S_{1},\\,A_{1},\\,R_{2}...\\,S_{T}\\right)}\\\\\n{\\text{The}\\;\\text{sequence}\\;\\text{is}\\;\\text{markov,}\\;\\text{i.e.,}}\\\\\n{P\\left(\\giventhat{S_{t}}{S_{t-1},A_{t-1}},\\,S_{t-2},A_{t-2}...\\right)=P\\left(\\giventhat{S_{t}}{S_{t-1},A_{t-1}}\\right)}\\\\\n{\\text{Bayes}\\;\\text{rule:}}\\\\\n{P\\left(A,B,C\\right)=P\\left(\\giventhat{C}{B,A}\\right)P\\left(B,A\\right)=P\\left(\\giventhat{C}{B,A}\\right)P\\left(\\giventhat{B}{A}\\right)P\\left(A\\right)}\\\\\n{\\text{Then}\\;\\text{if}\\;\\text{A,B,C}\\;\\text{are}\\;\\text{markov,}}\\\\\n{P\\left(A,B,C\\right)=P\\left(\\giventhat{C}{B,A}\\right)P\\left(\\giventhat{B}{A}\\right)P\\left(A\\right)=P\\left(\\giventhat{C}{B}\\right)P\\left(\\giventhat{B}{A}\\right)P\\left(A\\right)}\\\\\n{\\text{Applying}\\;\\text{this}\\;\\text{idea}\\;\\text{to}\\;\\text{state,}\\;\\text{action}\\;\\text{sequence,}}\\\\\n{P\\left(\\tau\\right)=P\\left(S_{0}\\right)\\prod_{t=0}^{T-1}P\\left(\\giventhat{A_{t}}{S_{t}}\\right)P\\left(\\giventhat{S_{t+1}}{S_{t},A_{t}}\\right)}\\\\\n{P\\left(\\giventhat{A_{t}}{S_{t}}\\right)=\\pi_{\\theta}\\left(\\giventhat{A_{t}}{S_{t}}\\right)\\,\\left(\\text{our}\\;\\text{policy}\\right)}\\\\\n{\\text{Taking}\\;\\text{logs}}\\\\\n{\\log_{}P\\left(\\tau\\right)=\\log_{}P\\left(S_{0}\\right)+\\sum_{t=0}^{T-1}\\log_{}\\pi_{\\theta}\\left(\\giventhat{A_{t}}{S_{t}}\\right)+\\sum_{t=0}^{T-1}\\log_{} P\\left(\\giventhat{S_{t+1}}{S_{t},A_{t}}\\right)}\\\\\n{\\text{Since}\\;\\text{only}\\;\\pi_{\\theta}\\left(\\giventhat{A_{t}}{S_{t}}\\right)\\,\\text{depends}\\;\\text{on}\\;\\theta,\\text{}}\\\\\n{\\nabla_{\\theta}\\log_{}P\\left(\\tau\\right)=\\sum_{t=0}^{T-1}\\nabla_{\\theta}\\log_{}\\pi_{\\theta}\\left(\\giventhat{A_{t}}{S_{t}}\\right)}\t\n\\end{gather*}&quot;,&quot;id&quot;:&quot;2&quot;,&quot;font&quot;:{&quot;size&quot;:10.5,&quot;family&quot;:&quot;Arial&quot;,&quot;color&quot;:&quot;#000000&quot;},&quot;ts&quot;:1783682908129,&quot;cs&quot;:&quot;Zm2CeNC0g3FTvF1nQOeNOA==&quot;,&quot;size&quot;:{&quot;width&quot;:479.3333333333333,&quot;height&quot;:410}}"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151" y="970565"/>
            <a:ext cx="4565650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 gradient</a:t>
            </a:r>
            <a:endParaRPr/>
          </a:p>
        </p:txBody>
      </p:sp>
      <p:pic>
        <p:nvPicPr>
          <p:cNvPr descr="{&quot;code&quot;:&quot;\\begin{gather*}\n{\\text{Substituting}\\;\\text{back,}}\\\\\n{\\nabla_{\\theta}J\\left(\\theta\\right)=E_{\\tau\\sim\\pi_{\\theta}}\\left(\\sum_{t=0}^{T-1}\\nabla_{\\theta}\\log_{} \\pi _{\\theta}\\left(\\giventhat{A_{t}}{S_{t}}\\right)R\\left(\\tau\\right)\\right)}\\\\\n{\\text{A}\\;\\text{sample}\\;\\text{estimator}\\;\\text{is:}}\\\\\n{\\sum_{t=0}^{T-1}\\nabla_{\\theta}\\log_{} \\pi _{\\theta}\\left(\\giventhat{A_{t}}{S_{t}}\\right)R\\left(\\tau\\right)}\\\\\n{\\text{This}\\;\\text{will}\\;\\text{have}\\;\\text{high}\\;\\text{variance}\\;\\text{as}\\;\\text{the}\\;\\text{gradient}\\;\\text{will}\\;\\text{vary}\\;\\text{across}\\;\\text{trajectories}}\\\\\n{\\text{This}\\;\\text{is}\\;\\text{the}\\;\\text{simplest}\\;\\text{reinforce}\\;\\text{estimator}}\\\\\n{}\t\n\\end{gather*}&quot;,&quot;type&quot;:&quot;gather*&quot;,&quot;id&quot;:&quot;5&quot;,&quot;backgroundColorModified&quot;:false,&quot;font&quot;:{&quot;family&quot;:&quot;Arial&quot;,&quot;size&quot;:13,&quot;color&quot;:&quot;#000000&quot;},&quot;aid&quot;:null,&quot;backgroundColor&quot;:&quot;#FFFFFF&quot;,&quot;ts&quot;:1783633485195,&quot;cs&quot;:&quot;8PeNI7E8zXG75ire/mItCg==&quot;,&quot;size&quot;:{&quot;width&quot;:630,&quot;height&quot;:232}}"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075" y="1082275"/>
            <a:ext cx="600075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gather*&quot;,&quot;backgroundColor&quot;:&quot;#FFFFFF&quot;,&quot;aid&quot;:null,&quot;code&quot;:&quot;\\begin{gather*}\n{\\text{Variation:}}\\\\\n{\\text{Rather}\\;\\text{than}\\;\\text{using}\\;\\text{the}\\;\\text{total}\\;\\text{trajectory}\\;\\text{return}\\;\\text{for}\\;\\text{very}\\;\\text{step,}\\;\\text{use}\\;\\text{the}\\;\\text{discounted}\\;\\text{return}}\\\\\n{\\text{from}\\;\\text{then}\\;\\text{on.}\\;\\text{Action}\\;\\text{at}\\;\\text{time}\\;t\\,\\text{is}\\;\\text{credited}\\;\\text{only}\\;\\text{for}\\;\\text{rewards}\\;\\text{obtained}\\;\\text{subsequently}}\\\\\n{G_{t}=R_{t+1}+\\,\\gamma R_{t+2}+\\gamma^{2}R_{t+3}...}\\\\\n{\\nabla_{\\theta}J_{\\theta}\\sim\\sum_{t=0}^{T-1}G_{t}\\nabla_{\\theta}\\log_{}\\pi_{\\theta}\\left(\\giventhat{A_{t}}{S_{t}}\\right)}\t\n\\end{gather*}&quot;,&quot;font&quot;:{&quot;size&quot;:13,&quot;family&quot;:&quot;Arial&quot;,&quot;color&quot;:&quot;#000000&quot;},&quot;backgroundColorModified&quot;:false,&quot;id&quot;:&quot;5&quot;,&quot;ts&quot;:1783633451273,&quot;cs&quot;:&quot;dAgtKhc5ZUqzZUj86v1nTw==&quot;,&quot;size&quot;:{&quot;width&quot;:746,&quot;height&quot;:165}}" id="114" name="Google Shape;11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9175" y="3488678"/>
            <a:ext cx="7105650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 gradient</a:t>
            </a:r>
            <a:endParaRPr/>
          </a:p>
        </p:txBody>
      </p:sp>
      <p:pic>
        <p:nvPicPr>
          <p:cNvPr descr="{&quot;backgroundColorModified&quot;:false,&quot;type&quot;:&quot;gather*&quot;,&quot;id&quot;:&quot;5&quot;,&quot;font&quot;:{&quot;family&quot;:&quot;Arial&quot;,&quot;size&quot;:13,&quot;color&quot;:&quot;#000000&quot;},&quot;aid&quot;:null,&quot;backgroundColor&quot;:&quot;#FFFFFF&quot;,&quot;code&quot;:&quot;\\begin{gather*}\n{\\text{We}\\;\\text{want}\\;\\text{to}\\;\\text{adjust}\\;\\text{the}\\;\\text{model}\\;\\text{params}\\;\\text{to}\\;\\text{maximise}\\;\\text{expected}\\;\\text{return.}\\;\\text{}}\\\\\n{\\text{So}\\;\\text{if}\\;\\text{we}\\;\\text{define}\\;\\text{}}\\\\\n{L\\left(\\theta\\right)=-J_{\\theta}=-\\sum_{t=0}^{T-1}G_{t}\\nabla_{\\theta}\\log_{}\\pi_{\\theta}\\left(\\giventhat{A_{t}}{S_{t}}\\right)}\\\\\n{\\text{Then}\\;\\text{we}\\;\\text{can}\\;\\text{minimize}\\;L\\left(\\theta\\right)\\,\\text{to}\\;\\text{achieve}\\;\\text{the}\\;\\text{same}\\;\\text{goal,}\\;\\text{using}\\;\\text{standard}\\;\\text{backprop}}\\\\\n{\\text{The}\\;\\text{intuition}\\;\\text{is}\\;\\text{to}\\;\\text{increase}\\;\\text{the}\\;\\text{probability}\\;\\text{of}\\;\\text{actions}\\;\\text{that}\\;\\text{result}\\;\\text{in}\\;\\text{higher}\\;\\text{reward}}\t\n\\end{gather*}&quot;,&quot;ts&quot;:1783635092857,&quot;cs&quot;:&quot;BLIqQTaqDqxb/LgeIZZzFA==&quot;,&quot;size&quot;:{&quot;width&quot;:712,&quot;height&quot;:164.50000000000003}}"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810" y="1247779"/>
            <a:ext cx="6781800" cy="1566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Reinforce to solve Cartpole</a:t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82097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 txBox="1"/>
          <p:nvPr/>
        </p:nvSpPr>
        <p:spPr>
          <a:xfrm>
            <a:off x="4149200" y="1214075"/>
            <a:ext cx="3981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State: </a:t>
            </a:r>
            <a:endParaRPr b="1"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Cart position (-4.8 to 4.8 units)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Cart velocity (negative or positive)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Pole angle (-12° to 12°)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Pole angular velocity (how fast it is tilting)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Action Space:</a:t>
            </a:r>
            <a:endParaRPr b="1"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0 (left push) or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en" sz="1500">
                <a:solidFill>
                  <a:schemeClr val="dk2"/>
                </a:solidFill>
              </a:rPr>
              <a:t>1 (right push).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Reward:</a:t>
            </a:r>
            <a:r>
              <a:rPr lang="en" sz="1500">
                <a:solidFill>
                  <a:schemeClr val="dk2"/>
                </a:solidFill>
              </a:rPr>
              <a:t>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At every step when the pole remains balanced, you get +1 reward.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Termination:</a:t>
            </a:r>
            <a:r>
              <a:rPr lang="en" sz="1500">
                <a:solidFill>
                  <a:schemeClr val="dk2"/>
                </a:solidFill>
              </a:rPr>
              <a:t> If the angle of the pole is more than ±12° or the cart crosses the boundary of ±2.4 units, then the episode ends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a baseline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201100" y="114395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problem with Reinforce is that trajectory returns can vary a lot, which results in high variance gradients. The solution is to add a baseline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type&quot;:&quot;gather*&quot;,&quot;backgroundColorModified&quot;:false,&quot;aid&quot;:null,&quot;backgroundColor&quot;:&quot;#FFFFFF&quot;,&quot;font&quot;:{&quot;size&quot;:11,&quot;color&quot;:&quot;#595959&quot;,&quot;family&quot;:&quot;Arial&quot;},&quot;id&quot;:&quot;6&quot;,&quot;code&quot;:&quot;\\begin{gather*}\n{\\text{Without}\\;\\text{baseline:}}\\\\\n{\\nabla_{\\theta}J\\left(\\theta\\right)=E\\left[\\sum_{t=0}^{T-1}G_{t}\\nabla_{\\theta}\\log_{}\\pi_{\\theta}\\left(\\giventhat{A_{t}}{S_{t}}\\right)\\right]}\\\\\n{\\text{With}\\;\\text{baseline:}}\\\\\n{\\nabla_{\\theta}J\\left(\\theta\\right)=E\\left[\\sum_{t=0}^{T-1}\\left(G_{t}-b\\left(S_{t}\\right)\\right)\\nabla_{\\theta}\\log_{}\\pi_{\\theta}\\left(\\giventhat{A_{t}}{S_{t}}\\right)\\right]}\\\\\n{\\text{Where}\\;b\\left(S_{t}\\right)\\,\\text{is}\\;\\text{a}\\;\\text{baseline.}\\;\\text{}}\\\\\n{\\text{We}\\;\\text{can}\\;\\text{do}\\;\\text{this}\\;\\text{because}\\;\\text{the}\\;\\text{baseline}\\;\\text{is}\\;\\text{not}\\;\\text{a}\\;\\text{function}\\;\\text{of}\\;\\theta}\\\\\n{\\text{so}\\;\\text{its}\\;\\text{gradient}\\;\\text{wrt}\\;\\theta\\,\\text{is}\\;\\text{0}}\\\\\n{\\text{A}\\;\\text{good}\\;\\text{choice}\\;\\text{of}\\;\\text{the}\\;\\text{baseline}\\;\\text{is}:}\\\\\n{V\\left(S_{t}\\right)}\\\\\n{\\text{Advantage}}\\\\\n{A_{t}=G_{t}-b\\left(S_{t}\\right)}\\\\\n{\\text{How}\\;\\text{much}\\;\\text{better}\\;\\text{is}\\;\\text{an}\\;\\text{action}\\;\\text{is}\\;\\text{than}\\;\\text{average?}\\;}\\\\\n{\\text{Increase}\\;\\text{the}\\;\\text{probability}\\;\\text{of}\\;\\text{the}\\;\\text{action}\\;\\text{by}\\;\\text{the}\\;\\text{average}}\t\n\\end{gather*}&quot;,&quot;ts&quot;:1783645448029,&quot;cs&quot;:&quot;tfJytnOMi6qPNaMzwSWQSw==&quot;,&quot;size&quot;:{&quot;width&quot;:423.6666666666667,&quot;height&quot;:353}}"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809" y="630350"/>
            <a:ext cx="4035425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&quot;,&quot;code&quot;:&quot;\\begin{gather*}\n{\\text{Recall:}\\;\\text{}}\\\\\n{\\text{Value}\\;\\text{function:}\\;\\text{How}\\;\\text{good}\\;\\text{is}\\;\\text{it}\\;\\text{to}\\;\\text{be}\\;\\text{in}\\;\\text{a}\\;\\text{state}\\;\\text{under}\\;\\text{a}\\;\\text{policy}\\;\\pi}\\\\\n{V^{\\pi}=E\\left[\\giventhat{G_{t}}{S_{t}=s}\\right]}\\\\\n{}\t\n\\end{gather*}&quot;,&quot;backgroundColor&quot;:&quot;#FFFFFF&quot;,&quot;backgroundColorModified&quot;:false,&quot;type&quot;:&quot;gather*&quot;,&quot;font&quot;:{&quot;color&quot;:&quot;#595959&quot;,&quot;size&quot;:13,&quot;family&quot;:&quot;Arial&quot;},&quot;aid&quot;:null,&quot;ts&quot;:1783645456463,&quot;cs&quot;:&quot;Xm/vCppnX2pJKhGG8ETx6g==&quot;,&quot;size&quot;:{&quot;width&quot;:572.8058173228346,&quot;height&quot;:75.24410236220471}}" id="135" name="Google Shape;13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349" y="4257975"/>
            <a:ext cx="5455975" cy="71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254400" y="4250025"/>
            <a:ext cx="65301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p</a:t>
            </a:r>
            <a:r>
              <a:rPr lang="en" sz="1500"/>
              <a:t>olicy_lr = 0.003, critic_lr = 0.01</a:t>
            </a:r>
            <a:r>
              <a:rPr lang="en"/>
              <a:t> </a:t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50" y="1067800"/>
            <a:ext cx="6419800" cy="32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