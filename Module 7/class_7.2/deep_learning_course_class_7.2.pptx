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8066C2-3691-4592-A9C5-7EF0F0C21B34}">
  <a:tblStyle styleId="{458066C2-3691-4592-A9C5-7EF0F0C21B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DC01734C-138F-4F08-94FE-1EE1B6B6737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8d5a660c5_0_3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8d5a660c5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5572e8f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5572e8f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e82c63d41f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e82c63d41f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e5572e8fe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e5572e8fe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ed2ee7fdf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ed2ee7fdf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2ee7fdfd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2ee7fdfd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2ee7fdfd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2ee7fdfd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59dca7d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59dca7d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d59dca7d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d59dca7d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d59dca7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ed59dca7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d59dca7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ed59dca7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d59dca7d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ed59dca7d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d59dca7d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ed59dca7d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d59dca7d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ed59dca7d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d59dca7d7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ed59dca7d7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d59dca7d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ed59dca7d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d59dca7d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ed59dca7d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eb9223848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eb9223848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e82c63d41f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e82c63d41f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Reinforcement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6"/>
              <a:t>Agents, Environment, Rewards, Exploration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Learning: Class 7.2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outline</a:t>
            </a:r>
            <a:endParaRPr/>
          </a:p>
        </p:txBody>
      </p:sp>
      <p:graphicFrame>
        <p:nvGraphicFramePr>
          <p:cNvPr id="61" name="Google Shape;61;p14"/>
          <p:cNvGraphicFramePr/>
          <p:nvPr/>
        </p:nvGraphicFramePr>
        <p:xfrm>
          <a:off x="362875" y="1086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{458066C2-3691-4592-A9C5-7EF0F0C21B34}</a:tableStyleId>
              </a:tblPr>
              <a:tblGrid>
                <a:gridCol w="710750"/>
                <a:gridCol w="3159225"/>
                <a:gridCol w="4182700"/>
              </a:tblGrid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dk2"/>
                          </a:solidFill>
                        </a:rPr>
                        <a:t>Class</a:t>
                      </a:r>
                      <a:endParaRPr b="1"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dk2"/>
                          </a:solidFill>
                        </a:rPr>
                        <a:t>Title</a:t>
                      </a:r>
                      <a:endParaRPr b="1"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dk2"/>
                          </a:solidFill>
                        </a:rPr>
                        <a:t>Main output</a:t>
                      </a:r>
                      <a:endParaRPr b="1"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1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Bandits, MDPs, Returns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agent/environment/reward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2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Value Functions and Bellman Equations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Learning to solve a reinforcement learning problems by iteratively estimating the </a:t>
                      </a:r>
                      <a:r>
                        <a:rPr lang="en" sz="1500">
                          <a:solidFill>
                            <a:schemeClr val="dk2"/>
                          </a:solidFill>
                        </a:rPr>
                        <a:t>value</a:t>
                      </a:r>
                      <a:r>
                        <a:rPr lang="en" sz="1500">
                          <a:solidFill>
                            <a:schemeClr val="dk2"/>
                          </a:solidFill>
                        </a:rPr>
                        <a:t> of a state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3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Monte Carlo, TD, SARSA, Q-Learning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On-policy vs off-policy, sampled experience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4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Policy Gradients and REINFORCE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log-prob weighted by reward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5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Actor-Critic and PPO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advantage, critic, clipping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6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RLHF and GRPO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2"/>
                          </a:solidFill>
                        </a:rPr>
                        <a:t>PPO/GRPO to LLM training</a:t>
                      </a:r>
                      <a:endParaRPr sz="1500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state-value function V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action-value function Q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Bellman expectation equation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Bellman optimality equation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policy evaluation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value iteration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Agent-Environment loop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state</a:t>
            </a:r>
            <a:r>
              <a:rPr lang="en"/>
              <a:t>:  what the agent sees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action</a:t>
            </a:r>
            <a:r>
              <a:rPr lang="en"/>
              <a:t>: what the agent does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reward</a:t>
            </a:r>
            <a:r>
              <a:rPr lang="en"/>
              <a:t>: scalar feedback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next state</a:t>
            </a:r>
            <a:r>
              <a:rPr lang="en"/>
              <a:t>: what happens after the action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Episodes and Trajectories	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197800" cy="8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Episode</a:t>
            </a:r>
            <a:r>
              <a:rPr lang="en"/>
              <a:t>: Full (State, Action) sequence until some end state (eg., game over)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aid&quot;:null,&quot;id&quot;:&quot;1&quot;,&quot;backgroundColorModified&quot;:false,&quot;code&quot;:&quot;$$\\tau:\\left(S_{0},A_{0},R_{1},S_{1},A_{1},R_{2},S_{2},A_{2}...R_{T},S_{T},A_{T}\\right)$$&quot;,&quot;type&quot;:&quot;$$&quot;,&quot;backgroundColor&quot;:&quot;#FFFFFF&quot;,&quot;font&quot;:{&quot;color&quot;:&quot;#595959&quot;,&quot;family&quot;:&quot;Arial&quot;,&quot;size&quot;:18},&quot;ts&quot;:1780364900662,&quot;cs&quot;:&quot;AQg7G1SdbIcPXaVXvLb15Q==&quot;,&quot;size&quot;:{&quot;width&quot;:572,&quot;height&quot;:28.5}}"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8050" y="1769000"/>
            <a:ext cx="5448300" cy="2714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font&quot;:{&quot;color&quot;:&quot;#595959&quot;,&quot;family&quot;:&quot;Arial&quot;,&quot;size&quot;:18},&quot;code&quot;:&quot;\\begin{gather*}\n{\\text{For}\\;\\text{a}\\;\\text{finite}\\;\\text{episode:}}\\\\\n{G_{t}=R_{t+1}+\\gamma R_{t+2}+\\gamma^{2}R_{t+3}+...+\\gamma^{T}R_{t+T+1}}\t\n\\end{gather*}&quot;,&quot;type&quot;:&quot;gather*&quot;,&quot;backgroundColorModified&quot;:false,&quot;backgroundColor&quot;:&quot;#FFFFFF&quot;,&quot;id&quot;:&quot;1&quot;,&quot;ts&quot;:1780365583001,&quot;cs&quot;:&quot;bt1SEurw+Ql1EbeBvlVsjg==&quot;,&quot;size&quot;:{&quot;width&quot;:548,&quot;height&quot;:67}}" id="81" name="Google Shape;8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4500" y="3236676"/>
            <a:ext cx="4370875" cy="534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45475" y="2289575"/>
            <a:ext cx="8197800" cy="8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start in a state, take an action, get a reward and go to the next state..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Return vs Reward</a:t>
            </a:r>
            <a:r>
              <a:rPr lang="en"/>
              <a:t>. You get a reward potentially after every action. Return is the total (potentially discounted) reward for an episode. Goal is to maximise reward</a:t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417025" y="3830175"/>
            <a:ext cx="8197800" cy="88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start in a state, take an action, get a reward and go to the next state..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Return vs Reward</a:t>
            </a:r>
            <a:r>
              <a:rPr lang="en"/>
              <a:t>. You get a reward potentially after every action. Return is the total (potentially discounted) reward for an episode. Goal is to maximise reward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</a:t>
            </a:r>
            <a:endParaRPr/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policy defines a probability distribution over actions at a state</a:t>
            </a:r>
            <a:endParaRPr/>
          </a:p>
        </p:txBody>
      </p:sp>
      <p:pic>
        <p:nvPicPr>
          <p:cNvPr descr="{&quot;type&quot;:&quot;gather*&quot;,&quot;aid&quot;:null,&quot;backgroundColor&quot;:&quot;#FFFFFF&quot;,&quot;backgroundColorModified&quot;:false,&quot;code&quot;:&quot;\\begin{gather*}\n{\\pi\\left(a|s\\right)=P\\left(A_{t}=a|s_{t}=s\\right)}\\\\\n{\\text{For}\\;\\text{deep}\\;\\text{learning},\\,\\text{the}\\;\\text{neural}\\;\\text{network}\\;\\text{is}\\;\\text{the}\\;\\text{policy}}\\\\\n{\\text{It}\\;\\text{outputs}\\;\\text{a}\\;\\text{distribution}\\;\\text{over}\\;\\text{actions}}\\\\\n{\\pi_{\\theta}\\left(\\giventhat{y_{t}}{x,y_{&lt;t}}\\right)}\t\n\\end{gather*}&quot;,&quot;id&quot;:&quot;2&quot;,&quot;font&quot;:{&quot;size&quot;:18,&quot;family&quot;:&quot;Arial&quot;,&quot;color&quot;:&quot;#595959&quot;},&quot;ts&quot;:1780366358969,&quot;cs&quot;:&quot;b0AA7aUpo78gV/jFRyOjhg==&quot;,&quot;size&quot;:{&quot;width&quot;:615.5,&quot;height&quot;:138}}" id="90" name="Google Shape;9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3800" y="2072400"/>
            <a:ext cx="5862638" cy="131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Discounted returns: Recursion</a:t>
            </a:r>
            <a:endParaRPr/>
          </a:p>
        </p:txBody>
      </p:sp>
      <p:pic>
        <p:nvPicPr>
          <p:cNvPr descr="{&quot;aid&quot;:null,&quot;font&quot;:{&quot;family&quot;:&quot;Arial&quot;,&quot;size&quot;:15,&quot;color&quot;:&quot;#595959&quot;},&quot;code&quot;:&quot;\\begin{gather*}\n{\\text{For}\\;\\text{a}\\;\\text{finite}\\;\\text{episode:}}\\\\\n{\\text{the}\\;\\text{episode}\\;\\text{ends}\\;\\text{in}\\;\\text{T}\\;\\text{steps}}\\\\\n{G_{t}=R_{t+1}+\\gamma R_{t+2}+\\gamma^{2}R_{t+3}+...+\\gamma^{T}R_{t+T+1}}\\\\\n{\\text{Return}\\;\\text{if}\\;\\text{I}\\;\\text{start}\\;\\text{in}\\;S_{t+1}}\\\\\n{G_{t+1}=R_{t+2}+\\gamma^{1}R_{t+3}+...+\\gamma^{T-1}R_{t+T+1}}\\\\\n{\\text{Therefore,}}\\\\\n{G_{t}=R_{t+1}+\\gamma G_{t+1}}\t\n\\end{gather*}&quot;,&quot;id&quot;:&quot;1&quot;,&quot;type&quot;:&quot;gather*&quot;,&quot;backgroundColor&quot;:&quot;#FFFFFF&quot;,&quot;backgroundColorModified&quot;:false,&quot;ts&quot;:1781092856009,&quot;cs&quot;:&quot;+oDNkB+xMAThuDF1SKEjXg==&quot;,&quot;size&quot;:{&quot;width&quot;:456.3333333333333,&quot;height&quot;:211.33333333333334}}" id="96" name="Google Shape;9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5821" y="1243926"/>
            <a:ext cx="4346575" cy="20129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/>
          <p:nvPr/>
        </p:nvSpPr>
        <p:spPr>
          <a:xfrm>
            <a:off x="523300" y="3637475"/>
            <a:ext cx="779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Return from now = reward from next step + discounted return from the next state onward.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function</a:t>
            </a:r>
            <a:endParaRPr/>
          </a:p>
        </p:txBody>
      </p:sp>
      <p:sp>
        <p:nvSpPr>
          <p:cNvPr id="103" name="Google Shape;103;p20"/>
          <p:cNvSpPr txBox="1"/>
          <p:nvPr>
            <p:ph idx="1" type="body"/>
          </p:nvPr>
        </p:nvSpPr>
        <p:spPr>
          <a:xfrm>
            <a:off x="311700" y="1152475"/>
            <a:ext cx="8520600" cy="95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reward, if we start from state S, then follow the policy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Value function depends on the policy</a:t>
            </a:r>
            <a:endParaRPr/>
          </a:p>
        </p:txBody>
      </p:sp>
      <p:pic>
        <p:nvPicPr>
          <p:cNvPr descr="{&quot;backgroundColorModified&quot;:false,&quot;type&quot;:&quot;gather*&quot;,&quot;code&quot;:&quot;\\begin{gather*}\n{\\text{Value}\\;\\text{function:}\\;\\text{How}\\;\\text{good}\\;\\text{is}\\;\\text{it}\\;\\text{to}\\;\\text{be}\\;\\text{in}\\;\\text{a}\\;\\text{state}\\;\\text{under}\\;\\text{a}\\;\\text{policy}\\;\\pi}\\\\\n{V^{\\pi}=E\\left[\\giventhat{G_{t}}{S_{t}=s}\\right]}\\\\\n{}\t\n\\end{gather*}&quot;,&quot;font&quot;:{&quot;color&quot;:&quot;#595959&quot;,&quot;family&quot;:&quot;Arial&quot;,&quot;size&quot;:18},&quot;backgroundColor&quot;:&quot;#FFFFFF&quot;,&quot;aid&quot;:null,&quot;id&quot;:&quot;1&quot;,&quot;ts&quot;:1781093438278,&quot;cs&quot;:&quot;JqCqauqfLL8Nj/fndtBH+g==&quot;,&quot;size&quot;:{&quot;width&quot;:764,&quot;height&quot;:64}}" id="104" name="Google Shape;10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300" y="2266950"/>
            <a:ext cx="6335600" cy="53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70525" y="3108700"/>
            <a:ext cx="8520600" cy="16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en" sz="1070"/>
              <a:t>Example:</a:t>
            </a:r>
            <a:endParaRPr b="1" sz="107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070"/>
              <a:t>B _ _ _ _ E</a:t>
            </a:r>
            <a:endParaRPr sz="107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070"/>
              <a:t>Reward: 1 for reaching E, 0 everywhere else, a penalty of -0.1 for taking a step</a:t>
            </a:r>
            <a:endParaRPr sz="107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b="1" lang="en" sz="1070"/>
              <a:t>Policy 1:</a:t>
            </a:r>
            <a:r>
              <a:rPr lang="en" sz="1070"/>
              <a:t> Always move right. V1 =  0.5 0.6 0.7 0.8 0.9 0 &lt;- convention. Reward at the </a:t>
            </a:r>
            <a:r>
              <a:rPr lang="en" sz="1070"/>
              <a:t>terminal</a:t>
            </a:r>
            <a:r>
              <a:rPr lang="en" sz="1070"/>
              <a:t> state = 0, as episode terminates</a:t>
            </a:r>
            <a:endParaRPr sz="107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b="1" lang="en" sz="1070"/>
              <a:t>Policy 2:</a:t>
            </a:r>
            <a:r>
              <a:rPr lang="en" sz="1070"/>
              <a:t> Take a random step. V2: much lower, as it will take more steps to reach E</a:t>
            </a:r>
            <a:endParaRPr sz="107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r>
              <a:rPr lang="en" sz="1070"/>
              <a:t>So, V1 &gt; V2. What if we didn’t have the step penalty? </a:t>
            </a:r>
            <a:endParaRPr sz="1125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 function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1152475"/>
            <a:ext cx="8520600" cy="18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 function is a function of state and action.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Q(s,a): The value of taking action </a:t>
            </a:r>
            <a:r>
              <a:rPr i="1" lang="en"/>
              <a:t>a</a:t>
            </a:r>
            <a:r>
              <a:rPr lang="en"/>
              <a:t> in state </a:t>
            </a:r>
            <a:r>
              <a:rPr i="1" lang="en"/>
              <a:t>s</a:t>
            </a:r>
            <a:r>
              <a:rPr lang="en"/>
              <a:t>, then follow policy afterwards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aid&quot;:null,&quot;id&quot;:&quot;2&quot;,&quot;font&quot;:{&quot;family&quot;:&quot;Arial&quot;,&quot;color&quot;:&quot;#595959&quot;,&quot;size&quot;:18},&quot;backgroundColor&quot;:&quot;#FFFFFF&quot;,&quot;code&quot;:&quot;\\begin{gather*}\n{V^{\\pi}\\left(s,a\\right)=\\sum_{a}^{}\\pi\\left(\\giventhat{a}{s}\\right)Q^{\\pi}\\left(s,a\\right)}\\\\\n{}\t\n\\end{gather*}&quot;,&quot;backgroundColorModified&quot;:false,&quot;type&quot;:&quot;gather*&quot;,&quot;ts&quot;:1781094250744,&quot;cs&quot;:&quot;fFbJOjB5D+l9bnoBQelMrw==&quot;,&quot;size&quot;:{&quot;width&quot;:374.3333333333333,&quot;height&quot;:56.666666666666664}}" id="112" name="Google Shape;11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4350" y="2180350"/>
            <a:ext cx="3565525" cy="5397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3" name="Google Shape;113;p21"/>
          <p:cNvGraphicFramePr/>
          <p:nvPr/>
        </p:nvGraphicFramePr>
        <p:xfrm>
          <a:off x="875925" y="3620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{DC01734C-138F-4F08-94FE-1EE1B6B67373}</a:tableStyleId>
              </a:tblPr>
              <a:tblGrid>
                <a:gridCol w="2929900"/>
                <a:gridCol w="29299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V(s)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How good a state is under a policy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Q(s,a)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How good is an action a in state s, and then follow the policy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 function</a:t>
            </a:r>
            <a:endParaRPr/>
          </a:p>
        </p:txBody>
      </p:sp>
      <p:sp>
        <p:nvSpPr>
          <p:cNvPr id="119" name="Google Shape;11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Reinforcement learning on LLMs uses advantages. We’ll come back to it later</a:t>
            </a:r>
            <a:endParaRPr/>
          </a:p>
        </p:txBody>
      </p:sp>
      <p:pic>
        <p:nvPicPr>
          <p:cNvPr descr="{&quot;backgroundColor&quot;:&quot;#FFFFFF&quot;,&quot;backgroundColorModified&quot;:false,&quot;code&quot;:&quot;\\begin{gather*}\n{A^{\\pi}\\left(s,a\\right)=Q^{\\pi}\\left(s,a\\right)-V^{\\pi}\\left(s\\right)}\\\\\n{\\text{if}\\;A\\left(s,a\\right)&gt;0,\\,\\text{action}\\;\\text{a}\\;\\text{is}\\;\\text{better}\\;\\text{than}\\;\\text{average},\\,\\text{and}\\;\\text{vice}\\;\\text{versa}}\t\n\\end{gather*}&quot;,&quot;aid&quot;:null,&quot;id&quot;:&quot;3&quot;,&quot;font&quot;:{&quot;size&quot;:18,&quot;family&quot;:&quot;Arial&quot;,&quot;color&quot;:&quot;#595959&quot;},&quot;type&quot;:&quot;gather*&quot;,&quot;ts&quot;:1781129857174,&quot;cs&quot;:&quot;69EOmYMUOhTYlRarugmpGg==&quot;,&quot;size&quot;:{&quot;width&quot;:741,&quot;height&quot;:65}}" id="120" name="Google Shape;12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950" y="1761500"/>
            <a:ext cx="7058025" cy="61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Estimating the value function: Bellman recursion</a:t>
            </a:r>
            <a:endParaRPr/>
          </a:p>
        </p:txBody>
      </p:sp>
      <p:pic>
        <p:nvPicPr>
          <p:cNvPr descr="{&quot;backgroundColor&quot;:&quot;#FFFFFF&quot;,&quot;code&quot;:&quot;$$V^{\\pi}\\left(s\\right)=\\sum_{a}^{}\\pi\\left(\\giventhat{a}{s}\\right)\\sum_{s^{\\prime}}^{}P\\left(\\giventhat{s^{\\prime}}{s,a}\\right)\\left[r\\left(s,a\\right)+\\gamma V^{\\pi}\\left(s^{\\prime}\\right)\\right]$$&quot;,&quot;font&quot;:{&quot;size&quot;:22.5,&quot;color&quot;:&quot;#000000&quot;,&quot;family&quot;:&quot;Arial&quot;},&quot;id&quot;:&quot;4&quot;,&quot;backgroundColorModified&quot;:false,&quot;type&quot;:&quot;$$&quot;,&quot;aid&quot;:null,&quot;ts&quot;:1781130559714,&quot;cs&quot;:&quot;P/iE5aAE8OAVb99jAdyTLA==&quot;,&quot;size&quot;:{&quot;width&quot;:844.5301480314961,&quot;height&quot;:73.21786036745405}}"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650" y="2126225"/>
            <a:ext cx="8044150" cy="69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/>
          <p:nvPr/>
        </p:nvSpPr>
        <p:spPr>
          <a:xfrm>
            <a:off x="37725" y="2887225"/>
            <a:ext cx="146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Value at state 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8" name="Google Shape;128;p23"/>
          <p:cNvSpPr txBox="1"/>
          <p:nvPr/>
        </p:nvSpPr>
        <p:spPr>
          <a:xfrm>
            <a:off x="1725950" y="2887213"/>
            <a:ext cx="146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Sum over actions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9" name="Google Shape;129;p23"/>
          <p:cNvSpPr txBox="1"/>
          <p:nvPr/>
        </p:nvSpPr>
        <p:spPr>
          <a:xfrm>
            <a:off x="2499475" y="1477425"/>
            <a:ext cx="938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Policy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0" name="Google Shape;130;p23"/>
          <p:cNvSpPr txBox="1"/>
          <p:nvPr/>
        </p:nvSpPr>
        <p:spPr>
          <a:xfrm>
            <a:off x="4213200" y="1131700"/>
            <a:ext cx="1615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State transition dynamics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1" name="Google Shape;131;p23"/>
          <p:cNvSpPr txBox="1"/>
          <p:nvPr/>
        </p:nvSpPr>
        <p:spPr>
          <a:xfrm>
            <a:off x="5607250" y="2748775"/>
            <a:ext cx="1705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Reward of taking action </a:t>
            </a:r>
            <a:r>
              <a:rPr i="1" lang="en" sz="1800">
                <a:solidFill>
                  <a:schemeClr val="dk2"/>
                </a:solidFill>
              </a:rPr>
              <a:t>a</a:t>
            </a:r>
            <a:endParaRPr i="1" sz="1800">
              <a:solidFill>
                <a:schemeClr val="dk2"/>
              </a:solidFill>
            </a:endParaRPr>
          </a:p>
        </p:txBody>
      </p:sp>
      <p:sp>
        <p:nvSpPr>
          <p:cNvPr id="132" name="Google Shape;132;p23"/>
          <p:cNvSpPr txBox="1"/>
          <p:nvPr/>
        </p:nvSpPr>
        <p:spPr>
          <a:xfrm>
            <a:off x="7127100" y="1131700"/>
            <a:ext cx="1705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Discounted value of the new state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3" name="Google Shape;133;p23"/>
          <p:cNvSpPr txBox="1"/>
          <p:nvPr/>
        </p:nvSpPr>
        <p:spPr>
          <a:xfrm>
            <a:off x="3061050" y="2912863"/>
            <a:ext cx="146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Sum over next states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 equation for Q</a:t>
            </a:r>
            <a:endParaRPr/>
          </a:p>
        </p:txBody>
      </p:sp>
      <p:pic>
        <p:nvPicPr>
          <p:cNvPr descr="{&quot;backgroundColorModified&quot;:false,&quot;code&quot;:&quot;\\begin{lalign*}\n&amp;{Q^{\\pi}\\left(s,a\\right)=\\sum_{s^{\\prime}}^{}P\\left(\\giventhat{s^{\\prime}}{s,a}\\right)\\left[r\\left(s,a\\right)+\\gamma V^{\\pi}\\left(s^{\\prime}\\right)\\right]}\\\\\n&amp;{=\\,\\sum_{s^{\\prime}}^{}P\\left(\\giventhat{s^{\\prime}}{s,a}\\right)\\left[r\\left(s,a\\right)+\\gamma \\sum_{a^{\\prime}}^{}\\pi\\left(\\giventhat{a^{\\prime}}{s^{\\prime}}\\right)Q\\left(s^{\\prime},a^{\\prime}\\right)\\right]}\\\\\n&amp;{}\t\n\\end{lalign*}&quot;,&quot;type&quot;:&quot;lalign*&quot;,&quot;font&quot;:{&quot;color&quot;:&quot;#000000&quot;,&quot;size&quot;:18,&quot;family&quot;:&quot;Arial&quot;},&quot;aid&quot;:null,&quot;id&quot;:&quot;4&quot;,&quot;backgroundColor&quot;:&quot;#FFFFFF&quot;,&quot;ts&quot;:1781131055233,&quot;cs&quot;:&quot;4RE3UCfUIRO3Q1CgV0T0PA==&quot;,&quot;size&quot;:{&quot;width&quot;:638.5,&quot;height&quot;:154}}" id="139" name="Google Shape;13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8353" y="1332400"/>
            <a:ext cx="6081713" cy="1466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4"/>
          <p:cNvSpPr txBox="1"/>
          <p:nvPr/>
        </p:nvSpPr>
        <p:spPr>
          <a:xfrm>
            <a:off x="360400" y="2925138"/>
            <a:ext cx="146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Sum over next states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1" name="Google Shape;141;p24"/>
          <p:cNvSpPr txBox="1"/>
          <p:nvPr/>
        </p:nvSpPr>
        <p:spPr>
          <a:xfrm>
            <a:off x="4621000" y="2687825"/>
            <a:ext cx="907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policy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2" name="Google Shape;142;p24"/>
          <p:cNvSpPr txBox="1"/>
          <p:nvPr/>
        </p:nvSpPr>
        <p:spPr>
          <a:xfrm>
            <a:off x="5636775" y="2687825"/>
            <a:ext cx="2505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Q of future actions from next state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Iterative value estimation</a:t>
            </a:r>
            <a:endParaRPr/>
          </a:p>
        </p:txBody>
      </p:sp>
      <p:sp>
        <p:nvSpPr>
          <p:cNvPr id="148" name="Google Shape;148;p25"/>
          <p:cNvSpPr txBox="1"/>
          <p:nvPr/>
        </p:nvSpPr>
        <p:spPr>
          <a:xfrm>
            <a:off x="341525" y="1213600"/>
            <a:ext cx="8175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Given a policy, estimate the value of each state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Technique: apply bellman recursion repeatedly, until the values settled down. 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gather*&quot;,&quot;code&quot;:&quot;\\begin{gather*}\n{V_{k+1}^{\\pi}\\left(s\\right)=\\sum_{a}^{}\\pi\\left(\\giventhat{a}{s}\\right)\\sum_{s^{\\prime}}^{}P\\left(\\giventhat{s^{\\prime}}{s,a}\\right)\\left[r\\left(s,a\\right)+\\gamma V_{k}^{\\pi}\\left(s^{\\prime}\\right)\\right]}\\\\\n{\\text{starting}\\;\\text{with:}}\\\\\n{V_{0}\\left(s\\right)=0}\t\n\\end{gather*}&quot;,&quot;backgroundColor&quot;:&quot;#FFFFFF&quot;,&quot;backgroundColorModified&quot;:false,&quot;id&quot;:&quot;4&quot;,&quot;font&quot;:{&quot;family&quot;:&quot;Arial&quot;,&quot;size&quot;:15,&quot;color&quot;:&quot;#000000&quot;},&quot;aid&quot;:null,&quot;ts&quot;:1781131597738,&quot;cs&quot;:&quot;u/qXK2I4YFeWFr2mAQLh/w==&quot;,&quot;size&quot;:{&quot;width&quot;:582.3779503937008,&quot;height&quot;:113.67715905511808}}" id="149" name="Google Shape;14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649" y="2247952"/>
            <a:ext cx="5547150" cy="108277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 txBox="1"/>
          <p:nvPr/>
        </p:nvSpPr>
        <p:spPr>
          <a:xfrm>
            <a:off x="311700" y="3255500"/>
            <a:ext cx="70623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At first, all values are zero.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Then states near terminal rewards get meaningful values.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Then states one step farther away get meaningful values.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Then states even farther away get meaningful values.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Iterative value estimation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6"/>
          <p:cNvSpPr txBox="1"/>
          <p:nvPr>
            <p:ph idx="1" type="body"/>
          </p:nvPr>
        </p:nvSpPr>
        <p:spPr>
          <a:xfrm>
            <a:off x="4110825" y="1429000"/>
            <a:ext cx="3832200" cy="16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-0.236  -0.071   0.132   0.000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-0.371   WALL   -0.509   0.000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-0.479  -0.567  -0.638  -0.822</a:t>
            </a:r>
            <a:endParaRPr/>
          </a:p>
        </p:txBody>
      </p:sp>
      <p:sp>
        <p:nvSpPr>
          <p:cNvPr id="157" name="Google Shape;157;p26"/>
          <p:cNvSpPr txBox="1"/>
          <p:nvPr/>
        </p:nvSpPr>
        <p:spPr>
          <a:xfrm>
            <a:off x="438200" y="1449475"/>
            <a:ext cx="3292800" cy="1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Grid world: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  S    -    -    +1 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  -    X    -    -1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  -    -    -    L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Optimal policy estimation</a:t>
            </a:r>
            <a:endParaRPr/>
          </a:p>
        </p:txBody>
      </p:sp>
      <p:sp>
        <p:nvSpPr>
          <p:cNvPr id="163" name="Google Shape;163;p27"/>
          <p:cNvSpPr txBox="1"/>
          <p:nvPr/>
        </p:nvSpPr>
        <p:spPr>
          <a:xfrm>
            <a:off x="311700" y="1043425"/>
            <a:ext cx="8903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Given an environment, how do we determine the value function of the </a:t>
            </a:r>
            <a:r>
              <a:rPr i="1" lang="en" sz="1800">
                <a:solidFill>
                  <a:schemeClr val="dk2"/>
                </a:solidFill>
              </a:rPr>
              <a:t>optimal </a:t>
            </a:r>
            <a:r>
              <a:rPr lang="en" sz="1800">
                <a:solidFill>
                  <a:schemeClr val="dk2"/>
                </a:solidFill>
              </a:rPr>
              <a:t>policy?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code&quot;:&quot;\\begin{gather*}\n{\\text{Optimal}\\;\\text{value}\\;\\text{function:}\\;\\text{best}\\;\\text{achievable}\\;\\text{expected}\\;\\text{return}\\;\\text{at}\\;\\text{state}\\;\\text{s}}\\\\\n{V^{\\star}\\left(s\\right)=\\max_{\\pi}\\left(V^{\\pi}\\left(s\\right)\\right)}\\\\\n{\\text{Optimal}\\;\\text{Q}\\;\\text{function}:\\,\\text{best}\\;\\text{achievable}\\;\\text{expected}\\;\\text{return}\\;\\text{from}\\;\\text{state}\\;\\text{s}\\;\\text{after}\\;\\text{taking}\\;\\text{action}\\;\\text{a}\\text{}}\\\\\n{Q^{\\star}\\left(s,a\\right)=\\max_{\\pi}\\left(Q^{\\pi}\\left(s,a\\right)\\right)}\\\\\n{\\text{Optimal}\\;V\\,\\text{satisfies:}}\\\\\n{V^{\\star}\\left(s\\right)=\\max_{a}\\left(\\sum_{s^{\\prime}}^{}P\\left(\\giventhat{s^{\\prime}}{s,a}\\right)\\left[r\\left(s,a\\right)+\\gamma V^{\\star}\\left(s^{\\prime}\\right)\\right]\\right)}\\\\\n{\\text{which}\\;\\text{translates}\\;\\text{into}\\;\\text{the}\\;\\text{recursion}}\\\\\n{V_{k+1}^{\\star}\\left(s\\right)=\\max_{a}\\left(\\sum_{s^{\\prime}}^{}P\\left(\\giventhat{s^{\\prime}}{s,a}\\right)\\left[r\\left(s,a\\right)+\\gamma V_{k}^{\\star}\\left(s^{\\prime}\\right)\\right]\\right)}\\\\\n{\\text{starting}\\;\\text{with:}}\\\\\n{V_{0}\\left(s\\right)=0}\t\n\\end{gather*}&quot;,&quot;id&quot;:&quot;5&quot;,&quot;aid&quot;:null,&quot;backgroundColor&quot;:&quot;#FFFFFF&quot;,&quot;type&quot;:&quot;gather*&quot;,&quot;font&quot;:{&quot;color&quot;:&quot;#000000&quot;,&quot;family&quot;:&quot;Arial&quot;,&quot;size&quot;:12},&quot;ts&quot;:1781221693436,&quot;cs&quot;:&quot;80VyhHXu/rDidpk68cQ+Yg==&quot;,&quot;size&quot;:{&quot;width&quot;:705.5,&quot;height&quot;:331}}" id="164" name="Google Shape;16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2780" y="1520300"/>
            <a:ext cx="6719888" cy="3152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7"/>
          <p:cNvSpPr txBox="1"/>
          <p:nvPr/>
        </p:nvSpPr>
        <p:spPr>
          <a:xfrm>
            <a:off x="6530425" y="2571750"/>
            <a:ext cx="2505900" cy="1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No more averaging actions from a policy. Pick the best action using current estimate of V. Ultimately V will settle into the Value function for the optimal policy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Optimal policy estimation</a:t>
            </a:r>
            <a:endParaRPr/>
          </a:p>
        </p:txBody>
      </p:sp>
      <p:sp>
        <p:nvSpPr>
          <p:cNvPr id="171" name="Google Shape;171;p28"/>
          <p:cNvSpPr txBox="1"/>
          <p:nvPr/>
        </p:nvSpPr>
        <p:spPr>
          <a:xfrm>
            <a:off x="341525" y="1213600"/>
            <a:ext cx="8175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is the optimal policy?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font&quot;:{&quot;size&quot;:12,&quot;family&quot;:&quot;Arial&quot;,&quot;color&quot;:&quot;#000000&quot;},&quot;aid&quot;:null,&quot;backgroundColorModified&quot;:false,&quot;type&quot;:&quot;gather*&quot;,&quot;backgroundColor&quot;:&quot;#FFFFFF&quot;,&quot;id&quot;:&quot;5&quot;,&quot;code&quot;:&quot;\\begin{gather*}\n{\\text{Optimal}\\;\\text{policy}\\;\\text{is}\\;\\text{the}\\;\\text{greedy}\\;\\text{policy}}\\\\\n{\\pi^{\\star}\\left(s\\right)=\\arg\\,\\max_{a}\\left(\\sum_{s^{\\prime}}^{}P\\left(\\giventhat{s^{\\prime}}{s,a}\\right)\\left[r\\left(s,a\\right)+\\gamma V_{k}^{\\star}\\left(s^{\\prime}\\right)\\right]\\right)}\t\n\\end{gather*}&quot;,&quot;ts&quot;:1781178096334,&quot;cs&quot;:&quot;MFvO9e5HjSzIg1cIAU313Q==&quot;,&quot;size&quot;:{&quot;width&quot;:447.6666666666667,&quot;height&quot;:80}}"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0825" y="2295120"/>
            <a:ext cx="4264025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Optimal policy estimation: Simulation</a:t>
            </a:r>
            <a:endParaRPr/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Optimal values: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0.960   0.980   1.000   0.000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0.941   WALL    0.980   0.000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0.921   0.941   0.960   0.941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Greedy policy: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R    R    R    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U    X    U    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  U    R    U    L 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Optimal policy estimation using Q function</a:t>
            </a:r>
            <a:endParaRPr/>
          </a:p>
        </p:txBody>
      </p:sp>
      <p:sp>
        <p:nvSpPr>
          <p:cNvPr id="184" name="Google Shape;184;p30"/>
          <p:cNvSpPr txBox="1"/>
          <p:nvPr/>
        </p:nvSpPr>
        <p:spPr>
          <a:xfrm>
            <a:off x="401100" y="1044825"/>
            <a:ext cx="8175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We estimate the Value function of the optimal policy, which then gives us the optimal policy. We can do the same using the Q function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 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gather*&quot;,&quot;font&quot;:{&quot;color&quot;:&quot;#000000&quot;,&quot;family&quot;:&quot;Arial&quot;,&quot;size&quot;:12},&quot;backgroundColor&quot;:&quot;#FFFFFF&quot;,&quot;code&quot;:&quot;\\begin{gather*}\n{\\text{Optimal}\\;\\text{Q}\\;\\text{function}:\\,\\text{best}\\;\\text{achievable}\\;\\text{expected}\\;\\text{return}\\;\\text{from}\\;\\text{state}\\;\\text{s}\\;\\text{after}\\;\\text{taking}\\;\\text{action}\\;\\text{a}\\text{}}\\\\\n{Q^{\\star}\\left(s,a\\right)=\\max_{\\pi}\\left(Q^{\\pi}\\left(s,a\\right)\\right)}\\\\\n{\\text{The}\\;\\text{optimal}\\;\\text{Q}\\;\\text{function}\\;\\text{satisfies:}}\\\\\n{Q^{\\star}\\left(s,a\\right)=\\sum_{s^{\\prime}}^{}P\\left(\\giventhat{s^{\\prime}}{s,a}\\right)\\left[r\\left(s,a\\right)+\\gamma \\arg \\,\\max_{a^{\\prime}}\\left(Q^{\\star}\\left(s^{\\prime},a^{\\prime}\\right)\\right)\\right]}\\\\\n{\\text{Intuition:}\\;\\text{The}\\;\\text{immediate}\\;\\text{value}\\;\\text{of}\\;\\text{taking}\\;\\text{an}\\;\\text{action}\\;\\text{in}\\;\\text{state}\\;\\text{s}}\\\\\n{=\\text{immediate}\\;\\text{reward}\\;\\text{+}\\;\\text{discount}\\text{ed}\\;\\text{value}\\;\\text{of}\\;\\text{best}\\;\\text{action}\\;\\text{in}\\;\\text{the}\\;\\text{next}\\;\\text{state}}\\\\\n{\\text{This}\\;\\text{translates}\\;\\text{into}\\;\\text{the}\\;\\text{recursion:}}\\\\\n{Q_{k+1}^{\\star}\\left(s,a\\right)=\\sum_{s^{\\prime}}^{}P\\left(\\giventhat{s^{\\prime}}{s,a}\\right)\\left[r\\left(s,a\\right)+\\gamma \\arg \\,\\max_{a^{\\prime}}\\left(Q_{k}^{\\star}\\left(s^{\\prime},a^{\\prime}\\right)\\right)\\right]}\\\\\n{\\text{Now}\\;\\text{the}\\;\\text{optimal}\\;\\text{policy}\\;\\text{is}\\;\\text{simply:}}\\\\\n{\\arg \\max_{a}\\left(Q^{\\star}\\left(s,a\\right)\\right)}\t\n\\end{gather*}&quot;,&quot;backgroundColorModified&quot;:false,&quot;id&quot;:&quot;5&quot;,&quot;aid&quot;:null,&quot;ts&quot;:1781221535337,&quot;cs&quot;:&quot;zt+iuxtjphC+AUT2ZcHHQw==&quot;,&quot;size&quot;:{&quot;width&quot;:705.5,&quot;height&quot;:316.5}}"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2056" y="1877700"/>
            <a:ext cx="6719888" cy="3014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problems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Estimate value function for different values of gamma (0.5, 0.9). How does the value function change? Does the optimal policy change?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Change the reward at (1,3) = -0.5, and step_reward = -0.5. Does the optimal policy change? Why?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stochastic transition: Modify value iteration so that intended actions succeed with probability 0.8 and slip sideways with probability 0.1 each.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