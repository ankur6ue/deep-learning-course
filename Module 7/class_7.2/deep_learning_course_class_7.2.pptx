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49613A-2DCC-4D57-9D93-BC7A9F9A7943}">
  <a:tblStyle styleId="{5F49613A-2DCC-4D57-9D93-BC7A9F9A79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A5CA8FC-7503-4554-8BA5-C6196695F77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572e8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572e8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2c63d4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2c63d4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572e8f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572e8f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d2ee7fd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d2ee7fd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2ee7fd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2ee7fd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2ee7fd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2ee7fd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59dca7d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59dca7d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59dca7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d59dca7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59dca7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59dca7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59dca7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59dca7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d59dca7d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d59dca7d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59dca7d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d59dca7d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d59dca7d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d59dca7d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59dca7d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d59dca7d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59dca7d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d59dca7d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d59dca7d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d59dca7d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b922384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b922384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82c63d41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82c63d41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pinningup.openai.com/en/latest/spinningup/rl_intro.html" TargetMode="External"/><Relationship Id="rId4" Type="http://schemas.openxmlformats.org/officeDocument/2006/relationships/hyperlink" Target="https://www.youtube.com/watch?v=lfHX2hHRMVQ&amp;list=PLzuuYNsE1EZAXYR4FJ75jcJseBmo4KQ9-&amp;index=2" TargetMode="External"/><Relationship Id="rId5" Type="http://schemas.openxmlformats.org/officeDocument/2006/relationships/hyperlink" Target="https://www.youtube.com/watch?v=Nd1-UUMVfz4&amp;list=PLzuuYNsE1EZAXYR4FJ75jcJseBmo4KQ9-&amp;index=3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Agents, Environment, Rewards, Exploration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7.2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outline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62875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{5F49613A-2DCC-4D57-9D93-BC7A9F9A7943}</a:tableStyleId>
              </a:tblPr>
              <a:tblGrid>
                <a:gridCol w="710750"/>
                <a:gridCol w="3159225"/>
                <a:gridCol w="4182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Class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Title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Main output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1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Bandits, MDPs, Returns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agent/environment/reward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2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 Functions and Bellman Equations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Learning to solve a reinforcement learning problems by iteratively estimating the 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 of a state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3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Monte Carlo, TD, SARSA, Q-Learning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On-policy vs off-policy, sampled experience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4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Policy Gradients and REINFORCE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log-prob weighted by 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5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Actor-Critic and PPO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advantage, critic, clipping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6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RLHF and GRPO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PPO/GRPO to LLM training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and references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Agenda: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state-value function V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action-value function Q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Bellman expectation equation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Bellman optimality equation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policy evaluation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value iteration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References: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https://spinningup.openai.com/en/latest/spinningup/rl_intro.html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David Silver lectures: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Lectures </a:t>
            </a:r>
            <a:r>
              <a:rPr lang="en" u="sng">
                <a:solidFill>
                  <a:schemeClr val="hlink"/>
                </a:solidFill>
                <a:hlinkClick r:id="rId4"/>
              </a:rPr>
              <a:t>2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5"/>
              </a:rPr>
              <a:t>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Agent-Environment loop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state</a:t>
            </a:r>
            <a:r>
              <a:rPr lang="en"/>
              <a:t>:  what the agent sees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action</a:t>
            </a:r>
            <a:r>
              <a:rPr lang="en"/>
              <a:t>: what the agent does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reward</a:t>
            </a:r>
            <a:r>
              <a:rPr lang="en"/>
              <a:t>: scalar feedback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next state</a:t>
            </a:r>
            <a:r>
              <a:rPr lang="en"/>
              <a:t>: what happens after the action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Episodes and Trajectories	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197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Episode</a:t>
            </a:r>
            <a:r>
              <a:rPr lang="en"/>
              <a:t>: Full (State, Action) sequence until some end state (eg., game over)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id&quot;:&quot;1&quot;,&quot;backgroundColorModified&quot;:false,&quot;code&quot;:&quot;$$\\tau:\\left(S_{0},A_{0},R_{1},S_{1},A_{1},R_{2},S_{2},A_{2}...R_{T},S_{T},A_{T}\\right)$$&quot;,&quot;type&quot;:&quot;$$&quot;,&quot;backgroundColor&quot;:&quot;#FFFFFF&quot;,&quot;font&quot;:{&quot;color&quot;:&quot;#595959&quot;,&quot;family&quot;:&quot;Arial&quot;,&quot;size&quot;:18},&quot;ts&quot;:1780364900662,&quot;cs&quot;:&quot;AQg7G1SdbIcPXaVXvLb15Q==&quot;,&quot;size&quot;:{&quot;width&quot;:572,&quot;height&quot;:28.5}}"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50" y="1769000"/>
            <a:ext cx="5448300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595959&quot;,&quot;family&quot;:&quot;Arial&quot;,&quot;size&quot;:18},&quot;code&quot;:&quot;\\begin{gather*}\n{\\text{For}\\;\\text{a}\\;\\text{finite}\\;\\text{episode:}}\\\\\n{G_{t}=R_{t+1}+\\gamma R_{t+2}+\\gamma^{2}R_{t+3}+...+\\gamma^{T}R_{t+T+1}}\t\n\\end{gather*}&quot;,&quot;type&quot;:&quot;gather*&quot;,&quot;backgroundColorModified&quot;:false,&quot;backgroundColor&quot;:&quot;#FFFFFF&quot;,&quot;id&quot;:&quot;1&quot;,&quot;ts&quot;:1780365583001,&quot;cs&quot;:&quot;bt1SEurw+Ql1EbeBvlVsjg==&quot;,&quot;size&quot;:{&quot;width&quot;:548,&quot;height&quot;:67}}"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500" y="3236676"/>
            <a:ext cx="4370875" cy="5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45475" y="2289575"/>
            <a:ext cx="8197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start in a state, take an action, get a reward and go to the next state..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Return vs Reward</a:t>
            </a:r>
            <a:r>
              <a:rPr lang="en"/>
              <a:t>. You get a reward potentially after every action. Return is the total (potentially discounted) reward for an episode. Goal is to maximise reward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17025" y="3830175"/>
            <a:ext cx="81978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start in a state, take an action, get a reward and go to the next state..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Return vs Reward</a:t>
            </a:r>
            <a:r>
              <a:rPr lang="en"/>
              <a:t>. You get a reward potentially after every action. Return is the total (potentially discounted) reward for an episode. Goal is to maximise reward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policy defines a probability distribution over actions at a state</a:t>
            </a:r>
            <a:endParaRPr/>
          </a:p>
        </p:txBody>
      </p:sp>
      <p:pic>
        <p:nvPicPr>
          <p:cNvPr descr="{&quot;type&quot;:&quot;gather*&quot;,&quot;aid&quot;:null,&quot;backgroundColor&quot;:&quot;#FFFFFF&quot;,&quot;backgroundColorModified&quot;:false,&quot;code&quot;:&quot;\\begin{gather*}\n{\\pi\\left(a|s\\right)=P\\left(A_{t}=a|s_{t}=s\\right)}\\\\\n{\\text{For}\\;\\text{deep}\\;\\text{learning},\\,\\text{the}\\;\\text{neural}\\;\\text{network}\\;\\text{is}\\;\\text{the}\\;\\text{policy}}\\\\\n{\\text{It}\\;\\text{outputs}\\;\\text{a}\\;\\text{distribution}\\;\\text{over}\\;\\text{actions}}\\\\\n{\\pi_{\\theta}\\left(\\giventhat{y_{t}}{x,y_{&lt;t}}\\right)}\t\n\\end{gather*}&quot;,&quot;id&quot;:&quot;2&quot;,&quot;font&quot;:{&quot;size&quot;:18,&quot;family&quot;:&quot;Arial&quot;,&quot;color&quot;:&quot;#595959&quot;},&quot;ts&quot;:1780366358969,&quot;cs&quot;:&quot;b0AA7aUpo78gV/jFRyOjhg==&quot;,&quot;size&quot;:{&quot;width&quot;:615.5,&quot;height&quot;:138}}"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800" y="2072400"/>
            <a:ext cx="5862638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Discounted returns: Recursion</a:t>
            </a:r>
            <a:endParaRPr/>
          </a:p>
        </p:txBody>
      </p:sp>
      <p:pic>
        <p:nvPicPr>
          <p:cNvPr descr="{&quot;aid&quot;:null,&quot;font&quot;:{&quot;family&quot;:&quot;Arial&quot;,&quot;size&quot;:15,&quot;color&quot;:&quot;#595959&quot;},&quot;code&quot;:&quot;\\begin{gather*}\n{\\text{For}\\;\\text{a}\\;\\text{finite}\\;\\text{episode:}}\\\\\n{\\text{the}\\;\\text{episode}\\;\\text{ends}\\;\\text{in}\\;\\text{T}\\;\\text{steps}}\\\\\n{G_{t}=R_{t+1}+\\gamma R_{t+2}+\\gamma^{2}R_{t+3}+...+\\gamma^{T}R_{t+T+1}}\\\\\n{\\text{Return}\\;\\text{if}\\;\\text{I}\\;\\text{start}\\;\\text{in}\\;S_{t+1}}\\\\\n{G_{t+1}=R_{t+2}+\\gamma^{1}R_{t+3}+...+\\gamma^{T-1}R_{t+T+1}}\\\\\n{\\text{Therefore,}}\\\\\n{G_{t}=R_{t+1}+\\gamma G_{t+1}}\t\n\\end{gather*}&quot;,&quot;id&quot;:&quot;1&quot;,&quot;type&quot;:&quot;gather*&quot;,&quot;backgroundColor&quot;:&quot;#FFFFFF&quot;,&quot;backgroundColorModified&quot;:false,&quot;ts&quot;:1781092856009,&quot;cs&quot;:&quot;+oDNkB+xMAThuDF1SKEjXg==&quot;,&quot;size&quot;:{&quot;width&quot;:456.3333333333333,&quot;height&quot;:211.33333333333334}}"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821" y="1243926"/>
            <a:ext cx="4346575" cy="20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523300" y="3637475"/>
            <a:ext cx="77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from now = reward from next step + discounted return from the next state onward.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function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reward, if we start from state S, then follow the policy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Value function depends on the policy</a:t>
            </a:r>
            <a:endParaRPr/>
          </a:p>
        </p:txBody>
      </p:sp>
      <p:pic>
        <p:nvPicPr>
          <p:cNvPr descr="{&quot;backgroundColorModified&quot;:false,&quot;type&quot;:&quot;gather*&quot;,&quot;code&quot;:&quot;\\begin{gather*}\n{\\text{Value}\\;\\text{function:}\\;\\text{How}\\;\\text{good}\\;\\text{is}\\;\\text{it}\\;\\text{to}\\;\\text{be}\\;\\text{in}\\;\\text{a}\\;\\text{state}\\;\\text{under}\\;\\text{a}\\;\\text{policy}\\;\\pi}\\\\\n{V^{\\pi}=E\\left[\\giventhat{G_{t}}{S_{t}=s}\\right]}\\\\\n{}\t\n\\end{gather*}&quot;,&quot;font&quot;:{&quot;color&quot;:&quot;#595959&quot;,&quot;family&quot;:&quot;Arial&quot;,&quot;size&quot;:18},&quot;backgroundColor&quot;:&quot;#FFFFFF&quot;,&quot;aid&quot;:null,&quot;id&quot;:&quot;1&quot;,&quot;ts&quot;:1781093438278,&quot;cs&quot;:&quot;JqCqauqfLL8Nj/fndtBH+g==&quot;,&quot;size&quot;:{&quot;width&quot;:764,&quot;height&quot;:64}}"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00" y="2266950"/>
            <a:ext cx="6335600" cy="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70525" y="3108700"/>
            <a:ext cx="8520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070"/>
              <a:t>Example:</a:t>
            </a:r>
            <a:endParaRPr b="1" sz="10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070"/>
              <a:t>B _ _ _ _ E</a:t>
            </a:r>
            <a:endParaRPr sz="10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070"/>
              <a:t>Reward: 1 for reaching E, 0 everywhere else, a penalty of -0.1 for taking a step</a:t>
            </a:r>
            <a:endParaRPr sz="10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070"/>
              <a:t>Policy 1:</a:t>
            </a:r>
            <a:r>
              <a:rPr lang="en" sz="1070"/>
              <a:t> Always move right. V1 =  0.5 0.6 0.7 0.8 0.9 0 &lt;- convention. Reward at the </a:t>
            </a:r>
            <a:r>
              <a:rPr lang="en" sz="1070"/>
              <a:t>terminal</a:t>
            </a:r>
            <a:r>
              <a:rPr lang="en" sz="1070"/>
              <a:t> state = 0, as episode terminates</a:t>
            </a:r>
            <a:endParaRPr sz="10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070"/>
              <a:t>Policy 2:</a:t>
            </a:r>
            <a:r>
              <a:rPr lang="en" sz="1070"/>
              <a:t> Take a random step. V2: much lower, as it will take more steps to reach E</a:t>
            </a:r>
            <a:endParaRPr sz="107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070"/>
              <a:t>So, V1 &gt; V2. What if we didn’t have the step penalty? </a:t>
            </a:r>
            <a:endParaRPr sz="11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function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18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function is a function of state and 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Q(s,a): The value of taking action </a:t>
            </a:r>
            <a:r>
              <a:rPr i="1" lang="en"/>
              <a:t>a</a:t>
            </a:r>
            <a:r>
              <a:rPr lang="en"/>
              <a:t> in state </a:t>
            </a:r>
            <a:r>
              <a:rPr i="1" lang="en"/>
              <a:t>s</a:t>
            </a:r>
            <a:r>
              <a:rPr lang="en"/>
              <a:t>, then follow policy afterwards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id&quot;:&quot;2&quot;,&quot;font&quot;:{&quot;family&quot;:&quot;Arial&quot;,&quot;color&quot;:&quot;#595959&quot;,&quot;size&quot;:18},&quot;backgroundColor&quot;:&quot;#FFFFFF&quot;,&quot;code&quot;:&quot;\\begin{gather*}\n{V^{\\pi}\\left(s,a\\right)=\\sum_{a}^{}\\pi\\left(\\giventhat{a}{s}\\right)Q^{\\pi}\\left(s,a\\right)}\\\\\n{}\t\n\\end{gather*}&quot;,&quot;backgroundColorModified&quot;:false,&quot;type&quot;:&quot;gather*&quot;,&quot;ts&quot;:1781094250744,&quot;cs&quot;:&quot;fFbJOjB5D+l9bnoBQelMrw==&quot;,&quot;size&quot;:{&quot;width&quot;:374.3333333333333,&quot;height&quot;:56.666666666666664}}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350" y="2180350"/>
            <a:ext cx="3565525" cy="539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21"/>
          <p:cNvGraphicFramePr/>
          <p:nvPr/>
        </p:nvGraphicFramePr>
        <p:xfrm>
          <a:off x="875925" y="362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{DA5CA8FC-7503-4554-8BA5-C6196695F77C}</a:tableStyleId>
              </a:tblPr>
              <a:tblGrid>
                <a:gridCol w="2929900"/>
                <a:gridCol w="2929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V(s)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good a state is under a policy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Q(s,a)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good is an action a in state s, and then follow the policy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 function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Reinforcement learning on LLMs uses advantages. We’ll come back to it later</a:t>
            </a:r>
            <a:endParaRPr/>
          </a:p>
        </p:txBody>
      </p:sp>
      <p:pic>
        <p:nvPicPr>
          <p:cNvPr descr="{&quot;backgroundColor&quot;:&quot;#FFFFFF&quot;,&quot;backgroundColorModified&quot;:false,&quot;code&quot;:&quot;\\begin{gather*}\n{A^{\\pi}\\left(s,a\\right)=Q^{\\pi}\\left(s,a\\right)-V^{\\pi}\\left(s\\right)}\\\\\n{\\text{if}\\;A\\left(s,a\\right)&gt;0,\\,\\text{action}\\;\\text{a}\\;\\text{is}\\;\\text{better}\\;\\text{than}\\;\\text{average},\\,\\text{and}\\;\\text{vice}\\;\\text{versa}}\t\n\\end{gather*}&quot;,&quot;aid&quot;:null,&quot;id&quot;:&quot;3&quot;,&quot;font&quot;:{&quot;size&quot;:18,&quot;family&quot;:&quot;Arial&quot;,&quot;color&quot;:&quot;#595959&quot;},&quot;type&quot;:&quot;gather*&quot;,&quot;ts&quot;:1781129857174,&quot;cs&quot;:&quot;69EOmYMUOhTYlRarugmpGg==&quot;,&quot;size&quot;:{&quot;width&quot;:741,&quot;height&quot;:65}}"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50" y="1761500"/>
            <a:ext cx="70580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Estimating the value function: Bellman recursion</a:t>
            </a:r>
            <a:endParaRPr/>
          </a:p>
        </p:txBody>
      </p:sp>
      <p:pic>
        <p:nvPicPr>
          <p:cNvPr descr="{&quot;backgroundColor&quot;:&quot;#FFFFFF&quot;,&quot;code&quot;:&quot;$$V^{\\pi}\\left(s\\right)=\\sum_{a}^{}\\pi\\left(\\giventhat{a}{s}\\right)\\sum_{s^{\\prime}}^{}P\\left(\\giventhat{s^{\\prime}}{s,a}\\right)\\left[r\\left(s,a\\right)+\\gamma V^{\\pi}\\left(s^{\\prime}\\right)\\right]$$&quot;,&quot;font&quot;:{&quot;size&quot;:22.5,&quot;color&quot;:&quot;#000000&quot;,&quot;family&quot;:&quot;Arial&quot;},&quot;id&quot;:&quot;4&quot;,&quot;backgroundColorModified&quot;:false,&quot;type&quot;:&quot;$$&quot;,&quot;aid&quot;:null,&quot;ts&quot;:1781130559714,&quot;cs&quot;:&quot;P/iE5aAE8OAVb99jAdyTLA==&quot;,&quot;size&quot;:{&quot;width&quot;:844.5301480314961,&quot;height&quot;:73.21786036745405}}"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50" y="2126225"/>
            <a:ext cx="8044150" cy="69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37725" y="2887225"/>
            <a:ext cx="146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Value at state 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1725950" y="2887213"/>
            <a:ext cx="146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Sum over actions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2499475" y="1477425"/>
            <a:ext cx="93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Policy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4213200" y="1131700"/>
            <a:ext cx="161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State transition dynamics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5607250" y="2748775"/>
            <a:ext cx="170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Reward of taking action </a:t>
            </a:r>
            <a:r>
              <a:rPr i="1" lang="en" sz="1800">
                <a:solidFill>
                  <a:schemeClr val="dk2"/>
                </a:solidFill>
              </a:rPr>
              <a:t>a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7127100" y="1131700"/>
            <a:ext cx="1705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Discounted value of the new state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3061050" y="2912863"/>
            <a:ext cx="146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Sum over next states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 equation for Q</a:t>
            </a:r>
            <a:endParaRPr/>
          </a:p>
        </p:txBody>
      </p:sp>
      <p:pic>
        <p:nvPicPr>
          <p:cNvPr descr="{&quot;backgroundColorModified&quot;:false,&quot;code&quot;:&quot;\\begin{lalign*}\n&amp;{Q^{\\pi}\\left(s,a\\right)=\\sum_{s^{\\prime}}^{}P\\left(\\giventhat{s^{\\prime}}{s,a}\\right)\\left[r\\left(s,a\\right)+\\gamma V^{\\pi}\\left(s^{\\prime}\\right)\\right]}\\\\\n&amp;{=\\,\\sum_{s^{\\prime}}^{}P\\left(\\giventhat{s^{\\prime}}{s,a}\\right)\\left[r\\left(s,a\\right)+\\gamma \\sum_{a^{\\prime}}^{}\\pi\\left(\\giventhat{a^{\\prime}}{s^{\\prime}}\\right)Q\\left(s^{\\prime},a^{\\prime}\\right)\\right]}\\\\\n&amp;{}\t\n\\end{lalign*}&quot;,&quot;type&quot;:&quot;lalign*&quot;,&quot;font&quot;:{&quot;color&quot;:&quot;#000000&quot;,&quot;size&quot;:18,&quot;family&quot;:&quot;Arial&quot;},&quot;aid&quot;:null,&quot;id&quot;:&quot;4&quot;,&quot;backgroundColor&quot;:&quot;#FFFFFF&quot;,&quot;ts&quot;:1781131055233,&quot;cs&quot;:&quot;4RE3UCfUIRO3Q1CgV0T0PA==&quot;,&quot;size&quot;:{&quot;width&quot;:638.5,&quot;height&quot;:154}}"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53" y="1332400"/>
            <a:ext cx="6081713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360400" y="2925138"/>
            <a:ext cx="146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Sum over next states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621000" y="2687825"/>
            <a:ext cx="9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policy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5636775" y="2687825"/>
            <a:ext cx="250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 of future actions from next state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Iterative value estimation</a:t>
            </a:r>
            <a:endParaRPr/>
          </a:p>
        </p:txBody>
      </p:sp>
      <p:sp>
        <p:nvSpPr>
          <p:cNvPr id="148" name="Google Shape;148;p25"/>
          <p:cNvSpPr txBox="1"/>
          <p:nvPr/>
        </p:nvSpPr>
        <p:spPr>
          <a:xfrm>
            <a:off x="341525" y="1213600"/>
            <a:ext cx="81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Given a policy, estimate the value of each state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Technique: apply bellman recursion repeatedly, until the values settled down.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type&quot;:&quot;gather*&quot;,&quot;code&quot;:&quot;\\begin{gather*}\n{V_{k+1}^{\\pi}\\left(s\\right)=\\sum_{a}^{}\\pi\\left(\\giventhat{a}{s}\\right)\\sum_{s^{\\prime}}^{}P\\left(\\giventhat{s^{\\prime}}{s,a}\\right)\\left[r\\left(s,a\\right)+\\gamma V_{k}^{\\pi}\\left(s^{\\prime}\\right)\\right]}\\\\\n{\\text{starting}\\;\\text{with:}}\\\\\n{V_{0}\\left(s\\right)=0}\t\n\\end{gather*}&quot;,&quot;backgroundColor&quot;:&quot;#FFFFFF&quot;,&quot;backgroundColorModified&quot;:false,&quot;id&quot;:&quot;4&quot;,&quot;font&quot;:{&quot;family&quot;:&quot;Arial&quot;,&quot;size&quot;:15,&quot;color&quot;:&quot;#000000&quot;},&quot;aid&quot;:null,&quot;ts&quot;:1781131597738,&quot;cs&quot;:&quot;u/qXK2I4YFeWFr2mAQLh/w==&quot;,&quot;size&quot;:{&quot;width&quot;:582.3779503937008,&quot;height&quot;:113.67715905511808}}"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649" y="2247952"/>
            <a:ext cx="5547150" cy="10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311700" y="3255500"/>
            <a:ext cx="7062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At first, all values are zero.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Then states near terminal rewards get meaningful values.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Then states one step farther away get meaningful values.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Then states even farther away get meaningful values.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6692100" y="4755100"/>
            <a:ext cx="24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value_iteration.py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Iterative value estimation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4110825" y="1429000"/>
            <a:ext cx="3832200" cy="16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-0.236  -0.071   0.132   0.000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-0.371   WALL   -0.509   0.000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-0.479  -0.567  -0.638  -0.822</a:t>
            </a:r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438200" y="1449475"/>
            <a:ext cx="3292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Grid world: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 S    -    -    +1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 -    X    -    -1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 -    -    -    L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policy estimation</a:t>
            </a:r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311700" y="1043425"/>
            <a:ext cx="890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Given an environment, how do we determine the value function of the </a:t>
            </a:r>
            <a:r>
              <a:rPr i="1" lang="en" sz="1800">
                <a:solidFill>
                  <a:schemeClr val="dk2"/>
                </a:solidFill>
              </a:rPr>
              <a:t>optimal </a:t>
            </a:r>
            <a:r>
              <a:rPr lang="en" sz="1800">
                <a:solidFill>
                  <a:schemeClr val="dk2"/>
                </a:solidFill>
              </a:rPr>
              <a:t>policy?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backgroundColorModified&quot;:false,&quot;code&quot;:&quot;\\begin{gather*}\n{\\text{Optimal}\\;\\text{value}\\;\\text{function:}\\;\\text{best}\\;\\text{achievable}\\;\\text{expected}\\;\\text{return}\\;\\text{at}\\;\\text{state}\\;\\text{s}}\\\\\n{V^{\\star}\\left(s\\right)=\\max_{\\pi}\\left(V^{\\pi}\\left(s\\right)\\right)}\\\\\n{\\text{Optimal}\\;\\text{Q}\\;\\text{function}:\\,\\text{best}\\;\\text{achievable}\\;\\text{expected}\\;\\text{return}\\;\\text{from}\\;\\text{state}\\;\\text{s}\\;\\text{after}\\;\\text{taking}\\;\\text{action}\\;\\text{a}\\text{}}\\\\\n{Q^{\\star}\\left(s,a\\right)=\\max_{\\pi}\\left(Q^{\\pi}\\left(s,a\\right)\\right)}\\\\\n{\\text{Optimal}\\;V\\,\\text{satisfies:}}\\\\\n{V^{\\star}\\left(s\\right)=\\max_{a}\\left(\\sum_{s^{\\prime}}^{}P\\left(\\giventhat{s^{\\prime}}{s,a}\\right)\\left[r\\left(s,a\\right)+\\gamma V^{\\star}\\left(s^{\\prime}\\right)\\right]\\right)}\\\\\n{\\text{which}\\;\\text{translates}\\;\\text{into}\\;\\text{the}\\;\\text{recursion}}\\\\\n{V_{k+1}^{\\star}\\left(s\\right)=\\max_{a}\\left(\\sum_{s^{\\prime}}^{}P\\left(\\giventhat{s^{\\prime}}{s,a}\\right)\\left[r\\left(s,a\\right)+\\gamma V_{k}^{\\star}\\left(s^{\\prime}\\right)\\right]\\right)}\\\\\n{\\text{starting}\\;\\text{with:}}\\\\\n{V_{0}\\left(s\\right)=0}\t\n\\end{gather*}&quot;,&quot;id&quot;:&quot;5&quot;,&quot;aid&quot;:null,&quot;backgroundColor&quot;:&quot;#FFFFFF&quot;,&quot;type&quot;:&quot;gather*&quot;,&quot;font&quot;:{&quot;color&quot;:&quot;#000000&quot;,&quot;family&quot;:&quot;Arial&quot;,&quot;size&quot;:12},&quot;ts&quot;:1781221693436,&quot;cs&quot;:&quot;80VyhHXu/rDidpk68cQ+Yg==&quot;,&quot;size&quot;:{&quot;width&quot;:705.5,&quot;height&quot;:331}}"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780" y="1520300"/>
            <a:ext cx="6719888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6530425" y="2571750"/>
            <a:ext cx="2505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 more averaging actions from a policy. Pick the best action using current estimate of V. Ultimately V will settle into the Value function for the optimal policy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policy estimation</a:t>
            </a:r>
            <a:endParaRPr/>
          </a:p>
        </p:txBody>
      </p:sp>
      <p:sp>
        <p:nvSpPr>
          <p:cNvPr id="172" name="Google Shape;172;p28"/>
          <p:cNvSpPr txBox="1"/>
          <p:nvPr/>
        </p:nvSpPr>
        <p:spPr>
          <a:xfrm>
            <a:off x="341525" y="1213600"/>
            <a:ext cx="817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the optimal policy?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font&quot;:{&quot;size&quot;:12,&quot;family&quot;:&quot;Arial&quot;,&quot;color&quot;:&quot;#000000&quot;},&quot;aid&quot;:null,&quot;backgroundColorModified&quot;:false,&quot;type&quot;:&quot;gather*&quot;,&quot;backgroundColor&quot;:&quot;#FFFFFF&quot;,&quot;id&quot;:&quot;5&quot;,&quot;code&quot;:&quot;\\begin{gather*}\n{\\text{Optimal}\\;\\text{policy}\\;\\text{is}\\;\\text{the}\\;\\text{greedy}\\;\\text{policy}}\\\\\n{\\pi^{\\star}\\left(s\\right)=\\arg\\,\\max_{a}\\left(\\sum_{s^{\\prime}}^{}P\\left(\\giventhat{s^{\\prime}}{s,a}\\right)\\left[r\\left(s,a\\right)+\\gamma V_{k}^{\\star}\\left(s^{\\prime}\\right)\\right]\\right)}\t\n\\end{gather*}&quot;,&quot;ts&quot;:1781178096334,&quot;cs&quot;:&quot;MFvO9e5HjSzIg1cIAU313Q==&quot;,&quot;size&quot;:{&quot;width&quot;:447.6666666666667,&quot;height&quot;:80}}"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825" y="2295120"/>
            <a:ext cx="426402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policy estimation: Simulation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Optimal values: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0.960   0.980   1.000   0.000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0.941   WALL    0.980   0.000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0.921   0.941   0.960   0.941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Greedy policy: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R    R    R    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U    X    U    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U    R    U    L </a:t>
            </a:r>
            <a:endParaRPr/>
          </a:p>
        </p:txBody>
      </p:sp>
      <p:sp>
        <p:nvSpPr>
          <p:cNvPr id="180" name="Google Shape;180;p29"/>
          <p:cNvSpPr txBox="1"/>
          <p:nvPr/>
        </p:nvSpPr>
        <p:spPr>
          <a:xfrm>
            <a:off x="421200" y="4610425"/>
            <a:ext cx="436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optimal_policy_iteration.py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policy estimation using Q function</a:t>
            </a:r>
            <a:endParaRPr/>
          </a:p>
        </p:txBody>
      </p:sp>
      <p:sp>
        <p:nvSpPr>
          <p:cNvPr id="186" name="Google Shape;186;p30"/>
          <p:cNvSpPr txBox="1"/>
          <p:nvPr/>
        </p:nvSpPr>
        <p:spPr>
          <a:xfrm>
            <a:off x="401100" y="1044825"/>
            <a:ext cx="81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estimate the Value function of the optimal policy, which then gives us the optimal policy. We can do the same using the Q function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type&quot;:&quot;gather*&quot;,&quot;font&quot;:{&quot;color&quot;:&quot;#000000&quot;,&quot;family&quot;:&quot;Arial&quot;,&quot;size&quot;:12},&quot;backgroundColor&quot;:&quot;#FFFFFF&quot;,&quot;code&quot;:&quot;\\begin{gather*}\n{\\text{Optimal}\\;\\text{Q}\\;\\text{function}:\\,\\text{best}\\;\\text{achievable}\\;\\text{expected}\\;\\text{return}\\;\\text{from}\\;\\text{state}\\;\\text{s}\\;\\text{after}\\;\\text{taking}\\;\\text{action}\\;\\text{a}\\text{}}\\\\\n{Q^{\\star}\\left(s,a\\right)=\\max_{\\pi}\\left(Q^{\\pi}\\left(s,a\\right)\\right)}\\\\\n{\\text{The}\\;\\text{optimal}\\;\\text{Q}\\;\\text{function}\\;\\text{satisfies:}}\\\\\n{Q^{\\star}\\left(s,a\\right)=\\sum_{s^{\\prime}}^{}P\\left(\\giventhat{s^{\\prime}}{s,a}\\right)\\left[r\\left(s,a\\right)+\\gamma \\arg \\,\\max_{a^{\\prime}}\\left(Q^{\\star}\\left(s^{\\prime},a^{\\prime}\\right)\\right)\\right]}\\\\\n{\\text{Intuition:}\\;\\text{The}\\;\\text{immediate}\\;\\text{value}\\;\\text{of}\\;\\text{taking}\\;\\text{an}\\;\\text{action}\\;\\text{in}\\;\\text{state}\\;\\text{s}}\\\\\n{=\\text{immediate}\\;\\text{reward}\\;\\text{+}\\;\\text{discount}\\text{ed}\\;\\text{value}\\;\\text{of}\\;\\text{best}\\;\\text{action}\\;\\text{in}\\;\\text{the}\\;\\text{next}\\;\\text{state}}\\\\\n{\\text{This}\\;\\text{translates}\\;\\text{into}\\;\\text{the}\\;\\text{recursion:}}\\\\\n{Q_{k+1}^{\\star}\\left(s,a\\right)=\\sum_{s^{\\prime}}^{}P\\left(\\giventhat{s^{\\prime}}{s,a}\\right)\\left[r\\left(s,a\\right)+\\gamma \\arg \\,\\max_{a^{\\prime}}\\left(Q_{k}^{\\star}\\left(s^{\\prime},a^{\\prime}\\right)\\right)\\right]}\\\\\n{\\text{Now}\\;\\text{the}\\;\\text{optimal}\\;\\text{policy}\\;\\text{is}\\;\\text{simply:}}\\\\\n{\\arg \\max_{a}\\left(Q^{\\star}\\left(s,a\\right)\\right)}\t\n\\end{gather*}&quot;,&quot;backgroundColorModified&quot;:false,&quot;id&quot;:&quot;5&quot;,&quot;aid&quot;:null,&quot;ts&quot;:1781221535337,&quot;cs&quot;:&quot;zt+iuxtjphC+AUT2ZcHHQw==&quot;,&quot;size&quot;:{&quot;width&quot;:705.5,&quot;height&quot;:316.5}}"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056" y="1877700"/>
            <a:ext cx="6719888" cy="301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problems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Estimate value function for different values of gamma (0.5, 0.9). How does the value function change? Does the optimal policy change?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Change the reward at (1,3) = -0.5, and step_reward = -0.5. Does the optimal policy change? 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stochastic transition: Modify value iteration so that intended actions succeed with probability 0.8 and slip sideways with probability 0.1 each (see optimal_policy_iteration_stochastic.py)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