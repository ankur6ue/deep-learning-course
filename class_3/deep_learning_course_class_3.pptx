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23DB74-1729-4800-BA70-C8E4DCD532E5}">
  <a:tblStyle styleId="{3B23DB74-1729-4800-BA70-C8E4DCD532E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90C13F4-2B98-4E3F-9E77-6AEF00A6A4D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3ecbe50c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3ecbe50c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dc17e65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dc17e65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dc17e65d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dc17e65d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dc17e65d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dc17e65d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dc17e65d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7dc17e65d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dc17e65d4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7dc17e65d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dc17e65d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7dc17e65d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dc17e65d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dc17e65d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5416f2f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45416f2f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5416f2fe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45416f2fe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5416f2fe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45416f2fe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5416f2fe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45416f2fe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45416f2fe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45416f2fe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45416f2fe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45416f2fe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3ce1a27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63ce1a27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this non-trivial?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Non-linear classification boundaries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 linear system can never solve this problem with a high degree of accuracy!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3ce1a276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63ce1a276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46784d52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646784d52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7dc17e65d4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7dc17e65d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3ce1a276c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63ce1a276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pytorch.org/tutorials/recipes/recipes/profiler_recipe.html" TargetMode="External"/><Relationship Id="rId4" Type="http://schemas.openxmlformats.org/officeDocument/2006/relationships/hyperlink" Target="https://developer.nvidia.com/nsight-systems" TargetMode="External"/><Relationship Id="rId5" Type="http://schemas.openxmlformats.org/officeDocument/2006/relationships/hyperlink" Target="https://www.intel.com/content/www/us/en/developer/tools/oneapi/vtune-profiler.html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drive.google.com/file/d/1rOEsux6DuSI3jcDd1EcXcxEb2AydzG_O/view" TargetMode="External"/><Relationship Id="rId4" Type="http://schemas.openxmlformats.org/officeDocument/2006/relationships/image" Target="../media/image1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3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Deep Learning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293225"/>
            <a:ext cx="8520600" cy="32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Monitoring and tracking experiments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Cross Entropy Loss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Building a Neural Network to classify points on a spiral dataset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K-Fold Cross Validation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77300" y="229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Monitoring using TensorBoard</a:t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212200" y="1431375"/>
            <a:ext cx="1396200" cy="464100"/>
          </a:xfrm>
          <a:prstGeom prst="roundRect">
            <a:avLst>
              <a:gd fmla="val 9352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Pytorch Program</a:t>
            </a:r>
            <a:endParaRPr sz="1200"/>
          </a:p>
        </p:txBody>
      </p:sp>
      <p:sp>
        <p:nvSpPr>
          <p:cNvPr id="68" name="Google Shape;68;p15"/>
          <p:cNvSpPr/>
          <p:nvPr/>
        </p:nvSpPr>
        <p:spPr>
          <a:xfrm>
            <a:off x="2583650" y="1431400"/>
            <a:ext cx="1396200" cy="464100"/>
          </a:xfrm>
          <a:prstGeom prst="roundRect">
            <a:avLst>
              <a:gd fmla="val 9352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Logs directory</a:t>
            </a:r>
            <a:endParaRPr sz="1200"/>
          </a:p>
        </p:txBody>
      </p:sp>
      <p:cxnSp>
        <p:nvCxnSpPr>
          <p:cNvPr id="69" name="Google Shape;69;p15"/>
          <p:cNvCxnSpPr>
            <a:stCxn id="67" idx="3"/>
            <a:endCxn id="68" idx="1"/>
          </p:cNvCxnSpPr>
          <p:nvPr/>
        </p:nvCxnSpPr>
        <p:spPr>
          <a:xfrm>
            <a:off x="1608400" y="1663425"/>
            <a:ext cx="97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" name="Google Shape;70;p15"/>
          <p:cNvSpPr/>
          <p:nvPr/>
        </p:nvSpPr>
        <p:spPr>
          <a:xfrm>
            <a:off x="2583650" y="2312400"/>
            <a:ext cx="1396200" cy="534300"/>
          </a:xfrm>
          <a:prstGeom prst="roundRect">
            <a:avLst>
              <a:gd fmla="val 9352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Tensorboard Server</a:t>
            </a:r>
            <a:endParaRPr sz="1100"/>
          </a:p>
        </p:txBody>
      </p:sp>
      <p:cxnSp>
        <p:nvCxnSpPr>
          <p:cNvPr id="71" name="Google Shape;71;p15"/>
          <p:cNvCxnSpPr>
            <a:stCxn id="70" idx="0"/>
            <a:endCxn id="68" idx="2"/>
          </p:cNvCxnSpPr>
          <p:nvPr/>
        </p:nvCxnSpPr>
        <p:spPr>
          <a:xfrm rot="10800000">
            <a:off x="3281750" y="1895400"/>
            <a:ext cx="0" cy="41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" name="Google Shape;72;p15"/>
          <p:cNvCxnSpPr>
            <a:stCxn id="73" idx="1"/>
            <a:endCxn id="70" idx="3"/>
          </p:cNvCxnSpPr>
          <p:nvPr/>
        </p:nvCxnSpPr>
        <p:spPr>
          <a:xfrm rot="10800000">
            <a:off x="3979750" y="2579575"/>
            <a:ext cx="1254300" cy="17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" name="Google Shape;74;p15"/>
          <p:cNvSpPr txBox="1"/>
          <p:nvPr/>
        </p:nvSpPr>
        <p:spPr>
          <a:xfrm>
            <a:off x="1794025" y="1308500"/>
            <a:ext cx="823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Metrics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277300" y="2360925"/>
            <a:ext cx="180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Pip install tensorboard</a:t>
            </a:r>
            <a:endParaRPr sz="1200">
              <a:solidFill>
                <a:schemeClr val="dk2"/>
              </a:solidFill>
            </a:endParaRPr>
          </a:p>
        </p:txBody>
      </p:sp>
      <p:graphicFrame>
        <p:nvGraphicFramePr>
          <p:cNvPr id="76" name="Google Shape;76;p15"/>
          <p:cNvGraphicFramePr/>
          <p:nvPr/>
        </p:nvGraphicFramePr>
        <p:xfrm>
          <a:off x="212200" y="63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{3B23DB74-1729-4800-BA70-C8E4DCD532E5}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7" name="Google Shape;77;p15"/>
          <p:cNvGraphicFramePr/>
          <p:nvPr/>
        </p:nvGraphicFramePr>
        <p:xfrm>
          <a:off x="231250" y="91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{3B23DB74-1729-4800-BA70-C8E4DCD532E5}</a:tableStyleId>
              </a:tblPr>
              <a:tblGrid>
                <a:gridCol w="44821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Primary Use:</a:t>
                      </a:r>
                      <a:r>
                        <a:rPr lang="en" sz="1200"/>
                        <a:t> Visualize training metrics and debugging info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8" name="Google Shape;78;p15"/>
          <p:cNvSpPr txBox="1"/>
          <p:nvPr/>
        </p:nvSpPr>
        <p:spPr>
          <a:xfrm>
            <a:off x="22900" y="48724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class3/</a:t>
            </a:r>
            <a:r>
              <a:rPr lang="en" sz="800">
                <a:solidFill>
                  <a:schemeClr val="dk1"/>
                </a:solidFill>
              </a:rPr>
              <a:t>simple_nn1_tb.py</a:t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3968700" y="1422238"/>
            <a:ext cx="975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Can be local or cloud storage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2438550" y="2856600"/>
            <a:ext cx="1919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Can run locally or cloud-hosted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5234050" y="2510875"/>
            <a:ext cx="2175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UI: Can use port forwarding if Tensorboard server running remotely 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00" y="3284226"/>
            <a:ext cx="6871775" cy="153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4850" y="154661"/>
            <a:ext cx="3237650" cy="1880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Monitoring using TensorBoard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4" cy="1683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005772"/>
            <a:ext cx="6029515" cy="1985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619550" y="2322000"/>
            <a:ext cx="943500" cy="1329300"/>
          </a:xfrm>
          <a:prstGeom prst="roundRect">
            <a:avLst>
              <a:gd fmla="val 9352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Pytorch Program</a:t>
            </a:r>
            <a:endParaRPr/>
          </a:p>
        </p:txBody>
      </p:sp>
      <p:cxnSp>
        <p:nvCxnSpPr>
          <p:cNvPr id="95" name="Google Shape;95;p17"/>
          <p:cNvCxnSpPr>
            <a:stCxn id="94" idx="3"/>
            <a:endCxn id="96" idx="1"/>
          </p:cNvCxnSpPr>
          <p:nvPr/>
        </p:nvCxnSpPr>
        <p:spPr>
          <a:xfrm>
            <a:off x="1563050" y="2986650"/>
            <a:ext cx="131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" name="Google Shape;96;p17"/>
          <p:cNvSpPr/>
          <p:nvPr/>
        </p:nvSpPr>
        <p:spPr>
          <a:xfrm>
            <a:off x="2882275" y="2283750"/>
            <a:ext cx="1110900" cy="1405800"/>
          </a:xfrm>
          <a:prstGeom prst="roundRect">
            <a:avLst>
              <a:gd fmla="val 9352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MLFlow Server</a:t>
            </a:r>
            <a:endParaRPr/>
          </a:p>
        </p:txBody>
      </p:sp>
      <p:cxnSp>
        <p:nvCxnSpPr>
          <p:cNvPr id="97" name="Google Shape;97;p17"/>
          <p:cNvCxnSpPr>
            <a:endCxn id="98" idx="0"/>
          </p:cNvCxnSpPr>
          <p:nvPr/>
        </p:nvCxnSpPr>
        <p:spPr>
          <a:xfrm>
            <a:off x="1563025" y="3442850"/>
            <a:ext cx="1211100" cy="55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" name="Google Shape;99;p17"/>
          <p:cNvSpPr txBox="1"/>
          <p:nvPr/>
        </p:nvSpPr>
        <p:spPr>
          <a:xfrm>
            <a:off x="1678450" y="2933050"/>
            <a:ext cx="11109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Metadata</a:t>
            </a:r>
            <a:br>
              <a:rPr lang="en" sz="700">
                <a:solidFill>
                  <a:schemeClr val="dk1"/>
                </a:solidFill>
              </a:rPr>
            </a:br>
            <a:r>
              <a:rPr lang="en" sz="700">
                <a:solidFill>
                  <a:schemeClr val="dk1"/>
                </a:solidFill>
              </a:rPr>
              <a:t>Params, metrics, tags..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233825" y="941175"/>
            <a:ext cx="7366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Primary Use:</a:t>
            </a:r>
            <a:r>
              <a:rPr lang="en" sz="1100">
                <a:solidFill>
                  <a:schemeClr val="dk2"/>
                </a:solidFill>
              </a:rPr>
              <a:t> End-to-end ML lifecycle: track experiments, manage models, deployments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Run MLFlow server with:</a:t>
            </a:r>
            <a:endParaRPr sz="11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 sz="1000">
                <a:solidFill>
                  <a:schemeClr val="dk2"/>
                </a:solidFill>
              </a:rPr>
              <a:t>backend store</a:t>
            </a:r>
            <a:r>
              <a:rPr lang="en" sz="1000">
                <a:solidFill>
                  <a:schemeClr val="dk2"/>
                </a:solidFill>
              </a:rPr>
              <a:t>: Typically a database such as PostGres, MySQL, or MSSQL. For storing parameters, metrics, and tags</a:t>
            </a:r>
            <a:endParaRPr sz="10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 sz="1000">
                <a:solidFill>
                  <a:schemeClr val="dk2"/>
                </a:solidFill>
              </a:rPr>
              <a:t>artifact store:</a:t>
            </a:r>
            <a:r>
              <a:rPr lang="en" sz="1000">
                <a:solidFill>
                  <a:schemeClr val="dk2"/>
                </a:solidFill>
              </a:rPr>
              <a:t> local directory or cloud storage such as S3. For large artifacts such as model weights, checkpoints.. 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369875" y="3755725"/>
            <a:ext cx="157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If no mlflow tracking server configured, mlflow client will write metrics to local mlruns directory</a:t>
            </a:r>
            <a:endParaRPr sz="900">
              <a:solidFill>
                <a:schemeClr val="dk2"/>
              </a:solidFill>
            </a:endParaRPr>
          </a:p>
        </p:txBody>
      </p:sp>
      <p:cxnSp>
        <p:nvCxnSpPr>
          <p:cNvPr id="102" name="Google Shape;102;p17"/>
          <p:cNvCxnSpPr>
            <a:endCxn id="103" idx="1"/>
          </p:cNvCxnSpPr>
          <p:nvPr/>
        </p:nvCxnSpPr>
        <p:spPr>
          <a:xfrm>
            <a:off x="3998700" y="2654400"/>
            <a:ext cx="57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" name="Google Shape;103;p17"/>
          <p:cNvSpPr/>
          <p:nvPr/>
        </p:nvSpPr>
        <p:spPr>
          <a:xfrm>
            <a:off x="4572000" y="2322000"/>
            <a:ext cx="1110900" cy="664800"/>
          </a:xfrm>
          <a:prstGeom prst="roundRect">
            <a:avLst>
              <a:gd fmla="val 9352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store</a:t>
            </a:r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2218675" y="3993050"/>
            <a:ext cx="1110900" cy="664800"/>
          </a:xfrm>
          <a:prstGeom prst="roundRect">
            <a:avLst>
              <a:gd fmla="val 9352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Artifact store</a:t>
            </a:r>
            <a:endParaRPr/>
          </a:p>
        </p:txBody>
      </p:sp>
      <p:cxnSp>
        <p:nvCxnSpPr>
          <p:cNvPr id="104" name="Google Shape;104;p17"/>
          <p:cNvCxnSpPr/>
          <p:nvPr/>
        </p:nvCxnSpPr>
        <p:spPr>
          <a:xfrm rot="10800000">
            <a:off x="1577200" y="2638375"/>
            <a:ext cx="131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17"/>
          <p:cNvSpPr txBox="1"/>
          <p:nvPr>
            <p:ph type="title"/>
          </p:nvPr>
        </p:nvSpPr>
        <p:spPr>
          <a:xfrm>
            <a:off x="233825" y="221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Monitoring using MLFlow</a:t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1563050" y="2221963"/>
            <a:ext cx="13191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Artifact location, presigned S3 URLs..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1947107" y="3349450"/>
            <a:ext cx="943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Artifacts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3933650" y="2371825"/>
            <a:ext cx="705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Metadata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7075" y="4721275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class3/simple_nn1_mlflow.py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MLFlow: Comparing Runs of an Experiment </a:t>
            </a:r>
            <a:endParaRPr/>
          </a:p>
        </p:txBody>
      </p:sp>
      <p:pic>
        <p:nvPicPr>
          <p:cNvPr id="115" name="Google Shape;11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700" y="2453901"/>
            <a:ext cx="8332602" cy="2654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/>
          <p:cNvPicPr preferRelativeResize="0"/>
          <p:nvPr/>
        </p:nvPicPr>
        <p:blipFill rotWithShape="1">
          <a:blip r:embed="rId4">
            <a:alphaModFix/>
          </a:blip>
          <a:srcRect b="0" l="0" r="48100" t="0"/>
          <a:stretch/>
        </p:blipFill>
        <p:spPr>
          <a:xfrm>
            <a:off x="0" y="917125"/>
            <a:ext cx="2956875" cy="238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/>
          <p:nvPr/>
        </p:nvSpPr>
        <p:spPr>
          <a:xfrm flipH="1" rot="10800000">
            <a:off x="3043092" y="2192700"/>
            <a:ext cx="822600" cy="6582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311700" y="445025"/>
            <a:ext cx="155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MLFLow</a:t>
            </a:r>
            <a:endParaRPr/>
          </a:p>
        </p:txBody>
      </p:sp>
      <p:pic>
        <p:nvPicPr>
          <p:cNvPr id="123" name="Google Shape;1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1400" y="152400"/>
            <a:ext cx="6970200" cy="4283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9"/>
          <p:cNvPicPr preferRelativeResize="0"/>
          <p:nvPr/>
        </p:nvPicPr>
        <p:blipFill rotWithShape="1">
          <a:blip r:embed="rId4">
            <a:alphaModFix/>
          </a:blip>
          <a:srcRect b="0" l="0" r="48100" t="0"/>
          <a:stretch/>
        </p:blipFill>
        <p:spPr>
          <a:xfrm>
            <a:off x="53150" y="2761175"/>
            <a:ext cx="2956875" cy="238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233825" y="221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Monitoring using Weights and Biases</a:t>
            </a:r>
            <a:endParaRPr/>
          </a:p>
        </p:txBody>
      </p:sp>
      <p:graphicFrame>
        <p:nvGraphicFramePr>
          <p:cNvPr id="130" name="Google Shape;130;p20"/>
          <p:cNvGraphicFramePr/>
          <p:nvPr/>
        </p:nvGraphicFramePr>
        <p:xfrm>
          <a:off x="348025" y="91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{890C13F4-2B98-4E3F-9E77-6AEF00A6A4DA}</a:tableStyleId>
              </a:tblPr>
              <a:tblGrid>
                <a:gridCol w="2782400"/>
                <a:gridCol w="2782400"/>
                <a:gridCol w="2782400"/>
              </a:tblGrid>
              <a:tr h="382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Area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Weights &amp; Biases (W&amp;B)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MLflow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550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Core goal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Experiment tracking &amp; collaboration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End-to-end ML lifecycle (track, package, registry, serve)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50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Hosting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Primarily </a:t>
                      </a:r>
                      <a:r>
                        <a:rPr b="1" lang="en" sz="1200"/>
                        <a:t>SaaS</a:t>
                      </a:r>
                      <a:r>
                        <a:rPr lang="en" sz="1200"/>
                        <a:t> (with enterprise self-host/on-prem options)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Open source</a:t>
                      </a:r>
                      <a:r>
                        <a:rPr lang="en" sz="1200"/>
                        <a:t>, easy to self-host (FS/DB/S3/GCS/etc.)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50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Experiment tracking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Excellent UI/UX, live dashboards, rich comparisons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Solid tracking; simpler UI; highly portable metadata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7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Hyperparam optimization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Sweeps</a:t>
                      </a:r>
                      <a:r>
                        <a:rPr lang="en" sz="1200"/>
                        <a:t>: first-class HPO with schedulers/search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 native HPO; plug in Optuna/Ray/Tune and log to MLflow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50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Collaboration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Reports, tables, comments, sharing, org features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Basic comparisons; collaboration mostly via your infra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Cost/lock-in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SaaS convenience; enterprise plans; some lock-in risk via UI features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 license cost; infra cost only; minimal lock-in (files/API)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1" name="Google Shape;131;p20"/>
          <p:cNvSpPr txBox="1"/>
          <p:nvPr/>
        </p:nvSpPr>
        <p:spPr>
          <a:xfrm>
            <a:off x="348025" y="47853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https://wandb.ai/site/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233825" y="221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HW Monitoring Tools</a:t>
            </a:r>
            <a:endParaRPr/>
          </a:p>
        </p:txBody>
      </p:sp>
      <p:sp>
        <p:nvSpPr>
          <p:cNvPr id="137" name="Google Shape;137;p21"/>
          <p:cNvSpPr txBox="1"/>
          <p:nvPr/>
        </p:nvSpPr>
        <p:spPr>
          <a:xfrm>
            <a:off x="150450" y="916950"/>
            <a:ext cx="75567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To analyze hardware metrics such as GPU utilization, time taken by various CUDA kernels etc, there are several tools, some HW vendor specific, some offered by deep learning libraries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Pytorch profiler</a:t>
            </a:r>
            <a:r>
              <a:rPr lang="en" sz="1100">
                <a:solidFill>
                  <a:schemeClr val="dk2"/>
                </a:solidFill>
              </a:rPr>
              <a:t> for determining the most expensive operators in the model. The UI is integrated with TensorBoard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NVIDIA Nsight:</a:t>
            </a:r>
            <a:r>
              <a:rPr lang="en" sz="1100">
                <a:solidFill>
                  <a:schemeClr val="dk2"/>
                </a:solidFill>
              </a:rPr>
              <a:t> Detailed GPU-level stats. Great for low-level GPU profiling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Intel VTune:</a:t>
            </a:r>
            <a:r>
              <a:rPr lang="en" sz="1100">
                <a:solidFill>
                  <a:schemeClr val="dk2"/>
                </a:solidFill>
              </a:rPr>
              <a:t> Profiler from Intel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We’ll look at Pytorch profiler and NVIDIA Visual Profiler in detail when we discuss running Neural Networks on GPUs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Entropy Loss</a:t>
            </a:r>
            <a:endParaRPr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311700" y="1152475"/>
            <a:ext cx="8520600" cy="21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In the previous slide, our network produced a real value, which could be compared to the true value using Mean Square Error loss</a:t>
            </a:r>
            <a:endParaRPr sz="1600"/>
          </a:p>
        </p:txBody>
      </p:sp>
      <p:pic>
        <p:nvPicPr>
          <p:cNvPr descr="{&quot;backgroundColorModified&quot;:false,&quot;aid&quot;:null,&quot;id&quot;:&quot;1&quot;,&quot;type&quot;:&quot;lalign*&quot;,&quot;code&quot;:&quot;\\begin{lalign*}\n&amp;{y_{i}=f_{\\theta}\\left(x_{i}\\right)}\\\\\n&amp;{L\\,=\\,\\frac{1}{n}\\sum_{i=1}^{n}\\left(\\hat{y}_{i}-y_{i}\\right)^{2}}\\\\\n&amp;{\\hat{y}_{i}:\\,\\text{True}\\;\\text{values}}\\\\\n&amp;{f:\\,\\text{Neural}\\;\\text{Network}\\;\\text{parameterized}\\;\\text{by}\\;\\theta}\t\n\\end{lalign*}&quot;,&quot;backgroundColor&quot;:&quot;#FFFFFF&quot;,&quot;font&quot;:{&quot;size&quot;:12,&quot;family&quot;:&quot;Arial&quot;,&quot;color&quot;:&quot;#595959&quot;},&quot;ts&quot;:1755216603921,&quot;cs&quot;:&quot;5pue2QdVWhsagRCrUTYy4w==&quot;,&quot;size&quot;:{&quot;width&quot;:328.9709958005249,&quot;height&quot;:129.94229921259844}}" id="144" name="Google Shape;14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400" y="1952900"/>
            <a:ext cx="3133449" cy="123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388625" y="3391675"/>
            <a:ext cx="8520600" cy="21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But what if we have a classification problem, where each data point is a class label?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Why can’t we still use MSE loss?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In such as case, the network needs to output the probability distribution over classes, i.e., a vector, where each entry is a probability of a class.  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Entropy Loss</a:t>
            </a:r>
            <a:endParaRPr/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311700" y="1152475"/>
            <a:ext cx="8520600" cy="6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First we need to convert network output into probabilities. This is done using a Softmax function. Say there are K classes</a:t>
            </a:r>
            <a:endParaRPr sz="1600"/>
          </a:p>
        </p:txBody>
      </p:sp>
      <p:sp>
        <p:nvSpPr>
          <p:cNvPr id="152" name="Google Shape;152;p23"/>
          <p:cNvSpPr/>
          <p:nvPr/>
        </p:nvSpPr>
        <p:spPr>
          <a:xfrm>
            <a:off x="1611625" y="2072100"/>
            <a:ext cx="656400" cy="49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font&quot;:{&quot;size&quot;:14,&quot;family&quot;:&quot;Arial&quot;,&quot;color&quot;:&quot;#000000&quot;},&quot;type&quot;:&quot;$$&quot;,&quot;backgroundColorModified&quot;:false,&quot;id&quot;:&quot;3&quot;,&quot;aid&quot;:null,&quot;code&quot;:&quot;$$f_{\\theta}\\left(x\\right)$$&quot;,&quot;backgroundColor&quot;:&quot;#EEEEEE&quot;,&quot;ts&quot;:1755217193477,&quot;cs&quot;:&quot;ebk20vktDPhjmfZ3hlPO8g==&quot;,&quot;size&quot;:{&quot;width&quot;:49.833333333333336,&quot;height&quot;:22}}" id="153" name="Google Shape;1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2488" y="2217075"/>
            <a:ext cx="474663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Modified&quot;:false,&quot;id&quot;:&quot;3&quot;,&quot;font&quot;:{&quot;family&quot;:&quot;Arial&quot;,&quot;color&quot;:&quot;#000000&quot;,&quot;size&quot;:14},&quot;code&quot;:&quot;$$x$$&quot;,&quot;type&quot;:&quot;$$&quot;,&quot;backgroundColor&quot;:&quot;#EEEEEE&quot;,&quot;ts&quot;:1755217224382,&quot;cs&quot;:&quot;gDw5HS7k9p4iDn5NEy3pFA==&quot;,&quot;size&quot;:{&quot;width&quot;:10.666666666666666,&quot;height&quot;:10}}" id="154" name="Google Shape;15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8509" y="2274225"/>
            <a:ext cx="101600" cy="95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23"/>
          <p:cNvCxnSpPr>
            <a:endCxn id="152" idx="1"/>
          </p:cNvCxnSpPr>
          <p:nvPr/>
        </p:nvCxnSpPr>
        <p:spPr>
          <a:xfrm>
            <a:off x="1322725" y="2321850"/>
            <a:ext cx="28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23"/>
          <p:cNvCxnSpPr/>
          <p:nvPr/>
        </p:nvCxnSpPr>
        <p:spPr>
          <a:xfrm>
            <a:off x="2268025" y="2321850"/>
            <a:ext cx="28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id&quot;:&quot;3&quot;,&quot;backgroundColorModified&quot;:false,&quot;backgroundColor&quot;:&quot;#EEEEEE&quot;,&quot;font&quot;:{&quot;color&quot;:&quot;#000000&quot;,&quot;size&quot;:14,&quot;family&quot;:&quot;Arial&quot;},&quot;type&quot;:&quot;$$&quot;,&quot;code&quot;:&quot;$$l\\,\\left(K\\times1\\right)$$&quot;,&quot;aid&quot;:null,&quot;ts&quot;:1755217375364,&quot;cs&quot;:&quot;B3e7Q0TMU/1UwHNEOT1nBQ==&quot;,&quot;size&quot;:{&quot;width&quot;:85.33333333333333,&quot;height&quot;:22}}" id="157" name="Google Shape;15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9240" y="2217084"/>
            <a:ext cx="8128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/>
          <p:nvPr/>
        </p:nvSpPr>
        <p:spPr>
          <a:xfrm>
            <a:off x="3816400" y="2072100"/>
            <a:ext cx="920400" cy="49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Softmax</a:t>
            </a:r>
            <a:endParaRPr/>
          </a:p>
        </p:txBody>
      </p:sp>
      <p:cxnSp>
        <p:nvCxnSpPr>
          <p:cNvPr id="159" name="Google Shape;159;p23"/>
          <p:cNvCxnSpPr/>
          <p:nvPr/>
        </p:nvCxnSpPr>
        <p:spPr>
          <a:xfrm>
            <a:off x="3527500" y="2321850"/>
            <a:ext cx="28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" name="Google Shape;160;p23"/>
          <p:cNvSpPr txBox="1"/>
          <p:nvPr/>
        </p:nvSpPr>
        <p:spPr>
          <a:xfrm>
            <a:off x="2429675" y="2601150"/>
            <a:ext cx="99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</a:rPr>
              <a:t>l </a:t>
            </a:r>
            <a:r>
              <a:rPr lang="en">
                <a:solidFill>
                  <a:schemeClr val="dk2"/>
                </a:solidFill>
              </a:rPr>
              <a:t>for logits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descr="{&quot;font&quot;:{&quot;size&quot;:11,&quot;family&quot;:&quot;Arial&quot;,&quot;color&quot;:&quot;#000000&quot;},&quot;aid&quot;:null,&quot;type&quot;:&quot;$$&quot;,&quot;backgroundColorModified&quot;:false,&quot;backgroundColor&quot;:&quot;#FFFFFF&quot;,&quot;code&quot;:&quot;$$\\text{Softmax(}l_{i}\\text{)}\\;\\text{=}\\frac{\\exp\\left(l_{i}\\right)}{\\sum_{i=1}^{K}\\exp\\left(l_{i}\\right)}$$&quot;,&quot;id&quot;:&quot;4&quot;,&quot;ts&quot;:1755220878455,&quot;cs&quot;:&quot;B0RFm1hFxmYfElkksY7NNw==&quot;,&quot;size&quot;:{&quot;width&quot;:204.66666666666666,&quot;height&quot;:46}}" id="161" name="Google Shape;161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93220" y="2679624"/>
            <a:ext cx="1949450" cy="438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23"/>
          <p:cNvCxnSpPr/>
          <p:nvPr/>
        </p:nvCxnSpPr>
        <p:spPr>
          <a:xfrm>
            <a:off x="4736800" y="2321825"/>
            <a:ext cx="28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code&quot;:&quot;$$y=\\text{Softmax(}l\\text{)}$$&quot;,&quot;backgroundColorModified&quot;:false,&quot;id&quot;:&quot;3&quot;,&quot;aid&quot;:null,&quot;font&quot;:{&quot;family&quot;:&quot;Arial&quot;,&quot;color&quot;:&quot;#000000&quot;,&quot;size&quot;:14},&quot;type&quot;:&quot;$$&quot;,&quot;backgroundColor&quot;:&quot;#EEEEEE&quot;,&quot;ts&quot;:1755217658709,&quot;cs&quot;:&quot;Ve9YPvmryOoG27ZrNIWAuQ==&quot;,&quot;size&quot;:{&quot;width&quot;:140.16666666666666,&quot;height&quot;:22}}" id="163" name="Google Shape;163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26710" y="2217045"/>
            <a:ext cx="1335088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3"/>
          <p:cNvSpPr txBox="1"/>
          <p:nvPr>
            <p:ph idx="1" type="body"/>
          </p:nvPr>
        </p:nvSpPr>
        <p:spPr>
          <a:xfrm>
            <a:off x="420025" y="3141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Now say the true probability distribution is defined by </a:t>
            </a:r>
            <a:r>
              <a:rPr i="1" lang="en" sz="1600"/>
              <a:t>pi. </a:t>
            </a:r>
            <a:r>
              <a:rPr lang="en" sz="1600"/>
              <a:t>Then</a:t>
            </a:r>
            <a:endParaRPr sz="1600"/>
          </a:p>
        </p:txBody>
      </p:sp>
      <p:pic>
        <p:nvPicPr>
          <p:cNvPr descr="{&quot;code&quot;:&quot;$$\\text{x-entropy-loss(}y\\text{)}\\;\\text{=}-\\sum_{i=1}^{K}p_{i}\\log_{}\\left(y_{i}\\right)$$&quot;,&quot;type&quot;:&quot;$$&quot;,&quot;id&quot;:&quot;4&quot;,&quot;backgroundColorModified&quot;:false,&quot;aid&quot;:null,&quot;font&quot;:{&quot;family&quot;:&quot;Arial&quot;,&quot;color&quot;:&quot;#000000&quot;,&quot;size&quot;:11},&quot;backgroundColor&quot;:&quot;#FFFFFF&quot;,&quot;ts&quot;:1755221148731,&quot;cs&quot;:&quot;x4wEYk6cL/HjwXtb7K8Hkg==&quot;,&quot;size&quot;:{&quot;width&quot;:263.40000000000003,&quot;height&quot;:47.200000000000024}}" id="165" name="Google Shape;165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16930" y="3821549"/>
            <a:ext cx="2508885" cy="44958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3"/>
          <p:cNvSpPr txBox="1"/>
          <p:nvPr>
            <p:ph idx="1" type="body"/>
          </p:nvPr>
        </p:nvSpPr>
        <p:spPr>
          <a:xfrm>
            <a:off x="533250" y="4378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Usually </a:t>
            </a:r>
            <a:r>
              <a:rPr i="1" lang="en" sz="1600"/>
              <a:t>p</a:t>
            </a:r>
            <a:r>
              <a:rPr lang="en" sz="1600"/>
              <a:t> is a one-hot vector. It is 1 for the input’s true class, and 0 everywhere else.</a:t>
            </a:r>
            <a:endParaRPr sz="1600"/>
          </a:p>
        </p:txBody>
      </p:sp>
      <p:sp>
        <p:nvSpPr>
          <p:cNvPr id="167" name="Google Shape;167;p23"/>
          <p:cNvSpPr txBox="1"/>
          <p:nvPr>
            <p:ph idx="1" type="body"/>
          </p:nvPr>
        </p:nvSpPr>
        <p:spPr>
          <a:xfrm>
            <a:off x="5093200" y="3759988"/>
            <a:ext cx="183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/>
              <a:t>Why does this expression make sense?</a:t>
            </a:r>
            <a:endParaRPr sz="1300"/>
          </a:p>
        </p:txBody>
      </p:sp>
      <p:cxnSp>
        <p:nvCxnSpPr>
          <p:cNvPr id="168" name="Google Shape;168;p23"/>
          <p:cNvCxnSpPr>
            <a:stCxn id="167" idx="1"/>
          </p:cNvCxnSpPr>
          <p:nvPr/>
        </p:nvCxnSpPr>
        <p:spPr>
          <a:xfrm flipH="1">
            <a:off x="4589500" y="4046338"/>
            <a:ext cx="5037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Entropy Loss</a:t>
            </a:r>
            <a:endParaRPr/>
          </a:p>
        </p:txBody>
      </p:sp>
      <p:sp>
        <p:nvSpPr>
          <p:cNvPr id="174" name="Google Shape;174;p24"/>
          <p:cNvSpPr txBox="1"/>
          <p:nvPr>
            <p:ph idx="1" type="body"/>
          </p:nvPr>
        </p:nvSpPr>
        <p:spPr>
          <a:xfrm>
            <a:off x="311700" y="1152475"/>
            <a:ext cx="8520600" cy="6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Let’s consider a binary classification example. Here K = 2</a:t>
            </a:r>
            <a:endParaRPr sz="1600"/>
          </a:p>
        </p:txBody>
      </p:sp>
      <p:sp>
        <p:nvSpPr>
          <p:cNvPr id="175" name="Google Shape;175;p24"/>
          <p:cNvSpPr txBox="1"/>
          <p:nvPr>
            <p:ph idx="1" type="body"/>
          </p:nvPr>
        </p:nvSpPr>
        <p:spPr>
          <a:xfrm>
            <a:off x="464100" y="2514900"/>
            <a:ext cx="8520600" cy="11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Let’s say p_1 = 1. If the network gets it right, y_1 is close to 1, and x-entropy loss is low. Similarly if the network gets it wrong, y_1 is low, and x-entropy loss is high.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To use it within a Neural Network, we need to calculate its derivative! </a:t>
            </a:r>
            <a:endParaRPr sz="1600"/>
          </a:p>
        </p:txBody>
      </p:sp>
      <p:pic>
        <p:nvPicPr>
          <p:cNvPr descr="{&quot;type&quot;:&quot;$$&quot;,&quot;id&quot;:&quot;4&quot;,&quot;backgroundColor&quot;:&quot;#FFFFFF&quot;,&quot;aid&quot;:null,&quot;font&quot;:{&quot;size&quot;:11,&quot;color&quot;:&quot;#000000&quot;,&quot;family&quot;:&quot;Arial&quot;},&quot;backgroundColorModified&quot;:false,&quot;code&quot;:&quot;$$\\text{x-entropy-loss(}y\\text{)}\\;\\text{=}-p_{1}\\log_{}\\left(y_{1}\\right)-\\left(1-p_{1}\\right)\\log_{}\\left(1-y_{1}\\right)$$&quot;,&quot;ts&quot;:1755221105735,&quot;cs&quot;:&quot;nxWn0T+h796LdqUdVCaqpw==&quot;,&quot;size&quot;:{&quot;width&quot;:407.6666666666667,&quot;height&quot;:17.666666666666668}}" id="176" name="Google Shape;17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4350" y="1971831"/>
            <a:ext cx="3883025" cy="16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Entropy Loss: Derivative</a:t>
            </a:r>
            <a:endParaRPr/>
          </a:p>
        </p:txBody>
      </p:sp>
      <p:sp>
        <p:nvSpPr>
          <p:cNvPr id="182" name="Google Shape;182;p25"/>
          <p:cNvSpPr txBox="1"/>
          <p:nvPr>
            <p:ph idx="1" type="body"/>
          </p:nvPr>
        </p:nvSpPr>
        <p:spPr>
          <a:xfrm>
            <a:off x="311700" y="1152475"/>
            <a:ext cx="8520600" cy="6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Continuing with the two class example..</a:t>
            </a:r>
            <a:r>
              <a:rPr lang="en" sz="1600"/>
              <a:t>.</a:t>
            </a:r>
            <a:endParaRPr sz="1600"/>
          </a:p>
        </p:txBody>
      </p:sp>
      <p:sp>
        <p:nvSpPr>
          <p:cNvPr id="183" name="Google Shape;183;p25"/>
          <p:cNvSpPr txBox="1"/>
          <p:nvPr>
            <p:ph idx="1" type="body"/>
          </p:nvPr>
        </p:nvSpPr>
        <p:spPr>
          <a:xfrm>
            <a:off x="478775" y="3127250"/>
            <a:ext cx="8520600" cy="11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Let’s now derive the partial of </a:t>
            </a:r>
            <a:r>
              <a:rPr i="1" lang="en" sz="1600"/>
              <a:t>e</a:t>
            </a:r>
            <a:r>
              <a:rPr lang="en" sz="1600"/>
              <a:t> against partial of </a:t>
            </a:r>
            <a:r>
              <a:rPr i="1" lang="en" sz="1600"/>
              <a:t>l </a:t>
            </a:r>
            <a:r>
              <a:rPr lang="en" sz="1600"/>
              <a:t>using basic math </a:t>
            </a:r>
            <a:r>
              <a:rPr lang="en" sz="1600"/>
              <a:t> </a:t>
            </a:r>
            <a:endParaRPr sz="1600"/>
          </a:p>
        </p:txBody>
      </p:sp>
      <p:pic>
        <p:nvPicPr>
          <p:cNvPr descr="{&quot;id&quot;:&quot;4&quot;,&quot;backgroundColor&quot;:&quot;#FFFFFF&quot;,&quot;backgroundColorModified&quot;:false,&quot;aid&quot;:null,&quot;code&quot;:&quot;$$y_{i\\,}\\text{=}\\frac{\\exp\\left(l_{i}\\right)}{\\sum_{i=1}^{K}\\exp\\left(l_{i}\\right)}$$&quot;,&quot;font&quot;:{&quot;size&quot;:11,&quot;family&quot;:&quot;Arial&quot;,&quot;color&quot;:&quot;#000000&quot;},&quot;type&quot;:&quot;$$&quot;,&quot;ts&quot;:1755221767658,&quot;cs&quot;:&quot;W2pharTkNijPupzWty204A==&quot;,&quot;size&quot;:{&quot;width&quot;:131,&quot;height&quot;:46}}" id="184" name="Google Shape;18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9249" y="1806750"/>
            <a:ext cx="1503651" cy="52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00000&quot;,&quot;family&quot;:&quot;Arial&quot;,&quot;size&quot;:11},&quot;type&quot;:&quot;$$&quot;,&quot;id&quot;:&quot;4&quot;,&quot;aid&quot;:null,&quot;code&quot;:&quot;$$e\\,=\\,L\\left(y\\right)\\;\\text{=}-\\sum_{i=1}^{K}p_{i}\\log_{}\\left(y_{i}\\right)$$&quot;,&quot;backgroundColorModified&quot;:false,&quot;backgroundColor&quot;:&quot;#FFFFFF&quot;,&quot;ts&quot;:1755221791143,&quot;cs&quot;:&quot;nJb4xPP3YBfPNyPSX53Khg==&quot;,&quot;size&quot;:{&quot;width&quot;:208.66666666666666,&quot;height&quot;:47}}" id="185" name="Google Shape;18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4526" y="1806749"/>
            <a:ext cx="2278352" cy="51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id&quot;:&quot;4&quot;,&quot;code&quot;:&quot;\\begin{lalign*}\n&amp;{\\text{We}\\;\\text{need}\\;\\frac{\\partial e}{\\partial l}}\\\\\n&amp;{\\text{If}\\;l\\,\\text{is}\\;\\text{a}\\;m\\times1\\,\\text{vector,}\\;\\text{then}\\;\\text{above}\\;\\text{is}\\;\\text{also}\\;\\text{a}\\;m\\times1\\;\\text{vector}}\t\n\\end{lalign*}&quot;,&quot;backgroundColorModified&quot;:false,&quot;font&quot;:{&quot;family&quot;:&quot;Arial&quot;,&quot;color&quot;:&quot;#000000&quot;,&quot;size&quot;:11},&quot;backgroundColor&quot;:&quot;#FFFFFF&quot;,&quot;type&quot;:&quot;lalign*&quot;,&quot;ts&quot;:1755221919276,&quot;cs&quot;:&quot;LWRbP96Cq4nx6Y9YxZH5bQ==&quot;,&quot;size&quot;:{&quot;width&quot;:402.6666666666667,&quot;height&quot;:57.666666666666664}}" id="186" name="Google Shape;18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4524" y="2376100"/>
            <a:ext cx="4330299" cy="62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/>
          <p:nvPr>
            <p:ph type="title"/>
          </p:nvPr>
        </p:nvSpPr>
        <p:spPr>
          <a:xfrm>
            <a:off x="311700" y="445025"/>
            <a:ext cx="330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Cross Entropy Loss: Derivative</a:t>
            </a:r>
            <a:endParaRPr/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 b="11150" l="440" r="3737" t="0"/>
          <a:stretch/>
        </p:blipFill>
        <p:spPr>
          <a:xfrm>
            <a:off x="3615300" y="0"/>
            <a:ext cx="4115689" cy="508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 txBox="1"/>
          <p:nvPr>
            <p:ph type="title"/>
          </p:nvPr>
        </p:nvSpPr>
        <p:spPr>
          <a:xfrm>
            <a:off x="262700" y="312750"/>
            <a:ext cx="330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Entropy Loss: Derivative</a:t>
            </a:r>
            <a:endParaRPr/>
          </a:p>
        </p:txBody>
      </p:sp>
      <p:pic>
        <p:nvPicPr>
          <p:cNvPr id="198" name="Google Shape;198;p27"/>
          <p:cNvPicPr preferRelativeResize="0"/>
          <p:nvPr/>
        </p:nvPicPr>
        <p:blipFill rotWithShape="1">
          <a:blip r:embed="rId3">
            <a:alphaModFix/>
          </a:blip>
          <a:srcRect b="23983" l="4028" r="24548" t="0"/>
          <a:stretch/>
        </p:blipFill>
        <p:spPr>
          <a:xfrm>
            <a:off x="3948225" y="76200"/>
            <a:ext cx="3516238" cy="499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/>
          <p:nvPr>
            <p:ph type="title"/>
          </p:nvPr>
        </p:nvSpPr>
        <p:spPr>
          <a:xfrm>
            <a:off x="311700" y="244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2: Classifying points on a Spiral Dataset</a:t>
            </a:r>
            <a:endParaRPr/>
          </a:p>
        </p:txBody>
      </p:sp>
      <p:pic>
        <p:nvPicPr>
          <p:cNvPr id="204" name="Google Shape;20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9726" y="1062325"/>
            <a:ext cx="4726650" cy="34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8"/>
          <p:cNvSpPr txBox="1"/>
          <p:nvPr>
            <p:ph idx="1" type="body"/>
          </p:nvPr>
        </p:nvSpPr>
        <p:spPr>
          <a:xfrm>
            <a:off x="371025" y="1170100"/>
            <a:ext cx="3939600" cy="32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260"/>
              <a:t>In our first Neural Network example, we considered a regression problem, where the network was trained to predict the value of a sine function. Now we’ll consider a classification problem in 2D, where we have a set of points that lie on one of the arms of a spiral dataset. The task is to predict the label of the arm for each point. </a:t>
            </a:r>
            <a:endParaRPr sz="12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260"/>
              <a:t>Key differences from before:</a:t>
            </a:r>
            <a:endParaRPr sz="1260"/>
          </a:p>
          <a:p>
            <a:pPr indent="-30861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</a:pPr>
            <a:r>
              <a:rPr lang="en" sz="1260"/>
              <a:t>The dimension of our input data is now 2, rather than 1 </a:t>
            </a:r>
            <a:endParaRPr sz="1260"/>
          </a:p>
          <a:p>
            <a:pPr indent="-30861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60"/>
              <a:buChar char="-"/>
            </a:pPr>
            <a:r>
              <a:rPr lang="en" sz="1260"/>
              <a:t>Network output is a vector rather than scalar</a:t>
            </a:r>
            <a:endParaRPr sz="1260"/>
          </a:p>
          <a:p>
            <a:pPr indent="-30861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60"/>
              <a:buChar char="-"/>
            </a:pPr>
            <a:r>
              <a:rPr lang="en" sz="1260"/>
              <a:t>We’ll use cross-entropy loss rather than mean square error</a:t>
            </a:r>
            <a:endParaRPr sz="1260"/>
          </a:p>
          <a:p>
            <a:pPr indent="-30861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60"/>
              <a:buChar char="-"/>
            </a:pPr>
            <a:r>
              <a:rPr lang="en" sz="1260"/>
              <a:t>Loss function and target metric (classification accuracy) are different!</a:t>
            </a:r>
            <a:endParaRPr sz="1260"/>
          </a:p>
          <a:p>
            <a:pPr indent="-30861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60"/>
              <a:buChar char="-"/>
            </a:pPr>
            <a:r>
              <a:rPr lang="en" sz="1260"/>
              <a:t>Logging metrics in Tensorboard</a:t>
            </a:r>
            <a:endParaRPr sz="126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boundaries of our neural network: Video</a:t>
            </a:r>
            <a:endParaRPr/>
          </a:p>
        </p:txBody>
      </p:sp>
      <p:pic>
        <p:nvPicPr>
          <p:cNvPr id="211" name="Google Shape;211;p29" title="class_edges_w_relu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509463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/>
          <p:cNvSpPr txBox="1"/>
          <p:nvPr>
            <p:ph type="title"/>
          </p:nvPr>
        </p:nvSpPr>
        <p:spPr>
          <a:xfrm>
            <a:off x="311700" y="244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K-Fold Cross Validation</a:t>
            </a:r>
            <a:endParaRPr/>
          </a:p>
        </p:txBody>
      </p:sp>
      <p:sp>
        <p:nvSpPr>
          <p:cNvPr id="217" name="Google Shape;217;p30"/>
          <p:cNvSpPr txBox="1"/>
          <p:nvPr>
            <p:ph idx="1" type="body"/>
          </p:nvPr>
        </p:nvSpPr>
        <p:spPr>
          <a:xfrm>
            <a:off x="370775" y="1829700"/>
            <a:ext cx="4652100" cy="32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260"/>
              <a:t>Naive training loop:</a:t>
            </a:r>
            <a:endParaRPr b="1" sz="12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i="1" lang="en" sz="1060"/>
              <a:t>For every epoch:</a:t>
            </a:r>
            <a:endParaRPr i="1" sz="10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i="1" lang="en" sz="1060"/>
              <a:t>	For all training data:</a:t>
            </a:r>
            <a:endParaRPr i="1" sz="10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i="1" lang="en" sz="1060"/>
              <a:t>		Sample data and run training loop on training data</a:t>
            </a:r>
            <a:endParaRPr i="1" sz="10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i="1" lang="en" sz="1060"/>
              <a:t>	Evaluate performance on validation data</a:t>
            </a:r>
            <a:endParaRPr i="1" sz="10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i="1" lang="en" sz="1060"/>
              <a:t>End Training</a:t>
            </a:r>
            <a:endParaRPr i="1" sz="10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i="1" lang="en" sz="1060"/>
              <a:t>Evaluate performance on trained model on held out test data</a:t>
            </a:r>
            <a:endParaRPr i="1" sz="10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060"/>
              <a:t>But what if validation subset contains important data we want training to see?</a:t>
            </a:r>
            <a:endParaRPr sz="106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" sz="1260"/>
              <a:t>	</a:t>
            </a:r>
            <a:endParaRPr sz="1260"/>
          </a:p>
        </p:txBody>
      </p:sp>
      <p:sp>
        <p:nvSpPr>
          <p:cNvPr id="218" name="Google Shape;218;p30"/>
          <p:cNvSpPr/>
          <p:nvPr/>
        </p:nvSpPr>
        <p:spPr>
          <a:xfrm>
            <a:off x="646700" y="1132625"/>
            <a:ext cx="1603800" cy="21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0"/>
          <p:cNvSpPr/>
          <p:nvPr/>
        </p:nvSpPr>
        <p:spPr>
          <a:xfrm>
            <a:off x="2250500" y="1132625"/>
            <a:ext cx="448500" cy="2199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0"/>
          <p:cNvSpPr/>
          <p:nvPr/>
        </p:nvSpPr>
        <p:spPr>
          <a:xfrm>
            <a:off x="2699000" y="1132625"/>
            <a:ext cx="448500" cy="2199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0"/>
          <p:cNvSpPr/>
          <p:nvPr/>
        </p:nvSpPr>
        <p:spPr>
          <a:xfrm rot="5400000">
            <a:off x="1381725" y="686500"/>
            <a:ext cx="86400" cy="1556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0"/>
          <p:cNvSpPr txBox="1"/>
          <p:nvPr/>
        </p:nvSpPr>
        <p:spPr>
          <a:xfrm>
            <a:off x="1196350" y="1477525"/>
            <a:ext cx="55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Train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23" name="Google Shape;223;p30"/>
          <p:cNvSpPr/>
          <p:nvPr/>
        </p:nvSpPr>
        <p:spPr>
          <a:xfrm rot="5400000">
            <a:off x="2408725" y="1221850"/>
            <a:ext cx="103500" cy="4683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0"/>
          <p:cNvSpPr/>
          <p:nvPr/>
        </p:nvSpPr>
        <p:spPr>
          <a:xfrm rot="5400000">
            <a:off x="2871500" y="1221850"/>
            <a:ext cx="103500" cy="4683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0"/>
          <p:cNvSpPr txBox="1"/>
          <p:nvPr/>
        </p:nvSpPr>
        <p:spPr>
          <a:xfrm>
            <a:off x="2176225" y="1477525"/>
            <a:ext cx="56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Validate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26" name="Google Shape;226;p30"/>
          <p:cNvSpPr txBox="1"/>
          <p:nvPr/>
        </p:nvSpPr>
        <p:spPr>
          <a:xfrm>
            <a:off x="2757250" y="1477525"/>
            <a:ext cx="7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Test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27" name="Google Shape;227;p30"/>
          <p:cNvSpPr txBox="1"/>
          <p:nvPr/>
        </p:nvSpPr>
        <p:spPr>
          <a:xfrm>
            <a:off x="5320375" y="295925"/>
            <a:ext cx="3772500" cy="23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60">
                <a:solidFill>
                  <a:schemeClr val="dk2"/>
                </a:solidFill>
              </a:rPr>
              <a:t>K-Fold Cross Validation:</a:t>
            </a:r>
            <a:endParaRPr b="1" sz="106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0">
                <a:solidFill>
                  <a:schemeClr val="dk2"/>
                </a:solidFill>
              </a:rPr>
              <a:t>Shuffle &amp; Split the dataset into K folds (e.g., K=5).</a:t>
            </a:r>
            <a:endParaRPr sz="106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60">
                <a:solidFill>
                  <a:schemeClr val="dk2"/>
                </a:solidFill>
              </a:rPr>
              <a:t>Iteration:</a:t>
            </a:r>
            <a:r>
              <a:rPr lang="en" sz="1060">
                <a:solidFill>
                  <a:schemeClr val="dk2"/>
                </a:solidFill>
              </a:rPr>
              <a:t> For each of the K folds:</a:t>
            </a:r>
            <a:endParaRPr sz="1060">
              <a:solidFill>
                <a:schemeClr val="dk2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n" sz="1060">
                <a:solidFill>
                  <a:schemeClr val="dk2"/>
                </a:solidFill>
              </a:rPr>
              <a:t>Use K-1 folds for training.</a:t>
            </a:r>
            <a:endParaRPr sz="1060">
              <a:solidFill>
                <a:schemeClr val="dk2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n" sz="1060">
                <a:solidFill>
                  <a:schemeClr val="dk2"/>
                </a:solidFill>
              </a:rPr>
              <a:t>Use the remaining 1 fold for validation (testing).</a:t>
            </a:r>
            <a:endParaRPr sz="106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060">
                <a:solidFill>
                  <a:schemeClr val="dk2"/>
                </a:solidFill>
              </a:rPr>
              <a:t>Repeat until every fold has served as the validation set exactly once.</a:t>
            </a:r>
            <a:br>
              <a:rPr lang="en" sz="1060">
                <a:solidFill>
                  <a:schemeClr val="dk2"/>
                </a:solidFill>
              </a:rPr>
            </a:br>
            <a:endParaRPr sz="106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0">
                <a:solidFill>
                  <a:schemeClr val="dk2"/>
                </a:solidFill>
              </a:rPr>
              <a:t>Aggregate results by averaging the performance metrics (accuracy, F1, RMSE, etc.).</a:t>
            </a:r>
            <a:endParaRPr sz="1050">
              <a:solidFill>
                <a:schemeClr val="dk1"/>
              </a:solidFill>
            </a:endParaRPr>
          </a:p>
        </p:txBody>
      </p:sp>
      <p:sp>
        <p:nvSpPr>
          <p:cNvPr id="228" name="Google Shape;228;p30"/>
          <p:cNvSpPr txBox="1"/>
          <p:nvPr/>
        </p:nvSpPr>
        <p:spPr>
          <a:xfrm>
            <a:off x="5391850" y="2722650"/>
            <a:ext cx="30000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1060">
                <a:solidFill>
                  <a:schemeClr val="dk2"/>
                </a:solidFill>
              </a:rPr>
              <a:t>Example:</a:t>
            </a:r>
            <a:endParaRPr b="1" sz="106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060">
                <a:solidFill>
                  <a:schemeClr val="dk2"/>
                </a:solidFill>
              </a:rPr>
              <a:t>Dataset → split into folds: [F1, F2, F3]</a:t>
            </a:r>
            <a:endParaRPr sz="1060">
              <a:solidFill>
                <a:schemeClr val="dk2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en" sz="1060">
                <a:solidFill>
                  <a:schemeClr val="dk2"/>
                </a:solidFill>
              </a:rPr>
              <a:t>Run 1:</a:t>
            </a:r>
            <a:r>
              <a:rPr lang="en" sz="1060">
                <a:solidFill>
                  <a:schemeClr val="dk2"/>
                </a:solidFill>
              </a:rPr>
              <a:t> Train = [F2+F3], Test = [F1]</a:t>
            </a:r>
            <a:endParaRPr sz="1060">
              <a:solidFill>
                <a:schemeClr val="dk2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en" sz="1060">
                <a:solidFill>
                  <a:schemeClr val="dk2"/>
                </a:solidFill>
              </a:rPr>
              <a:t>Run 2:</a:t>
            </a:r>
            <a:r>
              <a:rPr lang="en" sz="1060">
                <a:solidFill>
                  <a:schemeClr val="dk2"/>
                </a:solidFill>
              </a:rPr>
              <a:t> Train = [F1+F3], Test = [F2]</a:t>
            </a:r>
            <a:endParaRPr sz="1060">
              <a:solidFill>
                <a:schemeClr val="dk2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en" sz="1060">
                <a:solidFill>
                  <a:schemeClr val="dk2"/>
                </a:solidFill>
              </a:rPr>
              <a:t>Run 3:</a:t>
            </a:r>
            <a:r>
              <a:rPr lang="en" sz="1060">
                <a:solidFill>
                  <a:schemeClr val="dk2"/>
                </a:solidFill>
              </a:rPr>
              <a:t> Train = [F1+F2], Test = [F3]</a:t>
            </a:r>
            <a:endParaRPr sz="106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1060">
                <a:solidFill>
                  <a:schemeClr val="dk2"/>
                </a:solidFill>
              </a:rPr>
              <a:t>Final performance = average of all 5 test results.</a:t>
            </a:r>
            <a:endParaRPr sz="1050">
              <a:solidFill>
                <a:schemeClr val="dk1"/>
              </a:solidFill>
            </a:endParaRPr>
          </a:p>
        </p:txBody>
      </p:sp>
      <p:sp>
        <p:nvSpPr>
          <p:cNvPr id="229" name="Google Shape;229;p30"/>
          <p:cNvSpPr txBox="1"/>
          <p:nvPr/>
        </p:nvSpPr>
        <p:spPr>
          <a:xfrm>
            <a:off x="4746850" y="4619550"/>
            <a:ext cx="40656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060">
                <a:solidFill>
                  <a:schemeClr val="dk2"/>
                </a:solidFill>
              </a:rPr>
              <a:t>Generally not used during large Neural Network training..</a:t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>
            <p:ph type="title"/>
          </p:nvPr>
        </p:nvSpPr>
        <p:spPr>
          <a:xfrm>
            <a:off x="311700" y="244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235" name="Google Shape;235;p31"/>
          <p:cNvSpPr txBox="1"/>
          <p:nvPr/>
        </p:nvSpPr>
        <p:spPr>
          <a:xfrm>
            <a:off x="408425" y="940925"/>
            <a:ext cx="7926900" cy="27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-"/>
            </a:pPr>
            <a:r>
              <a:rPr lang="en" sz="1060">
                <a:solidFill>
                  <a:schemeClr val="dk2"/>
                </a:solidFill>
              </a:rPr>
              <a:t>Derive the backpropagation equation for x-entropy loss yourself, </a:t>
            </a:r>
            <a:r>
              <a:rPr lang="en" sz="1060">
                <a:solidFill>
                  <a:schemeClr val="dk2"/>
                </a:solidFill>
              </a:rPr>
              <a:t>referring</a:t>
            </a:r>
            <a:r>
              <a:rPr lang="en" sz="1060">
                <a:solidFill>
                  <a:schemeClr val="dk2"/>
                </a:solidFill>
              </a:rPr>
              <a:t> to the notes as needed</a:t>
            </a:r>
            <a:br>
              <a:rPr lang="en" sz="1060">
                <a:solidFill>
                  <a:schemeClr val="dk2"/>
                </a:solidFill>
              </a:rPr>
            </a:br>
            <a:endParaRPr sz="1060">
              <a:solidFill>
                <a:schemeClr val="dk2"/>
              </a:solidFill>
            </a:endParaRPr>
          </a:p>
          <a:p>
            <a:pPr indent="-29591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60"/>
              <a:buChar char="-"/>
            </a:pPr>
            <a:r>
              <a:rPr lang="en" sz="1060">
                <a:solidFill>
                  <a:schemeClr val="dk2"/>
                </a:solidFill>
              </a:rPr>
              <a:t>Why can’t we use the logits directly in x-entropy loss? Why do we take the exponential of each logit? Hint: Can probabilities be negative? What about logits?</a:t>
            </a:r>
            <a:br>
              <a:rPr lang="en" sz="1060">
                <a:solidFill>
                  <a:schemeClr val="dk2"/>
                </a:solidFill>
              </a:rPr>
            </a:br>
            <a:endParaRPr sz="1060">
              <a:solidFill>
                <a:schemeClr val="dk2"/>
              </a:solidFill>
            </a:endParaRPr>
          </a:p>
          <a:p>
            <a:pPr indent="-29591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60"/>
              <a:buChar char="-"/>
            </a:pPr>
            <a:r>
              <a:rPr lang="en" sz="1060">
                <a:solidFill>
                  <a:schemeClr val="dk2"/>
                </a:solidFill>
              </a:rPr>
              <a:t>Run the spiral data classification code (class3/simple_nn2.py) with default values.. You can turn on the draw_movie_frame feature to capture the classification boundaries as the optimization proceeds and the network learns. </a:t>
            </a:r>
            <a:br>
              <a:rPr lang="en" sz="1060">
                <a:solidFill>
                  <a:schemeClr val="dk2"/>
                </a:solidFill>
              </a:rPr>
            </a:br>
            <a:endParaRPr sz="1060">
              <a:solidFill>
                <a:schemeClr val="dk2"/>
              </a:solidFill>
            </a:endParaRPr>
          </a:p>
          <a:p>
            <a:pPr indent="-29591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60"/>
              <a:buChar char="-"/>
            </a:pPr>
            <a:r>
              <a:rPr lang="en" sz="1060">
                <a:solidFill>
                  <a:schemeClr val="dk2"/>
                </a:solidFill>
              </a:rPr>
              <a:t>Run the spiral data classification code without the ReLU non-linearities.. What do you observe?</a:t>
            </a:r>
            <a:br>
              <a:rPr lang="en" sz="1060">
                <a:solidFill>
                  <a:schemeClr val="dk2"/>
                </a:solidFill>
              </a:rPr>
            </a:br>
            <a:endParaRPr sz="1060">
              <a:solidFill>
                <a:schemeClr val="dk2"/>
              </a:solidFill>
            </a:endParaRPr>
          </a:p>
          <a:p>
            <a:pPr indent="-29591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60"/>
              <a:buChar char="-"/>
            </a:pPr>
            <a:r>
              <a:rPr lang="en" sz="1060">
                <a:solidFill>
                  <a:schemeClr val="dk2"/>
                </a:solidFill>
              </a:rPr>
              <a:t>Run the spiral data classification code for different hyperparameter values</a:t>
            </a:r>
            <a:endParaRPr sz="1060">
              <a:solidFill>
                <a:schemeClr val="dk2"/>
              </a:solidFill>
            </a:endParaRPr>
          </a:p>
          <a:p>
            <a:pPr indent="-29591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60"/>
              <a:buChar char="-"/>
            </a:pPr>
            <a:r>
              <a:rPr lang="en" sz="1060">
                <a:solidFill>
                  <a:schemeClr val="dk2"/>
                </a:solidFill>
              </a:rPr>
              <a:t>Optimizer [simple, adam]</a:t>
            </a:r>
            <a:endParaRPr sz="1060">
              <a:solidFill>
                <a:schemeClr val="dk2"/>
              </a:solidFill>
            </a:endParaRPr>
          </a:p>
          <a:p>
            <a:pPr indent="-29591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60"/>
              <a:buChar char="-"/>
            </a:pPr>
            <a:r>
              <a:rPr lang="en" sz="1060">
                <a:solidFill>
                  <a:schemeClr val="dk2"/>
                </a:solidFill>
              </a:rPr>
              <a:t>Number of hidden layers [2,3]</a:t>
            </a:r>
            <a:endParaRPr sz="1060">
              <a:solidFill>
                <a:schemeClr val="dk2"/>
              </a:solidFill>
            </a:endParaRPr>
          </a:p>
          <a:p>
            <a:pPr indent="-29591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60"/>
              <a:buChar char="-"/>
            </a:pPr>
            <a:r>
              <a:rPr lang="en" sz="1060">
                <a:solidFill>
                  <a:schemeClr val="dk2"/>
                </a:solidFill>
              </a:rPr>
              <a:t>Learning rate schedule [constant, linear]</a:t>
            </a:r>
            <a:endParaRPr sz="1060">
              <a:solidFill>
                <a:schemeClr val="dk2"/>
              </a:solidFill>
            </a:endParaRPr>
          </a:p>
          <a:p>
            <a:pPr indent="-29591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60"/>
              <a:buChar char="-"/>
            </a:pPr>
            <a:r>
              <a:rPr lang="en" sz="1060">
                <a:solidFill>
                  <a:schemeClr val="dk2"/>
                </a:solidFill>
              </a:rPr>
              <a:t>Different values of initial learning rate [0.01 - 0.1 in steps of .05]</a:t>
            </a:r>
            <a:endParaRPr sz="106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0">
                <a:solidFill>
                  <a:schemeClr val="dk2"/>
                </a:solidFill>
              </a:rPr>
              <a:t>	For each “experiment”, log the loss progression and final metrics (loss, accuracy on test data) to Tensorflow and MLFlow</a:t>
            </a:r>
            <a:endParaRPr sz="106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Accuracy can be misleading, specially when dataset is unbalanced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42" name="Google Shape;242;p32"/>
          <p:cNvGraphicFramePr/>
          <p:nvPr/>
        </p:nvGraphicFramePr>
        <p:xfrm>
          <a:off x="918075" y="240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{890C13F4-2B98-4E3F-9E77-6AEF00A6A4DA}</a:tableStyleId>
              </a:tblPr>
              <a:tblGrid>
                <a:gridCol w="1107400"/>
                <a:gridCol w="1107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3" name="Google Shape;243;p32"/>
          <p:cNvSpPr txBox="1"/>
          <p:nvPr/>
        </p:nvSpPr>
        <p:spPr>
          <a:xfrm>
            <a:off x="1031150" y="2074600"/>
            <a:ext cx="1017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Declare H0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44" name="Google Shape;244;p32"/>
          <p:cNvSpPr txBox="1"/>
          <p:nvPr/>
        </p:nvSpPr>
        <p:spPr>
          <a:xfrm>
            <a:off x="2084475" y="2074600"/>
            <a:ext cx="1017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Declare H1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45" name="Google Shape;245;p32"/>
          <p:cNvSpPr txBox="1"/>
          <p:nvPr/>
        </p:nvSpPr>
        <p:spPr>
          <a:xfrm>
            <a:off x="311700" y="2428600"/>
            <a:ext cx="54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Is H0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46" name="Google Shape;246;p32"/>
          <p:cNvSpPr txBox="1"/>
          <p:nvPr/>
        </p:nvSpPr>
        <p:spPr>
          <a:xfrm>
            <a:off x="311700" y="2798350"/>
            <a:ext cx="54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Is H1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47" name="Google Shape;247;p32"/>
          <p:cNvSpPr txBox="1"/>
          <p:nvPr/>
        </p:nvSpPr>
        <p:spPr>
          <a:xfrm>
            <a:off x="941400" y="3367550"/>
            <a:ext cx="38223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C0D0E"/>
                </a:solidFill>
                <a:highlight>
                  <a:srgbClr val="FFFFFF"/>
                </a:highlight>
              </a:rPr>
              <a:t>precision is the fraction of events where we </a:t>
            </a:r>
            <a:r>
              <a:rPr i="1" lang="en" sz="1150">
                <a:solidFill>
                  <a:srgbClr val="0C0D0E"/>
                </a:solidFill>
                <a:highlight>
                  <a:srgbClr val="FFFFFF"/>
                </a:highlight>
              </a:rPr>
              <a:t>correctly</a:t>
            </a:r>
            <a:r>
              <a:rPr lang="en" sz="1150">
                <a:solidFill>
                  <a:srgbClr val="0C0D0E"/>
                </a:solidFill>
                <a:highlight>
                  <a:srgbClr val="FFFFFF"/>
                </a:highlight>
              </a:rPr>
              <a:t> declared h0, out of all instances where we declared h0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48" name="Google Shape;248;p32"/>
          <p:cNvSpPr txBox="1"/>
          <p:nvPr/>
        </p:nvSpPr>
        <p:spPr>
          <a:xfrm>
            <a:off x="3433875" y="2335250"/>
            <a:ext cx="38223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C0D0E"/>
                </a:solidFill>
                <a:highlight>
                  <a:srgbClr val="FFFFFF"/>
                </a:highlight>
              </a:rPr>
              <a:t>Recall is the fraction of events where we </a:t>
            </a:r>
            <a:r>
              <a:rPr i="1" lang="en" sz="1150">
                <a:solidFill>
                  <a:srgbClr val="0C0D0E"/>
                </a:solidFill>
                <a:highlight>
                  <a:srgbClr val="FFFFFF"/>
                </a:highlight>
              </a:rPr>
              <a:t>correctly</a:t>
            </a:r>
            <a:r>
              <a:rPr lang="en" sz="1150">
                <a:solidFill>
                  <a:srgbClr val="0C0D0E"/>
                </a:solidFill>
                <a:highlight>
                  <a:srgbClr val="FFFFFF"/>
                </a:highlight>
              </a:rPr>
              <a:t> declared h0, out of all instances that are h0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