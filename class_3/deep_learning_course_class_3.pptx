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103042-153E-43A9-A94A-129378D5E5D6}">
  <a:tblStyle styleId="{CD103042-153E-43A9-A94A-129378D5E5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940FC5AF-E611-44CF-A7AE-0649F3CD6FF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3ecbe50c2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3ecbe50c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dc17e65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dc17e65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dc17e65d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7dc17e65d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7dc17e65d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7dc17e65d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7dc17e65d4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7dc17e65d4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dc17e65d4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dc17e65d4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7dc17e65d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7dc17e65d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dc17e65d4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dc17e65d4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5416f2fe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5416f2fe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5416f2fe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45416f2fe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0d0305001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0d030500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45416f2fe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45416f2fe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8a5a2064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8a5a2064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0d0305001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80d0305001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80d0305001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80d0305001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80d0305001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80d0305001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45416f2fe5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45416f2fe5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45416f2fe5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45416f2fe5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45416f2fe5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45416f2fe5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80d0305001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80d0305001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63ce1a276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63ce1a276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is this non-trivial?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Non-linear classification boundaries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 linear system can never solve this problem with a high degree of accuracy!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63ce1a276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63ce1a276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646784d52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646784d52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dc17e65d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7dc17e65d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63ce1a276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63ce1a276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4.png"/><Relationship Id="rId4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5.png"/><Relationship Id="rId4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docs.pytorch.org/tutorials/recipes/recipes/profiler_recipe.html" TargetMode="External"/><Relationship Id="rId4" Type="http://schemas.openxmlformats.org/officeDocument/2006/relationships/hyperlink" Target="https://developer.nvidia.com/nsight-systems" TargetMode="External"/><Relationship Id="rId5" Type="http://schemas.openxmlformats.org/officeDocument/2006/relationships/hyperlink" Target="https://www.intel.com/content/www/us/en/developer/tools/oneapi/vtune-profiler.html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9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png"/><Relationship Id="rId4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drive.google.com/file/d/1rOEsux6DuSI3jcDd1EcXcxEb2AydzG_O/view" TargetMode="External"/><Relationship Id="rId4" Type="http://schemas.openxmlformats.org/officeDocument/2006/relationships/image" Target="../media/image23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 3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293225"/>
            <a:ext cx="8520600" cy="32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Monitoring and tracking experiments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Cross Entropy Loss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Building a Neural Network to classify points on a spiral dataset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K-Fold Cross Validation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277300" y="229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TensorBoard</a:t>
            </a:r>
            <a:endParaRPr/>
          </a:p>
        </p:txBody>
      </p:sp>
      <p:sp>
        <p:nvSpPr>
          <p:cNvPr id="67" name="Google Shape;67;p15"/>
          <p:cNvSpPr/>
          <p:nvPr/>
        </p:nvSpPr>
        <p:spPr>
          <a:xfrm>
            <a:off x="212200" y="1431375"/>
            <a:ext cx="1396200" cy="4641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Pytorch Program</a:t>
            </a:r>
            <a:endParaRPr sz="1200"/>
          </a:p>
        </p:txBody>
      </p:sp>
      <p:sp>
        <p:nvSpPr>
          <p:cNvPr id="68" name="Google Shape;68;p15"/>
          <p:cNvSpPr/>
          <p:nvPr/>
        </p:nvSpPr>
        <p:spPr>
          <a:xfrm>
            <a:off x="2583650" y="1431400"/>
            <a:ext cx="1396200" cy="4641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Logs directory</a:t>
            </a:r>
            <a:endParaRPr sz="1200"/>
          </a:p>
        </p:txBody>
      </p:sp>
      <p:cxnSp>
        <p:nvCxnSpPr>
          <p:cNvPr id="69" name="Google Shape;69;p15"/>
          <p:cNvCxnSpPr>
            <a:stCxn id="67" idx="3"/>
            <a:endCxn id="68" idx="1"/>
          </p:cNvCxnSpPr>
          <p:nvPr/>
        </p:nvCxnSpPr>
        <p:spPr>
          <a:xfrm>
            <a:off x="1608400" y="1663425"/>
            <a:ext cx="975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" name="Google Shape;70;p15"/>
          <p:cNvSpPr/>
          <p:nvPr/>
        </p:nvSpPr>
        <p:spPr>
          <a:xfrm>
            <a:off x="2583650" y="2312400"/>
            <a:ext cx="1396200" cy="5343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Tensorboard Server</a:t>
            </a:r>
            <a:endParaRPr sz="1100"/>
          </a:p>
        </p:txBody>
      </p:sp>
      <p:cxnSp>
        <p:nvCxnSpPr>
          <p:cNvPr id="71" name="Google Shape;71;p15"/>
          <p:cNvCxnSpPr>
            <a:stCxn id="70" idx="0"/>
            <a:endCxn id="68" idx="2"/>
          </p:cNvCxnSpPr>
          <p:nvPr/>
        </p:nvCxnSpPr>
        <p:spPr>
          <a:xfrm rot="10800000">
            <a:off x="3281750" y="1895400"/>
            <a:ext cx="0" cy="417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" name="Google Shape;72;p15"/>
          <p:cNvCxnSpPr>
            <a:stCxn id="73" idx="1"/>
            <a:endCxn id="70" idx="3"/>
          </p:cNvCxnSpPr>
          <p:nvPr/>
        </p:nvCxnSpPr>
        <p:spPr>
          <a:xfrm rot="10800000">
            <a:off x="3979750" y="2579575"/>
            <a:ext cx="1254300" cy="17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4" name="Google Shape;74;p15"/>
          <p:cNvSpPr txBox="1"/>
          <p:nvPr/>
        </p:nvSpPr>
        <p:spPr>
          <a:xfrm>
            <a:off x="1794025" y="1308500"/>
            <a:ext cx="82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Metrics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277300" y="2360925"/>
            <a:ext cx="180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Pip install tensorboard</a:t>
            </a:r>
            <a:endParaRPr sz="1200">
              <a:solidFill>
                <a:schemeClr val="dk2"/>
              </a:solidFill>
            </a:endParaRPr>
          </a:p>
        </p:txBody>
      </p:sp>
      <p:graphicFrame>
        <p:nvGraphicFramePr>
          <p:cNvPr id="76" name="Google Shape;76;p15"/>
          <p:cNvGraphicFramePr/>
          <p:nvPr/>
        </p:nvGraphicFramePr>
        <p:xfrm>
          <a:off x="212200" y="637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{CD103042-153E-43A9-A94A-129378D5E5D6}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7" name="Google Shape;77;p15"/>
          <p:cNvGraphicFramePr/>
          <p:nvPr/>
        </p:nvGraphicFramePr>
        <p:xfrm>
          <a:off x="231250" y="912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{CD103042-153E-43A9-A94A-129378D5E5D6}</a:tableStyleId>
              </a:tblPr>
              <a:tblGrid>
                <a:gridCol w="4482150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Primary Use:</a:t>
                      </a:r>
                      <a:r>
                        <a:rPr lang="en" sz="1200"/>
                        <a:t> Visualize training metrics and debugging info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78" name="Google Shape;78;p15"/>
          <p:cNvSpPr txBox="1"/>
          <p:nvPr/>
        </p:nvSpPr>
        <p:spPr>
          <a:xfrm>
            <a:off x="22900" y="4872400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</a:rPr>
              <a:t>class3/</a:t>
            </a:r>
            <a:r>
              <a:rPr lang="en" sz="800">
                <a:solidFill>
                  <a:schemeClr val="dk1"/>
                </a:solidFill>
              </a:rPr>
              <a:t>simple_nn1_tb.py</a:t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3968700" y="1422238"/>
            <a:ext cx="975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Can be local or cloud storage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2438550" y="2856600"/>
            <a:ext cx="191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Can run locally or cloud-hosted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5234050" y="2510875"/>
            <a:ext cx="2175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UI: Can use port forwarding if Tensorboard server running remotely </a:t>
            </a:r>
            <a:endParaRPr sz="900">
              <a:solidFill>
                <a:schemeClr val="dk1"/>
              </a:solidFill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00" y="3284226"/>
            <a:ext cx="6871775" cy="153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24850" y="154661"/>
            <a:ext cx="3237650" cy="1880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Monitoring using TensorBoard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4" cy="16832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005772"/>
            <a:ext cx="6029515" cy="1985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/>
          <p:nvPr/>
        </p:nvSpPr>
        <p:spPr>
          <a:xfrm>
            <a:off x="619550" y="2322000"/>
            <a:ext cx="943500" cy="13293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Pytorch Program</a:t>
            </a:r>
            <a:endParaRPr/>
          </a:p>
        </p:txBody>
      </p:sp>
      <p:cxnSp>
        <p:nvCxnSpPr>
          <p:cNvPr id="95" name="Google Shape;95;p17"/>
          <p:cNvCxnSpPr>
            <a:stCxn id="94" idx="3"/>
            <a:endCxn id="96" idx="1"/>
          </p:cNvCxnSpPr>
          <p:nvPr/>
        </p:nvCxnSpPr>
        <p:spPr>
          <a:xfrm>
            <a:off x="1563050" y="2986650"/>
            <a:ext cx="1319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6" name="Google Shape;96;p17"/>
          <p:cNvSpPr/>
          <p:nvPr/>
        </p:nvSpPr>
        <p:spPr>
          <a:xfrm>
            <a:off x="2882275" y="2283750"/>
            <a:ext cx="1110900" cy="1405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 Server</a:t>
            </a:r>
            <a:endParaRPr/>
          </a:p>
        </p:txBody>
      </p:sp>
      <p:cxnSp>
        <p:nvCxnSpPr>
          <p:cNvPr id="97" name="Google Shape;97;p17"/>
          <p:cNvCxnSpPr>
            <a:endCxn id="98" idx="0"/>
          </p:cNvCxnSpPr>
          <p:nvPr/>
        </p:nvCxnSpPr>
        <p:spPr>
          <a:xfrm>
            <a:off x="1563025" y="3442850"/>
            <a:ext cx="1211100" cy="55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9" name="Google Shape;99;p17"/>
          <p:cNvSpPr txBox="1"/>
          <p:nvPr/>
        </p:nvSpPr>
        <p:spPr>
          <a:xfrm>
            <a:off x="1678450" y="2933050"/>
            <a:ext cx="11109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Metadata</a:t>
            </a:r>
            <a:br>
              <a:rPr lang="en" sz="700">
                <a:solidFill>
                  <a:schemeClr val="dk1"/>
                </a:solidFill>
              </a:rPr>
            </a:br>
            <a:r>
              <a:rPr lang="en" sz="700">
                <a:solidFill>
                  <a:schemeClr val="dk1"/>
                </a:solidFill>
              </a:rPr>
              <a:t>Params, metrics, tags..</a:t>
            </a:r>
            <a:endParaRPr sz="700">
              <a:solidFill>
                <a:schemeClr val="dk1"/>
              </a:solidFill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233825" y="941175"/>
            <a:ext cx="73662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Primary Use:</a:t>
            </a:r>
            <a:r>
              <a:rPr lang="en" sz="1100">
                <a:solidFill>
                  <a:schemeClr val="dk2"/>
                </a:solidFill>
              </a:rPr>
              <a:t> End-to-end ML lifecycle: track experiments, manage models, deployments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Run MLFlow server with:</a:t>
            </a:r>
            <a:endParaRPr sz="1100">
              <a:solidFill>
                <a:schemeClr val="dk2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b="1" lang="en" sz="1000">
                <a:solidFill>
                  <a:schemeClr val="dk2"/>
                </a:solidFill>
              </a:rPr>
              <a:t>backend store</a:t>
            </a:r>
            <a:r>
              <a:rPr lang="en" sz="1000">
                <a:solidFill>
                  <a:schemeClr val="dk2"/>
                </a:solidFill>
              </a:rPr>
              <a:t>: Typically a database such as PostGres, MySQL, or MSSQL. For storing parameters, metrics, and tags</a:t>
            </a:r>
            <a:endParaRPr sz="1000">
              <a:solidFill>
                <a:schemeClr val="dk2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b="1" lang="en" sz="1000">
                <a:solidFill>
                  <a:schemeClr val="dk2"/>
                </a:solidFill>
              </a:rPr>
              <a:t>artifact store:</a:t>
            </a:r>
            <a:r>
              <a:rPr lang="en" sz="1000">
                <a:solidFill>
                  <a:schemeClr val="dk2"/>
                </a:solidFill>
              </a:rPr>
              <a:t> local directory or cloud storage such as S3. For large artifacts such as model weights, checkpoints.. 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369875" y="3755725"/>
            <a:ext cx="1577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If no mlflow tracking server configured, mlflow client will write metrics to local mlruns directory</a:t>
            </a:r>
            <a:endParaRPr sz="900">
              <a:solidFill>
                <a:schemeClr val="dk2"/>
              </a:solidFill>
            </a:endParaRPr>
          </a:p>
        </p:txBody>
      </p:sp>
      <p:cxnSp>
        <p:nvCxnSpPr>
          <p:cNvPr id="102" name="Google Shape;102;p17"/>
          <p:cNvCxnSpPr>
            <a:endCxn id="103" idx="1"/>
          </p:cNvCxnSpPr>
          <p:nvPr/>
        </p:nvCxnSpPr>
        <p:spPr>
          <a:xfrm>
            <a:off x="3998700" y="2654400"/>
            <a:ext cx="57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3" name="Google Shape;103;p17"/>
          <p:cNvSpPr/>
          <p:nvPr/>
        </p:nvSpPr>
        <p:spPr>
          <a:xfrm>
            <a:off x="4572000" y="2322000"/>
            <a:ext cx="1110900" cy="664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Backend store</a:t>
            </a:r>
            <a:endParaRPr/>
          </a:p>
        </p:txBody>
      </p:sp>
      <p:sp>
        <p:nvSpPr>
          <p:cNvPr id="98" name="Google Shape;98;p17"/>
          <p:cNvSpPr/>
          <p:nvPr/>
        </p:nvSpPr>
        <p:spPr>
          <a:xfrm>
            <a:off x="2218675" y="3993050"/>
            <a:ext cx="1110900" cy="664800"/>
          </a:xfrm>
          <a:prstGeom prst="roundRect">
            <a:avLst>
              <a:gd fmla="val 9352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 store</a:t>
            </a:r>
            <a:endParaRPr/>
          </a:p>
        </p:txBody>
      </p:sp>
      <p:cxnSp>
        <p:nvCxnSpPr>
          <p:cNvPr id="104" name="Google Shape;104;p17"/>
          <p:cNvCxnSpPr/>
          <p:nvPr/>
        </p:nvCxnSpPr>
        <p:spPr>
          <a:xfrm rot="10800000">
            <a:off x="1577200" y="2638375"/>
            <a:ext cx="1313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5" name="Google Shape;105;p17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MLFlow</a:t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1563050" y="2221963"/>
            <a:ext cx="13191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700">
                <a:solidFill>
                  <a:schemeClr val="dk1"/>
                </a:solidFill>
              </a:rPr>
              <a:t>Artifact location, presigned S3 URLs..</a:t>
            </a:r>
            <a:endParaRPr sz="700">
              <a:solidFill>
                <a:schemeClr val="dk1"/>
              </a:solidFill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1947107" y="3349450"/>
            <a:ext cx="94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Artifacts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933650" y="2371825"/>
            <a:ext cx="705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Metadata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075" y="4721275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</a:rPr>
              <a:t>class3/simple_nn1_mlflow.py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MLFlow: Comparing Runs of an Experiment </a:t>
            </a:r>
            <a:endParaRPr/>
          </a:p>
        </p:txBody>
      </p:sp>
      <p:pic>
        <p:nvPicPr>
          <p:cNvPr id="115" name="Google Shape;1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700" y="2453901"/>
            <a:ext cx="8332602" cy="2654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8"/>
          <p:cNvPicPr preferRelativeResize="0"/>
          <p:nvPr/>
        </p:nvPicPr>
        <p:blipFill rotWithShape="1">
          <a:blip r:embed="rId4">
            <a:alphaModFix/>
          </a:blip>
          <a:srcRect b="0" l="0" r="48100" t="0"/>
          <a:stretch/>
        </p:blipFill>
        <p:spPr>
          <a:xfrm>
            <a:off x="0" y="917125"/>
            <a:ext cx="2956875" cy="238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/>
          <p:nvPr/>
        </p:nvSpPr>
        <p:spPr>
          <a:xfrm flipH="1" rot="10800000">
            <a:off x="3043092" y="2192700"/>
            <a:ext cx="822600" cy="6582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445025"/>
            <a:ext cx="1557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MLFLow</a:t>
            </a:r>
            <a:endParaRPr/>
          </a:p>
        </p:txBody>
      </p:sp>
      <p:pic>
        <p:nvPicPr>
          <p:cNvPr id="123" name="Google Shape;12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1400" y="152400"/>
            <a:ext cx="6970200" cy="4283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9"/>
          <p:cNvPicPr preferRelativeResize="0"/>
          <p:nvPr/>
        </p:nvPicPr>
        <p:blipFill rotWithShape="1">
          <a:blip r:embed="rId4">
            <a:alphaModFix/>
          </a:blip>
          <a:srcRect b="0" l="0" r="48100" t="0"/>
          <a:stretch/>
        </p:blipFill>
        <p:spPr>
          <a:xfrm>
            <a:off x="53150" y="2761175"/>
            <a:ext cx="2956875" cy="238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Monitoring using Weights and Biases</a:t>
            </a:r>
            <a:endParaRPr/>
          </a:p>
        </p:txBody>
      </p:sp>
      <p:graphicFrame>
        <p:nvGraphicFramePr>
          <p:cNvPr id="130" name="Google Shape;130;p20"/>
          <p:cNvGraphicFramePr/>
          <p:nvPr/>
        </p:nvGraphicFramePr>
        <p:xfrm>
          <a:off x="348025" y="91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{940FC5AF-E611-44CF-A7AE-0649F3CD6FFD}</a:tableStyleId>
              </a:tblPr>
              <a:tblGrid>
                <a:gridCol w="2782400"/>
                <a:gridCol w="2782400"/>
                <a:gridCol w="2782400"/>
              </a:tblGrid>
              <a:tr h="382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Area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Weights &amp; Biases (W&amp;B)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MLflow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Core goal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Experiment tracking &amp; collaboration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End-to-end ML lifecycle (track, package, registry, serve)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Hosting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Primarily </a:t>
                      </a:r>
                      <a:r>
                        <a:rPr b="1" lang="en" sz="1200"/>
                        <a:t>SaaS</a:t>
                      </a:r>
                      <a:r>
                        <a:rPr lang="en" sz="1200"/>
                        <a:t> (with enterprise self-host/on-prem options)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Open source</a:t>
                      </a:r>
                      <a:r>
                        <a:rPr lang="en" sz="1200"/>
                        <a:t>, easy to self-host (FS/DB/S3/GCS/etc.)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Experiment tracking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Excellent UI/UX, live dashboards, rich comparisons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Solid tracking; simpler UI; highly portable metadata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733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Hyperparam optimization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Sweeps</a:t>
                      </a:r>
                      <a:r>
                        <a:rPr lang="en" sz="1200"/>
                        <a:t>: first-class HPO with schedulers/search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 native HPO; plug in Optuna/Ray/Tune and log to MLflow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55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Collaboration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Reports, tables, comments, sharing, org features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Basic comparisons; collaboration mostly via your infra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Cost/lock-in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SaaS convenience; enterprise plans; some lock-in risk via UI features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 license cost; infra cost only; minimal lock-in (files/API)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31" name="Google Shape;131;p20"/>
          <p:cNvSpPr txBox="1"/>
          <p:nvPr/>
        </p:nvSpPr>
        <p:spPr>
          <a:xfrm>
            <a:off x="348025" y="47853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https://wandb.ai/site/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>
            <p:ph type="title"/>
          </p:nvPr>
        </p:nvSpPr>
        <p:spPr>
          <a:xfrm>
            <a:off x="233825" y="2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HW Monitoring Tools</a:t>
            </a:r>
            <a:endParaRPr/>
          </a:p>
        </p:txBody>
      </p:sp>
      <p:sp>
        <p:nvSpPr>
          <p:cNvPr id="137" name="Google Shape;137;p21"/>
          <p:cNvSpPr txBox="1"/>
          <p:nvPr/>
        </p:nvSpPr>
        <p:spPr>
          <a:xfrm>
            <a:off x="150450" y="916950"/>
            <a:ext cx="75567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To analyze hardware metrics such as GPU utilization, time taken by various CUDA kernels etc, there are several tools, some HW vendor specific, some offered by deep learning libraries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Pytorch profiler</a:t>
            </a:r>
            <a:r>
              <a:rPr lang="en" sz="1100">
                <a:solidFill>
                  <a:schemeClr val="dk2"/>
                </a:solidFill>
              </a:rPr>
              <a:t> for determining the most expensive operators in the model. The UI is integrated with TensorBoard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NVIDIA Nsight:</a:t>
            </a:r>
            <a:r>
              <a:rPr lang="en" sz="1100">
                <a:solidFill>
                  <a:schemeClr val="dk2"/>
                </a:solidFill>
              </a:rPr>
              <a:t> Detailed GPU-level stats. Great for low-level GPU profiling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Intel VTune:</a:t>
            </a:r>
            <a:r>
              <a:rPr lang="en" sz="1100">
                <a:solidFill>
                  <a:schemeClr val="dk2"/>
                </a:solidFill>
              </a:rPr>
              <a:t> Profiler from Intel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We’ll look at Pytorch profiler and NVIDIA Visual Profiler in detail when we discuss running Neural Networks on GPUs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143" name="Google Shape;143;p22"/>
          <p:cNvSpPr txBox="1"/>
          <p:nvPr>
            <p:ph idx="1" type="body"/>
          </p:nvPr>
        </p:nvSpPr>
        <p:spPr>
          <a:xfrm>
            <a:off x="311700" y="1152475"/>
            <a:ext cx="8520600" cy="21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In the previous slide, our network produced a real value, which could be compared to the true value using Mean Square Error loss</a:t>
            </a:r>
            <a:endParaRPr sz="1600"/>
          </a:p>
        </p:txBody>
      </p:sp>
      <p:pic>
        <p:nvPicPr>
          <p:cNvPr descr="{&quot;backgroundColorModified&quot;:false,&quot;aid&quot;:null,&quot;id&quot;:&quot;1&quot;,&quot;type&quot;:&quot;lalign*&quot;,&quot;code&quot;:&quot;\\begin{lalign*}\n&amp;{y_{i}=f_{\\theta}\\left(x_{i}\\right)}\\\\\n&amp;{L\\,=\\,\\frac{1}{n}\\sum_{i=1}^{n}\\left(\\hat{y}_{i}-y_{i}\\right)^{2}}\\\\\n&amp;{\\hat{y}_{i}:\\,\\text{True}\\;\\text{values}}\\\\\n&amp;{f:\\,\\text{Neural}\\;\\text{Network}\\;\\text{parameterized}\\;\\text{by}\\;\\theta}\t\n\\end{lalign*}&quot;,&quot;backgroundColor&quot;:&quot;#FFFFFF&quot;,&quot;font&quot;:{&quot;size&quot;:12,&quot;family&quot;:&quot;Arial&quot;,&quot;color&quot;:&quot;#595959&quot;},&quot;ts&quot;:1755216603921,&quot;cs&quot;:&quot;5pue2QdVWhsagRCrUTYy4w==&quot;,&quot;size&quot;:{&quot;width&quot;:328.9709958005249,&quot;height&quot;:129.94229921259844}}" id="144" name="Google Shape;14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400" y="1952900"/>
            <a:ext cx="3133449" cy="1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88625" y="3391675"/>
            <a:ext cx="8520600" cy="214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But what if we have a classification problem, where each data point is a class label? 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Why can’t we still use MSE loss?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In such as case, the network needs to output the probability distribution over classes, i.e., a vector, where each entry is a probability of a class.  </a:t>
            </a:r>
            <a:endParaRPr sz="1600"/>
          </a:p>
        </p:txBody>
      </p:sp>
      <p:sp>
        <p:nvSpPr>
          <p:cNvPr id="146" name="Google Shape;146;p22"/>
          <p:cNvSpPr/>
          <p:nvPr/>
        </p:nvSpPr>
        <p:spPr>
          <a:xfrm>
            <a:off x="5615275" y="2144075"/>
            <a:ext cx="1311900" cy="805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MatMul + ReLU</a:t>
            </a:r>
            <a:endParaRPr/>
          </a:p>
        </p:txBody>
      </p:sp>
      <p:pic>
        <p:nvPicPr>
          <p:cNvPr descr="{&quot;aid&quot;:null,&quot;backgroundColorModified&quot;:false,&quot;id&quot;:&quot;3&quot;,&quot;font&quot;:{&quot;family&quot;:&quot;Arial&quot;,&quot;color&quot;:&quot;#000000&quot;,&quot;size&quot;:20},&quot;code&quot;:&quot;$$x$$&quot;,&quot;type&quot;:&quot;$$&quot;,&quot;backgroundColor&quot;:&quot;#EEEEEE&quot;,&quot;ts&quot;:1758238071459,&quot;cs&quot;:&quot;A7FppHkP0wvF7Tue4diUUQ==&quot;,&quot;size&quot;:{&quot;width&quot;:15.485564304461944,&quot;height&quot;:14.51968503937008}}" id="147" name="Google Shape;14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4996" y="2477547"/>
            <a:ext cx="147500" cy="138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8" name="Google Shape;148;p22"/>
          <p:cNvCxnSpPr>
            <a:stCxn id="147" idx="3"/>
            <a:endCxn id="146" idx="1"/>
          </p:cNvCxnSpPr>
          <p:nvPr/>
        </p:nvCxnSpPr>
        <p:spPr>
          <a:xfrm>
            <a:off x="5172496" y="2546697"/>
            <a:ext cx="442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9" name="Google Shape;149;p22"/>
          <p:cNvSpPr/>
          <p:nvPr/>
        </p:nvSpPr>
        <p:spPr>
          <a:xfrm>
            <a:off x="7289225" y="2143950"/>
            <a:ext cx="864300" cy="805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MSE Loss</a:t>
            </a:r>
            <a:endParaRPr/>
          </a:p>
        </p:txBody>
      </p:sp>
      <p:cxnSp>
        <p:nvCxnSpPr>
          <p:cNvPr id="150" name="Google Shape;150;p22"/>
          <p:cNvCxnSpPr>
            <a:stCxn id="146" idx="3"/>
            <a:endCxn id="149" idx="1"/>
          </p:cNvCxnSpPr>
          <p:nvPr/>
        </p:nvCxnSpPr>
        <p:spPr>
          <a:xfrm>
            <a:off x="6927175" y="2546825"/>
            <a:ext cx="362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1" name="Google Shape;151;p22"/>
          <p:cNvSpPr txBox="1"/>
          <p:nvPr/>
        </p:nvSpPr>
        <p:spPr>
          <a:xfrm>
            <a:off x="6061400" y="1871625"/>
            <a:ext cx="309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aid&quot;:null,&quot;type&quot;:&quot;$$&quot;,&quot;backgroundColorModified&quot;:false,&quot;backgroundColor&quot;:&quot;#FFFFFF&quot;,&quot;id&quot;:&quot;7&quot;,&quot;font&quot;:{&quot;size&quot;:12,&quot;color&quot;:&quot;#000000&quot;,&quot;family&quot;:&quot;Arial&quot;},&quot;code&quot;:&quot;$$\\times N$$&quot;,&quot;ts&quot;:1758237823763,&quot;cs&quot;:&quot;eymh3Hr+JBuxRCKEgdT9eg==&quot;,&quot;size&quot;:{&quot;width&quot;:28.666666666666668,&quot;height&quot;:12.833333333333334}}" id="152" name="Google Shape;15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84525" y="1952900"/>
            <a:ext cx="273050" cy="12223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3" name="Google Shape;153;p22"/>
          <p:cNvCxnSpPr/>
          <p:nvPr/>
        </p:nvCxnSpPr>
        <p:spPr>
          <a:xfrm flipH="1">
            <a:off x="7739750" y="1788925"/>
            <a:ext cx="300" cy="33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type&quot;:&quot;$$&quot;,&quot;code&quot;:&quot;$$y$$&quot;,&quot;font&quot;:{&quot;size&quot;:13.5,&quot;family&quot;:&quot;Arial&quot;,&quot;color&quot;:&quot;#000000&quot;},&quot;aid&quot;:null,&quot;id&quot;:&quot;8&quot;,&quot;backgroundColor&quot;:&quot;#FFFFFF&quot;,&quot;backgroundColorModified&quot;:false,&quot;ts&quot;:1758237963743,&quot;cs&quot;:&quot;qysr8m9Yo/ZTCd6Ch7avXA==&quot;,&quot;size&quot;:{&quot;width&quot;:10.527990551181125,&quot;height&quot;:14.519695275590541}}" id="154" name="Google Shape;154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34450" y="2274125"/>
            <a:ext cx="100279" cy="138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code&quot;:&quot;$$\\hat{y}$$&quot;,&quot;aid&quot;:null,&quot;backgroundColorModified&quot;:false,&quot;font&quot;:{&quot;size&quot;:13.5,&quot;color&quot;:&quot;#000000&quot;,&quot;family&quot;:&quot;Arial&quot;},&quot;id&quot;:&quot;8&quot;,&quot;backgroundColor&quot;:&quot;#FFFFFF&quot;,&quot;ts&quot;:1758237983802,&quot;cs&quot;:&quot;MbF+8krUhuaV9RBaxGJe4A==&quot;,&quot;size&quot;:{&quot;width&quot;:10,&quot;height&quot;:19.333333333333332}}" id="155" name="Google Shape;155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692272" y="1588750"/>
            <a:ext cx="95250" cy="184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p22"/>
          <p:cNvCxnSpPr/>
          <p:nvPr/>
        </p:nvCxnSpPr>
        <p:spPr>
          <a:xfrm>
            <a:off x="8161839" y="2546700"/>
            <a:ext cx="362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code&quot;:&quot;$$L$$&quot;,&quot;font&quot;:{&quot;size&quot;:13.5,&quot;family&quot;:&quot;Arial&quot;,&quot;color&quot;:&quot;#000000&quot;},&quot;backgroundColorModified&quot;:false,&quot;backgroundColor&quot;:&quot;#FFFFFF&quot;,&quot;type&quot;:&quot;$$&quot;,&quot;id&quot;:&quot;8&quot;,&quot;ts&quot;:1758238043355,&quot;cs&quot;:&quot;6J5DoMN7V/MeEcD8BRdLqw==&quot;,&quot;size&quot;:{&quot;width&quot;:13.166666666666666,&quot;height&quot;:14.5}}" id="157" name="Google Shape;157;p2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532272" y="2477640"/>
            <a:ext cx="125413" cy="1381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$$f_{\\theta}$$&quot;,&quot;aid&quot;:null,&quot;backgroundColorModified&quot;:false,&quot;id&quot;:&quot;3&quot;,&quot;type&quot;:&quot;$$&quot;,&quot;backgroundColor&quot;:&quot;#EEEEEE&quot;,&quot;font&quot;:{&quot;size&quot;:20,&quot;family&quot;:&quot;Arial&quot;,&quot;color&quot;:&quot;#000000&quot;},&quot;ts&quot;:1758238096611,&quot;cs&quot;:&quot;OooDlbK06/7FDAEA5a+UZg==&quot;,&quot;size&quot;:{&quot;width&quot;:25,&quot;height&quot;:28.5}}" id="158" name="Google Shape;158;p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60398" y="3018500"/>
            <a:ext cx="197175" cy="224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First we need to convert network output into probabilities. This is done using a Softmax function. Say there are K classes</a:t>
            </a:r>
            <a:endParaRPr sz="1600"/>
          </a:p>
        </p:txBody>
      </p:sp>
      <p:sp>
        <p:nvSpPr>
          <p:cNvPr id="165" name="Google Shape;165;p23"/>
          <p:cNvSpPr/>
          <p:nvPr/>
        </p:nvSpPr>
        <p:spPr>
          <a:xfrm>
            <a:off x="1611625" y="2250616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166" name="Google Shape;16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395591"/>
            <a:ext cx="474663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id&quot;:&quot;3&quot;,&quot;font&quot;:{&quot;family&quot;:&quot;Arial&quot;,&quot;color&quot;:&quot;#000000&quot;,&quot;size&quot;:14},&quot;code&quot;:&quot;$$x$$&quot;,&quot;type&quot;:&quot;$$&quot;,&quot;backgroundColor&quot;:&quot;#EEEEEE&quot;,&quot;ts&quot;:1755217224382,&quot;cs&quot;:&quot;gDw5HS7k9p4iDn5NEy3pFA==&quot;,&quot;size&quot;:{&quot;width&quot;:10.666666666666666,&quot;height&quot;:10}}" id="167" name="Google Shape;16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8509" y="2452741"/>
            <a:ext cx="101600" cy="95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8" name="Google Shape;168;p23"/>
          <p:cNvCxnSpPr>
            <a:endCxn id="165" idx="1"/>
          </p:cNvCxnSpPr>
          <p:nvPr/>
        </p:nvCxnSpPr>
        <p:spPr>
          <a:xfrm>
            <a:off x="1322725" y="2500366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9" name="Google Shape;169;p23"/>
          <p:cNvCxnSpPr>
            <a:stCxn id="165" idx="3"/>
            <a:endCxn id="170" idx="1"/>
          </p:cNvCxnSpPr>
          <p:nvPr/>
        </p:nvCxnSpPr>
        <p:spPr>
          <a:xfrm>
            <a:off x="2268025" y="2500366"/>
            <a:ext cx="1353600" cy="1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171" name="Google Shape;17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61265" y="2800106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3"/>
          <p:cNvSpPr/>
          <p:nvPr/>
        </p:nvSpPr>
        <p:spPr>
          <a:xfrm>
            <a:off x="3621575" y="2175970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sp>
        <p:nvSpPr>
          <p:cNvPr id="172" name="Google Shape;172;p23"/>
          <p:cNvSpPr txBox="1"/>
          <p:nvPr/>
        </p:nvSpPr>
        <p:spPr>
          <a:xfrm>
            <a:off x="2268027" y="2039662"/>
            <a:ext cx="999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l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(logits)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family&quot;:&quot;Arial&quot;,&quot;color&quot;:&quot;#000000&quot;},&quot;aid&quot;:null,&quot;type&quot;:&quot;$$&quot;,&quot;backgroundColorModified&quot;:false,&quot;backgroundColor&quot;:&quot;#FFFFFF&quot;,&quot;code&quot;:&quot;$$\\text{Softmax(}l_{i}\\text{)}\\;\\text{=}\\frac{\\exp\\left(l_{i}\\right)}{\\sum_{i=1}^{K}\\exp\\left(l_{i}\\right)}$$&quot;,&quot;id&quot;:&quot;4&quot;,&quot;ts&quot;:1755220878455,&quot;cs&quot;:&quot;B0RFm1hFxmYfElkksY7NNw==&quot;,&quot;size&quot;:{&quot;width&quot;:204.66666666666666,&quot;height&quot;:46}}" id="173" name="Google Shape;173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46070" y="3063290"/>
            <a:ext cx="1949450" cy="438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4" name="Google Shape;174;p23"/>
          <p:cNvCxnSpPr>
            <a:stCxn id="170" idx="3"/>
            <a:endCxn id="175" idx="1"/>
          </p:cNvCxnSpPr>
          <p:nvPr/>
        </p:nvCxnSpPr>
        <p:spPr>
          <a:xfrm>
            <a:off x="4541975" y="2518270"/>
            <a:ext cx="1092900" cy="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176" name="Google Shape;176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16930" y="3821549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3"/>
          <p:cNvSpPr txBox="1"/>
          <p:nvPr>
            <p:ph idx="1" type="body"/>
          </p:nvPr>
        </p:nvSpPr>
        <p:spPr>
          <a:xfrm>
            <a:off x="533250" y="4378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Usually </a:t>
            </a:r>
            <a:r>
              <a:rPr i="1" lang="en" sz="1600"/>
              <a:t>p</a:t>
            </a:r>
            <a:r>
              <a:rPr lang="en" sz="1600"/>
              <a:t> is a one-hot vector. It is 1 for the input’s true class, and 0 everywhere else.</a:t>
            </a:r>
            <a:endParaRPr sz="1600"/>
          </a:p>
        </p:txBody>
      </p:sp>
      <p:sp>
        <p:nvSpPr>
          <p:cNvPr id="178" name="Google Shape;178;p23"/>
          <p:cNvSpPr txBox="1"/>
          <p:nvPr>
            <p:ph idx="1" type="body"/>
          </p:nvPr>
        </p:nvSpPr>
        <p:spPr>
          <a:xfrm>
            <a:off x="5093200" y="3759988"/>
            <a:ext cx="1836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300"/>
              <a:t>Why does this expression make sense?</a:t>
            </a:r>
            <a:endParaRPr sz="1300"/>
          </a:p>
        </p:txBody>
      </p:sp>
      <p:cxnSp>
        <p:nvCxnSpPr>
          <p:cNvPr id="179" name="Google Shape;179;p23"/>
          <p:cNvCxnSpPr>
            <a:stCxn id="178" idx="1"/>
          </p:cNvCxnSpPr>
          <p:nvPr/>
        </p:nvCxnSpPr>
        <p:spPr>
          <a:xfrm flipH="1">
            <a:off x="4589500" y="4046338"/>
            <a:ext cx="5037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0" name="Google Shape;180;p23"/>
          <p:cNvSpPr txBox="1"/>
          <p:nvPr>
            <p:ph idx="1" type="body"/>
          </p:nvPr>
        </p:nvSpPr>
        <p:spPr>
          <a:xfrm>
            <a:off x="2946075" y="1815435"/>
            <a:ext cx="237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</a:t>
            </a:r>
            <a:r>
              <a:rPr lang="en" sz="1600"/>
              <a:t>onvert logits into probabilities</a:t>
            </a:r>
            <a:endParaRPr sz="1600"/>
          </a:p>
        </p:txBody>
      </p:sp>
      <p:sp>
        <p:nvSpPr>
          <p:cNvPr id="175" name="Google Shape;175;p23"/>
          <p:cNvSpPr/>
          <p:nvPr/>
        </p:nvSpPr>
        <p:spPr>
          <a:xfrm>
            <a:off x="5634855" y="2175979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sp>
        <p:nvSpPr>
          <p:cNvPr id="181" name="Google Shape;181;p23"/>
          <p:cNvSpPr txBox="1"/>
          <p:nvPr>
            <p:ph idx="1" type="body"/>
          </p:nvPr>
        </p:nvSpPr>
        <p:spPr>
          <a:xfrm>
            <a:off x="5217004" y="1563897"/>
            <a:ext cx="23700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True probability distribution</a:t>
            </a:r>
            <a:endParaRPr sz="1600"/>
          </a:p>
        </p:txBody>
      </p:sp>
      <p:cxnSp>
        <p:nvCxnSpPr>
          <p:cNvPr id="182" name="Google Shape;182;p23"/>
          <p:cNvCxnSpPr>
            <a:stCxn id="181" idx="2"/>
            <a:endCxn id="175" idx="0"/>
          </p:cNvCxnSpPr>
          <p:nvPr/>
        </p:nvCxnSpPr>
        <p:spPr>
          <a:xfrm>
            <a:off x="6402004" y="1938297"/>
            <a:ext cx="2400" cy="23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3" name="Google Shape;183;p23"/>
          <p:cNvSpPr txBox="1"/>
          <p:nvPr/>
        </p:nvSpPr>
        <p:spPr>
          <a:xfrm>
            <a:off x="4554679" y="2060806"/>
            <a:ext cx="113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y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class probabilities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184" name="Google Shape;184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16080" y="2916599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3"/>
          <p:cNvSpPr txBox="1"/>
          <p:nvPr/>
        </p:nvSpPr>
        <p:spPr>
          <a:xfrm>
            <a:off x="6437133" y="1767063"/>
            <a:ext cx="35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p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Simple Example</a:t>
            </a:r>
            <a:endParaRPr/>
          </a:p>
        </p:txBody>
      </p:sp>
      <p:sp>
        <p:nvSpPr>
          <p:cNvPr id="191" name="Google Shape;191;p24"/>
          <p:cNvSpPr/>
          <p:nvPr/>
        </p:nvSpPr>
        <p:spPr>
          <a:xfrm>
            <a:off x="1611625" y="2674592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192" name="Google Shape;19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819567"/>
            <a:ext cx="474663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3" name="Google Shape;193;p24"/>
          <p:cNvCxnSpPr>
            <a:endCxn id="191" idx="1"/>
          </p:cNvCxnSpPr>
          <p:nvPr/>
        </p:nvCxnSpPr>
        <p:spPr>
          <a:xfrm>
            <a:off x="1322725" y="2924342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4" name="Google Shape;194;p24"/>
          <p:cNvCxnSpPr>
            <a:stCxn id="191" idx="3"/>
          </p:cNvCxnSpPr>
          <p:nvPr/>
        </p:nvCxnSpPr>
        <p:spPr>
          <a:xfrm>
            <a:off x="2268025" y="2924342"/>
            <a:ext cx="510000" cy="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195" name="Google Shape;19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7940" y="3639757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4"/>
          <p:cNvSpPr/>
          <p:nvPr/>
        </p:nvSpPr>
        <p:spPr>
          <a:xfrm>
            <a:off x="3865806" y="2543372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cxnSp>
        <p:nvCxnSpPr>
          <p:cNvPr id="197" name="Google Shape;197;p24"/>
          <p:cNvCxnSpPr/>
          <p:nvPr/>
        </p:nvCxnSpPr>
        <p:spPr>
          <a:xfrm>
            <a:off x="3237564" y="2882972"/>
            <a:ext cx="623700" cy="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8" name="Google Shape;198;p24"/>
          <p:cNvSpPr txBox="1"/>
          <p:nvPr/>
        </p:nvSpPr>
        <p:spPr>
          <a:xfrm>
            <a:off x="2694350" y="1864250"/>
            <a:ext cx="72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</a:t>
            </a:r>
            <a:r>
              <a:rPr lang="en">
                <a:solidFill>
                  <a:schemeClr val="dk2"/>
                </a:solidFill>
              </a:rPr>
              <a:t>ogits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199" name="Google Shape;199;p24"/>
          <p:cNvCxnSpPr>
            <a:stCxn id="196" idx="3"/>
          </p:cNvCxnSpPr>
          <p:nvPr/>
        </p:nvCxnSpPr>
        <p:spPr>
          <a:xfrm flipH="1" rot="10800000">
            <a:off x="4786206" y="28829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0" name="Google Shape;200;p24"/>
          <p:cNvSpPr txBox="1"/>
          <p:nvPr>
            <p:ph idx="1" type="body"/>
          </p:nvPr>
        </p:nvSpPr>
        <p:spPr>
          <a:xfrm>
            <a:off x="533250" y="4378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Usually </a:t>
            </a:r>
            <a:r>
              <a:rPr i="1" lang="en" sz="1600"/>
              <a:t>p</a:t>
            </a:r>
            <a:r>
              <a:rPr lang="en" sz="1600"/>
              <a:t> is a one-hot vector. It is 1 for the input’s true class, and 0 everywhere else.</a:t>
            </a:r>
            <a:endParaRPr sz="1600"/>
          </a:p>
        </p:txBody>
      </p:sp>
      <p:sp>
        <p:nvSpPr>
          <p:cNvPr id="201" name="Google Shape;201;p24"/>
          <p:cNvSpPr txBox="1"/>
          <p:nvPr>
            <p:ph idx="1" type="body"/>
          </p:nvPr>
        </p:nvSpPr>
        <p:spPr>
          <a:xfrm>
            <a:off x="3163063" y="2194725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Cat</a:t>
            </a:r>
            <a:endParaRPr sz="1400"/>
          </a:p>
        </p:txBody>
      </p:sp>
      <p:sp>
        <p:nvSpPr>
          <p:cNvPr id="202" name="Google Shape;202;p24"/>
          <p:cNvSpPr/>
          <p:nvPr/>
        </p:nvSpPr>
        <p:spPr>
          <a:xfrm>
            <a:off x="5681080" y="2537530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203" name="Google Shape;203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08705" y="3729988"/>
            <a:ext cx="2508885" cy="449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5" y="2262766"/>
            <a:ext cx="1323159" cy="1323159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4"/>
          <p:cNvSpPr txBox="1"/>
          <p:nvPr>
            <p:ph idx="1" type="body"/>
          </p:nvPr>
        </p:nvSpPr>
        <p:spPr>
          <a:xfrm>
            <a:off x="311700" y="1065603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say we have an image classification problem, with three classes--Cat, Dog, Horse. Our input data is image of a cat. </a:t>
            </a:r>
            <a:endParaRPr sz="1600"/>
          </a:p>
        </p:txBody>
      </p:sp>
      <p:graphicFrame>
        <p:nvGraphicFramePr>
          <p:cNvPr id="206" name="Google Shape;206;p24"/>
          <p:cNvGraphicFramePr/>
          <p:nvPr/>
        </p:nvGraphicFramePr>
        <p:xfrm>
          <a:off x="2762607" y="229535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{940FC5AF-E611-44CF-A7AE-0649F3CD6FFD}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07" name="Google Shape;207;p24"/>
          <p:cNvSpPr txBox="1"/>
          <p:nvPr>
            <p:ph idx="1" type="body"/>
          </p:nvPr>
        </p:nvSpPr>
        <p:spPr>
          <a:xfrm>
            <a:off x="3186175" y="3110975"/>
            <a:ext cx="6564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Horse</a:t>
            </a:r>
            <a:endParaRPr sz="1600"/>
          </a:p>
        </p:txBody>
      </p:sp>
      <p:sp>
        <p:nvSpPr>
          <p:cNvPr id="208" name="Google Shape;208;p24"/>
          <p:cNvSpPr txBox="1"/>
          <p:nvPr>
            <p:ph idx="1" type="body"/>
          </p:nvPr>
        </p:nvSpPr>
        <p:spPr>
          <a:xfrm>
            <a:off x="3186173" y="2538278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Dog</a:t>
            </a:r>
            <a:endParaRPr sz="1400"/>
          </a:p>
        </p:txBody>
      </p:sp>
      <p:graphicFrame>
        <p:nvGraphicFramePr>
          <p:cNvPr id="209" name="Google Shape;209;p24"/>
          <p:cNvGraphicFramePr/>
          <p:nvPr/>
        </p:nvGraphicFramePr>
        <p:xfrm>
          <a:off x="7597832" y="22900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{940FC5AF-E611-44CF-A7AE-0649F3CD6FFD}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210" name="Google Shape;210;p24"/>
          <p:cNvCxnSpPr>
            <a:endCxn id="202" idx="3"/>
          </p:cNvCxnSpPr>
          <p:nvPr/>
        </p:nvCxnSpPr>
        <p:spPr>
          <a:xfrm flipH="1">
            <a:off x="7220380" y="2882830"/>
            <a:ext cx="364500" cy="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211" name="Google Shape;211;p24"/>
          <p:cNvGraphicFramePr/>
          <p:nvPr/>
        </p:nvGraphicFramePr>
        <p:xfrm>
          <a:off x="4996307" y="22893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{940FC5AF-E611-44CF-A7AE-0649F3CD6FFD}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0.24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0.09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212" name="Google Shape;212;p24"/>
          <p:cNvCxnSpPr/>
          <p:nvPr/>
        </p:nvCxnSpPr>
        <p:spPr>
          <a:xfrm flipH="1" rot="10800000">
            <a:off x="5479118" y="28874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3" name="Google Shape;213;p24"/>
          <p:cNvSpPr txBox="1"/>
          <p:nvPr>
            <p:ph idx="1" type="body"/>
          </p:nvPr>
        </p:nvSpPr>
        <p:spPr>
          <a:xfrm>
            <a:off x="4048629" y="1765410"/>
            <a:ext cx="23700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Predicted probability distribution</a:t>
            </a:r>
            <a:r>
              <a:rPr lang="en" sz="1220"/>
              <a:t> </a:t>
            </a:r>
            <a:r>
              <a:rPr i="1" lang="en" sz="1220"/>
              <a:t>y</a:t>
            </a:r>
            <a:endParaRPr i="1" sz="1220"/>
          </a:p>
        </p:txBody>
      </p:sp>
      <p:sp>
        <p:nvSpPr>
          <p:cNvPr id="214" name="Google Shape;214;p24"/>
          <p:cNvSpPr txBox="1"/>
          <p:nvPr>
            <p:ph idx="1" type="body"/>
          </p:nvPr>
        </p:nvSpPr>
        <p:spPr>
          <a:xfrm>
            <a:off x="6826701" y="1758575"/>
            <a:ext cx="20169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True</a:t>
            </a:r>
            <a:r>
              <a:rPr lang="en" sz="1220"/>
              <a:t> probability distribution </a:t>
            </a:r>
            <a:r>
              <a:rPr i="1" lang="en" sz="1220"/>
              <a:t>p</a:t>
            </a:r>
            <a:endParaRPr i="1" sz="122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220" name="Google Shape;220;p25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consider a binary classification example. Here K = 2</a:t>
            </a:r>
            <a:endParaRPr sz="1600"/>
          </a:p>
        </p:txBody>
      </p:sp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464100" y="251490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Let’s say p_1 = 1. If the network gets it right, y_1 is close to 1, and x-entropy loss is low. Similarly if the network gets it wrong, y_1 is low, and x-entropy loss is high.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To use it within a Neural Network, we need to calculate its derivative! </a:t>
            </a:r>
            <a:endParaRPr sz="1600"/>
          </a:p>
        </p:txBody>
      </p:sp>
      <p:pic>
        <p:nvPicPr>
          <p:cNvPr descr="{&quot;type&quot;:&quot;$$&quot;,&quot;id&quot;:&quot;4&quot;,&quot;backgroundColor&quot;:&quot;#FFFFFF&quot;,&quot;aid&quot;:null,&quot;font&quot;:{&quot;size&quot;:11,&quot;color&quot;:&quot;#000000&quot;,&quot;family&quot;:&quot;Arial&quot;},&quot;backgroundColorModified&quot;:false,&quot;code&quot;:&quot;$$\\text{x-entropy-loss(}y\\text{)}\\;\\text{=}-p_{1}\\log_{}\\left(y_{1}\\right)-\\left(1-p_{1}\\right)\\log_{}\\left(1-y_{1}\\right)$$&quot;,&quot;ts&quot;:1755221105735,&quot;cs&quot;:&quot;nxWn0T+h796LdqUdVCaqpw==&quot;,&quot;size&quot;:{&quot;width&quot;:407.6666666666667,&quot;height&quot;:17.666666666666668}}" id="222" name="Google Shape;22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350" y="1971831"/>
            <a:ext cx="3883025" cy="16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compare two probability distributions?</a:t>
            </a:r>
            <a:endParaRPr/>
          </a:p>
        </p:txBody>
      </p:sp>
      <p:sp>
        <p:nvSpPr>
          <p:cNvPr id="228" name="Google Shape;228;p26"/>
          <p:cNvSpPr txBox="1"/>
          <p:nvPr>
            <p:ph idx="1" type="body"/>
          </p:nvPr>
        </p:nvSpPr>
        <p:spPr>
          <a:xfrm>
            <a:off x="311700" y="266280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Say we have two dice. One is a balanced dice (X), so the probability of rolling numbers 1-6 is ⅙. The second (Y) is unbalanced, with the following distribution</a:t>
            </a:r>
            <a:r>
              <a:rPr lang="en"/>
              <a:t> </a:t>
            </a:r>
            <a:r>
              <a:rPr lang="en"/>
              <a:t> </a:t>
            </a:r>
            <a:endParaRPr/>
          </a:p>
        </p:txBody>
      </p:sp>
      <p:pic>
        <p:nvPicPr>
          <p:cNvPr descr="{&quot;font&quot;:{&quot;family&quot;:&quot;Arial&quot;,&quot;color&quot;:&quot;#595959&quot;,&quot;size&quot;:15},&quot;code&quot;:&quot;\\begin{lalign*}\n&amp;{\\text{Say}\\;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x_{i}\\,\\left(P\\left(X=X_{i}\\right)\\right)}\\\\\n&amp;{\\text{Similarly}\\;\\text{for}\\;\\text{Y.}\\;\\text{X}\\;\\text{is}\\;\\text{the}\\;\\text{target,}\\;\\text{Y}\\;\\text{is}\\;\\text{the}\\;\\text{modeled}\\;\\text{distribution}}\\\\\n&amp;{KL\\left(X\\left|\\right|Y\\right)=\\sum_{i=1}^{n}x_{i}\\log_{}\\left(\\frac{x_{i}}{y_{i}}\\right)}\t\n\\end{lalign*}&quot;,&quot;backgroundColorModified&quot;:false,&quot;backgroundColor&quot;:&quot;#FFFFFF&quot;,&quot;type&quot;:&quot;lalign*&quot;,&quot;aid&quot;:null,&quot;id&quot;:&quot;9&quot;,&quot;ts&quot;:1758249055956,&quot;cs&quot;:&quot;Iz7jwVVwTXRWIVxOHqVu5w==&quot;,&quot;size&quot;:{&quot;width&quot;:728,&quot;height&quot;:154}}" id="229" name="Google Shape;22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293" y="1085809"/>
            <a:ext cx="6934200" cy="1466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lalign*}\n&amp;{p\\left(Y\\right)=\\left[\\frac{1}{8},\\,\\frac{1}{8},\\,\\frac{3}{16},\\,\\frac{3}{16},\\frac{3}{16},\\frac{3}{16}\\right]}\\\\\n&amp;{KL\\left(Y\\left|\\right|X\\right)=\\,\\frac{1}{8}\\log_{}\\left(\\frac{1}{8}\\times6\\right)+\\frac{1}{8}\\log_{}\\left(\\frac{1}{8}\\times6\\right)+\\frac{3}{16}\\log_{}\\left(\\frac{3}{16}\\times6\\right)+\\frac{3}{16}\\log_{}\\left(\\frac{3}{16}\\times6\\right)+\\frac{3}{16}\\log_{}\\left(\\frac{3}{16}\\times6\\right)}\t\n\\end{lalign*}&quot;,&quot;type&quot;:&quot;lalign*&quot;,&quot;id&quot;:&quot;10&quot;,&quot;backgroundColor&quot;:&quot;#FFFFFF&quot;,&quot;aid&quot;:null,&quot;font&quot;:{&quot;size&quot;:11,&quot;color&quot;:&quot;#595959&quot;,&quot;family&quot;:&quot;Arial&quot;},&quot;backgroundColorModified&quot;:false,&quot;ts&quot;:1758244482348,&quot;cs&quot;:&quot;McZ2+0trXKnxBmLjjGsNxA==&quot;,&quot;size&quot;:{&quot;width&quot;:809.5,&quot;height&quot;:88}}"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025" y="3579946"/>
            <a:ext cx="7710488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6"/>
          <p:cNvSpPr txBox="1"/>
          <p:nvPr>
            <p:ph idx="1" type="body"/>
          </p:nvPr>
        </p:nvSpPr>
        <p:spPr>
          <a:xfrm>
            <a:off x="417300" y="440185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=0.016.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Note: KL(X||Y) =  0.017! KL(X||Y) doesn’t equal KL(Y||X)! I.e., KL distance isn’t symmetric!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compare two probability distributions?</a:t>
            </a:r>
            <a:endParaRPr/>
          </a:p>
        </p:txBody>
      </p:sp>
      <p:sp>
        <p:nvSpPr>
          <p:cNvPr id="237" name="Google Shape;237;p27"/>
          <p:cNvSpPr txBox="1"/>
          <p:nvPr>
            <p:ph idx="1" type="body"/>
          </p:nvPr>
        </p:nvSpPr>
        <p:spPr>
          <a:xfrm>
            <a:off x="417300" y="1066950"/>
            <a:ext cx="4260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just use Mean Square Error?  </a:t>
            </a:r>
            <a:endParaRPr/>
          </a:p>
        </p:txBody>
      </p:sp>
      <p:pic>
        <p:nvPicPr>
          <p:cNvPr descr="{&quot;backgroundColor&quot;:&quot;#FFFFFF&quot;,&quot;aid&quot;:null,&quot;font&quot;:{&quot;size&quot;:12.5,&quot;color&quot;:&quot;#595959&quot;,&quot;family&quot;:&quot;Arial&quot;},&quot;id&quot;:&quot;9&quot;,&quot;type&quot;:&quot;lalign*&quot;,&quot;code&quot;:&quot;\\begin{lalign*}\n&amp;{\\text{True}\\;\\text{distribution}\\;X}\\\\\n&amp;{\\text{Modeled}\\;\\text{distribution}\\;Y}\\\\\n&amp;{d\\left(X,Y\\right)=\\frac{1}{n}\\sum_{i=1}^{n}\\left(x_{i}-y_{i}\\right)^{2}}\t\n\\end{lalign*}&quot;,&quot;backgroundColorModified&quot;:false,&quot;ts&quot;:1758249120181,&quot;cs&quot;:&quot;cGPcuPgKAlrDBs5fTmq0GA==&quot;,&quot;size&quot;:{&quot;width&quot;:229.20000000000002,&quot;height&quot;:101.80000000000001}}" id="238" name="Google Shape;23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401" y="1671926"/>
            <a:ext cx="2183130" cy="969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11,&quot;family&quot;:&quot;Arial&quot;,&quot;color&quot;:&quot;#595959&quot;},&quot;backgroundColor&quot;:&quot;#FFFFFF&quot;,&quot;type&quot;:&quot;lalign*&quot;,&quot;aid&quot;:null,&quot;id&quot;:&quot;10&quot;,&quot;backgroundColorModified&quot;:false,&quot;code&quot;:&quot;\\begin{lalign*}\n&amp;{\\text{Let's}\\;\\text{consider}\\;\\text{two}\\;\\text{coins}\\;\\text{X}\\;\\text{and}\\;\\text{Y}}\\\\\n&amp;{\\text{Coin}\\;\\text{X}\\;\\text{is}\\;\\text{unbiased,}\\;\\text{s}\\text{o}\\;p\\left(X=H\\right)=1-p\\left(X=T\\right)=0.5}\\\\\n&amp;{\\text{Coin}\\;\\text{Y}\\;\\text{is}\\;\\text{biased}.\\,\\text{We'll}\\;\\text{vary}\\;p\\left(Y=H\\right)\\,\\text{from}\\;\\text{0-1}\\;\\text{and}\\;\\text{calculate}}\\\\\n&amp;{KL\\left(X\\left|\\right|Y\\right)\\,\\text{and}\\;\\text{d(p,q)}}\\\\\n&amp;{}\t\n\\end{lalign*}&quot;,&quot;ts&quot;:1758245678142,&quot;cs&quot;:&quot;RMKfDPtwsbFutEL+3nVV8A==&quot;,&quot;size&quot;:{&quot;width&quot;:458.6666666666667,&quot;height&quot;:83.6666666666667}}" id="239" name="Google Shape;23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175" y="2745350"/>
            <a:ext cx="4856300" cy="8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7"/>
          <p:cNvSpPr txBox="1"/>
          <p:nvPr>
            <p:ph idx="1" type="body"/>
          </p:nvPr>
        </p:nvSpPr>
        <p:spPr>
          <a:xfrm>
            <a:off x="417300" y="3805700"/>
            <a:ext cx="8057100" cy="11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23"/>
              <a:t>Notice that KL distance penalizes large deviations between p(X) and p(Y) much more severely!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3023"/>
              <a:t>Also, when p(Y) assigns a 0 probability to an outcome that p(X) assigns a non-zero probability, KL distance blows up, while MSE doesn’t 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1" name="Google Shape;241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0176" y="1170125"/>
            <a:ext cx="3281424" cy="24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compare two probability distributions?</a:t>
            </a:r>
            <a:endParaRPr/>
          </a:p>
        </p:txBody>
      </p:sp>
      <p:sp>
        <p:nvSpPr>
          <p:cNvPr id="247" name="Google Shape;247;p28"/>
          <p:cNvSpPr txBox="1"/>
          <p:nvPr>
            <p:ph idx="1" type="body"/>
          </p:nvPr>
        </p:nvSpPr>
        <p:spPr>
          <a:xfrm>
            <a:off x="417300" y="1066950"/>
            <a:ext cx="4893000" cy="86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use Mean Square Error?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Let’s consider the gradient wrt Y   </a:t>
            </a:r>
            <a:endParaRPr/>
          </a:p>
        </p:txBody>
      </p:sp>
      <p:pic>
        <p:nvPicPr>
          <p:cNvPr descr="{&quot;id&quot;:&quot;9&quot;,&quot;code&quot;:&quot;\\begin{lalign*}\n&amp;{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\\text{p(X)}}\\\\\n&amp;{\\text{Similarly}\\;\\text{for}\\;\\text{Y.}\\;\\text{X}\\;\\text{is}\\;\\text{the}\\;\\text{target,}\\;\\text{Y}\\;\\text{is}\\;\\text{the}\\;\\text{modeled}\\;\\text{distribution}}\\\\\n&amp;{d\\left(X,Y\\right)=\\frac{1}{n}\\sum_{i=1}^{n}\\left(p\\left(X_{i}\\right)-p\\left(Y_{i}\\right)\\right)^{2}}\\\\\n&amp;{\\frac{\\partial d\\left(X,Y\\right)}{\\partial Y}=\\frac{1}{n}\\left(p\\left(X_{i}\\right)-p\\left(Y_{i}\\right)\\right)\\,:\\,\\text{a}\\,n\\times1\\,\\text{vector}\\;\\text{}}\\\\\n&amp;{KL\\left(X\\left|\\right|Y\\right)=\\sum_{i=1}^{n}p\\left(X_{i}\\right)\\log_{} \\left(\\frac{p\\left(X_{i}\\right)}{p\\left(Y_{i}\\right)}\\right)}\\\\\n&amp;{\\frac{\\partial KL\\left(X\\left|\\right|Y\\right)}{\\partial Y}=\\frac{p\\left(X_{i}\\right)}{p\\left(Y_{i}\\right)}\\,:\\,\\text{a}\\,n\\times1\\,\\text{vector}\\;\\text{}}\\\\\n&amp;{}\t\n\\end{lalign*}&quot;,&quot;font&quot;:{&quot;size&quot;:12.5,&quot;color&quot;:&quot;#595959&quot;,&quot;family&quot;:&quot;Arial&quot;},&quot;aid&quot;:null,&quot;backgroundColor&quot;:&quot;#FFFFFF&quot;,&quot;type&quot;:&quot;lalign*&quot;,&quot;backgroundColorModified&quot;:false,&quot;ts&quot;:1758249437116,&quot;cs&quot;:&quot;Qed1GBzAGM+TJTLNAbx1GA==&quot;,&quot;size&quot;:{&quot;width&quot;:533.5,&quot;height&quot;:293.50000000000006}}" id="248" name="Google Shape;24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085" y="1978387"/>
            <a:ext cx="5081588" cy="2795588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8"/>
          <p:cNvSpPr txBox="1"/>
          <p:nvPr>
            <p:ph idx="1" type="body"/>
          </p:nvPr>
        </p:nvSpPr>
        <p:spPr>
          <a:xfrm>
            <a:off x="5067250" y="3062800"/>
            <a:ext cx="3517200" cy="178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716"/>
              <a:t>The gradient of the KL distance is much larger when p(X) and p(Y) differ a lot. This results in faster convergence. More on this later..</a:t>
            </a:r>
            <a:endParaRPr sz="1716"/>
          </a:p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86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cross-entropy loss isn’t the same as KL Distance!</a:t>
            </a:r>
            <a:endParaRPr/>
          </a:p>
        </p:txBody>
      </p:sp>
      <p:pic>
        <p:nvPicPr>
          <p:cNvPr descr="{&quot;aid&quot;:null,&quot;backgroundColorModified&quot;:false,&quot;type&quot;:&quot;lalign*&quot;,&quot;font&quot;:{&quot;size&quot;:11,&quot;family&quot;:null,&quot;color&quot;:&quot;#000000&quot;},&quot;id&quot;:&quot;4&quot;,&quot;backgroundColor&quot;:&quot;#FFFFFF&quot;,&quot;code&quot;:&quot;\\begin{lalign*}\n&amp;{\\text{Notice:}}\\\\\n&amp;{\\text{x-entropy-loss(}p,y\\text{)}\\;\\text{=}-\\sum_{i=1}^{K}p_{i}\\log_{}\\left(y_{i}\\right)}\\\\\n&amp;{\\left(\\frac{\\dd\\text{x-entropy-loss(}p,y\\text{)}\\;}{\\dd y}\\right)_{i}=\\frac{-p_{i}}{y_{i}}\\,\\text{the}\\;i^{th}\\,\\text{term}\\;\\text{of}\\;\\text{the}\\;\\text{derivative}}\\\\\n&amp;{\\text{While,}}\\\\\n&amp;{KL\\left(p\\left|\\right|y\\right)=\\sum_{i=1}^{K}p_{i}\\log_{}\\frac{p_{i}}{y_{i}}=\\sum_{i=1}^{K}p_{i}\\left(\\log_{}p_{i}-\\log_{}y_{i}\\right)}\\\\\n&amp;{\\left(\\frac{\\dd KL\\left(p\\left|\\right|y\\right)\\;}{\\dd y}\\right)_{i}=\\frac{\\dd KL\\left(p_{i}\\log_{}p_{i}\\right)\\;}{\\dd y_{i}}-\\frac{\\dd p_{i}\\log_{}y_{i}}{\\dd y_{i}}}\\\\\n&amp;{\\,\\,\\,\\,\\,\\,\\,\\,\\,\\,\\,\\,\\,\\,\\,\\,\\,\\,\\,\\,\\,\\,\\,\\,\\,\\,\\,\\,\\,\\,\\,\\,\\,\\,\\,\\,\\,\\,\\,\\,\\,\\,\\,\\,\\,\\,=\\frac{-p_{i}}{y_{i}}}\t\n\\end{lalign*}&quot;,&quot;ts&quot;:1758283796600,&quot;cs&quot;:&quot;GK+tsQzAsxDXvqLbJDmiiQ==&quot;,&quot;size&quot;:{&quot;width&quot;:469.6666666666667,&quot;height&quot;:288.3333333333333}}" id="255" name="Google Shape;25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075" y="1198576"/>
            <a:ext cx="4655924" cy="28583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9"/>
          <p:cNvSpPr txBox="1"/>
          <p:nvPr>
            <p:ph idx="1" type="body"/>
          </p:nvPr>
        </p:nvSpPr>
        <p:spPr>
          <a:xfrm>
            <a:off x="470225" y="4194450"/>
            <a:ext cx="6793500" cy="178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716"/>
              <a:t>So the first term in the KL distance is a constant, because it only depends on the true distribution.. And hence can be ignored.</a:t>
            </a:r>
            <a:endParaRPr sz="1716"/>
          </a:p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86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sp>
        <p:nvSpPr>
          <p:cNvPr id="262" name="Google Shape;262;p30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Continuing with the two class example..</a:t>
            </a:r>
            <a:r>
              <a:rPr lang="en" sz="1600"/>
              <a:t>.</a:t>
            </a:r>
            <a:endParaRPr sz="1600"/>
          </a:p>
        </p:txBody>
      </p:sp>
      <p:sp>
        <p:nvSpPr>
          <p:cNvPr id="263" name="Google Shape;263;p30"/>
          <p:cNvSpPr txBox="1"/>
          <p:nvPr>
            <p:ph idx="1" type="body"/>
          </p:nvPr>
        </p:nvSpPr>
        <p:spPr>
          <a:xfrm>
            <a:off x="478775" y="312725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now derive the partial of </a:t>
            </a:r>
            <a:r>
              <a:rPr i="1" lang="en" sz="1600"/>
              <a:t>e</a:t>
            </a:r>
            <a:r>
              <a:rPr lang="en" sz="1600"/>
              <a:t> against partial of </a:t>
            </a:r>
            <a:r>
              <a:rPr i="1" lang="en" sz="1600"/>
              <a:t>l </a:t>
            </a:r>
            <a:r>
              <a:rPr lang="en" sz="1600"/>
              <a:t>using basic math </a:t>
            </a:r>
            <a:r>
              <a:rPr lang="en" sz="1600"/>
              <a:t> </a:t>
            </a:r>
            <a:endParaRPr sz="1600"/>
          </a:p>
        </p:txBody>
      </p:sp>
      <p:pic>
        <p:nvPicPr>
          <p:cNvPr descr="{&quot;id&quot;:&quot;4&quot;,&quot;backgroundColor&quot;:&quot;#FFFFFF&quot;,&quot;backgroundColorModified&quot;:false,&quot;aid&quot;:null,&quot;code&quot;:&quot;$$y_{i\\,}\\text{=}\\frac{\\exp\\left(l_{i}\\right)}{\\sum_{i=1}^{K}\\exp\\left(l_{i}\\right)}$$&quot;,&quot;font&quot;:{&quot;size&quot;:11,&quot;family&quot;:&quot;Arial&quot;,&quot;color&quot;:&quot;#000000&quot;},&quot;type&quot;:&quot;$$&quot;,&quot;ts&quot;:1755221767658,&quot;cs&quot;:&quot;W2pharTkNijPupzWty204A==&quot;,&quot;size&quot;:{&quot;width&quot;:131,&quot;height&quot;:46}}" id="264" name="Google Shape;26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9249" y="1806750"/>
            <a:ext cx="1503651" cy="52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1},&quot;type&quot;:&quot;$$&quot;,&quot;id&quot;:&quot;4&quot;,&quot;aid&quot;:null,&quot;code&quot;:&quot;$$e\\,=\\,L\\left(y\\right)\\;\\text{=}-\\sum_{i=1}^{K}p_{i}\\log_{}\\left(y_{i}\\right)$$&quot;,&quot;backgroundColorModified&quot;:false,&quot;backgroundColor&quot;:&quot;#FFFFFF&quot;,&quot;ts&quot;:1755221791143,&quot;cs&quot;:&quot;nJb4xPP3YBfPNyPSX53Khg==&quot;,&quot;size&quot;:{&quot;width&quot;:208.66666666666666,&quot;height&quot;:47}}" id="265" name="Google Shape;265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4526" y="1806749"/>
            <a:ext cx="2278352" cy="513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4&quot;,&quot;code&quot;:&quot;\\begin{lalign*}\n&amp;{\\text{We}\\;\\text{need}\\;\\frac{\\partial e}{\\partial l}}\\\\\n&amp;{\\text{If}\\;l\\,\\text{is}\\;\\text{a}\\;m\\times1\\,\\text{vector,}\\;\\text{then}\\;\\text{above}\\;\\text{is}\\;\\text{also}\\;\\text{a}\\;m\\times1\\;\\text{vector}}\t\n\\end{lalign*}&quot;,&quot;backgroundColorModified&quot;:false,&quot;font&quot;:{&quot;family&quot;:&quot;Arial&quot;,&quot;color&quot;:&quot;#000000&quot;,&quot;size&quot;:11},&quot;backgroundColor&quot;:&quot;#FFFFFF&quot;,&quot;type&quot;:&quot;lalign*&quot;,&quot;ts&quot;:1755221919276,&quot;cs&quot;:&quot;LWRbP96Cq4nx6Y9YxZH5bQ==&quot;,&quot;size&quot;:{&quot;width&quot;:402.6666666666667,&quot;height&quot;:57.666666666666664}}" id="266" name="Google Shape;266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4524" y="2376100"/>
            <a:ext cx="4330299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1"/>
          <p:cNvSpPr txBox="1"/>
          <p:nvPr>
            <p:ph type="title"/>
          </p:nvPr>
        </p:nvSpPr>
        <p:spPr>
          <a:xfrm>
            <a:off x="311700" y="445025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272" name="Google Shape;272;p31"/>
          <p:cNvPicPr preferRelativeResize="0"/>
          <p:nvPr/>
        </p:nvPicPr>
        <p:blipFill rotWithShape="1">
          <a:blip r:embed="rId3">
            <a:alphaModFix/>
          </a:blip>
          <a:srcRect b="11150" l="440" r="3737" t="0"/>
          <a:stretch/>
        </p:blipFill>
        <p:spPr>
          <a:xfrm>
            <a:off x="3615300" y="0"/>
            <a:ext cx="4115689" cy="508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2"/>
          <p:cNvSpPr txBox="1"/>
          <p:nvPr>
            <p:ph type="title"/>
          </p:nvPr>
        </p:nvSpPr>
        <p:spPr>
          <a:xfrm>
            <a:off x="262700" y="312750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278" name="Google Shape;278;p32"/>
          <p:cNvPicPr preferRelativeResize="0"/>
          <p:nvPr/>
        </p:nvPicPr>
        <p:blipFill rotWithShape="1">
          <a:blip r:embed="rId3">
            <a:alphaModFix/>
          </a:blip>
          <a:srcRect b="23983" l="4028" r="24548" t="0"/>
          <a:stretch/>
        </p:blipFill>
        <p:spPr>
          <a:xfrm>
            <a:off x="3948225" y="76200"/>
            <a:ext cx="3516238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3"/>
          <p:cNvSpPr txBox="1"/>
          <p:nvPr>
            <p:ph type="title"/>
          </p:nvPr>
        </p:nvSpPr>
        <p:spPr>
          <a:xfrm>
            <a:off x="311700" y="445025"/>
            <a:ext cx="376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Derivative of Softmax followed by MSE</a:t>
            </a:r>
            <a:endParaRPr/>
          </a:p>
        </p:txBody>
      </p:sp>
      <p:pic>
        <p:nvPicPr>
          <p:cNvPr id="284" name="Google Shape;284;p33"/>
          <p:cNvPicPr preferRelativeResize="0"/>
          <p:nvPr/>
        </p:nvPicPr>
        <p:blipFill rotWithShape="1">
          <a:blip r:embed="rId3">
            <a:alphaModFix/>
          </a:blip>
          <a:srcRect b="12924" l="6756" r="18749" t="1990"/>
          <a:stretch/>
        </p:blipFill>
        <p:spPr>
          <a:xfrm>
            <a:off x="4934275" y="22250"/>
            <a:ext cx="3347599" cy="5099001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/>
          <p:nvPr/>
        </p:nvSpPr>
        <p:spPr>
          <a:xfrm>
            <a:off x="348500" y="1498000"/>
            <a:ext cx="43197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Notice that multiplicative factor of y.. This results in a small gradient when model assigns a small probability to the correct class, slowing down convergence!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86" name="Google Shape;286;p33"/>
          <p:cNvCxnSpPr/>
          <p:nvPr/>
        </p:nvCxnSpPr>
        <p:spPr>
          <a:xfrm>
            <a:off x="3145825" y="2864575"/>
            <a:ext cx="2577300" cy="147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4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2: Classifying points on a Spiral Dataset</a:t>
            </a:r>
            <a:endParaRPr/>
          </a:p>
        </p:txBody>
      </p:sp>
      <p:pic>
        <p:nvPicPr>
          <p:cNvPr id="292" name="Google Shape;292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9726" y="1062325"/>
            <a:ext cx="4726650" cy="3468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 txBox="1"/>
          <p:nvPr>
            <p:ph idx="1" type="body"/>
          </p:nvPr>
        </p:nvSpPr>
        <p:spPr>
          <a:xfrm>
            <a:off x="371025" y="1170100"/>
            <a:ext cx="3939600" cy="32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1260"/>
              <a:t>In our first Neural Network example, we considered a regression problem, where the network was trained to predict the value of a sine function. Now we’ll consider a classification problem in 2D, where we have a set of points that lie on one of the arms of a spiral dataset. The task is to predict the label of the arm for each point. </a:t>
            </a:r>
            <a:endParaRPr sz="12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lang="en" sz="1260"/>
              <a:t>Key differences from before: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The dimension of our input data is now 2, rather than 1 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Network output is a vector rather than scalar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We’ll use cross-entropy loss rather than mean square error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Loss function and target metric (classification accuracy) are different!</a:t>
            </a:r>
            <a:endParaRPr sz="1260"/>
          </a:p>
          <a:p>
            <a:pPr indent="-30861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60"/>
              <a:buChar char="-"/>
            </a:pPr>
            <a:r>
              <a:rPr lang="en" sz="1260"/>
              <a:t>Logging metrics in Tensorboard</a:t>
            </a:r>
            <a:endParaRPr sz="126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boundaries of our neural network: Video</a:t>
            </a:r>
            <a:endParaRPr/>
          </a:p>
        </p:txBody>
      </p:sp>
      <p:pic>
        <p:nvPicPr>
          <p:cNvPr id="299" name="Google Shape;299;p35" title="class_edges_w_relu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5094634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6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K-Fold Cross Validation</a:t>
            </a:r>
            <a:endParaRPr/>
          </a:p>
        </p:txBody>
      </p:sp>
      <p:sp>
        <p:nvSpPr>
          <p:cNvPr id="305" name="Google Shape;305;p36"/>
          <p:cNvSpPr txBox="1"/>
          <p:nvPr>
            <p:ph idx="1" type="body"/>
          </p:nvPr>
        </p:nvSpPr>
        <p:spPr>
          <a:xfrm>
            <a:off x="370775" y="1829700"/>
            <a:ext cx="4652100" cy="32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" sz="1260"/>
              <a:t>Naive training loop:</a:t>
            </a:r>
            <a:endParaRPr b="1" sz="12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For every epoch: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For all training data: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	Sample data and run training loop on training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	Evaluate performance on validation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End Training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i="1" lang="en" sz="1060"/>
              <a:t>Evaluate performance on trained model on held out test data</a:t>
            </a:r>
            <a:endParaRPr i="1"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lang="en" sz="1060"/>
              <a:t>But what if validation subset contains important data we want training to see?</a:t>
            </a:r>
            <a:endParaRPr sz="10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" sz="1260"/>
              <a:t>	</a:t>
            </a:r>
            <a:endParaRPr sz="1260"/>
          </a:p>
        </p:txBody>
      </p:sp>
      <p:sp>
        <p:nvSpPr>
          <p:cNvPr id="306" name="Google Shape;306;p36"/>
          <p:cNvSpPr/>
          <p:nvPr/>
        </p:nvSpPr>
        <p:spPr>
          <a:xfrm>
            <a:off x="646700" y="1132625"/>
            <a:ext cx="1603800" cy="219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36"/>
          <p:cNvSpPr/>
          <p:nvPr/>
        </p:nvSpPr>
        <p:spPr>
          <a:xfrm>
            <a:off x="2250500" y="1132625"/>
            <a:ext cx="448500" cy="2199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6"/>
          <p:cNvSpPr/>
          <p:nvPr/>
        </p:nvSpPr>
        <p:spPr>
          <a:xfrm>
            <a:off x="2699000" y="1132625"/>
            <a:ext cx="448500" cy="219900"/>
          </a:xfrm>
          <a:prstGeom prst="rect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36"/>
          <p:cNvSpPr/>
          <p:nvPr/>
        </p:nvSpPr>
        <p:spPr>
          <a:xfrm rot="5400000">
            <a:off x="1381725" y="686500"/>
            <a:ext cx="86400" cy="15564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36"/>
          <p:cNvSpPr txBox="1"/>
          <p:nvPr/>
        </p:nvSpPr>
        <p:spPr>
          <a:xfrm>
            <a:off x="1196350" y="1477525"/>
            <a:ext cx="55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Train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311" name="Google Shape;311;p36"/>
          <p:cNvSpPr/>
          <p:nvPr/>
        </p:nvSpPr>
        <p:spPr>
          <a:xfrm rot="5400000">
            <a:off x="2408725" y="1221850"/>
            <a:ext cx="103500" cy="4683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36"/>
          <p:cNvSpPr/>
          <p:nvPr/>
        </p:nvSpPr>
        <p:spPr>
          <a:xfrm rot="5400000">
            <a:off x="2871500" y="1221850"/>
            <a:ext cx="103500" cy="4683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6"/>
          <p:cNvSpPr txBox="1"/>
          <p:nvPr/>
        </p:nvSpPr>
        <p:spPr>
          <a:xfrm>
            <a:off x="2176225" y="1477525"/>
            <a:ext cx="56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Validate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314" name="Google Shape;314;p36"/>
          <p:cNvSpPr txBox="1"/>
          <p:nvPr/>
        </p:nvSpPr>
        <p:spPr>
          <a:xfrm>
            <a:off x="2757250" y="1477525"/>
            <a:ext cx="79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Test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315" name="Google Shape;315;p36"/>
          <p:cNvSpPr txBox="1"/>
          <p:nvPr/>
        </p:nvSpPr>
        <p:spPr>
          <a:xfrm>
            <a:off x="5320375" y="295925"/>
            <a:ext cx="3772500" cy="23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K-Fold Cross Validation:</a:t>
            </a:r>
            <a:endParaRPr b="1"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Shuffle &amp; Split the dataset into K folds (e.g., K=5).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Iteration:</a:t>
            </a:r>
            <a:r>
              <a:rPr lang="en" sz="1060">
                <a:solidFill>
                  <a:schemeClr val="dk2"/>
                </a:solidFill>
              </a:rPr>
              <a:t> For each of the K folds: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lang="en" sz="1060">
                <a:solidFill>
                  <a:schemeClr val="dk2"/>
                </a:solidFill>
              </a:rPr>
              <a:t>Use K-1 folds for training.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lang="en" sz="1060">
                <a:solidFill>
                  <a:schemeClr val="dk2"/>
                </a:solidFill>
              </a:rPr>
              <a:t>Use the remaining 1 fold for validation (testing).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Repeat until every fold has served as the validation set exactly once.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Aggregate results by averaging the performance metrics (accuracy, F1, RMSE, etc.).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316" name="Google Shape;316;p36"/>
          <p:cNvSpPr txBox="1"/>
          <p:nvPr/>
        </p:nvSpPr>
        <p:spPr>
          <a:xfrm>
            <a:off x="5391850" y="2722650"/>
            <a:ext cx="3000000" cy="18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Example:</a:t>
            </a:r>
            <a:endParaRPr b="1"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Dataset → split into folds: [F1, F2, F3]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1:</a:t>
            </a:r>
            <a:r>
              <a:rPr lang="en" sz="1060">
                <a:solidFill>
                  <a:schemeClr val="dk2"/>
                </a:solidFill>
              </a:rPr>
              <a:t> Train = [F2+F3], Test = [F1]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2:</a:t>
            </a:r>
            <a:r>
              <a:rPr lang="en" sz="1060">
                <a:solidFill>
                  <a:schemeClr val="dk2"/>
                </a:solidFill>
              </a:rPr>
              <a:t> Train = [F1+F3], Test = [F2]</a:t>
            </a:r>
            <a:endParaRPr sz="1060">
              <a:solidFill>
                <a:schemeClr val="dk2"/>
              </a:solidFill>
            </a:endParaRPr>
          </a:p>
          <a:p>
            <a:pPr indent="-2952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●"/>
            </a:pPr>
            <a:r>
              <a:rPr b="1" lang="en" sz="1060">
                <a:solidFill>
                  <a:schemeClr val="dk2"/>
                </a:solidFill>
              </a:rPr>
              <a:t>Run 3:</a:t>
            </a:r>
            <a:r>
              <a:rPr lang="en" sz="1060">
                <a:solidFill>
                  <a:schemeClr val="dk2"/>
                </a:solidFill>
              </a:rPr>
              <a:t> Train = [F1+F2], Test = [F3]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Final performance = average of all 5 test results.</a:t>
            </a:r>
            <a:endParaRPr sz="1050">
              <a:solidFill>
                <a:schemeClr val="dk1"/>
              </a:solidFill>
            </a:endParaRPr>
          </a:p>
        </p:txBody>
      </p:sp>
      <p:sp>
        <p:nvSpPr>
          <p:cNvPr id="317" name="Google Shape;317;p36"/>
          <p:cNvSpPr txBox="1"/>
          <p:nvPr/>
        </p:nvSpPr>
        <p:spPr>
          <a:xfrm>
            <a:off x="4746850" y="4619550"/>
            <a:ext cx="40656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1060">
                <a:solidFill>
                  <a:schemeClr val="dk2"/>
                </a:solidFill>
              </a:rPr>
              <a:t>Generally not used during large Neural Network training..</a:t>
            </a:r>
            <a:endParaRPr b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7"/>
          <p:cNvSpPr txBox="1"/>
          <p:nvPr>
            <p:ph type="title"/>
          </p:nvPr>
        </p:nvSpPr>
        <p:spPr>
          <a:xfrm>
            <a:off x="311700" y="2441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  <p:sp>
        <p:nvSpPr>
          <p:cNvPr id="323" name="Google Shape;323;p37"/>
          <p:cNvSpPr txBox="1"/>
          <p:nvPr/>
        </p:nvSpPr>
        <p:spPr>
          <a:xfrm>
            <a:off x="408425" y="940925"/>
            <a:ext cx="7926900" cy="27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Char char="-"/>
            </a:pPr>
            <a:r>
              <a:rPr lang="en" sz="1060">
                <a:solidFill>
                  <a:schemeClr val="dk2"/>
                </a:solidFill>
              </a:rPr>
              <a:t>Derive the backpropagation equation for x-entropy loss yourself, </a:t>
            </a:r>
            <a:r>
              <a:rPr lang="en" sz="1060">
                <a:solidFill>
                  <a:schemeClr val="dk2"/>
                </a:solidFill>
              </a:rPr>
              <a:t>referring</a:t>
            </a:r>
            <a:r>
              <a:rPr lang="en" sz="1060">
                <a:solidFill>
                  <a:schemeClr val="dk2"/>
                </a:solidFill>
              </a:rPr>
              <a:t> to the notes as needed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-29591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Why can’t we use the logits directly in x-entropy loss? Why do we take the exponential of each logit? Hint: Can probabilities be negative? What about logits?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-29591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Run the spiral data classification code (class3/simple_nn2.py) with default values.. You can turn on the draw_movie_frame feature to capture the classification boundaries as the optimization proceeds and the network learns. 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-29591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Run the spiral data classification code without the ReLU non-linearities.. What do you observe?</a:t>
            </a:r>
            <a:br>
              <a:rPr lang="en" sz="1060">
                <a:solidFill>
                  <a:schemeClr val="dk2"/>
                </a:solidFill>
              </a:rPr>
            </a:br>
            <a:endParaRPr sz="1060">
              <a:solidFill>
                <a:schemeClr val="dk2"/>
              </a:solidFill>
            </a:endParaRPr>
          </a:p>
          <a:p>
            <a:pPr indent="-29591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Run the spiral data classification code for different hyperparameter values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Optimizer [simple, adam]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Number of hidden layers [2,3]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Learning rate schedule [constant, linear]</a:t>
            </a:r>
            <a:endParaRPr sz="1060">
              <a:solidFill>
                <a:schemeClr val="dk2"/>
              </a:solidFill>
            </a:endParaRPr>
          </a:p>
          <a:p>
            <a:pPr indent="-29591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60"/>
              <a:buChar char="-"/>
            </a:pPr>
            <a:r>
              <a:rPr lang="en" sz="1060">
                <a:solidFill>
                  <a:schemeClr val="dk2"/>
                </a:solidFill>
              </a:rPr>
              <a:t>Different values of initial learning rate [0.01 - 0.1 in steps of .05]</a:t>
            </a:r>
            <a:endParaRPr sz="106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0">
                <a:solidFill>
                  <a:schemeClr val="dk2"/>
                </a:solidFill>
              </a:rPr>
              <a:t>	For each “experiment”, log the loss progression and final metrics (loss, accuracy on test data) to Tensorflow and MLFlow</a:t>
            </a:r>
            <a:endParaRPr sz="106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Accuracy can be misleading, specially when dataset is unbalanced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330" name="Google Shape;330;p38"/>
          <p:cNvGraphicFramePr/>
          <p:nvPr/>
        </p:nvGraphicFramePr>
        <p:xfrm>
          <a:off x="918075" y="2402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{940FC5AF-E611-44CF-A7AE-0649F3CD6FFD}</a:tableStyleId>
              </a:tblPr>
              <a:tblGrid>
                <a:gridCol w="1107400"/>
                <a:gridCol w="11074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31" name="Google Shape;331;p38"/>
          <p:cNvSpPr txBox="1"/>
          <p:nvPr/>
        </p:nvSpPr>
        <p:spPr>
          <a:xfrm>
            <a:off x="1031150" y="2074600"/>
            <a:ext cx="1017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Declare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332" name="Google Shape;332;p38"/>
          <p:cNvSpPr txBox="1"/>
          <p:nvPr/>
        </p:nvSpPr>
        <p:spPr>
          <a:xfrm>
            <a:off x="2084475" y="2074600"/>
            <a:ext cx="1017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Declare H1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333" name="Google Shape;333;p38"/>
          <p:cNvSpPr txBox="1"/>
          <p:nvPr/>
        </p:nvSpPr>
        <p:spPr>
          <a:xfrm>
            <a:off x="311700" y="2428600"/>
            <a:ext cx="546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Is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334" name="Google Shape;334;p38"/>
          <p:cNvSpPr txBox="1"/>
          <p:nvPr/>
        </p:nvSpPr>
        <p:spPr>
          <a:xfrm>
            <a:off x="311700" y="2798350"/>
            <a:ext cx="546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Is H1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335" name="Google Shape;335;p38"/>
          <p:cNvSpPr txBox="1"/>
          <p:nvPr/>
        </p:nvSpPr>
        <p:spPr>
          <a:xfrm>
            <a:off x="941400" y="3367550"/>
            <a:ext cx="3822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precision is the fraction of events where we </a:t>
            </a:r>
            <a:r>
              <a:rPr i="1" lang="en" sz="1150">
                <a:solidFill>
                  <a:srgbClr val="0C0D0E"/>
                </a:solidFill>
                <a:highlight>
                  <a:srgbClr val="FFFFFF"/>
                </a:highlight>
              </a:rPr>
              <a:t>correctly</a:t>
            </a: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 declared h0, out of all instances where we declared h0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336" name="Google Shape;336;p38"/>
          <p:cNvSpPr txBox="1"/>
          <p:nvPr/>
        </p:nvSpPr>
        <p:spPr>
          <a:xfrm>
            <a:off x="3433875" y="2335250"/>
            <a:ext cx="3822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Recall is the fraction of events where we </a:t>
            </a:r>
            <a:r>
              <a:rPr i="1" lang="en" sz="1150">
                <a:solidFill>
                  <a:srgbClr val="0C0D0E"/>
                </a:solidFill>
                <a:highlight>
                  <a:srgbClr val="FFFFFF"/>
                </a:highlight>
              </a:rPr>
              <a:t>correctly</a:t>
            </a:r>
            <a:r>
              <a:rPr lang="en" sz="1150">
                <a:solidFill>
                  <a:srgbClr val="0C0D0E"/>
                </a:solidFill>
                <a:highlight>
                  <a:srgbClr val="FFFFFF"/>
                </a:highlight>
              </a:rPr>
              <a:t> declared h0, out of all instances that are h0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