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4DD6CD-F74B-4C77-8FB0-D47265B479F3}">
  <a:tblStyle styleId="{684DD6CD-F74B-4C77-8FB0-D47265B479F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C238D60-79BD-4FF3-9BA5-E33D28E507E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3ecbe50c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3ecbe50c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ff842e0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ff842e0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dc17e65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dc17e65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dc17e65d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dc17e65d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dc17e65d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dc17e65d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dc17e65d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dc17e65d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dc17e65d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dc17e65d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dc17e65d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dc17e65d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ff842e0ba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ff842e0ba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ff842e0ba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ff842e0ba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1cf8339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1cf8339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1cf8339f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1cf8339f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1cf8339f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91cf8339f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1cf8339f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1cf8339f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1cf8339fc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1cf8339fc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1cf8339fc_4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91cf8339fc_4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ff842e0ba_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aff842e0ba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1cf8339fc_4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1cf8339fc_4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dc17e65d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7dc17e65d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45416f2f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45416f2f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5416f2fe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45416f2fe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80d030500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80d030500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45416f2fe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45416f2fe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8a5a2064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8a5a2064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0d030500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80d030500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80d030500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80d030500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80d0305001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80d030500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45416f2fe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45416f2fe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45416f2fe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45416f2fe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45416f2fe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45416f2fe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0d0305001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80d0305001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63ce1a27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63ce1a27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this non-trivial?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Non-linear classification boundaries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 linear system can never solve this problem with a high degree of accuracy!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63ce1a27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63ce1a27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646784d52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646784d52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7dc17e65d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7dc17e65d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63ce1a276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63ce1a276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cs.pytorch.org/tutorials/recipes/recipes/profiler_recipe.html" TargetMode="External"/><Relationship Id="rId4" Type="http://schemas.openxmlformats.org/officeDocument/2006/relationships/hyperlink" Target="https://developer.nvidia.com/nsight-systems" TargetMode="External"/><Relationship Id="rId5" Type="http://schemas.openxmlformats.org/officeDocument/2006/relationships/hyperlink" Target="https://www.intel.com/content/www/us/en/developer/tools/oneapi/vtune-profiler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46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image" Target="../media/image32.png"/><Relationship Id="rId6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Relationship Id="rId4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Relationship Id="rId5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png"/><Relationship Id="rId4" Type="http://schemas.openxmlformats.org/officeDocument/2006/relationships/image" Target="../media/image4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drive.google.com/file/d/1rOEsux6DuSI3jcDd1EcXcxEb2AydzG_O/view" TargetMode="External"/><Relationship Id="rId4" Type="http://schemas.openxmlformats.org/officeDocument/2006/relationships/image" Target="../media/image44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 and Explainability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Learning: Class 2.2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293225"/>
            <a:ext cx="8520600" cy="32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Experiment Tracking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Monitoring/Observability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Explaining model predictions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Profiling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Tracking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49350" y="1109075"/>
            <a:ext cx="8520600" cy="32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957"/>
              <a:t>Every ML experiment goes through:</a:t>
            </a:r>
            <a:endParaRPr sz="3957"/>
          </a:p>
          <a:p>
            <a:pPr indent="-29142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3957"/>
              <a:t>Define configuration:</a:t>
            </a:r>
            <a:r>
              <a:rPr lang="en" sz="3957"/>
              <a:t> hyperparameters, model architecture, optimizer type, batch size, dataset version</a:t>
            </a:r>
            <a:br>
              <a:rPr lang="en" sz="3957"/>
            </a:br>
            <a:endParaRPr sz="3957"/>
          </a:p>
          <a:p>
            <a:pPr indent="-2914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3957"/>
              <a:t>Train model:</a:t>
            </a:r>
            <a:r>
              <a:rPr lang="en" sz="3957"/>
              <a:t> Record loss curves, gradients, LR schedule, checkpoints</a:t>
            </a:r>
            <a:br>
              <a:rPr lang="en" sz="3957"/>
            </a:br>
            <a:endParaRPr sz="3957"/>
          </a:p>
          <a:p>
            <a:pPr indent="-2914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3957"/>
              <a:t>Evaluate model</a:t>
            </a:r>
            <a:r>
              <a:rPr lang="en" sz="3957"/>
              <a:t>: Accuracy, F1, ROC-AUC</a:t>
            </a:r>
            <a:br>
              <a:rPr lang="en" sz="3957"/>
            </a:br>
            <a:endParaRPr sz="3957"/>
          </a:p>
          <a:p>
            <a:pPr indent="-2914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3957"/>
              <a:t>Compare results</a:t>
            </a:r>
            <a:r>
              <a:rPr lang="en" sz="3957"/>
              <a:t>: across multiple runs and hyperparameter settings</a:t>
            </a:r>
            <a:br>
              <a:rPr lang="en" sz="3957"/>
            </a:br>
            <a:endParaRPr sz="3957"/>
          </a:p>
          <a:p>
            <a:pPr indent="-2914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3957"/>
              <a:t>Version and archive</a:t>
            </a:r>
            <a:br>
              <a:rPr lang="en" sz="3957"/>
            </a:br>
            <a:r>
              <a:rPr lang="en" sz="3957"/>
              <a:t> model artifacts, code (git commit hash), data (dataset version), environment (conda/pip env, dependencies)</a:t>
            </a:r>
            <a:br>
              <a:rPr lang="en" sz="3957"/>
            </a:br>
            <a:endParaRPr sz="3957"/>
          </a:p>
          <a:p>
            <a:pPr indent="-2914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3957"/>
              <a:t>Reproduce or deploy</a:t>
            </a:r>
            <a:br>
              <a:rPr lang="en" sz="3957"/>
            </a:br>
            <a:endParaRPr sz="395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957"/>
              <a:t>Experiment tracking tools automate and persist most of these steps.</a:t>
            </a:r>
            <a:endParaRPr sz="395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957"/>
              <a:t>We’ll consider three tools: Tensorboard, MLFLow, Weights and Biases</a:t>
            </a:r>
            <a:endParaRPr sz="3957"/>
          </a:p>
          <a:p>
            <a:pPr indent="-25717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277300" y="229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 using TensorBoard</a:t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212200" y="1431375"/>
            <a:ext cx="1396200" cy="464100"/>
          </a:xfrm>
          <a:prstGeom prst="roundRect">
            <a:avLst>
              <a:gd fmla="val 9352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Pytorch Program</a:t>
            </a:r>
            <a:endParaRPr sz="1200"/>
          </a:p>
        </p:txBody>
      </p:sp>
      <p:sp>
        <p:nvSpPr>
          <p:cNvPr id="74" name="Google Shape;74;p16"/>
          <p:cNvSpPr/>
          <p:nvPr/>
        </p:nvSpPr>
        <p:spPr>
          <a:xfrm>
            <a:off x="2583650" y="1431400"/>
            <a:ext cx="1396200" cy="464100"/>
          </a:xfrm>
          <a:prstGeom prst="roundRect">
            <a:avLst>
              <a:gd fmla="val 9352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Logs directory</a:t>
            </a:r>
            <a:endParaRPr sz="1200"/>
          </a:p>
        </p:txBody>
      </p:sp>
      <p:cxnSp>
        <p:nvCxnSpPr>
          <p:cNvPr id="75" name="Google Shape;75;p16"/>
          <p:cNvCxnSpPr>
            <a:stCxn id="73" idx="3"/>
            <a:endCxn id="74" idx="1"/>
          </p:cNvCxnSpPr>
          <p:nvPr/>
        </p:nvCxnSpPr>
        <p:spPr>
          <a:xfrm>
            <a:off x="1608400" y="1663425"/>
            <a:ext cx="97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" name="Google Shape;76;p16"/>
          <p:cNvSpPr/>
          <p:nvPr/>
        </p:nvSpPr>
        <p:spPr>
          <a:xfrm>
            <a:off x="2583650" y="2312400"/>
            <a:ext cx="1396200" cy="534300"/>
          </a:xfrm>
          <a:prstGeom prst="roundRect">
            <a:avLst>
              <a:gd fmla="val 9352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Tensorboard Server</a:t>
            </a:r>
            <a:endParaRPr sz="1100"/>
          </a:p>
        </p:txBody>
      </p:sp>
      <p:cxnSp>
        <p:nvCxnSpPr>
          <p:cNvPr id="77" name="Google Shape;77;p16"/>
          <p:cNvCxnSpPr>
            <a:stCxn id="76" idx="0"/>
            <a:endCxn id="74" idx="2"/>
          </p:cNvCxnSpPr>
          <p:nvPr/>
        </p:nvCxnSpPr>
        <p:spPr>
          <a:xfrm rot="10800000">
            <a:off x="3281750" y="1895400"/>
            <a:ext cx="0" cy="4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6"/>
          <p:cNvCxnSpPr>
            <a:stCxn id="79" idx="1"/>
            <a:endCxn id="76" idx="3"/>
          </p:cNvCxnSpPr>
          <p:nvPr/>
        </p:nvCxnSpPr>
        <p:spPr>
          <a:xfrm rot="10800000">
            <a:off x="3979750" y="2579575"/>
            <a:ext cx="1254300" cy="17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6"/>
          <p:cNvSpPr txBox="1"/>
          <p:nvPr/>
        </p:nvSpPr>
        <p:spPr>
          <a:xfrm>
            <a:off x="1794025" y="1308500"/>
            <a:ext cx="82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Metrics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77300" y="2360925"/>
            <a:ext cx="180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Pip install tensorboard</a:t>
            </a:r>
            <a:endParaRPr sz="1200">
              <a:solidFill>
                <a:schemeClr val="dk2"/>
              </a:solidFill>
            </a:endParaRPr>
          </a:p>
        </p:txBody>
      </p:sp>
      <p:graphicFrame>
        <p:nvGraphicFramePr>
          <p:cNvPr id="82" name="Google Shape;82;p16"/>
          <p:cNvGraphicFramePr/>
          <p:nvPr/>
        </p:nvGraphicFramePr>
        <p:xfrm>
          <a:off x="212200" y="63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{684DD6CD-F74B-4C77-8FB0-D47265B479F3}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3" name="Google Shape;83;p16"/>
          <p:cNvGraphicFramePr/>
          <p:nvPr/>
        </p:nvGraphicFramePr>
        <p:xfrm>
          <a:off x="231250" y="91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{684DD6CD-F74B-4C77-8FB0-D47265B479F3}</a:tableStyleId>
              </a:tblPr>
              <a:tblGrid>
                <a:gridCol w="44821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Primary Use:</a:t>
                      </a:r>
                      <a:r>
                        <a:rPr lang="en" sz="1200"/>
                        <a:t> Visualize training metrics and debugging info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4" name="Google Shape;84;p16"/>
          <p:cNvSpPr txBox="1"/>
          <p:nvPr/>
        </p:nvSpPr>
        <p:spPr>
          <a:xfrm>
            <a:off x="22900" y="48724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class3/</a:t>
            </a:r>
            <a:r>
              <a:rPr lang="en" sz="800">
                <a:solidFill>
                  <a:schemeClr val="dk1"/>
                </a:solidFill>
              </a:rPr>
              <a:t>simple_nn1_tb.py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3968700" y="1422238"/>
            <a:ext cx="975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Can be local or cloud storage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2438550" y="2856600"/>
            <a:ext cx="191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Can run locally or cloud-hosted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5234050" y="2510875"/>
            <a:ext cx="2175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UI: Can use port forwarding if Tensorboard server running remotely 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00" y="3284226"/>
            <a:ext cx="6871775" cy="153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4850" y="154661"/>
            <a:ext cx="3237650" cy="1880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Monitoring using TensorBoard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1683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05772"/>
            <a:ext cx="6029515" cy="1985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/>
          <p:nvPr/>
        </p:nvSpPr>
        <p:spPr>
          <a:xfrm>
            <a:off x="619550" y="2322000"/>
            <a:ext cx="943500" cy="1329300"/>
          </a:xfrm>
          <a:prstGeom prst="roundRect">
            <a:avLst>
              <a:gd fmla="val 9352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Pytorch Program</a:t>
            </a:r>
            <a:endParaRPr/>
          </a:p>
        </p:txBody>
      </p:sp>
      <p:cxnSp>
        <p:nvCxnSpPr>
          <p:cNvPr id="101" name="Google Shape;101;p18"/>
          <p:cNvCxnSpPr>
            <a:stCxn id="100" idx="3"/>
            <a:endCxn id="102" idx="1"/>
          </p:cNvCxnSpPr>
          <p:nvPr/>
        </p:nvCxnSpPr>
        <p:spPr>
          <a:xfrm>
            <a:off x="1563050" y="2986650"/>
            <a:ext cx="131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8"/>
          <p:cNvSpPr/>
          <p:nvPr/>
        </p:nvSpPr>
        <p:spPr>
          <a:xfrm>
            <a:off x="2882275" y="2283750"/>
            <a:ext cx="1110900" cy="1405800"/>
          </a:xfrm>
          <a:prstGeom prst="roundRect">
            <a:avLst>
              <a:gd fmla="val 9352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MLFlow Server</a:t>
            </a:r>
            <a:endParaRPr/>
          </a:p>
        </p:txBody>
      </p:sp>
      <p:cxnSp>
        <p:nvCxnSpPr>
          <p:cNvPr id="103" name="Google Shape;103;p18"/>
          <p:cNvCxnSpPr>
            <a:endCxn id="104" idx="0"/>
          </p:cNvCxnSpPr>
          <p:nvPr/>
        </p:nvCxnSpPr>
        <p:spPr>
          <a:xfrm>
            <a:off x="1563025" y="3442850"/>
            <a:ext cx="1211100" cy="55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8"/>
          <p:cNvSpPr txBox="1"/>
          <p:nvPr/>
        </p:nvSpPr>
        <p:spPr>
          <a:xfrm>
            <a:off x="1678450" y="2933050"/>
            <a:ext cx="11109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Metadata</a:t>
            </a:r>
            <a:br>
              <a:rPr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Params, metrics, tags..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233825" y="941175"/>
            <a:ext cx="7366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Primary Use:</a:t>
            </a:r>
            <a:r>
              <a:rPr lang="en" sz="1100">
                <a:solidFill>
                  <a:schemeClr val="dk2"/>
                </a:solidFill>
              </a:rPr>
              <a:t> End-to-end ML lifecycle: track experiments, manage models, deployments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Run MLFlow server with:</a:t>
            </a:r>
            <a:endParaRPr sz="11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000">
                <a:solidFill>
                  <a:schemeClr val="dk2"/>
                </a:solidFill>
              </a:rPr>
              <a:t>backend store</a:t>
            </a:r>
            <a:r>
              <a:rPr lang="en" sz="1000">
                <a:solidFill>
                  <a:schemeClr val="dk2"/>
                </a:solidFill>
              </a:rPr>
              <a:t>: Typically a database such as PostGres, MySQL, or MSSQL. For storing parameters, metrics, and tags</a:t>
            </a:r>
            <a:endParaRPr sz="10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000">
                <a:solidFill>
                  <a:schemeClr val="dk2"/>
                </a:solidFill>
              </a:rPr>
              <a:t>artifact store:</a:t>
            </a:r>
            <a:r>
              <a:rPr lang="en" sz="1000">
                <a:solidFill>
                  <a:schemeClr val="dk2"/>
                </a:solidFill>
              </a:rPr>
              <a:t> local directory or cloud storage such as S3. For large artifacts such as model weights, checkpoints..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369875" y="3755725"/>
            <a:ext cx="157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If no mlflow tracking server configured, mlflow client will write metrics to local mlruns directory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108" name="Google Shape;108;p18"/>
          <p:cNvCxnSpPr>
            <a:endCxn id="109" idx="1"/>
          </p:cNvCxnSpPr>
          <p:nvPr/>
        </p:nvCxnSpPr>
        <p:spPr>
          <a:xfrm>
            <a:off x="3998700" y="2654400"/>
            <a:ext cx="57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p18"/>
          <p:cNvSpPr/>
          <p:nvPr/>
        </p:nvSpPr>
        <p:spPr>
          <a:xfrm>
            <a:off x="4572000" y="2322000"/>
            <a:ext cx="1110900" cy="664800"/>
          </a:xfrm>
          <a:prstGeom prst="roundRect">
            <a:avLst>
              <a:gd fmla="val 9352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store</a:t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2218675" y="3993050"/>
            <a:ext cx="1110900" cy="664800"/>
          </a:xfrm>
          <a:prstGeom prst="roundRect">
            <a:avLst>
              <a:gd fmla="val 9352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Artifact store</a:t>
            </a:r>
            <a:endParaRPr/>
          </a:p>
        </p:txBody>
      </p:sp>
      <p:cxnSp>
        <p:nvCxnSpPr>
          <p:cNvPr id="110" name="Google Shape;110;p18"/>
          <p:cNvCxnSpPr/>
          <p:nvPr/>
        </p:nvCxnSpPr>
        <p:spPr>
          <a:xfrm rot="10800000">
            <a:off x="1577200" y="2638375"/>
            <a:ext cx="131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" name="Google Shape;111;p18"/>
          <p:cNvSpPr txBox="1"/>
          <p:nvPr>
            <p:ph type="title"/>
          </p:nvPr>
        </p:nvSpPr>
        <p:spPr>
          <a:xfrm>
            <a:off x="233825" y="221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 using MLFlow</a:t>
            </a:r>
            <a:endParaRPr/>
          </a:p>
        </p:txBody>
      </p:sp>
      <p:sp>
        <p:nvSpPr>
          <p:cNvPr id="112" name="Google Shape;112;p18"/>
          <p:cNvSpPr txBox="1"/>
          <p:nvPr/>
        </p:nvSpPr>
        <p:spPr>
          <a:xfrm>
            <a:off x="1563050" y="2221963"/>
            <a:ext cx="13191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Artifact location, presigned S3 URLs..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1947107" y="3349450"/>
            <a:ext cx="94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Artifacts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3933650" y="2371825"/>
            <a:ext cx="70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Metadata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7075" y="4721275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class3/simple_nn1_mlflow.py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MLFlow: Comparing Runs of an Experiment </a:t>
            </a:r>
            <a:endParaRPr/>
          </a:p>
        </p:txBody>
      </p:sp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700" y="2453901"/>
            <a:ext cx="8332602" cy="2654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/>
          <p:cNvPicPr preferRelativeResize="0"/>
          <p:nvPr/>
        </p:nvPicPr>
        <p:blipFill rotWithShape="1">
          <a:blip r:embed="rId4">
            <a:alphaModFix/>
          </a:blip>
          <a:srcRect b="0" l="0" r="48100" t="0"/>
          <a:stretch/>
        </p:blipFill>
        <p:spPr>
          <a:xfrm>
            <a:off x="0" y="917125"/>
            <a:ext cx="2956875" cy="238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/>
          <p:nvPr/>
        </p:nvSpPr>
        <p:spPr>
          <a:xfrm flipH="1" rot="10800000">
            <a:off x="3043092" y="2192700"/>
            <a:ext cx="822600" cy="6582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11700" y="445025"/>
            <a:ext cx="155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MLFLow</a:t>
            </a:r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1400" y="152400"/>
            <a:ext cx="6970200" cy="428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 rotWithShape="1">
          <a:blip r:embed="rId4">
            <a:alphaModFix/>
          </a:blip>
          <a:srcRect b="0" l="0" r="48100" t="0"/>
          <a:stretch/>
        </p:blipFill>
        <p:spPr>
          <a:xfrm>
            <a:off x="53150" y="2761175"/>
            <a:ext cx="2956875" cy="238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233825" y="221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Monitoring/Tracking using Weights and Biases</a:t>
            </a:r>
            <a:endParaRPr/>
          </a:p>
        </p:txBody>
      </p:sp>
      <p:graphicFrame>
        <p:nvGraphicFramePr>
          <p:cNvPr id="136" name="Google Shape;136;p21"/>
          <p:cNvGraphicFramePr/>
          <p:nvPr/>
        </p:nvGraphicFramePr>
        <p:xfrm>
          <a:off x="348025" y="91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{FC238D60-79BD-4FF3-9BA5-E33D28E507E0}</a:tableStyleId>
              </a:tblPr>
              <a:tblGrid>
                <a:gridCol w="2782400"/>
                <a:gridCol w="2782400"/>
                <a:gridCol w="2782400"/>
              </a:tblGrid>
              <a:tr h="382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Area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Weights &amp; Biases (W&amp;B)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MLflow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55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Core goal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Experiment tracking &amp; collaboration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End-to-end ML lifecycle (track, package, registry, serve)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5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Hosting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Primarily </a:t>
                      </a:r>
                      <a:r>
                        <a:rPr b="1" lang="en" sz="1200"/>
                        <a:t>SaaS</a:t>
                      </a:r>
                      <a:r>
                        <a:rPr lang="en" sz="1200"/>
                        <a:t> (with enterprise self-host/on-prem options)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Open source</a:t>
                      </a:r>
                      <a:r>
                        <a:rPr lang="en" sz="1200"/>
                        <a:t>, easy to self-host (FS/DB/S3/GCS/etc.)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5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Experiment tracking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Excellent UI/UX, live dashboards, rich comparisons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Solid tracking; simpler UI; highly portable metadata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7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Hyperparam optimization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Sweeps</a:t>
                      </a:r>
                      <a:r>
                        <a:rPr lang="en" sz="1200"/>
                        <a:t>: first-class HPO with schedulers/search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native HPO; plug in Optuna/Ray/Tune and log to MLflow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5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Collaboration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Reports, tables, comments, sharing, org features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Basic comparisons; collaboration mostly via your infra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Cost/lock-in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SaaS convenience; enterprise plans; some lock-in risk via UI features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license cost; infra cost only; minimal lock-in (files/API)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7" name="Google Shape;137;p21"/>
          <p:cNvSpPr txBox="1"/>
          <p:nvPr/>
        </p:nvSpPr>
        <p:spPr>
          <a:xfrm>
            <a:off x="348025" y="47853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https://wandb.ai/site/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Monitoring/Observability</a:t>
            </a:r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5680413" y="2179663"/>
            <a:ext cx="1366800" cy="47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Aggregation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Kafka-&gt;Flink-&gt;Storage</a:t>
            </a:r>
            <a:endParaRPr sz="900"/>
          </a:p>
        </p:txBody>
      </p:sp>
      <p:sp>
        <p:nvSpPr>
          <p:cNvPr id="144" name="Google Shape;144;p22"/>
          <p:cNvSpPr/>
          <p:nvPr/>
        </p:nvSpPr>
        <p:spPr>
          <a:xfrm>
            <a:off x="3076325" y="1709275"/>
            <a:ext cx="1699800" cy="47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(Real-time)</a:t>
            </a:r>
            <a:endParaRPr/>
          </a:p>
        </p:txBody>
      </p:sp>
      <p:sp>
        <p:nvSpPr>
          <p:cNvPr id="145" name="Google Shape;145;p22"/>
          <p:cNvSpPr/>
          <p:nvPr/>
        </p:nvSpPr>
        <p:spPr>
          <a:xfrm>
            <a:off x="3076325" y="2684375"/>
            <a:ext cx="1699800" cy="47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(batch)</a:t>
            </a: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534500" y="2179663"/>
            <a:ext cx="651000" cy="47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Input data</a:t>
            </a:r>
            <a:endParaRPr sz="1200"/>
          </a:p>
        </p:txBody>
      </p:sp>
      <p:sp>
        <p:nvSpPr>
          <p:cNvPr id="147" name="Google Shape;147;p22"/>
          <p:cNvSpPr/>
          <p:nvPr/>
        </p:nvSpPr>
        <p:spPr>
          <a:xfrm>
            <a:off x="311700" y="1308575"/>
            <a:ext cx="1538100" cy="631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 Data quality/integrity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 Missing columns, NaNs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 Data type mismatch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 Schema mismatch </a:t>
            </a:r>
            <a:endParaRPr sz="900"/>
          </a:p>
        </p:txBody>
      </p:sp>
      <p:sp>
        <p:nvSpPr>
          <p:cNvPr id="148" name="Google Shape;148;p22"/>
          <p:cNvSpPr/>
          <p:nvPr/>
        </p:nvSpPr>
        <p:spPr>
          <a:xfrm>
            <a:off x="7380050" y="2183125"/>
            <a:ext cx="1312800" cy="4635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Output Distribution Drift detection</a:t>
            </a:r>
            <a:endParaRPr sz="1000"/>
          </a:p>
        </p:txBody>
      </p:sp>
      <p:sp>
        <p:nvSpPr>
          <p:cNvPr id="149" name="Google Shape;149;p22"/>
          <p:cNvSpPr/>
          <p:nvPr/>
        </p:nvSpPr>
        <p:spPr>
          <a:xfrm>
            <a:off x="2107500" y="1426750"/>
            <a:ext cx="503400" cy="317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ood?</a:t>
            </a:r>
            <a:endParaRPr sz="900"/>
          </a:p>
        </p:txBody>
      </p:sp>
      <p:sp>
        <p:nvSpPr>
          <p:cNvPr id="150" name="Google Shape;150;p22"/>
          <p:cNvSpPr/>
          <p:nvPr/>
        </p:nvSpPr>
        <p:spPr>
          <a:xfrm>
            <a:off x="5605625" y="700625"/>
            <a:ext cx="503400" cy="317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ood?</a:t>
            </a:r>
            <a:endParaRPr sz="900"/>
          </a:p>
        </p:txBody>
      </p:sp>
      <p:cxnSp>
        <p:nvCxnSpPr>
          <p:cNvPr id="151" name="Google Shape;151;p22"/>
          <p:cNvCxnSpPr>
            <a:stCxn id="146" idx="3"/>
            <a:endCxn id="143" idx="1"/>
          </p:cNvCxnSpPr>
          <p:nvPr/>
        </p:nvCxnSpPr>
        <p:spPr>
          <a:xfrm>
            <a:off x="1185500" y="2414863"/>
            <a:ext cx="449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2"/>
          <p:cNvCxnSpPr>
            <a:stCxn id="146" idx="3"/>
            <a:endCxn id="144" idx="1"/>
          </p:cNvCxnSpPr>
          <p:nvPr/>
        </p:nvCxnSpPr>
        <p:spPr>
          <a:xfrm flipH="1" rot="10800000">
            <a:off x="1185500" y="1944463"/>
            <a:ext cx="1890900" cy="4704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2"/>
          <p:cNvCxnSpPr>
            <a:stCxn id="146" idx="3"/>
            <a:endCxn id="145" idx="1"/>
          </p:cNvCxnSpPr>
          <p:nvPr/>
        </p:nvCxnSpPr>
        <p:spPr>
          <a:xfrm>
            <a:off x="1185500" y="2414863"/>
            <a:ext cx="1890900" cy="504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22"/>
          <p:cNvCxnSpPr>
            <a:stCxn id="144" idx="3"/>
            <a:endCxn id="143" idx="1"/>
          </p:cNvCxnSpPr>
          <p:nvPr/>
        </p:nvCxnSpPr>
        <p:spPr>
          <a:xfrm>
            <a:off x="4776125" y="1944475"/>
            <a:ext cx="904200" cy="470400"/>
          </a:xfrm>
          <a:prstGeom prst="bentConnector3">
            <a:avLst>
              <a:gd fmla="val 4658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2"/>
          <p:cNvCxnSpPr>
            <a:stCxn id="144" idx="3"/>
            <a:endCxn id="150" idx="1"/>
          </p:cNvCxnSpPr>
          <p:nvPr/>
        </p:nvCxnSpPr>
        <p:spPr>
          <a:xfrm flipH="1" rot="10800000">
            <a:off x="4776125" y="859075"/>
            <a:ext cx="829500" cy="1085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22"/>
          <p:cNvCxnSpPr>
            <a:stCxn id="145" idx="3"/>
            <a:endCxn id="148" idx="2"/>
          </p:cNvCxnSpPr>
          <p:nvPr/>
        </p:nvCxnSpPr>
        <p:spPr>
          <a:xfrm flipH="1" rot="10800000">
            <a:off x="4776125" y="2646575"/>
            <a:ext cx="3260400" cy="273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22"/>
          <p:cNvCxnSpPr>
            <a:stCxn id="143" idx="3"/>
            <a:endCxn id="148" idx="1"/>
          </p:cNvCxnSpPr>
          <p:nvPr/>
        </p:nvCxnSpPr>
        <p:spPr>
          <a:xfrm>
            <a:off x="7047213" y="2414863"/>
            <a:ext cx="33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22"/>
          <p:cNvSpPr/>
          <p:nvPr/>
        </p:nvSpPr>
        <p:spPr>
          <a:xfrm>
            <a:off x="7585850" y="1550875"/>
            <a:ext cx="9012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Reference</a:t>
            </a:r>
            <a:endParaRPr sz="1200"/>
          </a:p>
        </p:txBody>
      </p:sp>
      <p:cxnSp>
        <p:nvCxnSpPr>
          <p:cNvPr id="159" name="Google Shape;159;p22"/>
          <p:cNvCxnSpPr>
            <a:stCxn id="158" idx="2"/>
            <a:endCxn id="148" idx="0"/>
          </p:cNvCxnSpPr>
          <p:nvPr/>
        </p:nvCxnSpPr>
        <p:spPr>
          <a:xfrm>
            <a:off x="8036450" y="1944475"/>
            <a:ext cx="0" cy="2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22"/>
          <p:cNvSpPr/>
          <p:nvPr/>
        </p:nvSpPr>
        <p:spPr>
          <a:xfrm>
            <a:off x="2888600" y="1125250"/>
            <a:ext cx="780300" cy="2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Reference</a:t>
            </a:r>
            <a:endParaRPr sz="900"/>
          </a:p>
        </p:txBody>
      </p:sp>
      <p:cxnSp>
        <p:nvCxnSpPr>
          <p:cNvPr id="161" name="Google Shape;161;p22"/>
          <p:cNvCxnSpPr>
            <a:stCxn id="160" idx="1"/>
            <a:endCxn id="149" idx="3"/>
          </p:cNvCxnSpPr>
          <p:nvPr/>
        </p:nvCxnSpPr>
        <p:spPr>
          <a:xfrm flipH="1">
            <a:off x="2610800" y="1260400"/>
            <a:ext cx="277800" cy="324900"/>
          </a:xfrm>
          <a:prstGeom prst="bentConnector3">
            <a:avLst>
              <a:gd fmla="val 4998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2"/>
          <p:cNvCxnSpPr>
            <a:endCxn id="147" idx="2"/>
          </p:cNvCxnSpPr>
          <p:nvPr/>
        </p:nvCxnSpPr>
        <p:spPr>
          <a:xfrm rot="10800000">
            <a:off x="1080750" y="1939775"/>
            <a:ext cx="525900" cy="47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2"/>
          <p:cNvCxnSpPr/>
          <p:nvPr/>
        </p:nvCxnSpPr>
        <p:spPr>
          <a:xfrm flipH="1" rot="10800000">
            <a:off x="1626325" y="1744000"/>
            <a:ext cx="597600" cy="66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4" name="Google Shape;164;p22"/>
          <p:cNvSpPr/>
          <p:nvPr/>
        </p:nvSpPr>
        <p:spPr>
          <a:xfrm>
            <a:off x="5680425" y="3679063"/>
            <a:ext cx="1366800" cy="47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Labeling / Groundtruthing</a:t>
            </a:r>
            <a:endParaRPr sz="1200"/>
          </a:p>
        </p:txBody>
      </p:sp>
      <p:cxnSp>
        <p:nvCxnSpPr>
          <p:cNvPr id="165" name="Google Shape;165;p22"/>
          <p:cNvCxnSpPr>
            <a:stCxn id="143" idx="2"/>
            <a:endCxn id="164" idx="0"/>
          </p:cNvCxnSpPr>
          <p:nvPr/>
        </p:nvCxnSpPr>
        <p:spPr>
          <a:xfrm>
            <a:off x="6363813" y="2650063"/>
            <a:ext cx="0" cy="102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22"/>
          <p:cNvSpPr/>
          <p:nvPr/>
        </p:nvSpPr>
        <p:spPr>
          <a:xfrm>
            <a:off x="3629825" y="3714025"/>
            <a:ext cx="1312800" cy="4005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Accuracy, F1, AUC, RMSE..</a:t>
            </a:r>
            <a:endParaRPr sz="900"/>
          </a:p>
        </p:txBody>
      </p:sp>
      <p:sp>
        <p:nvSpPr>
          <p:cNvPr id="167" name="Google Shape;167;p22"/>
          <p:cNvSpPr/>
          <p:nvPr/>
        </p:nvSpPr>
        <p:spPr>
          <a:xfrm>
            <a:off x="5616525" y="1228800"/>
            <a:ext cx="1494600" cy="5046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Feature importance drift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Eg,, SHAP value distributions</a:t>
            </a:r>
            <a:endParaRPr sz="900"/>
          </a:p>
        </p:txBody>
      </p:sp>
      <p:cxnSp>
        <p:nvCxnSpPr>
          <p:cNvPr id="168" name="Google Shape;168;p22"/>
          <p:cNvCxnSpPr>
            <a:stCxn id="144" idx="3"/>
            <a:endCxn id="167" idx="1"/>
          </p:cNvCxnSpPr>
          <p:nvPr/>
        </p:nvCxnSpPr>
        <p:spPr>
          <a:xfrm flipH="1" rot="10800000">
            <a:off x="4776125" y="1480975"/>
            <a:ext cx="840300" cy="4635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2"/>
          <p:cNvCxnSpPr>
            <a:stCxn id="143" idx="0"/>
            <a:endCxn id="167" idx="2"/>
          </p:cNvCxnSpPr>
          <p:nvPr/>
        </p:nvCxnSpPr>
        <p:spPr>
          <a:xfrm rot="10800000">
            <a:off x="6363813" y="1733263"/>
            <a:ext cx="0" cy="44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22"/>
          <p:cNvSpPr/>
          <p:nvPr/>
        </p:nvSpPr>
        <p:spPr>
          <a:xfrm>
            <a:off x="7443750" y="3679063"/>
            <a:ext cx="1366800" cy="47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Human/Machine</a:t>
            </a:r>
            <a:endParaRPr sz="1200"/>
          </a:p>
        </p:txBody>
      </p:sp>
      <p:cxnSp>
        <p:nvCxnSpPr>
          <p:cNvPr id="171" name="Google Shape;171;p22"/>
          <p:cNvCxnSpPr>
            <a:stCxn id="170" idx="1"/>
            <a:endCxn id="164" idx="3"/>
          </p:cNvCxnSpPr>
          <p:nvPr/>
        </p:nvCxnSpPr>
        <p:spPr>
          <a:xfrm rot="10800000">
            <a:off x="7047150" y="3914263"/>
            <a:ext cx="39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22"/>
          <p:cNvCxnSpPr>
            <a:stCxn id="164" idx="1"/>
            <a:endCxn id="166" idx="3"/>
          </p:cNvCxnSpPr>
          <p:nvPr/>
        </p:nvCxnSpPr>
        <p:spPr>
          <a:xfrm rot="10800000">
            <a:off x="4942725" y="3914263"/>
            <a:ext cx="73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" name="Google Shape;173;p22"/>
          <p:cNvSpPr txBox="1"/>
          <p:nvPr/>
        </p:nvSpPr>
        <p:spPr>
          <a:xfrm>
            <a:off x="382100" y="3433900"/>
            <a:ext cx="28215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For model output distribution drift, is the model performing differently for a certain classes?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Also, standard performance monitoring.. </a:t>
            </a:r>
            <a:r>
              <a:rPr lang="en" sz="1100">
                <a:solidFill>
                  <a:schemeClr val="dk2"/>
                </a:solidFill>
              </a:rPr>
              <a:t>p</a:t>
            </a:r>
            <a:r>
              <a:rPr lang="en" sz="1100">
                <a:solidFill>
                  <a:schemeClr val="dk2"/>
                </a:solidFill>
              </a:rPr>
              <a:t>99, time outs, HW utilization, traffic volume..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to capture Data Distribution Drift</a:t>
            </a:r>
            <a:endParaRPr/>
          </a:p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Key idea: We have a metric of interest (eg., model prediction confidence) and we have a “reference” or “expected” distribution for it, calculated from the training dataset. We run the model in production and collect samples of the metric of interest and calculate a distribution based on these samples. Then we calculate various distance metrics between the distributions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to capture Data Distribution Drift</a:t>
            </a:r>
            <a:endParaRPr/>
          </a:p>
        </p:txBody>
      </p:sp>
      <p:graphicFrame>
        <p:nvGraphicFramePr>
          <p:cNvPr id="185" name="Google Shape;185;p24"/>
          <p:cNvGraphicFramePr/>
          <p:nvPr/>
        </p:nvGraphicFramePr>
        <p:xfrm>
          <a:off x="268525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{FC238D60-79BD-4FF3-9BA5-E33D28E507E0}</a:tableStyleId>
              </a:tblPr>
              <a:tblGrid>
                <a:gridCol w="1082875"/>
                <a:gridCol w="2725475"/>
                <a:gridCol w="1192725"/>
                <a:gridCol w="2116625"/>
                <a:gridCol w="1652725"/>
              </a:tblGrid>
              <a:tr h="57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Metric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Formula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Bounded?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Core idea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When to use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7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PSI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Unbounded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Symmetric KL, uses decile bin edges, widely used and understood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Categorical variables, bounded numerical features (eg., normalized confidence score, percentages, rates)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57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Jensen Shannon Divergence (JS)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Bounded (0-log(2))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Smooth KL, compares distributions via midpoint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Categorical variables, bounded numerical features (eg., normalized confidence score)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57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Wasserstein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No, but well behaved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Geometric distance.. How much mass must be moved to transform one distribution to another, </a:t>
                      </a:r>
                      <a:r>
                        <a:rPr lang="en" sz="1000"/>
                        <a:t>Principled metric to measure drift. Can be calculated both from histograms AND samples..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All of the above + unbounded numerical features--house prices, latency, embeddings norms..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{&quot;backgroundColor&quot;:&quot;#FFFFFF&quot;,&quot;font&quot;:{&quot;color&quot;:&quot;#000000&quot;,&quot;size&quot;:8,&quot;family&quot;:&quot;Arial&quot;},&quot;backgroundColorModified&quot;:false,&quot;id&quot;:&quot;12&quot;,&quot;aid&quot;:null,&quot;code&quot;:&quot;\\begin{gather*}\n{PSI=\\sum_{i}^{}\\left(A_{i}-E_{i}\\right)\\log_{}\\frac{A_{i}}{E_{i}}}\\\\\n{=D_{KL}\\left(A\\left|\\right|E\\right)+D_{KL}\\left(E\\left|\\right|A\\right)}\t\n\\end{gather*}&quot;,&quot;type&quot;:&quot;gather*&quot;,&quot;ts&quot;:1765888750847,&quot;cs&quot;:&quot;6preAPL9Xi+sUf96CWoBLA==&quot;,&quot;size&quot;:{&quot;width&quot;:165.94236561679784,&quot;height&quot;:51.4882254593176}}" id="186" name="Google Shape;1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9575" y="2297450"/>
            <a:ext cx="1580601" cy="490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7,&quot;color&quot;:&quot;#000000&quot;,&quot;family&quot;:&quot;Arial&quot;},&quot;id&quot;:&quot;13&quot;,&quot;aid&quot;:null,&quot;backgroundColorModified&quot;:false,&quot;code&quot;:&quot;\\begin{gather*}\n{JS\\left(A,E\\right)=\\frac{1}{2}D_{KL}\\left(A\\left|\\right|M\\right)+\\frac{1}{2}D_{KL}\\left(E\\left|\\right|M\\right)}\\\\\n{M=\\frac{A+E}{2}}\t\n\\end{gather*}&quot;,&quot;type&quot;:&quot;gather*&quot;,&quot;backgroundColor&quot;:&quot;#FFFFFF&quot;,&quot;ts&quot;:1765889046627,&quot;cs&quot;:&quot;mVfedtYZ6y6UzYGpUdscNg==&quot;,&quot;size&quot;:{&quot;width&quot;:227.08057532808405,&quot;height&quot;:51.48816797900262}}" id="187" name="Google Shape;18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8400" y="3113063"/>
            <a:ext cx="2162942" cy="490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code&quot;:&quot;$$W\\left(A,E\\right)=\\int_{-\\infty}^{\\infty}\\left|CDF_{A}\\left(x\\right)-CDF_{E}\\left(x\\right)\\right|dx$$&quot;,&quot;id&quot;:&quot;14&quot;,&quot;backgroundColor&quot;:&quot;#FFFFFF&quot;,&quot;type&quot;:&quot;$$&quot;,&quot;backgroundColorModified&quot;:false,&quot;font&quot;:{&quot;color&quot;:&quot;#000000&quot;,&quot;family&quot;:&quot;Arial&quot;,&quot;size&quot;:8},&quot;ts&quot;:1765889787173,&quot;cs&quot;:&quot;33doJbPzEfEMqMCvpAN9+Q==&quot;,&quot;size&quot;:{&quot;width&quot;:243.68774645669293,&quot;height&quot;:29.82940419947506}}" id="188" name="Google Shape;18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1400" y="4242175"/>
            <a:ext cx="2681200" cy="32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Out of Distribution Data..</a:t>
            </a:r>
            <a:endParaRPr/>
          </a:p>
        </p:txBody>
      </p:sp>
      <p:sp>
        <p:nvSpPr>
          <p:cNvPr id="194" name="Google Shape;19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What happens if an out-of-distribution value is encountered in production data?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Ignore it (bad)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Shove ood values into edge bins: Drift increases for first/last bins, but lose info about </a:t>
            </a:r>
            <a:r>
              <a:rPr i="1" lang="en" sz="1600"/>
              <a:t>how far </a:t>
            </a:r>
            <a:r>
              <a:rPr lang="en" sz="1600"/>
              <a:t>OOD the value was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Extend the bins to include ood value: Most principled approach. Reference distribution will have 0 mass in those bins, so distribution based drift metrics will spike appropriately. However, once a value is binned, all values in a bin are equivalent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Wasserstein distance </a:t>
            </a:r>
            <a:r>
              <a:rPr lang="en" sz="1600"/>
              <a:t>(calculated using samples) handles ood the best. Distance will increase based on </a:t>
            </a:r>
            <a:r>
              <a:rPr i="1" lang="en" sz="1600"/>
              <a:t>how</a:t>
            </a:r>
            <a:r>
              <a:rPr lang="en" sz="1600"/>
              <a:t> ood the value moved. Detects </a:t>
            </a:r>
            <a:r>
              <a:rPr b="1" lang="en" sz="1600"/>
              <a:t>severity</a:t>
            </a:r>
            <a:r>
              <a:rPr lang="en" sz="1600"/>
              <a:t> of ood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PSI/JS</a:t>
            </a:r>
            <a:r>
              <a:rPr lang="en" sz="1600"/>
              <a:t> detect </a:t>
            </a:r>
            <a:r>
              <a:rPr b="1" lang="en" sz="1600"/>
              <a:t>something changed</a:t>
            </a:r>
            <a:endParaRPr b="1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Plotting monitoring metrics against degree of ood</a:t>
            </a:r>
            <a:endParaRPr/>
          </a:p>
        </p:txBody>
      </p:sp>
      <p:pic>
        <p:nvPicPr>
          <p:cNvPr id="200" name="Google Shape;2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26" y="1459150"/>
            <a:ext cx="4463250" cy="334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gather*&quot;,&quot;code&quot;:&quot;\\begin{gather*}\n{\\text{What}\\;\\text{would}\\;\\text{PSI}\\;\\text{saturate}\\;\\text{to?}\\;\\text{}}\\\\\n{\\text{For}\\;\\text{extremel}\\text{y}\\;\\text{ood}\\;\\text{data,}\\;\\text{all}\\;\\text{values}\\;\\text{of}\\;\\text{the}\\;\\text{prod}\\;\\text{distribution}\\;\\text{would}}\\\\\n{\\text{land}\\;\\text{in}\\;\\text{the}\\;\\text{right}\\;\\text{overflow}\\;\\text{bin..}}\\\\\n{PSI=\\sum_{i=0}^{10}\\left(A_{i}-E_{i}\\right)\\log_{}\\frac{A_{i}}{E_{i}}}\\\\\n{=\\sum_{i=0}^{9}-E_{i}\\log_{}\\frac{\\epsilon}{E_{i}}+\\left(1-0.1\\right)\\log_{}\\frac{1}{0.1}}\\\\\n{\\text{For}\\;E_{i}=0.1\\,\\left(\\text{deciles}\\right),\\,\\epsilon=1e-12,}\\\\\n{PSI=24.87}\t\n\\end{gather*}&quot;,&quot;aid&quot;:null,&quot;id&quot;:&quot;15&quot;,&quot;backgroundColor&quot;:&quot;#FFFFFF&quot;,&quot;font&quot;:{&quot;family&quot;:&quot;Arial&quot;,&quot;size&quot;:9.5,&quot;color&quot;:&quot;#000000&quot;},&quot;backgroundColorModified&quot;:false,&quot;ts&quot;:1765934309741,&quot;cs&quot;:&quot;GzGolUHSc1MPQ/DZR51u7g==&quot;,&quot;size&quot;:{&quot;width&quot;:436.8791270341208,&quot;height&quot;:194.39889973753284}}" id="201" name="Google Shape;20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2149" y="3213450"/>
            <a:ext cx="4161274" cy="185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151" y="1130925"/>
            <a:ext cx="3938650" cy="196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Tracking distribution drifts in embeddings</a:t>
            </a:r>
            <a:endParaRPr/>
          </a:p>
        </p:txBody>
      </p:sp>
      <p:sp>
        <p:nvSpPr>
          <p:cNvPr id="208" name="Google Shape;20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could track each component of an embedding vector, but this is suboptimal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common methods: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 embedding shift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Average pairwise distance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Sliced Wasserstein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Likelihood based methods (</a:t>
            </a:r>
            <a:r>
              <a:rPr i="1" lang="en"/>
              <a:t>per-sample ood</a:t>
            </a:r>
            <a:r>
              <a:rPr lang="en"/>
              <a:t>): Fit a distribution on the reference embeddings, track log likelihood/Mahalanobis distance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vs class-conditional embedding drift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Global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class-conditional</a:t>
            </a:r>
            <a:endParaRPr/>
          </a:p>
        </p:txBody>
      </p:sp>
      <p:pic>
        <p:nvPicPr>
          <p:cNvPr descr="{&quot;backgroundColorModified&quot;:false,&quot;id&quot;:&quot;16&quot;,&quot;type&quot;:&quot;$$&quot;,&quot;font&quot;:{&quot;size&quot;:14,&quot;color&quot;:&quot;#595959&quot;,&quot;family&quot;:&quot;Arial&quot;},&quot;aid&quot;:null,&quot;backgroundColor&quot;:&quot;#FFFFFF&quot;,&quot;code&quot;:&quot;$$P_{ref}\\left(z\\right),\\,P_{prod}\\left(z\\right)$$&quot;,&quot;ts&quot;:1765937133172,&quot;cs&quot;:&quot;AJErt++/zQhWB/9hiNbATQ==&quot;,&quot;size&quot;:{&quot;width&quot;:157.33333333333334,&quot;height&quot;:23}}" id="209" name="Google Shape;20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700" y="3728238"/>
            <a:ext cx="14986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$&quot;,&quot;backgroundColor&quot;:&quot;#FFFFFF&quot;,&quot;id&quot;:&quot;16&quot;,&quot;code&quot;:&quot;$$P_{ref}\\left(z\\mid y=c\\right),\\,P_{prod}\\left(z\\mid y=c\\right)$$&quot;,&quot;font&quot;:{&quot;size&quot;:14,&quot;family&quot;:&quot;Arial&quot;,&quot;color&quot;:&quot;#595959&quot;},&quot;backgroundColorModified&quot;:false,&quot;ts&quot;:1765937111930,&quot;cs&quot;:&quot;yRhyHFVAQp0NUMvKgxBYSQ==&quot;,&quot;size&quot;:{&quot;width&quot;:292.5,&quot;height&quot;:23}}" id="210" name="Google Shape;21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0700" y="4041464"/>
            <a:ext cx="2786063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code&quot;:&quot;$$\\Delta=\\left\\|\\mu_{ref}-\\mu_{prod}\\right\\|$$&quot;,&quot;backgroundColor&quot;:&quot;#FFFFFF&quot;,&quot;font&quot;:{&quot;color&quot;:&quot;#595959&quot;,&quot;size&quot;:14,&quot;family&quot;:&quot;Arial&quot;},&quot;id&quot;:&quot;17&quot;,&quot;backgroundColorModified&quot;:false,&quot;type&quot;:&quot;$$&quot;,&quot;ts&quot;:1765937217692,&quot;cs&quot;:&quot;uXYVeE013uDU9rWb+uUH4w==&quot;,&quot;size&quot;:{&quot;width&quot;:175.33333333333334,&quot;height&quot;:23}}" id="211" name="Google Shape;21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7550" y="2199475"/>
            <a:ext cx="16700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Tracking distribution drifts in embeddings</a:t>
            </a:r>
            <a:endParaRPr/>
          </a:p>
        </p:txBody>
      </p:sp>
      <p:sp>
        <p:nvSpPr>
          <p:cNvPr id="217" name="Google Shape;217;p28"/>
          <p:cNvSpPr txBox="1"/>
          <p:nvPr>
            <p:ph idx="1" type="body"/>
          </p:nvPr>
        </p:nvSpPr>
        <p:spPr>
          <a:xfrm>
            <a:off x="311700" y="1152475"/>
            <a:ext cx="433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Sliced Wasserstein: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Taking the dot product in a certain direction is like “looking at the distribution from that direction”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Robust to outliers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Sensitive to severity of ood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Works well in high-dimensions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Computationally tractable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Need a large </a:t>
            </a:r>
            <a:r>
              <a:rPr lang="en" sz="1600"/>
              <a:t>enough</a:t>
            </a:r>
            <a:r>
              <a:rPr lang="en" sz="1600"/>
              <a:t> k to capture structure in the embeddings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aid&quot;:null,&quot;type&quot;:&quot;lalign*&quot;,&quot;font&quot;:{&quot;color&quot;:&quot;#000000&quot;,&quot;family&quot;:&quot;Arial&quot;,&quot;size&quot;:12},&quot;id&quot;:&quot;18&quot;,&quot;code&quot;:&quot;\\begin{lalign*}\n&amp;{\\text{Given:}\\;}\\\\\n&amp;{\\text{Reference}\\;\\text{embeddings}:\\,X\\,\\in\\mathbb{R}^{n\\times d}}\\\\\n&amp;{\\text{Production}\\;\\text{embeddings:}\\;Y\\in\\mathbb{R}^{m\\times d}}\\\\\n&amp;{}\\\\\n&amp;{\\text{For}\\;\\text{each}\\;\\text{slice}\\;k=1,2\\,\\dots K:}\\\\\n&amp;{1.\\,\\text{Sample}\\;\\text{random}\\;\\text{direction:}}\\\\\n&amp;{\\theta_{k}\\sim N\\left(0,\\,I_{:d}\\right),\\,\\theta_{k}=\\theta_{k}/\\left\\|\\theta_{k}\\right\\|}\\\\\n&amp;{2.\\,\\text{Project:}\\;X_{proj}=\\,\\text{dot(}X,\\,\\theta_{k}\\text{),}\\;Y_{proj}=\\,\\text{dot(}Y,\\,\\theta_{k}\\text{)}}\\\\\n&amp;{3.\\,\\text{Calculate}\\;\\text{sample}\\text{-based}\\;\\text{Wasserstein}\\;}\\\\\n&amp;{\\,\\,\\,\\,\\,\\,\\,\\,\\,\\,\\,\\,\\,\\,\\,\\,\\,\\,\\,\\,\\,\\,\\,\\,\\,\\,\\,W_{k}=\\text{Wasserstein(}X_{proj},\\,Y_{proj}\\text{)}}\\\\\n&amp;{4.\\,\\text{Take}\\;\\text{mean}\\;\\text{over}\\;\\text{k:}}\\\\\n&amp;{\\,\\,\\,\\,\\,\\,\\,\\,\\,\\,\\,\\,\\,\\,\\,\\,\\,\\,\\,\\,\\,\\,\\,\\,\\,\\,\\,W\\,=\\,\\text{mean(}W_{k}\\text{)}}\\\\\n&amp;{\\,\\,\\,\\,\\,\\,\\,\\,\\,\\,\\,\\,\\,\\,\\,\\,\\,\\,\\,\\,\\,\\,\\,\\,\\,}\t\n\\end{lalign*}&quot;,&quot;backgroundColor&quot;:&quot;#FFFFFF&quot;,&quot;backgroundColorModified&quot;:false,&quot;ts&quot;:1766064984696,&quot;cs&quot;:&quot;3g4eJnoJPjpUYmsYQfONRQ==&quot;,&quot;size&quot;:{&quot;width&quot;:402,&quot;height&quot;:294}}" id="218" name="Google Shape;2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1025" y="1322600"/>
            <a:ext cx="3829050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Sliced Wasserstein: MNIST embeddings</a:t>
            </a:r>
            <a:endParaRPr/>
          </a:p>
        </p:txBody>
      </p:sp>
      <p:pic>
        <p:nvPicPr>
          <p:cNvPr id="224" name="Google Shape;22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09463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Visualizing embeddings using Arize	</a:t>
            </a:r>
            <a:endParaRPr/>
          </a:p>
        </p:txBody>
      </p:sp>
      <p:sp>
        <p:nvSpPr>
          <p:cNvPr id="230" name="Google Shape;23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114781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Profiling</a:t>
            </a:r>
            <a:endParaRPr/>
          </a:p>
        </p:txBody>
      </p:sp>
      <p:sp>
        <p:nvSpPr>
          <p:cNvPr id="237" name="Google Shape;23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233825" y="221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HW Monitoring Tools</a:t>
            </a:r>
            <a:endParaRPr/>
          </a:p>
        </p:txBody>
      </p:sp>
      <p:sp>
        <p:nvSpPr>
          <p:cNvPr id="243" name="Google Shape;243;p32"/>
          <p:cNvSpPr txBox="1"/>
          <p:nvPr/>
        </p:nvSpPr>
        <p:spPr>
          <a:xfrm>
            <a:off x="150450" y="916950"/>
            <a:ext cx="75567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To analyze hardware metrics such as GPU utilization, time taken by various CUDA kernels etc, there are several tools, some HW vendor specific, some offered by deep learning libraries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Pytorch profiler</a:t>
            </a:r>
            <a:r>
              <a:rPr lang="en" sz="1100">
                <a:solidFill>
                  <a:schemeClr val="dk2"/>
                </a:solidFill>
              </a:rPr>
              <a:t> for determining the most expensive operators in the model. The UI is integrated with TensorBoard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NVIDIA Nsight:</a:t>
            </a:r>
            <a:r>
              <a:rPr lang="en" sz="1100">
                <a:solidFill>
                  <a:schemeClr val="dk2"/>
                </a:solidFill>
              </a:rPr>
              <a:t> Detailed GPU-level stats. Great for low-level GPU profiling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Intel VTune:</a:t>
            </a:r>
            <a:r>
              <a:rPr lang="en" sz="1100">
                <a:solidFill>
                  <a:schemeClr val="dk2"/>
                </a:solidFill>
              </a:rPr>
              <a:t> Profiler from Intel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We’ll look at Pytorch profiler and NVIDIA Visual Profiler in detail when we discuss running Neural Networks on GPUs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</a:t>
            </a:r>
            <a:endParaRPr/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311700" y="1152475"/>
            <a:ext cx="8520600" cy="21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In the previous slide, our network produced a real value, which could be compared to the true value using Mean Square Error loss</a:t>
            </a:r>
            <a:endParaRPr sz="1600"/>
          </a:p>
        </p:txBody>
      </p:sp>
      <p:pic>
        <p:nvPicPr>
          <p:cNvPr descr="{&quot;backgroundColorModified&quot;:false,&quot;aid&quot;:null,&quot;id&quot;:&quot;1&quot;,&quot;type&quot;:&quot;lalign*&quot;,&quot;code&quot;:&quot;\\begin{lalign*}\n&amp;{y_{i}=f_{\\theta}\\left(x_{i}\\right)}\\\\\n&amp;{L\\,=\\,\\frac{1}{n}\\sum_{i=1}^{n}\\left(\\hat{y}_{i}-y_{i}\\right)^{2}}\\\\\n&amp;{\\hat{y}_{i}:\\,\\text{True}\\;\\text{values}}\\\\\n&amp;{f:\\,\\text{Neural}\\;\\text{Network}\\;\\text{parameterized}\\;\\text{by}\\;\\theta}\t\n\\end{lalign*}&quot;,&quot;backgroundColor&quot;:&quot;#FFFFFF&quot;,&quot;font&quot;:{&quot;size&quot;:12,&quot;family&quot;:&quot;Arial&quot;,&quot;color&quot;:&quot;#595959&quot;},&quot;ts&quot;:1755216603921,&quot;cs&quot;:&quot;5pue2QdVWhsagRCrUTYy4w==&quot;,&quot;size&quot;:{&quot;width&quot;:328.9709958005249,&quot;height&quot;:129.94229921259844}}" id="250" name="Google Shape;25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400" y="1952900"/>
            <a:ext cx="3133449" cy="12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3"/>
          <p:cNvSpPr txBox="1"/>
          <p:nvPr>
            <p:ph idx="1" type="body"/>
          </p:nvPr>
        </p:nvSpPr>
        <p:spPr>
          <a:xfrm>
            <a:off x="388625" y="3391675"/>
            <a:ext cx="8520600" cy="21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But what if we have a classification problem, where each data point is a class label?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Why can’t we still use MSE loss?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In such as case, the network needs to output the probability distribution over classes, i.e., a vector, where each entry is a probability of a class.  </a:t>
            </a:r>
            <a:endParaRPr sz="1600"/>
          </a:p>
        </p:txBody>
      </p:sp>
      <p:sp>
        <p:nvSpPr>
          <p:cNvPr id="252" name="Google Shape;252;p33"/>
          <p:cNvSpPr/>
          <p:nvPr/>
        </p:nvSpPr>
        <p:spPr>
          <a:xfrm>
            <a:off x="5615275" y="2144075"/>
            <a:ext cx="1311900" cy="80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MatMul + ReLU</a:t>
            </a:r>
            <a:endParaRPr/>
          </a:p>
        </p:txBody>
      </p:sp>
      <p:pic>
        <p:nvPicPr>
          <p:cNvPr descr="{&quot;aid&quot;:null,&quot;backgroundColorModified&quot;:false,&quot;id&quot;:&quot;3&quot;,&quot;font&quot;:{&quot;family&quot;:&quot;Arial&quot;,&quot;color&quot;:&quot;#000000&quot;,&quot;size&quot;:20},&quot;code&quot;:&quot;$$x$$&quot;,&quot;type&quot;:&quot;$$&quot;,&quot;backgroundColor&quot;:&quot;#EEEEEE&quot;,&quot;ts&quot;:1758238071459,&quot;cs&quot;:&quot;A7FppHkP0wvF7Tue4diUUQ==&quot;,&quot;size&quot;:{&quot;width&quot;:15.485564304461944,&quot;height&quot;:14.51968503937008}}" id="253" name="Google Shape;25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4996" y="2477547"/>
            <a:ext cx="147500" cy="138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33"/>
          <p:cNvCxnSpPr>
            <a:stCxn id="253" idx="3"/>
            <a:endCxn id="252" idx="1"/>
          </p:cNvCxnSpPr>
          <p:nvPr/>
        </p:nvCxnSpPr>
        <p:spPr>
          <a:xfrm>
            <a:off x="5172496" y="2546697"/>
            <a:ext cx="44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33"/>
          <p:cNvSpPr/>
          <p:nvPr/>
        </p:nvSpPr>
        <p:spPr>
          <a:xfrm>
            <a:off x="7289225" y="2143950"/>
            <a:ext cx="864300" cy="80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MSE Loss</a:t>
            </a:r>
            <a:endParaRPr/>
          </a:p>
        </p:txBody>
      </p:sp>
      <p:cxnSp>
        <p:nvCxnSpPr>
          <p:cNvPr id="256" name="Google Shape;256;p33"/>
          <p:cNvCxnSpPr>
            <a:stCxn id="252" idx="3"/>
            <a:endCxn id="255" idx="1"/>
          </p:cNvCxnSpPr>
          <p:nvPr/>
        </p:nvCxnSpPr>
        <p:spPr>
          <a:xfrm>
            <a:off x="6927175" y="2546825"/>
            <a:ext cx="36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" name="Google Shape;257;p33"/>
          <p:cNvSpPr txBox="1"/>
          <p:nvPr/>
        </p:nvSpPr>
        <p:spPr>
          <a:xfrm>
            <a:off x="6061400" y="1871625"/>
            <a:ext cx="309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aid&quot;:null,&quot;type&quot;:&quot;$$&quot;,&quot;backgroundColorModified&quot;:false,&quot;backgroundColor&quot;:&quot;#FFFFFF&quot;,&quot;id&quot;:&quot;7&quot;,&quot;font&quot;:{&quot;size&quot;:12,&quot;color&quot;:&quot;#000000&quot;,&quot;family&quot;:&quot;Arial&quot;},&quot;code&quot;:&quot;$$\\times N$$&quot;,&quot;ts&quot;:1758237823763,&quot;cs&quot;:&quot;eymh3Hr+JBuxRCKEgdT9eg==&quot;,&quot;size&quot;:{&quot;width&quot;:28.666666666666668,&quot;height&quot;:12.833333333333334}}" id="258" name="Google Shape;25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4525" y="1952900"/>
            <a:ext cx="273050" cy="1222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33"/>
          <p:cNvCxnSpPr/>
          <p:nvPr/>
        </p:nvCxnSpPr>
        <p:spPr>
          <a:xfrm flipH="1">
            <a:off x="7739750" y="1788925"/>
            <a:ext cx="300" cy="3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type&quot;:&quot;$$&quot;,&quot;code&quot;:&quot;$$y$$&quot;,&quot;font&quot;:{&quot;size&quot;:13.5,&quot;family&quot;:&quot;Arial&quot;,&quot;color&quot;:&quot;#000000&quot;},&quot;aid&quot;:null,&quot;id&quot;:&quot;8&quot;,&quot;backgroundColor&quot;:&quot;#FFFFFF&quot;,&quot;backgroundColorModified&quot;:false,&quot;ts&quot;:1758237963743,&quot;cs&quot;:&quot;qysr8m9Yo/ZTCd6Ch7avXA==&quot;,&quot;size&quot;:{&quot;width&quot;:10.527990551181125,&quot;height&quot;:14.519695275590541}}" id="260" name="Google Shape;260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34450" y="2274125"/>
            <a:ext cx="100279" cy="13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\\hat{y}$$&quot;,&quot;aid&quot;:null,&quot;backgroundColorModified&quot;:false,&quot;font&quot;:{&quot;size&quot;:13.5,&quot;color&quot;:&quot;#000000&quot;,&quot;family&quot;:&quot;Arial&quot;},&quot;id&quot;:&quot;8&quot;,&quot;backgroundColor&quot;:&quot;#FFFFFF&quot;,&quot;ts&quot;:1758237983802,&quot;cs&quot;:&quot;MbF+8krUhuaV9RBaxGJe4A==&quot;,&quot;size&quot;:{&quot;width&quot;:10,&quot;height&quot;:19.333333333333332}}" id="261" name="Google Shape;261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92272" y="1588750"/>
            <a:ext cx="95250" cy="184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p33"/>
          <p:cNvCxnSpPr/>
          <p:nvPr/>
        </p:nvCxnSpPr>
        <p:spPr>
          <a:xfrm>
            <a:off x="8161839" y="2546700"/>
            <a:ext cx="36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aid&quot;:null,&quot;code&quot;:&quot;$$L$$&quot;,&quot;font&quot;:{&quot;size&quot;:13.5,&quot;family&quot;:&quot;Arial&quot;,&quot;color&quot;:&quot;#000000&quot;},&quot;backgroundColorModified&quot;:false,&quot;backgroundColor&quot;:&quot;#FFFFFF&quot;,&quot;type&quot;:&quot;$$&quot;,&quot;id&quot;:&quot;8&quot;,&quot;ts&quot;:1758238043355,&quot;cs&quot;:&quot;6J5DoMN7V/MeEcD8BRdLqw==&quot;,&quot;size&quot;:{&quot;width&quot;:13.166666666666666,&quot;height&quot;:14.5}}" id="263" name="Google Shape;263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32272" y="2477640"/>
            <a:ext cx="125413" cy="1381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f_{\\theta}$$&quot;,&quot;aid&quot;:null,&quot;backgroundColorModified&quot;:false,&quot;id&quot;:&quot;3&quot;,&quot;type&quot;:&quot;$$&quot;,&quot;backgroundColor&quot;:&quot;#EEEEEE&quot;,&quot;font&quot;:{&quot;size&quot;:20,&quot;family&quot;:&quot;Arial&quot;,&quot;color&quot;:&quot;#000000&quot;},&quot;ts&quot;:1758238096611,&quot;cs&quot;:&quot;OooDlbK06/7FDAEA5a+UZg==&quot;,&quot;size&quot;:{&quot;width&quot;:25,&quot;height&quot;:28.5}}" id="264" name="Google Shape;264;p3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60398" y="3018500"/>
            <a:ext cx="197175" cy="224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</a:t>
            </a:r>
            <a:endParaRPr/>
          </a:p>
        </p:txBody>
      </p:sp>
      <p:sp>
        <p:nvSpPr>
          <p:cNvPr id="270" name="Google Shape;270;p34"/>
          <p:cNvSpPr txBox="1"/>
          <p:nvPr>
            <p:ph idx="1" type="body"/>
          </p:nvPr>
        </p:nvSpPr>
        <p:spPr>
          <a:xfrm>
            <a:off x="311700" y="1152475"/>
            <a:ext cx="85206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First we need to convert network output into probabilities. This is done using a Softmax function. Say there are K classes</a:t>
            </a:r>
            <a:endParaRPr sz="1600"/>
          </a:p>
        </p:txBody>
      </p:sp>
      <p:sp>
        <p:nvSpPr>
          <p:cNvPr id="271" name="Google Shape;271;p34"/>
          <p:cNvSpPr/>
          <p:nvPr/>
        </p:nvSpPr>
        <p:spPr>
          <a:xfrm>
            <a:off x="1611625" y="2250616"/>
            <a:ext cx="656400" cy="49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font&quot;:{&quot;size&quot;:14,&quot;family&quot;:&quot;Arial&quot;,&quot;color&quot;:&quot;#000000&quot;},&quot;type&quot;:&quot;$$&quot;,&quot;backgroundColorModified&quot;:false,&quot;id&quot;:&quot;3&quot;,&quot;aid&quot;:null,&quot;code&quot;:&quot;$$f_{\\theta}\\left(x\\right)$$&quot;,&quot;backgroundColor&quot;:&quot;#EEEEEE&quot;,&quot;ts&quot;:1755217193477,&quot;cs&quot;:&quot;ebk20vktDPhjmfZ3hlPO8g==&quot;,&quot;size&quot;:{&quot;width&quot;:49.833333333333336,&quot;height&quot;:22}}" id="272" name="Google Shape;27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488" y="2395591"/>
            <a:ext cx="474663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id&quot;:&quot;3&quot;,&quot;font&quot;:{&quot;family&quot;:&quot;Arial&quot;,&quot;color&quot;:&quot;#000000&quot;,&quot;size&quot;:14},&quot;code&quot;:&quot;$$x$$&quot;,&quot;type&quot;:&quot;$$&quot;,&quot;backgroundColor&quot;:&quot;#EEEEEE&quot;,&quot;ts&quot;:1755217224382,&quot;cs&quot;:&quot;gDw5HS7k9p4iDn5NEy3pFA==&quot;,&quot;size&quot;:{&quot;width&quot;:10.666666666666666,&quot;height&quot;:10}}" id="273" name="Google Shape;27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509" y="2452741"/>
            <a:ext cx="101600" cy="95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4" name="Google Shape;274;p34"/>
          <p:cNvCxnSpPr>
            <a:endCxn id="271" idx="1"/>
          </p:cNvCxnSpPr>
          <p:nvPr/>
        </p:nvCxnSpPr>
        <p:spPr>
          <a:xfrm>
            <a:off x="1322725" y="2500366"/>
            <a:ext cx="28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" name="Google Shape;275;p34"/>
          <p:cNvCxnSpPr>
            <a:stCxn id="271" idx="3"/>
            <a:endCxn id="276" idx="1"/>
          </p:cNvCxnSpPr>
          <p:nvPr/>
        </p:nvCxnSpPr>
        <p:spPr>
          <a:xfrm>
            <a:off x="2268025" y="2500366"/>
            <a:ext cx="1353600" cy="1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id&quot;:&quot;3&quot;,&quot;backgroundColorModified&quot;:false,&quot;backgroundColor&quot;:&quot;#EEEEEE&quot;,&quot;font&quot;:{&quot;color&quot;:&quot;#000000&quot;,&quot;size&quot;:14,&quot;family&quot;:&quot;Arial&quot;},&quot;type&quot;:&quot;$$&quot;,&quot;code&quot;:&quot;$$l\\,\\left(K\\times1\\right)$$&quot;,&quot;aid&quot;:null,&quot;ts&quot;:1755217375364,&quot;cs&quot;:&quot;B3e7Q0TMU/1UwHNEOT1nBQ==&quot;,&quot;size&quot;:{&quot;width&quot;:85.33333333333333,&quot;height&quot;:22}}" id="277" name="Google Shape;27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1265" y="2800106"/>
            <a:ext cx="8128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4"/>
          <p:cNvSpPr/>
          <p:nvPr/>
        </p:nvSpPr>
        <p:spPr>
          <a:xfrm>
            <a:off x="3621575" y="2175970"/>
            <a:ext cx="920400" cy="684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Softmax</a:t>
            </a:r>
            <a:endParaRPr/>
          </a:p>
        </p:txBody>
      </p:sp>
      <p:sp>
        <p:nvSpPr>
          <p:cNvPr id="278" name="Google Shape;278;p34"/>
          <p:cNvSpPr txBox="1"/>
          <p:nvPr/>
        </p:nvSpPr>
        <p:spPr>
          <a:xfrm>
            <a:off x="2268027" y="2039662"/>
            <a:ext cx="99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l</a:t>
            </a:r>
            <a:endParaRPr i="1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(logits)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descr="{&quot;font&quot;:{&quot;size&quot;:11,&quot;family&quot;:&quot;Arial&quot;,&quot;color&quot;:&quot;#000000&quot;},&quot;aid&quot;:null,&quot;type&quot;:&quot;$$&quot;,&quot;backgroundColorModified&quot;:false,&quot;backgroundColor&quot;:&quot;#FFFFFF&quot;,&quot;code&quot;:&quot;$$\\text{Softmax(}l_{i}\\text{)}\\;\\text{=}\\frac{\\exp\\left(l_{i}\\right)}{\\sum_{i=1}^{K}\\exp\\left(l_{i}\\right)}$$&quot;,&quot;id&quot;:&quot;4&quot;,&quot;ts&quot;:1755220878455,&quot;cs&quot;:&quot;B0RFm1hFxmYfElkksY7NNw==&quot;,&quot;size&quot;:{&quot;width&quot;:204.66666666666666,&quot;height&quot;:46}}" id="279" name="Google Shape;279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46070" y="3063290"/>
            <a:ext cx="1949450" cy="438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0" name="Google Shape;280;p34"/>
          <p:cNvCxnSpPr>
            <a:stCxn id="276" idx="3"/>
            <a:endCxn id="281" idx="1"/>
          </p:cNvCxnSpPr>
          <p:nvPr/>
        </p:nvCxnSpPr>
        <p:spPr>
          <a:xfrm>
            <a:off x="4541975" y="2518270"/>
            <a:ext cx="10929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code&quot;:&quot;$$\\text{x-entropy-loss(}y\\text{)}\\;\\text{=}-\\sum_{i=1}^{K}p_{i}\\log_{}\\left(y_{i}\\right)$$&quot;,&quot;type&quot;:&quot;$$&quot;,&quot;id&quot;:&quot;4&quot;,&quot;backgroundColorModified&quot;:false,&quot;aid&quot;:null,&quot;font&quot;:{&quot;family&quot;:&quot;Arial&quot;,&quot;color&quot;:&quot;#000000&quot;,&quot;size&quot;:11},&quot;backgroundColor&quot;:&quot;#FFFFFF&quot;,&quot;ts&quot;:1755221148731,&quot;cs&quot;:&quot;x4wEYk6cL/HjwXtb7K8Hkg==&quot;,&quot;size&quot;:{&quot;width&quot;:263.40000000000003,&quot;height&quot;:47.200000000000024}}" id="282" name="Google Shape;282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16930" y="3821549"/>
            <a:ext cx="2508885" cy="44958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4"/>
          <p:cNvSpPr txBox="1"/>
          <p:nvPr>
            <p:ph idx="1" type="body"/>
          </p:nvPr>
        </p:nvSpPr>
        <p:spPr>
          <a:xfrm>
            <a:off x="533250" y="4378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Usually </a:t>
            </a:r>
            <a:r>
              <a:rPr i="1" lang="en" sz="1600"/>
              <a:t>p</a:t>
            </a:r>
            <a:r>
              <a:rPr lang="en" sz="1600"/>
              <a:t> is a one-hot vector. It is 1 for the input’s true class, and 0 everywhere else.</a:t>
            </a:r>
            <a:endParaRPr sz="1600"/>
          </a:p>
        </p:txBody>
      </p:sp>
      <p:sp>
        <p:nvSpPr>
          <p:cNvPr id="284" name="Google Shape;284;p34"/>
          <p:cNvSpPr txBox="1"/>
          <p:nvPr>
            <p:ph idx="1" type="body"/>
          </p:nvPr>
        </p:nvSpPr>
        <p:spPr>
          <a:xfrm>
            <a:off x="5093200" y="3759988"/>
            <a:ext cx="183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/>
              <a:t>Why does this expression make sense?</a:t>
            </a:r>
            <a:endParaRPr sz="1300"/>
          </a:p>
        </p:txBody>
      </p:sp>
      <p:cxnSp>
        <p:nvCxnSpPr>
          <p:cNvPr id="285" name="Google Shape;285;p34"/>
          <p:cNvCxnSpPr>
            <a:stCxn id="284" idx="1"/>
          </p:cNvCxnSpPr>
          <p:nvPr/>
        </p:nvCxnSpPr>
        <p:spPr>
          <a:xfrm flipH="1">
            <a:off x="4589500" y="4046338"/>
            <a:ext cx="5037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" name="Google Shape;286;p34"/>
          <p:cNvSpPr txBox="1"/>
          <p:nvPr>
            <p:ph idx="1" type="body"/>
          </p:nvPr>
        </p:nvSpPr>
        <p:spPr>
          <a:xfrm>
            <a:off x="2946075" y="1815435"/>
            <a:ext cx="237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c</a:t>
            </a:r>
            <a:r>
              <a:rPr lang="en" sz="1600"/>
              <a:t>onvert logits into probabilities</a:t>
            </a:r>
            <a:endParaRPr sz="1600"/>
          </a:p>
        </p:txBody>
      </p:sp>
      <p:sp>
        <p:nvSpPr>
          <p:cNvPr id="281" name="Google Shape;281;p34"/>
          <p:cNvSpPr/>
          <p:nvPr/>
        </p:nvSpPr>
        <p:spPr>
          <a:xfrm>
            <a:off x="5634855" y="2175979"/>
            <a:ext cx="1539300" cy="6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Cross-entropy loss</a:t>
            </a:r>
            <a:endParaRPr/>
          </a:p>
        </p:txBody>
      </p:sp>
      <p:sp>
        <p:nvSpPr>
          <p:cNvPr id="287" name="Google Shape;287;p34"/>
          <p:cNvSpPr txBox="1"/>
          <p:nvPr>
            <p:ph idx="1" type="body"/>
          </p:nvPr>
        </p:nvSpPr>
        <p:spPr>
          <a:xfrm>
            <a:off x="5217004" y="1563897"/>
            <a:ext cx="2370000" cy="3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True probability distribution</a:t>
            </a:r>
            <a:endParaRPr sz="1600"/>
          </a:p>
        </p:txBody>
      </p:sp>
      <p:cxnSp>
        <p:nvCxnSpPr>
          <p:cNvPr id="288" name="Google Shape;288;p34"/>
          <p:cNvCxnSpPr>
            <a:stCxn id="287" idx="2"/>
            <a:endCxn id="281" idx="0"/>
          </p:cNvCxnSpPr>
          <p:nvPr/>
        </p:nvCxnSpPr>
        <p:spPr>
          <a:xfrm>
            <a:off x="6402004" y="1938297"/>
            <a:ext cx="2400" cy="2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" name="Google Shape;289;p34"/>
          <p:cNvSpPr txBox="1"/>
          <p:nvPr/>
        </p:nvSpPr>
        <p:spPr>
          <a:xfrm>
            <a:off x="4554679" y="2060806"/>
            <a:ext cx="113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y</a:t>
            </a:r>
            <a:endParaRPr i="1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class probabilities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descr="{&quot;code&quot;:&quot;$$\\text{x-entropy-loss(}y\\text{)}\\;\\text{=}-\\sum_{i=1}^{K}p_{i}\\log_{}\\left(y_{i}\\right)$$&quot;,&quot;type&quot;:&quot;$$&quot;,&quot;id&quot;:&quot;4&quot;,&quot;backgroundColorModified&quot;:false,&quot;aid&quot;:null,&quot;font&quot;:{&quot;family&quot;:&quot;Arial&quot;,&quot;color&quot;:&quot;#000000&quot;,&quot;size&quot;:11},&quot;backgroundColor&quot;:&quot;#FFFFFF&quot;,&quot;ts&quot;:1755221148731,&quot;cs&quot;:&quot;x4wEYk6cL/HjwXtb7K8Hkg==&quot;,&quot;size&quot;:{&quot;width&quot;:263.40000000000003,&quot;height&quot;:47.200000000000024}}" id="290" name="Google Shape;290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16080" y="2916599"/>
            <a:ext cx="2508885" cy="44958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4"/>
          <p:cNvSpPr txBox="1"/>
          <p:nvPr/>
        </p:nvSpPr>
        <p:spPr>
          <a:xfrm>
            <a:off x="6437133" y="1767063"/>
            <a:ext cx="3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p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Loss: Simple Example</a:t>
            </a:r>
            <a:endParaRPr/>
          </a:p>
        </p:txBody>
      </p:sp>
      <p:sp>
        <p:nvSpPr>
          <p:cNvPr id="297" name="Google Shape;297;p35"/>
          <p:cNvSpPr/>
          <p:nvPr/>
        </p:nvSpPr>
        <p:spPr>
          <a:xfrm>
            <a:off x="1611625" y="2674592"/>
            <a:ext cx="656400" cy="49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font&quot;:{&quot;size&quot;:14,&quot;family&quot;:&quot;Arial&quot;,&quot;color&quot;:&quot;#000000&quot;},&quot;type&quot;:&quot;$$&quot;,&quot;backgroundColorModified&quot;:false,&quot;id&quot;:&quot;3&quot;,&quot;aid&quot;:null,&quot;code&quot;:&quot;$$f_{\\theta}\\left(x\\right)$$&quot;,&quot;backgroundColor&quot;:&quot;#EEEEEE&quot;,&quot;ts&quot;:1755217193477,&quot;cs&quot;:&quot;ebk20vktDPhjmfZ3hlPO8g==&quot;,&quot;size&quot;:{&quot;width&quot;:49.833333333333336,&quot;height&quot;:22}}" id="298" name="Google Shape;29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488" y="2819567"/>
            <a:ext cx="474663" cy="209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9" name="Google Shape;299;p35"/>
          <p:cNvCxnSpPr>
            <a:endCxn id="297" idx="1"/>
          </p:cNvCxnSpPr>
          <p:nvPr/>
        </p:nvCxnSpPr>
        <p:spPr>
          <a:xfrm>
            <a:off x="1322725" y="2924342"/>
            <a:ext cx="28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35"/>
          <p:cNvCxnSpPr>
            <a:stCxn id="297" idx="3"/>
          </p:cNvCxnSpPr>
          <p:nvPr/>
        </p:nvCxnSpPr>
        <p:spPr>
          <a:xfrm>
            <a:off x="2268025" y="2924342"/>
            <a:ext cx="5100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id&quot;:&quot;3&quot;,&quot;backgroundColorModified&quot;:false,&quot;backgroundColor&quot;:&quot;#EEEEEE&quot;,&quot;font&quot;:{&quot;color&quot;:&quot;#000000&quot;,&quot;size&quot;:14,&quot;family&quot;:&quot;Arial&quot;},&quot;type&quot;:&quot;$$&quot;,&quot;code&quot;:&quot;$$l\\,\\left(K\\times1\\right)$$&quot;,&quot;aid&quot;:null,&quot;ts&quot;:1755217375364,&quot;cs&quot;:&quot;B3e7Q0TMU/1UwHNEOT1nBQ==&quot;,&quot;size&quot;:{&quot;width&quot;:85.33333333333333,&quot;height&quot;:22}}" id="301" name="Google Shape;30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7940" y="3639757"/>
            <a:ext cx="8128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5"/>
          <p:cNvSpPr/>
          <p:nvPr/>
        </p:nvSpPr>
        <p:spPr>
          <a:xfrm>
            <a:off x="3865806" y="2543372"/>
            <a:ext cx="920400" cy="684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Softmax</a:t>
            </a:r>
            <a:endParaRPr/>
          </a:p>
        </p:txBody>
      </p:sp>
      <p:cxnSp>
        <p:nvCxnSpPr>
          <p:cNvPr id="303" name="Google Shape;303;p35"/>
          <p:cNvCxnSpPr/>
          <p:nvPr/>
        </p:nvCxnSpPr>
        <p:spPr>
          <a:xfrm>
            <a:off x="3237564" y="2882972"/>
            <a:ext cx="6237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4" name="Google Shape;304;p35"/>
          <p:cNvSpPr txBox="1"/>
          <p:nvPr/>
        </p:nvSpPr>
        <p:spPr>
          <a:xfrm>
            <a:off x="2694350" y="1864250"/>
            <a:ext cx="72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</a:t>
            </a:r>
            <a:r>
              <a:rPr lang="en">
                <a:solidFill>
                  <a:schemeClr val="dk2"/>
                </a:solidFill>
              </a:rPr>
              <a:t>ogits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305" name="Google Shape;305;p35"/>
          <p:cNvCxnSpPr>
            <a:stCxn id="302" idx="3"/>
          </p:cNvCxnSpPr>
          <p:nvPr/>
        </p:nvCxnSpPr>
        <p:spPr>
          <a:xfrm flipH="1" rot="10800000">
            <a:off x="4786206" y="2882972"/>
            <a:ext cx="1938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6" name="Google Shape;306;p35"/>
          <p:cNvSpPr txBox="1"/>
          <p:nvPr>
            <p:ph idx="1" type="body"/>
          </p:nvPr>
        </p:nvSpPr>
        <p:spPr>
          <a:xfrm>
            <a:off x="533250" y="4378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Usually </a:t>
            </a:r>
            <a:r>
              <a:rPr i="1" lang="en" sz="1600"/>
              <a:t>p</a:t>
            </a:r>
            <a:r>
              <a:rPr lang="en" sz="1600"/>
              <a:t> is a one-hot vector. It is 1 for the input’s true class, and 0 everywhere else.</a:t>
            </a:r>
            <a:endParaRPr sz="1600"/>
          </a:p>
        </p:txBody>
      </p:sp>
      <p:sp>
        <p:nvSpPr>
          <p:cNvPr id="307" name="Google Shape;307;p35"/>
          <p:cNvSpPr txBox="1"/>
          <p:nvPr>
            <p:ph idx="1" type="body"/>
          </p:nvPr>
        </p:nvSpPr>
        <p:spPr>
          <a:xfrm>
            <a:off x="3163063" y="2194725"/>
            <a:ext cx="65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Cat</a:t>
            </a:r>
            <a:endParaRPr sz="1400"/>
          </a:p>
        </p:txBody>
      </p:sp>
      <p:sp>
        <p:nvSpPr>
          <p:cNvPr id="308" name="Google Shape;308;p35"/>
          <p:cNvSpPr/>
          <p:nvPr/>
        </p:nvSpPr>
        <p:spPr>
          <a:xfrm>
            <a:off x="5681080" y="2537530"/>
            <a:ext cx="1539300" cy="6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Cross-entropy loss</a:t>
            </a:r>
            <a:endParaRPr/>
          </a:p>
        </p:txBody>
      </p:sp>
      <p:pic>
        <p:nvPicPr>
          <p:cNvPr descr="{&quot;code&quot;:&quot;$$\\text{x-entropy-loss(}y\\text{)}\\;\\text{=}-\\sum_{i=1}^{K}p_{i}\\log_{}\\left(y_{i}\\right)$$&quot;,&quot;type&quot;:&quot;$$&quot;,&quot;id&quot;:&quot;4&quot;,&quot;backgroundColorModified&quot;:false,&quot;aid&quot;:null,&quot;font&quot;:{&quot;family&quot;:&quot;Arial&quot;,&quot;color&quot;:&quot;#000000&quot;,&quot;size&quot;:11},&quot;backgroundColor&quot;:&quot;#FFFFFF&quot;,&quot;ts&quot;:1755221148731,&quot;cs&quot;:&quot;x4wEYk6cL/HjwXtb7K8Hkg==&quot;,&quot;size&quot;:{&quot;width&quot;:263.40000000000003,&quot;height&quot;:47.200000000000024}}" id="309" name="Google Shape;309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8705" y="3729988"/>
            <a:ext cx="2508885" cy="449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25" y="2262766"/>
            <a:ext cx="1323159" cy="132315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5"/>
          <p:cNvSpPr txBox="1"/>
          <p:nvPr>
            <p:ph idx="1" type="body"/>
          </p:nvPr>
        </p:nvSpPr>
        <p:spPr>
          <a:xfrm>
            <a:off x="311700" y="1065603"/>
            <a:ext cx="85206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Let’s say we have an image classification problem, with three classes--Cat, Dog, Horse. Our input data is image of a cat. </a:t>
            </a:r>
            <a:endParaRPr sz="1600"/>
          </a:p>
        </p:txBody>
      </p:sp>
      <p:graphicFrame>
        <p:nvGraphicFramePr>
          <p:cNvPr id="312" name="Google Shape;312;p35"/>
          <p:cNvGraphicFramePr/>
          <p:nvPr/>
        </p:nvGraphicFramePr>
        <p:xfrm>
          <a:off x="2762607" y="22953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{FC238D60-79BD-4FF3-9BA5-E33D28E507E0}</a:tableStyleId>
              </a:tblPr>
              <a:tblGrid>
                <a:gridCol w="474650"/>
              </a:tblGrid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3" name="Google Shape;313;p35"/>
          <p:cNvSpPr txBox="1"/>
          <p:nvPr>
            <p:ph idx="1" type="body"/>
          </p:nvPr>
        </p:nvSpPr>
        <p:spPr>
          <a:xfrm>
            <a:off x="3186175" y="3110975"/>
            <a:ext cx="656400" cy="3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Horse</a:t>
            </a:r>
            <a:endParaRPr sz="1600"/>
          </a:p>
        </p:txBody>
      </p:sp>
      <p:sp>
        <p:nvSpPr>
          <p:cNvPr id="314" name="Google Shape;314;p35"/>
          <p:cNvSpPr txBox="1"/>
          <p:nvPr>
            <p:ph idx="1" type="body"/>
          </p:nvPr>
        </p:nvSpPr>
        <p:spPr>
          <a:xfrm>
            <a:off x="3186173" y="2538278"/>
            <a:ext cx="65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Dog</a:t>
            </a:r>
            <a:endParaRPr sz="1400"/>
          </a:p>
        </p:txBody>
      </p:sp>
      <p:graphicFrame>
        <p:nvGraphicFramePr>
          <p:cNvPr id="315" name="Google Shape;315;p35"/>
          <p:cNvGraphicFramePr/>
          <p:nvPr/>
        </p:nvGraphicFramePr>
        <p:xfrm>
          <a:off x="7597832" y="22900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{FC238D60-79BD-4FF3-9BA5-E33D28E507E0}</a:tableStyleId>
              </a:tblPr>
              <a:tblGrid>
                <a:gridCol w="474650"/>
              </a:tblGrid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16" name="Google Shape;316;p35"/>
          <p:cNvCxnSpPr>
            <a:endCxn id="308" idx="3"/>
          </p:cNvCxnSpPr>
          <p:nvPr/>
        </p:nvCxnSpPr>
        <p:spPr>
          <a:xfrm flipH="1">
            <a:off x="7220380" y="2882830"/>
            <a:ext cx="3645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17" name="Google Shape;317;p35"/>
          <p:cNvGraphicFramePr/>
          <p:nvPr/>
        </p:nvGraphicFramePr>
        <p:xfrm>
          <a:off x="4996307" y="22893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{FC238D60-79BD-4FF3-9BA5-E33D28E507E0}</a:tableStyleId>
              </a:tblPr>
              <a:tblGrid>
                <a:gridCol w="474650"/>
              </a:tblGrid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0.24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0.09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0.66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18" name="Google Shape;318;p35"/>
          <p:cNvCxnSpPr/>
          <p:nvPr/>
        </p:nvCxnSpPr>
        <p:spPr>
          <a:xfrm flipH="1" rot="10800000">
            <a:off x="5479118" y="2887472"/>
            <a:ext cx="1938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" name="Google Shape;319;p35"/>
          <p:cNvSpPr txBox="1"/>
          <p:nvPr>
            <p:ph idx="1" type="body"/>
          </p:nvPr>
        </p:nvSpPr>
        <p:spPr>
          <a:xfrm>
            <a:off x="4048629" y="1765410"/>
            <a:ext cx="2370000" cy="3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n" sz="1220"/>
              <a:t>Predicted probability distribution</a:t>
            </a:r>
            <a:r>
              <a:rPr lang="en" sz="1220"/>
              <a:t> </a:t>
            </a:r>
            <a:r>
              <a:rPr i="1" lang="en" sz="1220"/>
              <a:t>y</a:t>
            </a:r>
            <a:endParaRPr i="1" sz="1220"/>
          </a:p>
        </p:txBody>
      </p:sp>
      <p:sp>
        <p:nvSpPr>
          <p:cNvPr id="320" name="Google Shape;320;p35"/>
          <p:cNvSpPr txBox="1"/>
          <p:nvPr>
            <p:ph idx="1" type="body"/>
          </p:nvPr>
        </p:nvSpPr>
        <p:spPr>
          <a:xfrm>
            <a:off x="6826701" y="1758575"/>
            <a:ext cx="2016900" cy="4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n" sz="1220"/>
              <a:t>True</a:t>
            </a:r>
            <a:r>
              <a:rPr lang="en" sz="1220"/>
              <a:t> probability distribution </a:t>
            </a:r>
            <a:r>
              <a:rPr i="1" lang="en" sz="1220"/>
              <a:t>p</a:t>
            </a:r>
            <a:endParaRPr i="1" sz="122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</a:t>
            </a:r>
            <a:endParaRPr/>
          </a:p>
        </p:txBody>
      </p:sp>
      <p:sp>
        <p:nvSpPr>
          <p:cNvPr id="326" name="Google Shape;326;p36"/>
          <p:cNvSpPr txBox="1"/>
          <p:nvPr>
            <p:ph idx="1" type="body"/>
          </p:nvPr>
        </p:nvSpPr>
        <p:spPr>
          <a:xfrm>
            <a:off x="311700" y="1152475"/>
            <a:ext cx="85206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Let’s consider a binary classification example. Here K = 2</a:t>
            </a:r>
            <a:endParaRPr sz="1600"/>
          </a:p>
        </p:txBody>
      </p:sp>
      <p:sp>
        <p:nvSpPr>
          <p:cNvPr id="327" name="Google Shape;327;p36"/>
          <p:cNvSpPr txBox="1"/>
          <p:nvPr>
            <p:ph idx="1" type="body"/>
          </p:nvPr>
        </p:nvSpPr>
        <p:spPr>
          <a:xfrm>
            <a:off x="464100" y="2514900"/>
            <a:ext cx="8520600" cy="11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Let’s say p_1 = 1. If the network gets it right, y_1 is close to 1, and x-entropy loss is low. Similarly if the network gets it wrong, y_1 is low, and x-entropy loss is high.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To use it within a Neural Network, we need to calculate its derivative! </a:t>
            </a:r>
            <a:endParaRPr sz="1600"/>
          </a:p>
        </p:txBody>
      </p:sp>
      <p:pic>
        <p:nvPicPr>
          <p:cNvPr descr="{&quot;type&quot;:&quot;$$&quot;,&quot;id&quot;:&quot;4&quot;,&quot;backgroundColor&quot;:&quot;#FFFFFF&quot;,&quot;aid&quot;:null,&quot;font&quot;:{&quot;size&quot;:11,&quot;color&quot;:&quot;#000000&quot;,&quot;family&quot;:&quot;Arial&quot;},&quot;backgroundColorModified&quot;:false,&quot;code&quot;:&quot;$$\\text{x-entropy-loss(}y\\text{)}\\;\\text{=}-p_{1}\\log_{}\\left(y_{1}\\right)-\\left(1-p_{1}\\right)\\log_{}\\left(1-y_{1}\\right)$$&quot;,&quot;ts&quot;:1755221105735,&quot;cs&quot;:&quot;nxWn0T+h796LdqUdVCaqpw==&quot;,&quot;size&quot;:{&quot;width&quot;:407.6666666666667,&quot;height&quot;:17.666666666666668}}" id="328" name="Google Shape;32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350" y="1971831"/>
            <a:ext cx="3883025" cy="16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compare two probability distributions?</a:t>
            </a:r>
            <a:endParaRPr/>
          </a:p>
        </p:txBody>
      </p:sp>
      <p:sp>
        <p:nvSpPr>
          <p:cNvPr id="334" name="Google Shape;334;p37"/>
          <p:cNvSpPr txBox="1"/>
          <p:nvPr>
            <p:ph idx="1" type="body"/>
          </p:nvPr>
        </p:nvSpPr>
        <p:spPr>
          <a:xfrm>
            <a:off x="311700" y="2662800"/>
            <a:ext cx="8520600" cy="8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Say we have two dice. One is a balanced dice (X), so the probability of rolling numbers 1-6 is ⅙. The second (Y) is unbalanced, with the following distribution</a:t>
            </a:r>
            <a:r>
              <a:rPr lang="en"/>
              <a:t> </a:t>
            </a:r>
            <a:r>
              <a:rPr lang="en"/>
              <a:t> </a:t>
            </a:r>
            <a:endParaRPr/>
          </a:p>
        </p:txBody>
      </p:sp>
      <p:pic>
        <p:nvPicPr>
          <p:cNvPr descr="{&quot;font&quot;:{&quot;family&quot;:&quot;Arial&quot;,&quot;color&quot;:&quot;#595959&quot;,&quot;size&quot;:15},&quot;code&quot;:&quot;\\begin{lalign*}\n&amp;{\\text{Say}\\;\\text{Random}\\;\\text{Variable}\\;X\\,\\text{can}\\;\\text{have}\\;\\text{discrete}\\;\\text{states}\\;X_{i}\\left(i\\in\\left[1,2\\,\\dots n\\right]\\right)}\\\\\n&amp;{\\text{Probability}\\;\\text{distribution}\\;\\text{over}\\;\\text{these}\\;\\text{states}\\;\\text{is}\\;\\text{denoted}\\;\\text{by}\\;x_{i}\\,\\left(P\\left(X=X_{i}\\right)\\right)}\\\\\n&amp;{\\text{Similarly}\\;\\text{for}\\;\\text{Y.}\\;\\text{X}\\;\\text{is}\\;\\text{the}\\;\\text{target,}\\;\\text{Y}\\;\\text{is}\\;\\text{the}\\;\\text{modeled}\\;\\text{distribution}}\\\\\n&amp;{KL\\left(X\\left|\\right|Y\\right)=\\sum_{i=1}^{n}x_{i}\\log_{}\\left(\\frac{x_{i}}{y_{i}}\\right)}\t\n\\end{lalign*}&quot;,&quot;backgroundColorModified&quot;:false,&quot;backgroundColor&quot;:&quot;#FFFFFF&quot;,&quot;type&quot;:&quot;lalign*&quot;,&quot;aid&quot;:null,&quot;id&quot;:&quot;9&quot;,&quot;ts&quot;:1758249055956,&quot;cs&quot;:&quot;Iz7jwVVwTXRWIVxOHqVu5w==&quot;,&quot;size&quot;:{&quot;width&quot;:728,&quot;height&quot;:154}}" id="335" name="Google Shape;33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293" y="1085809"/>
            <a:ext cx="693420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\\begin{lalign*}\n&amp;{p\\left(Y\\right)=\\left[\\frac{1}{8},\\,\\frac{1}{8},\\,\\frac{3}{16},\\,\\frac{3}{16},\\frac{3}{16},\\frac{3}{16}\\right]}\\\\\n&amp;{KL\\left(Y\\left|\\right|X\\right)=\\,\\frac{1}{8}\\log_{}\\left(\\frac{1}{8}\\times6\\right)+\\frac{1}{8}\\log_{}\\left(\\frac{1}{8}\\times6\\right)+\\frac{3}{16}\\log_{}\\left(\\frac{3}{16}\\times6\\right)+\\frac{3}{16}\\log_{}\\left(\\frac{3}{16}\\times6\\right)+\\frac{3}{16}\\log_{}\\left(\\frac{3}{16}\\times6\\right)}\t\n\\end{lalign*}&quot;,&quot;type&quot;:&quot;lalign*&quot;,&quot;id&quot;:&quot;10&quot;,&quot;backgroundColor&quot;:&quot;#FFFFFF&quot;,&quot;aid&quot;:null,&quot;font&quot;:{&quot;size&quot;:11,&quot;color&quot;:&quot;#595959&quot;,&quot;family&quot;:&quot;Arial&quot;},&quot;backgroundColorModified&quot;:false,&quot;ts&quot;:1758244482348,&quot;cs&quot;:&quot;McZ2+0trXKnxBmLjjGsNxA==&quot;,&quot;size&quot;:{&quot;width&quot;:809.5,&quot;height&quot;:88}}" id="336" name="Google Shape;33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025" y="3579946"/>
            <a:ext cx="7710488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7"/>
          <p:cNvSpPr txBox="1"/>
          <p:nvPr>
            <p:ph idx="1" type="body"/>
          </p:nvPr>
        </p:nvSpPr>
        <p:spPr>
          <a:xfrm>
            <a:off x="417300" y="4401850"/>
            <a:ext cx="8520600" cy="8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=0.016.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Note: KL(X||Y) =  0.017! KL(X||Y) doesn’t equal KL(Y||X)! I.e., KL distance isn’t symmetric!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compare two probability distributions?</a:t>
            </a:r>
            <a:endParaRPr/>
          </a:p>
        </p:txBody>
      </p:sp>
      <p:sp>
        <p:nvSpPr>
          <p:cNvPr id="343" name="Google Shape;343;p38"/>
          <p:cNvSpPr txBox="1"/>
          <p:nvPr>
            <p:ph idx="1" type="body"/>
          </p:nvPr>
        </p:nvSpPr>
        <p:spPr>
          <a:xfrm>
            <a:off x="417300" y="1066950"/>
            <a:ext cx="4260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Why not just use Mean Square Error?  </a:t>
            </a:r>
            <a:endParaRPr/>
          </a:p>
        </p:txBody>
      </p:sp>
      <p:pic>
        <p:nvPicPr>
          <p:cNvPr descr="{&quot;backgroundColor&quot;:&quot;#FFFFFF&quot;,&quot;aid&quot;:null,&quot;font&quot;:{&quot;size&quot;:12.5,&quot;color&quot;:&quot;#595959&quot;,&quot;family&quot;:&quot;Arial&quot;},&quot;id&quot;:&quot;9&quot;,&quot;type&quot;:&quot;lalign*&quot;,&quot;code&quot;:&quot;\\begin{lalign*}\n&amp;{\\text{True}\\;\\text{distribution}\\;X}\\\\\n&amp;{\\text{Modeled}\\;\\text{distribution}\\;Y}\\\\\n&amp;{d\\left(X,Y\\right)=\\frac{1}{n}\\sum_{i=1}^{n}\\left(x_{i}-y_{i}\\right)^{2}}\t\n\\end{lalign*}&quot;,&quot;backgroundColorModified&quot;:false,&quot;ts&quot;:1758249120181,&quot;cs&quot;:&quot;cGPcuPgKAlrDBs5fTmq0GA==&quot;,&quot;size&quot;:{&quot;width&quot;:229.20000000000002,&quot;height&quot;:101.80000000000001}}" id="344" name="Google Shape;3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401" y="1671926"/>
            <a:ext cx="2183130" cy="969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11,&quot;family&quot;:&quot;Arial&quot;,&quot;color&quot;:&quot;#595959&quot;},&quot;backgroundColor&quot;:&quot;#FFFFFF&quot;,&quot;type&quot;:&quot;lalign*&quot;,&quot;aid&quot;:null,&quot;id&quot;:&quot;10&quot;,&quot;backgroundColorModified&quot;:false,&quot;code&quot;:&quot;\\begin{lalign*}\n&amp;{\\text{Let's}\\;\\text{consider}\\;\\text{two}\\;\\text{coins}\\;\\text{X}\\;\\text{and}\\;\\text{Y}}\\\\\n&amp;{\\text{Coin}\\;\\text{X}\\;\\text{is}\\;\\text{unbiased,}\\;\\text{s}\\text{o}\\;p\\left(X=H\\right)=1-p\\left(X=T\\right)=0.5}\\\\\n&amp;{\\text{Coin}\\;\\text{Y}\\;\\text{is}\\;\\text{biased}.\\,\\text{We'll}\\;\\text{vary}\\;p\\left(Y=H\\right)\\,\\text{from}\\;\\text{0-1}\\;\\text{and}\\;\\text{calculate}}\\\\\n&amp;{KL\\left(X\\left|\\right|Y\\right)\\,\\text{and}\\;\\text{d(p,q)}}\\\\\n&amp;{}\t\n\\end{lalign*}&quot;,&quot;ts&quot;:1758245678142,&quot;cs&quot;:&quot;RMKfDPtwsbFutEL+3nVV8A==&quot;,&quot;size&quot;:{&quot;width&quot;:458.6666666666667,&quot;height&quot;:83.6666666666667}}" id="345" name="Google Shape;34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175" y="2745350"/>
            <a:ext cx="4856300" cy="8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8"/>
          <p:cNvSpPr txBox="1"/>
          <p:nvPr>
            <p:ph idx="1" type="body"/>
          </p:nvPr>
        </p:nvSpPr>
        <p:spPr>
          <a:xfrm>
            <a:off x="417300" y="3805700"/>
            <a:ext cx="8057100" cy="11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23"/>
              <a:t>Notice that KL distance penalizes large deviations between p(X) and p(Y) much more severely!</a:t>
            </a:r>
            <a:endParaRPr sz="302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23"/>
              <a:t>Also, when p(Y) assigns a 0 probability to an outcome that p(X) assigns a non-zero probability, KL distance blows up, while MSE doesn’t </a:t>
            </a:r>
            <a:endParaRPr sz="3023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7" name="Google Shape;347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0176" y="1170125"/>
            <a:ext cx="3281424" cy="246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compare two probability distributions?</a:t>
            </a:r>
            <a:endParaRPr/>
          </a:p>
        </p:txBody>
      </p:sp>
      <p:sp>
        <p:nvSpPr>
          <p:cNvPr id="353" name="Google Shape;353;p39"/>
          <p:cNvSpPr txBox="1"/>
          <p:nvPr>
            <p:ph idx="1" type="body"/>
          </p:nvPr>
        </p:nvSpPr>
        <p:spPr>
          <a:xfrm>
            <a:off x="417300" y="1066950"/>
            <a:ext cx="4893000" cy="8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just use Mean Square Error?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Let’s consider the gradient wrt Y   </a:t>
            </a:r>
            <a:endParaRPr/>
          </a:p>
        </p:txBody>
      </p:sp>
      <p:pic>
        <p:nvPicPr>
          <p:cNvPr descr="{&quot;id&quot;:&quot;9&quot;,&quot;code&quot;:&quot;\\begin{lalign*}\n&amp;{\\text{Random}\\;\\text{Variable}\\;X\\,\\text{can}\\;\\text{have}\\;\\text{discrete}\\;\\text{states}\\;X_{i}\\left(i\\in\\left[1,2\\,\\dots n\\right]\\right)}\\\\\n&amp;{\\text{Probability}\\;\\text{distribution}\\;\\text{over}\\;\\text{these}\\;\\text{states}\\;\\text{is}\\;\\text{denoted}\\;\\text{by}\\;\\text{p(X)}}\\\\\n&amp;{\\text{Similarly}\\;\\text{for}\\;\\text{Y.}\\;\\text{X}\\;\\text{is}\\;\\text{the}\\;\\text{target,}\\;\\text{Y}\\;\\text{is}\\;\\text{the}\\;\\text{modeled}\\;\\text{distribution}}\\\\\n&amp;{d\\left(X,Y\\right)=\\frac{1}{n}\\sum_{i=1}^{n}\\left(p\\left(X_{i}\\right)-p\\left(Y_{i}\\right)\\right)^{2}}\\\\\n&amp;{\\frac{\\partial d\\left(X,Y\\right)}{\\partial Y}=\\frac{1}{n}\\left(p\\left(X_{i}\\right)-p\\left(Y_{i}\\right)\\right)\\,:\\,\\text{a}\\,n\\times1\\,\\text{vector}\\;\\text{}}\\\\\n&amp;{KL\\left(X\\left|\\right|Y\\right)=\\sum_{i=1}^{n}p\\left(X_{i}\\right)\\log_{} \\left(\\frac{p\\left(X_{i}\\right)}{p\\left(Y_{i}\\right)}\\right)}\\\\\n&amp;{\\frac{\\partial KL\\left(X\\left|\\right|Y\\right)}{\\partial Y}=\\frac{p\\left(X_{i}\\right)}{p\\left(Y_{i}\\right)}\\,:\\,\\text{a}\\,n\\times1\\,\\text{vector}\\;\\text{}}\\\\\n&amp;{}\t\n\\end{lalign*}&quot;,&quot;font&quot;:{&quot;size&quot;:12.5,&quot;color&quot;:&quot;#595959&quot;,&quot;family&quot;:&quot;Arial&quot;},&quot;aid&quot;:null,&quot;backgroundColor&quot;:&quot;#FFFFFF&quot;,&quot;type&quot;:&quot;lalign*&quot;,&quot;backgroundColorModified&quot;:false,&quot;ts&quot;:1758249437116,&quot;cs&quot;:&quot;Qed1GBzAGM+TJTLNAbx1GA==&quot;,&quot;size&quot;:{&quot;width&quot;:533.5,&quot;height&quot;:293.50000000000006}}" id="354" name="Google Shape;35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085" y="1978387"/>
            <a:ext cx="5081588" cy="2795588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9"/>
          <p:cNvSpPr txBox="1"/>
          <p:nvPr>
            <p:ph idx="1" type="body"/>
          </p:nvPr>
        </p:nvSpPr>
        <p:spPr>
          <a:xfrm>
            <a:off x="5067250" y="3062800"/>
            <a:ext cx="3517200" cy="17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716"/>
              <a:t>The gradient of the KL distance is much larger when p(X) and p(Y) differ a lot. This results in faster convergence. More on this later..</a:t>
            </a:r>
            <a:endParaRPr sz="1716"/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86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cross-entropy loss isn’t the same as KL Distance!</a:t>
            </a:r>
            <a:endParaRPr/>
          </a:p>
        </p:txBody>
      </p:sp>
      <p:pic>
        <p:nvPicPr>
          <p:cNvPr descr="{&quot;aid&quot;:null,&quot;backgroundColorModified&quot;:false,&quot;type&quot;:&quot;lalign*&quot;,&quot;font&quot;:{&quot;size&quot;:11,&quot;family&quot;:null,&quot;color&quot;:&quot;#000000&quot;},&quot;id&quot;:&quot;4&quot;,&quot;backgroundColor&quot;:&quot;#FFFFFF&quot;,&quot;code&quot;:&quot;\\begin{lalign*}\n&amp;{\\text{Notice:}}\\\\\n&amp;{\\text{x-entropy-loss(}p,y\\text{)}\\;\\text{=}-\\sum_{i=1}^{K}p_{i}\\log_{}\\left(y_{i}\\right)}\\\\\n&amp;{\\left(\\frac{\\dd\\text{x-entropy-loss(}p,y\\text{)}\\;}{\\dd y}\\right)_{i}=\\frac{-p_{i}}{y_{i}}\\,\\text{the}\\;i^{th}\\,\\text{term}\\;\\text{of}\\;\\text{the}\\;\\text{derivative}}\\\\\n&amp;{\\text{While,}}\\\\\n&amp;{KL\\left(p\\left|\\right|y\\right)=\\sum_{i=1}^{K}p_{i}\\log_{}\\frac{p_{i}}{y_{i}}=\\sum_{i=1}^{K}p_{i}\\left(\\log_{}p_{i}-\\log_{}y_{i}\\right)}\\\\\n&amp;{\\left(\\frac{\\dd KL\\left(p\\left|\\right|y\\right)\\;}{\\dd y}\\right)_{i}=\\frac{\\dd KL\\left(p_{i}\\log_{}p_{i}\\right)\\;}{\\dd y_{i}}-\\frac{\\dd p_{i}\\log_{}y_{i}}{\\dd y_{i}}}\\\\\n&amp;{\\,\\,\\,\\,\\,\\,\\,\\,\\,\\,\\,\\,\\,\\,\\,\\,\\,\\,\\,\\,\\,\\,\\,\\,\\,\\,\\,\\,\\,\\,\\,\\,\\,\\,\\,\\,\\,\\,\\,\\,\\,\\,\\,\\,\\,\\,=\\frac{-p_{i}}{y_{i}}}\t\n\\end{lalign*}&quot;,&quot;ts&quot;:1758283796600,&quot;cs&quot;:&quot;GK+tsQzAsxDXvqLbJDmiiQ==&quot;,&quot;size&quot;:{&quot;width&quot;:469.6666666666667,&quot;height&quot;:288.3333333333333}}" id="361" name="Google Shape;36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075" y="1198576"/>
            <a:ext cx="4655924" cy="2858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0"/>
          <p:cNvSpPr txBox="1"/>
          <p:nvPr>
            <p:ph idx="1" type="body"/>
          </p:nvPr>
        </p:nvSpPr>
        <p:spPr>
          <a:xfrm>
            <a:off x="470225" y="4194450"/>
            <a:ext cx="6793500" cy="17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716"/>
              <a:t>So the first term in the KL distance is a constant, because it only depends on the true distribution.. And hence can be ignored.</a:t>
            </a:r>
            <a:endParaRPr sz="1716"/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86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Loss: Derivative</a:t>
            </a:r>
            <a:endParaRPr/>
          </a:p>
        </p:txBody>
      </p:sp>
      <p:sp>
        <p:nvSpPr>
          <p:cNvPr id="368" name="Google Shape;368;p41"/>
          <p:cNvSpPr txBox="1"/>
          <p:nvPr>
            <p:ph idx="1" type="body"/>
          </p:nvPr>
        </p:nvSpPr>
        <p:spPr>
          <a:xfrm>
            <a:off x="311700" y="1152475"/>
            <a:ext cx="85206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Continuing with the two class example..</a:t>
            </a:r>
            <a:r>
              <a:rPr lang="en" sz="1600"/>
              <a:t>.</a:t>
            </a:r>
            <a:endParaRPr sz="1600"/>
          </a:p>
        </p:txBody>
      </p:sp>
      <p:sp>
        <p:nvSpPr>
          <p:cNvPr id="369" name="Google Shape;369;p41"/>
          <p:cNvSpPr txBox="1"/>
          <p:nvPr>
            <p:ph idx="1" type="body"/>
          </p:nvPr>
        </p:nvSpPr>
        <p:spPr>
          <a:xfrm>
            <a:off x="478775" y="3127250"/>
            <a:ext cx="8520600" cy="11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Let’s now derive the partial of </a:t>
            </a:r>
            <a:r>
              <a:rPr i="1" lang="en" sz="1600"/>
              <a:t>e</a:t>
            </a:r>
            <a:r>
              <a:rPr lang="en" sz="1600"/>
              <a:t> against partial of </a:t>
            </a:r>
            <a:r>
              <a:rPr i="1" lang="en" sz="1600"/>
              <a:t>l </a:t>
            </a:r>
            <a:r>
              <a:rPr lang="en" sz="1600"/>
              <a:t>using basic math </a:t>
            </a:r>
            <a:r>
              <a:rPr lang="en" sz="1600"/>
              <a:t> </a:t>
            </a:r>
            <a:endParaRPr sz="1600"/>
          </a:p>
        </p:txBody>
      </p:sp>
      <p:pic>
        <p:nvPicPr>
          <p:cNvPr descr="{&quot;id&quot;:&quot;4&quot;,&quot;backgroundColor&quot;:&quot;#FFFFFF&quot;,&quot;backgroundColorModified&quot;:false,&quot;aid&quot;:null,&quot;code&quot;:&quot;$$y_{i\\,}\\text{=}\\frac{\\exp\\left(l_{i}\\right)}{\\sum_{i=1}^{K}\\exp\\left(l_{i}\\right)}$$&quot;,&quot;font&quot;:{&quot;size&quot;:11,&quot;family&quot;:&quot;Arial&quot;,&quot;color&quot;:&quot;#000000&quot;},&quot;type&quot;:&quot;$$&quot;,&quot;ts&quot;:1755221767658,&quot;cs&quot;:&quot;W2pharTkNijPupzWty204A==&quot;,&quot;size&quot;:{&quot;width&quot;:131,&quot;height&quot;:46}}" id="370" name="Google Shape;37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9249" y="1806750"/>
            <a:ext cx="1503651" cy="52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family&quot;:&quot;Arial&quot;,&quot;size&quot;:11},&quot;type&quot;:&quot;$$&quot;,&quot;id&quot;:&quot;4&quot;,&quot;aid&quot;:null,&quot;code&quot;:&quot;$$e\\,=\\,L\\left(y\\right)\\;\\text{=}-\\sum_{i=1}^{K}p_{i}\\log_{}\\left(y_{i}\\right)$$&quot;,&quot;backgroundColorModified&quot;:false,&quot;backgroundColor&quot;:&quot;#FFFFFF&quot;,&quot;ts&quot;:1755221791143,&quot;cs&quot;:&quot;nJb4xPP3YBfPNyPSX53Khg==&quot;,&quot;size&quot;:{&quot;width&quot;:208.66666666666666,&quot;height&quot;:47}}" id="371" name="Google Shape;37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4526" y="1806749"/>
            <a:ext cx="2278352" cy="51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id&quot;:&quot;4&quot;,&quot;code&quot;:&quot;\\begin{lalign*}\n&amp;{\\text{We}\\;\\text{need}\\;\\frac{\\partial e}{\\partial l}}\\\\\n&amp;{\\text{If}\\;l\\,\\text{is}\\;\\text{a}\\;m\\times1\\,\\text{vector,}\\;\\text{then}\\;\\text{above}\\;\\text{is}\\;\\text{also}\\;\\text{a}\\;m\\times1\\;\\text{vector}}\t\n\\end{lalign*}&quot;,&quot;backgroundColorModified&quot;:false,&quot;font&quot;:{&quot;family&quot;:&quot;Arial&quot;,&quot;color&quot;:&quot;#000000&quot;,&quot;size&quot;:11},&quot;backgroundColor&quot;:&quot;#FFFFFF&quot;,&quot;type&quot;:&quot;lalign*&quot;,&quot;ts&quot;:1755221919276,&quot;cs&quot;:&quot;LWRbP96Cq4nx6Y9YxZH5bQ==&quot;,&quot;size&quot;:{&quot;width&quot;:402.6666666666667,&quot;height&quot;:57.666666666666664}}" id="372" name="Google Shape;37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4524" y="2376100"/>
            <a:ext cx="4330299" cy="6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2"/>
          <p:cNvSpPr txBox="1"/>
          <p:nvPr>
            <p:ph type="title"/>
          </p:nvPr>
        </p:nvSpPr>
        <p:spPr>
          <a:xfrm>
            <a:off x="311700" y="445025"/>
            <a:ext cx="33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Cross Entropy Loss: Derivative</a:t>
            </a:r>
            <a:endParaRPr/>
          </a:p>
        </p:txBody>
      </p:sp>
      <p:pic>
        <p:nvPicPr>
          <p:cNvPr id="378" name="Google Shape;378;p42"/>
          <p:cNvPicPr preferRelativeResize="0"/>
          <p:nvPr/>
        </p:nvPicPr>
        <p:blipFill rotWithShape="1">
          <a:blip r:embed="rId3">
            <a:alphaModFix/>
          </a:blip>
          <a:srcRect b="11150" l="440" r="3737" t="0"/>
          <a:stretch/>
        </p:blipFill>
        <p:spPr>
          <a:xfrm>
            <a:off x="3615300" y="0"/>
            <a:ext cx="4115689" cy="50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3"/>
          <p:cNvSpPr txBox="1"/>
          <p:nvPr>
            <p:ph type="title"/>
          </p:nvPr>
        </p:nvSpPr>
        <p:spPr>
          <a:xfrm>
            <a:off x="262700" y="312750"/>
            <a:ext cx="33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Loss: Derivative</a:t>
            </a:r>
            <a:endParaRPr/>
          </a:p>
        </p:txBody>
      </p:sp>
      <p:pic>
        <p:nvPicPr>
          <p:cNvPr id="384" name="Google Shape;384;p43"/>
          <p:cNvPicPr preferRelativeResize="0"/>
          <p:nvPr/>
        </p:nvPicPr>
        <p:blipFill rotWithShape="1">
          <a:blip r:embed="rId3">
            <a:alphaModFix/>
          </a:blip>
          <a:srcRect b="23983" l="4028" r="24548" t="0"/>
          <a:stretch/>
        </p:blipFill>
        <p:spPr>
          <a:xfrm>
            <a:off x="3948225" y="76200"/>
            <a:ext cx="3516238" cy="499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4"/>
          <p:cNvSpPr txBox="1"/>
          <p:nvPr>
            <p:ph type="title"/>
          </p:nvPr>
        </p:nvSpPr>
        <p:spPr>
          <a:xfrm>
            <a:off x="311700" y="445025"/>
            <a:ext cx="376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Derivative of Softmax followed by MSE</a:t>
            </a:r>
            <a:endParaRPr/>
          </a:p>
        </p:txBody>
      </p:sp>
      <p:pic>
        <p:nvPicPr>
          <p:cNvPr id="390" name="Google Shape;390;p44"/>
          <p:cNvPicPr preferRelativeResize="0"/>
          <p:nvPr/>
        </p:nvPicPr>
        <p:blipFill rotWithShape="1">
          <a:blip r:embed="rId3">
            <a:alphaModFix/>
          </a:blip>
          <a:srcRect b="12924" l="6756" r="18749" t="1990"/>
          <a:stretch/>
        </p:blipFill>
        <p:spPr>
          <a:xfrm>
            <a:off x="4934275" y="22250"/>
            <a:ext cx="3347599" cy="5099001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4"/>
          <p:cNvSpPr txBox="1"/>
          <p:nvPr/>
        </p:nvSpPr>
        <p:spPr>
          <a:xfrm>
            <a:off x="348500" y="1498000"/>
            <a:ext cx="3827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Notice that multiplicative factor of y.. This results in a small gradient when model assigns a small probability to the correct class, slowing down convergence!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392" name="Google Shape;392;p44"/>
          <p:cNvCxnSpPr/>
          <p:nvPr/>
        </p:nvCxnSpPr>
        <p:spPr>
          <a:xfrm>
            <a:off x="3145825" y="2864575"/>
            <a:ext cx="2577300" cy="147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3" name="Google Shape;393;p44"/>
          <p:cNvSpPr txBox="1"/>
          <p:nvPr/>
        </p:nvSpPr>
        <p:spPr>
          <a:xfrm>
            <a:off x="2774950" y="4599550"/>
            <a:ext cx="223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Ignoring the factor of 2/3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descr="{&quot;aid&quot;:null,&quot;backgroundColor&quot;:&quot;#FFFFFF&quot;,&quot;code&quot;:&quot;\\begin{lalign*}\n&amp;{\\begin{pmatrix}\n{y_{1}-y_{1}^{2}}&amp;{-y_{1}y_{2}}&amp;{-y_{1}y_{3}}\\\\\n{-y_{1}y_{2}}&amp;{y_{2}-y_{2}^{2}}&amp;{-y_{2}y_{3}}\\\\\n{-y_{1}y_{3}}&amp;{-y_{2}y_{3}}&amp;{y_{3}-y_{3}^{2}}\\\\\n\\end{pmatrix}=diag\\left(y\\right)-yy^{T}}\\\\\n&amp;{\\text{where}\\;y=\\begin{pmatrix}\n{y_{1}}\\\\\n{y_{2}}\\\\\n{y_{3}}\\\\\n\\end{pmatrix}.\\,\\text{Denoting}\\;\\begin{pmatrix}\n{y_{1}-p_{1}}\\\\\n{y_{2}-p_{2}}\\\\\n{y_{3}-p_{3}}\\\\\n\\end{pmatrix}\\text{as}\\;g,}\\\\\n&amp;{\\begin{pmatrix}\n{y_{1}-y_{1}^{2}}&amp;{-y_{1}y_{2}}&amp;{-y_{1}y_{3}}\\\\\n{-y_{1}y_{2}}&amp;{y_{2}-y_{2}^{2}}&amp;{-y_{2}y_{3}}\\\\\n{-y_{1}y_{3}}&amp;{-y_{2}y_{3}}&amp;{y_{3}-y_{3}^{2}}\\\\\n\\end{pmatrix}\\begin{pmatrix}\n{y_{1}-p_{1}}\\\\\n{y_{2}-p_{2}}\\\\\n{y_{3}-p_{3}}\\\\\n\\end{pmatrix}=\\left(diag\\left(y\\right)-yy^{T}\\right)g}\\\\\n&amp;{=y\\odot g-yy^{T}g=y\\odot\\left(g-y^{T}g\\right)}\\\\\n&amp;{\\odot:\\,\\text{Hadamard}\\;\\text{(elemeent}\\,\\text{wise}\\text{)}\\;\\text{product}}\t\n\\end{lalign*}&quot;,&quot;type&quot;:&quot;lalign*&quot;,&quot;font&quot;:{&quot;family&quot;:&quot;Arial&quot;,&quot;size&quot;:9,&quot;color&quot;:&quot;#000000&quot;},&quot;id&quot;:&quot;11&quot;,&quot;backgroundColorModified&quot;:false,&quot;ts&quot;:1758855761597,&quot;cs&quot;:&quot;81LtbRUMehaKTpN/9NcvAA==&quot;,&quot;size&quot;:{&quot;width&quot;:377.3333333333333,&quot;height&quot;:219.66666666666666}}" id="394" name="Google Shape;39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238" y="2864572"/>
            <a:ext cx="3594100" cy="209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5"/>
          <p:cNvSpPr txBox="1"/>
          <p:nvPr>
            <p:ph type="title"/>
          </p:nvPr>
        </p:nvSpPr>
        <p:spPr>
          <a:xfrm>
            <a:off x="311700" y="244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2: Classifying points on a Spiral Dataset</a:t>
            </a:r>
            <a:endParaRPr/>
          </a:p>
        </p:txBody>
      </p:sp>
      <p:pic>
        <p:nvPicPr>
          <p:cNvPr id="400" name="Google Shape;40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9726" y="1062325"/>
            <a:ext cx="4726650" cy="34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5"/>
          <p:cNvSpPr txBox="1"/>
          <p:nvPr>
            <p:ph idx="1" type="body"/>
          </p:nvPr>
        </p:nvSpPr>
        <p:spPr>
          <a:xfrm>
            <a:off x="371025" y="1170100"/>
            <a:ext cx="3939600" cy="32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260"/>
              <a:t>In our first Neural Network example, we considered a regression problem, where the network was trained to predict the value of a sine function. Now we’ll consider a classification problem in 2D, where we have a set of points that lie on one of the arms of a spiral dataset. The task is to predict the label of the arm for each point. </a:t>
            </a:r>
            <a:endParaRPr sz="12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260"/>
              <a:t>Key differences from before:</a:t>
            </a:r>
            <a:endParaRPr sz="1260"/>
          </a:p>
          <a:p>
            <a:pPr indent="-30861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</a:pPr>
            <a:r>
              <a:rPr lang="en" sz="1260"/>
              <a:t>The dimension of our input data is now 2, rather than 1 </a:t>
            </a:r>
            <a:endParaRPr sz="1260"/>
          </a:p>
          <a:p>
            <a:pPr indent="-30861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60"/>
              <a:buChar char="-"/>
            </a:pPr>
            <a:r>
              <a:rPr lang="en" sz="1260"/>
              <a:t>Network output is a vector rather than scalar</a:t>
            </a:r>
            <a:endParaRPr sz="1260"/>
          </a:p>
          <a:p>
            <a:pPr indent="-30861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60"/>
              <a:buChar char="-"/>
            </a:pPr>
            <a:r>
              <a:rPr lang="en" sz="1260"/>
              <a:t>We’ll use cross-entropy loss rather than mean square error</a:t>
            </a:r>
            <a:endParaRPr sz="1260"/>
          </a:p>
          <a:p>
            <a:pPr indent="-30861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60"/>
              <a:buChar char="-"/>
            </a:pPr>
            <a:r>
              <a:rPr lang="en" sz="1260"/>
              <a:t>Loss function and target metric (classification accuracy) are different!</a:t>
            </a:r>
            <a:endParaRPr sz="1260"/>
          </a:p>
          <a:p>
            <a:pPr indent="-30861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60"/>
              <a:buChar char="-"/>
            </a:pPr>
            <a:r>
              <a:rPr lang="en" sz="1260"/>
              <a:t>Logging metrics in Tensorboard</a:t>
            </a:r>
            <a:endParaRPr sz="126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boundaries of our neural network: Video</a:t>
            </a:r>
            <a:endParaRPr/>
          </a:p>
        </p:txBody>
      </p:sp>
      <p:pic>
        <p:nvPicPr>
          <p:cNvPr id="407" name="Google Shape;407;p46" title="class_edges_w_relu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509463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7"/>
          <p:cNvSpPr txBox="1"/>
          <p:nvPr>
            <p:ph type="title"/>
          </p:nvPr>
        </p:nvSpPr>
        <p:spPr>
          <a:xfrm>
            <a:off x="311700" y="244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K-Fold Cross Validation</a:t>
            </a:r>
            <a:endParaRPr/>
          </a:p>
        </p:txBody>
      </p:sp>
      <p:sp>
        <p:nvSpPr>
          <p:cNvPr id="413" name="Google Shape;413;p47"/>
          <p:cNvSpPr txBox="1"/>
          <p:nvPr>
            <p:ph idx="1" type="body"/>
          </p:nvPr>
        </p:nvSpPr>
        <p:spPr>
          <a:xfrm>
            <a:off x="370775" y="1829700"/>
            <a:ext cx="4652100" cy="32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260"/>
              <a:t>Naive training loop:</a:t>
            </a:r>
            <a:endParaRPr b="1" sz="12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060"/>
              <a:t>For every epoch:</a:t>
            </a:r>
            <a:endParaRPr i="1" sz="10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060"/>
              <a:t>	For all training data:</a:t>
            </a:r>
            <a:endParaRPr i="1" sz="10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060"/>
              <a:t>		Sample data and run training loop on training data</a:t>
            </a:r>
            <a:endParaRPr i="1" sz="10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060"/>
              <a:t>	Evaluate performance on validation data</a:t>
            </a:r>
            <a:endParaRPr i="1" sz="10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060"/>
              <a:t>End Training</a:t>
            </a:r>
            <a:endParaRPr i="1" sz="10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060"/>
              <a:t>Evaluate performance on trained model on held out test data</a:t>
            </a:r>
            <a:endParaRPr i="1" sz="10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060"/>
              <a:t>But what if validation subset contains important data we want training to see?</a:t>
            </a:r>
            <a:endParaRPr sz="10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260"/>
              <a:t>	</a:t>
            </a:r>
            <a:endParaRPr sz="1260"/>
          </a:p>
        </p:txBody>
      </p:sp>
      <p:sp>
        <p:nvSpPr>
          <p:cNvPr id="414" name="Google Shape;414;p47"/>
          <p:cNvSpPr/>
          <p:nvPr/>
        </p:nvSpPr>
        <p:spPr>
          <a:xfrm>
            <a:off x="646700" y="1132625"/>
            <a:ext cx="1603800" cy="21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7"/>
          <p:cNvSpPr/>
          <p:nvPr/>
        </p:nvSpPr>
        <p:spPr>
          <a:xfrm>
            <a:off x="2250500" y="1132625"/>
            <a:ext cx="448500" cy="219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7"/>
          <p:cNvSpPr/>
          <p:nvPr/>
        </p:nvSpPr>
        <p:spPr>
          <a:xfrm>
            <a:off x="2699000" y="1132625"/>
            <a:ext cx="448500" cy="2199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7"/>
          <p:cNvSpPr/>
          <p:nvPr/>
        </p:nvSpPr>
        <p:spPr>
          <a:xfrm rot="5400000">
            <a:off x="1381725" y="686500"/>
            <a:ext cx="86400" cy="1556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7"/>
          <p:cNvSpPr txBox="1"/>
          <p:nvPr/>
        </p:nvSpPr>
        <p:spPr>
          <a:xfrm>
            <a:off x="1196350" y="1477525"/>
            <a:ext cx="55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Train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19" name="Google Shape;419;p47"/>
          <p:cNvSpPr/>
          <p:nvPr/>
        </p:nvSpPr>
        <p:spPr>
          <a:xfrm rot="5400000">
            <a:off x="2408725" y="1221850"/>
            <a:ext cx="103500" cy="468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7"/>
          <p:cNvSpPr/>
          <p:nvPr/>
        </p:nvSpPr>
        <p:spPr>
          <a:xfrm rot="5400000">
            <a:off x="2871500" y="1221850"/>
            <a:ext cx="103500" cy="468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7"/>
          <p:cNvSpPr txBox="1"/>
          <p:nvPr/>
        </p:nvSpPr>
        <p:spPr>
          <a:xfrm>
            <a:off x="2176225" y="1477525"/>
            <a:ext cx="56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Validate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422" name="Google Shape;422;p47"/>
          <p:cNvSpPr txBox="1"/>
          <p:nvPr/>
        </p:nvSpPr>
        <p:spPr>
          <a:xfrm>
            <a:off x="2757250" y="1477525"/>
            <a:ext cx="7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Test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423" name="Google Shape;423;p47"/>
          <p:cNvSpPr txBox="1"/>
          <p:nvPr/>
        </p:nvSpPr>
        <p:spPr>
          <a:xfrm>
            <a:off x="5320375" y="295925"/>
            <a:ext cx="3772500" cy="23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0">
                <a:solidFill>
                  <a:schemeClr val="dk2"/>
                </a:solidFill>
              </a:rPr>
              <a:t>K-Fold Cross Validation:</a:t>
            </a:r>
            <a:endParaRPr b="1" sz="106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">
                <a:solidFill>
                  <a:schemeClr val="dk2"/>
                </a:solidFill>
              </a:rPr>
              <a:t>Shuffle &amp; Split the dataset into K folds (e.g., K=5).</a:t>
            </a:r>
            <a:endParaRPr sz="106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0">
                <a:solidFill>
                  <a:schemeClr val="dk2"/>
                </a:solidFill>
              </a:rPr>
              <a:t>Iteration:</a:t>
            </a:r>
            <a:r>
              <a:rPr lang="en" sz="1060">
                <a:solidFill>
                  <a:schemeClr val="dk2"/>
                </a:solidFill>
              </a:rPr>
              <a:t> For each of the K folds:</a:t>
            </a:r>
            <a:endParaRPr sz="1060">
              <a:solidFill>
                <a:schemeClr val="dk2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" sz="1060">
                <a:solidFill>
                  <a:schemeClr val="dk2"/>
                </a:solidFill>
              </a:rPr>
              <a:t>Use K-1 folds for training.</a:t>
            </a:r>
            <a:endParaRPr sz="1060">
              <a:solidFill>
                <a:schemeClr val="dk2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" sz="1060">
                <a:solidFill>
                  <a:schemeClr val="dk2"/>
                </a:solidFill>
              </a:rPr>
              <a:t>Use the remaining 1 fold for validation (testing).</a:t>
            </a:r>
            <a:endParaRPr sz="106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060">
                <a:solidFill>
                  <a:schemeClr val="dk2"/>
                </a:solidFill>
              </a:rPr>
              <a:t>Repeat until every fold has served as the validation set exactly once.</a:t>
            </a:r>
            <a:br>
              <a:rPr lang="en" sz="1060">
                <a:solidFill>
                  <a:schemeClr val="dk2"/>
                </a:solidFill>
              </a:rPr>
            </a:br>
            <a:endParaRPr sz="106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">
                <a:solidFill>
                  <a:schemeClr val="dk2"/>
                </a:solidFill>
              </a:rPr>
              <a:t>Aggregate results by averaging the performance metrics (accuracy, F1, RMSE, etc.).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424" name="Google Shape;424;p47"/>
          <p:cNvSpPr txBox="1"/>
          <p:nvPr/>
        </p:nvSpPr>
        <p:spPr>
          <a:xfrm>
            <a:off x="5391850" y="2722650"/>
            <a:ext cx="30000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060">
                <a:solidFill>
                  <a:schemeClr val="dk2"/>
                </a:solidFill>
              </a:rPr>
              <a:t>Example:</a:t>
            </a:r>
            <a:endParaRPr b="1" sz="106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060">
                <a:solidFill>
                  <a:schemeClr val="dk2"/>
                </a:solidFill>
              </a:rPr>
              <a:t>Dataset → split into folds: [F1, F2, F3]</a:t>
            </a:r>
            <a:endParaRPr sz="1060">
              <a:solidFill>
                <a:schemeClr val="dk2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n" sz="1060">
                <a:solidFill>
                  <a:schemeClr val="dk2"/>
                </a:solidFill>
              </a:rPr>
              <a:t>Run 1:</a:t>
            </a:r>
            <a:r>
              <a:rPr lang="en" sz="1060">
                <a:solidFill>
                  <a:schemeClr val="dk2"/>
                </a:solidFill>
              </a:rPr>
              <a:t> Train = [F2+F3], Test = [F1]</a:t>
            </a:r>
            <a:endParaRPr sz="1060">
              <a:solidFill>
                <a:schemeClr val="dk2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n" sz="1060">
                <a:solidFill>
                  <a:schemeClr val="dk2"/>
                </a:solidFill>
              </a:rPr>
              <a:t>Run 2:</a:t>
            </a:r>
            <a:r>
              <a:rPr lang="en" sz="1060">
                <a:solidFill>
                  <a:schemeClr val="dk2"/>
                </a:solidFill>
              </a:rPr>
              <a:t> Train = [F1+F3], Test = [F2]</a:t>
            </a:r>
            <a:endParaRPr sz="1060">
              <a:solidFill>
                <a:schemeClr val="dk2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n" sz="1060">
                <a:solidFill>
                  <a:schemeClr val="dk2"/>
                </a:solidFill>
              </a:rPr>
              <a:t>Run 3:</a:t>
            </a:r>
            <a:r>
              <a:rPr lang="en" sz="1060">
                <a:solidFill>
                  <a:schemeClr val="dk2"/>
                </a:solidFill>
              </a:rPr>
              <a:t> Train = [F1+F2], Test = [F3]</a:t>
            </a:r>
            <a:endParaRPr sz="106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1060">
                <a:solidFill>
                  <a:schemeClr val="dk2"/>
                </a:solidFill>
              </a:rPr>
              <a:t>Final performance = average of all 5 test results.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425" name="Google Shape;425;p47"/>
          <p:cNvSpPr txBox="1"/>
          <p:nvPr/>
        </p:nvSpPr>
        <p:spPr>
          <a:xfrm>
            <a:off x="4746850" y="4619550"/>
            <a:ext cx="40656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60">
                <a:solidFill>
                  <a:schemeClr val="dk2"/>
                </a:solidFill>
              </a:rPr>
              <a:t>Generally not used during large Neural Network training..</a:t>
            </a:r>
            <a:endParaRPr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8"/>
          <p:cNvSpPr txBox="1"/>
          <p:nvPr>
            <p:ph type="title"/>
          </p:nvPr>
        </p:nvSpPr>
        <p:spPr>
          <a:xfrm>
            <a:off x="311700" y="244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431" name="Google Shape;431;p48"/>
          <p:cNvSpPr txBox="1"/>
          <p:nvPr/>
        </p:nvSpPr>
        <p:spPr>
          <a:xfrm>
            <a:off x="408425" y="940925"/>
            <a:ext cx="7926900" cy="27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-"/>
            </a:pPr>
            <a:r>
              <a:rPr lang="en" sz="1060">
                <a:solidFill>
                  <a:schemeClr val="dk2"/>
                </a:solidFill>
              </a:rPr>
              <a:t>Derive the backpropagation equation for x-entropy loss yourself, </a:t>
            </a:r>
            <a:r>
              <a:rPr lang="en" sz="1060">
                <a:solidFill>
                  <a:schemeClr val="dk2"/>
                </a:solidFill>
              </a:rPr>
              <a:t>referring</a:t>
            </a:r>
            <a:r>
              <a:rPr lang="en" sz="1060">
                <a:solidFill>
                  <a:schemeClr val="dk2"/>
                </a:solidFill>
              </a:rPr>
              <a:t> to the notes as needed</a:t>
            </a:r>
            <a:br>
              <a:rPr lang="en" sz="1060">
                <a:solidFill>
                  <a:schemeClr val="dk2"/>
                </a:solidFill>
              </a:rPr>
            </a:br>
            <a:endParaRPr sz="1060">
              <a:solidFill>
                <a:schemeClr val="dk2"/>
              </a:solidFill>
            </a:endParaRPr>
          </a:p>
          <a:p>
            <a:pPr indent="-29591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60"/>
              <a:buChar char="-"/>
            </a:pPr>
            <a:r>
              <a:rPr lang="en" sz="1060">
                <a:solidFill>
                  <a:schemeClr val="dk2"/>
                </a:solidFill>
              </a:rPr>
              <a:t>Why can’t we use the logits directly in x-entropy loss? Why do we take the exponential of each logit? Hint: Can probabilities be negative? What about logits?</a:t>
            </a:r>
            <a:br>
              <a:rPr lang="en" sz="1060">
                <a:solidFill>
                  <a:schemeClr val="dk2"/>
                </a:solidFill>
              </a:rPr>
            </a:br>
            <a:endParaRPr sz="1060">
              <a:solidFill>
                <a:schemeClr val="dk2"/>
              </a:solidFill>
            </a:endParaRPr>
          </a:p>
          <a:p>
            <a:pPr indent="-29591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60"/>
              <a:buChar char="-"/>
            </a:pPr>
            <a:r>
              <a:rPr lang="en" sz="1060">
                <a:solidFill>
                  <a:schemeClr val="dk2"/>
                </a:solidFill>
              </a:rPr>
              <a:t>Run the spiral data classification code (class3/simple_nn2.py) with default values.. You can turn on the draw_movie_frame feature to capture the classification boundaries as the optimization proceeds and the network learns. </a:t>
            </a:r>
            <a:br>
              <a:rPr lang="en" sz="1060">
                <a:solidFill>
                  <a:schemeClr val="dk2"/>
                </a:solidFill>
              </a:rPr>
            </a:br>
            <a:endParaRPr sz="1060">
              <a:solidFill>
                <a:schemeClr val="dk2"/>
              </a:solidFill>
            </a:endParaRPr>
          </a:p>
          <a:p>
            <a:pPr indent="-29591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60"/>
              <a:buChar char="-"/>
            </a:pPr>
            <a:r>
              <a:rPr lang="en" sz="1060">
                <a:solidFill>
                  <a:schemeClr val="dk2"/>
                </a:solidFill>
              </a:rPr>
              <a:t>Run the spiral data classification code without the ReLU non-linearities.. What do you observe?</a:t>
            </a:r>
            <a:br>
              <a:rPr lang="en" sz="1060">
                <a:solidFill>
                  <a:schemeClr val="dk2"/>
                </a:solidFill>
              </a:rPr>
            </a:br>
            <a:endParaRPr sz="1060">
              <a:solidFill>
                <a:schemeClr val="dk2"/>
              </a:solidFill>
            </a:endParaRPr>
          </a:p>
          <a:p>
            <a:pPr indent="-29591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60"/>
              <a:buChar char="-"/>
            </a:pPr>
            <a:r>
              <a:rPr lang="en" sz="1060">
                <a:solidFill>
                  <a:schemeClr val="dk2"/>
                </a:solidFill>
              </a:rPr>
              <a:t>Run the spiral data classification code for different hyperparameter values</a:t>
            </a:r>
            <a:endParaRPr sz="1060">
              <a:solidFill>
                <a:schemeClr val="dk2"/>
              </a:solidFill>
            </a:endParaRPr>
          </a:p>
          <a:p>
            <a:pPr indent="-29591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60"/>
              <a:buChar char="-"/>
            </a:pPr>
            <a:r>
              <a:rPr lang="en" sz="1060">
                <a:solidFill>
                  <a:schemeClr val="dk2"/>
                </a:solidFill>
              </a:rPr>
              <a:t>Optimizer [simple, adam]</a:t>
            </a:r>
            <a:endParaRPr sz="1060">
              <a:solidFill>
                <a:schemeClr val="dk2"/>
              </a:solidFill>
            </a:endParaRPr>
          </a:p>
          <a:p>
            <a:pPr indent="-29591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60"/>
              <a:buChar char="-"/>
            </a:pPr>
            <a:r>
              <a:rPr lang="en" sz="1060">
                <a:solidFill>
                  <a:schemeClr val="dk2"/>
                </a:solidFill>
              </a:rPr>
              <a:t>Number of hidden layers [2,3]</a:t>
            </a:r>
            <a:endParaRPr sz="1060">
              <a:solidFill>
                <a:schemeClr val="dk2"/>
              </a:solidFill>
            </a:endParaRPr>
          </a:p>
          <a:p>
            <a:pPr indent="-29591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60"/>
              <a:buChar char="-"/>
            </a:pPr>
            <a:r>
              <a:rPr lang="en" sz="1060">
                <a:solidFill>
                  <a:schemeClr val="dk2"/>
                </a:solidFill>
              </a:rPr>
              <a:t>Learning rate schedule [constant, linear]</a:t>
            </a:r>
            <a:endParaRPr sz="1060">
              <a:solidFill>
                <a:schemeClr val="dk2"/>
              </a:solidFill>
            </a:endParaRPr>
          </a:p>
          <a:p>
            <a:pPr indent="-29591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60"/>
              <a:buChar char="-"/>
            </a:pPr>
            <a:r>
              <a:rPr lang="en" sz="1060">
                <a:solidFill>
                  <a:schemeClr val="dk2"/>
                </a:solidFill>
              </a:rPr>
              <a:t>Different values of initial learning rate [0.01 - 0.1 in steps of .05]</a:t>
            </a:r>
            <a:endParaRPr sz="106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">
                <a:solidFill>
                  <a:schemeClr val="dk2"/>
                </a:solidFill>
              </a:rPr>
              <a:t>	For each “experiment”, log the loss progression and final metrics (loss, accuracy on test data) to Tensorflow and MLFlow</a:t>
            </a:r>
            <a:endParaRPr sz="106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can be misleading, specially when dataset is unbalanced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38" name="Google Shape;438;p49"/>
          <p:cNvGraphicFramePr/>
          <p:nvPr/>
        </p:nvGraphicFramePr>
        <p:xfrm>
          <a:off x="918075" y="240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{FC238D60-79BD-4FF3-9BA5-E33D28E507E0}</a:tableStyleId>
              </a:tblPr>
              <a:tblGrid>
                <a:gridCol w="1107400"/>
                <a:gridCol w="1107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9" name="Google Shape;439;p49"/>
          <p:cNvSpPr txBox="1"/>
          <p:nvPr/>
        </p:nvSpPr>
        <p:spPr>
          <a:xfrm>
            <a:off x="1031150" y="2074600"/>
            <a:ext cx="101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Declare H0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40" name="Google Shape;440;p49"/>
          <p:cNvSpPr txBox="1"/>
          <p:nvPr/>
        </p:nvSpPr>
        <p:spPr>
          <a:xfrm>
            <a:off x="2084475" y="2074600"/>
            <a:ext cx="101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Declare H1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41" name="Google Shape;441;p49"/>
          <p:cNvSpPr txBox="1"/>
          <p:nvPr/>
        </p:nvSpPr>
        <p:spPr>
          <a:xfrm>
            <a:off x="311700" y="2428600"/>
            <a:ext cx="54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Is H0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42" name="Google Shape;442;p49"/>
          <p:cNvSpPr txBox="1"/>
          <p:nvPr/>
        </p:nvSpPr>
        <p:spPr>
          <a:xfrm>
            <a:off x="311700" y="2798350"/>
            <a:ext cx="54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Is H1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43" name="Google Shape;443;p49"/>
          <p:cNvSpPr txBox="1"/>
          <p:nvPr/>
        </p:nvSpPr>
        <p:spPr>
          <a:xfrm>
            <a:off x="941400" y="3367550"/>
            <a:ext cx="38223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C0D0E"/>
                </a:solidFill>
                <a:highlight>
                  <a:srgbClr val="FFFFFF"/>
                </a:highlight>
              </a:rPr>
              <a:t>precision is the fraction of events where we </a:t>
            </a:r>
            <a:r>
              <a:rPr i="1" lang="en" sz="1150">
                <a:solidFill>
                  <a:srgbClr val="0C0D0E"/>
                </a:solidFill>
                <a:highlight>
                  <a:srgbClr val="FFFFFF"/>
                </a:highlight>
              </a:rPr>
              <a:t>correctly</a:t>
            </a:r>
            <a:r>
              <a:rPr lang="en" sz="1150">
                <a:solidFill>
                  <a:srgbClr val="0C0D0E"/>
                </a:solidFill>
                <a:highlight>
                  <a:srgbClr val="FFFFFF"/>
                </a:highlight>
              </a:rPr>
              <a:t> declared h0, out of all instances where we declared h0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44" name="Google Shape;444;p49"/>
          <p:cNvSpPr txBox="1"/>
          <p:nvPr/>
        </p:nvSpPr>
        <p:spPr>
          <a:xfrm>
            <a:off x="3433875" y="2335250"/>
            <a:ext cx="38223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C0D0E"/>
                </a:solidFill>
                <a:highlight>
                  <a:srgbClr val="FFFFFF"/>
                </a:highlight>
              </a:rPr>
              <a:t>Recall is the fraction of events where we </a:t>
            </a:r>
            <a:r>
              <a:rPr i="1" lang="en" sz="1150">
                <a:solidFill>
                  <a:srgbClr val="0C0D0E"/>
                </a:solidFill>
                <a:highlight>
                  <a:srgbClr val="FFFFFF"/>
                </a:highlight>
              </a:rPr>
              <a:t>correctly</a:t>
            </a:r>
            <a:r>
              <a:rPr lang="en" sz="1150">
                <a:solidFill>
                  <a:srgbClr val="0C0D0E"/>
                </a:solidFill>
                <a:highlight>
                  <a:srgbClr val="FFFFFF"/>
                </a:highlight>
              </a:rPr>
              <a:t> declared h0, out of all instances that are h0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