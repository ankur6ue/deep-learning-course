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slide" Target="slides/slide41.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slide" Target="slides/slide42.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c395aaa1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7c395aaa1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3ecbe50c2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3ecbe50c2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91570f321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91570f321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5416cf2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5416cf2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c7238302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c7238302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40b58fec7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40b58fec7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640b58fec7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640b58fec7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640b58fec7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640b58fec7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794528f1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794528f1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c7238302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c7238302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b1b0f1e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b1b0f1e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7b1b0f1e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7b1b0f1e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900">
                <a:solidFill>
                  <a:schemeClr val="dk1"/>
                </a:solidFill>
              </a:rPr>
              <a:t>Thinking of weights as the “slopes” of lines and biases as the “intercepts.”</a:t>
            </a:r>
            <a:endParaRPr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en" sz="900">
                <a:solidFill>
                  <a:schemeClr val="dk1"/>
                </a:solidFill>
              </a:rPr>
              <a:t>Penalizing slopes keeps the line from becoming too steep (simpler model).</a:t>
            </a:r>
            <a:br>
              <a:rPr lang="en" sz="900">
                <a:solidFill>
                  <a:schemeClr val="dk1"/>
                </a:solidFill>
              </a:rPr>
            </a:b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en" sz="900">
                <a:solidFill>
                  <a:schemeClr val="dk1"/>
                </a:solidFill>
              </a:rPr>
              <a:t>Penalizing intercepts just pushes the line toward the origin, which doesn’t really fight overfitting — it just shifts everything awkwardly.</a:t>
            </a:r>
            <a:endParaRPr sz="900">
              <a:solidFill>
                <a:schemeClr val="dk1"/>
              </a:solidFill>
            </a:endParaRPr>
          </a:p>
          <a:p>
            <a:pPr indent="0" lvl="0" marL="0" rtl="0" algn="l">
              <a:lnSpc>
                <a:spcPct val="115000"/>
              </a:lnSpc>
              <a:spcBef>
                <a:spcPts val="1200"/>
              </a:spcBef>
              <a:spcAft>
                <a:spcPts val="0"/>
              </a:spcAft>
              <a:buNone/>
            </a:pPr>
            <a:r>
              <a:rPr lang="en" sz="900">
                <a:solidFill>
                  <a:schemeClr val="dk1"/>
                </a:solidFill>
              </a:rPr>
              <a:t>If you are curious: Fixing Weight Decay Regularization in Adam” (Loshchilov &amp; Hutter, 2017) </a:t>
            </a:r>
            <a:endParaRPr sz="9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7b1b0f1e5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7b1b0f1e5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91570f321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91570f321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1570f321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91570f321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91570f321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91570f321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c395aaa1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7c395aaa1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91570f321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91570f321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aeb1aa2e7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aeb1aa2e7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eb1aa2e7b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eb1aa2e7b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eb1aa2e7b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aeb1aa2e7b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eb1aa2e7b_2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eb1aa2e7b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7c395aaa1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7c395aaa1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c7238302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ac7238302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eb1aa2e7b_2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eb1aa2e7b_2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eb1aa2e7b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aeb1aa2e7b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aeb1aa2e7b_2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aeb1aa2e7b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aeb1aa2e7b_2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aeb1aa2e7b_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eb1aa2e7b_2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aeb1aa2e7b_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aeb1aa2e7b_2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aeb1aa2e7b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aeb1aa2e7b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aeb1aa2e7b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ac7238302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ac7238302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ac7238302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ac7238302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ac7238302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ac7238302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c7238302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ac7238302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c7238302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ac7238302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ac7238302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ac7238302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ac7238302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ac7238302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ac7238302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ac7238302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ac7238302a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ac7238302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c7238302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ac7238302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c7238302a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ac7238302a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cs231n.github.io/neural-networks-2/#reg" TargetMode="External"/><Relationship Id="rId4" Type="http://schemas.openxmlformats.org/officeDocument/2006/relationships/hyperlink" Target="https://arxiv.org/abs/1412.6980" TargetMode="External"/><Relationship Id="rId5" Type="http://schemas.openxmlformats.org/officeDocument/2006/relationships/hyperlink" Target="https://arxiv.org/abs/1711.0510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0" Type="http://schemas.openxmlformats.org/officeDocument/2006/relationships/image" Target="../media/image17.png"/><Relationship Id="rId11" Type="http://schemas.openxmlformats.org/officeDocument/2006/relationships/image" Target="../media/image4.png"/><Relationship Id="rId22" Type="http://schemas.openxmlformats.org/officeDocument/2006/relationships/image" Target="../media/image25.png"/><Relationship Id="rId10" Type="http://schemas.openxmlformats.org/officeDocument/2006/relationships/image" Target="../media/image9.png"/><Relationship Id="rId21" Type="http://schemas.openxmlformats.org/officeDocument/2006/relationships/image" Target="../media/image23.png"/><Relationship Id="rId13" Type="http://schemas.openxmlformats.org/officeDocument/2006/relationships/image" Target="../media/image3.png"/><Relationship Id="rId24" Type="http://schemas.openxmlformats.org/officeDocument/2006/relationships/image" Target="../media/image28.png"/><Relationship Id="rId12" Type="http://schemas.openxmlformats.org/officeDocument/2006/relationships/image" Target="../media/image14.png"/><Relationship Id="rId23" Type="http://schemas.openxmlformats.org/officeDocument/2006/relationships/image" Target="../media/image21.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 Id="rId9" Type="http://schemas.openxmlformats.org/officeDocument/2006/relationships/image" Target="../media/image2.png"/><Relationship Id="rId15" Type="http://schemas.openxmlformats.org/officeDocument/2006/relationships/image" Target="../media/image12.png"/><Relationship Id="rId14" Type="http://schemas.openxmlformats.org/officeDocument/2006/relationships/image" Target="../media/image19.png"/><Relationship Id="rId17" Type="http://schemas.openxmlformats.org/officeDocument/2006/relationships/image" Target="../media/image15.png"/><Relationship Id="rId16" Type="http://schemas.openxmlformats.org/officeDocument/2006/relationships/image" Target="../media/image5.png"/><Relationship Id="rId5" Type="http://schemas.openxmlformats.org/officeDocument/2006/relationships/image" Target="../media/image6.png"/><Relationship Id="rId19" Type="http://schemas.openxmlformats.org/officeDocument/2006/relationships/image" Target="../media/image11.png"/><Relationship Id="rId6" Type="http://schemas.openxmlformats.org/officeDocument/2006/relationships/image" Target="../media/image13.png"/><Relationship Id="rId18" Type="http://schemas.openxmlformats.org/officeDocument/2006/relationships/image" Target="../media/image1.png"/><Relationship Id="rId7" Type="http://schemas.openxmlformats.org/officeDocument/2006/relationships/image" Target="../media/image8.png"/><Relationship Id="rId8"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0.png"/><Relationship Id="rId4" Type="http://schemas.openxmlformats.org/officeDocument/2006/relationships/hyperlink" Target="https://docs.pytorch.org/docs/stable/optim.html#per-parameter-options" TargetMode="External"/><Relationship Id="rId5" Type="http://schemas.openxmlformats.org/officeDocument/2006/relationships/hyperlink" Target="https://arxiv.org/pdf/1608.03983" TargetMode="External"/><Relationship Id="rId6"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cs.toronto.edu/~rsalakhu/papers/srivastava14a.pdf" TargetMode="External"/><Relationship Id="rId4" Type="http://schemas.openxmlformats.org/officeDocument/2006/relationships/hyperlink" Target="https://magazine.sebastianraschka.com/p/from-gpt-2-to-gpt-oss-analyzing-th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9.png"/><Relationship Id="rId4" Type="http://schemas.openxmlformats.org/officeDocument/2006/relationships/image" Target="../media/image27.png"/><Relationship Id="rId5"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2.png"/><Relationship Id="rId6" Type="http://schemas.openxmlformats.org/officeDocument/2006/relationships/image" Target="../media/image35.png"/><Relationship Id="rId7" Type="http://schemas.openxmlformats.org/officeDocument/2006/relationships/image" Target="../media/image33.png"/><Relationship Id="rId8"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46.png"/><Relationship Id="rId5"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3.png"/><Relationship Id="rId4" Type="http://schemas.openxmlformats.org/officeDocument/2006/relationships/image" Target="../media/image5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Building Simple Neural Networks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Class 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Pre-read</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Regularization</a:t>
            </a:r>
            <a:endParaRPr/>
          </a:p>
          <a:p>
            <a:pPr indent="0" lvl="0" marL="0" rtl="0" algn="l">
              <a:spcBef>
                <a:spcPts val="1200"/>
              </a:spcBef>
              <a:spcAft>
                <a:spcPts val="0"/>
              </a:spcAft>
              <a:buNone/>
            </a:pPr>
            <a:r>
              <a:rPr lang="en" u="sng">
                <a:solidFill>
                  <a:schemeClr val="hlink"/>
                </a:solidFill>
                <a:hlinkClick r:id="rId4"/>
              </a:rPr>
              <a:t>Adam</a:t>
            </a:r>
            <a:r>
              <a:rPr lang="en"/>
              <a:t> and </a:t>
            </a:r>
            <a:r>
              <a:rPr lang="en" u="sng">
                <a:solidFill>
                  <a:schemeClr val="hlink"/>
                </a:solidFill>
                <a:hlinkClick r:id="rId5"/>
              </a:rPr>
              <a:t>AdamW</a:t>
            </a:r>
            <a:endParaRPr/>
          </a:p>
          <a:p>
            <a:pPr indent="0" lvl="0" marL="45720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225325" y="342750"/>
            <a:ext cx="5643300" cy="461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700">
                <a:solidFill>
                  <a:schemeClr val="dk1"/>
                </a:solidFill>
              </a:rPr>
              <a:t>Agenda — Class 2.1: Building Simple Neural Networks</a:t>
            </a:r>
            <a:endParaRPr b="1" sz="17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Structure of a Neural Network</a:t>
            </a:r>
            <a:br>
              <a:rPr b="1" lang="en"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Layers, activations, forward pass, backward pass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Loss Functions</a:t>
            </a:r>
            <a:br>
              <a:rPr b="1" lang="en"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MSE, cross-entropy, supervised vs self-supervised signals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Optimization &amp; Training Dynamics</a:t>
            </a:r>
            <a:br>
              <a:rPr b="1" lang="en"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Mini-batch SGD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Learning rate schedules</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Implementing forward/backward pass</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Regularization Techniques</a:t>
            </a:r>
            <a:br>
              <a:rPr b="1" lang="en"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Weight decay</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Dropout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Avoiding overfitting vs underfitting</a:t>
            </a:r>
            <a:endParaRPr b="1" sz="1100">
              <a:solidFill>
                <a:schemeClr val="dk1"/>
              </a:solidFill>
            </a:endParaRPr>
          </a:p>
        </p:txBody>
      </p:sp>
      <p:sp>
        <p:nvSpPr>
          <p:cNvPr id="67" name="Google Shape;67;p15"/>
          <p:cNvSpPr txBox="1"/>
          <p:nvPr/>
        </p:nvSpPr>
        <p:spPr>
          <a:xfrm>
            <a:off x="5128800" y="960125"/>
            <a:ext cx="3904200" cy="41205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Optimizers in Practice</a:t>
            </a:r>
            <a:br>
              <a:rPr b="1" lang="en"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SGD</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RMSProp</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Adam and AdamW</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Weight Initialization &amp; Variance Propagation</a:t>
            </a:r>
            <a:br>
              <a:rPr b="1" lang="en"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Xavier / Kaiming initialization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Stable forward &amp; backward variance</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PyTorch Examples</a:t>
            </a:r>
            <a:br>
              <a:rPr b="1" lang="en" sz="1100">
                <a:solidFill>
                  <a:schemeClr val="dk1"/>
                </a:solidFill>
              </a:rPr>
            </a:br>
            <a:endParaRPr b="1"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Manual backprop implementation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Dataset/DataLoader usage</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 sz="1100">
                <a:solidFill>
                  <a:schemeClr val="dk1"/>
                </a:solidFill>
              </a:rPr>
              <a:t>Fitting a simple model (sin(x))</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Homework &amp; Self-Study</a:t>
            </a:r>
            <a:endParaRPr b="1"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0" y="1599438"/>
            <a:ext cx="3013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73" name="Google Shape;73;p16"/>
          <p:cNvSpPr/>
          <p:nvPr/>
        </p:nvSpPr>
        <p:spPr>
          <a:xfrm>
            <a:off x="478773" y="1849125"/>
            <a:ext cx="6186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74" name="Google Shape;74;p16"/>
          <p:cNvPicPr preferRelativeResize="0"/>
          <p:nvPr/>
        </p:nvPicPr>
        <p:blipFill rotWithShape="1">
          <a:blip r:embed="rId3">
            <a:alphaModFix/>
          </a:blip>
          <a:srcRect b="0" l="0" r="0" t="0"/>
          <a:stretch/>
        </p:blipFill>
        <p:spPr>
          <a:xfrm>
            <a:off x="623688" y="2278594"/>
            <a:ext cx="328613" cy="235744"/>
          </a:xfrm>
          <a:prstGeom prst="rect">
            <a:avLst/>
          </a:prstGeom>
          <a:noFill/>
          <a:ln>
            <a:noFill/>
          </a:ln>
        </p:spPr>
      </p:pic>
      <p:sp>
        <p:nvSpPr>
          <p:cNvPr id="75" name="Google Shape;75;p16"/>
          <p:cNvSpPr/>
          <p:nvPr/>
        </p:nvSpPr>
        <p:spPr>
          <a:xfrm>
            <a:off x="1560400" y="1846875"/>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1" lang="en" sz="1300"/>
              <a:t>ReLU</a:t>
            </a:r>
            <a:endParaRPr b="1" i="0" sz="1300" u="none" cap="none" strike="noStrike">
              <a:solidFill>
                <a:srgbClr val="000000"/>
              </a:solidFill>
            </a:endParaRPr>
          </a:p>
        </p:txBody>
      </p:sp>
      <p:cxnSp>
        <p:nvCxnSpPr>
          <p:cNvPr id="76" name="Google Shape;76;p16"/>
          <p:cNvCxnSpPr>
            <a:stCxn id="73" idx="3"/>
            <a:endCxn id="75" idx="1"/>
          </p:cNvCxnSpPr>
          <p:nvPr/>
        </p:nvCxnSpPr>
        <p:spPr>
          <a:xfrm flipH="1" rot="10800000">
            <a:off x="1097373" y="2397075"/>
            <a:ext cx="462900" cy="2100"/>
          </a:xfrm>
          <a:prstGeom prst="straightConnector1">
            <a:avLst/>
          </a:prstGeom>
          <a:noFill/>
          <a:ln cap="flat" cmpd="sng" w="9525">
            <a:solidFill>
              <a:srgbClr val="595959"/>
            </a:solidFill>
            <a:prstDash val="solid"/>
            <a:round/>
            <a:headEnd len="sm" w="sm" type="none"/>
            <a:tailEnd len="med" w="med" type="triangle"/>
          </a:ln>
        </p:spPr>
      </p:cxnSp>
      <p:pic>
        <p:nvPicPr>
          <p:cNvPr id="77" name="Google Shape;77;p16"/>
          <p:cNvPicPr preferRelativeResize="0"/>
          <p:nvPr/>
        </p:nvPicPr>
        <p:blipFill rotWithShape="1">
          <a:blip r:embed="rId4">
            <a:alphaModFix/>
          </a:blip>
          <a:srcRect b="0" l="0" r="0" t="0"/>
          <a:stretch/>
        </p:blipFill>
        <p:spPr>
          <a:xfrm>
            <a:off x="89900" y="2308967"/>
            <a:ext cx="207827" cy="175013"/>
          </a:xfrm>
          <a:prstGeom prst="rect">
            <a:avLst/>
          </a:prstGeom>
          <a:noFill/>
          <a:ln>
            <a:noFill/>
          </a:ln>
        </p:spPr>
      </p:pic>
      <p:cxnSp>
        <p:nvCxnSpPr>
          <p:cNvPr id="78" name="Google Shape;78;p16"/>
          <p:cNvCxnSpPr>
            <a:stCxn id="77" idx="3"/>
            <a:endCxn id="73" idx="1"/>
          </p:cNvCxnSpPr>
          <p:nvPr/>
        </p:nvCxnSpPr>
        <p:spPr>
          <a:xfrm>
            <a:off x="297727" y="2396473"/>
            <a:ext cx="180900" cy="2700"/>
          </a:xfrm>
          <a:prstGeom prst="straightConnector1">
            <a:avLst/>
          </a:prstGeom>
          <a:noFill/>
          <a:ln cap="flat" cmpd="sng" w="9525">
            <a:solidFill>
              <a:srgbClr val="595959"/>
            </a:solidFill>
            <a:prstDash val="solid"/>
            <a:round/>
            <a:headEnd len="sm" w="sm" type="none"/>
            <a:tailEnd len="med" w="med" type="triangle"/>
          </a:ln>
        </p:spPr>
      </p:cxnSp>
      <p:cxnSp>
        <p:nvCxnSpPr>
          <p:cNvPr id="79" name="Google Shape;79;p16"/>
          <p:cNvCxnSpPr>
            <a:stCxn id="75" idx="3"/>
            <a:endCxn id="80" idx="1"/>
          </p:cNvCxnSpPr>
          <p:nvPr/>
        </p:nvCxnSpPr>
        <p:spPr>
          <a:xfrm>
            <a:off x="2209900" y="2396925"/>
            <a:ext cx="295500" cy="600"/>
          </a:xfrm>
          <a:prstGeom prst="straightConnector1">
            <a:avLst/>
          </a:prstGeom>
          <a:noFill/>
          <a:ln cap="flat" cmpd="sng" w="9525">
            <a:solidFill>
              <a:srgbClr val="595959"/>
            </a:solidFill>
            <a:prstDash val="solid"/>
            <a:round/>
            <a:headEnd len="sm" w="sm" type="none"/>
            <a:tailEnd len="med" w="med" type="triangle"/>
          </a:ln>
        </p:spPr>
      </p:cxnSp>
      <p:pic>
        <p:nvPicPr>
          <p:cNvPr id="81" name="Google Shape;81;p16"/>
          <p:cNvPicPr preferRelativeResize="0"/>
          <p:nvPr/>
        </p:nvPicPr>
        <p:blipFill rotWithShape="1">
          <a:blip r:embed="rId5">
            <a:alphaModFix/>
          </a:blip>
          <a:srcRect b="0" l="0" r="0" t="0"/>
          <a:stretch/>
        </p:blipFill>
        <p:spPr>
          <a:xfrm>
            <a:off x="1189437" y="2215675"/>
            <a:ext cx="175500" cy="140408"/>
          </a:xfrm>
          <a:prstGeom prst="rect">
            <a:avLst/>
          </a:prstGeom>
          <a:noFill/>
          <a:ln>
            <a:noFill/>
          </a:ln>
        </p:spPr>
      </p:pic>
      <p:sp>
        <p:nvSpPr>
          <p:cNvPr id="82" name="Google Shape;82;p16"/>
          <p:cNvSpPr/>
          <p:nvPr/>
        </p:nvSpPr>
        <p:spPr>
          <a:xfrm>
            <a:off x="5746175" y="1848525"/>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sz="1100"/>
          </a:p>
        </p:txBody>
      </p:sp>
      <p:pic>
        <p:nvPicPr>
          <p:cNvPr id="83" name="Google Shape;83;p16" title="[0,0,0,&quot;https://www.codecogs.com/eqnedit.php?latex=W_n#0&quot;]"/>
          <p:cNvPicPr preferRelativeResize="0"/>
          <p:nvPr/>
        </p:nvPicPr>
        <p:blipFill>
          <a:blip r:embed="rId6">
            <a:alphaModFix/>
          </a:blip>
          <a:stretch>
            <a:fillRect/>
          </a:stretch>
        </p:blipFill>
        <p:spPr>
          <a:xfrm>
            <a:off x="5926863" y="2262176"/>
            <a:ext cx="328625" cy="213905"/>
          </a:xfrm>
          <a:prstGeom prst="rect">
            <a:avLst/>
          </a:prstGeom>
          <a:noFill/>
          <a:ln>
            <a:noFill/>
          </a:ln>
        </p:spPr>
      </p:pic>
      <p:cxnSp>
        <p:nvCxnSpPr>
          <p:cNvPr id="84" name="Google Shape;84;p16"/>
          <p:cNvCxnSpPr>
            <a:stCxn id="82" idx="3"/>
            <a:endCxn id="85" idx="1"/>
          </p:cNvCxnSpPr>
          <p:nvPr/>
        </p:nvCxnSpPr>
        <p:spPr>
          <a:xfrm flipH="1" rot="10800000">
            <a:off x="6395675" y="2397075"/>
            <a:ext cx="554400" cy="1500"/>
          </a:xfrm>
          <a:prstGeom prst="straightConnector1">
            <a:avLst/>
          </a:prstGeom>
          <a:noFill/>
          <a:ln cap="flat" cmpd="sng" w="9525">
            <a:solidFill>
              <a:srgbClr val="595959"/>
            </a:solidFill>
            <a:prstDash val="solid"/>
            <a:round/>
            <a:headEnd len="sm" w="sm" type="none"/>
            <a:tailEnd len="med" w="med" type="triangle"/>
          </a:ln>
        </p:spPr>
      </p:cxnSp>
      <p:pic>
        <p:nvPicPr>
          <p:cNvPr id="86" name="Google Shape;86;p16" title="[0,0,0,&quot;https://www.codecogs.com/eqnedit.php?latex=y_n#0&quot;]"/>
          <p:cNvPicPr preferRelativeResize="0"/>
          <p:nvPr/>
        </p:nvPicPr>
        <p:blipFill>
          <a:blip r:embed="rId7">
            <a:alphaModFix/>
          </a:blip>
          <a:stretch>
            <a:fillRect/>
          </a:stretch>
        </p:blipFill>
        <p:spPr>
          <a:xfrm>
            <a:off x="6529018" y="2160159"/>
            <a:ext cx="207825" cy="155890"/>
          </a:xfrm>
          <a:prstGeom prst="rect">
            <a:avLst/>
          </a:prstGeom>
          <a:noFill/>
          <a:ln>
            <a:noFill/>
          </a:ln>
        </p:spPr>
      </p:pic>
      <p:sp>
        <p:nvSpPr>
          <p:cNvPr id="85" name="Google Shape;85;p16"/>
          <p:cNvSpPr/>
          <p:nvPr/>
        </p:nvSpPr>
        <p:spPr>
          <a:xfrm>
            <a:off x="6950199" y="1846875"/>
            <a:ext cx="7173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lang="en" sz="1100"/>
              <a:t>Loss function (</a:t>
            </a:r>
            <a:r>
              <a:rPr i="1" lang="en" sz="1100"/>
              <a:t>L</a:t>
            </a:r>
            <a:r>
              <a:rPr lang="en" sz="1100"/>
              <a:t>)</a:t>
            </a:r>
            <a:endParaRPr sz="1100"/>
          </a:p>
        </p:txBody>
      </p:sp>
      <p:cxnSp>
        <p:nvCxnSpPr>
          <p:cNvPr id="87" name="Google Shape;87;p16"/>
          <p:cNvCxnSpPr>
            <a:endCxn id="85" idx="0"/>
          </p:cNvCxnSpPr>
          <p:nvPr/>
        </p:nvCxnSpPr>
        <p:spPr>
          <a:xfrm>
            <a:off x="7308849" y="1531875"/>
            <a:ext cx="0" cy="315000"/>
          </a:xfrm>
          <a:prstGeom prst="straightConnector1">
            <a:avLst/>
          </a:prstGeom>
          <a:noFill/>
          <a:ln cap="flat" cmpd="sng" w="9525">
            <a:solidFill>
              <a:srgbClr val="595959"/>
            </a:solidFill>
            <a:prstDash val="solid"/>
            <a:round/>
            <a:headEnd len="sm" w="sm" type="none"/>
            <a:tailEnd len="med" w="med" type="triangle"/>
          </a:ln>
        </p:spPr>
      </p:cxnSp>
      <p:sp>
        <p:nvSpPr>
          <p:cNvPr id="88" name="Google Shape;88;p16"/>
          <p:cNvSpPr txBox="1"/>
          <p:nvPr/>
        </p:nvSpPr>
        <p:spPr>
          <a:xfrm>
            <a:off x="7012300" y="1224050"/>
            <a:ext cx="593100" cy="3078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1" lang="en" sz="1100"/>
              <a:t>labels</a:t>
            </a:r>
            <a:endParaRPr b="1" i="0" sz="1100" u="none" cap="none" strike="noStrike">
              <a:solidFill>
                <a:srgbClr val="000000"/>
              </a:solidFill>
              <a:latin typeface="Arial"/>
              <a:ea typeface="Arial"/>
              <a:cs typeface="Arial"/>
              <a:sym typeface="Arial"/>
            </a:endParaRPr>
          </a:p>
        </p:txBody>
      </p:sp>
      <p:cxnSp>
        <p:nvCxnSpPr>
          <p:cNvPr id="89" name="Google Shape;89;p16"/>
          <p:cNvCxnSpPr/>
          <p:nvPr/>
        </p:nvCxnSpPr>
        <p:spPr>
          <a:xfrm flipH="1" rot="10800000">
            <a:off x="7667506" y="2365063"/>
            <a:ext cx="309300" cy="9000"/>
          </a:xfrm>
          <a:prstGeom prst="straightConnector1">
            <a:avLst/>
          </a:prstGeom>
          <a:noFill/>
          <a:ln cap="flat" cmpd="sng" w="9525">
            <a:solidFill>
              <a:srgbClr val="595959"/>
            </a:solidFill>
            <a:prstDash val="solid"/>
            <a:round/>
            <a:headEnd len="sm" w="sm" type="none"/>
            <a:tailEnd len="med" w="med" type="triangle"/>
          </a:ln>
        </p:spPr>
      </p:cxnSp>
      <p:sp>
        <p:nvSpPr>
          <p:cNvPr id="90" name="Google Shape;90;p16"/>
          <p:cNvSpPr txBox="1"/>
          <p:nvPr/>
        </p:nvSpPr>
        <p:spPr>
          <a:xfrm>
            <a:off x="7976800" y="2215675"/>
            <a:ext cx="951300" cy="4773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100"/>
              <a:buFont typeface="Arial"/>
              <a:buNone/>
            </a:pPr>
            <a:r>
              <a:rPr b="1" lang="en" sz="1100"/>
              <a:t>Error </a:t>
            </a:r>
            <a:endParaRPr b="1" sz="1100"/>
          </a:p>
          <a:p>
            <a:pPr indent="0" lvl="0" marL="0" marR="0" rtl="0" algn="ctr">
              <a:lnSpc>
                <a:spcPct val="100000"/>
              </a:lnSpc>
              <a:spcBef>
                <a:spcPts val="0"/>
              </a:spcBef>
              <a:spcAft>
                <a:spcPts val="0"/>
              </a:spcAft>
              <a:buClr>
                <a:srgbClr val="000000"/>
              </a:buClr>
              <a:buSzPts val="1100"/>
              <a:buFont typeface="Arial"/>
              <a:buNone/>
            </a:pPr>
            <a:r>
              <a:rPr b="1" i="1" lang="en" sz="1100"/>
              <a:t>e = L(y)</a:t>
            </a:r>
            <a:endParaRPr b="1" i="1" sz="1100"/>
          </a:p>
        </p:txBody>
      </p:sp>
      <p:sp>
        <p:nvSpPr>
          <p:cNvPr id="91" name="Google Shape;91;p16"/>
          <p:cNvSpPr/>
          <p:nvPr/>
        </p:nvSpPr>
        <p:spPr>
          <a:xfrm>
            <a:off x="4870725" y="988238"/>
            <a:ext cx="1244400" cy="23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txBox="1"/>
          <p:nvPr/>
        </p:nvSpPr>
        <p:spPr>
          <a:xfrm>
            <a:off x="4433221" y="641000"/>
            <a:ext cx="2346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Forward Pass or Inference</a:t>
            </a:r>
            <a:endParaRPr>
              <a:solidFill>
                <a:schemeClr val="dk2"/>
              </a:solidFill>
            </a:endParaRPr>
          </a:p>
        </p:txBody>
      </p:sp>
      <p:cxnSp>
        <p:nvCxnSpPr>
          <p:cNvPr id="93" name="Google Shape;93;p16"/>
          <p:cNvCxnSpPr>
            <a:stCxn id="90" idx="2"/>
            <a:endCxn id="82" idx="2"/>
          </p:cNvCxnSpPr>
          <p:nvPr/>
        </p:nvCxnSpPr>
        <p:spPr>
          <a:xfrm rot="5400000">
            <a:off x="7133950" y="1630075"/>
            <a:ext cx="255600" cy="2381400"/>
          </a:xfrm>
          <a:prstGeom prst="bentConnector3">
            <a:avLst>
              <a:gd fmla="val 248367" name="adj1"/>
            </a:avLst>
          </a:prstGeom>
          <a:noFill/>
          <a:ln cap="flat" cmpd="sng" w="9525">
            <a:solidFill>
              <a:schemeClr val="dk2"/>
            </a:solidFill>
            <a:prstDash val="solid"/>
            <a:round/>
            <a:headEnd len="med" w="med" type="none"/>
            <a:tailEnd len="med" w="med" type="triangle"/>
          </a:ln>
        </p:spPr>
      </p:cxnSp>
      <p:cxnSp>
        <p:nvCxnSpPr>
          <p:cNvPr id="94" name="Google Shape;94;p16"/>
          <p:cNvCxnSpPr>
            <a:stCxn id="90" idx="2"/>
            <a:endCxn id="73" idx="2"/>
          </p:cNvCxnSpPr>
          <p:nvPr/>
        </p:nvCxnSpPr>
        <p:spPr>
          <a:xfrm rot="5400000">
            <a:off x="4492150" y="-1011125"/>
            <a:ext cx="256200" cy="7664400"/>
          </a:xfrm>
          <a:prstGeom prst="bentConnector3">
            <a:avLst>
              <a:gd fmla="val 247785" name="adj1"/>
            </a:avLst>
          </a:prstGeom>
          <a:noFill/>
          <a:ln cap="flat" cmpd="sng" w="9525">
            <a:solidFill>
              <a:schemeClr val="dk2"/>
            </a:solidFill>
            <a:prstDash val="solid"/>
            <a:round/>
            <a:headEnd len="med" w="med" type="none"/>
            <a:tailEnd len="med" w="med" type="triangle"/>
          </a:ln>
        </p:spPr>
      </p:cxnSp>
      <p:sp>
        <p:nvSpPr>
          <p:cNvPr id="95" name="Google Shape;95;p16"/>
          <p:cNvSpPr txBox="1"/>
          <p:nvPr/>
        </p:nvSpPr>
        <p:spPr>
          <a:xfrm>
            <a:off x="7259824" y="3436200"/>
            <a:ext cx="1512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Backward pass</a:t>
            </a:r>
            <a:endParaRPr>
              <a:solidFill>
                <a:schemeClr val="dk2"/>
              </a:solidFill>
            </a:endParaRPr>
          </a:p>
          <a:p>
            <a:pPr indent="0" lvl="0" marL="0" rtl="0" algn="ctr">
              <a:spcBef>
                <a:spcPts val="0"/>
              </a:spcBef>
              <a:spcAft>
                <a:spcPts val="0"/>
              </a:spcAft>
              <a:buNone/>
            </a:pPr>
            <a:r>
              <a:rPr lang="en">
                <a:solidFill>
                  <a:schemeClr val="dk2"/>
                </a:solidFill>
              </a:rPr>
              <a:t>(Training)</a:t>
            </a:r>
            <a:endParaRPr>
              <a:solidFill>
                <a:schemeClr val="dk2"/>
              </a:solidFill>
            </a:endParaRPr>
          </a:p>
        </p:txBody>
      </p:sp>
      <p:cxnSp>
        <p:nvCxnSpPr>
          <p:cNvPr id="96" name="Google Shape;96;p16"/>
          <p:cNvCxnSpPr/>
          <p:nvPr/>
        </p:nvCxnSpPr>
        <p:spPr>
          <a:xfrm>
            <a:off x="1348013" y="1635250"/>
            <a:ext cx="0" cy="1765800"/>
          </a:xfrm>
          <a:prstGeom prst="straightConnector1">
            <a:avLst/>
          </a:prstGeom>
          <a:noFill/>
          <a:ln cap="flat" cmpd="sng" w="9525">
            <a:solidFill>
              <a:schemeClr val="dk2"/>
            </a:solidFill>
            <a:prstDash val="dash"/>
            <a:round/>
            <a:headEnd len="med" w="med" type="none"/>
            <a:tailEnd len="med" w="med" type="none"/>
          </a:ln>
        </p:spPr>
      </p:cxnSp>
      <p:cxnSp>
        <p:nvCxnSpPr>
          <p:cNvPr id="97" name="Google Shape;97;p16"/>
          <p:cNvCxnSpPr/>
          <p:nvPr/>
        </p:nvCxnSpPr>
        <p:spPr>
          <a:xfrm>
            <a:off x="2557163" y="1635250"/>
            <a:ext cx="0" cy="1765800"/>
          </a:xfrm>
          <a:prstGeom prst="straightConnector1">
            <a:avLst/>
          </a:prstGeom>
          <a:noFill/>
          <a:ln cap="flat" cmpd="sng" w="9525">
            <a:solidFill>
              <a:schemeClr val="dk2"/>
            </a:solidFill>
            <a:prstDash val="dash"/>
            <a:round/>
            <a:headEnd len="med" w="med" type="none"/>
            <a:tailEnd len="med" w="med" type="none"/>
          </a:ln>
        </p:spPr>
      </p:cxnSp>
      <p:cxnSp>
        <p:nvCxnSpPr>
          <p:cNvPr id="98" name="Google Shape;98;p16"/>
          <p:cNvCxnSpPr/>
          <p:nvPr/>
        </p:nvCxnSpPr>
        <p:spPr>
          <a:xfrm>
            <a:off x="6778225" y="1483750"/>
            <a:ext cx="0" cy="1917300"/>
          </a:xfrm>
          <a:prstGeom prst="straightConnector1">
            <a:avLst/>
          </a:prstGeom>
          <a:noFill/>
          <a:ln cap="flat" cmpd="sng" w="9525">
            <a:solidFill>
              <a:schemeClr val="dk2"/>
            </a:solidFill>
            <a:prstDash val="dash"/>
            <a:round/>
            <a:headEnd len="med" w="med" type="none"/>
            <a:tailEnd len="med" w="med" type="none"/>
          </a:ln>
        </p:spPr>
      </p:cxnSp>
      <p:pic>
        <p:nvPicPr>
          <p:cNvPr descr="{&quot;code&quot;:&quot;$$\\frac{\\partial e}{\\partial y_{n}}$$&quot;,&quot;backgroundColor&quot;:&quot;#FFFFFF&quot;,&quot;font&quot;:{&quot;color&quot;:&quot;#595959&quot;,&quot;family&quot;:&quot;Arial&quot;,&quot;size&quot;:11},&quot;type&quot;:&quot;$$&quot;,&quot;id&quot;:&quot;25&quot;,&quot;backgroundColorModified&quot;:false,&quot;aid&quot;:null,&quot;ts&quot;:1755260874233,&quot;cs&quot;:&quot;mM/gRArJMHO2CaKHNxQiPw==&quot;,&quot;size&quot;:{&quot;width&quot;:31.000010498687704,&quot;height&quot;:40.086220472440964}}" id="99" name="Google Shape;99;p16"/>
          <p:cNvPicPr preferRelativeResize="0"/>
          <p:nvPr/>
        </p:nvPicPr>
        <p:blipFill>
          <a:blip r:embed="rId8">
            <a:alphaModFix/>
          </a:blip>
          <a:stretch>
            <a:fillRect/>
          </a:stretch>
        </p:blipFill>
        <p:spPr>
          <a:xfrm>
            <a:off x="6694688" y="3434988"/>
            <a:ext cx="295275" cy="381821"/>
          </a:xfrm>
          <a:prstGeom prst="rect">
            <a:avLst/>
          </a:prstGeom>
          <a:noFill/>
          <a:ln>
            <a:noFill/>
          </a:ln>
        </p:spPr>
      </p:pic>
      <p:pic>
        <p:nvPicPr>
          <p:cNvPr descr="{&quot;code&quot;:&quot;$$a_{n-1}$$&quot;,&quot;font&quot;:{&quot;color&quot;:&quot;#000000&quot;,&quot;size&quot;:11,&quot;family&quot;:&quot;Arial&quot;},&quot;type&quot;:&quot;$$&quot;,&quot;backgroundColorModified&quot;:false,&quot;backgroundColor&quot;:&quot;#FFFFFF&quot;,&quot;aid&quot;:null,&quot;id&quot;:&quot;26&quot;,&quot;ts&quot;:1755261393563,&quot;cs&quot;:&quot;HzJsxHpH17AsiCzjvpJ2KQ==&quot;,&quot;size&quot;:{&quot;width&quot;:31.166666666666668,&quot;height&quot;:10.333333333333334}}" id="100" name="Google Shape;100;p16"/>
          <p:cNvPicPr preferRelativeResize="0"/>
          <p:nvPr/>
        </p:nvPicPr>
        <p:blipFill>
          <a:blip r:embed="rId9">
            <a:alphaModFix/>
          </a:blip>
          <a:stretch>
            <a:fillRect/>
          </a:stretch>
        </p:blipFill>
        <p:spPr>
          <a:xfrm>
            <a:off x="5140551" y="2236666"/>
            <a:ext cx="296863" cy="98425"/>
          </a:xfrm>
          <a:prstGeom prst="rect">
            <a:avLst/>
          </a:prstGeom>
          <a:noFill/>
          <a:ln>
            <a:noFill/>
          </a:ln>
        </p:spPr>
      </p:pic>
      <p:pic>
        <p:nvPicPr>
          <p:cNvPr descr="{&quot;aid&quot;:null,&quot;font&quot;:{&quot;size&quot;:7.5,&quot;family&quot;:&quot;Arial&quot;,&quot;color&quot;:&quot;#000000&quot;},&quot;code&quot;:&quot;\\begin{lalign*}\n&amp;{\\frac{\\partial e}{\\partial W_{n}}=\\frac{\\partial e}{\\partial y_{n}}a_{n-1}^{T}}\\\\\n&amp;{\\frac{\\partial e}{\\partial a_{n-1}}=W_{n}^{T}\\frac{\\partial e}{\\partial y_{n}}}\t\n\\end{lalign*}&quot;,&quot;backgroundColorModified&quot;:false,&quot;id&quot;:&quot;27&quot;,&quot;backgroundColor&quot;:&quot;#FFFFFF&quot;,&quot;type&quot;:&quot;lalign*&quot;,&quot;ts&quot;:1755261644737,&quot;cs&quot;:&quot;qq7O0He5JfU+NBxOmCTDaA==&quot;,&quot;size&quot;:{&quot;width&quot;:90.66666666666667,&quot;height&quot;:57.166666666666664}}" id="101" name="Google Shape;101;p16"/>
          <p:cNvPicPr preferRelativeResize="0"/>
          <p:nvPr/>
        </p:nvPicPr>
        <p:blipFill>
          <a:blip r:embed="rId10">
            <a:alphaModFix/>
          </a:blip>
          <a:stretch>
            <a:fillRect/>
          </a:stretch>
        </p:blipFill>
        <p:spPr>
          <a:xfrm>
            <a:off x="5680215" y="3420027"/>
            <a:ext cx="863600" cy="544513"/>
          </a:xfrm>
          <a:prstGeom prst="rect">
            <a:avLst/>
          </a:prstGeom>
          <a:noFill/>
          <a:ln>
            <a:noFill/>
          </a:ln>
        </p:spPr>
      </p:pic>
      <p:sp>
        <p:nvSpPr>
          <p:cNvPr id="102" name="Google Shape;102;p16"/>
          <p:cNvSpPr txBox="1"/>
          <p:nvPr/>
        </p:nvSpPr>
        <p:spPr>
          <a:xfrm>
            <a:off x="5685275" y="47208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Used to update the weights of this layer</a:t>
            </a:r>
            <a:endParaRPr sz="1200">
              <a:solidFill>
                <a:schemeClr val="dk2"/>
              </a:solidFill>
            </a:endParaRPr>
          </a:p>
        </p:txBody>
      </p:sp>
      <p:sp>
        <p:nvSpPr>
          <p:cNvPr id="103" name="Google Shape;103;p16"/>
          <p:cNvSpPr txBox="1"/>
          <p:nvPr/>
        </p:nvSpPr>
        <p:spPr>
          <a:xfrm>
            <a:off x="5374450" y="4126213"/>
            <a:ext cx="1044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chemeClr val="dk2"/>
                </a:solidFill>
              </a:rPr>
              <a:t>Sent back to previous layers</a:t>
            </a:r>
            <a:endParaRPr b="1" sz="900">
              <a:solidFill>
                <a:schemeClr val="dk2"/>
              </a:solidFill>
            </a:endParaRPr>
          </a:p>
        </p:txBody>
      </p:sp>
      <p:cxnSp>
        <p:nvCxnSpPr>
          <p:cNvPr id="104" name="Google Shape;104;p16"/>
          <p:cNvCxnSpPr/>
          <p:nvPr/>
        </p:nvCxnSpPr>
        <p:spPr>
          <a:xfrm rot="10800000">
            <a:off x="5983390" y="3644908"/>
            <a:ext cx="636600" cy="1120500"/>
          </a:xfrm>
          <a:prstGeom prst="straightConnector1">
            <a:avLst/>
          </a:prstGeom>
          <a:noFill/>
          <a:ln cap="flat" cmpd="sng" w="9525">
            <a:solidFill>
              <a:schemeClr val="dk2"/>
            </a:solidFill>
            <a:prstDash val="solid"/>
            <a:round/>
            <a:headEnd len="med" w="med" type="none"/>
            <a:tailEnd len="med" w="med" type="triangle"/>
          </a:ln>
        </p:spPr>
      </p:cxnSp>
      <p:sp>
        <p:nvSpPr>
          <p:cNvPr id="105" name="Google Shape;105;p16"/>
          <p:cNvSpPr txBox="1"/>
          <p:nvPr/>
        </p:nvSpPr>
        <p:spPr>
          <a:xfrm>
            <a:off x="4146863" y="3977125"/>
            <a:ext cx="1358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No parameters!</a:t>
            </a:r>
            <a:endParaRPr sz="1200">
              <a:solidFill>
                <a:schemeClr val="dk2"/>
              </a:solidFill>
            </a:endParaRPr>
          </a:p>
        </p:txBody>
      </p:sp>
      <p:pic>
        <p:nvPicPr>
          <p:cNvPr descr="{&quot;backgroundColor&quot;:&quot;#FFFFFF&quot;,&quot;type&quot;:&quot;lalign*&quot;,&quot;code&quot;:&quot;\\begin{lalign*}\n&amp;{\\frac{\\partial e}{\\partial W_{1}}=\\frac{\\partial e}{\\partial y_{1}}x^{T}}\\\\\n&amp;{\\frac{\\partial e}{\\partial x}=W_{1}^{T}\\frac{\\partial e}{\\partial y_{1}}}\t\n\\end{lalign*}&quot;,&quot;id&quot;:&quot;27&quot;,&quot;backgroundColorModified&quot;:false,&quot;font&quot;:{&quot;color&quot;:&quot;#000000&quot;,&quot;size&quot;:8.5,&quot;family&quot;:&quot;Arial&quot;},&quot;aid&quot;:null,&quot;ts&quot;:1755261167087,&quot;cs&quot;:&quot;bqoQxo8+zRvFCfNJ8IIztQ==&quot;,&quot;size&quot;:{&quot;width&quot;:89.26368923884513,&quot;height&quot;:65.39639265091861}}" id="106" name="Google Shape;106;p16"/>
          <p:cNvPicPr preferRelativeResize="0"/>
          <p:nvPr/>
        </p:nvPicPr>
        <p:blipFill>
          <a:blip r:embed="rId11">
            <a:alphaModFix/>
          </a:blip>
          <a:stretch>
            <a:fillRect/>
          </a:stretch>
        </p:blipFill>
        <p:spPr>
          <a:xfrm>
            <a:off x="403201" y="3432552"/>
            <a:ext cx="850237" cy="622901"/>
          </a:xfrm>
          <a:prstGeom prst="rect">
            <a:avLst/>
          </a:prstGeom>
          <a:noFill/>
          <a:ln>
            <a:noFill/>
          </a:ln>
        </p:spPr>
      </p:pic>
      <p:pic>
        <p:nvPicPr>
          <p:cNvPr descr="{&quot;id&quot;:&quot;25&quot;,&quot;backgroundColorModified&quot;:false,&quot;aid&quot;:null,&quot;font&quot;:{&quot;family&quot;:&quot;Arial&quot;,&quot;size&quot;:11.5,&quot;color&quot;:&quot;#595959&quot;},&quot;type&quot;:&quot;$&quot;,&quot;backgroundColor&quot;:&quot;#FFFFFF&quot;,&quot;code&quot;:&quot;$y_{1\\,}=W_{1\\,}x$&quot;,&quot;ts&quot;:1755262444592,&quot;cs&quot;:&quot;uaPKqCdFjiyWhM02w0onvA==&quot;,&quot;size&quot;:{&quot;width&quot;:82.25147716535433,&quot;height&quot;:16.36744015748032}}" id="107" name="Google Shape;107;p16"/>
          <p:cNvPicPr preferRelativeResize="0"/>
          <p:nvPr/>
        </p:nvPicPr>
        <p:blipFill>
          <a:blip r:embed="rId12">
            <a:alphaModFix/>
          </a:blip>
          <a:stretch>
            <a:fillRect/>
          </a:stretch>
        </p:blipFill>
        <p:spPr>
          <a:xfrm>
            <a:off x="327498" y="1435251"/>
            <a:ext cx="783445" cy="155900"/>
          </a:xfrm>
          <a:prstGeom prst="rect">
            <a:avLst/>
          </a:prstGeom>
          <a:noFill/>
          <a:ln>
            <a:noFill/>
          </a:ln>
        </p:spPr>
      </p:pic>
      <p:pic>
        <p:nvPicPr>
          <p:cNvPr descr="{&quot;backgroundColor&quot;:&quot;#FFFFFF&quot;,&quot;type&quot;:&quot;$&quot;,&quot;backgroundColorModified&quot;:false,&quot;code&quot;:&quot;$y_{n}=W_{n\\,}a_{n-1}$&quot;,&quot;aid&quot;:null,&quot;id&quot;:&quot;25&quot;,&quot;font&quot;:{&quot;family&quot;:&quot;Arial&quot;,&quot;size&quot;:11,&quot;color&quot;:&quot;#595959&quot;},&quot;ts&quot;:1755261556225,&quot;cs&quot;:&quot;aGfG0ftQtgykb5fhRi5Gvg==&quot;,&quot;size&quot;:{&quot;width&quot;:100.25196587926513,&quot;height&quot;:15.472927559055123}}" id="108" name="Google Shape;108;p16"/>
          <p:cNvPicPr preferRelativeResize="0"/>
          <p:nvPr/>
        </p:nvPicPr>
        <p:blipFill>
          <a:blip r:embed="rId13">
            <a:alphaModFix/>
          </a:blip>
          <a:stretch>
            <a:fillRect/>
          </a:stretch>
        </p:blipFill>
        <p:spPr>
          <a:xfrm>
            <a:off x="5598890" y="1424678"/>
            <a:ext cx="954900" cy="147380"/>
          </a:xfrm>
          <a:prstGeom prst="rect">
            <a:avLst/>
          </a:prstGeom>
          <a:noFill/>
          <a:ln>
            <a:noFill/>
          </a:ln>
        </p:spPr>
      </p:pic>
      <p:sp>
        <p:nvSpPr>
          <p:cNvPr id="109" name="Google Shape;109;p16"/>
          <p:cNvSpPr txBox="1"/>
          <p:nvPr/>
        </p:nvSpPr>
        <p:spPr>
          <a:xfrm>
            <a:off x="6629425" y="4065050"/>
            <a:ext cx="2109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Notice we need the output of the previous layer in the backward pass!</a:t>
            </a:r>
            <a:endParaRPr sz="900">
              <a:solidFill>
                <a:schemeClr val="dk2"/>
              </a:solidFill>
            </a:endParaRPr>
          </a:p>
        </p:txBody>
      </p:sp>
      <p:cxnSp>
        <p:nvCxnSpPr>
          <p:cNvPr id="110" name="Google Shape;110;p16"/>
          <p:cNvCxnSpPr>
            <a:endCxn id="101" idx="3"/>
          </p:cNvCxnSpPr>
          <p:nvPr/>
        </p:nvCxnSpPr>
        <p:spPr>
          <a:xfrm rot="10800000">
            <a:off x="6543815" y="3692283"/>
            <a:ext cx="286200" cy="437700"/>
          </a:xfrm>
          <a:prstGeom prst="straightConnector1">
            <a:avLst/>
          </a:prstGeom>
          <a:noFill/>
          <a:ln cap="flat" cmpd="sng" w="9525">
            <a:solidFill>
              <a:schemeClr val="dk2"/>
            </a:solidFill>
            <a:prstDash val="solid"/>
            <a:round/>
            <a:headEnd len="med" w="med" type="none"/>
            <a:tailEnd len="med" w="med" type="triangle"/>
          </a:ln>
        </p:spPr>
      </p:cxnSp>
      <p:sp>
        <p:nvSpPr>
          <p:cNvPr id="111" name="Google Shape;111;p16"/>
          <p:cNvSpPr txBox="1"/>
          <p:nvPr>
            <p:ph type="ctrTitle"/>
          </p:nvPr>
        </p:nvSpPr>
        <p:spPr>
          <a:xfrm>
            <a:off x="-41050" y="234250"/>
            <a:ext cx="44073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Structure of a neural network</a:t>
            </a:r>
            <a:endParaRPr sz="2480"/>
          </a:p>
        </p:txBody>
      </p:sp>
      <p:sp>
        <p:nvSpPr>
          <p:cNvPr id="112" name="Google Shape;112;p16"/>
          <p:cNvSpPr/>
          <p:nvPr/>
        </p:nvSpPr>
        <p:spPr>
          <a:xfrm rot="10800000">
            <a:off x="7433725" y="3349675"/>
            <a:ext cx="954900" cy="171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quot;backgroundColorModified&quot;:false,&quot;id&quot;:&quot;26&quot;,&quot;code&quot;:&quot;$$a_{n-2}$$&quot;,&quot;type&quot;:&quot;$$&quot;,&quot;backgroundColor&quot;:&quot;#FFFFFF&quot;,&quot;aid&quot;:null,&quot;font&quot;:{&quot;color&quot;:&quot;#000000&quot;,&quot;family&quot;:&quot;Arial&quot;,&quot;size&quot;:11},&quot;ts&quot;:1755261284641,&quot;cs&quot;:&quot;NNWgOZ3nzgXb/13j0nQWPQ==&quot;,&quot;size&quot;:{&quot;width&quot;:31.5,&quot;height&quot;:10.333333333333334}}" id="113" name="Google Shape;113;p16"/>
          <p:cNvPicPr preferRelativeResize="0"/>
          <p:nvPr/>
        </p:nvPicPr>
        <p:blipFill>
          <a:blip r:embed="rId14">
            <a:alphaModFix/>
          </a:blip>
          <a:stretch>
            <a:fillRect/>
          </a:stretch>
        </p:blipFill>
        <p:spPr>
          <a:xfrm>
            <a:off x="2816620" y="2215659"/>
            <a:ext cx="300038" cy="98425"/>
          </a:xfrm>
          <a:prstGeom prst="rect">
            <a:avLst/>
          </a:prstGeom>
          <a:noFill/>
          <a:ln>
            <a:noFill/>
          </a:ln>
        </p:spPr>
      </p:pic>
      <p:grpSp>
        <p:nvGrpSpPr>
          <p:cNvPr id="114" name="Google Shape;114;p16"/>
          <p:cNvGrpSpPr/>
          <p:nvPr/>
        </p:nvGrpSpPr>
        <p:grpSpPr>
          <a:xfrm>
            <a:off x="2961525" y="1846425"/>
            <a:ext cx="1471800" cy="1100100"/>
            <a:chOff x="3578650" y="1489350"/>
            <a:chExt cx="1471800" cy="1100100"/>
          </a:xfrm>
        </p:grpSpPr>
        <p:sp>
          <p:nvSpPr>
            <p:cNvPr id="115" name="Google Shape;115;p16"/>
            <p:cNvSpPr txBox="1"/>
            <p:nvPr/>
          </p:nvSpPr>
          <p:spPr>
            <a:xfrm>
              <a:off x="3941100" y="1808550"/>
              <a:ext cx="34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
              </a:r>
              <a:endParaRPr sz="1800">
                <a:solidFill>
                  <a:schemeClr val="dk2"/>
                </a:solidFill>
              </a:endParaRPr>
            </a:p>
          </p:txBody>
        </p:sp>
        <p:cxnSp>
          <p:nvCxnSpPr>
            <p:cNvPr id="116" name="Google Shape;116;p16"/>
            <p:cNvCxnSpPr>
              <a:stCxn id="117" idx="3"/>
              <a:endCxn id="118" idx="1"/>
            </p:cNvCxnSpPr>
            <p:nvPr/>
          </p:nvCxnSpPr>
          <p:spPr>
            <a:xfrm>
              <a:off x="4372450" y="2039400"/>
              <a:ext cx="678000" cy="0"/>
            </a:xfrm>
            <a:prstGeom prst="straightConnector1">
              <a:avLst/>
            </a:prstGeom>
            <a:noFill/>
            <a:ln cap="flat" cmpd="sng" w="9525">
              <a:solidFill>
                <a:srgbClr val="595959"/>
              </a:solidFill>
              <a:prstDash val="solid"/>
              <a:round/>
              <a:headEnd len="sm" w="sm" type="none"/>
              <a:tailEnd len="med" w="med" type="triangle"/>
            </a:ln>
          </p:spPr>
        </p:cxnSp>
        <p:sp>
          <p:nvSpPr>
            <p:cNvPr id="117" name="Google Shape;117;p16"/>
            <p:cNvSpPr/>
            <p:nvPr/>
          </p:nvSpPr>
          <p:spPr>
            <a:xfrm>
              <a:off x="3779350" y="1489350"/>
              <a:ext cx="5931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sz="1100"/>
            </a:p>
          </p:txBody>
        </p:sp>
        <p:pic>
          <p:nvPicPr>
            <p:cNvPr descr="{&quot;code&quot;:&quot;$$W_{n-1}$$&quot;,&quot;aid&quot;:null,&quot;id&quot;:&quot;3&quot;,&quot;backgroundColorModified&quot;:false,&quot;type&quot;:&quot;$$&quot;,&quot;backgroundColor&quot;:&quot;#FFFFFF&quot;,&quot;font&quot;:{&quot;color&quot;:&quot;#000000&quot;,&quot;family&quot;:&quot;Arial&quot;,&quot;size&quot;:12},&quot;ts&quot;:1755260290480,&quot;cs&quot;:&quot;Ed+JPRiox70jOjZAtPdSEw==&quot;,&quot;size&quot;:{&quot;width&quot;:41.5,&quot;height&quot;:15.833333333333334}}" id="119" name="Google Shape;119;p16"/>
            <p:cNvPicPr preferRelativeResize="0"/>
            <p:nvPr/>
          </p:nvPicPr>
          <p:blipFill>
            <a:blip r:embed="rId15">
              <a:alphaModFix/>
            </a:blip>
            <a:stretch>
              <a:fillRect/>
            </a:stretch>
          </p:blipFill>
          <p:spPr>
            <a:xfrm>
              <a:off x="3885575" y="1963988"/>
              <a:ext cx="395288" cy="150813"/>
            </a:xfrm>
            <a:prstGeom prst="rect">
              <a:avLst/>
            </a:prstGeom>
            <a:noFill/>
            <a:ln>
              <a:noFill/>
            </a:ln>
          </p:spPr>
        </p:pic>
        <p:cxnSp>
          <p:nvCxnSpPr>
            <p:cNvPr id="120" name="Google Shape;120;p16"/>
            <p:cNvCxnSpPr/>
            <p:nvPr/>
          </p:nvCxnSpPr>
          <p:spPr>
            <a:xfrm>
              <a:off x="3578650" y="2039400"/>
              <a:ext cx="175500" cy="0"/>
            </a:xfrm>
            <a:prstGeom prst="straightConnector1">
              <a:avLst/>
            </a:prstGeom>
            <a:noFill/>
            <a:ln cap="flat" cmpd="sng" w="9525">
              <a:solidFill>
                <a:srgbClr val="595959"/>
              </a:solidFill>
              <a:prstDash val="solid"/>
              <a:round/>
              <a:headEnd len="sm" w="sm" type="none"/>
              <a:tailEnd len="med" w="med" type="triangle"/>
            </a:ln>
          </p:spPr>
        </p:cxnSp>
      </p:grpSp>
      <p:grpSp>
        <p:nvGrpSpPr>
          <p:cNvPr id="121" name="Google Shape;121;p16"/>
          <p:cNvGrpSpPr/>
          <p:nvPr/>
        </p:nvGrpSpPr>
        <p:grpSpPr>
          <a:xfrm>
            <a:off x="2505524" y="2197402"/>
            <a:ext cx="395001" cy="400202"/>
            <a:chOff x="4034225" y="3362525"/>
            <a:chExt cx="455700" cy="461700"/>
          </a:xfrm>
        </p:grpSpPr>
        <p:pic>
          <p:nvPicPr>
            <p:cNvPr descr="{&quot;aid&quot;:null,&quot;code&quot;:&quot;$$...$$&quot;,&quot;font&quot;:{&quot;family&quot;:&quot;Arial&quot;,&quot;size&quot;:10.5,&quot;color&quot;:&quot;#000000&quot;},&quot;backgroundColor&quot;:&quot;#FFFFFF&quot;,&quot;backgroundColorModified&quot;:false,&quot;type&quot;:&quot;$$&quot;,&quot;id&quot;:&quot;4&quot;,&quot;ts&quot;:1755260511281,&quot;cs&quot;:&quot;ytP0/aVkpBm2pk2P7+sS6g==&quot;,&quot;size&quot;:{&quot;width&quot;:17.5,&quot;height&quot;:2.1666666666666665}}" id="122" name="Google Shape;122;p16"/>
            <p:cNvPicPr preferRelativeResize="0"/>
            <p:nvPr/>
          </p:nvPicPr>
          <p:blipFill>
            <a:blip r:embed="rId16">
              <a:alphaModFix/>
            </a:blip>
            <a:stretch>
              <a:fillRect/>
            </a:stretch>
          </p:blipFill>
          <p:spPr>
            <a:xfrm>
              <a:off x="4207300" y="3583063"/>
              <a:ext cx="166688" cy="20638"/>
            </a:xfrm>
            <a:prstGeom prst="rect">
              <a:avLst/>
            </a:prstGeom>
            <a:noFill/>
            <a:ln>
              <a:noFill/>
            </a:ln>
          </p:spPr>
        </p:pic>
        <p:sp>
          <p:nvSpPr>
            <p:cNvPr id="80" name="Google Shape;80;p16"/>
            <p:cNvSpPr txBox="1"/>
            <p:nvPr/>
          </p:nvSpPr>
          <p:spPr>
            <a:xfrm>
              <a:off x="4034225" y="3362525"/>
              <a:ext cx="455700" cy="461700"/>
            </a:xfrm>
            <a:prstGeom prst="rect">
              <a:avLst/>
            </a:prstGeom>
            <a:noFill/>
            <a:ln>
              <a:noFill/>
            </a:ln>
          </p:spPr>
          <p:txBody>
            <a:bodyPr anchorCtr="0" anchor="t" bIns="79250" lIns="79250" spcFirstLastPara="1" rIns="79250" wrap="square" tIns="79250">
              <a:spAutoFit/>
            </a:bodyPr>
            <a:lstStyle/>
            <a:p>
              <a:pPr indent="0" lvl="0" marL="0" rtl="0" algn="l">
                <a:spcBef>
                  <a:spcPts val="0"/>
                </a:spcBef>
                <a:spcAft>
                  <a:spcPts val="0"/>
                </a:spcAft>
                <a:buNone/>
              </a:pPr>
              <a:r>
                <a:t/>
              </a:r>
              <a:endParaRPr sz="1560">
                <a:solidFill>
                  <a:schemeClr val="dk2"/>
                </a:solidFill>
              </a:endParaRPr>
            </a:p>
          </p:txBody>
        </p:sp>
      </p:grpSp>
      <p:sp>
        <p:nvSpPr>
          <p:cNvPr id="118" name="Google Shape;118;p16"/>
          <p:cNvSpPr/>
          <p:nvPr/>
        </p:nvSpPr>
        <p:spPr>
          <a:xfrm>
            <a:off x="4433237" y="1846425"/>
            <a:ext cx="6495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b="1" lang="en" sz="1300"/>
              <a:t>ReLU</a:t>
            </a:r>
            <a:endParaRPr b="1" i="0" sz="1300" u="none" cap="none" strike="noStrike">
              <a:solidFill>
                <a:srgbClr val="000000"/>
              </a:solidFill>
            </a:endParaRPr>
          </a:p>
        </p:txBody>
      </p:sp>
      <p:cxnSp>
        <p:nvCxnSpPr>
          <p:cNvPr id="123" name="Google Shape;123;p16"/>
          <p:cNvCxnSpPr>
            <a:stCxn id="118" idx="3"/>
            <a:endCxn id="82" idx="1"/>
          </p:cNvCxnSpPr>
          <p:nvPr/>
        </p:nvCxnSpPr>
        <p:spPr>
          <a:xfrm>
            <a:off x="5082737" y="2396475"/>
            <a:ext cx="663300" cy="2100"/>
          </a:xfrm>
          <a:prstGeom prst="straightConnector1">
            <a:avLst/>
          </a:prstGeom>
          <a:noFill/>
          <a:ln cap="flat" cmpd="sng" w="9525">
            <a:solidFill>
              <a:srgbClr val="595959"/>
            </a:solidFill>
            <a:prstDash val="solid"/>
            <a:round/>
            <a:headEnd len="sm" w="sm" type="none"/>
            <a:tailEnd len="med" w="med" type="triangle"/>
          </a:ln>
        </p:spPr>
      </p:cxnSp>
      <p:cxnSp>
        <p:nvCxnSpPr>
          <p:cNvPr id="124" name="Google Shape;124;p16"/>
          <p:cNvCxnSpPr/>
          <p:nvPr/>
        </p:nvCxnSpPr>
        <p:spPr>
          <a:xfrm>
            <a:off x="4162550" y="1665675"/>
            <a:ext cx="0" cy="1765800"/>
          </a:xfrm>
          <a:prstGeom prst="straightConnector1">
            <a:avLst/>
          </a:prstGeom>
          <a:noFill/>
          <a:ln cap="flat" cmpd="sng" w="9525">
            <a:solidFill>
              <a:schemeClr val="dk2"/>
            </a:solidFill>
            <a:prstDash val="dash"/>
            <a:round/>
            <a:headEnd len="med" w="med" type="none"/>
            <a:tailEnd len="med" w="med" type="none"/>
          </a:ln>
        </p:spPr>
      </p:cxnSp>
      <p:cxnSp>
        <p:nvCxnSpPr>
          <p:cNvPr id="125" name="Google Shape;125;p16"/>
          <p:cNvCxnSpPr/>
          <p:nvPr/>
        </p:nvCxnSpPr>
        <p:spPr>
          <a:xfrm>
            <a:off x="5492925" y="1498450"/>
            <a:ext cx="0" cy="1938300"/>
          </a:xfrm>
          <a:prstGeom prst="straightConnector1">
            <a:avLst/>
          </a:prstGeom>
          <a:noFill/>
          <a:ln cap="flat" cmpd="sng" w="9525">
            <a:solidFill>
              <a:schemeClr val="dk2"/>
            </a:solidFill>
            <a:prstDash val="dash"/>
            <a:round/>
            <a:headEnd len="med" w="med" type="none"/>
            <a:tailEnd len="med" w="med" type="none"/>
          </a:ln>
        </p:spPr>
      </p:cxnSp>
      <p:pic>
        <p:nvPicPr>
          <p:cNvPr descr="{&quot;font&quot;:{&quot;size&quot;:12,&quot;color&quot;:&quot;#000000&quot;,&quot;family&quot;:&quot;Arial&quot;},&quot;aid&quot;:null,&quot;type&quot;:&quot;$$&quot;,&quot;id&quot;:&quot;5&quot;,&quot;backgroundColor&quot;:&quot;#FFFFFF&quot;,&quot;backgroundColorModified&quot;:false,&quot;code&quot;:&quot;$$a_{1}$$&quot;,&quot;ts&quot;:1755261078204,&quot;cs&quot;:&quot;zld6unW/0mNjLy8FO/JllA==&quot;,&quot;size&quot;:{&quot;width&quot;:15.666666666666666,&quot;height&quot;:11.166666666666666}}" id="126" name="Google Shape;126;p16"/>
          <p:cNvPicPr preferRelativeResize="0"/>
          <p:nvPr/>
        </p:nvPicPr>
        <p:blipFill>
          <a:blip r:embed="rId17">
            <a:alphaModFix/>
          </a:blip>
          <a:stretch>
            <a:fillRect/>
          </a:stretch>
        </p:blipFill>
        <p:spPr>
          <a:xfrm>
            <a:off x="2374610" y="2211675"/>
            <a:ext cx="149225" cy="106363"/>
          </a:xfrm>
          <a:prstGeom prst="rect">
            <a:avLst/>
          </a:prstGeom>
          <a:noFill/>
          <a:ln>
            <a:noFill/>
          </a:ln>
        </p:spPr>
      </p:pic>
      <p:pic>
        <p:nvPicPr>
          <p:cNvPr descr="{&quot;backgroundColorModified&quot;:false,&quot;type&quot;:&quot;$$&quot;,&quot;id&quot;:&quot;26&quot;,&quot;aid&quot;:null,&quot;code&quot;:&quot;$$y_{n-1}$$&quot;,&quot;font&quot;:{&quot;family&quot;:&quot;Arial&quot;,&quot;size&quot;:11,&quot;color&quot;:&quot;#000000&quot;},&quot;backgroundColor&quot;:&quot;#FFFFFF&quot;,&quot;ts&quot;:1755261311908,&quot;cs&quot;:&quot;7mU12nk2z+5i/2Zztp0Ypw==&quot;,&quot;size&quot;:{&quot;width&quot;:30.666666666666668,&quot;height&quot;:11.166666666666666}}" id="127" name="Google Shape;127;p16"/>
          <p:cNvPicPr preferRelativeResize="0"/>
          <p:nvPr/>
        </p:nvPicPr>
        <p:blipFill>
          <a:blip r:embed="rId18">
            <a:alphaModFix/>
          </a:blip>
          <a:stretch>
            <a:fillRect/>
          </a:stretch>
        </p:blipFill>
        <p:spPr>
          <a:xfrm>
            <a:off x="3844931" y="2232691"/>
            <a:ext cx="292100" cy="106363"/>
          </a:xfrm>
          <a:prstGeom prst="rect">
            <a:avLst/>
          </a:prstGeom>
          <a:noFill/>
          <a:ln>
            <a:noFill/>
          </a:ln>
        </p:spPr>
      </p:pic>
      <p:pic>
        <p:nvPicPr>
          <p:cNvPr descr="{&quot;id&quot;:&quot;25&quot;,&quot;backgroundColor&quot;:&quot;#FFFFFF&quot;,&quot;backgroundColorModified&quot;:false,&quot;font&quot;:{&quot;size&quot;:9,&quot;color&quot;:&quot;#595959&quot;,&quot;family&quot;:&quot;Arial&quot;},&quot;aid&quot;:null,&quot;type&quot;:&quot;$&quot;,&quot;code&quot;:&quot;$a_{n-1}=ReLU\\left(y_{n-1}\\right)$&quot;,&quot;ts&quot;:1755261538532,&quot;cs&quot;:&quot;xLiRZLUgTLIjIoEztzYX+Q==&quot;,&quot;size&quot;:{&quot;width&quot;:127.45593254593177,&quot;height&quot;:14.740153018372702}}" id="128" name="Google Shape;128;p16"/>
          <p:cNvPicPr preferRelativeResize="0"/>
          <p:nvPr/>
        </p:nvPicPr>
        <p:blipFill>
          <a:blip r:embed="rId19">
            <a:alphaModFix/>
          </a:blip>
          <a:stretch>
            <a:fillRect/>
          </a:stretch>
        </p:blipFill>
        <p:spPr>
          <a:xfrm>
            <a:off x="4160427" y="1428178"/>
            <a:ext cx="1214018" cy="140400"/>
          </a:xfrm>
          <a:prstGeom prst="rect">
            <a:avLst/>
          </a:prstGeom>
          <a:noFill/>
          <a:ln>
            <a:noFill/>
          </a:ln>
        </p:spPr>
      </p:pic>
      <p:pic>
        <p:nvPicPr>
          <p:cNvPr descr="{&quot;id&quot;:&quot;27&quot;,&quot;aid&quot;:null,&quot;font&quot;:{&quot;family&quot;:&quot;Arial&quot;,&quot;size&quot;:10,&quot;color&quot;:&quot;#000000&quot;},&quot;type&quot;:&quot;lalign*&quot;,&quot;backgroundColorModified&quot;:false,&quot;code&quot;:&quot;\\begin{lalign*}\n&amp;{\\frac{\\partial e}{\\partial y_{n-1,i}}=\\frac{\\partial e}{\\partial a_{n-1,i\\,}}\\text{if}\\;a_{n-1,i}&gt;0}\\\\\n&amp;{\\,\\,\\,\\,\\,\\,\\,\\,\\,\\,\\,\\,\\,\\,\\,\\,\\,\\,\\,\\,\\,\\,=0\\,\\;\\;\\;\\;\\;\\text{otherwise}}\\\\\n&amp;{}\t\n\\end{lalign*}&quot;,&quot;backgroundColor&quot;:&quot;#FFFFFF&quot;,&quot;ts&quot;:1757162153896,&quot;cs&quot;:&quot;B2WGJR0LD4adlzPpgXo8Fg==&quot;,&quot;size&quot;:{&quot;width&quot;:205.83333333333334,&quot;height&quot;:53.833333333333336}}" id="129" name="Google Shape;129;p16"/>
          <p:cNvPicPr preferRelativeResize="0"/>
          <p:nvPr/>
        </p:nvPicPr>
        <p:blipFill>
          <a:blip r:embed="rId20">
            <a:alphaModFix/>
          </a:blip>
          <a:stretch>
            <a:fillRect/>
          </a:stretch>
        </p:blipFill>
        <p:spPr>
          <a:xfrm>
            <a:off x="4091451" y="3481747"/>
            <a:ext cx="1512600" cy="395591"/>
          </a:xfrm>
          <a:prstGeom prst="rect">
            <a:avLst/>
          </a:prstGeom>
          <a:noFill/>
          <a:ln>
            <a:noFill/>
          </a:ln>
        </p:spPr>
      </p:pic>
      <p:pic>
        <p:nvPicPr>
          <p:cNvPr descr="{&quot;font&quot;:{&quot;color&quot;:&quot;#000000&quot;,&quot;size&quot;:7.5,&quot;family&quot;:&quot;Arial&quot;},&quot;type&quot;:&quot;lalign*&quot;,&quot;backgroundColor&quot;:&quot;#FFFFFF&quot;,&quot;backgroundColorModified&quot;:false,&quot;aid&quot;:null,&quot;id&quot;:&quot;27&quot;,&quot;code&quot;:&quot;\\begin{lalign*}\n&amp;{\\frac{\\partial e}{\\partial y_{i,1}}=\\frac{\\partial e}{\\partial a_{i,1\\,}}\\text{if}\\;a_{i,1}&gt;0}\\\\\n&amp;{\\,\\,\\,\\,\\,\\,\\,\\,\\,\\,\\,\\,\\,=0\\,\\;\\;\\;\\;\\;\\text{otherwise}}\\\\\n&amp;{}\t\n\\end{lalign*}&quot;,&quot;ts&quot;:1755262173707,&quot;cs&quot;:&quot;QhY5sxkQgr+XM7MhjN084g==&quot;,&quot;size&quot;:{&quot;width&quot;:120.16666666666667,&quot;height&quot;:40.333333333333336}}" id="130" name="Google Shape;130;p16"/>
          <p:cNvPicPr preferRelativeResize="0"/>
          <p:nvPr/>
        </p:nvPicPr>
        <p:blipFill>
          <a:blip r:embed="rId21">
            <a:alphaModFix/>
          </a:blip>
          <a:stretch>
            <a:fillRect/>
          </a:stretch>
        </p:blipFill>
        <p:spPr>
          <a:xfrm>
            <a:off x="1364931" y="3481138"/>
            <a:ext cx="1144588" cy="384175"/>
          </a:xfrm>
          <a:prstGeom prst="rect">
            <a:avLst/>
          </a:prstGeom>
          <a:noFill/>
          <a:ln>
            <a:noFill/>
          </a:ln>
        </p:spPr>
      </p:pic>
      <p:pic>
        <p:nvPicPr>
          <p:cNvPr descr="{&quot;font&quot;:{&quot;family&quot;:&quot;Arial&quot;,&quot;color&quot;:&quot;#000000&quot;,&quot;size&quot;:7.5},&quot;aid&quot;:null,&quot;code&quot;:&quot;\\begin{lalign*}\n&amp;{\\frac{\\partial e}{\\partial W_{n-1}}=\\frac{\\partial e}{\\partial y_{n-1}}a_{n-2}^{T}}\\\\\n&amp;{\\frac{\\partial e}{\\partial a_{n-2}}=W_{n-1}^{T}\\frac{\\partial e}{\\partial y_{n-1}}}\t\n\\end{lalign*}&quot;,&quot;backgroundColor&quot;:&quot;#FFFFFF&quot;,&quot;type&quot;:&quot;lalign*&quot;,&quot;backgroundColorModified&quot;:false,&quot;id&quot;:&quot;27&quot;,&quot;ts&quot;:1755262366864,&quot;cs&quot;:&quot;EeCKrESTvLyaj759KxpxSA==&quot;,&quot;size&quot;:{&quot;width&quot;:109.66666666666667,&quot;height&quot;:57.16666666666663}}" id="131" name="Google Shape;131;p16"/>
          <p:cNvPicPr preferRelativeResize="0"/>
          <p:nvPr/>
        </p:nvPicPr>
        <p:blipFill>
          <a:blip r:embed="rId22">
            <a:alphaModFix/>
          </a:blip>
          <a:stretch>
            <a:fillRect/>
          </a:stretch>
        </p:blipFill>
        <p:spPr>
          <a:xfrm>
            <a:off x="2801752" y="3400983"/>
            <a:ext cx="1044575" cy="544513"/>
          </a:xfrm>
          <a:prstGeom prst="rect">
            <a:avLst/>
          </a:prstGeom>
          <a:noFill/>
          <a:ln>
            <a:noFill/>
          </a:ln>
        </p:spPr>
      </p:pic>
      <p:pic>
        <p:nvPicPr>
          <p:cNvPr descr="{&quot;id&quot;:&quot;25&quot;,&quot;font&quot;:{&quot;size&quot;:11,&quot;family&quot;:&quot;Arial&quot;,&quot;color&quot;:&quot;#595959&quot;},&quot;backgroundColor&quot;:&quot;#FFFFFF&quot;,&quot;code&quot;:&quot;$y_{n-1}=W_{n-1\\,}a_{n-2}$&quot;,&quot;aid&quot;:null,&quot;backgroundColorModified&quot;:false,&quot;type&quot;:&quot;$&quot;,&quot;ts&quot;:1755262414493,&quot;cs&quot;:&quot;oY8K8eAd4uw0hiF9TwkzWA==&quot;,&quot;size&quot;:{&quot;width&quot;:130.66666666666666,&quot;height&quot;:15.333333333333334}}" id="132" name="Google Shape;132;p16"/>
          <p:cNvPicPr preferRelativeResize="0"/>
          <p:nvPr/>
        </p:nvPicPr>
        <p:blipFill>
          <a:blip r:embed="rId23">
            <a:alphaModFix/>
          </a:blip>
          <a:stretch>
            <a:fillRect/>
          </a:stretch>
        </p:blipFill>
        <p:spPr>
          <a:xfrm>
            <a:off x="2679630" y="1432191"/>
            <a:ext cx="1244600" cy="146050"/>
          </a:xfrm>
          <a:prstGeom prst="rect">
            <a:avLst/>
          </a:prstGeom>
          <a:noFill/>
          <a:ln>
            <a:noFill/>
          </a:ln>
        </p:spPr>
      </p:pic>
      <p:pic>
        <p:nvPicPr>
          <p:cNvPr descr="{&quot;id&quot;:&quot;25&quot;,&quot;type&quot;:&quot;$&quot;,&quot;font&quot;:{&quot;size&quot;:9,&quot;family&quot;:&quot;Arial&quot;,&quot;color&quot;:&quot;#595959&quot;},&quot;code&quot;:&quot;$a_{1}=ReLU\\left(y_{1}\\right)$&quot;,&quot;aid&quot;:null,&quot;backgroundColorModified&quot;:false,&quot;backgroundColor&quot;:&quot;#FFFFFF&quot;,&quot;ts&quot;:1755262480461,&quot;cs&quot;:&quot;YCIacjxf7pfu10pNc9ln1A==&quot;,&quot;size&quot;:{&quot;width&quot;:94.5,&quot;height&quot;:14.166666666666666}}" id="133" name="Google Shape;133;p16"/>
          <p:cNvPicPr preferRelativeResize="0"/>
          <p:nvPr/>
        </p:nvPicPr>
        <p:blipFill>
          <a:blip r:embed="rId24">
            <a:alphaModFix/>
          </a:blip>
          <a:stretch>
            <a:fillRect/>
          </a:stretch>
        </p:blipFill>
        <p:spPr>
          <a:xfrm>
            <a:off x="1473498" y="1435253"/>
            <a:ext cx="900113" cy="134938"/>
          </a:xfrm>
          <a:prstGeom prst="rect">
            <a:avLst/>
          </a:prstGeom>
          <a:noFill/>
          <a:ln>
            <a:noFill/>
          </a:ln>
        </p:spPr>
      </p:pic>
      <p:cxnSp>
        <p:nvCxnSpPr>
          <p:cNvPr id="134" name="Google Shape;134;p16"/>
          <p:cNvCxnSpPr>
            <a:stCxn id="90" idx="2"/>
            <a:endCxn id="117" idx="2"/>
          </p:cNvCxnSpPr>
          <p:nvPr/>
        </p:nvCxnSpPr>
        <p:spPr>
          <a:xfrm rot="5400000">
            <a:off x="5828800" y="322825"/>
            <a:ext cx="253500" cy="4993800"/>
          </a:xfrm>
          <a:prstGeom prst="bentConnector3">
            <a:avLst>
              <a:gd fmla="val 250424" name="adj1"/>
            </a:avLst>
          </a:prstGeom>
          <a:noFill/>
          <a:ln cap="flat" cmpd="sng" w="9525">
            <a:solidFill>
              <a:schemeClr val="dk2"/>
            </a:solidFill>
            <a:prstDash val="solid"/>
            <a:round/>
            <a:headEnd len="med" w="med" type="none"/>
            <a:tailEnd len="med" w="med" type="triangle"/>
          </a:ln>
        </p:spPr>
      </p:cxnSp>
      <p:sp>
        <p:nvSpPr>
          <p:cNvPr id="135" name="Google Shape;135;p16"/>
          <p:cNvSpPr/>
          <p:nvPr/>
        </p:nvSpPr>
        <p:spPr>
          <a:xfrm>
            <a:off x="379175" y="1701325"/>
            <a:ext cx="19944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6"/>
          <p:cNvSpPr txBox="1"/>
          <p:nvPr/>
        </p:nvSpPr>
        <p:spPr>
          <a:xfrm>
            <a:off x="1504122" y="3026851"/>
            <a:ext cx="5931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1</a:t>
            </a:r>
            <a:endParaRPr sz="900">
              <a:solidFill>
                <a:schemeClr val="dk2"/>
              </a:solidFill>
            </a:endParaRPr>
          </a:p>
        </p:txBody>
      </p:sp>
      <p:sp>
        <p:nvSpPr>
          <p:cNvPr id="137" name="Google Shape;137;p16"/>
          <p:cNvSpPr/>
          <p:nvPr/>
        </p:nvSpPr>
        <p:spPr>
          <a:xfrm>
            <a:off x="3017125" y="1701325"/>
            <a:ext cx="21093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6"/>
          <p:cNvSpPr txBox="1"/>
          <p:nvPr/>
        </p:nvSpPr>
        <p:spPr>
          <a:xfrm>
            <a:off x="4406823" y="3030436"/>
            <a:ext cx="71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n-1</a:t>
            </a:r>
            <a:endParaRPr sz="900">
              <a:solidFill>
                <a:schemeClr val="dk2"/>
              </a:solidFill>
            </a:endParaRPr>
          </a:p>
        </p:txBody>
      </p:sp>
      <p:sp>
        <p:nvSpPr>
          <p:cNvPr id="139" name="Google Shape;139;p16"/>
          <p:cNvSpPr/>
          <p:nvPr/>
        </p:nvSpPr>
        <p:spPr>
          <a:xfrm>
            <a:off x="5617475" y="1686550"/>
            <a:ext cx="900000" cy="1404900"/>
          </a:xfrm>
          <a:prstGeom prst="roundRect">
            <a:avLst>
              <a:gd fmla="val 607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6"/>
          <p:cNvSpPr txBox="1"/>
          <p:nvPr/>
        </p:nvSpPr>
        <p:spPr>
          <a:xfrm>
            <a:off x="6046323" y="3030274"/>
            <a:ext cx="71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Layer n</a:t>
            </a:r>
            <a:endParaRPr sz="900">
              <a:solidFill>
                <a:schemeClr val="dk2"/>
              </a:solidFill>
            </a:endParaRPr>
          </a:p>
        </p:txBody>
      </p:sp>
      <p:sp>
        <p:nvSpPr>
          <p:cNvPr id="141" name="Google Shape;141;p16"/>
          <p:cNvSpPr/>
          <p:nvPr/>
        </p:nvSpPr>
        <p:spPr>
          <a:xfrm rot="10800000">
            <a:off x="5679788" y="3977132"/>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6"/>
          <p:cNvSpPr/>
          <p:nvPr/>
        </p:nvSpPr>
        <p:spPr>
          <a:xfrm rot="10800000">
            <a:off x="4108815" y="3777807"/>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6"/>
          <p:cNvSpPr/>
          <p:nvPr/>
        </p:nvSpPr>
        <p:spPr>
          <a:xfrm rot="10800000">
            <a:off x="2814982" y="3991976"/>
            <a:ext cx="249900" cy="16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 functions</a:t>
            </a:r>
            <a:endParaRPr/>
          </a:p>
        </p:txBody>
      </p:sp>
      <p:sp>
        <p:nvSpPr>
          <p:cNvPr id="149" name="Google Shape;149;p17"/>
          <p:cNvSpPr/>
          <p:nvPr/>
        </p:nvSpPr>
        <p:spPr>
          <a:xfrm>
            <a:off x="1849199" y="2333113"/>
            <a:ext cx="717300" cy="1100100"/>
          </a:xfrm>
          <a:prstGeom prst="roundRect">
            <a:avLst>
              <a:gd fmla="val 9734" name="adj"/>
            </a:avLst>
          </a:prstGeom>
          <a:solidFill>
            <a:srgbClr val="EEEEEE"/>
          </a:solidFill>
          <a:ln cap="flat" cmpd="sng" w="9525">
            <a:solidFill>
              <a:srgbClr val="595959"/>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rPr lang="en" sz="1100"/>
              <a:t>Loss function (</a:t>
            </a:r>
            <a:r>
              <a:rPr i="1" lang="en" sz="1100"/>
              <a:t>L</a:t>
            </a:r>
            <a:r>
              <a:rPr lang="en" sz="1100"/>
              <a:t>)</a:t>
            </a:r>
            <a:endParaRPr sz="1100"/>
          </a:p>
        </p:txBody>
      </p:sp>
      <p:sp>
        <p:nvSpPr>
          <p:cNvPr id="150" name="Google Shape;150;p17"/>
          <p:cNvSpPr txBox="1"/>
          <p:nvPr/>
        </p:nvSpPr>
        <p:spPr>
          <a:xfrm>
            <a:off x="1687500" y="1701775"/>
            <a:ext cx="1040700" cy="3078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100"/>
              <a:buFont typeface="Arial"/>
              <a:buNone/>
            </a:pPr>
            <a:r>
              <a:rPr b="1" lang="en" sz="1100"/>
              <a:t>Groundtruth</a:t>
            </a:r>
            <a:endParaRPr b="1" i="0" sz="1100" u="none" cap="none" strike="noStrike">
              <a:solidFill>
                <a:srgbClr val="000000"/>
              </a:solidFill>
              <a:latin typeface="Arial"/>
              <a:ea typeface="Arial"/>
              <a:cs typeface="Arial"/>
              <a:sym typeface="Arial"/>
            </a:endParaRPr>
          </a:p>
        </p:txBody>
      </p:sp>
      <p:sp>
        <p:nvSpPr>
          <p:cNvPr id="151" name="Google Shape;151;p17"/>
          <p:cNvSpPr txBox="1"/>
          <p:nvPr/>
        </p:nvSpPr>
        <p:spPr>
          <a:xfrm>
            <a:off x="2833275" y="2644513"/>
            <a:ext cx="951300" cy="4773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100"/>
              <a:buFont typeface="Arial"/>
              <a:buNone/>
            </a:pPr>
            <a:r>
              <a:rPr b="1" lang="en" sz="1100"/>
              <a:t>Error </a:t>
            </a:r>
            <a:endParaRPr b="1" sz="1100"/>
          </a:p>
          <a:p>
            <a:pPr indent="0" lvl="0" marL="0" marR="0" rtl="0" algn="ctr">
              <a:lnSpc>
                <a:spcPct val="100000"/>
              </a:lnSpc>
              <a:spcBef>
                <a:spcPts val="0"/>
              </a:spcBef>
              <a:spcAft>
                <a:spcPts val="0"/>
              </a:spcAft>
              <a:buClr>
                <a:srgbClr val="000000"/>
              </a:buClr>
              <a:buSzPts val="1100"/>
              <a:buFont typeface="Arial"/>
              <a:buNone/>
            </a:pPr>
            <a:r>
              <a:rPr b="1" i="1" lang="en" sz="1100"/>
              <a:t>e = L(y)</a:t>
            </a:r>
            <a:endParaRPr b="1" i="1" sz="1100"/>
          </a:p>
        </p:txBody>
      </p:sp>
      <p:cxnSp>
        <p:nvCxnSpPr>
          <p:cNvPr id="152" name="Google Shape;152;p17"/>
          <p:cNvCxnSpPr>
            <a:stCxn id="150" idx="2"/>
            <a:endCxn id="149" idx="0"/>
          </p:cNvCxnSpPr>
          <p:nvPr/>
        </p:nvCxnSpPr>
        <p:spPr>
          <a:xfrm>
            <a:off x="2207850" y="2009575"/>
            <a:ext cx="0" cy="323400"/>
          </a:xfrm>
          <a:prstGeom prst="straightConnector1">
            <a:avLst/>
          </a:prstGeom>
          <a:noFill/>
          <a:ln cap="flat" cmpd="sng" w="9525">
            <a:solidFill>
              <a:schemeClr val="dk2"/>
            </a:solidFill>
            <a:prstDash val="solid"/>
            <a:round/>
            <a:headEnd len="med" w="med" type="none"/>
            <a:tailEnd len="med" w="med" type="triangle"/>
          </a:ln>
        </p:spPr>
      </p:cxnSp>
      <p:sp>
        <p:nvSpPr>
          <p:cNvPr id="153" name="Google Shape;153;p17"/>
          <p:cNvSpPr txBox="1"/>
          <p:nvPr/>
        </p:nvSpPr>
        <p:spPr>
          <a:xfrm>
            <a:off x="476750" y="2644525"/>
            <a:ext cx="1040700" cy="477300"/>
          </a:xfrm>
          <a:prstGeom prst="rect">
            <a:avLst/>
          </a:prstGeom>
          <a:noFill/>
          <a:ln>
            <a:noFill/>
          </a:ln>
        </p:spPr>
        <p:txBody>
          <a:bodyPr anchorCtr="0" anchor="t" bIns="68575" lIns="68575" spcFirstLastPara="1" rIns="68575" wrap="square" tIns="68575">
            <a:spAutoFit/>
          </a:bodyPr>
          <a:lstStyle/>
          <a:p>
            <a:pPr indent="0" lvl="0" marL="0" marR="0" rtl="0" algn="ctr">
              <a:lnSpc>
                <a:spcPct val="100000"/>
              </a:lnSpc>
              <a:spcBef>
                <a:spcPts val="0"/>
              </a:spcBef>
              <a:spcAft>
                <a:spcPts val="0"/>
              </a:spcAft>
              <a:buClr>
                <a:srgbClr val="000000"/>
              </a:buClr>
              <a:buSzPts val="1100"/>
              <a:buFont typeface="Arial"/>
              <a:buNone/>
            </a:pPr>
            <a:r>
              <a:rPr b="1" lang="en" sz="1100"/>
              <a:t>Network Output</a:t>
            </a:r>
            <a:endParaRPr b="1" i="0" sz="1100" u="none" cap="none" strike="noStrike">
              <a:solidFill>
                <a:srgbClr val="000000"/>
              </a:solidFill>
              <a:latin typeface="Arial"/>
              <a:ea typeface="Arial"/>
              <a:cs typeface="Arial"/>
              <a:sym typeface="Arial"/>
            </a:endParaRPr>
          </a:p>
        </p:txBody>
      </p:sp>
      <p:cxnSp>
        <p:nvCxnSpPr>
          <p:cNvPr id="154" name="Google Shape;154;p17"/>
          <p:cNvCxnSpPr>
            <a:endCxn id="149" idx="1"/>
          </p:cNvCxnSpPr>
          <p:nvPr/>
        </p:nvCxnSpPr>
        <p:spPr>
          <a:xfrm>
            <a:off x="1266899" y="2883163"/>
            <a:ext cx="582300" cy="0"/>
          </a:xfrm>
          <a:prstGeom prst="straightConnector1">
            <a:avLst/>
          </a:prstGeom>
          <a:noFill/>
          <a:ln cap="flat" cmpd="sng" w="9525">
            <a:solidFill>
              <a:schemeClr val="dk2"/>
            </a:solidFill>
            <a:prstDash val="solid"/>
            <a:round/>
            <a:headEnd len="med" w="med" type="none"/>
            <a:tailEnd len="med" w="med" type="triangle"/>
          </a:ln>
        </p:spPr>
      </p:cxnSp>
      <p:cxnSp>
        <p:nvCxnSpPr>
          <p:cNvPr id="155" name="Google Shape;155;p17"/>
          <p:cNvCxnSpPr>
            <a:stCxn id="149" idx="3"/>
          </p:cNvCxnSpPr>
          <p:nvPr/>
        </p:nvCxnSpPr>
        <p:spPr>
          <a:xfrm>
            <a:off x="2566499" y="2883163"/>
            <a:ext cx="523200" cy="0"/>
          </a:xfrm>
          <a:prstGeom prst="straightConnector1">
            <a:avLst/>
          </a:prstGeom>
          <a:noFill/>
          <a:ln cap="flat" cmpd="sng" w="9525">
            <a:solidFill>
              <a:schemeClr val="dk2"/>
            </a:solidFill>
            <a:prstDash val="solid"/>
            <a:round/>
            <a:headEnd len="med" w="med" type="none"/>
            <a:tailEnd len="med" w="med" type="triangle"/>
          </a:ln>
        </p:spPr>
      </p:cxnSp>
      <p:sp>
        <p:nvSpPr>
          <p:cNvPr id="156" name="Google Shape;156;p17"/>
          <p:cNvSpPr txBox="1"/>
          <p:nvPr/>
        </p:nvSpPr>
        <p:spPr>
          <a:xfrm>
            <a:off x="311700" y="3792675"/>
            <a:ext cx="4896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Loss function depends on the task</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Mean square error for regression task</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x-Entropy loss for classification</a:t>
            </a:r>
            <a:endParaRPr sz="1800">
              <a:solidFill>
                <a:schemeClr val="dk2"/>
              </a:solidFill>
            </a:endParaRPr>
          </a:p>
        </p:txBody>
      </p:sp>
      <p:sp>
        <p:nvSpPr>
          <p:cNvPr id="157" name="Google Shape;157;p17"/>
          <p:cNvSpPr txBox="1"/>
          <p:nvPr/>
        </p:nvSpPr>
        <p:spPr>
          <a:xfrm>
            <a:off x="3935400" y="1108500"/>
            <a:ext cx="4991400" cy="25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How is groundtruth obtained?</a:t>
            </a:r>
            <a:br>
              <a:rPr lang="en" sz="1700">
                <a:solidFill>
                  <a:schemeClr val="dk2"/>
                </a:solidFill>
              </a:rPr>
            </a:br>
            <a:endParaRPr sz="1700">
              <a:solidFill>
                <a:schemeClr val="dk2"/>
              </a:solidFill>
            </a:endParaRPr>
          </a:p>
          <a:p>
            <a:pPr indent="-336550" lvl="0" marL="457200" rtl="0" algn="l">
              <a:spcBef>
                <a:spcPts val="0"/>
              </a:spcBef>
              <a:spcAft>
                <a:spcPts val="0"/>
              </a:spcAft>
              <a:buClr>
                <a:schemeClr val="dk2"/>
              </a:buClr>
              <a:buSzPts val="1700"/>
              <a:buChar char="-"/>
            </a:pPr>
            <a:r>
              <a:rPr b="1" lang="en" sz="1700">
                <a:solidFill>
                  <a:schemeClr val="dk2"/>
                </a:solidFill>
              </a:rPr>
              <a:t>Supervised:</a:t>
            </a:r>
            <a:r>
              <a:rPr lang="en" sz="1700">
                <a:solidFill>
                  <a:schemeClr val="dk2"/>
                </a:solidFill>
              </a:rPr>
              <a:t> groundtruth by human labelers (eg., objects in an image)</a:t>
            </a:r>
            <a:endParaRPr sz="1700">
              <a:solidFill>
                <a:schemeClr val="dk2"/>
              </a:solidFill>
            </a:endParaRPr>
          </a:p>
          <a:p>
            <a:pPr indent="-336550" lvl="0" marL="457200" rtl="0" algn="l">
              <a:spcBef>
                <a:spcPts val="0"/>
              </a:spcBef>
              <a:spcAft>
                <a:spcPts val="0"/>
              </a:spcAft>
              <a:buClr>
                <a:schemeClr val="dk2"/>
              </a:buClr>
              <a:buSzPts val="1700"/>
              <a:buChar char="-"/>
            </a:pPr>
            <a:r>
              <a:rPr b="1" lang="en" sz="1700">
                <a:solidFill>
                  <a:schemeClr val="dk2"/>
                </a:solidFill>
              </a:rPr>
              <a:t>Weakly supervised:</a:t>
            </a:r>
            <a:r>
              <a:rPr lang="en" sz="1700">
                <a:solidFill>
                  <a:schemeClr val="dk2"/>
                </a:solidFill>
              </a:rPr>
              <a:t> Is the network output correct or not? </a:t>
            </a:r>
            <a:endParaRPr sz="1700">
              <a:solidFill>
                <a:schemeClr val="dk2"/>
              </a:solidFill>
            </a:endParaRPr>
          </a:p>
          <a:p>
            <a:pPr indent="-336550" lvl="0" marL="457200" rtl="0" algn="l">
              <a:spcBef>
                <a:spcPts val="0"/>
              </a:spcBef>
              <a:spcAft>
                <a:spcPts val="0"/>
              </a:spcAft>
              <a:buClr>
                <a:schemeClr val="dk2"/>
              </a:buClr>
              <a:buSzPts val="1700"/>
              <a:buChar char="-"/>
            </a:pPr>
            <a:r>
              <a:rPr b="1" lang="en" sz="1700">
                <a:solidFill>
                  <a:schemeClr val="dk2"/>
                </a:solidFill>
              </a:rPr>
              <a:t>Self-supervised:</a:t>
            </a:r>
            <a:r>
              <a:rPr lang="en" sz="1700">
                <a:solidFill>
                  <a:schemeClr val="dk2"/>
                </a:solidFill>
              </a:rPr>
              <a:t> Groundtruth inherent in the training data, but hidden from the model. Eg., predicting masked words in a sentence</a:t>
            </a:r>
            <a:endParaRPr sz="17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311700" y="445025"/>
            <a:ext cx="4719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Stochastic Minibatch Gradient Descent</a:t>
            </a:r>
            <a:endParaRPr sz="2020"/>
          </a:p>
        </p:txBody>
      </p:sp>
      <p:sp>
        <p:nvSpPr>
          <p:cNvPr id="163" name="Google Shape;163;p18"/>
          <p:cNvSpPr txBox="1"/>
          <p:nvPr/>
        </p:nvSpPr>
        <p:spPr>
          <a:xfrm>
            <a:off x="362025" y="973425"/>
            <a:ext cx="5299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How do we select the batch size? </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lang="en">
                <a:solidFill>
                  <a:schemeClr val="dk2"/>
                </a:solidFill>
              </a:rPr>
              <a:t>Say we have </a:t>
            </a:r>
            <a:r>
              <a:rPr i="1" lang="en">
                <a:solidFill>
                  <a:schemeClr val="dk2"/>
                </a:solidFill>
              </a:rPr>
              <a:t>n </a:t>
            </a:r>
            <a:r>
              <a:rPr lang="en">
                <a:solidFill>
                  <a:schemeClr val="dk2"/>
                </a:solidFill>
              </a:rPr>
              <a:t>data points</a:t>
            </a:r>
            <a:endParaRPr>
              <a:solidFill>
                <a:schemeClr val="dk2"/>
              </a:solidFill>
            </a:endParaRPr>
          </a:p>
        </p:txBody>
      </p:sp>
      <p:cxnSp>
        <p:nvCxnSpPr>
          <p:cNvPr id="164" name="Google Shape;164;p18"/>
          <p:cNvCxnSpPr/>
          <p:nvPr/>
        </p:nvCxnSpPr>
        <p:spPr>
          <a:xfrm>
            <a:off x="1750450" y="3064925"/>
            <a:ext cx="4250400" cy="0"/>
          </a:xfrm>
          <a:prstGeom prst="straightConnector1">
            <a:avLst/>
          </a:prstGeom>
          <a:noFill/>
          <a:ln cap="flat" cmpd="sng" w="9525">
            <a:solidFill>
              <a:schemeClr val="dk2"/>
            </a:solidFill>
            <a:prstDash val="solid"/>
            <a:round/>
            <a:headEnd len="med" w="med" type="none"/>
            <a:tailEnd len="med" w="med" type="triangle"/>
          </a:ln>
        </p:spPr>
      </p:cxnSp>
      <p:sp>
        <p:nvSpPr>
          <p:cNvPr id="165" name="Google Shape;165;p18"/>
          <p:cNvSpPr txBox="1"/>
          <p:nvPr/>
        </p:nvSpPr>
        <p:spPr>
          <a:xfrm>
            <a:off x="514425" y="3143550"/>
            <a:ext cx="27402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B=1</a:t>
            </a:r>
            <a:endParaRPr>
              <a:solidFill>
                <a:schemeClr val="dk2"/>
              </a:solidFill>
            </a:endParaRPr>
          </a:p>
          <a:p>
            <a:pPr indent="0" lvl="0" marL="0" rtl="0" algn="ctr">
              <a:spcBef>
                <a:spcPts val="0"/>
              </a:spcBef>
              <a:spcAft>
                <a:spcPts val="0"/>
              </a:spcAft>
              <a:buNone/>
            </a:pPr>
            <a:r>
              <a:rPr lang="en" sz="1100">
                <a:solidFill>
                  <a:schemeClr val="dk2"/>
                </a:solidFill>
              </a:rPr>
              <a:t>Select a random point from the dataset (without replacement)</a:t>
            </a:r>
            <a:endParaRPr sz="1100">
              <a:solidFill>
                <a:schemeClr val="dk2"/>
              </a:solidFill>
            </a:endParaRPr>
          </a:p>
          <a:p>
            <a:pPr indent="0" lvl="0" marL="0" rtl="0" algn="ctr">
              <a:spcBef>
                <a:spcPts val="0"/>
              </a:spcBef>
              <a:spcAft>
                <a:spcPts val="0"/>
              </a:spcAft>
              <a:buNone/>
            </a:pPr>
            <a:r>
              <a:rPr lang="en" sz="1100">
                <a:solidFill>
                  <a:schemeClr val="dk2"/>
                </a:solidFill>
              </a:rPr>
              <a:t>Calculate gradient and update weights</a:t>
            </a:r>
            <a:endParaRPr sz="1100">
              <a:solidFill>
                <a:schemeClr val="dk2"/>
              </a:solidFill>
            </a:endParaRPr>
          </a:p>
          <a:p>
            <a:pPr indent="0" lvl="0" marL="0" rtl="0" algn="ctr">
              <a:spcBef>
                <a:spcPts val="0"/>
              </a:spcBef>
              <a:spcAft>
                <a:spcPts val="0"/>
              </a:spcAft>
              <a:buNone/>
            </a:pPr>
            <a:r>
              <a:rPr b="1" lang="en" sz="1100">
                <a:solidFill>
                  <a:schemeClr val="dk2"/>
                </a:solidFill>
              </a:rPr>
              <a:t>Problem:</a:t>
            </a:r>
            <a:r>
              <a:rPr lang="en" sz="1100">
                <a:solidFill>
                  <a:schemeClr val="dk2"/>
                </a:solidFill>
              </a:rPr>
              <a:t> Gradient is very noisy</a:t>
            </a:r>
            <a:endParaRPr sz="1100">
              <a:solidFill>
                <a:schemeClr val="dk2"/>
              </a:solidFill>
            </a:endParaRPr>
          </a:p>
        </p:txBody>
      </p:sp>
      <p:sp>
        <p:nvSpPr>
          <p:cNvPr id="166" name="Google Shape;166;p18"/>
          <p:cNvSpPr txBox="1"/>
          <p:nvPr/>
        </p:nvSpPr>
        <p:spPr>
          <a:xfrm>
            <a:off x="4572000" y="3112750"/>
            <a:ext cx="3018900" cy="908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B=n</a:t>
            </a:r>
            <a:endParaRPr>
              <a:solidFill>
                <a:schemeClr val="dk2"/>
              </a:solidFill>
            </a:endParaRPr>
          </a:p>
          <a:p>
            <a:pPr indent="0" lvl="0" marL="0" rtl="0" algn="ctr">
              <a:spcBef>
                <a:spcPts val="0"/>
              </a:spcBef>
              <a:spcAft>
                <a:spcPts val="0"/>
              </a:spcAft>
              <a:buNone/>
            </a:pPr>
            <a:r>
              <a:rPr lang="en" sz="1100">
                <a:solidFill>
                  <a:schemeClr val="dk2"/>
                </a:solidFill>
              </a:rPr>
              <a:t>Select the entire dataset at every iteration</a:t>
            </a:r>
            <a:endParaRPr sz="1100">
              <a:solidFill>
                <a:schemeClr val="dk2"/>
              </a:solidFill>
            </a:endParaRPr>
          </a:p>
          <a:p>
            <a:pPr indent="0" lvl="0" marL="0" rtl="0" algn="ctr">
              <a:spcBef>
                <a:spcPts val="0"/>
              </a:spcBef>
              <a:spcAft>
                <a:spcPts val="0"/>
              </a:spcAft>
              <a:buNone/>
            </a:pPr>
            <a:r>
              <a:rPr lang="en" sz="1100">
                <a:solidFill>
                  <a:schemeClr val="dk2"/>
                </a:solidFill>
              </a:rPr>
              <a:t>Calculate gradient and update weights</a:t>
            </a:r>
            <a:endParaRPr sz="1100">
              <a:solidFill>
                <a:schemeClr val="dk2"/>
              </a:solidFill>
            </a:endParaRPr>
          </a:p>
          <a:p>
            <a:pPr indent="0" lvl="0" marL="0" rtl="0" algn="ctr">
              <a:spcBef>
                <a:spcPts val="0"/>
              </a:spcBef>
              <a:spcAft>
                <a:spcPts val="0"/>
              </a:spcAft>
              <a:buNone/>
            </a:pPr>
            <a:r>
              <a:rPr b="1" lang="en" sz="1100">
                <a:solidFill>
                  <a:schemeClr val="dk2"/>
                </a:solidFill>
              </a:rPr>
              <a:t>Problem:</a:t>
            </a:r>
            <a:r>
              <a:rPr lang="en" sz="1100">
                <a:solidFill>
                  <a:schemeClr val="dk2"/>
                </a:solidFill>
              </a:rPr>
              <a:t> Large matrices, compute heavy</a:t>
            </a:r>
            <a:endParaRPr sz="1100">
              <a:solidFill>
                <a:schemeClr val="dk2"/>
              </a:solidFill>
            </a:endParaRPr>
          </a:p>
        </p:txBody>
      </p:sp>
      <p:sp>
        <p:nvSpPr>
          <p:cNvPr id="167" name="Google Shape;167;p18"/>
          <p:cNvSpPr txBox="1"/>
          <p:nvPr/>
        </p:nvSpPr>
        <p:spPr>
          <a:xfrm>
            <a:off x="1882325" y="1878200"/>
            <a:ext cx="39270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1&lt;B&lt;n</a:t>
            </a:r>
            <a:endParaRPr>
              <a:solidFill>
                <a:schemeClr val="dk2"/>
              </a:solidFill>
            </a:endParaRPr>
          </a:p>
          <a:p>
            <a:pPr indent="0" lvl="0" marL="0" rtl="0" algn="ctr">
              <a:spcBef>
                <a:spcPts val="0"/>
              </a:spcBef>
              <a:spcAft>
                <a:spcPts val="0"/>
              </a:spcAft>
              <a:buNone/>
            </a:pPr>
            <a:r>
              <a:rPr lang="en" sz="1100">
                <a:solidFill>
                  <a:schemeClr val="dk2"/>
                </a:solidFill>
              </a:rPr>
              <a:t>Select a subset of the dataset at every iteration (without replacement). Calculate gradient and update weights. Do until we sweep through the entire dataset</a:t>
            </a:r>
            <a:endParaRPr sz="1100">
              <a:solidFill>
                <a:schemeClr val="dk2"/>
              </a:solidFill>
            </a:endParaRPr>
          </a:p>
          <a:p>
            <a:pPr indent="0" lvl="0" marL="0" rtl="0" algn="ctr">
              <a:spcBef>
                <a:spcPts val="0"/>
              </a:spcBef>
              <a:spcAft>
                <a:spcPts val="0"/>
              </a:spcAft>
              <a:buNone/>
            </a:pPr>
            <a:r>
              <a:rPr b="1" lang="en" sz="1100">
                <a:solidFill>
                  <a:schemeClr val="dk2"/>
                </a:solidFill>
              </a:rPr>
              <a:t>Best of both worlds. Stable gradients, lower compute</a:t>
            </a:r>
            <a:endParaRPr sz="1100">
              <a:solidFill>
                <a:schemeClr val="dk2"/>
              </a:solidFill>
            </a:endParaRPr>
          </a:p>
        </p:txBody>
      </p:sp>
      <p:cxnSp>
        <p:nvCxnSpPr>
          <p:cNvPr id="168" name="Google Shape;168;p18"/>
          <p:cNvCxnSpPr/>
          <p:nvPr/>
        </p:nvCxnSpPr>
        <p:spPr>
          <a:xfrm>
            <a:off x="1928525" y="4499575"/>
            <a:ext cx="4400700" cy="0"/>
          </a:xfrm>
          <a:prstGeom prst="straightConnector1">
            <a:avLst/>
          </a:prstGeom>
          <a:noFill/>
          <a:ln cap="flat" cmpd="sng" w="9525">
            <a:solidFill>
              <a:schemeClr val="dk2"/>
            </a:solidFill>
            <a:prstDash val="solid"/>
            <a:round/>
            <a:headEnd len="med" w="med" type="none"/>
            <a:tailEnd len="med" w="med" type="triangle"/>
          </a:ln>
        </p:spPr>
      </p:cxnSp>
      <p:sp>
        <p:nvSpPr>
          <p:cNvPr id="169" name="Google Shape;169;p18"/>
          <p:cNvSpPr/>
          <p:nvPr/>
        </p:nvSpPr>
        <p:spPr>
          <a:xfrm rot="-5400000">
            <a:off x="21962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8"/>
          <p:cNvSpPr/>
          <p:nvPr/>
        </p:nvSpPr>
        <p:spPr>
          <a:xfrm rot="-5400000">
            <a:off x="28241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18"/>
          <p:cNvSpPr/>
          <p:nvPr/>
        </p:nvSpPr>
        <p:spPr>
          <a:xfrm rot="-5400000">
            <a:off x="34520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8"/>
          <p:cNvSpPr/>
          <p:nvPr/>
        </p:nvSpPr>
        <p:spPr>
          <a:xfrm rot="-5400000">
            <a:off x="40799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18"/>
          <p:cNvSpPr/>
          <p:nvPr/>
        </p:nvSpPr>
        <p:spPr>
          <a:xfrm rot="-5400000">
            <a:off x="47078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8"/>
          <p:cNvSpPr/>
          <p:nvPr/>
        </p:nvSpPr>
        <p:spPr>
          <a:xfrm rot="-5400000">
            <a:off x="53357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8"/>
          <p:cNvSpPr/>
          <p:nvPr/>
        </p:nvSpPr>
        <p:spPr>
          <a:xfrm rot="-5400000">
            <a:off x="5963675" y="4268950"/>
            <a:ext cx="92400" cy="6279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18"/>
          <p:cNvSpPr txBox="1"/>
          <p:nvPr/>
        </p:nvSpPr>
        <p:spPr>
          <a:xfrm>
            <a:off x="893075" y="4536700"/>
            <a:ext cx="6390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rPr>
              <a:t>Sample B=m at each iteration. A sweep through the entire training dataset is called an epoch. Number of iterations in an epoch: n/B, assuming B divides n</a:t>
            </a:r>
            <a:endParaRPr sz="1100">
              <a:solidFill>
                <a:schemeClr val="dk2"/>
              </a:solidFill>
            </a:endParaRPr>
          </a:p>
        </p:txBody>
      </p:sp>
      <p:cxnSp>
        <p:nvCxnSpPr>
          <p:cNvPr id="177" name="Google Shape;177;p18"/>
          <p:cNvCxnSpPr/>
          <p:nvPr/>
        </p:nvCxnSpPr>
        <p:spPr>
          <a:xfrm flipH="1">
            <a:off x="1750450" y="2977625"/>
            <a:ext cx="5100" cy="1746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18"/>
          <p:cNvCxnSpPr/>
          <p:nvPr/>
        </p:nvCxnSpPr>
        <p:spPr>
          <a:xfrm flipH="1">
            <a:off x="6000850" y="2977625"/>
            <a:ext cx="5100" cy="1746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18"/>
          <p:cNvCxnSpPr/>
          <p:nvPr/>
        </p:nvCxnSpPr>
        <p:spPr>
          <a:xfrm flipH="1">
            <a:off x="3704700" y="2977625"/>
            <a:ext cx="5100" cy="174600"/>
          </a:xfrm>
          <a:prstGeom prst="straightConnector1">
            <a:avLst/>
          </a:prstGeom>
          <a:noFill/>
          <a:ln cap="flat" cmpd="sng" w="9525">
            <a:solidFill>
              <a:schemeClr val="dk2"/>
            </a:solidFill>
            <a:prstDash val="solid"/>
            <a:round/>
            <a:headEnd len="med" w="med" type="none"/>
            <a:tailEnd len="med" w="med" type="none"/>
          </a:ln>
        </p:spPr>
      </p:cxnSp>
      <p:sp>
        <p:nvSpPr>
          <p:cNvPr id="180" name="Google Shape;180;p18"/>
          <p:cNvSpPr txBox="1"/>
          <p:nvPr/>
        </p:nvSpPr>
        <p:spPr>
          <a:xfrm>
            <a:off x="6356050" y="4299475"/>
            <a:ext cx="3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n</a:t>
            </a:r>
            <a:endParaRPr>
              <a:solidFill>
                <a:schemeClr val="dk2"/>
              </a:solidFill>
            </a:endParaRPr>
          </a:p>
        </p:txBody>
      </p:sp>
      <p:sp>
        <p:nvSpPr>
          <p:cNvPr id="181" name="Google Shape;181;p18"/>
          <p:cNvSpPr txBox="1"/>
          <p:nvPr/>
        </p:nvSpPr>
        <p:spPr>
          <a:xfrm>
            <a:off x="6074225" y="2078300"/>
            <a:ext cx="2532600" cy="877200"/>
          </a:xfrm>
          <a:prstGeom prst="rect">
            <a:avLst/>
          </a:prstGeom>
          <a:noFill/>
          <a:ln>
            <a:noFill/>
          </a:ln>
        </p:spPr>
        <p:txBody>
          <a:bodyPr anchorCtr="0" anchor="t" bIns="91425" lIns="91425" spcFirstLastPara="1" rIns="91425" wrap="square" tIns="91425">
            <a:spAutoFit/>
          </a:bodyPr>
          <a:lstStyle/>
          <a:p>
            <a:pPr indent="-285750" lvl="0" marL="457200" marR="0" rtl="0" algn="l">
              <a:lnSpc>
                <a:spcPct val="100000"/>
              </a:lnSpc>
              <a:spcBef>
                <a:spcPts val="0"/>
              </a:spcBef>
              <a:spcAft>
                <a:spcPts val="0"/>
              </a:spcAft>
              <a:buClr>
                <a:schemeClr val="dk2"/>
              </a:buClr>
              <a:buSzPts val="900"/>
              <a:buChar char="-"/>
            </a:pPr>
            <a:r>
              <a:rPr lang="en" sz="900">
                <a:solidFill>
                  <a:schemeClr val="dk2"/>
                </a:solidFill>
              </a:rPr>
              <a:t>Mini-batch gradients are unbiased estimators of the full gradient.</a:t>
            </a:r>
            <a:br>
              <a:rPr lang="en" sz="900">
                <a:solidFill>
                  <a:schemeClr val="dk2"/>
                </a:solidFill>
              </a:rPr>
            </a:br>
            <a:endParaRPr sz="900">
              <a:solidFill>
                <a:schemeClr val="dk2"/>
              </a:solidFill>
            </a:endParaRPr>
          </a:p>
          <a:p>
            <a:pPr indent="-285750" lvl="0" marL="457200" marR="0" rtl="0" algn="l">
              <a:lnSpc>
                <a:spcPct val="100000"/>
              </a:lnSpc>
              <a:spcBef>
                <a:spcPts val="0"/>
              </a:spcBef>
              <a:spcAft>
                <a:spcPts val="0"/>
              </a:spcAft>
              <a:buClr>
                <a:schemeClr val="dk2"/>
              </a:buClr>
              <a:buSzPts val="900"/>
              <a:buChar char="-"/>
            </a:pPr>
            <a:r>
              <a:rPr lang="en" sz="900">
                <a:solidFill>
                  <a:schemeClr val="dk2"/>
                </a:solidFill>
              </a:rPr>
              <a:t>Variance of gradients decreases with larger batch size</a:t>
            </a:r>
            <a:endParaRPr sz="9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9"/>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Updating Weights..</a:t>
            </a:r>
            <a:endParaRPr sz="2020"/>
          </a:p>
        </p:txBody>
      </p:sp>
      <p:pic>
        <p:nvPicPr>
          <p:cNvPr descr="{&quot;backgroundColorModified&quot;:false,&quot;id&quot;:&quot;9&quot;,&quot;backgroundColor&quot;:&quot;#FFFFFF&quot;,&quot;aid&quot;:null,&quot;font&quot;:{&quot;family&quot;:&quot;Arial&quot;,&quot;size&quot;:16,&quot;color&quot;:&quot;#595959&quot;},&quot;type&quot;:&quot;lalign*&quot;,&quot;code&quot;:&quot;\\begin{lalign*}\n&amp;{\\text{If}\\;y=f\\left(x\\right),\\;}\\\\\n&amp;{\\text{find}\\;f\\,\\text{that}\\;\\text{minimizes}\\;\\text{L(y)}}\t\n\\end{lalign*}&quot;,&quot;ts&quot;:1753561656433,&quot;cs&quot;:&quot;yTReRyOOxMTbp80idXCI2Q==&quot;,&quot;size&quot;:{&quot;width&quot;:281.25,&quot;height&quot;:57.75000000000002}}" id="187" name="Google Shape;187;p19"/>
          <p:cNvPicPr preferRelativeResize="0"/>
          <p:nvPr/>
        </p:nvPicPr>
        <p:blipFill>
          <a:blip r:embed="rId3">
            <a:alphaModFix/>
          </a:blip>
          <a:stretch>
            <a:fillRect/>
          </a:stretch>
        </p:blipFill>
        <p:spPr>
          <a:xfrm>
            <a:off x="472284" y="1835000"/>
            <a:ext cx="2678906" cy="550069"/>
          </a:xfrm>
          <a:prstGeom prst="rect">
            <a:avLst/>
          </a:prstGeom>
          <a:noFill/>
          <a:ln>
            <a:noFill/>
          </a:ln>
        </p:spPr>
      </p:pic>
      <p:sp>
        <p:nvSpPr>
          <p:cNvPr id="188" name="Google Shape;188;p19"/>
          <p:cNvSpPr txBox="1"/>
          <p:nvPr/>
        </p:nvSpPr>
        <p:spPr>
          <a:xfrm>
            <a:off x="362025" y="973425"/>
            <a:ext cx="529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We calculated all these gradients.. Now what? </a:t>
            </a:r>
            <a:endParaRPr>
              <a:solidFill>
                <a:schemeClr val="dk2"/>
              </a:solidFill>
            </a:endParaRPr>
          </a:p>
          <a:p>
            <a:pPr indent="0" lvl="0" marL="0" rtl="0" algn="l">
              <a:spcBef>
                <a:spcPts val="0"/>
              </a:spcBef>
              <a:spcAft>
                <a:spcPts val="0"/>
              </a:spcAft>
              <a:buNone/>
            </a:pPr>
            <a:r>
              <a:rPr lang="en">
                <a:solidFill>
                  <a:schemeClr val="dk2"/>
                </a:solidFill>
              </a:rPr>
              <a:t>Recall the original optimization problem..</a:t>
            </a:r>
            <a:endParaRPr>
              <a:solidFill>
                <a:schemeClr val="dk2"/>
              </a:solidFill>
            </a:endParaRPr>
          </a:p>
        </p:txBody>
      </p:sp>
      <p:sp>
        <p:nvSpPr>
          <p:cNvPr id="189" name="Google Shape;189;p19"/>
          <p:cNvSpPr txBox="1"/>
          <p:nvPr/>
        </p:nvSpPr>
        <p:spPr>
          <a:xfrm>
            <a:off x="426075" y="2511775"/>
            <a:ext cx="7386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We modeled the unknown function </a:t>
            </a:r>
            <a:r>
              <a:rPr i="1" lang="en" sz="1500">
                <a:solidFill>
                  <a:schemeClr val="dk2"/>
                </a:solidFill>
              </a:rPr>
              <a:t>f</a:t>
            </a:r>
            <a:r>
              <a:rPr lang="en" sz="1500">
                <a:solidFill>
                  <a:schemeClr val="dk2"/>
                </a:solidFill>
              </a:rPr>
              <a:t> as a neural network, because neural networks can model any arbitrary function. Finding </a:t>
            </a:r>
            <a:r>
              <a:rPr i="1" lang="en" sz="1500">
                <a:solidFill>
                  <a:schemeClr val="dk2"/>
                </a:solidFill>
              </a:rPr>
              <a:t>f</a:t>
            </a:r>
            <a:r>
              <a:rPr lang="en" sz="1500">
                <a:solidFill>
                  <a:schemeClr val="dk2"/>
                </a:solidFill>
              </a:rPr>
              <a:t> means finding the weights of the network that minimize the loss function. We calculated the gradients so we know which direction to move the weights.</a:t>
            </a:r>
            <a:endParaRPr sz="1500">
              <a:solidFill>
                <a:schemeClr val="dk2"/>
              </a:solidFill>
            </a:endParaRPr>
          </a:p>
        </p:txBody>
      </p:sp>
      <p:pic>
        <p:nvPicPr>
          <p:cNvPr descr="{&quot;code&quot;:&quot;$$w_{t+1}=w_{t}-\\eta\\frac{\\partial e}{\\partial w_{t}}$$&quot;,&quot;backgroundColorModified&quot;:false,&quot;id&quot;:&quot;1&quot;,&quot;font&quot;:{&quot;size&quot;:15.5,&quot;family&quot;:&quot;Arial&quot;,&quot;color&quot;:&quot;#000000&quot;},&quot;type&quot;:&quot;$$&quot;,&quot;backgroundColor&quot;:&quot;#FFFFFF&quot;,&quot;aid&quot;:null,&quot;ts&quot;:1755358546552,&quot;cs&quot;:&quot;ev7DD41i0BjdE3MpD42tcQ==&quot;,&quot;size&quot;:{&quot;width&quot;:193.66666666666666,&quot;height&quot;:54.166666666666664}}" id="190" name="Google Shape;190;p19"/>
          <p:cNvPicPr preferRelativeResize="0"/>
          <p:nvPr/>
        </p:nvPicPr>
        <p:blipFill>
          <a:blip r:embed="rId4">
            <a:alphaModFix/>
          </a:blip>
          <a:stretch>
            <a:fillRect/>
          </a:stretch>
        </p:blipFill>
        <p:spPr>
          <a:xfrm>
            <a:off x="550739" y="3778050"/>
            <a:ext cx="1844675" cy="515938"/>
          </a:xfrm>
          <a:prstGeom prst="rect">
            <a:avLst/>
          </a:prstGeom>
          <a:noFill/>
          <a:ln>
            <a:noFill/>
          </a:ln>
        </p:spPr>
      </p:pic>
      <p:sp>
        <p:nvSpPr>
          <p:cNvPr id="191" name="Google Shape;191;p19"/>
          <p:cNvSpPr txBox="1"/>
          <p:nvPr/>
        </p:nvSpPr>
        <p:spPr>
          <a:xfrm>
            <a:off x="2090325" y="4405950"/>
            <a:ext cx="343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Learning rate.. This should get smaller as we get closer to the minimum</a:t>
            </a:r>
            <a:endParaRPr>
              <a:solidFill>
                <a:schemeClr val="dk2"/>
              </a:solidFill>
            </a:endParaRPr>
          </a:p>
        </p:txBody>
      </p:sp>
      <p:cxnSp>
        <p:nvCxnSpPr>
          <p:cNvPr id="192" name="Google Shape;192;p19"/>
          <p:cNvCxnSpPr>
            <a:stCxn id="191" idx="1"/>
          </p:cNvCxnSpPr>
          <p:nvPr/>
        </p:nvCxnSpPr>
        <p:spPr>
          <a:xfrm rot="10800000">
            <a:off x="1925025" y="4198950"/>
            <a:ext cx="165300" cy="514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0"/>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Learning rate schedule</a:t>
            </a:r>
            <a:endParaRPr sz="2020"/>
          </a:p>
        </p:txBody>
      </p:sp>
      <p:sp>
        <p:nvSpPr>
          <p:cNvPr id="198" name="Google Shape;198;p20"/>
          <p:cNvSpPr txBox="1"/>
          <p:nvPr/>
        </p:nvSpPr>
        <p:spPr>
          <a:xfrm>
            <a:off x="362025" y="973425"/>
            <a:ext cx="7322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Recall that in optimization, the learning rate controls the size of the step at each iteration. Generally, the optimization landscape becomes shallower near the minimum.. Thus, we should lower the learning rate as optimization proceeds, otherwise the iterates might bounce along the optimization function rather than settling in. </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Learning rate schedule</a:t>
            </a:r>
            <a:endParaRPr sz="2020"/>
          </a:p>
        </p:txBody>
      </p:sp>
      <p:sp>
        <p:nvSpPr>
          <p:cNvPr id="204" name="Google Shape;204;p21"/>
          <p:cNvSpPr txBox="1"/>
          <p:nvPr/>
        </p:nvSpPr>
        <p:spPr>
          <a:xfrm>
            <a:off x="311700" y="973425"/>
            <a:ext cx="732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In deep learning libraries, learning rate is generally adjusted after each epoch. The trajectory of the learning rate from its starting value to final value is called learning rate schedule. Some examples are:</a:t>
            </a:r>
            <a:endParaRPr>
              <a:solidFill>
                <a:schemeClr val="dk2"/>
              </a:solidFill>
            </a:endParaRPr>
          </a:p>
        </p:txBody>
      </p:sp>
      <p:pic>
        <p:nvPicPr>
          <p:cNvPr descr="{&quot;code&quot;:&quot;\\begin{lalign*}\n&amp;{\\text{Linear}\\;\\text{Schedule}}\\\\\n&amp;{\\eta=\\eta_{\\text{start}}+\\left(\\eta_{\\text{end}}-\\eta_{\\text{start}}\\right)\\times\\frac{\\text{epoch}}{\\text{num\\_epoch}}}\\\\\n&amp;{\\text{Cosine}\\;\\text{Schedule}}\\\\\n&amp;{\\eta=\\eta_{\\text{start}}+\\left(\\eta_{\\text{end}}-\\eta_{\\text{start}}\\right)\\times\\left(1+\\cos\\left(\\frac{\\pi\\times\\text{epoch}}{\\text{num\\_epoch}}\\right)\\right)}\\\\\n&amp;{}\t\n\\end{lalign*}&quot;,&quot;aid&quot;:null,&quot;type&quot;:&quot;lalign*&quot;,&quot;id&quot;:&quot;6&quot;,&quot;backgroundColorModified&quot;:false,&quot;font&quot;:{&quot;color&quot;:&quot;#000000&quot;,&quot;family&quot;:&quot;Arial&quot;,&quot;size&quot;:12},&quot;backgroundColor&quot;:&quot;#FFFFFF&quot;,&quot;ts&quot;:1756482414712,&quot;cs&quot;:&quot;z+rOhK+crjPn+UA+qPdICg==&quot;,&quot;size&quot;:{&quot;width&quot;:438.6666666666667,&quot;height&quot;:141}}" id="205" name="Google Shape;205;p21"/>
          <p:cNvPicPr preferRelativeResize="0"/>
          <p:nvPr/>
        </p:nvPicPr>
        <p:blipFill>
          <a:blip r:embed="rId3">
            <a:alphaModFix/>
          </a:blip>
          <a:stretch>
            <a:fillRect/>
          </a:stretch>
        </p:blipFill>
        <p:spPr>
          <a:xfrm>
            <a:off x="393700" y="1894500"/>
            <a:ext cx="4178300" cy="1343025"/>
          </a:xfrm>
          <a:prstGeom prst="rect">
            <a:avLst/>
          </a:prstGeom>
          <a:noFill/>
          <a:ln>
            <a:noFill/>
          </a:ln>
        </p:spPr>
      </p:pic>
      <p:sp>
        <p:nvSpPr>
          <p:cNvPr id="206" name="Google Shape;206;p21"/>
          <p:cNvSpPr txBox="1"/>
          <p:nvPr/>
        </p:nvSpPr>
        <p:spPr>
          <a:xfrm>
            <a:off x="276050" y="3327300"/>
            <a:ext cx="4246800" cy="181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2"/>
                </a:solidFill>
              </a:rPr>
              <a:t>There are several more eg., exponential decay</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rPr b="1" lang="en" sz="1300">
                <a:solidFill>
                  <a:schemeClr val="dk2"/>
                </a:solidFill>
              </a:rPr>
              <a:t>Learning Rate Warmup:</a:t>
            </a:r>
            <a:r>
              <a:rPr lang="en" sz="1300">
                <a:solidFill>
                  <a:schemeClr val="dk2"/>
                </a:solidFill>
              </a:rPr>
              <a:t> For large NNs, learning rate is warmed up from a small starting value to base value, and then decayed following a schedule</a:t>
            </a:r>
            <a:endParaRPr sz="1300">
              <a:solidFill>
                <a:schemeClr val="dk2"/>
              </a:solidFill>
            </a:endParaRPr>
          </a:p>
          <a:p>
            <a:pPr indent="0" lvl="0" marL="0" rtl="0" algn="l">
              <a:spcBef>
                <a:spcPts val="0"/>
              </a:spcBef>
              <a:spcAft>
                <a:spcPts val="0"/>
              </a:spcAft>
              <a:buNone/>
            </a:pPr>
            <a:r>
              <a:t/>
            </a:r>
            <a:endParaRPr sz="1300">
              <a:solidFill>
                <a:schemeClr val="dk2"/>
              </a:solidFill>
            </a:endParaRPr>
          </a:p>
          <a:p>
            <a:pPr indent="0" lvl="0" marL="0" rtl="0" algn="l">
              <a:spcBef>
                <a:spcPts val="0"/>
              </a:spcBef>
              <a:spcAft>
                <a:spcPts val="0"/>
              </a:spcAft>
              <a:buNone/>
            </a:pPr>
            <a:r>
              <a:rPr lang="en" sz="1300">
                <a:solidFill>
                  <a:schemeClr val="dk2"/>
                </a:solidFill>
              </a:rPr>
              <a:t>In large networks, groups of layers can have their </a:t>
            </a:r>
            <a:r>
              <a:rPr lang="en" sz="1300" u="sng">
                <a:solidFill>
                  <a:schemeClr val="hlink"/>
                </a:solidFill>
                <a:hlinkClick r:id="rId4"/>
              </a:rPr>
              <a:t>own learning rates</a:t>
            </a:r>
            <a:endParaRPr sz="1300">
              <a:solidFill>
                <a:schemeClr val="dk2"/>
              </a:solidFill>
            </a:endParaRPr>
          </a:p>
        </p:txBody>
      </p:sp>
      <p:sp>
        <p:nvSpPr>
          <p:cNvPr id="207" name="Google Shape;207;p21"/>
          <p:cNvSpPr txBox="1"/>
          <p:nvPr/>
        </p:nvSpPr>
        <p:spPr>
          <a:xfrm>
            <a:off x="4897200" y="4820400"/>
            <a:ext cx="4246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rPr>
              <a:t>Cosine schedule </a:t>
            </a:r>
            <a:r>
              <a:rPr lang="en" sz="900" u="sng">
                <a:solidFill>
                  <a:schemeClr val="hlink"/>
                </a:solidFill>
                <a:hlinkClick r:id="rId5"/>
              </a:rPr>
              <a:t>paper</a:t>
            </a:r>
            <a:endParaRPr sz="900">
              <a:solidFill>
                <a:schemeClr val="dk2"/>
              </a:solidFill>
            </a:endParaRPr>
          </a:p>
        </p:txBody>
      </p:sp>
      <p:pic>
        <p:nvPicPr>
          <p:cNvPr id="208" name="Google Shape;208;p21"/>
          <p:cNvPicPr preferRelativeResize="0"/>
          <p:nvPr/>
        </p:nvPicPr>
        <p:blipFill>
          <a:blip r:embed="rId6">
            <a:alphaModFix/>
          </a:blip>
          <a:stretch>
            <a:fillRect/>
          </a:stretch>
        </p:blipFill>
        <p:spPr>
          <a:xfrm>
            <a:off x="4724400" y="1614200"/>
            <a:ext cx="4071725" cy="3053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Training process</a:t>
            </a:r>
            <a:endParaRPr sz="2020"/>
          </a:p>
        </p:txBody>
      </p:sp>
      <p:sp>
        <p:nvSpPr>
          <p:cNvPr id="214" name="Google Shape;214;p22"/>
          <p:cNvSpPr txBox="1"/>
          <p:nvPr/>
        </p:nvSpPr>
        <p:spPr>
          <a:xfrm>
            <a:off x="311700" y="973425"/>
            <a:ext cx="7322700" cy="2339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AutoNum type="arabicPeriod"/>
            </a:pPr>
            <a:r>
              <a:rPr lang="en">
                <a:solidFill>
                  <a:schemeClr val="dk2"/>
                </a:solidFill>
              </a:rPr>
              <a:t>In every epoch</a:t>
            </a:r>
            <a:endParaRPr>
              <a:solidFill>
                <a:schemeClr val="dk2"/>
              </a:solidFill>
            </a:endParaRPr>
          </a:p>
          <a:p>
            <a:pPr indent="-317500" lvl="1" marL="914400" rtl="0" algn="l">
              <a:spcBef>
                <a:spcPts val="0"/>
              </a:spcBef>
              <a:spcAft>
                <a:spcPts val="0"/>
              </a:spcAft>
              <a:buClr>
                <a:schemeClr val="dk2"/>
              </a:buClr>
              <a:buSzPts val="1400"/>
              <a:buAutoNum type="alphaLcPeriod"/>
            </a:pPr>
            <a:r>
              <a:rPr lang="en">
                <a:solidFill>
                  <a:schemeClr val="dk2"/>
                </a:solidFill>
              </a:rPr>
              <a:t>Sample a minibatch from the training data</a:t>
            </a:r>
            <a:endParaRPr>
              <a:solidFill>
                <a:schemeClr val="dk2"/>
              </a:solidFill>
            </a:endParaRPr>
          </a:p>
          <a:p>
            <a:pPr indent="-317500" lvl="1" marL="914400" rtl="0" algn="l">
              <a:spcBef>
                <a:spcPts val="0"/>
              </a:spcBef>
              <a:spcAft>
                <a:spcPts val="0"/>
              </a:spcAft>
              <a:buClr>
                <a:schemeClr val="dk2"/>
              </a:buClr>
              <a:buSzPts val="1400"/>
              <a:buAutoNum type="alphaLcPeriod"/>
            </a:pPr>
            <a:r>
              <a:rPr lang="en">
                <a:solidFill>
                  <a:schemeClr val="dk2"/>
                </a:solidFill>
              </a:rPr>
              <a:t>Run forward pass and calculate network output</a:t>
            </a:r>
            <a:endParaRPr>
              <a:solidFill>
                <a:schemeClr val="dk2"/>
              </a:solidFill>
            </a:endParaRPr>
          </a:p>
          <a:p>
            <a:pPr indent="-317500" lvl="1" marL="914400" rtl="0" algn="l">
              <a:spcBef>
                <a:spcPts val="0"/>
              </a:spcBef>
              <a:spcAft>
                <a:spcPts val="0"/>
              </a:spcAft>
              <a:buClr>
                <a:schemeClr val="dk2"/>
              </a:buClr>
              <a:buSzPts val="1400"/>
              <a:buAutoNum type="alphaLcPeriod"/>
            </a:pPr>
            <a:r>
              <a:rPr lang="en">
                <a:solidFill>
                  <a:schemeClr val="dk2"/>
                </a:solidFill>
              </a:rPr>
              <a:t>Compare network output to groundtruth, compute loss</a:t>
            </a:r>
            <a:endParaRPr>
              <a:solidFill>
                <a:schemeClr val="dk2"/>
              </a:solidFill>
            </a:endParaRPr>
          </a:p>
          <a:p>
            <a:pPr indent="-317500" lvl="1" marL="914400" rtl="0" algn="l">
              <a:spcBef>
                <a:spcPts val="0"/>
              </a:spcBef>
              <a:spcAft>
                <a:spcPts val="0"/>
              </a:spcAft>
              <a:buClr>
                <a:schemeClr val="dk2"/>
              </a:buClr>
              <a:buSzPts val="1400"/>
              <a:buAutoNum type="alphaLcPeriod"/>
            </a:pPr>
            <a:r>
              <a:rPr lang="en">
                <a:solidFill>
                  <a:schemeClr val="dk2"/>
                </a:solidFill>
              </a:rPr>
              <a:t>Run backward pass, compute gradients</a:t>
            </a:r>
            <a:endParaRPr>
              <a:solidFill>
                <a:schemeClr val="dk2"/>
              </a:solidFill>
            </a:endParaRPr>
          </a:p>
          <a:p>
            <a:pPr indent="-317500" lvl="1" marL="914400" rtl="0" algn="l">
              <a:spcBef>
                <a:spcPts val="0"/>
              </a:spcBef>
              <a:spcAft>
                <a:spcPts val="0"/>
              </a:spcAft>
              <a:buClr>
                <a:schemeClr val="dk2"/>
              </a:buClr>
              <a:buSzPts val="1400"/>
              <a:buAutoNum type="alphaLcPeriod"/>
            </a:pPr>
            <a:r>
              <a:rPr lang="en">
                <a:solidFill>
                  <a:schemeClr val="dk2"/>
                </a:solidFill>
              </a:rPr>
              <a:t>Run optimizer, where network parameters are adjusted </a:t>
            </a:r>
            <a:endParaRPr>
              <a:solidFill>
                <a:schemeClr val="dk2"/>
              </a:solidFill>
            </a:endParaRPr>
          </a:p>
          <a:p>
            <a:pPr indent="-317500" lvl="0" marL="457200" rtl="0" algn="l">
              <a:spcBef>
                <a:spcPts val="0"/>
              </a:spcBef>
              <a:spcAft>
                <a:spcPts val="0"/>
              </a:spcAft>
              <a:buClr>
                <a:schemeClr val="dk2"/>
              </a:buClr>
              <a:buSzPts val="1400"/>
              <a:buAutoNum type="arabicPeriod"/>
            </a:pPr>
            <a:r>
              <a:rPr lang="en">
                <a:solidFill>
                  <a:schemeClr val="dk2"/>
                </a:solidFill>
              </a:rPr>
              <a:t>Calculate performance on validation data</a:t>
            </a:r>
            <a:endParaRPr>
              <a:solidFill>
                <a:schemeClr val="dk2"/>
              </a:solidFill>
            </a:endParaRPr>
          </a:p>
          <a:p>
            <a:pPr indent="-317500" lvl="0" marL="457200" rtl="0" algn="l">
              <a:spcBef>
                <a:spcPts val="0"/>
              </a:spcBef>
              <a:spcAft>
                <a:spcPts val="0"/>
              </a:spcAft>
              <a:buClr>
                <a:schemeClr val="dk2"/>
              </a:buClr>
              <a:buSzPts val="1400"/>
              <a:buAutoNum type="arabicPeriod"/>
            </a:pPr>
            <a:r>
              <a:rPr lang="en">
                <a:solidFill>
                  <a:schemeClr val="dk2"/>
                </a:solidFill>
              </a:rPr>
              <a:t>Repeat until performance metric on validation data stops increasing or some other criteria is met</a:t>
            </a:r>
            <a:endParaRPr>
              <a:solidFill>
                <a:schemeClr val="dk2"/>
              </a:solidFill>
            </a:endParaRPr>
          </a:p>
          <a:p>
            <a:pPr indent="-317500" lvl="0" marL="457200" rtl="0" algn="l">
              <a:spcBef>
                <a:spcPts val="0"/>
              </a:spcBef>
              <a:spcAft>
                <a:spcPts val="0"/>
              </a:spcAft>
              <a:buClr>
                <a:schemeClr val="dk2"/>
              </a:buClr>
              <a:buSzPts val="1400"/>
              <a:buAutoNum type="arabicPeriod"/>
            </a:pPr>
            <a:r>
              <a:rPr lang="en">
                <a:solidFill>
                  <a:schemeClr val="dk2"/>
                </a:solidFill>
              </a:rPr>
              <a:t>Evaluate performance on test data</a:t>
            </a:r>
            <a:endParaRPr>
              <a:solidFill>
                <a:schemeClr val="dk2"/>
              </a:solidFill>
            </a:endParaRPr>
          </a:p>
        </p:txBody>
      </p:sp>
      <p:sp>
        <p:nvSpPr>
          <p:cNvPr id="215" name="Google Shape;215;p22"/>
          <p:cNvSpPr txBox="1"/>
          <p:nvPr/>
        </p:nvSpPr>
        <p:spPr>
          <a:xfrm>
            <a:off x="421625" y="3313113"/>
            <a:ext cx="73227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Training data:</a:t>
            </a:r>
            <a:r>
              <a:rPr lang="en">
                <a:solidFill>
                  <a:schemeClr val="dk2"/>
                </a:solidFill>
              </a:rPr>
              <a:t> portion of the data used to fit the model’s parameters</a:t>
            </a:r>
            <a:br>
              <a:rPr lang="en">
                <a:solidFill>
                  <a:schemeClr val="dk2"/>
                </a:solidFill>
              </a:rPr>
            </a:br>
            <a:endParaRPr>
              <a:solidFill>
                <a:schemeClr val="dk2"/>
              </a:solidFill>
            </a:endParaRPr>
          </a:p>
          <a:p>
            <a:pPr indent="0" lvl="0" marL="0" rtl="0" algn="l">
              <a:spcBef>
                <a:spcPts val="0"/>
              </a:spcBef>
              <a:spcAft>
                <a:spcPts val="0"/>
              </a:spcAft>
              <a:buNone/>
            </a:pPr>
            <a:r>
              <a:rPr b="1" lang="en">
                <a:solidFill>
                  <a:schemeClr val="dk2"/>
                </a:solidFill>
              </a:rPr>
              <a:t>Validation data:</a:t>
            </a:r>
            <a:r>
              <a:rPr lang="en">
                <a:solidFill>
                  <a:schemeClr val="dk2"/>
                </a:solidFill>
              </a:rPr>
              <a:t> used during model development to evaluate generalization while tuning model. Model is not trained on this data</a:t>
            </a:r>
            <a:br>
              <a:rPr lang="en">
                <a:solidFill>
                  <a:schemeClr val="dk2"/>
                </a:solidFill>
              </a:rPr>
            </a:br>
            <a:endParaRPr>
              <a:solidFill>
                <a:schemeClr val="dk2"/>
              </a:solidFill>
            </a:endParaRPr>
          </a:p>
          <a:p>
            <a:pPr indent="0" lvl="0" marL="0" rtl="0" algn="l">
              <a:spcBef>
                <a:spcPts val="0"/>
              </a:spcBef>
              <a:spcAft>
                <a:spcPts val="0"/>
              </a:spcAft>
              <a:buNone/>
            </a:pPr>
            <a:r>
              <a:rPr b="1" lang="en">
                <a:solidFill>
                  <a:schemeClr val="dk2"/>
                </a:solidFill>
              </a:rPr>
              <a:t>Test data: </a:t>
            </a:r>
            <a:r>
              <a:rPr lang="en">
                <a:solidFill>
                  <a:schemeClr val="dk2"/>
                </a:solidFill>
              </a:rPr>
              <a:t>used only at the very end, after all training and hyperparameter tuning are complete, to produce an unbiased estimate of the model’s true performance</a:t>
            </a:r>
            <a:endParaRPr>
              <a:solidFill>
                <a:schemeClr val="dk2"/>
              </a:solidFill>
            </a:endParaRPr>
          </a:p>
          <a:p>
            <a:pPr indent="0" lvl="0" marL="0" rtl="0" algn="l">
              <a:spcBef>
                <a:spcPts val="0"/>
              </a:spcBef>
              <a:spcAft>
                <a:spcPts val="0"/>
              </a:spcAft>
              <a:buNone/>
            </a:pPr>
            <a:r>
              <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262700" y="312750"/>
            <a:ext cx="524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Regularization</a:t>
            </a:r>
            <a:endParaRPr/>
          </a:p>
        </p:txBody>
      </p:sp>
      <p:sp>
        <p:nvSpPr>
          <p:cNvPr id="221" name="Google Shape;221;p23"/>
          <p:cNvSpPr txBox="1"/>
          <p:nvPr/>
        </p:nvSpPr>
        <p:spPr>
          <a:xfrm>
            <a:off x="213050" y="879900"/>
            <a:ext cx="70215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2"/>
                </a:solidFill>
              </a:rPr>
              <a:t>Regularization means imposing constraints on the optimization process to meet certain desirable properties. Eg.,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285750" lvl="0" marL="457200" rtl="0" algn="l">
              <a:spcBef>
                <a:spcPts val="0"/>
              </a:spcBef>
              <a:spcAft>
                <a:spcPts val="0"/>
              </a:spcAft>
              <a:buClr>
                <a:schemeClr val="dk1"/>
              </a:buClr>
              <a:buSzPts val="900"/>
              <a:buAutoNum type="arabicPeriod"/>
            </a:pPr>
            <a:r>
              <a:rPr lang="en" sz="1100">
                <a:solidFill>
                  <a:schemeClr val="dk2"/>
                </a:solidFill>
              </a:rPr>
              <a:t>It is a good idea to keep the weights of a Neural Network small (accomplished by weight decay)</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285750" lvl="0" marL="914400" rtl="0" algn="l">
              <a:spcBef>
                <a:spcPts val="0"/>
              </a:spcBef>
              <a:spcAft>
                <a:spcPts val="0"/>
              </a:spcAft>
              <a:buClr>
                <a:schemeClr val="dk1"/>
              </a:buClr>
              <a:buSzPts val="900"/>
              <a:buChar char="-"/>
            </a:pPr>
            <a:r>
              <a:rPr lang="en" sz="1100">
                <a:solidFill>
                  <a:schemeClr val="dk2"/>
                </a:solidFill>
              </a:rPr>
              <a:t>Large weights amplify the magnitude of activations and gradients, making the model more sensitive to small input changes and more prone to overfitting → risk of overfitting.</a:t>
            </a:r>
            <a:br>
              <a:rPr lang="en" sz="1100">
                <a:solidFill>
                  <a:schemeClr val="dk2"/>
                </a:solidFill>
              </a:rPr>
            </a:br>
            <a:endParaRPr sz="1100">
              <a:solidFill>
                <a:schemeClr val="dk2"/>
              </a:solidFill>
            </a:endParaRPr>
          </a:p>
          <a:p>
            <a:pPr indent="-285750" lvl="0" marL="914400" rtl="0" algn="l">
              <a:spcBef>
                <a:spcPts val="0"/>
              </a:spcBef>
              <a:spcAft>
                <a:spcPts val="0"/>
              </a:spcAft>
              <a:buClr>
                <a:schemeClr val="dk1"/>
              </a:buClr>
              <a:buSzPts val="900"/>
              <a:buChar char="-"/>
            </a:pPr>
            <a:r>
              <a:rPr lang="en" sz="1100">
                <a:solidFill>
                  <a:schemeClr val="dk2"/>
                </a:solidFill>
              </a:rPr>
              <a:t>Small weights encourage simpler functions, which often generalize better.</a:t>
            </a:r>
            <a:br>
              <a:rPr lang="en" sz="1100">
                <a:solidFill>
                  <a:schemeClr val="dk2"/>
                </a:solidFill>
              </a:rPr>
            </a:br>
            <a:endParaRPr sz="1100">
              <a:solidFill>
                <a:schemeClr val="dk2"/>
              </a:solidFill>
            </a:endParaRPr>
          </a:p>
          <a:p>
            <a:pPr indent="-285750" lvl="0" marL="457200" rtl="0" algn="l">
              <a:spcBef>
                <a:spcPts val="0"/>
              </a:spcBef>
              <a:spcAft>
                <a:spcPts val="0"/>
              </a:spcAft>
              <a:buClr>
                <a:schemeClr val="dk1"/>
              </a:buClr>
              <a:buSzPts val="900"/>
              <a:buAutoNum type="arabicPeriod"/>
            </a:pPr>
            <a:r>
              <a:rPr lang="en" sz="1100">
                <a:solidFill>
                  <a:schemeClr val="dk2"/>
                </a:solidFill>
              </a:rPr>
              <a:t>The network shouldn’t overly rely on a small number of neurons (accomplished by dropout)</a:t>
            </a:r>
            <a:br>
              <a:rPr lang="en" sz="1100">
                <a:solidFill>
                  <a:schemeClr val="dk2"/>
                </a:solidFill>
              </a:rPr>
            </a:br>
            <a:endParaRPr sz="1100">
              <a:solidFill>
                <a:schemeClr val="dk2"/>
              </a:solidFill>
            </a:endParaRPr>
          </a:p>
          <a:p>
            <a:pPr indent="-285750" lvl="0" marL="457200" rtl="0" algn="l">
              <a:spcBef>
                <a:spcPts val="0"/>
              </a:spcBef>
              <a:spcAft>
                <a:spcPts val="0"/>
              </a:spcAft>
              <a:buClr>
                <a:schemeClr val="dk1"/>
              </a:buClr>
              <a:buSzPts val="900"/>
              <a:buAutoNum type="arabicPeriod"/>
            </a:pPr>
            <a:r>
              <a:rPr lang="en" sz="1100">
                <a:solidFill>
                  <a:schemeClr val="dk2"/>
                </a:solidFill>
              </a:rPr>
              <a:t>Reduce the chance of overfitting</a:t>
            </a:r>
            <a:br>
              <a:rPr lang="en" sz="1100">
                <a:solidFill>
                  <a:schemeClr val="dk2"/>
                </a:solidFill>
              </a:rPr>
            </a:br>
            <a:endParaRPr sz="1100">
              <a:solidFill>
                <a:schemeClr val="dk2"/>
              </a:solidFill>
            </a:endParaRPr>
          </a:p>
          <a:p>
            <a:pPr indent="-285750" lvl="1" marL="914400" rtl="0" algn="l">
              <a:spcBef>
                <a:spcPts val="0"/>
              </a:spcBef>
              <a:spcAft>
                <a:spcPts val="0"/>
              </a:spcAft>
              <a:buClr>
                <a:schemeClr val="dk1"/>
              </a:buClr>
              <a:buSzPts val="900"/>
              <a:buAutoNum type="alphaLcPeriod"/>
            </a:pPr>
            <a:r>
              <a:rPr b="1" lang="en" sz="1100">
                <a:solidFill>
                  <a:schemeClr val="dk2"/>
                </a:solidFill>
              </a:rPr>
              <a:t>Underfitting:</a:t>
            </a:r>
            <a:r>
              <a:rPr lang="en" sz="1100">
                <a:solidFill>
                  <a:schemeClr val="dk2"/>
                </a:solidFill>
              </a:rPr>
              <a:t> The model is too simple to capture the underlying structure or patterns in the data. Training and validation loss are both high</a:t>
            </a:r>
            <a:br>
              <a:rPr lang="en" sz="1100">
                <a:solidFill>
                  <a:schemeClr val="dk2"/>
                </a:solidFill>
              </a:rPr>
            </a:br>
            <a:endParaRPr sz="1100">
              <a:solidFill>
                <a:schemeClr val="dk2"/>
              </a:solidFill>
            </a:endParaRPr>
          </a:p>
          <a:p>
            <a:pPr indent="-279400" lvl="1" marL="914400" rtl="0" algn="l">
              <a:spcBef>
                <a:spcPts val="0"/>
              </a:spcBef>
              <a:spcAft>
                <a:spcPts val="0"/>
              </a:spcAft>
              <a:buClr>
                <a:schemeClr val="dk1"/>
              </a:buClr>
              <a:buSzPts val="800"/>
              <a:buAutoNum type="alphaLcPeriod"/>
            </a:pPr>
            <a:r>
              <a:rPr b="1" lang="en" sz="1100">
                <a:solidFill>
                  <a:schemeClr val="dk2"/>
                </a:solidFill>
              </a:rPr>
              <a:t>Overfitting:</a:t>
            </a:r>
            <a:r>
              <a:rPr lang="en" sz="1100">
                <a:solidFill>
                  <a:schemeClr val="dk2"/>
                </a:solidFill>
              </a:rPr>
              <a:t> The model memorizes the training data, rather than learning its underlying structure. Training loss low, but validation loss high. Can be mitigated by lowering number of model parameters, increasing size of training data, regularization, early stopping</a:t>
            </a:r>
            <a:endParaRPr sz="1100">
              <a:solidFill>
                <a:schemeClr val="dk2"/>
              </a:solidFill>
            </a:endParaRPr>
          </a:p>
          <a:p>
            <a:pPr indent="0" lvl="0" marL="45720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pic>
        <p:nvPicPr>
          <p:cNvPr id="222" name="Google Shape;222;p23"/>
          <p:cNvPicPr preferRelativeResize="0"/>
          <p:nvPr/>
        </p:nvPicPr>
        <p:blipFill rotWithShape="1">
          <a:blip r:embed="rId3">
            <a:alphaModFix/>
          </a:blip>
          <a:srcRect b="11319" l="35552" r="34838" t="11780"/>
          <a:stretch/>
        </p:blipFill>
        <p:spPr>
          <a:xfrm>
            <a:off x="7060725" y="2015888"/>
            <a:ext cx="2016450" cy="1582125"/>
          </a:xfrm>
          <a:prstGeom prst="rect">
            <a:avLst/>
          </a:prstGeom>
          <a:noFill/>
          <a:ln>
            <a:noFill/>
          </a:ln>
        </p:spPr>
      </p:pic>
      <p:pic>
        <p:nvPicPr>
          <p:cNvPr id="223" name="Google Shape;223;p23"/>
          <p:cNvPicPr preferRelativeResize="0"/>
          <p:nvPr/>
        </p:nvPicPr>
        <p:blipFill rotWithShape="1">
          <a:blip r:embed="rId3">
            <a:alphaModFix/>
          </a:blip>
          <a:srcRect b="12998" l="3517" r="65324" t="12513"/>
          <a:stretch/>
        </p:blipFill>
        <p:spPr>
          <a:xfrm>
            <a:off x="6955250" y="393750"/>
            <a:ext cx="2121925" cy="1532500"/>
          </a:xfrm>
          <a:prstGeom prst="rect">
            <a:avLst/>
          </a:prstGeom>
          <a:noFill/>
          <a:ln>
            <a:noFill/>
          </a:ln>
        </p:spPr>
      </p:pic>
      <p:pic>
        <p:nvPicPr>
          <p:cNvPr id="224" name="Google Shape;224;p23"/>
          <p:cNvPicPr preferRelativeResize="0"/>
          <p:nvPr/>
        </p:nvPicPr>
        <p:blipFill rotWithShape="1">
          <a:blip r:embed="rId3">
            <a:alphaModFix/>
          </a:blip>
          <a:srcRect b="14026" l="65689" r="4337" t="12573"/>
          <a:stretch/>
        </p:blipFill>
        <p:spPr>
          <a:xfrm>
            <a:off x="6955250" y="3503850"/>
            <a:ext cx="1886175" cy="1639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4"/>
          <p:cNvSpPr txBox="1"/>
          <p:nvPr>
            <p:ph type="title"/>
          </p:nvPr>
        </p:nvSpPr>
        <p:spPr>
          <a:xfrm>
            <a:off x="257800" y="146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Regularization: Weight Decay</a:t>
            </a:r>
            <a:endParaRPr/>
          </a:p>
        </p:txBody>
      </p:sp>
      <p:pic>
        <p:nvPicPr>
          <p:cNvPr descr="{&quot;type&quot;:&quot;lalign*&quot;,&quot;backgroundColor&quot;:&quot;#FFFFFF&quot;,&quot;backgroundColorModified&quot;:false,&quot;aid&quot;:null,&quot;code&quot;:&quot;\\begin{lalign*}\n&amp;{\\text{Recall}\\;\\text{the}\\;\\text{weight}\\;\\text{update}\\;\\text{equation.}\\;}\\\\\n&amp;{\\theta_{t+1}=\\theta_{t}-\\eta\\frac{\\partial e\\left(\\theta\\right)}{\\partial \\theta_{t}}\\,}\\\\\n&amp;{\\text{Here}\\;\\text{I'm}\\;\\text{using}\\;\\theta\\,\\text{instead}\\;\\text{of}\\;w\\,\\text{for}\\;\\text{parameters}.\\,e\\left(\\theta\\right)\\,\\text{is}\\;\\text{the}\\;\\text{loss}\\;\\text{function}\\;\\text{and}\\;\\eta\\;\\text{is}\\;\\text{the}\\;\\text{learning}\\;\\text{rate}}\\\\\n&amp;{\\text{Let's}\\;\\text{modify}\\;\\text{the}\\;\\text{Loss}\\;\\text{function}\\;\\text{by}\\;\\text{adding}\\;\\text{a}\\;\\text{term}\\;\\text{proportional}\\;\\text{to}\\;\\text{the}\\;\\text{square}\\;\\text{of}\\;\\text{the}\\;\\text{weights}}\\\\\n&amp;{e_{reg}\\left(\\theta\\right)=e\\left(\\theta\\right)+\\lambda\\sum_{j}^{}\\theta_{j}^{2}\\,\\,\\text{Here,}\\;\\lambda\\,\\text{is}\\;\\text{the}\\;\\text{regularization}\\;\\text{parameter}}\\\\\n&amp;{\\text{Adding}\\;\\text{regularization}\\;\\text{to}\\;\\text{weight}\\;\\text{update,}}\\\\\n&amp;{\\theta_{t+1}=\\theta_{t}-\\eta\\frac{\\partial e_{reg}\\left(\\theta\\right)}{\\partial \\theta_{t}}\\,}\\\\\n&amp;{\\theta_{t+1}=\\theta_{t}-\\eta\\left(\\frac{\\partial e\\left(\\theta\\right)}{\\partial \\theta_{t}}+2\\lambda\\sum_{j}^{}\\theta_{j}\\right)}\\\\\n&amp;{\\text{Notice}\\;\\text{that}\\;\\text{the}\\;\\text{regularization}\\;\\text{parameter}\\;\\text{ends}\\;\\text{up}\\;\\text{being}\\;\\text{multiplied}\\;\\text{by}\\;\\text{the}\\;\\text{learnin}g\\,\\text{rate}}\\\\\n&amp;{\\text{So}\\;\\text{if}\\;\\text{we}\\;\\text{use}\\;\\text{a}\\;\\text{learning}\\;\\text{rate}\\;\\text{schedule,}\\;\\text{the}\\;\\text{effective}\\;\\text{regularization}\\;\\text{strength}\\;\\text{will}\\;\\text{end}\\;\\text{up}\\;\\text{}}\\\\\n&amp;{\\text{decaying}\\;\\text{as}\\;\\text{well}}\\\\\n&amp;{}\\\\\n&amp;{}\\\\\n&amp;{}\t\n\\end{lalign*}&quot;,&quot;font&quot;:{&quot;color&quot;:&quot;#000000&quot;,&quot;size&quot;:9.5,&quot;family&quot;:&quot;Arial&quot;},&quot;id&quot;:&quot;6&quot;,&quot;ts&quot;:1757164002923,&quot;cs&quot;:&quot;aCfwLiqPJpzwYBLfwXGAnA==&quot;,&quot;size&quot;:{&quot;width&quot;:604.5000000000001,&quot;height&quot;:301}}" id="230" name="Google Shape;230;p24"/>
          <p:cNvPicPr preferRelativeResize="0"/>
          <p:nvPr/>
        </p:nvPicPr>
        <p:blipFill>
          <a:blip r:embed="rId3">
            <a:alphaModFix/>
          </a:blip>
          <a:stretch>
            <a:fillRect/>
          </a:stretch>
        </p:blipFill>
        <p:spPr>
          <a:xfrm>
            <a:off x="379350" y="665500"/>
            <a:ext cx="6200949" cy="3087650"/>
          </a:xfrm>
          <a:prstGeom prst="rect">
            <a:avLst/>
          </a:prstGeom>
          <a:noFill/>
          <a:ln>
            <a:noFill/>
          </a:ln>
        </p:spPr>
      </p:pic>
      <p:sp>
        <p:nvSpPr>
          <p:cNvPr id="231" name="Google Shape;231;p24"/>
          <p:cNvSpPr txBox="1"/>
          <p:nvPr/>
        </p:nvSpPr>
        <p:spPr>
          <a:xfrm>
            <a:off x="342825" y="3894725"/>
            <a:ext cx="7447500" cy="133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Generally, regularization is not applied to bias parameters. This is because bias often represents a "baseline prediction" (e.g., class prior probability). Regularizing it could distort this baseline estimate.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Note: lambda is called “weight decay” in Pytorch.. </a:t>
            </a:r>
            <a:endParaRPr sz="1100">
              <a:solidFill>
                <a:schemeClr val="dk1"/>
              </a:solidFill>
            </a:endParaRPr>
          </a:p>
          <a:p>
            <a:pPr indent="0" lvl="0" marL="0" rtl="0" algn="l">
              <a:lnSpc>
                <a:spcPct val="115000"/>
              </a:lnSpc>
              <a:spcBef>
                <a:spcPts val="1200"/>
              </a:spcBef>
              <a:spcAft>
                <a:spcPts val="1200"/>
              </a:spcAft>
              <a:buNone/>
            </a:pPr>
            <a:r>
              <a:t/>
            </a:r>
            <a:endParaRPr sz="9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5"/>
          <p:cNvSpPr txBox="1"/>
          <p:nvPr>
            <p:ph type="title"/>
          </p:nvPr>
        </p:nvSpPr>
        <p:spPr>
          <a:xfrm>
            <a:off x="262700" y="312750"/>
            <a:ext cx="524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Regularization: Dropout</a:t>
            </a:r>
            <a:endParaRPr/>
          </a:p>
        </p:txBody>
      </p:sp>
      <p:sp>
        <p:nvSpPr>
          <p:cNvPr id="237" name="Google Shape;237;p25"/>
          <p:cNvSpPr txBox="1"/>
          <p:nvPr/>
        </p:nvSpPr>
        <p:spPr>
          <a:xfrm>
            <a:off x="262700" y="950350"/>
            <a:ext cx="7686000" cy="314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Another regularization method is </a:t>
            </a:r>
            <a:r>
              <a:rPr lang="en" sz="1300" u="sng">
                <a:solidFill>
                  <a:schemeClr val="hlink"/>
                </a:solidFill>
                <a:hlinkClick r:id="rId3"/>
              </a:rPr>
              <a:t>Dropout</a:t>
            </a:r>
            <a:r>
              <a:rPr lang="en" sz="1300">
                <a:solidFill>
                  <a:schemeClr val="dk1"/>
                </a:solidFill>
              </a:rPr>
              <a:t>, where during training, we randomly “drop” (set to zero) a fraction of neurons in a layer. Setting to zero means setting the corresponding activations to 0. The subset of neurons set to 0 is called “dropout mask”. This mask changes every training iteration. </a:t>
            </a:r>
            <a:endParaRPr sz="1300">
              <a:solidFill>
                <a:schemeClr val="dk1"/>
              </a:solidFill>
            </a:endParaRPr>
          </a:p>
          <a:p>
            <a:pPr indent="0" lvl="0" marL="0" rtl="0" algn="l">
              <a:lnSpc>
                <a:spcPct val="115000"/>
              </a:lnSpc>
              <a:spcBef>
                <a:spcPts val="1200"/>
              </a:spcBef>
              <a:spcAft>
                <a:spcPts val="0"/>
              </a:spcAft>
              <a:buNone/>
            </a:pPr>
            <a:r>
              <a:rPr lang="en" sz="1300">
                <a:solidFill>
                  <a:schemeClr val="dk1"/>
                </a:solidFill>
              </a:rPr>
              <a:t>The intuition is that Neurons can’t rely on specific other neurons being present and thus learn more </a:t>
            </a:r>
            <a:r>
              <a:rPr b="1" lang="en" sz="1300">
                <a:solidFill>
                  <a:schemeClr val="dk1"/>
                </a:solidFill>
              </a:rPr>
              <a:t>independent, robust features</a:t>
            </a:r>
            <a:r>
              <a:rPr lang="en" sz="1300">
                <a:solidFill>
                  <a:schemeClr val="dk1"/>
                </a:solidFill>
              </a:rPr>
              <a:t>.</a:t>
            </a:r>
            <a:endParaRPr sz="1300">
              <a:solidFill>
                <a:schemeClr val="dk1"/>
              </a:solidFill>
            </a:endParaRPr>
          </a:p>
          <a:p>
            <a:pPr indent="0" lvl="0" marL="0" rtl="0" algn="l">
              <a:lnSpc>
                <a:spcPct val="115000"/>
              </a:lnSpc>
              <a:spcBef>
                <a:spcPts val="1200"/>
              </a:spcBef>
              <a:spcAft>
                <a:spcPts val="0"/>
              </a:spcAft>
              <a:buNone/>
            </a:pPr>
            <a:r>
              <a:rPr lang="en" sz="1300">
                <a:solidFill>
                  <a:schemeClr val="dk1"/>
                </a:solidFill>
              </a:rPr>
              <a:t>Dropout used to be quite popular in older networks to prevent overfitting, but less common in latest Transformer-based networks. This is because the size of training datasets is huge, and each training sample is only seen a small number of times, making overfitting is less of a problem. See </a:t>
            </a:r>
            <a:r>
              <a:rPr lang="en" sz="1300" u="sng">
                <a:solidFill>
                  <a:schemeClr val="hlink"/>
                </a:solidFill>
                <a:hlinkClick r:id="rId4"/>
              </a:rPr>
              <a:t>this</a:t>
            </a:r>
            <a:r>
              <a:rPr lang="en" sz="1300">
                <a:solidFill>
                  <a:schemeClr val="dk1"/>
                </a:solidFill>
              </a:rPr>
              <a:t> article (search for dropout)</a:t>
            </a:r>
            <a:endParaRPr sz="13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Optimizer	</a:t>
            </a:r>
            <a:endParaRPr/>
          </a:p>
        </p:txBody>
      </p:sp>
      <p:sp>
        <p:nvSpPr>
          <p:cNvPr id="243" name="Google Shape;243;p26"/>
          <p:cNvSpPr txBox="1"/>
          <p:nvPr/>
        </p:nvSpPr>
        <p:spPr>
          <a:xfrm>
            <a:off x="1584050" y="1850450"/>
            <a:ext cx="101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rPr>
              <a:t>SGD</a:t>
            </a:r>
            <a:endParaRPr b="1" sz="1100"/>
          </a:p>
        </p:txBody>
      </p:sp>
      <p:pic>
        <p:nvPicPr>
          <p:cNvPr descr="{&quot;code&quot;:&quot;\\begin{lalign*}\n&amp;{g_{t}=\\frac{\\partial e}{\\partial w_{t}}}\\\\\n&amp;{w_{t+1}=w_{t}-\\eta g_{t\\,}}\t\n\\end{lalign*}&quot;,&quot;aid&quot;:null,&quot;backgroundColorModified&quot;:false,&quot;type&quot;:&quot;lalign*&quot;,&quot;id&quot;:&quot;1&quot;,&quot;font&quot;:{&quot;family&quot;:&quot;Arial&quot;,&quot;color&quot;:&quot;#000000&quot;,&quot;size&quot;:15.5},&quot;backgroundColor&quot;:&quot;#FFFFFF&quot;,&quot;ts&quot;:1756377933570,&quot;cs&quot;:&quot;mprsI/fA1AFZXEj2cjlt5A==&quot;,&quot;size&quot;:{&quot;width&quot;:165,&quot;height&quot;:85}}" id="244" name="Google Shape;244;p26"/>
          <p:cNvPicPr preferRelativeResize="0"/>
          <p:nvPr/>
        </p:nvPicPr>
        <p:blipFill>
          <a:blip r:embed="rId3">
            <a:alphaModFix/>
          </a:blip>
          <a:stretch>
            <a:fillRect/>
          </a:stretch>
        </p:blipFill>
        <p:spPr>
          <a:xfrm>
            <a:off x="1255265" y="2388913"/>
            <a:ext cx="1571625" cy="809625"/>
          </a:xfrm>
          <a:prstGeom prst="rect">
            <a:avLst/>
          </a:prstGeom>
          <a:noFill/>
          <a:ln>
            <a:noFill/>
          </a:ln>
        </p:spPr>
      </p:pic>
      <p:sp>
        <p:nvSpPr>
          <p:cNvPr id="245" name="Google Shape;245;p26"/>
          <p:cNvSpPr txBox="1"/>
          <p:nvPr/>
        </p:nvSpPr>
        <p:spPr>
          <a:xfrm>
            <a:off x="821075" y="3321500"/>
            <a:ext cx="2445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All parameters are treated equally. Parameters that get large gradients should get smaller steps and vice versa</a:t>
            </a:r>
            <a:endParaRPr sz="1000"/>
          </a:p>
        </p:txBody>
      </p:sp>
      <p:sp>
        <p:nvSpPr>
          <p:cNvPr id="246" name="Google Shape;246;p26"/>
          <p:cNvSpPr txBox="1"/>
          <p:nvPr/>
        </p:nvSpPr>
        <p:spPr>
          <a:xfrm>
            <a:off x="5723700" y="1964200"/>
            <a:ext cx="12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rPr>
              <a:t>RMSProp</a:t>
            </a:r>
            <a:endParaRPr b="1" sz="1100"/>
          </a:p>
        </p:txBody>
      </p:sp>
      <p:pic>
        <p:nvPicPr>
          <p:cNvPr descr="{&quot;backgroundColorModified&quot;:false,&quot;type&quot;:&quot;lalign*&quot;,&quot;font&quot;:{&quot;color&quot;:&quot;#000000&quot;,&quot;size&quot;:15.5,&quot;family&quot;:&quot;Arial&quot;},&quot;id&quot;:&quot;2&quot;,&quot;aid&quot;:null,&quot;backgroundColor&quot;:&quot;#FFFFFF&quot;,&quot;code&quot;:&quot;\\begin{lalign*}\n&amp;{E\\left[g^{2}\\right]_{t}=\\rho E\\left[g^{2}\\right]_{t-1}+\\left(1-\\rho\\right)g_{t}^{2}}\\\\\n&amp;{w_{t+1}=w_{t}-\\eta \\frac{g_{t}}{{\\sqrt[]{E\\left[g^{2}\\right]_{t}+\\epsilon}}}}\t\n\\end{lalign*}&quot;,&quot;ts&quot;:1756378291351,&quot;cs&quot;:&quot;Bh4pNCKR5SJYnFKEHGcUeQ==&quot;,&quot;size&quot;:{&quot;width&quot;:327.5,&quot;height&quot;:96.25}}" id="247" name="Google Shape;247;p26"/>
          <p:cNvPicPr preferRelativeResize="0"/>
          <p:nvPr/>
        </p:nvPicPr>
        <p:blipFill>
          <a:blip r:embed="rId4">
            <a:alphaModFix/>
          </a:blip>
          <a:stretch>
            <a:fillRect/>
          </a:stretch>
        </p:blipFill>
        <p:spPr>
          <a:xfrm>
            <a:off x="5083025" y="2410476"/>
            <a:ext cx="2754783" cy="809625"/>
          </a:xfrm>
          <a:prstGeom prst="rect">
            <a:avLst/>
          </a:prstGeom>
          <a:noFill/>
          <a:ln>
            <a:noFill/>
          </a:ln>
        </p:spPr>
      </p:pic>
      <p:sp>
        <p:nvSpPr>
          <p:cNvPr id="248" name="Google Shape;248;p26"/>
          <p:cNvSpPr txBox="1"/>
          <p:nvPr/>
        </p:nvSpPr>
        <p:spPr>
          <a:xfrm>
            <a:off x="5011750" y="3372500"/>
            <a:ext cx="336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If a parameter receives large gradients, the denominator would grow large and step size would become smaller</a:t>
            </a:r>
            <a:endParaRPr sz="1000"/>
          </a:p>
        </p:txBody>
      </p:sp>
      <p:sp>
        <p:nvSpPr>
          <p:cNvPr id="249" name="Google Shape;249;p26"/>
          <p:cNvSpPr txBox="1"/>
          <p:nvPr/>
        </p:nvSpPr>
        <p:spPr>
          <a:xfrm>
            <a:off x="381000" y="1017725"/>
            <a:ext cx="7728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Optimizer:</a:t>
            </a:r>
            <a:r>
              <a:rPr lang="en">
                <a:solidFill>
                  <a:schemeClr val="dk1"/>
                </a:solidFill>
              </a:rPr>
              <a:t> Module that updates network parameters using gradients calculated in the backward pass, applying regularization and learning rate schedule</a:t>
            </a:r>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Optimizer	: Adam</a:t>
            </a:r>
            <a:endParaRPr/>
          </a:p>
        </p:txBody>
      </p:sp>
      <p:sp>
        <p:nvSpPr>
          <p:cNvPr id="255" name="Google Shape;255;p27"/>
          <p:cNvSpPr txBox="1"/>
          <p:nvPr/>
        </p:nvSpPr>
        <p:spPr>
          <a:xfrm>
            <a:off x="7680625" y="1184225"/>
            <a:ext cx="1016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Adam</a:t>
            </a:r>
            <a:endParaRPr sz="1100"/>
          </a:p>
        </p:txBody>
      </p:sp>
      <p:sp>
        <p:nvSpPr>
          <p:cNvPr id="256" name="Google Shape;256;p27"/>
          <p:cNvSpPr txBox="1"/>
          <p:nvPr/>
        </p:nvSpPr>
        <p:spPr>
          <a:xfrm>
            <a:off x="411850" y="1184225"/>
            <a:ext cx="68598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Adam: Most popular and successful optimizer</a:t>
            </a:r>
            <a:endParaRPr sz="15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Uses moving average of the gradient </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Since m_t, v_t are initialized to zero, they are biased towards 0 in the early time steps. Adam adds bias correction, which corrects for early underestimation </a:t>
            </a:r>
            <a:endParaRPr sz="1300">
              <a:solidFill>
                <a:schemeClr val="dk1"/>
              </a:solidFill>
            </a:endParaRPr>
          </a:p>
        </p:txBody>
      </p:sp>
      <p:pic>
        <p:nvPicPr>
          <p:cNvPr descr="{&quot;type&quot;:&quot;lalign*&quot;,&quot;id&quot;:&quot;2&quot;,&quot;backgroundColor&quot;:&quot;#FFFFFF&quot;,&quot;font&quot;:{&quot;size&quot;:12.5,&quot;family&quot;:&quot;Arial&quot;,&quot;color&quot;:&quot;#000000&quot;},&quot;backgroundColorModified&quot;:false,&quot;code&quot;:&quot;\\begin{lalign*}\n&amp;{\\text{Moving}\\;\\text{average}\\;\\text{of}\\;\\text{gradients}}\\\\\n&amp;{m_{t}=\\beta _{1}m_{t-1}+\\left(1-\\beta_{1}\\right)g_{t}}\\\\\n&amp;{\\text{Moving}\\;\\text{average}\\;\\text{of}\\;\\text{square}\\;\\text{of}\\;\\text{gradients}}\\\\\n&amp;{v_{t}=\\beta _{2}v_{t-1}+\\left(1-\\beta_{2}\\right)g_{t}^{2}}\\\\\n&amp;{\\text{Bias}\\;\\text{removal}}\\\\\n&amp;{\\hat{m_{t}}=\\frac{m_{t}}{1-\\beta_{1}^{t}},\\,\\hat{v_{t}}=\\frac{v_{t}}{1-\\beta_{2}^{t}}\\,}\\\\\n&amp;{\\text{Weight}\\;\\text{update}\\;\\text{equation}}\\\\\n&amp;{w_{t+1}=w_{t}-\\eta \\frac{\\hat{m_{t}}}{{\\sqrt[]{\\hat{v_{t}}+\\epsilon}}}}\t\n\\end{lalign*}&quot;,&quot;aid&quot;:null,&quot;ts&quot;:1764852930534,&quot;cs&quot;:&quot;T1vlb7oxn54IvbiZ66YRUw==&quot;,&quot;size&quot;:{&quot;width&quot;:320,&quot;height&quot;:255.99999999999997}}" id="257" name="Google Shape;257;p27"/>
          <p:cNvPicPr preferRelativeResize="0"/>
          <p:nvPr/>
        </p:nvPicPr>
        <p:blipFill>
          <a:blip r:embed="rId3">
            <a:alphaModFix/>
          </a:blip>
          <a:stretch>
            <a:fillRect/>
          </a:stretch>
        </p:blipFill>
        <p:spPr>
          <a:xfrm>
            <a:off x="689182" y="2366526"/>
            <a:ext cx="3048000" cy="2438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Optimizer	</a:t>
            </a:r>
            <a:endParaRPr/>
          </a:p>
        </p:txBody>
      </p:sp>
      <p:sp>
        <p:nvSpPr>
          <p:cNvPr id="263" name="Google Shape;263;p28"/>
          <p:cNvSpPr txBox="1"/>
          <p:nvPr/>
        </p:nvSpPr>
        <p:spPr>
          <a:xfrm>
            <a:off x="273175" y="1014200"/>
            <a:ext cx="6859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Adam vs AdamW</a:t>
            </a:r>
            <a:endParaRPr sz="100"/>
          </a:p>
        </p:txBody>
      </p:sp>
      <p:pic>
        <p:nvPicPr>
          <p:cNvPr descr="{&quot;backgroundColorModified&quot;:false,&quot;font&quot;:{&quot;color&quot;:&quot;#000000&quot;,&quot;size&quot;:12.5,&quot;family&quot;:&quot;Arial&quot;},&quot;code&quot;:&quot;\\begin{lalign*}\n&amp;{\\text{Recall}\\,\\text{weight}\\;\\text{update}\\;\\text{equation}}\\\\\n&amp;{g_{t}=\\frac{\\partial e}{\\partial w_{t}}}\\\\\n&amp;{w_{t+1}=w_{t}-\\eta \\left(f\\left(g_{t}\\right)+\\lambda w_{t}\\right)}\\\\\n&amp;{\\text{Here,}\\;f\\;\\text{is}\\;\\text{the}\\;\\text{modification}\\;\\text{applied}\\;\\text{to}\\;\\text{}}\\\\\n&amp;{\\text{gradients..}\\;\\text{eg.,}\\;\\text{RMSProp}\\;\\text{Adam}\\;\\text{etc.}}\\\\\n&amp;{\\lambda:\\,\\text{Regularization}\\;\\text{strength}}\\\\\n&amp;{\\eta:\\,\\text{Learning}\\;\\text{Rate}}\t\n\\end{lalign*}&quot;,&quot;id&quot;:&quot;1&quot;,&quot;backgroundColor&quot;:&quot;#FFFFFF&quot;,&quot;aid&quot;:null,&quot;type&quot;:&quot;lalign*&quot;,&quot;ts&quot;:1756386523040,&quot;cs&quot;:&quot;EkeU3pw/WyAwkUsj094MeA==&quot;,&quot;size&quot;:{&quot;width&quot;:313.5,&quot;height&quot;:194.75}}" id="264" name="Google Shape;264;p28"/>
          <p:cNvPicPr preferRelativeResize="0"/>
          <p:nvPr/>
        </p:nvPicPr>
        <p:blipFill>
          <a:blip r:embed="rId3">
            <a:alphaModFix/>
          </a:blip>
          <a:stretch>
            <a:fillRect/>
          </a:stretch>
        </p:blipFill>
        <p:spPr>
          <a:xfrm>
            <a:off x="235056" y="2062475"/>
            <a:ext cx="2986088" cy="1854994"/>
          </a:xfrm>
          <a:prstGeom prst="rect">
            <a:avLst/>
          </a:prstGeom>
          <a:noFill/>
          <a:ln>
            <a:noFill/>
          </a:ln>
        </p:spPr>
      </p:pic>
      <p:pic>
        <p:nvPicPr>
          <p:cNvPr descr="{&quot;backgroundColor&quot;:&quot;#FFFFFF&quot;,&quot;font&quot;:{&quot;color&quot;:&quot;#000000&quot;,&quot;family&quot;:&quot;Arial&quot;,&quot;size&quot;:12.5},&quot;code&quot;:&quot;\\begin{lalign*}\n&amp;{\\text{In}\\;\\text{old}\\;\\text{versions}\\;\\text{of}\\;\\text{Adam,}\\;\\text{regularization},}\\\\\n&amp;{\\text{(also}\\;\\text{called}\\;\\text{weight}\\;\\text{decay)}\\;\\text{was}\\;\\text{mixed}\\;\\text{in}\\;\\text{with}\\;\\text{gradient}\\;\\text{}}\\\\\n&amp;{\\text{calculation}}\\\\\n&amp;{g_{t}=\\frac{\\partial e}{\\partial w_{t}}+\\lambda w_{t}}\\\\\n&amp;{w_{t+1}=w_{t}-\\eta \\left(f\\left(g_{t}\\right)\\right)}\\\\\n&amp;{\\text{Note}\\;\\text{how}\\;f\\,\\text{acts}\\;\\text{on}\\;\\lambda w_{t}\\;\\text{in}\\;\\text{addition}\\;\\text{to}\\;\\text{the}\\;\\text{gradient}}\t\n\\end{lalign*}&quot;,&quot;type&quot;:&quot;lalign*&quot;,&quot;aid&quot;:null,&quot;id&quot;:&quot;1&quot;,&quot;backgroundColorModified&quot;:false,&quot;ts&quot;:1764936893891,&quot;cs&quot;:&quot;ouNxnNiWEdae5aZ1AHvf6A==&quot;,&quot;size&quot;:{&quot;width&quot;:452.3333333333334,&quot;height&quot;:169.33333333333334}}" id="265" name="Google Shape;265;p28"/>
          <p:cNvPicPr preferRelativeResize="0"/>
          <p:nvPr/>
        </p:nvPicPr>
        <p:blipFill>
          <a:blip r:embed="rId4">
            <a:alphaModFix/>
          </a:blip>
          <a:stretch>
            <a:fillRect/>
          </a:stretch>
        </p:blipFill>
        <p:spPr>
          <a:xfrm>
            <a:off x="4137932" y="794799"/>
            <a:ext cx="4308475" cy="1612900"/>
          </a:xfrm>
          <a:prstGeom prst="rect">
            <a:avLst/>
          </a:prstGeom>
          <a:noFill/>
          <a:ln>
            <a:noFill/>
          </a:ln>
        </p:spPr>
      </p:pic>
      <p:pic>
        <p:nvPicPr>
          <p:cNvPr descr="{&quot;type&quot;:&quot;gather*&quot;,&quot;id&quot;:&quot;12&quot;,&quot;aid&quot;:null,&quot;code&quot;:&quot;\\begin{gather*}\n{\\text{AdamW}\\;\\text{decouples}\\;\\text{regularization}\\;\\text{from}\\;\\text{weight}\\;\\text{update}}\\\\\n{\\text{First}\\;\\text{apply}\\;\\text{regularization:}}\\\\\n{w_{t}=w_{t}-\\eta\\lambda w_{t}}\\\\\n{\\text{Now}\\;\\text{apply}\\;\\text{gradient}\\;\\text{update}\\;\\text{with}\\;\\text{Adam}\\;\\text{modification}}\\\\\n{w_{t+1}=w_{t}-f\\left(g_{t}\\right)}\t\n\\end{gather*}&quot;,&quot;backgroundColor&quot;:&quot;#FFFFFF&quot;,&quot;backgroundColorModified&quot;:false,&quot;font&quot;:{&quot;size&quot;:12.5,&quot;family&quot;:&quot;Arial&quot;,&quot;color&quot;:&quot;#000000&quot;},&quot;ts&quot;:1764937340832,&quot;cs&quot;:&quot;6cvt9AuDyn4A1rnz6WvalQ==&quot;,&quot;size&quot;:{&quot;width&quot;:452,&quot;height&quot;:120.66666666666667}}" id="266" name="Google Shape;266;p28"/>
          <p:cNvPicPr preferRelativeResize="0"/>
          <p:nvPr/>
        </p:nvPicPr>
        <p:blipFill>
          <a:blip r:embed="rId5">
            <a:alphaModFix/>
          </a:blip>
          <a:stretch>
            <a:fillRect/>
          </a:stretch>
        </p:blipFill>
        <p:spPr>
          <a:xfrm>
            <a:off x="3846075" y="3136350"/>
            <a:ext cx="4305300" cy="1149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ph type="title"/>
          </p:nvPr>
        </p:nvSpPr>
        <p:spPr>
          <a:xfrm>
            <a:off x="262700" y="312750"/>
            <a:ext cx="524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Hyperparameters</a:t>
            </a:r>
            <a:endParaRPr/>
          </a:p>
        </p:txBody>
      </p:sp>
      <p:sp>
        <p:nvSpPr>
          <p:cNvPr id="272" name="Google Shape;272;p29"/>
          <p:cNvSpPr txBox="1"/>
          <p:nvPr/>
        </p:nvSpPr>
        <p:spPr>
          <a:xfrm>
            <a:off x="308025" y="1531725"/>
            <a:ext cx="7686000" cy="15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The initial value of these parameters is chosen by guesswork and set at the beginning of a training run.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A systematic exploration of the best value of these parameters for a given model is called </a:t>
            </a:r>
            <a:r>
              <a:rPr i="1" lang="en" sz="1100">
                <a:solidFill>
                  <a:schemeClr val="dk1"/>
                </a:solidFill>
              </a:rPr>
              <a:t>Hyperparameter Tuning</a:t>
            </a:r>
            <a:r>
              <a:rPr lang="en" sz="1100">
                <a:solidFill>
                  <a:schemeClr val="dk1"/>
                </a:solidFill>
              </a:rPr>
              <a:t>. More on that in a subsequent lecture</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p:txBody>
      </p:sp>
      <p:pic>
        <p:nvPicPr>
          <p:cNvPr descr="{&quot;font&quot;:{&quot;color&quot;:&quot;#000000&quot;,&quot;size&quot;:11,&quot;family&quot;:&quot;Arial&quot;},&quot;code&quot;:&quot;\\begin{lalign*}\n&amp;{\\text{Parameters}\\;\\text{such}\\;\\text{as}\\;\\eta\\,\\text{(learning}\\;\\text{rate),}\\;\\lambda\\,\\text{(regularization}\\;\\text{strength)},\\,\\text{batch}\\;\\text{size},}\\\\\n&amp;{\\text{size}\\;\\text{of}\\;\\text{hidden}\\;\\text{layer,}\\;\\text{number}\\;\\text{of}\\;\\text{layers},\\,\\text{number}\\;\\text{of}\\;\\text{epochs}\\;\\text{etc.,}\\;\\text{are}\\;\\text{called}\\;\\text{\&quot;hyper}\\text{parameters\&quot;}}\t\n\\end{lalign*}&quot;,&quot;backgroundColorModified&quot;:false,&quot;backgroundColor&quot;:&quot;#FFFFFF&quot;,&quot;aid&quot;:null,&quot;id&quot;:&quot;7&quot;,&quot;type&quot;:&quot;lalign*&quot;,&quot;ts&quot;:1757169393178,&quot;cs&quot;:&quot;94kpz/ujo/vIOiRSOF1gxQ==&quot;,&quot;size&quot;:{&quot;width&quot;:675,&quot;height&quot;:39}}" id="273" name="Google Shape;273;p29"/>
          <p:cNvPicPr preferRelativeResize="0"/>
          <p:nvPr/>
        </p:nvPicPr>
        <p:blipFill>
          <a:blip r:embed="rId3">
            <a:alphaModFix/>
          </a:blip>
          <a:stretch>
            <a:fillRect/>
          </a:stretch>
        </p:blipFill>
        <p:spPr>
          <a:xfrm>
            <a:off x="370342" y="1022850"/>
            <a:ext cx="6429375" cy="371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ph type="title"/>
          </p:nvPr>
        </p:nvSpPr>
        <p:spPr>
          <a:xfrm>
            <a:off x="262700" y="312750"/>
            <a:ext cx="5248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Code Example</a:t>
            </a:r>
            <a:endParaRPr/>
          </a:p>
        </p:txBody>
      </p:sp>
      <p:sp>
        <p:nvSpPr>
          <p:cNvPr id="279" name="Google Shape;279;p30"/>
          <p:cNvSpPr txBox="1"/>
          <p:nvPr/>
        </p:nvSpPr>
        <p:spPr>
          <a:xfrm>
            <a:off x="376275" y="1066375"/>
            <a:ext cx="7686000" cy="174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Simple_nn1.py: Training a simple 1 layer network to predict sin(x)</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Simple_nn2.py: Implementing the forward, backward pass, loss calculation and parameter update steps manually</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Simple_nn3.py: Using Pytorch Dataloader and Dataset classes</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spcBef>
                <a:spcPts val="1200"/>
              </a:spcBef>
              <a:spcAft>
                <a:spcPts val="0"/>
              </a:spcAft>
              <a:buNone/>
            </a:pPr>
            <a:r>
              <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 work: Classification Example--Spiral Dataset</a:t>
            </a:r>
            <a:endParaRPr/>
          </a:p>
        </p:txBody>
      </p:sp>
      <p:sp>
        <p:nvSpPr>
          <p:cNvPr id="285" name="Google Shape;28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Build a 3 layer network to classify points on the arms of a spiral dataset</a:t>
            </a:r>
            <a:endParaRPr/>
          </a:p>
          <a:p>
            <a:pPr indent="0" lvl="0" marL="0" rtl="0" algn="l">
              <a:spcBef>
                <a:spcPts val="1200"/>
              </a:spcBef>
              <a:spcAft>
                <a:spcPts val="1200"/>
              </a:spcAft>
              <a:buNone/>
            </a:pPr>
            <a:r>
              <a:t/>
            </a:r>
            <a:endParaRPr/>
          </a:p>
        </p:txBody>
      </p:sp>
      <p:pic>
        <p:nvPicPr>
          <p:cNvPr id="286" name="Google Shape;286;p31"/>
          <p:cNvPicPr preferRelativeResize="0"/>
          <p:nvPr/>
        </p:nvPicPr>
        <p:blipFill>
          <a:blip r:embed="rId3">
            <a:alphaModFix/>
          </a:blip>
          <a:stretch>
            <a:fillRect/>
          </a:stretch>
        </p:blipFill>
        <p:spPr>
          <a:xfrm>
            <a:off x="374475" y="1704700"/>
            <a:ext cx="4197525" cy="3148150"/>
          </a:xfrm>
          <a:prstGeom prst="rect">
            <a:avLst/>
          </a:prstGeom>
          <a:noFill/>
          <a:ln>
            <a:noFill/>
          </a:ln>
        </p:spPr>
      </p:pic>
      <p:sp>
        <p:nvSpPr>
          <p:cNvPr id="287" name="Google Shape;287;p31"/>
          <p:cNvSpPr txBox="1"/>
          <p:nvPr/>
        </p:nvSpPr>
        <p:spPr>
          <a:xfrm>
            <a:off x="5113175" y="2194550"/>
            <a:ext cx="21171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100">
                <a:solidFill>
                  <a:schemeClr val="dk1"/>
                </a:solidFill>
              </a:rPr>
              <a:t>spiral_arm_classification.py</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Classifying digits in the MNIST dataset</a:t>
            </a:r>
            <a:endParaRPr/>
          </a:p>
        </p:txBody>
      </p:sp>
      <p:sp>
        <p:nvSpPr>
          <p:cNvPr id="293" name="Google Shape;29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 work: Classification Example--MNIST</a:t>
            </a:r>
            <a:endParaRPr/>
          </a:p>
        </p:txBody>
      </p:sp>
      <p:pic>
        <p:nvPicPr>
          <p:cNvPr id="294" name="Google Shape;294;p32"/>
          <p:cNvPicPr preferRelativeResize="0"/>
          <p:nvPr/>
        </p:nvPicPr>
        <p:blipFill>
          <a:blip r:embed="rId3">
            <a:alphaModFix/>
          </a:blip>
          <a:stretch>
            <a:fillRect/>
          </a:stretch>
        </p:blipFill>
        <p:spPr>
          <a:xfrm>
            <a:off x="311700" y="1708975"/>
            <a:ext cx="8839201" cy="1500349"/>
          </a:xfrm>
          <a:prstGeom prst="rect">
            <a:avLst/>
          </a:prstGeom>
          <a:noFill/>
          <a:ln>
            <a:noFill/>
          </a:ln>
        </p:spPr>
      </p:pic>
      <p:sp>
        <p:nvSpPr>
          <p:cNvPr id="295" name="Google Shape;295;p32"/>
          <p:cNvSpPr txBox="1"/>
          <p:nvPr/>
        </p:nvSpPr>
        <p:spPr>
          <a:xfrm>
            <a:off x="724075" y="3257550"/>
            <a:ext cx="2117100" cy="5487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1100">
                <a:solidFill>
                  <a:schemeClr val="dk1"/>
                </a:solidFill>
              </a:rPr>
              <a:t>mnist_pt</a:t>
            </a:r>
            <a:r>
              <a:rPr lang="en" sz="1100">
                <a:solidFill>
                  <a:schemeClr val="dk1"/>
                </a:solidFill>
              </a:rPr>
              <a:t>.py</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mnist.py</a:t>
            </a:r>
            <a:endParaRPr sz="11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Weight Initialization</a:t>
            </a:r>
            <a:endParaRPr/>
          </a:p>
        </p:txBody>
      </p:sp>
      <p:sp>
        <p:nvSpPr>
          <p:cNvPr id="301" name="Google Shape;301;p33"/>
          <p:cNvSpPr/>
          <p:nvPr/>
        </p:nvSpPr>
        <p:spPr>
          <a:xfrm>
            <a:off x="3263575" y="1456596"/>
            <a:ext cx="596400" cy="571500"/>
          </a:xfrm>
          <a:prstGeom prst="roundRect">
            <a:avLst>
              <a:gd fmla="val 9734" name="adj"/>
            </a:avLst>
          </a:prstGeom>
          <a:solidFill>
            <a:srgbClr val="EEEEEE"/>
          </a:solidFill>
          <a:ln cap="flat" cmpd="sng" w="9175">
            <a:solidFill>
              <a:srgbClr val="595959"/>
            </a:solidFill>
            <a:prstDash val="solid"/>
            <a:round/>
            <a:headEnd len="sm" w="sm" type="none"/>
            <a:tailEnd len="sm" w="sm" type="none"/>
          </a:ln>
        </p:spPr>
        <p:txBody>
          <a:bodyPr anchorCtr="0" anchor="ctr" bIns="66125" lIns="66125" spcFirstLastPara="1" rIns="66125" wrap="square" tIns="66125">
            <a:noAutofit/>
          </a:bodyPr>
          <a:lstStyle/>
          <a:p>
            <a:pPr indent="0" lvl="0" marL="0" marR="0" rtl="0" algn="l">
              <a:lnSpc>
                <a:spcPct val="100000"/>
              </a:lnSpc>
              <a:spcBef>
                <a:spcPts val="0"/>
              </a:spcBef>
              <a:spcAft>
                <a:spcPts val="0"/>
              </a:spcAft>
              <a:buClr>
                <a:srgbClr val="000000"/>
              </a:buClr>
              <a:buSzPts val="1061"/>
              <a:buFont typeface="Arial"/>
              <a:buNone/>
            </a:pPr>
            <a:r>
              <a:t/>
            </a:r>
            <a:endParaRPr b="0" i="0" sz="1060" u="none" cap="none" strike="noStrike">
              <a:solidFill>
                <a:srgbClr val="000000"/>
              </a:solidFill>
              <a:latin typeface="Arial"/>
              <a:ea typeface="Arial"/>
              <a:cs typeface="Arial"/>
              <a:sym typeface="Arial"/>
            </a:endParaRPr>
          </a:p>
        </p:txBody>
      </p:sp>
      <p:sp>
        <p:nvSpPr>
          <p:cNvPr id="302" name="Google Shape;302;p33"/>
          <p:cNvSpPr/>
          <p:nvPr/>
        </p:nvSpPr>
        <p:spPr>
          <a:xfrm>
            <a:off x="4306550" y="1455427"/>
            <a:ext cx="626400" cy="571500"/>
          </a:xfrm>
          <a:prstGeom prst="roundRect">
            <a:avLst>
              <a:gd fmla="val 9734" name="adj"/>
            </a:avLst>
          </a:prstGeom>
          <a:solidFill>
            <a:srgbClr val="EEEEEE"/>
          </a:solidFill>
          <a:ln cap="flat" cmpd="sng" w="9175">
            <a:solidFill>
              <a:srgbClr val="595959"/>
            </a:solidFill>
            <a:prstDash val="solid"/>
            <a:round/>
            <a:headEnd len="sm" w="sm" type="none"/>
            <a:tailEnd len="sm" w="sm" type="none"/>
          </a:ln>
        </p:spPr>
        <p:txBody>
          <a:bodyPr anchorCtr="0" anchor="ctr" bIns="66125" lIns="66125" spcFirstLastPara="1" rIns="66125" wrap="square" tIns="66125">
            <a:noAutofit/>
          </a:bodyPr>
          <a:lstStyle/>
          <a:p>
            <a:pPr indent="0" lvl="0" marL="0" marR="0" rtl="0" algn="ctr">
              <a:lnSpc>
                <a:spcPct val="100000"/>
              </a:lnSpc>
              <a:spcBef>
                <a:spcPts val="0"/>
              </a:spcBef>
              <a:spcAft>
                <a:spcPts val="0"/>
              </a:spcAft>
              <a:buClr>
                <a:srgbClr val="000000"/>
              </a:buClr>
              <a:buSzPts val="1061"/>
              <a:buFont typeface="Arial"/>
              <a:buNone/>
            </a:pPr>
            <a:r>
              <a:rPr b="1" lang="en" sz="1253"/>
              <a:t>ReLU</a:t>
            </a:r>
            <a:endParaRPr b="1" i="0" sz="1253" u="none" cap="none" strike="noStrike">
              <a:solidFill>
                <a:srgbClr val="000000"/>
              </a:solidFill>
            </a:endParaRPr>
          </a:p>
        </p:txBody>
      </p:sp>
      <p:cxnSp>
        <p:nvCxnSpPr>
          <p:cNvPr id="303" name="Google Shape;303;p33"/>
          <p:cNvCxnSpPr>
            <a:stCxn id="302" idx="3"/>
          </p:cNvCxnSpPr>
          <p:nvPr/>
        </p:nvCxnSpPr>
        <p:spPr>
          <a:xfrm>
            <a:off x="4932950" y="1741177"/>
            <a:ext cx="295500" cy="600"/>
          </a:xfrm>
          <a:prstGeom prst="straightConnector1">
            <a:avLst/>
          </a:prstGeom>
          <a:noFill/>
          <a:ln cap="flat" cmpd="sng" w="9525">
            <a:solidFill>
              <a:srgbClr val="595959"/>
            </a:solidFill>
            <a:prstDash val="solid"/>
            <a:round/>
            <a:headEnd len="sm" w="sm" type="none"/>
            <a:tailEnd len="med" w="med" type="triangle"/>
          </a:ln>
        </p:spPr>
      </p:cxnSp>
      <p:pic>
        <p:nvPicPr>
          <p:cNvPr descr="{&quot;code&quot;:&quot;$$W$$&quot;,&quot;font&quot;:{&quot;size&quot;:12,&quot;family&quot;:&quot;Arial&quot;,&quot;color&quot;:&quot;#000000&quot;},&quot;id&quot;:&quot;7&quot;,&quot;backgroundColorModified&quot;:false,&quot;backgroundColor&quot;:&quot;#FFFFFF&quot;,&quot;type&quot;:&quot;$$&quot;,&quot;aid&quot;:null,&quot;ts&quot;:1757637526408,&quot;cs&quot;:&quot;0vnqKnL0/3q31RZrTsNklA==&quot;,&quot;size&quot;:{&quot;width&quot;:18.833333333333332,&quot;height&quot;:13.333333333333334}}" id="304" name="Google Shape;304;p33"/>
          <p:cNvPicPr preferRelativeResize="0"/>
          <p:nvPr/>
        </p:nvPicPr>
        <p:blipFill>
          <a:blip r:embed="rId3">
            <a:alphaModFix/>
          </a:blip>
          <a:stretch>
            <a:fillRect/>
          </a:stretch>
        </p:blipFill>
        <p:spPr>
          <a:xfrm>
            <a:off x="3452250" y="1684675"/>
            <a:ext cx="179388" cy="127000"/>
          </a:xfrm>
          <a:prstGeom prst="rect">
            <a:avLst/>
          </a:prstGeom>
          <a:noFill/>
          <a:ln>
            <a:noFill/>
          </a:ln>
        </p:spPr>
      </p:pic>
      <p:cxnSp>
        <p:nvCxnSpPr>
          <p:cNvPr id="305" name="Google Shape;305;p33"/>
          <p:cNvCxnSpPr>
            <a:stCxn id="301" idx="3"/>
            <a:endCxn id="302" idx="1"/>
          </p:cNvCxnSpPr>
          <p:nvPr/>
        </p:nvCxnSpPr>
        <p:spPr>
          <a:xfrm flipH="1" rot="10800000">
            <a:off x="3859975" y="1741146"/>
            <a:ext cx="446700" cy="1200"/>
          </a:xfrm>
          <a:prstGeom prst="straightConnector1">
            <a:avLst/>
          </a:prstGeom>
          <a:noFill/>
          <a:ln cap="flat" cmpd="sng" w="9525">
            <a:solidFill>
              <a:srgbClr val="595959"/>
            </a:solidFill>
            <a:prstDash val="solid"/>
            <a:round/>
            <a:headEnd len="sm" w="sm" type="none"/>
            <a:tailEnd len="med" w="med" type="triangle"/>
          </a:ln>
        </p:spPr>
      </p:cxnSp>
      <p:pic>
        <p:nvPicPr>
          <p:cNvPr descr="{&quot;code&quot;:&quot;$$x$$&quot;,&quot;aid&quot;:null,&quot;type&quot;:&quot;$$&quot;,&quot;backgroundColor&quot;:&quot;#EEEEEE&quot;,&quot;font&quot;:{&quot;color&quot;:&quot;#000000&quot;,&quot;size&quot;:11,&quot;family&quot;:&quot;Arial&quot;},&quot;id&quot;:&quot;8&quot;,&quot;backgroundColorModified&quot;:false,&quot;ts&quot;:1757637607701,&quot;cs&quot;:&quot;y4ex75ClIDyKeDYwtbjL4Q==&quot;,&quot;size&quot;:{&quot;width&quot;:8.5,&quot;height&quot;:7.833333333333333}}" id="306" name="Google Shape;306;p33"/>
          <p:cNvPicPr preferRelativeResize="0"/>
          <p:nvPr/>
        </p:nvPicPr>
        <p:blipFill>
          <a:blip r:embed="rId4">
            <a:alphaModFix/>
          </a:blip>
          <a:stretch>
            <a:fillRect/>
          </a:stretch>
        </p:blipFill>
        <p:spPr>
          <a:xfrm>
            <a:off x="2688650" y="1708613"/>
            <a:ext cx="80963" cy="74613"/>
          </a:xfrm>
          <a:prstGeom prst="rect">
            <a:avLst/>
          </a:prstGeom>
          <a:noFill/>
          <a:ln>
            <a:noFill/>
          </a:ln>
        </p:spPr>
      </p:pic>
      <p:pic>
        <p:nvPicPr>
          <p:cNvPr descr="{&quot;backgroundColor&quot;:&quot;#FFFFFF&quot;,&quot;backgroundColorModified&quot;:false,&quot;font&quot;:{&quot;size&quot;:11,&quot;color&quot;:&quot;#000000&quot;,&quot;family&quot;:&quot;Arial&quot;},&quot;type&quot;:&quot;$$&quot;,&quot;id&quot;:&quot;9&quot;,&quot;code&quot;:&quot;$$y$$&quot;,&quot;aid&quot;:null,&quot;ts&quot;:1757637626205,&quot;cs&quot;:&quot;mvJEfo9HbHr96DIsyLI6uw==&quot;,&quot;size&quot;:{&quot;width&quot;:8.333333333333334,&quot;height&quot;:11.166666666666666}}" id="307" name="Google Shape;307;p33"/>
          <p:cNvPicPr preferRelativeResize="0"/>
          <p:nvPr/>
        </p:nvPicPr>
        <p:blipFill>
          <a:blip r:embed="rId5">
            <a:alphaModFix/>
          </a:blip>
          <a:stretch>
            <a:fillRect/>
          </a:stretch>
        </p:blipFill>
        <p:spPr>
          <a:xfrm>
            <a:off x="4016000" y="1602263"/>
            <a:ext cx="79375" cy="106363"/>
          </a:xfrm>
          <a:prstGeom prst="rect">
            <a:avLst/>
          </a:prstGeom>
          <a:noFill/>
          <a:ln>
            <a:noFill/>
          </a:ln>
        </p:spPr>
      </p:pic>
      <p:cxnSp>
        <p:nvCxnSpPr>
          <p:cNvPr id="308" name="Google Shape;308;p33"/>
          <p:cNvCxnSpPr>
            <a:endCxn id="301" idx="1"/>
          </p:cNvCxnSpPr>
          <p:nvPr/>
        </p:nvCxnSpPr>
        <p:spPr>
          <a:xfrm flipH="1" rot="10800000">
            <a:off x="2878375" y="1742346"/>
            <a:ext cx="385200" cy="900"/>
          </a:xfrm>
          <a:prstGeom prst="straightConnector1">
            <a:avLst/>
          </a:prstGeom>
          <a:noFill/>
          <a:ln cap="flat" cmpd="sng" w="9525">
            <a:solidFill>
              <a:srgbClr val="595959"/>
            </a:solidFill>
            <a:prstDash val="solid"/>
            <a:round/>
            <a:headEnd len="sm" w="sm" type="none"/>
            <a:tailEnd len="med" w="med" type="triangle"/>
          </a:ln>
        </p:spPr>
      </p:cxnSp>
      <p:pic>
        <p:nvPicPr>
          <p:cNvPr descr="{&quot;code&quot;:&quot;$$a$$&quot;,&quot;font&quot;:{&quot;size&quot;:11,&quot;family&quot;:&quot;Arial&quot;,&quot;color&quot;:&quot;#000000&quot;},&quot;id&quot;:&quot;9&quot;,&quot;aid&quot;:null,&quot;type&quot;:&quot;$$&quot;,&quot;backgroundColor&quot;:&quot;#FFFFFF&quot;,&quot;backgroundColorModified&quot;:false,&quot;ts&quot;:1765457802812,&quot;cs&quot;:&quot;J0+7SmvnjSJPH849E5jQRw==&quot;,&quot;size&quot;:{&quot;width&quot;:8.166666666666666,&quot;height&quot;:7.833333333333333}}" id="309" name="Google Shape;309;p33"/>
          <p:cNvPicPr preferRelativeResize="0"/>
          <p:nvPr/>
        </p:nvPicPr>
        <p:blipFill>
          <a:blip r:embed="rId6">
            <a:alphaModFix/>
          </a:blip>
          <a:stretch>
            <a:fillRect/>
          </a:stretch>
        </p:blipFill>
        <p:spPr>
          <a:xfrm>
            <a:off x="5341750" y="1707851"/>
            <a:ext cx="77788" cy="74613"/>
          </a:xfrm>
          <a:prstGeom prst="rect">
            <a:avLst/>
          </a:prstGeom>
          <a:noFill/>
          <a:ln>
            <a:noFill/>
          </a:ln>
        </p:spPr>
      </p:pic>
      <p:sp>
        <p:nvSpPr>
          <p:cNvPr id="310" name="Google Shape;310;p33"/>
          <p:cNvSpPr txBox="1"/>
          <p:nvPr/>
        </p:nvSpPr>
        <p:spPr>
          <a:xfrm>
            <a:off x="422800" y="1051925"/>
            <a:ext cx="55143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1800"/>
              </a:spcAft>
              <a:buNone/>
            </a:pPr>
            <a:r>
              <a:rPr lang="en" sz="1200">
                <a:solidFill>
                  <a:schemeClr val="dk2"/>
                </a:solidFill>
              </a:rPr>
              <a:t>Consider layer </a:t>
            </a:r>
            <a:r>
              <a:rPr i="1" lang="en" sz="1200">
                <a:solidFill>
                  <a:schemeClr val="dk2"/>
                </a:solidFill>
              </a:rPr>
              <a:t>l </a:t>
            </a:r>
            <a:r>
              <a:rPr lang="en" sz="1200">
                <a:solidFill>
                  <a:schemeClr val="dk2"/>
                </a:solidFill>
              </a:rPr>
              <a:t>of a </a:t>
            </a:r>
            <a:r>
              <a:rPr i="1" lang="en" sz="1200">
                <a:solidFill>
                  <a:schemeClr val="dk2"/>
                </a:solidFill>
              </a:rPr>
              <a:t>n</a:t>
            </a:r>
            <a:r>
              <a:rPr lang="en" sz="1200">
                <a:solidFill>
                  <a:schemeClr val="dk2"/>
                </a:solidFill>
              </a:rPr>
              <a:t> layer network. </a:t>
            </a:r>
            <a:endParaRPr sz="800">
              <a:solidFill>
                <a:schemeClr val="dk1"/>
              </a:solidFill>
            </a:endParaRPr>
          </a:p>
        </p:txBody>
      </p:sp>
      <p:pic>
        <p:nvPicPr>
          <p:cNvPr descr="{&quot;backgroundColor&quot;:&quot;#FFFFFF&quot;,&quot;code&quot;:&quot;\\begin{lalign*}\n&amp;{y^{l}=W^{l}x^{l}}\\\\\n&amp;{a^{l}=\\text{ReLU(}y^{l}\\text{)}}\\\\\n&amp;{W^{l}:\\,n\\times m}\\\\\n&amp;{x^{l}:\\,m\\times1}\\\\\n&amp;{y^{l}:\\,n\\times1}\\\\\n&amp;{\\text{Ignoring}\\;\\text{bias}\\;\\text{for}\\;\\text{now..}}\\\\\n&amp;{}\t\n\\end{lalign*}&quot;,&quot;aid&quot;:null,&quot;backgroundColorModified&quot;:false,&quot;font&quot;:{&quot;family&quot;:&quot;Arial&quot;,&quot;size&quot;:10.5,&quot;color&quot;:&quot;#595959&quot;},&quot;id&quot;:&quot;3&quot;,&quot;type&quot;:&quot;lalign*&quot;,&quot;ts&quot;:1765458328414,&quot;cs&quot;:&quot;DM9HwKnUUaMi0e4f6wY/6Q==&quot;,&quot;size&quot;:{&quot;width&quot;:164.96311496063,&quot;height&quot;:140.81105669291335}}" id="311" name="Google Shape;311;p33"/>
          <p:cNvPicPr preferRelativeResize="0"/>
          <p:nvPr/>
        </p:nvPicPr>
        <p:blipFill>
          <a:blip r:embed="rId7">
            <a:alphaModFix/>
          </a:blip>
          <a:stretch>
            <a:fillRect/>
          </a:stretch>
        </p:blipFill>
        <p:spPr>
          <a:xfrm>
            <a:off x="765225" y="2724600"/>
            <a:ext cx="2004400" cy="1710936"/>
          </a:xfrm>
          <a:prstGeom prst="rect">
            <a:avLst/>
          </a:prstGeom>
          <a:noFill/>
          <a:ln>
            <a:noFill/>
          </a:ln>
        </p:spPr>
      </p:pic>
      <p:pic>
        <p:nvPicPr>
          <p:cNvPr descr="{&quot;backgroundColorModified&quot;:false,&quot;aid&quot;:null,&quot;code&quot;:&quot;\\begin{gather*}\n{\\text{If}\\;W\\,\\text{and}\\;x\\,\\text{are}\\;\\text{independent}\\;\\text{random}\\;\\text{variables,}}\\\\\n{Var\\left(y\\right)=mVar\\left(W\\right)Var\\left(x\\right)}\\\\\n{\\text{See}\\;\\text{appendix}\\;\\text{for}\\;\\text{proof}\\;\\text{and}\\;\\text{how}\\;Var\\left(a\\right)\\,\\,\\text{is}\\;\\text{related}\\;\\text{to}\\;Var\\left(y\\right)}\\\\\n{\\text{In}\\;\\text{the}\\;\\text{backward}\\;\\text{pass,}}\\\\\n{\\pdf{e}{x}=W^{T}\\pdf{e}{y}}\\\\\n{\\text{So}}\\\\\n{Var\\left(\\pdf{e}{x}\\right)=nVar\\left(W\\right)Var\\left(\\pdf{e}{y}\\right)}\\\\\n{\\text{See}\\;\\text{appendix}\\;\\text{for}\\;\\text{proof}}\t\n\\end{gather*}&quot;,&quot;font&quot;:{&quot;color&quot;:&quot;#000000&quot;,&quot;family&quot;:&quot;Arial&quot;,&quot;size&quot;:10.5},&quot;backgroundColor&quot;:&quot;#FFFFFF&quot;,&quot;id&quot;:&quot;8&quot;,&quot;type&quot;:&quot;gather*&quot;,&quot;ts&quot;:1765458686983,&quot;cs&quot;:&quot;y1c+x32T2DtO03eol+9ToQ==&quot;,&quot;size&quot;:{&quot;width&quot;:426,&quot;height&quot;:208.33333333333334}}" id="312" name="Google Shape;312;p33"/>
          <p:cNvPicPr preferRelativeResize="0"/>
          <p:nvPr/>
        </p:nvPicPr>
        <p:blipFill>
          <a:blip r:embed="rId8">
            <a:alphaModFix/>
          </a:blip>
          <a:stretch>
            <a:fillRect/>
          </a:stretch>
        </p:blipFill>
        <p:spPr>
          <a:xfrm>
            <a:off x="4016000" y="2571750"/>
            <a:ext cx="4057650" cy="1984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Weight Initialization</a:t>
            </a:r>
            <a:endParaRPr/>
          </a:p>
        </p:txBody>
      </p:sp>
      <p:sp>
        <p:nvSpPr>
          <p:cNvPr id="318" name="Google Shape;31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800"/>
              </a:spcBef>
              <a:spcAft>
                <a:spcPts val="0"/>
              </a:spcAft>
              <a:buNone/>
            </a:pPr>
            <a:r>
              <a:rPr lang="en" sz="1200"/>
              <a:t>When stacking many layers, we want to avoid exploding or vanishing activations in the forward pass and gradients in the backward pass. </a:t>
            </a:r>
            <a:endParaRPr sz="1200"/>
          </a:p>
          <a:p>
            <a:pPr indent="-286384" lvl="0" marL="457200" rtl="0" algn="l">
              <a:spcBef>
                <a:spcPts val="1800"/>
              </a:spcBef>
              <a:spcAft>
                <a:spcPts val="0"/>
              </a:spcAft>
              <a:buSzPct val="83104"/>
              <a:buChar char="-"/>
            </a:pPr>
            <a:r>
              <a:rPr lang="en" sz="1183"/>
              <a:t>In the forward pass, if weight initialization causes variance to grow with depth, activations in deeper layers will increasingly spread — some exploding to large values, others becoming zero — which destabilizes training.</a:t>
            </a:r>
            <a:endParaRPr sz="983"/>
          </a:p>
          <a:p>
            <a:pPr indent="-299085" lvl="0" marL="457200" rtl="0" algn="l">
              <a:spcBef>
                <a:spcPts val="0"/>
              </a:spcBef>
              <a:spcAft>
                <a:spcPts val="0"/>
              </a:spcAft>
              <a:buSzPct val="100000"/>
              <a:buChar char="-"/>
            </a:pPr>
            <a:r>
              <a:rPr lang="en" sz="1200"/>
              <a:t>In the backward pass, some gradients become very large (remember, gradients are proportional to the activations), resulting in unstable parameter updates, and therefore unstable trainings.</a:t>
            </a:r>
            <a:endParaRPr sz="1200"/>
          </a:p>
          <a:p>
            <a:pPr indent="0" lvl="0" marL="0" rtl="0" algn="l">
              <a:spcBef>
                <a:spcPts val="1800"/>
              </a:spcBef>
              <a:spcAft>
                <a:spcPts val="0"/>
              </a:spcAft>
              <a:buNone/>
            </a:pPr>
            <a:r>
              <a:rPr lang="en" sz="1200"/>
              <a:t>So, we want to keep the variance of activations and gradients stable during the forward and backward pass.This is accomplished by:</a:t>
            </a:r>
            <a:endParaRPr sz="1200"/>
          </a:p>
          <a:p>
            <a:pPr indent="-299085" lvl="0" marL="457200" rtl="0" algn="l">
              <a:spcBef>
                <a:spcPts val="1800"/>
              </a:spcBef>
              <a:spcAft>
                <a:spcPts val="0"/>
              </a:spcAft>
              <a:buClr>
                <a:schemeClr val="dk2"/>
              </a:buClr>
              <a:buSzPct val="100000"/>
              <a:buChar char="-"/>
            </a:pPr>
            <a:r>
              <a:rPr lang="en" sz="1200"/>
              <a:t>Initializing the weights the beginning of training in such a way that the variance of the input equals that of the output for each layer, both during forward and backward pass. Because variance is a measure of the spread of a distribution, bounding the variance bounds the probability of some activations or gradients becoming very large</a:t>
            </a:r>
            <a:br>
              <a:rPr lang="en" sz="1200"/>
            </a:br>
            <a:endParaRPr sz="1200"/>
          </a:p>
          <a:p>
            <a:pPr indent="-299085" lvl="0" marL="457200" rtl="0" algn="l">
              <a:spcBef>
                <a:spcPts val="0"/>
              </a:spcBef>
              <a:spcAft>
                <a:spcPts val="0"/>
              </a:spcAft>
              <a:buClr>
                <a:schemeClr val="dk2"/>
              </a:buClr>
              <a:buSzPct val="100000"/>
              <a:buChar char="-"/>
            </a:pPr>
            <a:r>
              <a:rPr lang="en" sz="1200"/>
              <a:t>Normalizing the mean and variance after each layer  </a:t>
            </a:r>
            <a:endParaRPr sz="800">
              <a:solidFill>
                <a:schemeClr val="dk1"/>
              </a:solidFill>
            </a:endParaRPr>
          </a:p>
          <a:p>
            <a:pPr indent="0" lvl="0" marL="0" rtl="0" algn="l">
              <a:spcBef>
                <a:spcPts val="18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5"/>
          <p:cNvSpPr txBox="1"/>
          <p:nvPr>
            <p:ph type="title"/>
          </p:nvPr>
        </p:nvSpPr>
        <p:spPr>
          <a:xfrm>
            <a:off x="228425" y="405825"/>
            <a:ext cx="4719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Homework</a:t>
            </a:r>
            <a:endParaRPr sz="2020"/>
          </a:p>
        </p:txBody>
      </p:sp>
      <p:sp>
        <p:nvSpPr>
          <p:cNvPr id="324" name="Google Shape;324;p35"/>
          <p:cNvSpPr txBox="1"/>
          <p:nvPr/>
        </p:nvSpPr>
        <p:spPr>
          <a:xfrm>
            <a:off x="302800" y="978525"/>
            <a:ext cx="80547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Q4: </a:t>
            </a:r>
            <a:r>
              <a:rPr lang="en" sz="1300">
                <a:solidFill>
                  <a:schemeClr val="dk2"/>
                </a:solidFill>
              </a:rPr>
              <a:t>Run simple_nn2.py with default parameters. Record the final value of the loss function. Also plot the loss function history to see how it changes</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Change the optimizer from ‘adam’ to ‘simple’. Run the code. Surprised? </a:t>
            </a:r>
            <a:endParaRPr sz="1300">
              <a:solidFill>
                <a:schemeClr val="dk2"/>
              </a:solidFill>
            </a:endParaRPr>
          </a:p>
          <a:p>
            <a:pPr indent="0" lvl="0" marL="0" rtl="0" algn="l">
              <a:spcBef>
                <a:spcPts val="0"/>
              </a:spcBef>
              <a:spcAft>
                <a:spcPts val="0"/>
              </a:spcAft>
              <a:buNone/>
            </a:pPr>
            <a:r>
              <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Switch the optimizer back to Adam and vary the size of hidden layer: [20, 50, 100, 150], learning scheduler to linear</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Now change the non-linearity from ‘relu’ to ‘swish’. What do you observe</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Notice that you are effectively doing manual hyperparameter tuning!</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Record the loss progression for each of the above cases and compare the loss progression curves. You’ll need to write the loss_func_history array to disk and write a separate program to compare the loss function across runs..</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Isn’t a pain to compare the output of these experiments? Wouldn’t it be nice if we could somehow record the output of each experiment and compare across runs?</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Run simple_nn2.py in a debugger and step through forward and backward pass code. Check the shape of the input/output tensors and how the code follows the math developed in the slides</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In simple_nn2.py, generate test data from -3*pi to 3*pi and test the prediction of the trained network on this data. What do you observe? What do you learn from this?</a:t>
            </a:r>
            <a:endParaRPr sz="1300">
              <a:solidFill>
                <a:schemeClr val="dk2"/>
              </a:solidFill>
            </a:endParaRPr>
          </a:p>
          <a:p>
            <a:pPr indent="-311150" lvl="0" marL="457200" rtl="0" algn="l">
              <a:spcBef>
                <a:spcPts val="0"/>
              </a:spcBef>
              <a:spcAft>
                <a:spcPts val="0"/>
              </a:spcAft>
              <a:buClr>
                <a:schemeClr val="dk2"/>
              </a:buClr>
              <a:buSzPts val="1300"/>
              <a:buAutoNum type="alphaLcPeriod"/>
            </a:pPr>
            <a:r>
              <a:rPr lang="en" sz="1300">
                <a:solidFill>
                  <a:schemeClr val="dk2"/>
                </a:solidFill>
              </a:rPr>
              <a:t>Use the </a:t>
            </a:r>
            <a:endParaRPr sz="13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Appendix</a:t>
            </a:r>
            <a:endParaRPr/>
          </a:p>
        </p:txBody>
      </p:sp>
      <p:sp>
        <p:nvSpPr>
          <p:cNvPr id="330" name="Google Shape;33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7"/>
          <p:cNvSpPr txBox="1"/>
          <p:nvPr>
            <p:ph type="title"/>
          </p:nvPr>
        </p:nvSpPr>
        <p:spPr>
          <a:xfrm>
            <a:off x="311700" y="445025"/>
            <a:ext cx="4008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Variance propagation in the forward pass	</a:t>
            </a:r>
            <a:endParaRPr/>
          </a:p>
        </p:txBody>
      </p:sp>
      <p:pic>
        <p:nvPicPr>
          <p:cNvPr descr="{&quot;code&quot;:&quot;\\begin{lalign*}\n&amp;{y^{l}=W^{l}x^{l}+b^{l}}\\\\\n&amp;{Var\\left(y^{l}\\right)=Var\\left(W^{l}x^{l}+b^{l}\\right)}\\\\\n&amp;{\\,\\,\\,\\,\\,\\,\\,\\,\\,\\,\\,\\,\\,\\,\\,\\,\\,\\,\\,\\,\\,\\,\\,\\,=\\,Var\\left(W^{l}x^{l}\\right)+Var\\left(b^{l}\\right)}\\\\\n&amp;{\\,\\,\\,\\,\\,\\,\\,\\,\\,\\,\\,\\,\\,\\,\\,\\,\\,\\,\\,\\,\\,\\,\\,\\,\\,=\\,Var\\left(W^{l}x^{l}\\right)}\\\\\n&amp;{\\text{Consider}\\;\\text{variance}\\;\\text{of}\\;\\text{the}\\;i^{th}\\;\\text{element}\\;\\text{of}\\;y^{l}}\\\\\n&amp;{Var\\left(y_{i}^{l}\\right)=Var\\left(\\sum_{k=1}^{m}W_{ik}^{l}x_{k}^{l}\\right)}\\\\\n&amp;{\\,\\,\\,\\,\\,\\,\\,\\,\\,\\,\\,\\,\\,\\,\\,\\,\\,\\,\\,\\,\\,\\,\\,\\,=\\,\\sum_{k=1}^{m}Var\\left(W_{ik}^{l}x_{k}^{l}\\right)}\\\\\n&amp;{\\text{For}\\;\\text{ease}\\;\\text{of}\\;\\text{notation,}\\;\\text{let's}\\;\\text{drop}\\;\\text{the}\\;\\text{superscript}\\;\\text{for}\\;\\text{layer}\\;l\\,\\,\\,\\,\\,\\,\\,\\,\\,\\,\\,\\,\\,\\,\\,\\,\\,\\,\\,\\,\\,\\,}\\\\\n&amp;{\\text{Since}\\;\\text{elements}\\;\\text{of}\\;y,\\,W\\,\\text{and}\\;x\\,\\text{are}\\;\\text{iid,}\\;\\text{we}\\;\\text{can}\\;\\text{drop}\\;\\text{the}\\;\\text{subscript}\\text{s}\\;\\text{well}}\\\\\n&amp;{\\,\\,\\,\\,\\,\\,\\,\\,\\,\\,\\,\\,\\,\\,\\,\\,\\,\\,\\,\\,\\,\\,\\,\\,\\,Var\\left(y\\right)=\\,mVar\\left(Wx\\right)\\,}\\\\\n&amp;{\\text{Here}\\;y,\\,W,\\,x\\,\\text{refer}\\;\\text{to}\\;\\text{individual}\\;\\text{elements}\\;\\text{of}\\;\\text{the}\\;\\text{corresonding}\\;\\text{vectors}}\\\\\n&amp;{\\,\\,\\,\\,\\,\\,\\,\\,\\,\\,\\,\\,\\,\\,\\,\\,\\,\\,\\,\\,\\,\\,\\,\\,\\,=m\\left(E\\left(W^{2}x^{2}\\right)-E^{2}\\left(W\\right)E^{2}\\left(x_{k}\\right)\\right)}\\\\\n&amp;{\\text{Because}\\,\\;E\\left(W\\right)=0,}\\\\\n&amp;{Var\\left(y\\right)=mE\\left(W^{2}x^{2}\\right)}\\\\\n&amp;{\\text{Because}\\;x\\,\\text{and}\\;W\\,\\text{are}\\;\\text{independent,}}\\\\\n&amp;{E\\left(W^{2}x^{2}\\right)=E\\left(W^{2}\\right)E\\left(x^{2}\\right)}\\\\\n&amp;{\\text{Because}\\;E\\left(x\\right)=0\\,\\text{and}\\;E\\left(W\\right)=0,}\\\\\n&amp;{E\\left(W^{2}x^{2}\\right)=\\left(E\\left(W^{2}\\right)-E^{2}\\left(W\\right)\\right)\\left(E\\left(x^{2}\\right)-E^{2}\\left(x\\right)\\right)}\\\\\n&amp;{\\,\\,\\,\\,\\,\\,\\,\\,\\,\\,\\,\\,\\,\\,\\,\\,\\,\\,\\,\\,\\,\\,\\,\\,\\,\\,\\,\\,=\\,Var\\left(W\\right)Var\\left(x\\right)}\\\\\n&amp;{\\text{So}\\;\\text{finally,}}\\\\\n&amp;{Var\\left(y\\right)=mVar\\left(W\\right)Var\\left(x\\right)}\t\n\\end{lalign*}&quot;,&quot;type&quot;:&quot;lalign*&quot;,&quot;aid&quot;:null,&quot;backgroundColorModified&quot;:false,&quot;backgroundColor&quot;:&quot;#FFFFFF&quot;,&quot;id&quot;:&quot;3&quot;,&quot;font&quot;:{&quot;size&quot;:10,&quot;family&quot;:&quot;Arial&quot;,&quot;color&quot;:&quot;#595959&quot;},&quot;ts&quot;:1765486400639,&quot;cs&quot;:&quot;xFLdRa3fzrga82lhTwGgOA==&quot;,&quot;size&quot;:{&quot;width&quot;:462,&quot;height&quot;:514}}" id="336" name="Google Shape;336;p37"/>
          <p:cNvPicPr preferRelativeResize="0"/>
          <p:nvPr/>
        </p:nvPicPr>
        <p:blipFill>
          <a:blip r:embed="rId3">
            <a:alphaModFix/>
          </a:blip>
          <a:stretch>
            <a:fillRect/>
          </a:stretch>
        </p:blipFill>
        <p:spPr>
          <a:xfrm>
            <a:off x="4320050" y="164908"/>
            <a:ext cx="4400550" cy="4895850"/>
          </a:xfrm>
          <a:prstGeom prst="rect">
            <a:avLst/>
          </a:prstGeom>
          <a:noFill/>
          <a:ln>
            <a:noFill/>
          </a:ln>
        </p:spPr>
      </p:pic>
      <p:pic>
        <p:nvPicPr>
          <p:cNvPr descr="{&quot;backgroundColorModified&quot;:false,&quot;aid&quot;:null,&quot;font&quot;:{&quot;family&quot;:&quot;Arial&quot;,&quot;color&quot;:&quot;#000000&quot;,&quot;size&quot;:12},&quot;backgroundColor&quot;:&quot;#FFFFFF&quot;,&quot;type&quot;:&quot;gather*&quot;,&quot;code&quot;:&quot;\\begin{gather*}\n{E\\left[y\\right]=E\\left[Wx\\right]+E\\left[b\\right]}\\\\\n{=E\\left[W\\right]E\\left[x\\right]\\,\\because E\\left[b\\right]=0,\\,W,x\\,\\text{are}\\;\\text{independent}\\;\\text{RVs}}\\\\\n{=0\\,\\because E\\left[W\\right]=0,\\,note:\\,E\\left[x\\right]\\,\\text{doesn't}\\;\\text{need}\\;\\text{to}\\;\\text{be}\\;\\text{0!}}\t\n\\end{gather*}&quot;,&quot;id&quot;:&quot;9&quot;,&quot;ts&quot;:1765486311370,&quot;cs&quot;:&quot;B2xZxexlSC37GjrkLLBeRA==&quot;,&quot;size&quot;:{&quot;width&quot;:425.3333333333333,&quot;height&quot;:67.66666666666667}}" id="337" name="Google Shape;337;p37"/>
          <p:cNvPicPr preferRelativeResize="0"/>
          <p:nvPr/>
        </p:nvPicPr>
        <p:blipFill>
          <a:blip r:embed="rId4">
            <a:alphaModFix/>
          </a:blip>
          <a:stretch>
            <a:fillRect/>
          </a:stretch>
        </p:blipFill>
        <p:spPr>
          <a:xfrm>
            <a:off x="109400" y="2571750"/>
            <a:ext cx="3599829" cy="572700"/>
          </a:xfrm>
          <a:prstGeom prst="rect">
            <a:avLst/>
          </a:prstGeom>
          <a:noFill/>
          <a:ln>
            <a:noFill/>
          </a:ln>
        </p:spPr>
      </p:pic>
      <p:pic>
        <p:nvPicPr>
          <p:cNvPr descr="{&quot;code&quot;:&quot;$$x\\,\\text{and}\\;W\\,\\text{are}\\;\\text{independent}\\;\\text{RVs,}\\;\\text{with}\\;\\text{0}\\;\\text{mean}\\;\\text{and}\\;\\text{std}\\;\\text{dev}\\;\\sigma_{x},\\,\\sigma_{W}$$&quot;,&quot;font&quot;:{&quot;size&quot;:12,&quot;family&quot;:&quot;Arial&quot;,&quot;color&quot;:&quot;#000000&quot;},&quot;aid&quot;:null,&quot;type&quot;:&quot;$$&quot;,&quot;backgroundColor&quot;:&quot;#FFFFFF&quot;,&quot;backgroundColorModified&quot;:false,&quot;id&quot;:&quot;10&quot;,&quot;ts&quot;:1765490079235,&quot;cs&quot;:&quot;dKnpOuQxypHj3mmd+Dgo2Q==&quot;,&quot;size&quot;:{&quot;width&quot;:515,&quot;height&quot;:17}}" id="338" name="Google Shape;338;p37"/>
          <p:cNvPicPr preferRelativeResize="0"/>
          <p:nvPr/>
        </p:nvPicPr>
        <p:blipFill>
          <a:blip r:embed="rId5">
            <a:alphaModFix/>
          </a:blip>
          <a:stretch>
            <a:fillRect/>
          </a:stretch>
        </p:blipFill>
        <p:spPr>
          <a:xfrm>
            <a:off x="109400" y="1856550"/>
            <a:ext cx="3710024" cy="1224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pic>
        <p:nvPicPr>
          <p:cNvPr descr="{&quot;backgroundColor&quot;:&quot;#FFFFFF&quot;,&quot;type&quot;:&quot;lalign*&quot;,&quot;code&quot;:&quot;\\begin{lalign*}\n&amp;{a=ReLU\\left(y\\right)}\\\\\n&amp;{a\\,=\\,y\\,\\,\\text{if}\\;\\text{y}\\;\\text{&gt;0}\\text{}}\\\\\n&amp;{\\,\\,\\,\\,\\,\\,=0\\,\\text{otherwise}}\\\\\n&amp;{E\\left(a\\right)=\\int_{-\\infty}^{\\infty}af\\left(a\\right)\\,\\text{where}\\;f\\left(a\\right)\\,\\text{is}\\;\\text{probability}\\;\\text{density}\\;\\text{function}\\;\\text{of}\\;\\text{a}}\\\\\n&amp;{\\,\\,\\,\\,\\,\\,\\,\\,\\,\\,\\,\\,\\,\\,\\,=\\int_{0}^{\\infty}yf\\left(y\\right)}\\\\\n&amp;{\\text{We}\\;\\text{know}\\;y\\,\\text{is}\\;\\text{normally}\\;\\text{distributed.}\\;\\text{Let}\\;\\text{the}\\;\\text{mean}\\;\\text{and}\\;\\text{standard}\\;\\text{deviation}\\;\\text{be}\\;\\mu \\;\\text{and}\\;\\sigma\\text{}}\\\\\n&amp;{\\text{Recall:}\\;\\text{Standard}\\;\\text{deviation}\\;\\text{=}\\;\\text{sqrt(Var)}}\\\\\n&amp;{\\text{Following}\\;\\text{definition}\\;\\text{of}\\;\\text{a}\\;\\text{normal}\\;\\text{distribution,}}\\\\\n&amp;{f\\left(y\\right)=\\frac{1}{\\sigma{\\sqrt[]{2\\pi\\mu}}}\\exp\\left(-\\left(y-\\mu\\right)^{2}/2\\sigma^{2}\\right)}\\\\\n&amp;{\\text{Since}\\;\\mu=0,}\\\\\n&amp;{f\\left(y\\right)=\\frac{1}{\\sigma{\\sqrt[]{2\\pi}}}\\exp\\left(-y^{2}/2\\sigma^{2}\\right)}\\\\\n&amp;{\\text{plugging}\\;\\text{in}\\;\\text{the}\\;\\text{above,}}\\\\\n&amp;{\\,E\\left(a\\right)=\\int_{0}^{\\infty}y\\frac{1}{\\sigma{\\sqrt[]{2\\pi}}}\\exp\\left(-y^{2}/2\\sigma^{2}\\right)}\\\\\n&amp;{\\text{From}\\;\\text{integration}\\;\\text{by}\\;\\text{parts,}}\\\\\n&amp;{\\int_{a}^{b}u\\left(x\\right)v^{\\prime}\\left(x\\right)dx=u\\left(b\\right)v\\left(b\\right)-u\\left(a\\right)v\\left(a\\right)-\\int_{a}^{b}u^{\\prime}\\left(x\\right)v\\left(x\\right)dx}\\\\\n&amp;{\\text{Now,}\\,\\frac{d}{dy}\\exp\\left(-y^{2}/2\\sigma^{2}\\right)=-\\frac{y}{\\sigma^{2}}\\exp \\left(y^{2}/2\\sigma^{2}\\right)}\\\\\n&amp;{\\text{Considering}\\;u\\left(y\\right)=-1\\,\\therefore u^{\\prime}\\left(y\\right)=0\\,\\text{and}\\;\\text{}v\\left(y\\right)=\\exp\\left(-y^{2}/2\\sigma^{2}\\right)}\\\\\n&amp;{\\frac{\\sigma}{{\\sqrt[]{2\\pi}}}\\int_{0}^{\\infty}\\frac{y}{\\sigma^{2}}\\exp\\left(-y^{2}/2\\sigma^{2}\\right)=\\frac{\\sigma}{{\\sqrt[]{2\\pi}}}\\left(-1\\times \\exp_{\\lim_{y\\to \\infty}}\\left(-y^{2}/2\\sigma^{2}\\right)-\\left(-1\\times \\exp\\left(0/2\\sigma^{2}\\right)\\right)\\right)}\\\\\n&amp;{\\,\\,\\,\\,\\,\\,\\,\\,\\,\\,\\,\\,\\,\\,\\,\\,\\,\\,\\,\\,\\,\\,\\,\\,\\,\\,\\,\\,\\,\\,\\,\\,\\,\\,\\,\\,\\,\\,\\,\\,\\,\\,\\,\\,\\,\\,\\,\\,\\,\\,\\,\\,\\,\\,\\,\\,\\,\\,\\,\\,\\,\\,\\,\\,\\,\\,\\,\\,\\,\\,\\,\\,\\,\\,\\,=\\frac{\\sigma}{{\\sqrt[]{2\\pi}}}}\t\n\\end{lalign*}&quot;,&quot;backgroundColorModified&quot;:false,&quot;font&quot;:{&quot;family&quot;:&quot;Arial&quot;,&quot;color&quot;:&quot;#595959&quot;,&quot;size&quot;:9},&quot;id&quot;:&quot;3&quot;,&quot;aid&quot;:null,&quot;ts&quot;:1757470647842,&quot;cs&quot;:&quot;A/4hS5hedi/bIr3Toj6j4w==&quot;,&quot;size&quot;:{&quot;width&quot;:534.0000000000001,&quot;height&quot;:520}}" id="343" name="Google Shape;343;p38"/>
          <p:cNvPicPr preferRelativeResize="0"/>
          <p:nvPr/>
        </p:nvPicPr>
        <p:blipFill>
          <a:blip r:embed="rId3">
            <a:alphaModFix/>
          </a:blip>
          <a:stretch>
            <a:fillRect/>
          </a:stretch>
        </p:blipFill>
        <p:spPr>
          <a:xfrm>
            <a:off x="3564794" y="24075"/>
            <a:ext cx="5086350" cy="4953000"/>
          </a:xfrm>
          <a:prstGeom prst="rect">
            <a:avLst/>
          </a:prstGeom>
          <a:noFill/>
          <a:ln>
            <a:noFill/>
          </a:ln>
        </p:spPr>
      </p:pic>
      <p:sp>
        <p:nvSpPr>
          <p:cNvPr id="344" name="Google Shape;344;p38"/>
          <p:cNvSpPr txBox="1"/>
          <p:nvPr>
            <p:ph type="title"/>
          </p:nvPr>
        </p:nvSpPr>
        <p:spPr>
          <a:xfrm>
            <a:off x="311700" y="445025"/>
            <a:ext cx="2852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244"/>
              <a:t>Variance propagation in the forward pass</a:t>
            </a:r>
            <a:r>
              <a:rPr lang="en"/>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quot;font&quot;:{&quot;color&quot;:&quot;#000000&quot;,&quot;size&quot;:9,&quot;family&quot;:&quot;Arial&quot;},&quot;aid&quot;:null,&quot;id&quot;:&quot;4&quot;,&quot;code&quot;:&quot;\\begin{lalign*}\n&amp;{\\text{Now}\\;\\text{let's}\\;\\text{calculate}\\;E\\left(a^{2}\\right).\\,\\text{Then}\\;\\text{we}\\;\\text{can}\\;\\text{calculate}\\;Var\\left(a\\right)=E\\left(a^{2}\\right)-E^{2}\\left(a\\right)}\\\\\n&amp;{E\\left(a^{2}\\right)=\\int_{-\\infty}^{\\infty}a^{2}f\\left(a\\right)\\,\\text{where}\\;f\\left(a\\right)\\,\\text{is}\\;\\text{probability}\\;\\text{density}\\;\\text{function}\\;\\text{of}\\;\\text{a}}\\\\\n&amp;{\\,\\,\\,\\,\\,\\,\\,\\,\\,\\,\\,\\,\\,\\,\\,=\\int_{0}^{\\infty}y^{2}f\\left(y\\right)=\\frac{1}{2}\\int_{-\\infty}^{\\infty}y^{2}f\\left(y\\right)\\,\\text{because}\\;y^{2}\\;\\text{is}\\;\\text{a}\\;\\text{symetric}\\;\\text{function}\\;\\text{about}\\;\\text{0}}\\\\\n&amp;{\\text{So}}\\\\\n&amp;{E\\left(a^{2}\\right)=\\frac{1}{2}E\\left(y^{2}\\right)}\\\\\n&amp;{\\text{Because}\\;E\\left(y\\right)=0,\\,E\\left(a^{2}\\right)=\\frac{1}{2}\\left(E\\left(y^{2}\\right)-E^{2}\\left(y\\right)\\right)=\\frac{Var\\left(y\\right)}{2}}\\\\\n&amp;{\\text{Thus,}}\\\\\n&amp;{Var\\left(a\\right)=E\\left(a^{2}\\right)-E^{2}\\left(a\\right)}\\\\\n&amp;{\\,\\,\\,\\,\\,\\,\\,\\,\\,\\,\\,\\,\\,\\,\\,\\,\\,\\,\\,\\,\\,=\\,\\frac{Var\\left(y\\right)}{2}-\\frac{\\sigma^{2}}{2\\pi}=Var\\left(y\\right)\\left(\\frac{1}{2}-\\frac{1}{2\\pi}\\right)}\\\\\n&amp;{\\,\\,\\,\\,\\,\\,\\,\\,\\,\\,\\,\\,\\,\\,\\,\\,\\,\\,\\,\\,\\,=\\,mVar\\left(x\\right)Var\\left(W\\right)\\left(\\frac{1}{2}-\\frac{1}{2\\pi}\\right)}\\\\\n&amp;{\\text{It}\\;\\text{is}\\;\\text{common}\\;\\text{to}\\;\\text{ignore}\\;\\text{the}\\;1/2\\pi\\,\\text{term..}}\\\\\n&amp;{Var\\left(a\\right)\\approx\\frac{mVar\\left(x\\right)Var\\left(W\\right)}{2}}\\\\\n&amp;{\\text{We}\\;\\text{want}\\;Var\\left(a\\right)=Var\\left(x\\right),\\,\\text{so:}}\\\\\n&amp;{Var\\left(W\\right)=2/m\\,}\\\\\n&amp;{}\t\n\\end{lalign*}&quot;,&quot;type&quot;:&quot;lalign*&quot;,&quot;backgroundColor&quot;:&quot;#FFFFFF&quot;,&quot;backgroundColorModified&quot;:false,&quot;ts&quot;:1765489631304,&quot;cs&quot;:&quot;zwoq0f0nMLv258EjsQOCJg==&quot;,&quot;size&quot;:{&quot;width&quot;:473.6666666666666,&quot;height&quot;:383.6666666666667}}" id="349" name="Google Shape;349;p39"/>
          <p:cNvPicPr preferRelativeResize="0"/>
          <p:nvPr/>
        </p:nvPicPr>
        <p:blipFill>
          <a:blip r:embed="rId3">
            <a:alphaModFix/>
          </a:blip>
          <a:stretch>
            <a:fillRect/>
          </a:stretch>
        </p:blipFill>
        <p:spPr>
          <a:xfrm>
            <a:off x="3671930" y="701393"/>
            <a:ext cx="4511675" cy="3654425"/>
          </a:xfrm>
          <a:prstGeom prst="rect">
            <a:avLst/>
          </a:prstGeom>
          <a:noFill/>
          <a:ln>
            <a:noFill/>
          </a:ln>
        </p:spPr>
      </p:pic>
      <p:sp>
        <p:nvSpPr>
          <p:cNvPr id="350" name="Google Shape;350;p39"/>
          <p:cNvSpPr txBox="1"/>
          <p:nvPr>
            <p:ph type="title"/>
          </p:nvPr>
        </p:nvSpPr>
        <p:spPr>
          <a:xfrm>
            <a:off x="311700" y="445025"/>
            <a:ext cx="2852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244"/>
              <a:t>Variance propagation in the forward pass</a:t>
            </a:r>
            <a:r>
              <a:rPr lang="en"/>
              <a:t>	</a:t>
            </a:r>
            <a:endParaRPr/>
          </a:p>
        </p:txBody>
      </p:sp>
      <p:sp>
        <p:nvSpPr>
          <p:cNvPr id="351" name="Google Shape;351;p39"/>
          <p:cNvSpPr txBox="1"/>
          <p:nvPr/>
        </p:nvSpPr>
        <p:spPr>
          <a:xfrm>
            <a:off x="2659925" y="4702625"/>
            <a:ext cx="527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See: variance_analysis.py</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descr="{&quot;backgroundColorModified&quot;:false,&quot;backgroundColor&quot;:&quot;#FFFFFF&quot;,&quot;type&quot;:&quot;lalign*&quot;,&quot;id&quot;:&quot;3&quot;,&quot;font&quot;:{&quot;size&quot;:18,&quot;family&quot;:&quot;Arial&quot;,&quot;color&quot;:&quot;#595959&quot;},&quot;code&quot;:&quot;\\begin{lalign*}\n&amp;{y^{l}=W^{l}x^{l}+b^{l}}\\\\\n&amp;{a^{l}=\\text{ReLU(}y^{l}\\text{)}}\\\\\n&amp;{W^{l}:\\,n\\times m}\\\\\n&amp;{x^{l}:\\,m\\times1}\\\\\n&amp;{y^{l}:\\,n\\times1}\\\\\n&amp;{b^{l}:\\,n\\times1}\t\n\\end{lalign*}&quot;,&quot;aid&quot;:null,&quot;ts&quot;:1757264320199,&quot;cs&quot;:&quot;xxSRwzFZxDSmUA+6OYUc4Q==&quot;,&quot;size&quot;:{&quot;width&quot;:175.60000000000002,&quot;height&quot;:230.40000000000006}}" id="356" name="Google Shape;356;p40"/>
          <p:cNvPicPr preferRelativeResize="0"/>
          <p:nvPr/>
        </p:nvPicPr>
        <p:blipFill>
          <a:blip r:embed="rId3">
            <a:alphaModFix/>
          </a:blip>
          <a:stretch>
            <a:fillRect/>
          </a:stretch>
        </p:blipFill>
        <p:spPr>
          <a:xfrm>
            <a:off x="412550" y="1645600"/>
            <a:ext cx="1672590" cy="2194560"/>
          </a:xfrm>
          <a:prstGeom prst="rect">
            <a:avLst/>
          </a:prstGeom>
          <a:noFill/>
          <a:ln>
            <a:noFill/>
          </a:ln>
        </p:spPr>
      </p:pic>
      <p:pic>
        <p:nvPicPr>
          <p:cNvPr descr="{&quot;backgroundColor&quot;:&quot;#FFFFFF&quot;,&quot;font&quot;:{&quot;color&quot;:&quot;#000000&quot;,&quot;family&quot;:&quot;Arial&quot;,&quot;size&quot;:12},&quot;aid&quot;:null,&quot;id&quot;:&quot;6&quot;,&quot;type&quot;:&quot;lalign*&quot;,&quot;code&quot;:&quot;\\begin{lalign*}\n&amp;{\\text{For}\\;\\text{backward}\\;\\text{pass,}\\;\\text{we}\\;\\text{have}}\\\\\n&amp;{\\frac{\\partial e}{\\partial x}=W^{T}\\frac{\\partial e}{\\partial y}}\\\\\n&amp;{\\frac{\\partial e}{\\partial y}=\\frac{\\partial e}{\\partial a}\\,\\text{when}\\;a&gt;0}\\\\\n&amp;{\\,\\,\\,\\,\\,\\,\\,\\,\\,\\,\\,=\\,0\\,\\,\\text{otherwise}}\\\\\n&amp;{\\text{We}\\;\\text{want}\\;\\text{to}\\,\\text{set}\\;\\text{Var(W)}\\;\\text{such}\\;\\text{that}\\;\\text{Var(}\\frac{\\partial e}{\\partial x}\\text{)=Var(}\\frac{\\partial e}{\\partial a}\\text{)}}\\\\\n&amp;{\\text{As}\\;\\text{before,}\\;\\text{let's}\\;\\text{first}\\;\\text{calculate}\\;\\text{Var}\\left(\\frac{\\partial e}{\\partial y}\\right)\\;\\text{and}\\;\\text{connect}\\;\\text{it}\\;\\text{to}\\;Var\\left(\\frac{\\partial e}{\\partial a}\\right)}\t\n\\end{lalign*}&quot;,&quot;backgroundColorModified&quot;:false,&quot;ts&quot;:1757559581790,&quot;cs&quot;:&quot;vunDcQkrBYjTXqoGvPr00Q==&quot;,&quot;size&quot;:{&quot;width&quot;:567.5,&quot;height&quot;:235}}" id="357" name="Google Shape;357;p40"/>
          <p:cNvPicPr preferRelativeResize="0"/>
          <p:nvPr/>
        </p:nvPicPr>
        <p:blipFill>
          <a:blip r:embed="rId4">
            <a:alphaModFix/>
          </a:blip>
          <a:stretch>
            <a:fillRect/>
          </a:stretch>
        </p:blipFill>
        <p:spPr>
          <a:xfrm>
            <a:off x="3435971" y="1306550"/>
            <a:ext cx="5405438" cy="2238375"/>
          </a:xfrm>
          <a:prstGeom prst="rect">
            <a:avLst/>
          </a:prstGeom>
          <a:noFill/>
          <a:ln>
            <a:noFill/>
          </a:ln>
        </p:spPr>
      </p:pic>
      <p:sp>
        <p:nvSpPr>
          <p:cNvPr id="358" name="Google Shape;358;p40"/>
          <p:cNvSpPr txBox="1"/>
          <p:nvPr>
            <p:ph type="title"/>
          </p:nvPr>
        </p:nvSpPr>
        <p:spPr>
          <a:xfrm>
            <a:off x="169625" y="449950"/>
            <a:ext cx="7173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Variance propagation in the backward pass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descr="{&quot;font&quot;:{&quot;family&quot;:&quot;Arial&quot;,&quot;color&quot;:&quot;#000000&quot;,&quot;size&quot;:8},&quot;code&quot;:&quot;\\begin{gather*}\n{\\mathbf{\\frac{\\partial e}{\\partial a}}\\,\\text{is}\\;\\text{a}\\,n\\times1\\,\\text{vector,}\\;\\text{whose}\\;\\text{elements}\\;\\text{are}\\;\\text{iid,}\\;\\text{normally}\\;\\text{distributed}\\;\\text{with}\\;\\text{mean=0}.\\,\\text{It}\\;\\text{is}\\;\\text{being}\\;\\text{backpropagated}\\;\\text{from}\\;\\text{the}\\;\\text{previous}\\;\\text{layer}}\\\\\n{\\text{Let's}\\;\\text{consider}\\;i^{th}\\;\\text{element}\\;\\text{of}\\;\\mathbf{\\frac{\\partial e}{\\partial a}},\\,\\text{representing}\\;\\text{it}\\;\\text{by}\\;\\frac{\\partial e}{\\partial a}\\,\\text{and}\\;\\text{dropping}\\;\\text{the}\\;\\text{subscript}\\;i}\\\\\n{\\frac{\\partial e}{\\partial y}=\\frac{\\partial e}{\\partial a}\\,\\text{for}\\;y&gt;0}\\\\\n{\\,\\,\\,\\,\\,\\,\\,\\,\\,\\,\\,=0\\,\\,\\,\\,\\,\\,\\text{otherwise}}\\\\\n{\\,}\\\\\n{E\\left(\\frac{\\partial e}{\\partial y}\\right)=P\\left(y&gt;0\\right)E\\left(\\frac{\\partial e}{\\partial a_{y&gt;0}}\\right)+P\\left(y\\leq0\\right)\\times0}\\\\\n{\\,\\,\\,\\,\\,\\,\\,\\,\\,\\,\\,\\,\\,\\,\\,\\,\\,\\,\\,\\,\\,\\,\\,\\,\\,=1/2\\,\\times0+1/2\\,\\times0\\,=0}\\\\\n{\\text{Because}\\;\\text{distribution}\\;\\text{of}\\;y\\,\\text{is}\\;\\text{symmetrical}\\;\\text{about}\\;\\text{0,}\\;\\text{so}\\;\\text{P(}y\\text{&gt;0)=P(}y\\text{&lt;0)=1/2}}\\\\\n{\\text{The}\\;\\text{expression}\\;\\text{above}\\;\\text{partitions}\\;\\frac{\\partial e}{\\partial a}\\,\\text{into}\\;\\text{two}\\;\\text{subsets,}\\;\\text{one}\\,\\text{where}\\;y&gt;0\\;\\text{and}}\\\\\n{\\text{other}\\;\\text{}\\text{where}\\;y\\leq0.\\,\\text{We}\\;\\text{expect}\\;\\text{distributions}\\;\\text{of}\\;y\\,\\text{and}\\;\\frac{\\partial e}{\\partial a}\\,\\text{to}\\;\\text{be}\\;\\text{independent,}}\\\\\n{\\text{because}\\;\\frac{\\partial e}{\\partial a}\\text{is}\\;\\text{being}\\;\\text{backpropagated}\\;\\text{from}\\;\\text{higher}\\;\\text{layers.}\\;\\text{So,}\\;\\text{since}\\;\\text{}}\\\\\n{\\;E\\left(\\frac{\\partial e}{\\partial a}\\right)=0,\\,\\text{the}\\;\\text{expectation}\\;\\text{over}\\;\\text{two}\\;\\text{random}\\;\\text{subsets}\\;\\text{of}\\;\\frac{\\partial e}{\\partial a}}\\\\\n{\\;\\text{should}\\;\\text{also}\\;\\text{be}\\;\\text{zero}}\\\\\n{\\text{Now}\\;\\text{let's}\\;\\text{consider}\\;\\text{the}\\;\\text{variance..}}\\\\\n{Var\\left(\\frac{\\partial e}{\\partial y}\\right)=E\\left(\\left[\\frac{\\partial e}{\\partial y}\\right]^{2}\\right)-E^{2}\\left(\\frac{\\partial e}{\\partial y}\\right)}\\\\\n{\\,\\,\\,\\,\\,\\,\\,\\,\\,\\,\\,\\,\\,\\,\\,\\,\\,\\,\\,\\,\\,\\,\\,\\,\\,\\,\\,\\,\\,\\,\\,=\\,E\\left(\\left[\\frac{\\partial e}{\\partial y}\\right]^{2}\\right)}\t\n\\end{gather*}&quot;,&quot;backgroundColor&quot;:&quot;#FFFFFF&quot;,&quot;aid&quot;:null,&quot;id&quot;:&quot;13&quot;,&quot;backgroundColorModified&quot;:false,&quot;type&quot;:&quot;gather*&quot;,&quot;ts&quot;:1765485067131,&quot;cs&quot;:&quot;uN1hdYiqjsrDhFji0Y1Ctw==&quot;,&quot;size&quot;:{&quot;width&quot;:709.5,&quot;height&quot;:427}}" id="363" name="Google Shape;363;p41"/>
          <p:cNvPicPr preferRelativeResize="0"/>
          <p:nvPr/>
        </p:nvPicPr>
        <p:blipFill>
          <a:blip r:embed="rId3">
            <a:alphaModFix/>
          </a:blip>
          <a:stretch>
            <a:fillRect/>
          </a:stretch>
        </p:blipFill>
        <p:spPr>
          <a:xfrm>
            <a:off x="805000" y="1076325"/>
            <a:ext cx="6757988" cy="4067175"/>
          </a:xfrm>
          <a:prstGeom prst="rect">
            <a:avLst/>
          </a:prstGeom>
          <a:noFill/>
          <a:ln>
            <a:noFill/>
          </a:ln>
        </p:spPr>
      </p:pic>
      <p:sp>
        <p:nvSpPr>
          <p:cNvPr id="364" name="Google Shape;364;p41"/>
          <p:cNvSpPr txBox="1"/>
          <p:nvPr>
            <p:ph type="title"/>
          </p:nvPr>
        </p:nvSpPr>
        <p:spPr>
          <a:xfrm>
            <a:off x="311700" y="445025"/>
            <a:ext cx="6428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466"/>
              <a:t>Variance propagation in the backward pass</a:t>
            </a:r>
            <a:r>
              <a:rPr lang="en"/>
              <a:t>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descr="{&quot;type&quot;:&quot;lalign*&quot;,&quot;backgroundColorModified&quot;:false,&quot;font&quot;:{&quot;size&quot;:12,&quot;color&quot;:&quot;#000000&quot;,&quot;family&quot;:&quot;Arial&quot;},&quot;code&quot;:&quot;\\begin{lalign*}\n&amp;{\\text{Continuing}\\;\\text{along,}}\\\\\n&amp;{Var\\left(\\frac{\\partial e}{\\partial y}\\right)=E\\left(\\left[\\frac{\\partial e}{\\partial y}\\right]^{2}\\right)-E^{2}\\left(\\frac{\\partial e}{\\partial y}\\right)}\\\\\n&amp;{\\,\\,\\,\\,\\,\\,\\,\\,\\,\\,\\,\\,\\,\\,\\,\\,\\,\\,\\,\\,\\,\\,\\,\\,\\,\\,\\,\\,\\,\\,\\,=\\,E\\left(\\left[\\frac{\\partial e}{\\partial y}\\right]^{2}\\right)}\\\\\n&amp;{\\text{As}\\;\\text{before,}}\\\\\n&amp;{E\\left(\\left[\\frac{\\partial e}{\\partial y}\\right]^{2}\\right)=P\\left(y&gt;0\\right)E\\left(\\left[\\frac{\\partial e}{\\partial a}\\right]_{y&gt;0}^{2}\\right)+P\\left(y\\leq0\\right)\\times0}\\\\\n&amp;{\\,\\,\\,\\,\\,\\,\\,\\,\\,\\,\\,\\,\\,\\,\\,\\,\\,\\,\\,\\,\\,\\,\\,\\,\\,\\,\\,\\,\\,\\,\\,\\,\\,\\,\\,=\\frac{1}{2}\\left(E\\left(\\left[\\frac{\\partial e}{\\partial a}\\right]_{y&gt;0}^{2}\\right)-E^{2}\\left(\\left[\\frac{\\partial e}{\\partial a}\\right]_{y&gt;0}\\right)\\,\\right)\\because E\\left(\\left[\\frac{\\partial e}{\\partial a}\\right]_{y&gt;0}\\right)=0}\\\\\n&amp;{\\,\\,\\,\\,\\,\\,\\,\\,\\,\\,\\,\\,\\,\\,\\,\\,\\,\\,\\,\\,\\,\\,\\,\\,\\,\\,\\,\\,\\,\\,\\,\\,\\,\\,\\,=\\,\\frac{1}{2}var\\left(\\frac{\\partial e}{\\partial a}\\right)}\\\\\n&amp;{\\text{So:}Var\\left(\\frac{\\partial e}{\\partial y}\\right)=\\frac{1}{2}var\\left(\\frac{\\partial e}{\\partial a}\\right)\\,\\text{similar}\\;\\text{to}\\;\\text{forward}\\;\\text{pass,}\\;\\text{but}\\;\\text{different}\\;\\text{derivation}}\\\\\n&amp;{}\t\n\\end{lalign*}&quot;,&quot;backgroundColor&quot;:&quot;#FFFFFF&quot;,&quot;aid&quot;:null,&quot;id&quot;:&quot;5&quot;,&quot;ts&quot;:1765459692603,&quot;cs&quot;:&quot;eertzzpp3jEI8VZ91xFBzQ==&quot;,&quot;size&quot;:{&quot;width&quot;:635.5,&quot;height&quot;:392}}" id="369" name="Google Shape;369;p42"/>
          <p:cNvPicPr preferRelativeResize="0"/>
          <p:nvPr/>
        </p:nvPicPr>
        <p:blipFill>
          <a:blip r:embed="rId3">
            <a:alphaModFix/>
          </a:blip>
          <a:stretch>
            <a:fillRect/>
          </a:stretch>
        </p:blipFill>
        <p:spPr>
          <a:xfrm>
            <a:off x="2022860" y="1136573"/>
            <a:ext cx="6053138" cy="3733800"/>
          </a:xfrm>
          <a:prstGeom prst="rect">
            <a:avLst/>
          </a:prstGeom>
          <a:noFill/>
          <a:ln>
            <a:noFill/>
          </a:ln>
        </p:spPr>
      </p:pic>
      <p:sp>
        <p:nvSpPr>
          <p:cNvPr id="370" name="Google Shape;370;p42"/>
          <p:cNvSpPr txBox="1"/>
          <p:nvPr>
            <p:ph type="title"/>
          </p:nvPr>
        </p:nvSpPr>
        <p:spPr>
          <a:xfrm>
            <a:off x="311700" y="445025"/>
            <a:ext cx="7442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Variance propagation in the backward pass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descr="{&quot;id&quot;:&quot;5&quot;,&quot;backgroundColorModified&quot;:false,&quot;backgroundColor&quot;:&quot;#FFFFFF&quot;,&quot;code&quot;:&quot;\\begin{lalign*}\n&amp;{\\text{As}\\;\\text{with}\\;\\text{forward}\\;\\text{pass,}}\\\\\n&amp;{Var\\left(\\frac{\\partial e}{\\partial x}\\right)=nVar\\left(W\\right)Var\\left(\\frac{\\partial e}{\\partial y}\\right)\\,\\because\\frac{\\partial e}{\\partial x}=W^{T}\\frac{\\partial e}{\\partial y},\\,W^{T}\\text{is}\\;m\\times n}\\\\\n&amp;{\\,\\,\\,\\,\\,\\,\\,\\,\\,\\,\\,\\,\\,\\,\\,\\,\\,\\,\\,\\,\\,\\,\\,\\,\\,\\,\\,\\,\\,\\,\\,=\\,\\frac{n}{2}Var\\left(W\\right)Var\\left(\\frac{\\partial e}{\\partial a}\\right)}\\\\\n&amp;{\\;\\text{We}\\;\\text{want}\\;Var\\left(\\frac{\\partial e}{\\partial x}\\right)=Var\\left(\\frac{\\partial e}{\\partial a}\\right)}\\\\\n&amp;{\\text{So}\\;Var\\left(W\\right)=2/n}\\\\\n&amp;{}\t\n\\end{lalign*}&quot;,&quot;font&quot;:{&quot;family&quot;:&quot;Arial&quot;,&quot;color&quot;:&quot;#000000&quot;,&quot;size&quot;:12},&quot;aid&quot;:null,&quot;type&quot;:&quot;lalign*&quot;,&quot;ts&quot;:1757559931929,&quot;cs&quot;:&quot;r0sjaAhGXdYcj2EUmBzgag==&quot;,&quot;size&quot;:{&quot;width&quot;:543,&quot;height&quot;:195}}" id="375" name="Google Shape;375;p43"/>
          <p:cNvPicPr preferRelativeResize="0"/>
          <p:nvPr/>
        </p:nvPicPr>
        <p:blipFill>
          <a:blip r:embed="rId3">
            <a:alphaModFix/>
          </a:blip>
          <a:stretch>
            <a:fillRect/>
          </a:stretch>
        </p:blipFill>
        <p:spPr>
          <a:xfrm>
            <a:off x="1122803" y="1745692"/>
            <a:ext cx="5172075" cy="1857375"/>
          </a:xfrm>
          <a:prstGeom prst="rect">
            <a:avLst/>
          </a:prstGeom>
          <a:noFill/>
          <a:ln>
            <a:noFill/>
          </a:ln>
        </p:spPr>
      </p:pic>
      <p:sp>
        <p:nvSpPr>
          <p:cNvPr id="376" name="Google Shape;376;p43"/>
          <p:cNvSpPr txBox="1"/>
          <p:nvPr>
            <p:ph type="title"/>
          </p:nvPr>
        </p:nvSpPr>
        <p:spPr>
          <a:xfrm>
            <a:off x="311700" y="445025"/>
            <a:ext cx="7207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Variance propagation in the backward pass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4"/>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pic>
        <p:nvPicPr>
          <p:cNvPr id="382" name="Google Shape;382;p44"/>
          <p:cNvPicPr preferRelativeResize="0"/>
          <p:nvPr/>
        </p:nvPicPr>
        <p:blipFill>
          <a:blip r:embed="rId3">
            <a:alphaModFix/>
          </a:blip>
          <a:stretch>
            <a:fillRect/>
          </a:stretch>
        </p:blipFill>
        <p:spPr>
          <a:xfrm>
            <a:off x="4174150" y="127875"/>
            <a:ext cx="3738731" cy="4986250"/>
          </a:xfrm>
          <a:prstGeom prst="rect">
            <a:avLst/>
          </a:prstGeom>
          <a:noFill/>
          <a:ln>
            <a:noFill/>
          </a:ln>
        </p:spPr>
      </p:pic>
      <p:sp>
        <p:nvSpPr>
          <p:cNvPr id="383" name="Google Shape;383;p44"/>
          <p:cNvSpPr txBox="1"/>
          <p:nvPr/>
        </p:nvSpPr>
        <p:spPr>
          <a:xfrm>
            <a:off x="259350" y="942175"/>
            <a:ext cx="3517200" cy="318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Learning is the process of adjusting the weights of the layers in a network against the gradient.</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0" lvl="0" marL="0" rtl="0" algn="l">
              <a:spcBef>
                <a:spcPts val="0"/>
              </a:spcBef>
              <a:spcAft>
                <a:spcPts val="0"/>
              </a:spcAft>
              <a:buNone/>
            </a:pPr>
            <a:r>
              <a:rPr lang="en" sz="1500">
                <a:solidFill>
                  <a:schemeClr val="dk2"/>
                </a:solidFill>
              </a:rPr>
              <a:t>This is done using an algorithm called </a:t>
            </a:r>
            <a:r>
              <a:rPr b="1" lang="en" sz="1500">
                <a:solidFill>
                  <a:schemeClr val="dk2"/>
                </a:solidFill>
              </a:rPr>
              <a:t>Backpropagation</a:t>
            </a:r>
            <a:r>
              <a:rPr lang="en" sz="1500">
                <a:solidFill>
                  <a:schemeClr val="dk2"/>
                </a:solidFill>
              </a:rPr>
              <a:t>.  </a:t>
            </a:r>
            <a:endParaRPr sz="1500">
              <a:solidFill>
                <a:schemeClr val="dk2"/>
              </a:solidFill>
            </a:endParaRPr>
          </a:p>
          <a:p>
            <a:pPr indent="0" lvl="0" marL="0" rtl="0" algn="l">
              <a:spcBef>
                <a:spcPts val="0"/>
              </a:spcBef>
              <a:spcAft>
                <a:spcPts val="0"/>
              </a:spcAft>
              <a:buNone/>
            </a:pPr>
            <a:r>
              <a:t/>
            </a:r>
            <a:endParaRPr sz="1500">
              <a:solidFill>
                <a:schemeClr val="dk2"/>
              </a:solidFill>
            </a:endParaRPr>
          </a:p>
          <a:p>
            <a:pPr indent="0" lvl="0" marL="0" rtl="0" algn="l">
              <a:spcBef>
                <a:spcPts val="0"/>
              </a:spcBef>
              <a:spcAft>
                <a:spcPts val="0"/>
              </a:spcAft>
              <a:buNone/>
            </a:pPr>
            <a:r>
              <a:rPr lang="en" sz="1500">
                <a:solidFill>
                  <a:schemeClr val="dk2"/>
                </a:solidFill>
              </a:rPr>
              <a:t>Key idea is to calculate the derivative of the error against the parameters of the network, and move the parameters against the gradient to gradually lower the error, which directs the network’s output towards the desired output</a:t>
            </a:r>
            <a:endParaRPr sz="15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5"/>
          <p:cNvSpPr txBox="1"/>
          <p:nvPr/>
        </p:nvSpPr>
        <p:spPr>
          <a:xfrm>
            <a:off x="317900" y="890650"/>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pic>
        <p:nvPicPr>
          <p:cNvPr id="389" name="Google Shape;389;p45"/>
          <p:cNvPicPr preferRelativeResize="0"/>
          <p:nvPr/>
        </p:nvPicPr>
        <p:blipFill>
          <a:blip r:embed="rId3">
            <a:alphaModFix/>
          </a:blip>
          <a:stretch>
            <a:fillRect/>
          </a:stretch>
        </p:blipFill>
        <p:spPr>
          <a:xfrm>
            <a:off x="4422575" y="0"/>
            <a:ext cx="3856647" cy="5143499"/>
          </a:xfrm>
          <a:prstGeom prst="rect">
            <a:avLst/>
          </a:prstGeom>
          <a:noFill/>
          <a:ln>
            <a:noFill/>
          </a:ln>
        </p:spPr>
      </p:pic>
      <p:sp>
        <p:nvSpPr>
          <p:cNvPr id="390" name="Google Shape;390;p45"/>
          <p:cNvSpPr txBox="1"/>
          <p:nvPr/>
        </p:nvSpPr>
        <p:spPr>
          <a:xfrm>
            <a:off x="317900" y="1759350"/>
            <a:ext cx="3517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Here our loss function is “squared error”</a:t>
            </a:r>
            <a:endParaRPr sz="1600">
              <a:solidFill>
                <a:schemeClr val="dk2"/>
              </a:solidFill>
            </a:endParaRPr>
          </a:p>
          <a:p>
            <a:pPr indent="0" lvl="0" marL="0" rtl="0" algn="l">
              <a:spcBef>
                <a:spcPts val="0"/>
              </a:spcBef>
              <a:spcAft>
                <a:spcPts val="0"/>
              </a:spcAft>
              <a:buNone/>
            </a:pPr>
            <a:r>
              <a:rPr lang="en" sz="1600">
                <a:solidFill>
                  <a:schemeClr val="dk2"/>
                </a:solidFill>
              </a:rPr>
              <a:t>There are several loss functions: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Root Mean Square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Cross Entropy Loss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Contrastive Loss</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 sz="1600">
                <a:solidFill>
                  <a:schemeClr val="dk2"/>
                </a:solidFill>
              </a:rPr>
              <a:t>We’ll look at these later in the course</a:t>
            </a:r>
            <a:endParaRPr sz="1600">
              <a:solidFill>
                <a:schemeClr val="dk2"/>
              </a:solidFill>
            </a:endParaRPr>
          </a:p>
        </p:txBody>
      </p:sp>
      <p:sp>
        <p:nvSpPr>
          <p:cNvPr id="391" name="Google Shape;391;p45"/>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6"/>
          <p:cNvSpPr txBox="1"/>
          <p:nvPr/>
        </p:nvSpPr>
        <p:spPr>
          <a:xfrm>
            <a:off x="259350" y="896425"/>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pic>
        <p:nvPicPr>
          <p:cNvPr id="397" name="Google Shape;397;p46"/>
          <p:cNvPicPr preferRelativeResize="0"/>
          <p:nvPr/>
        </p:nvPicPr>
        <p:blipFill rotWithShape="1">
          <a:blip r:embed="rId3">
            <a:alphaModFix/>
          </a:blip>
          <a:srcRect b="21259" l="0" r="0" t="0"/>
          <a:stretch/>
        </p:blipFill>
        <p:spPr>
          <a:xfrm>
            <a:off x="4105600" y="181850"/>
            <a:ext cx="4447299" cy="4670275"/>
          </a:xfrm>
          <a:prstGeom prst="rect">
            <a:avLst/>
          </a:prstGeom>
          <a:noFill/>
          <a:ln>
            <a:noFill/>
          </a:ln>
        </p:spPr>
      </p:pic>
      <p:sp>
        <p:nvSpPr>
          <p:cNvPr id="398" name="Google Shape;398;p46"/>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7"/>
          <p:cNvSpPr txBox="1"/>
          <p:nvPr/>
        </p:nvSpPr>
        <p:spPr>
          <a:xfrm>
            <a:off x="259350" y="896425"/>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pic>
        <p:nvPicPr>
          <p:cNvPr id="404" name="Google Shape;404;p47"/>
          <p:cNvPicPr preferRelativeResize="0"/>
          <p:nvPr/>
        </p:nvPicPr>
        <p:blipFill>
          <a:blip r:embed="rId3">
            <a:alphaModFix/>
          </a:blip>
          <a:stretch>
            <a:fillRect/>
          </a:stretch>
        </p:blipFill>
        <p:spPr>
          <a:xfrm>
            <a:off x="4462875" y="20750"/>
            <a:ext cx="3825499" cy="5101999"/>
          </a:xfrm>
          <a:prstGeom prst="rect">
            <a:avLst/>
          </a:prstGeom>
          <a:noFill/>
          <a:ln>
            <a:noFill/>
          </a:ln>
        </p:spPr>
      </p:pic>
      <p:sp>
        <p:nvSpPr>
          <p:cNvPr id="405" name="Google Shape;405;p47"/>
          <p:cNvSpPr txBox="1"/>
          <p:nvPr/>
        </p:nvSpPr>
        <p:spPr>
          <a:xfrm>
            <a:off x="313500" y="2419900"/>
            <a:ext cx="30000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This is a key result, because in a typical Transformer model, matrix multiplications account for a significant portion of the operations, often exceeding </a:t>
            </a:r>
            <a:r>
              <a:rPr lang="en" sz="1600" u="sng">
                <a:solidFill>
                  <a:schemeClr val="dk2"/>
                </a:solidFill>
              </a:rPr>
              <a:t>80% of the total runtime</a:t>
            </a:r>
            <a:r>
              <a:rPr lang="en" sz="1600">
                <a:solidFill>
                  <a:schemeClr val="dk2"/>
                </a:solidFill>
              </a:rPr>
              <a:t>. </a:t>
            </a:r>
            <a:endParaRPr sz="1600">
              <a:solidFill>
                <a:schemeClr val="dk2"/>
              </a:solidFill>
            </a:endParaRPr>
          </a:p>
        </p:txBody>
      </p:sp>
      <p:sp>
        <p:nvSpPr>
          <p:cNvPr id="406" name="Google Shape;406;p47"/>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8"/>
          <p:cNvSpPr txBox="1"/>
          <p:nvPr/>
        </p:nvSpPr>
        <p:spPr>
          <a:xfrm>
            <a:off x="259350" y="896425"/>
            <a:ext cx="35172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Let’s look at ReLU now..</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b="1" lang="en" sz="1600">
                <a:solidFill>
                  <a:schemeClr val="dk2"/>
                </a:solidFill>
              </a:rPr>
              <a:t>Note:</a:t>
            </a:r>
            <a:r>
              <a:rPr lang="en" sz="1600">
                <a:solidFill>
                  <a:schemeClr val="dk2"/>
                </a:solidFill>
              </a:rPr>
              <a:t> In the derivation on the right, we are consider </a:t>
            </a:r>
            <a:r>
              <a:rPr i="1" lang="en" sz="1600">
                <a:solidFill>
                  <a:schemeClr val="dk2"/>
                </a:solidFill>
              </a:rPr>
              <a:t>x </a:t>
            </a:r>
            <a:r>
              <a:rPr lang="en" sz="1600">
                <a:solidFill>
                  <a:schemeClr val="dk2"/>
                </a:solidFill>
              </a:rPr>
              <a:t>as a 3*1 vector just as an example. In general, </a:t>
            </a:r>
            <a:r>
              <a:rPr i="1" lang="en" sz="1600">
                <a:solidFill>
                  <a:schemeClr val="dk2"/>
                </a:solidFill>
              </a:rPr>
              <a:t>x</a:t>
            </a:r>
            <a:r>
              <a:rPr lang="en" sz="1600">
                <a:solidFill>
                  <a:schemeClr val="dk2"/>
                </a:solidFill>
              </a:rPr>
              <a:t> would be a</a:t>
            </a:r>
            <a:r>
              <a:rPr i="1" lang="en" sz="1600">
                <a:solidFill>
                  <a:schemeClr val="dk2"/>
                </a:solidFill>
              </a:rPr>
              <a:t> m*n </a:t>
            </a:r>
            <a:r>
              <a:rPr lang="en" sz="1600">
                <a:solidFill>
                  <a:schemeClr val="dk2"/>
                </a:solidFill>
              </a:rPr>
              <a:t>matrix</a:t>
            </a:r>
            <a:endParaRPr sz="1600">
              <a:solidFill>
                <a:schemeClr val="dk2"/>
              </a:solidFill>
            </a:endParaRPr>
          </a:p>
        </p:txBody>
      </p:sp>
      <p:sp>
        <p:nvSpPr>
          <p:cNvPr id="412" name="Google Shape;412;p48"/>
          <p:cNvSpPr txBox="1"/>
          <p:nvPr/>
        </p:nvSpPr>
        <p:spPr>
          <a:xfrm>
            <a:off x="259350" y="2694225"/>
            <a:ext cx="3000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rPr>
              <a:t>Note:</a:t>
            </a:r>
            <a:r>
              <a:rPr lang="en" sz="1600">
                <a:solidFill>
                  <a:schemeClr val="dk2"/>
                </a:solidFill>
              </a:rPr>
              <a:t> ReLU doesn’t have any parameters.. But we still need to calculate the derivative of its output against input</a:t>
            </a:r>
            <a:endParaRPr sz="1600">
              <a:solidFill>
                <a:schemeClr val="dk2"/>
              </a:solidFill>
            </a:endParaRPr>
          </a:p>
        </p:txBody>
      </p:sp>
      <p:pic>
        <p:nvPicPr>
          <p:cNvPr id="413" name="Google Shape;413;p48"/>
          <p:cNvPicPr preferRelativeResize="0"/>
          <p:nvPr/>
        </p:nvPicPr>
        <p:blipFill>
          <a:blip r:embed="rId3">
            <a:alphaModFix/>
          </a:blip>
          <a:stretch>
            <a:fillRect/>
          </a:stretch>
        </p:blipFill>
        <p:spPr>
          <a:xfrm>
            <a:off x="4237575" y="79000"/>
            <a:ext cx="3639324" cy="4853698"/>
          </a:xfrm>
          <a:prstGeom prst="rect">
            <a:avLst/>
          </a:prstGeom>
          <a:noFill/>
          <a:ln>
            <a:noFill/>
          </a:ln>
        </p:spPr>
      </p:pic>
      <p:sp>
        <p:nvSpPr>
          <p:cNvPr id="414" name="Google Shape;414;p48"/>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9"/>
          <p:cNvSpPr txBox="1"/>
          <p:nvPr/>
        </p:nvSpPr>
        <p:spPr>
          <a:xfrm>
            <a:off x="259350" y="896425"/>
            <a:ext cx="3517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2"/>
                </a:solidFill>
              </a:rPr>
              <a:t>Calculating the derivative of the error against the parameter matrix</a:t>
            </a:r>
            <a:endParaRPr sz="1700">
              <a:solidFill>
                <a:schemeClr val="dk2"/>
              </a:solidFill>
            </a:endParaRPr>
          </a:p>
        </p:txBody>
      </p:sp>
      <p:sp>
        <p:nvSpPr>
          <p:cNvPr id="420" name="Google Shape;420;p49"/>
          <p:cNvSpPr txBox="1"/>
          <p:nvPr/>
        </p:nvSpPr>
        <p:spPr>
          <a:xfrm>
            <a:off x="313500" y="2419900"/>
            <a:ext cx="3000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Each layer uses the derivative of error against its output to calculate derivative of error against its parameters, and the derivative of error against its inputs, which is </a:t>
            </a:r>
            <a:r>
              <a:rPr lang="en" sz="1600" u="sng">
                <a:solidFill>
                  <a:schemeClr val="dk2"/>
                </a:solidFill>
              </a:rPr>
              <a:t>propagated back</a:t>
            </a:r>
            <a:r>
              <a:rPr lang="en" sz="1600">
                <a:solidFill>
                  <a:schemeClr val="dk2"/>
                </a:solidFill>
              </a:rPr>
              <a:t> to the previous layer..</a:t>
            </a:r>
            <a:endParaRPr sz="1600">
              <a:solidFill>
                <a:schemeClr val="dk2"/>
              </a:solidFill>
            </a:endParaRPr>
          </a:p>
        </p:txBody>
      </p:sp>
      <p:pic>
        <p:nvPicPr>
          <p:cNvPr id="421" name="Google Shape;421;p49"/>
          <p:cNvPicPr preferRelativeResize="0"/>
          <p:nvPr/>
        </p:nvPicPr>
        <p:blipFill>
          <a:blip r:embed="rId3">
            <a:alphaModFix/>
          </a:blip>
          <a:stretch>
            <a:fillRect/>
          </a:stretch>
        </p:blipFill>
        <p:spPr>
          <a:xfrm>
            <a:off x="4418825" y="0"/>
            <a:ext cx="3856647" cy="5143499"/>
          </a:xfrm>
          <a:prstGeom prst="rect">
            <a:avLst/>
          </a:prstGeom>
          <a:noFill/>
          <a:ln>
            <a:noFill/>
          </a:ln>
        </p:spPr>
      </p:pic>
      <p:sp>
        <p:nvSpPr>
          <p:cNvPr id="422" name="Google Shape;422;p49"/>
          <p:cNvSpPr txBox="1"/>
          <p:nvPr>
            <p:ph type="ctrTitle"/>
          </p:nvPr>
        </p:nvSpPr>
        <p:spPr>
          <a:xfrm>
            <a:off x="-41050" y="234250"/>
            <a:ext cx="3187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480"/>
              <a:t>Backpropagation</a:t>
            </a:r>
            <a:endParaRPr sz="248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0"/>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pic>
        <p:nvPicPr>
          <p:cNvPr id="428" name="Google Shape;428;p50"/>
          <p:cNvPicPr preferRelativeResize="0"/>
          <p:nvPr/>
        </p:nvPicPr>
        <p:blipFill rotWithShape="1">
          <a:blip r:embed="rId3">
            <a:alphaModFix/>
          </a:blip>
          <a:srcRect b="31572" l="5015" r="11672" t="0"/>
          <a:stretch/>
        </p:blipFill>
        <p:spPr>
          <a:xfrm>
            <a:off x="4450525" y="557675"/>
            <a:ext cx="3742125" cy="4099101"/>
          </a:xfrm>
          <a:prstGeom prst="rect">
            <a:avLst/>
          </a:prstGeom>
          <a:noFill/>
          <a:ln>
            <a:noFill/>
          </a:ln>
        </p:spPr>
      </p:pic>
      <p:sp>
        <p:nvSpPr>
          <p:cNvPr id="429" name="Google Shape;429;p50"/>
          <p:cNvSpPr txBox="1"/>
          <p:nvPr/>
        </p:nvSpPr>
        <p:spPr>
          <a:xfrm>
            <a:off x="336350" y="911825"/>
            <a:ext cx="35172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So far, we calculated gradients for a single input. It is common to group the inputs into a batch. Let’s calculate the gradients for the batched case. We’ll also include the bias term now</a:t>
            </a:r>
            <a:endParaRPr sz="15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51"/>
          <p:cNvPicPr preferRelativeResize="0"/>
          <p:nvPr/>
        </p:nvPicPr>
        <p:blipFill rotWithShape="1">
          <a:blip r:embed="rId3">
            <a:alphaModFix/>
          </a:blip>
          <a:srcRect b="4488" l="5977" r="1343" t="1411"/>
          <a:stretch/>
        </p:blipFill>
        <p:spPr>
          <a:xfrm>
            <a:off x="4316350" y="11231"/>
            <a:ext cx="3789900" cy="5132270"/>
          </a:xfrm>
          <a:prstGeom prst="rect">
            <a:avLst/>
          </a:prstGeom>
          <a:noFill/>
          <a:ln>
            <a:noFill/>
          </a:ln>
        </p:spPr>
      </p:pic>
      <p:sp>
        <p:nvSpPr>
          <p:cNvPr id="435" name="Google Shape;435;p51"/>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
        <p:nvSpPr>
          <p:cNvPr id="436" name="Google Shape;436;p51"/>
          <p:cNvSpPr txBox="1"/>
          <p:nvPr/>
        </p:nvSpPr>
        <p:spPr>
          <a:xfrm>
            <a:off x="336350" y="911825"/>
            <a:ext cx="35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Derivative of error against the weights</a:t>
            </a:r>
            <a:endParaRPr sz="1500">
              <a:solidFill>
                <a:schemeClr val="dk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52"/>
          <p:cNvPicPr preferRelativeResize="0"/>
          <p:nvPr/>
        </p:nvPicPr>
        <p:blipFill rotWithShape="1">
          <a:blip r:embed="rId3">
            <a:alphaModFix/>
          </a:blip>
          <a:srcRect b="17005" l="6974" r="18747" t="0"/>
          <a:stretch/>
        </p:blipFill>
        <p:spPr>
          <a:xfrm>
            <a:off x="4506975" y="152400"/>
            <a:ext cx="3331474" cy="4964274"/>
          </a:xfrm>
          <a:prstGeom prst="rect">
            <a:avLst/>
          </a:prstGeom>
          <a:noFill/>
          <a:ln>
            <a:noFill/>
          </a:ln>
        </p:spPr>
      </p:pic>
      <p:sp>
        <p:nvSpPr>
          <p:cNvPr id="442" name="Google Shape;442;p52"/>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pic>
        <p:nvPicPr>
          <p:cNvPr id="447" name="Google Shape;447;p53"/>
          <p:cNvPicPr preferRelativeResize="0"/>
          <p:nvPr/>
        </p:nvPicPr>
        <p:blipFill rotWithShape="1">
          <a:blip r:embed="rId3">
            <a:alphaModFix/>
          </a:blip>
          <a:srcRect b="2257" l="2510" r="12664" t="0"/>
          <a:stretch/>
        </p:blipFill>
        <p:spPr>
          <a:xfrm>
            <a:off x="4414575" y="0"/>
            <a:ext cx="3347199" cy="5143499"/>
          </a:xfrm>
          <a:prstGeom prst="rect">
            <a:avLst/>
          </a:prstGeom>
          <a:noFill/>
          <a:ln>
            <a:noFill/>
          </a:ln>
        </p:spPr>
      </p:pic>
      <p:sp>
        <p:nvSpPr>
          <p:cNvPr id="448" name="Google Shape;448;p53"/>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
        <p:nvSpPr>
          <p:cNvPr id="449" name="Google Shape;449;p53"/>
          <p:cNvSpPr txBox="1"/>
          <p:nvPr/>
        </p:nvSpPr>
        <p:spPr>
          <a:xfrm>
            <a:off x="336350" y="911825"/>
            <a:ext cx="35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Derivative of error against bias </a:t>
            </a:r>
            <a:endParaRPr sz="1500">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54"/>
          <p:cNvPicPr preferRelativeResize="0"/>
          <p:nvPr/>
        </p:nvPicPr>
        <p:blipFill rotWithShape="1">
          <a:blip r:embed="rId3">
            <a:alphaModFix/>
          </a:blip>
          <a:srcRect b="56470" l="3297" r="0" t="0"/>
          <a:stretch/>
        </p:blipFill>
        <p:spPr>
          <a:xfrm>
            <a:off x="4373525" y="152400"/>
            <a:ext cx="4252499" cy="2552826"/>
          </a:xfrm>
          <a:prstGeom prst="rect">
            <a:avLst/>
          </a:prstGeom>
          <a:noFill/>
          <a:ln>
            <a:noFill/>
          </a:ln>
        </p:spPr>
      </p:pic>
      <p:sp>
        <p:nvSpPr>
          <p:cNvPr id="455" name="Google Shape;455;p54"/>
          <p:cNvSpPr txBox="1"/>
          <p:nvPr>
            <p:ph type="title"/>
          </p:nvPr>
        </p:nvSpPr>
        <p:spPr>
          <a:xfrm>
            <a:off x="311700" y="445025"/>
            <a:ext cx="3789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020"/>
              <a:t>Backpropagation: Batched</a:t>
            </a:r>
            <a:endParaRPr sz="202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