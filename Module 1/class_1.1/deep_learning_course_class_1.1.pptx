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F6075-F911-4D3F-9137-3602F3555C30}">
  <a:tblStyle styleId="{77EF6075-F911-4D3F-9137-3602F3555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af67b1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af67b1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b89a26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b89a2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6db783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66db783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12b89a26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12b89a26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3af67b1ee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3af67b1ee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4f3a761b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4f3a761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4f3a761b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4f3a761b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f3a761b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4f3a761b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66db7832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66db7832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4f3a761b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4f3a761b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3af67b1ee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3af67b1ee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3af67b1ee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3af67b1ee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3af67b1ee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3af67b1ee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3af67b1ee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3af67b1ee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3af67b1ee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3af67b1ee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3af67b1ee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3af67b1ee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40bf9330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40bf933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aircAruvnKk" TargetMode="External"/><Relationship Id="rId4" Type="http://schemas.openxmlformats.org/officeDocument/2006/relationships/hyperlink" Target="https://www.youtube.com/playlist?list=PLZHQObOWTQDPD3MizzM2xVFitgF8hE_ab" TargetMode="External"/><Relationship Id="rId5" Type="http://schemas.openxmlformats.org/officeDocument/2006/relationships/hyperlink" Target="https://www.youtube.com/playlist?list=PLZHQObOWTQDPD3MizzM2xVFitgF8hE_ab" TargetMode="External"/><Relationship Id="rId6" Type="http://schemas.openxmlformats.org/officeDocument/2006/relationships/hyperlink" Target="https://www.youtube.com/playlist?list=PLZHQObOWTQDPD3MizzM2xVFitgF8hE_ab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1" Type="http://schemas.openxmlformats.org/officeDocument/2006/relationships/image" Target="../media/image19.png"/><Relationship Id="rId10" Type="http://schemas.openxmlformats.org/officeDocument/2006/relationships/image" Target="../media/image30.png"/><Relationship Id="rId12" Type="http://schemas.openxmlformats.org/officeDocument/2006/relationships/image" Target="../media/image20.png"/><Relationship Id="rId9" Type="http://schemas.openxmlformats.org/officeDocument/2006/relationships/image" Target="../media/image35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hyperlink" Target="http://drive.google.com/file/d/1Iw7ZxxdE_TZUfoZmgRfqpsOq7j3m0M-z/view" TargetMode="External"/><Relationship Id="rId5" Type="http://schemas.openxmlformats.org/officeDocument/2006/relationships/image" Target="../media/image2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google.com/search?cs=0&amp;sca_esv=6803a1afa38366d6&amp;sxsrf=AE3TifNMAdDNdSccAqyuEQ2iCfyCE2HnZw%3A1754653547883&amp;q=ImageNet+Large+Scale+Visual+Recognition+Challenge+%28ILSVRC%29+in+2012&amp;sa=X&amp;ved=2ahUKEwjewInrkfuOAxXwFmIAHWAGI6oQxccNegQIBBAB&amp;mstk=AUtExfAkeh_oBXd9gAljxdXKQLCcuR0_F06j7mEbhFvuGQbhmljqGgamyIZiIAwhSwIe2ek8dmSrM76WbKCQbi_Ctp6-igqvN_hHbS00I8jin8V01HGVQQQRLnqLlatnPbnXrKCAJbJiuxDExrYMrq3kQugJnJr3S0UfCWWJt2fNsBsgOKo&amp;csui=3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1, Class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480050" y="1195250"/>
            <a:ext cx="555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Functions or Maps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Derivatives and Optimization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Matrix Math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Linear Regression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Neural Networks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Backpropagation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 material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69575" y="1174225"/>
            <a:ext cx="8881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Deep Learning Book (Goodfellow, Bengio, Courville) — Chapter 1: Introduction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Available free online: Deep Learning Book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Gives a history and motivation for deep learning in a non-technical way.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3Blue1Brown Video Series: “</a:t>
            </a:r>
            <a:r>
              <a:rPr b="1" lang="en" sz="1100" u="sng">
                <a:solidFill>
                  <a:schemeClr val="hlink"/>
                </a:solidFill>
                <a:hlinkClick r:id="rId3"/>
              </a:rPr>
              <a:t>But what is a Neural Network?</a:t>
            </a:r>
            <a:r>
              <a:rPr b="1" lang="en" sz="1100">
                <a:solidFill>
                  <a:schemeClr val="dk1"/>
                </a:solidFill>
              </a:rPr>
              <a:t>” (YouTube)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3Blue1Brown Neural Networks Playlist</a:t>
            </a:r>
            <a:br>
              <a:rPr lang="en" sz="1100" u="sng">
                <a:solidFill>
                  <a:schemeClr val="hlink"/>
                </a:solidFill>
                <a:hlinkClick r:id="rId6"/>
              </a:rPr>
            </a:br>
            <a:r>
              <a:rPr lang="en" sz="1100">
                <a:solidFill>
                  <a:schemeClr val="dk1"/>
                </a:solidFill>
              </a:rPr>
              <a:t> → Visual and intuitive introduction to neural networks as function mappers.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practical problems can be represented as a Map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260550" y="2136075"/>
            <a:ext cx="8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040200" y="2043675"/>
            <a:ext cx="15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Segmentation mask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389300" y="1983825"/>
            <a:ext cx="1314300" cy="76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Image Segmentation</a:t>
            </a:r>
            <a:endParaRPr sz="1300"/>
          </a:p>
        </p:txBody>
      </p:sp>
      <p:cxnSp>
        <p:nvCxnSpPr>
          <p:cNvPr id="76" name="Google Shape;76;p16"/>
          <p:cNvCxnSpPr>
            <a:stCxn id="75" idx="3"/>
            <a:endCxn id="74" idx="1"/>
          </p:cNvCxnSpPr>
          <p:nvPr/>
        </p:nvCxnSpPr>
        <p:spPr>
          <a:xfrm>
            <a:off x="2703600" y="2366925"/>
            <a:ext cx="33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6"/>
          <p:cNvCxnSpPr>
            <a:stCxn id="73" idx="3"/>
            <a:endCxn id="75" idx="1"/>
          </p:cNvCxnSpPr>
          <p:nvPr/>
        </p:nvCxnSpPr>
        <p:spPr>
          <a:xfrm>
            <a:off x="1102650" y="2366925"/>
            <a:ext cx="2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6"/>
          <p:cNvSpPr/>
          <p:nvPr/>
        </p:nvSpPr>
        <p:spPr>
          <a:xfrm>
            <a:off x="1424100" y="3096600"/>
            <a:ext cx="1277400" cy="69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Sentiment Analysis</a:t>
            </a:r>
            <a:endParaRPr sz="1300"/>
          </a:p>
        </p:txBody>
      </p:sp>
      <p:sp>
        <p:nvSpPr>
          <p:cNvPr id="79" name="Google Shape;79;p16"/>
          <p:cNvSpPr txBox="1"/>
          <p:nvPr/>
        </p:nvSpPr>
        <p:spPr>
          <a:xfrm>
            <a:off x="362850" y="3214650"/>
            <a:ext cx="6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Text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0" name="Google Shape;80;p16"/>
          <p:cNvCxnSpPr>
            <a:stCxn id="79" idx="3"/>
            <a:endCxn id="78" idx="1"/>
          </p:cNvCxnSpPr>
          <p:nvPr/>
        </p:nvCxnSpPr>
        <p:spPr>
          <a:xfrm>
            <a:off x="1033050" y="3445500"/>
            <a:ext cx="39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6"/>
          <p:cNvCxnSpPr>
            <a:stCxn id="78" idx="3"/>
          </p:cNvCxnSpPr>
          <p:nvPr/>
        </p:nvCxnSpPr>
        <p:spPr>
          <a:xfrm>
            <a:off x="2701500" y="3445500"/>
            <a:ext cx="4974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6"/>
          <p:cNvSpPr txBox="1"/>
          <p:nvPr/>
        </p:nvSpPr>
        <p:spPr>
          <a:xfrm>
            <a:off x="3092548" y="3137125"/>
            <a:ext cx="157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Sentiment probabilities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449300" y="4195275"/>
            <a:ext cx="1277400" cy="69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Transcription</a:t>
            </a:r>
            <a:endParaRPr sz="1300"/>
          </a:p>
        </p:txBody>
      </p:sp>
      <p:sp>
        <p:nvSpPr>
          <p:cNvPr id="84" name="Google Shape;84;p16"/>
          <p:cNvSpPr txBox="1"/>
          <p:nvPr/>
        </p:nvSpPr>
        <p:spPr>
          <a:xfrm>
            <a:off x="311700" y="4205625"/>
            <a:ext cx="1061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Speech Sample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85" name="Google Shape;85;p16"/>
          <p:cNvCxnSpPr/>
          <p:nvPr/>
        </p:nvCxnSpPr>
        <p:spPr>
          <a:xfrm flipH="1" rot="10800000">
            <a:off x="1188900" y="4541775"/>
            <a:ext cx="2343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6"/>
          <p:cNvSpPr txBox="1"/>
          <p:nvPr/>
        </p:nvSpPr>
        <p:spPr>
          <a:xfrm>
            <a:off x="3243600" y="4218525"/>
            <a:ext cx="127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Transcribed Text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275" y="1427013"/>
            <a:ext cx="4204301" cy="22894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>
            <a:stCxn id="83" idx="3"/>
          </p:cNvCxnSpPr>
          <p:nvPr/>
        </p:nvCxnSpPr>
        <p:spPr>
          <a:xfrm flipH="1" rot="10800000">
            <a:off x="2726700" y="4539375"/>
            <a:ext cx="448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6"/>
          <p:cNvSpPr txBox="1"/>
          <p:nvPr/>
        </p:nvSpPr>
        <p:spPr>
          <a:xfrm>
            <a:off x="65475" y="1299850"/>
            <a:ext cx="10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Context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040200" y="1322950"/>
            <a:ext cx="1531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Next word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414388" y="1272550"/>
            <a:ext cx="1314300" cy="51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LLM</a:t>
            </a:r>
            <a:endParaRPr sz="1300"/>
          </a:p>
        </p:txBody>
      </p:sp>
      <p:cxnSp>
        <p:nvCxnSpPr>
          <p:cNvPr id="92" name="Google Shape;92;p16"/>
          <p:cNvCxnSpPr>
            <a:stCxn id="91" idx="3"/>
            <a:endCxn id="90" idx="1"/>
          </p:cNvCxnSpPr>
          <p:nvPr/>
        </p:nvCxnSpPr>
        <p:spPr>
          <a:xfrm>
            <a:off x="2728688" y="1530700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6"/>
          <p:cNvCxnSpPr>
            <a:stCxn id="89" idx="3"/>
            <a:endCxn id="91" idx="1"/>
          </p:cNvCxnSpPr>
          <p:nvPr/>
        </p:nvCxnSpPr>
        <p:spPr>
          <a:xfrm>
            <a:off x="1102875" y="1530700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4294967295" type="title"/>
          </p:nvPr>
        </p:nvSpPr>
        <p:spPr>
          <a:xfrm>
            <a:off x="338975" y="21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 are Functions in Math speak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411975" y="856475"/>
            <a:ext cx="529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In math, functions map a point in Rn to Rm. 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{&quot;backgroundColorModified&quot;:false,&quot;font&quot;:{&quot;color&quot;:&quot;#000000&quot;,&quot;size&quot;:16,&quot;family&quot;:&quot;Arial&quot;},&quot;code&quot;:&quot;\\begin{lalign*}\n&amp;{n=1,\\,m=2}\\\\\n&amp;{x\\,\\mapsto\\binom{x}{ax^{2}+bx\\,+c}}\t\n\\end{lalign*}&quot;,&quot;backgroundColor&quot;:&quot;#FFFFFF&quot;,&quot;aid&quot;:null,&quot;type&quot;:&quot;lalign*&quot;,&quot;id&quot;:&quot;3&quot;,&quot;ts&quot;:1754656667072,&quot;cs&quot;:&quot;6MboUofaWrcmyk5p6uZnJA==&quot;,&quot;size&quot;:{&quot;width&quot;:228.4,&quot;height&quot;:90.60000000000002}}"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62" y="2388198"/>
            <a:ext cx="2175510" cy="862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type&quot;:&quot;lalign*&quot;,&quot;code&quot;:&quot;\\begin{lalign*}\n&amp;{n=2,\\,m=3}\\\\\n&amp;{\\binom{x}{y}\\mapsto\\begin{pmatrix}\n{x}\\\\\n{y}\\\\\n{\\sin\\left({\\sqrt[]{x^{2\\,}+y^{2}}}\\right)}\\\\\n\\end{pmatrix}}\\\\\n&amp;{}\t\n\\end{lalign*}&quot;,&quot;font&quot;:{&quot;family&quot;:&quot;Arial&quot;,&quot;color&quot;:&quot;#000000&quot;,&quot;size&quot;:12},&quot;id&quot;:&quot;4&quot;,&quot;backgroundColorModified&quot;:false,&quot;ts&quot;:1753444411246,&quot;cs&quot;:&quot;2NBBcwPKxNOI2pQ1YQ4cAA==&quot;,&quot;size&quot;:{&quot;width&quot;:224.80000000000004,&quot;height&quot;:109.20000000000003}}"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89" y="3774004"/>
            <a:ext cx="2141220" cy="104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6400" y="2471475"/>
            <a:ext cx="2677599" cy="26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3579" y="2133242"/>
            <a:ext cx="2999801" cy="18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3894675" y="3934500"/>
            <a:ext cx="22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Mapping points along a line to a curve</a:t>
            </a:r>
            <a:r>
              <a:rPr lang="en" sz="800">
                <a:solidFill>
                  <a:schemeClr val="dk2"/>
                </a:solidFill>
              </a:rPr>
              <a:t>. 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11975" y="1306775"/>
            <a:ext cx="751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What is a dimension? Number of things that can vary </a:t>
            </a:r>
            <a:r>
              <a:rPr lang="en" sz="1500">
                <a:solidFill>
                  <a:schemeClr val="dk2"/>
                </a:solidFill>
              </a:rPr>
              <a:t>independently</a:t>
            </a:r>
            <a:r>
              <a:rPr lang="en" sz="1500">
                <a:solidFill>
                  <a:schemeClr val="dk2"/>
                </a:solidFill>
              </a:rPr>
              <a:t>. Points along a line are 1D, on a plane: 2D, in space: 3D..</a:t>
            </a:r>
            <a:r>
              <a:rPr lang="en" sz="1500">
                <a:solidFill>
                  <a:schemeClr val="dk2"/>
                </a:solidFill>
              </a:rPr>
              <a:t> 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= Maps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406300" y="910825"/>
            <a:ext cx="529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Some other examples..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3875" y="1354700"/>
            <a:ext cx="474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PCA: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2"/>
                </a:solidFill>
              </a:rPr>
              <a:t>Dimensionality reduction technique to p</a:t>
            </a:r>
            <a:r>
              <a:rPr lang="en" sz="1500">
                <a:solidFill>
                  <a:schemeClr val="dk2"/>
                </a:solidFill>
              </a:rPr>
              <a:t>reserve variation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t-SNE:</a:t>
            </a:r>
            <a:r>
              <a:rPr lang="en" sz="1500">
                <a:solidFill>
                  <a:schemeClr val="dk2"/>
                </a:solidFill>
              </a:rPr>
              <a:t> Visualization technique to visualize vectors in high-dimensional spaces that preserves structure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940" y="2571750"/>
            <a:ext cx="2522884" cy="23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700" y="2641225"/>
            <a:ext cx="2070700" cy="19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857000" y="4558500"/>
            <a:ext cx="213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Digit 2 from the MNIST dataset (28, 28, 256)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125" y="2615075"/>
            <a:ext cx="2070700" cy="19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2710400" y="3511925"/>
            <a:ext cx="847800" cy="24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18"/>
          <p:cNvGraphicFramePr/>
          <p:nvPr/>
        </p:nvGraphicFramePr>
        <p:xfrm>
          <a:off x="3673375" y="243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{77EF6075-F911-4D3F-9137-3602F3555C30}</a:tableStyleId>
              </a:tblPr>
              <a:tblGrid>
                <a:gridCol w="382850"/>
              </a:tblGrid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" name="Google Shape;119;p18"/>
          <p:cNvSpPr txBox="1"/>
          <p:nvPr/>
        </p:nvSpPr>
        <p:spPr>
          <a:xfrm>
            <a:off x="2642000" y="2994575"/>
            <a:ext cx="91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Reshape to 784 * 1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4171400" y="3487163"/>
            <a:ext cx="847800" cy="29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7794675" y="4773900"/>
            <a:ext cx="13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Code: mnist_t-sne.py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289600" y="3171725"/>
            <a:ext cx="91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t-SNE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5103" y="0"/>
            <a:ext cx="3838899" cy="25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= Maps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406300" y="910825"/>
            <a:ext cx="352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Case 1: Image Classification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044200" y="2347975"/>
            <a:ext cx="540000" cy="24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3589450" y="2098225"/>
            <a:ext cx="942000" cy="743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backgroundColor&quot;:&quot;#EEEEEE&quot;,&quot;type&quot;:&quot;$$&quot;,&quot;aid&quot;:null,&quot;font&quot;:{&quot;family&quot;:&quot;Arial&quot;,&quot;color&quot;:&quot;#000000&quot;,&quot;size&quot;:14},&quot;id&quot;:&quot;6&quot;,&quot;code&quot;:&quot;$$f\\left(x\\right)$$&quot;,&quot;ts&quot;:1753545200107,&quot;cs&quot;:&quot;jJGULBu5gxkYTrp8Z4hlLQ==&quot;,&quot;size&quot;:{&quot;width&quot;:42.166666666666664,&quot;height&quot;:22}}"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025" y="2519425"/>
            <a:ext cx="40163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7&quot;,&quot;code&quot;:&quot;\\begin{gather*}\n{x}\\\\\n{\\left(H\\times W\\times255\\times255\\times255\\right)}\t\n\\end{gather*}&quot;,&quot;backgroundColorModified&quot;:false,&quot;backgroundColor&quot;:&quot;#FFFFFF&quot;,&quot;aid&quot;:null,&quot;type&quot;:&quot;gather*&quot;,&quot;font&quot;:{&quot;color&quot;:&quot;#000000&quot;,&quot;size&quot;:9,&quot;family&quot;:&quot;Arial&quot;},&quot;ts&quot;:1753546025214,&quot;cs&quot;:&quot;mUaO3t+1rvKonQ0zYDemSQ==&quot;,&quot;size&quot;:{&quot;width&quot;:171.51433464566932,&quot;height&quot;:28.782175590551144}}"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9300" y="3452200"/>
            <a:ext cx="1633674" cy="2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4541950" y="2328150"/>
            <a:ext cx="540000" cy="24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id&quot;:&quot;8&quot;,&quot;backgroundColorModified&quot;:false,&quot;font&quot;:{&quot;size&quot;:14,&quot;family&quot;:&quot;Arial&quot;,&quot;color&quot;:&quot;#000000&quot;},&quot;type&quot;:&quot;gather*&quot;,&quot;aid&quot;:null,&quot;code&quot;:&quot;\\begin{gather*}\n{y}\\\\\n{\\left(N\\times1\\right)}\t\n\\end{gather*}&quot;,&quot;backgroundColor&quot;:&quot;#FFFFFF&quot;,&quot;ts&quot;:1753546174724,&quot;cs&quot;:&quot;PQygBq3MkHCbOJMOH8VBnA==&quot;,&quot;size&quot;:{&quot;width&quot;:70.33333333333333,&quot;height&quot;:43.833333333333336}}" id="135" name="Google Shape;13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6175" y="2286705"/>
            <a:ext cx="669925" cy="4175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" name="Google Shape;136;p19"/>
          <p:cNvGraphicFramePr/>
          <p:nvPr/>
        </p:nvGraphicFramePr>
        <p:xfrm>
          <a:off x="5947413" y="14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{77EF6075-F911-4D3F-9137-3602F3555C30}</a:tableStyleId>
              </a:tblPr>
              <a:tblGrid>
                <a:gridCol w="471800"/>
              </a:tblGrid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0.05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0.06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19"/>
          <p:cNvSpPr txBox="1"/>
          <p:nvPr/>
        </p:nvSpPr>
        <p:spPr>
          <a:xfrm>
            <a:off x="7675400" y="1445788"/>
            <a:ext cx="54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Cat</a:t>
            </a:r>
            <a:endParaRPr sz="1100"/>
          </a:p>
        </p:txBody>
      </p:sp>
      <p:sp>
        <p:nvSpPr>
          <p:cNvPr id="138" name="Google Shape;138;p19"/>
          <p:cNvSpPr txBox="1"/>
          <p:nvPr/>
        </p:nvSpPr>
        <p:spPr>
          <a:xfrm>
            <a:off x="7675400" y="1796263"/>
            <a:ext cx="54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Dog</a:t>
            </a:r>
            <a:endParaRPr sz="1100"/>
          </a:p>
        </p:txBody>
      </p:sp>
      <p:sp>
        <p:nvSpPr>
          <p:cNvPr id="139" name="Google Shape;139;p19"/>
          <p:cNvSpPr txBox="1"/>
          <p:nvPr/>
        </p:nvSpPr>
        <p:spPr>
          <a:xfrm>
            <a:off x="7671225" y="3444775"/>
            <a:ext cx="8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Chicken</a:t>
            </a:r>
            <a:endParaRPr sz="1100"/>
          </a:p>
        </p:txBody>
      </p:sp>
      <p:sp>
        <p:nvSpPr>
          <p:cNvPr id="140" name="Google Shape;140;p19"/>
          <p:cNvSpPr txBox="1"/>
          <p:nvPr/>
        </p:nvSpPr>
        <p:spPr>
          <a:xfrm>
            <a:off x="5626813" y="1082275"/>
            <a:ext cx="111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Probabilities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7545500" y="1091788"/>
            <a:ext cx="66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Labels</a:t>
            </a:r>
            <a:endParaRPr b="1" sz="1100">
              <a:solidFill>
                <a:schemeClr val="dk2"/>
              </a:solidFill>
            </a:endParaRPr>
          </a:p>
        </p:txBody>
      </p:sp>
      <p:graphicFrame>
        <p:nvGraphicFramePr>
          <p:cNvPr id="142" name="Google Shape;142;p19"/>
          <p:cNvGraphicFramePr/>
          <p:nvPr/>
        </p:nvGraphicFramePr>
        <p:xfrm>
          <a:off x="7073700" y="1445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{77EF6075-F911-4D3F-9137-3602F3555C30}</a:tableStyleId>
              </a:tblPr>
              <a:tblGrid>
                <a:gridCol w="471800"/>
              </a:tblGrid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baseline="-250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{&quot;backgroundColorModified&quot;:false,&quot;font&quot;:{&quot;size&quot;:14,&quot;color&quot;:&quot;#000000&quot;,&quot;family&quot;:&quot;Arial&quot;},&quot;type&quot;:&quot;gather*&quot;,&quot;aid&quot;:null,&quot;id&quot;:&quot;8&quot;,&quot;code&quot;:&quot;\\begin{gather*}\n{\\hat{y}}\\\\\n{\\left(N\\times1\\right)}\t\n\\end{gather*}&quot;,&quot;backgroundColor&quot;:&quot;#FFFFFF&quot;,&quot;ts&quot;:1753547459379,&quot;cs&quot;:&quot;AU8XGaNzChp1/QUMWpUJiA==&quot;,&quot;size&quot;:{&quot;width&quot;:70.33333333333333,&quot;height&quot;:49.5}}" id="143" name="Google Shape;14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7221" y="2261017"/>
            <a:ext cx="669925" cy="4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6530275" y="4244200"/>
            <a:ext cx="512700" cy="43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9"/>
          <p:cNvCxnSpPr>
            <a:endCxn id="144" idx="1"/>
          </p:cNvCxnSpPr>
          <p:nvPr/>
        </p:nvCxnSpPr>
        <p:spPr>
          <a:xfrm flipH="1" rot="-5400000">
            <a:off x="6084625" y="4014100"/>
            <a:ext cx="551100" cy="340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" name="Google Shape;146;p19"/>
          <p:cNvCxnSpPr>
            <a:endCxn id="144" idx="3"/>
          </p:cNvCxnSpPr>
          <p:nvPr/>
        </p:nvCxnSpPr>
        <p:spPr>
          <a:xfrm rot="5400000">
            <a:off x="6908575" y="4048150"/>
            <a:ext cx="546000" cy="277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descr="{&quot;code&quot;:&quot;\\begin{gather*}\n{d\\left(y,\\,\\hat{y}\\right)}\t\n\\end{gather*}&quot;,&quot;type&quot;:&quot;gather*&quot;,&quot;backgroundColor&quot;:&quot;#FFFFFF&quot;,&quot;aid&quot;:null,&quot;backgroundColorModified&quot;:false,&quot;font&quot;:{&quot;family&quot;:&quot;Arial&quot;,&quot;color&quot;:&quot;#000000&quot;,&quot;size&quot;:14},&quot;id&quot;:&quot;8&quot;,&quot;ts&quot;:1753547682247,&quot;cs&quot;:&quot;sghYg4y4tSTsYT67uuCYxA==&quot;,&quot;size&quot;:{&quot;width&quot;:65.99999999999993,&quot;height&quot;:26.333333333333332}}" id="147" name="Google Shape;14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4871" y="4802089"/>
            <a:ext cx="628650" cy="25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9&quot;,&quot;code&quot;:&quot;$$\\text{Find}\\;f\\;\\text{that}\\;\\text{minimizes}\\;d\\left(y,\\,\\hat{y}\\right)$$&quot;,&quot;font&quot;:{&quot;size&quot;:16,&quot;color&quot;:&quot;#595959&quot;,&quot;family&quot;:&quot;Arial&quot;},&quot;backgroundColorModified&quot;:false,&quot;aid&quot;:null,&quot;type&quot;:&quot;$$&quot;,&quot;ts&quot;:1753547823355,&quot;cs&quot;:&quot;19gDSQkg1/CAt5Z9ezgXEA==&quot;,&quot;size&quot;:{&quot;width&quot;:322.75,&quot;height&quot;:30}}" id="148" name="Google Shape;14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300" y="4389550"/>
            <a:ext cx="307419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2425" y="1496238"/>
            <a:ext cx="1907425" cy="190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4821600" y="3006625"/>
            <a:ext cx="96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Number of classes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151" name="Google Shape;151;p19"/>
          <p:cNvCxnSpPr>
            <a:stCxn id="150" idx="0"/>
          </p:cNvCxnSpPr>
          <p:nvPr/>
        </p:nvCxnSpPr>
        <p:spPr>
          <a:xfrm rot="10800000">
            <a:off x="5298150" y="2718925"/>
            <a:ext cx="5700" cy="28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= Maps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373825" y="706750"/>
            <a:ext cx="352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Case 2: Face Recognition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542950" y="2762750"/>
            <a:ext cx="9420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&quot;:&quot;#FFFFFF&quot;,&quot;code&quot;:&quot;\\begin{lalign*}\n&amp;{\\text{Find}\\;f\\;\\text{that}\\;\\text{minimizes}\\;}\\\\\n&amp;{\\left(1-Y\\right)\\left(\\left\\|y_{i}-y_{j}\\right\\|\\right)+Y\\left(\\max\\left(0,\\,m-\\left\\|y_{i}-y_{j}\\right\\|\\right)\\right)}\t\n\\end{lalign*}&quot;,&quot;font&quot;:{&quot;size&quot;:16,&quot;family&quot;:&quot;Arial&quot;,&quot;color&quot;:&quot;#595959&quot;},&quot;type&quot;:&quot;lalign*&quot;,&quot;aid&quot;:null,&quot;id&quot;:&quot;9&quot;,&quot;backgroundColorModified&quot;:false,&quot;ts&quot;:1754742693234,&quot;cs&quot;:&quot;XT3YqT/OWhCm8C31h5ILCw==&quot;,&quot;size&quot;:{&quot;width&quot;:527.5,&quot;height&quot;:58}}" id="159" name="Google Shape;159;p20"/>
          <p:cNvPicPr preferRelativeResize="0"/>
          <p:nvPr/>
        </p:nvPicPr>
        <p:blipFill rotWithShape="1">
          <a:blip r:embed="rId3">
            <a:alphaModFix/>
          </a:blip>
          <a:srcRect b="-672720" l="-2920" r="2919" t="672720"/>
          <a:stretch/>
        </p:blipFill>
        <p:spPr>
          <a:xfrm>
            <a:off x="4425401" y="4650750"/>
            <a:ext cx="5024438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000" y="1179013"/>
            <a:ext cx="606300" cy="181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988" y="3099525"/>
            <a:ext cx="669925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/>
          <p:nvPr/>
        </p:nvSpPr>
        <p:spPr>
          <a:xfrm>
            <a:off x="782650" y="1179025"/>
            <a:ext cx="1032900" cy="18189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814463" y="3194950"/>
            <a:ext cx="1083000" cy="18189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2872200" y="4450800"/>
            <a:ext cx="2150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When yi and yj belong to the same subject, we want to drive them as close as possible </a:t>
            </a:r>
            <a:endParaRPr sz="1100"/>
          </a:p>
        </p:txBody>
      </p:sp>
      <p:sp>
        <p:nvSpPr>
          <p:cNvPr id="165" name="Google Shape;165;p20"/>
          <p:cNvSpPr txBox="1"/>
          <p:nvPr/>
        </p:nvSpPr>
        <p:spPr>
          <a:xfrm>
            <a:off x="46475" y="3927388"/>
            <a:ext cx="8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Subject 2</a:t>
            </a:r>
            <a:endParaRPr sz="1100"/>
          </a:p>
        </p:txBody>
      </p:sp>
      <p:cxnSp>
        <p:nvCxnSpPr>
          <p:cNvPr id="166" name="Google Shape;166;p20"/>
          <p:cNvCxnSpPr>
            <a:stCxn id="162" idx="3"/>
            <a:endCxn id="158" idx="1"/>
          </p:cNvCxnSpPr>
          <p:nvPr/>
        </p:nvCxnSpPr>
        <p:spPr>
          <a:xfrm>
            <a:off x="1815550" y="2088475"/>
            <a:ext cx="727500" cy="960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0"/>
          <p:cNvCxnSpPr>
            <a:stCxn id="163" idx="3"/>
            <a:endCxn id="158" idx="1"/>
          </p:cNvCxnSpPr>
          <p:nvPr/>
        </p:nvCxnSpPr>
        <p:spPr>
          <a:xfrm flipH="1" rot="10800000">
            <a:off x="1897463" y="3049000"/>
            <a:ext cx="645600" cy="1055400"/>
          </a:xfrm>
          <a:prstGeom prst="bentConnector3">
            <a:avLst>
              <a:gd fmla="val 4244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0"/>
          <p:cNvCxnSpPr>
            <a:stCxn id="158" idx="3"/>
            <a:endCxn id="169" idx="1"/>
          </p:cNvCxnSpPr>
          <p:nvPr/>
        </p:nvCxnSpPr>
        <p:spPr>
          <a:xfrm flipH="1" rot="10800000">
            <a:off x="3484950" y="2406500"/>
            <a:ext cx="925200" cy="642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0"/>
          <p:cNvCxnSpPr>
            <a:stCxn id="158" idx="3"/>
            <a:endCxn id="171" idx="1"/>
          </p:cNvCxnSpPr>
          <p:nvPr/>
        </p:nvCxnSpPr>
        <p:spPr>
          <a:xfrm>
            <a:off x="3484950" y="3049100"/>
            <a:ext cx="925200" cy="636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aid&quot;:null,&quot;font&quot;:{&quot;size&quot;:14,&quot;family&quot;:&quot;Arial&quot;,&quot;color&quot;:&quot;#000000&quot;},&quot;type&quot;:&quot;$$&quot;,&quot;code&quot;:&quot;$$f\\left(x_{i},x_{j}\\right)$$&quot;,&quot;backgroundColor&quot;:&quot;#FFFFFF&quot;,&quot;backgroundColorModified&quot;:false,&quot;id&quot;:&quot;20&quot;,&quot;ts&quot;:1754743004209,&quot;cs&quot;:&quot;slclo+zm4s7jFxKrBAXJcQ==&quot;,&quot;size&quot;:{&quot;width&quot;:79.66666666666663,&quot;height&quot;:23}}" id="172" name="Google Shape;17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1090" y="3399500"/>
            <a:ext cx="7588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0,&quot;family&quot;:&quot;Arial&quot;},&quot;type&quot;:&quot;lalign*&quot;,&quot;backgroundColorModified&quot;:false,&quot;backgroundColor&quot;:&quot;#FFFFFF&quot;,&quot;aid&quot;:null,&quot;code&quot;:&quot;\\begin{lalign*}\n&amp;{Y=1\\,\\text{if}\\;x_{1}\\;\\text{and}\\;x_{2}\\;\\text{belong}\\;\\text{to}\\;\\text{different}\\;\\text{subjects}}\\\\\n&amp;{Y=0\\,\\text{if}\\;x_{1}\\;\\text{and}\\;x_{2}\\;\\text{belong}\\;\\text{to}\\;\\text{the}\\;\\text{same}\\;\\text{subject}}\t\n\\end{lalign*}&quot;,&quot;id&quot;:&quot;21&quot;,&quot;ts&quot;:1754742416815,&quot;cs&quot;:&quot;umNMY3LFc8uK5CBWCAyyWg==&quot;,&quot;size&quot;:{&quot;width&quot;:308.75,&quot;height&quot;:34.75}}" id="173" name="Google Shape;17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24501" y="2458800"/>
            <a:ext cx="3466450" cy="3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4},&quot;backgroundColor&quot;:&quot;#FFFFFF&quot;,&quot;code&quot;:&quot;$$\\text{Minimize}\\;\\text{(1-Y)(}\\left\\|y_{i}-y_{j}\\right\\|\\text{)+Y(}\\max\\left(0,m-\\left\\|y_{i}-y_{j}\\right\\|\\right)\\text{)}$$&quot;,&quot;id&quot;:&quot;22&quot;,&quot;type&quot;:&quot;$$&quot;,&quot;aid&quot;:null,&quot;backgroundColorModified&quot;:false,&quot;ts&quot;:1754743041249,&quot;cs&quot;:&quot;1vmOgPwZPRDeXicIzwNwqg==&quot;,&quot;size&quot;:{&quot;width&quot;:523.542289238845,&quot;height&quot;:22.999996325459296}}" id="174" name="Google Shape;17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2212" y="4175803"/>
            <a:ext cx="498674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type&quot;:&quot;$$&quot;,&quot;code&quot;:&quot;$$y_{i}$$&quot;,&quot;id&quot;:&quot;23&quot;,&quot;aid&quot;:null,&quot;font&quot;:{&quot;size&quot;:15.5,&quot;family&quot;:&quot;Arial&quot;,&quot;color&quot;:&quot;#000000&quot;},&quot;ts&quot;:1754743056715,&quot;cs&quot;:&quot;JrSTW1dLmq13hDFPV05W4w==&quot;,&quot;size&quot;:{&quot;width&quot;:17.749778740157513,&quot;height&quot;:15.999990551181112}}" id="175" name="Google Shape;17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55379" y="2340750"/>
            <a:ext cx="16906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font&quot;:{&quot;family&quot;:&quot;Arial&quot;,&quot;color&quot;:&quot;#000000&quot;,&quot;size&quot;:15.5},&quot;id&quot;:&quot;23&quot;,&quot;backgroundColor&quot;:&quot;#FFFFFF&quot;,&quot;backgroundColorModified&quot;:false,&quot;code&quot;:&quot;$$y_{j}$$&quot;,&quot;ts&quot;:1754742979657,&quot;cs&quot;:&quot;IGyC3Yj5DSbabu2Tj+1Bkw==&quot;,&quot;size&quot;:{&quot;width&quot;:19.166666666666668,&quot;height&quot;:18}}" id="176" name="Google Shape;176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38511" y="3609050"/>
            <a:ext cx="18256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size&quot;:15.5,&quot;color&quot;:&quot;#000000&quot;,&quot;family&quot;:&quot;Arial&quot;},&quot;backgroundColor&quot;:&quot;#FFFFFF&quot;,&quot;id&quot;:&quot;23&quot;,&quot;aid&quot;:null,&quot;code&quot;:&quot;$$x_{i}$$&quot;,&quot;backgroundColorModified&quot;:false,&quot;ts&quot;:1754743073441,&quot;cs&quot;:&quot;B24s0bWkJUyXyq+bqSJb4Q==&quot;,&quot;size&quot;:{&quot;width&quot;:19.166666666666668,&quot;height&quot;:14.666666666666666}}" id="177" name="Google Shape;177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256754" y="2388189"/>
            <a:ext cx="182563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23&quot;,&quot;backgroundColor&quot;:&quot;#FFFFFF&quot;,&quot;backgroundColorModified&quot;:false,&quot;code&quot;:&quot;$$x_{j}$$&quot;,&quot;aid&quot;:null,&quot;type&quot;:&quot;$$&quot;,&quot;font&quot;:{&quot;color&quot;:&quot;#000000&quot;,&quot;size&quot;:15.5,&quot;family&quot;:&quot;Arial&quot;},&quot;ts&quot;:1754743094808,&quot;cs&quot;:&quot;BVAayrHKjTcPbz9m+Uylbw==&quot;,&quot;size&quot;:{&quot;width&quot;:20.833333333333332,&quot;height&quot;:18}}" id="178" name="Google Shape;17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39916" y="3478864"/>
            <a:ext cx="19843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52400" y="2063863"/>
            <a:ext cx="85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Subject 1</a:t>
            </a:r>
            <a:endParaRPr sz="1100"/>
          </a:p>
        </p:txBody>
      </p:sp>
      <p:sp>
        <p:nvSpPr>
          <p:cNvPr id="180" name="Google Shape;180;p20"/>
          <p:cNvSpPr txBox="1"/>
          <p:nvPr/>
        </p:nvSpPr>
        <p:spPr>
          <a:xfrm>
            <a:off x="5220500" y="4450800"/>
            <a:ext cx="3923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When yi and yj belong to </a:t>
            </a:r>
            <a:r>
              <a:rPr lang="en" sz="1100"/>
              <a:t>different</a:t>
            </a:r>
            <a:r>
              <a:rPr lang="en" sz="1100"/>
              <a:t> subjects, we want to drive them as far as the margin </a:t>
            </a:r>
            <a:r>
              <a:rPr i="1" lang="en" sz="1100"/>
              <a:t>m, </a:t>
            </a:r>
            <a:r>
              <a:rPr lang="en" sz="1100"/>
              <a:t>but no farther.. To keep the task simple. </a:t>
            </a:r>
            <a:r>
              <a:rPr i="1" lang="en" sz="1100"/>
              <a:t>m</a:t>
            </a:r>
            <a:r>
              <a:rPr lang="en" sz="1100"/>
              <a:t> can then be used as the decision threshold</a:t>
            </a:r>
            <a:r>
              <a:rPr lang="en" sz="1100"/>
              <a:t> 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64800" y="4494100"/>
            <a:ext cx="352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Audio Transcription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b="24748" l="0" r="0" t="16993"/>
          <a:stretch/>
        </p:blipFill>
        <p:spPr>
          <a:xfrm>
            <a:off x="464800" y="2739613"/>
            <a:ext cx="4726476" cy="18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377375" y="862775"/>
            <a:ext cx="7925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Before raw input is fed into a mapper, it must be transformed into a </a:t>
            </a:r>
            <a:r>
              <a:rPr i="1" lang="en" sz="1600">
                <a:solidFill>
                  <a:schemeClr val="dk2"/>
                </a:solidFill>
              </a:rPr>
              <a:t>representation </a:t>
            </a:r>
            <a:r>
              <a:rPr lang="en" sz="1600">
                <a:solidFill>
                  <a:schemeClr val="dk2"/>
                </a:solidFill>
              </a:rPr>
              <a:t>that is often more compact and captures essential information from the raw input, but is generally not </a:t>
            </a:r>
            <a:r>
              <a:rPr i="1" lang="en" sz="1600">
                <a:solidFill>
                  <a:schemeClr val="dk2"/>
                </a:solidFill>
              </a:rPr>
              <a:t>invertible</a:t>
            </a:r>
            <a:r>
              <a:rPr lang="en" sz="1600">
                <a:solidFill>
                  <a:schemeClr val="dk2"/>
                </a:solidFill>
              </a:rPr>
              <a:t>. These representations are sometimes called </a:t>
            </a:r>
            <a:r>
              <a:rPr i="1" lang="en" sz="1600">
                <a:solidFill>
                  <a:schemeClr val="dk2"/>
                </a:solidFill>
              </a:rPr>
              <a:t>features. </a:t>
            </a:r>
            <a:r>
              <a:rPr lang="en" sz="1600">
                <a:solidFill>
                  <a:schemeClr val="dk2"/>
                </a:solidFill>
              </a:rPr>
              <a:t>They can </a:t>
            </a:r>
            <a:r>
              <a:rPr lang="en" sz="1600">
                <a:solidFill>
                  <a:schemeClr val="dk2"/>
                </a:solidFill>
              </a:rPr>
              <a:t>themselves be learnt.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Examples: Fourier/wavelet transform in speech, embeddings in text, mean/variance/max/min in numerical data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have an optimization problem!</a:t>
            </a:r>
            <a:endParaRPr/>
          </a:p>
        </p:txBody>
      </p:sp>
      <p:pic>
        <p:nvPicPr>
          <p:cNvPr descr="{&quot;backgroundColorModified&quot;:false,&quot;id&quot;:&quot;9&quot;,&quot;backgroundColor&quot;:&quot;#FFFFFF&quot;,&quot;aid&quot;:null,&quot;font&quot;:{&quot;family&quot;:&quot;Arial&quot;,&quot;size&quot;:16,&quot;color&quot;:&quot;#595959&quot;},&quot;type&quot;:&quot;lalign*&quot;,&quot;code&quot;:&quot;\\begin{lalign*}\n&amp;{\\text{If}\\;y=f\\left(x\\right),\\;}\\\\\n&amp;{\\text{find}\\;f\\,\\text{that}\\;\\text{minimizes}\\;\\text{L(y)}}\t\n\\end{lalign*}&quot;,&quot;ts&quot;:1753561656433,&quot;cs&quot;:&quot;yTReRyOOxMTbp80idXCI2Q==&quot;,&quot;size&quot;:{&quot;width&quot;:281.25,&quot;height&quot;:57.75000000000002}}"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84" y="988025"/>
            <a:ext cx="2678906" cy="5500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293225" y="1796175"/>
            <a:ext cx="71868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Here, L(y) is called a Loss function. It measures the difference between output of the function </a:t>
            </a:r>
            <a:r>
              <a:rPr i="1" lang="en" sz="1600">
                <a:solidFill>
                  <a:schemeClr val="dk2"/>
                </a:solidFill>
              </a:rPr>
              <a:t>f</a:t>
            </a:r>
            <a:r>
              <a:rPr lang="en" sz="1600">
                <a:solidFill>
                  <a:schemeClr val="dk2"/>
                </a:solidFill>
              </a:rPr>
              <a:t> and some groundtruth (classification label, audio transcription)..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But.. </a:t>
            </a:r>
            <a:r>
              <a:rPr i="1" lang="en" sz="1600">
                <a:solidFill>
                  <a:schemeClr val="dk2"/>
                </a:solidFill>
              </a:rPr>
              <a:t>f </a:t>
            </a:r>
            <a:r>
              <a:rPr lang="en" sz="1600">
                <a:solidFill>
                  <a:schemeClr val="dk2"/>
                </a:solidFill>
              </a:rPr>
              <a:t>is some function in a high-dimensional space.. We don’t know its form--linear, quadratic.. number of parameters etc. All we have is input and desired output.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How can we learn an unknown function in a high dimensional space using relatively simple and scalable math?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 we can!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83225" y="1082575"/>
            <a:ext cx="7299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And that’s where neural networks come in!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Key ideas: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b="1" lang="en" sz="1600">
                <a:solidFill>
                  <a:schemeClr val="dk2"/>
                </a:solidFill>
              </a:rPr>
              <a:t>Map to higher dimensions:</a:t>
            </a:r>
            <a:r>
              <a:rPr lang="en" sz="1600">
                <a:solidFill>
                  <a:schemeClr val="dk2"/>
                </a:solidFill>
              </a:rPr>
              <a:t> Complex relationships in lower dimensions can become tractable in higher dimensions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b="1" lang="en" sz="1600">
                <a:solidFill>
                  <a:schemeClr val="dk2"/>
                </a:solidFill>
              </a:rPr>
              <a:t>Concatenating linear functions</a:t>
            </a:r>
            <a:r>
              <a:rPr lang="en" sz="1600">
                <a:solidFill>
                  <a:schemeClr val="dk2"/>
                </a:solidFill>
              </a:rPr>
              <a:t> with simple non-linear functions (eg, piecewise linear functions) can approximate </a:t>
            </a:r>
            <a:r>
              <a:rPr b="1" lang="en" sz="1600">
                <a:solidFill>
                  <a:schemeClr val="dk2"/>
                </a:solidFill>
              </a:rPr>
              <a:t>any non-linear function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b="1" lang="en" sz="1600">
                <a:solidFill>
                  <a:schemeClr val="dk2"/>
                </a:solidFill>
              </a:rPr>
              <a:t>Learn from examples</a:t>
            </a:r>
            <a:r>
              <a:rPr lang="en" sz="1600">
                <a:solidFill>
                  <a:schemeClr val="dk2"/>
                </a:solidFill>
              </a:rPr>
              <a:t>, rather than formulate rigid rules. What makes a cat a cat?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dimensions can make things easier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50" y="1587675"/>
            <a:ext cx="3362738" cy="332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813" y="1646475"/>
            <a:ext cx="3650166" cy="332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Concatenating linear functions and simple nonlinear functions can approximate any function!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453613" y="1173763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nonlinearity is key!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7" name="Google Shape;2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63" y="1566475"/>
            <a:ext cx="4227375" cy="32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1512243" y="4701300"/>
            <a:ext cx="12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Without ReLU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6117443" y="4701300"/>
            <a:ext cx="12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With ReLU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6559175" y="1033600"/>
            <a:ext cx="133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We’ll soon learn how to build this!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221" name="Google Shape;221;p25" title="learn_sine_func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838" y="1740100"/>
            <a:ext cx="3745067" cy="28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you describe a cat?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185250" y="982463"/>
            <a:ext cx="7299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Anyone can tell a cat from a dog.. But can you define what makes a cat a cat?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Defining rules is brittle, because nature (and us) likes to break rules.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Learning from examples is better, and let the “brain” figure out the rules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229" name="Google Shape;2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50975"/>
            <a:ext cx="1836600" cy="17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9400" y="2704622"/>
            <a:ext cx="2868800" cy="15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600" y="2665138"/>
            <a:ext cx="1390875" cy="164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>
            <a:off x="293925" y="4462900"/>
            <a:ext cx="14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This is a cat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3" name="Google Shape;233;p26"/>
          <p:cNvSpPr txBox="1"/>
          <p:nvPr/>
        </p:nvSpPr>
        <p:spPr>
          <a:xfrm>
            <a:off x="2871100" y="4462900"/>
            <a:ext cx="14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 are these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5234375" y="4462900"/>
            <a:ext cx="147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And this..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6920025" y="2665150"/>
            <a:ext cx="1479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So what makes a cat a cat? Who cares.. I know a cat when I see it :-)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other desirable properties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381450" y="944688"/>
            <a:ext cx="729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Neural network calculations are simple and parallelizable. In face, most of the calculations in a neural network are matrix multiplications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{&quot;id&quot;:&quot;18&quot;,&quot;backgroundColor&quot;:&quot;#FFFFFF&quot;,&quot;font&quot;:{&quot;family&quot;:&quot;Arial&quot;,&quot;size&quot;:12,&quot;color&quot;:&quot;#000000&quot;},&quot;aid&quot;:null,&quot;code&quot;:&quot;\\begin{lalign*}\n&amp;{\\begin{pmatrix}\n{y_{1}}\\\\\n{y_{2}}\\\\\n{y_{3\\,}}\\\\\n\\end{pmatrix}=\\begin{pmatrix}\n{w_{11}}&amp;{w_{12}}&amp;{w_{13}}\\\\\n{w_{21}}&amp;{w_{22}}&amp;{w_{23}}\\\\\n{w_{31}}&amp;{w_{32}}&amp;{w_{33}}\\\\\n\\end{pmatrix}\\begin{pmatrix}\n{x_{1}}\\\\\n{x_{2}}\\\\\n{x_{3}}\\\\\n\\end{pmatrix}}\\\\\n&amp;{y_{1}=w_{11}x_{1}+w_{12}x_{2}+w_{13}x_{3}}\\\\\n&amp;{y_{2}=w_{21}x_{1}+w_{22}x_{2}+w_{23}x_{3}}\\\\\n&amp;{y_{3}=w_{31}x_{1}+w_{32}x_{2}+w_{33}x_{3}}\t\n\\end{lalign*}&quot;,&quot;type&quot;:&quot;lalign*&quot;,&quot;backgroundColorModified&quot;:false,&quot;ts&quot;:1754653215911,&quot;cs&quot;:&quot;of9dXRY7xNmCilg0qfiD5A==&quot;,&quot;size&quot;:{&quot;width&quot;:283,&quot;height&quot;:143.75}}" id="243" name="Google Shape;2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625" y="1836550"/>
            <a:ext cx="3400876" cy="17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5243075" y="3096225"/>
            <a:ext cx="249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Each of the products can be calculated in parallel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45" name="Google Shape;245;p27"/>
          <p:cNvCxnSpPr>
            <a:stCxn id="244" idx="1"/>
          </p:cNvCxnSpPr>
          <p:nvPr/>
        </p:nvCxnSpPr>
        <p:spPr>
          <a:xfrm rot="10800000">
            <a:off x="4724675" y="3257175"/>
            <a:ext cx="518400" cy="1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7"/>
          <p:cNvSpPr txBox="1"/>
          <p:nvPr/>
        </p:nvSpPr>
        <p:spPr>
          <a:xfrm>
            <a:off x="86925" y="4132475"/>
            <a:ext cx="249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Each of the </a:t>
            </a:r>
            <a:r>
              <a:rPr i="1" lang="en" sz="1500">
                <a:solidFill>
                  <a:schemeClr val="dk2"/>
                </a:solidFill>
              </a:rPr>
              <a:t>y’s</a:t>
            </a:r>
            <a:r>
              <a:rPr lang="en" sz="1500">
                <a:solidFill>
                  <a:schemeClr val="dk2"/>
                </a:solidFill>
              </a:rPr>
              <a:t> can be calculated in parallel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247" name="Google Shape;247;p27"/>
          <p:cNvCxnSpPr/>
          <p:nvPr/>
        </p:nvCxnSpPr>
        <p:spPr>
          <a:xfrm flipH="1" rot="10800000">
            <a:off x="1418175" y="3606275"/>
            <a:ext cx="4476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7"/>
          <p:cNvSpPr txBox="1"/>
          <p:nvPr/>
        </p:nvSpPr>
        <p:spPr>
          <a:xfrm>
            <a:off x="2613000" y="3963125"/>
            <a:ext cx="6045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That’s why GPUs are so popular in Deep Learning!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They are massively parallel (designed to draw pixels on the screen, a parallel calculation)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-"/>
            </a:pPr>
            <a:r>
              <a:rPr lang="en" sz="1300">
                <a:solidFill>
                  <a:schemeClr val="dk2"/>
                </a:solidFill>
              </a:rPr>
              <a:t>Programmable using CUDA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interesting aside..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381450" y="756775"/>
            <a:ext cx="7299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 AI something new or an incremental advance?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Neural Networks, the workhorse of AI were invented in 1943.. But their true capabilities were never realized, because they remained “shallow” (1-2 layers)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-"/>
            </a:pPr>
            <a:r>
              <a:rPr lang="en">
                <a:solidFill>
                  <a:schemeClr val="dk2"/>
                </a:solidFill>
              </a:rPr>
              <a:t>Aha moment arrived in 2012. Alex Krizhevsky, Ilya Sutskever, and Geoffrey Hinton from U of Toronto </a:t>
            </a:r>
            <a:r>
              <a:rPr lang="en" sz="135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won the </a:t>
            </a:r>
            <a:r>
              <a:rPr lang="en" sz="1350" u="sng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ImageNet Large Scale Visual Recognition Challenge (ILSVRC) in 2012</a:t>
            </a:r>
            <a:r>
              <a:rPr lang="en">
                <a:solidFill>
                  <a:schemeClr val="dk2"/>
                </a:solidFill>
              </a:rPr>
              <a:t> using a 8 layered Neural Network, that significantly outperformed the competition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0" y="4827900"/>
            <a:ext cx="5695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</a:rPr>
              <a:t>https://proceedings.neurips.cc/paper_files/paper/2012/file/c399862d3b9d6b76c8436e924a68c45b-Paper.pdf</a:t>
            </a:r>
            <a:endParaRPr sz="900"/>
          </a:p>
        </p:txBody>
      </p:sp>
      <p:sp>
        <p:nvSpPr>
          <p:cNvPr id="257" name="Google Shape;257;p28"/>
          <p:cNvSpPr/>
          <p:nvPr/>
        </p:nvSpPr>
        <p:spPr>
          <a:xfrm>
            <a:off x="3589388" y="3137125"/>
            <a:ext cx="1216800" cy="64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Revolution</a:t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5428200" y="3137125"/>
            <a:ext cx="1216800" cy="64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Datasets</a:t>
            </a:r>
            <a:endParaRPr/>
          </a:p>
        </p:txBody>
      </p:sp>
      <p:sp>
        <p:nvSpPr>
          <p:cNvPr id="259" name="Google Shape;259;p28"/>
          <p:cNvSpPr txBox="1"/>
          <p:nvPr/>
        </p:nvSpPr>
        <p:spPr>
          <a:xfrm>
            <a:off x="6836175" y="3092275"/>
            <a:ext cx="16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Large, high-quality labeled datasets such as ImageNet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1750575" y="3137125"/>
            <a:ext cx="1216800" cy="64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Algorithmic Advances</a:t>
            </a:r>
            <a:endParaRPr/>
          </a:p>
        </p:txBody>
      </p:sp>
      <p:sp>
        <p:nvSpPr>
          <p:cNvPr id="261" name="Google Shape;261;p28"/>
          <p:cNvSpPr txBox="1"/>
          <p:nvPr/>
        </p:nvSpPr>
        <p:spPr>
          <a:xfrm>
            <a:off x="60275" y="2907625"/>
            <a:ext cx="162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Rediscovery of Backpropagation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Dropout to prevent overfitting..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3422450" y="4219150"/>
            <a:ext cx="15507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Programmable GPUs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5204650" y="4136050"/>
            <a:ext cx="190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Highly efficient GPU implementation of matmul, convolution etc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64" name="Google Shape;264;p28"/>
          <p:cNvCxnSpPr>
            <a:stCxn id="260" idx="3"/>
            <a:endCxn id="257" idx="1"/>
          </p:cNvCxnSpPr>
          <p:nvPr/>
        </p:nvCxnSpPr>
        <p:spPr>
          <a:xfrm>
            <a:off x="2967375" y="3461725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8"/>
          <p:cNvCxnSpPr>
            <a:stCxn id="258" idx="1"/>
            <a:endCxn id="257" idx="3"/>
          </p:cNvCxnSpPr>
          <p:nvPr/>
        </p:nvCxnSpPr>
        <p:spPr>
          <a:xfrm rot="10800000">
            <a:off x="4806300" y="3461725"/>
            <a:ext cx="62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8"/>
          <p:cNvCxnSpPr>
            <a:stCxn id="262" idx="0"/>
            <a:endCxn id="257" idx="2"/>
          </p:cNvCxnSpPr>
          <p:nvPr/>
        </p:nvCxnSpPr>
        <p:spPr>
          <a:xfrm rot="10800000">
            <a:off x="4197800" y="3786250"/>
            <a:ext cx="0" cy="4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367400" y="901325"/>
            <a:ext cx="593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