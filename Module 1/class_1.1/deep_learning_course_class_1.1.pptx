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y="5143500" cx="9144000"/>
  <p:notesSz cx="6858000" cy="9144000"/>
  <p:embeddedFontLst>
    <p:embeddedFont>
      <p:font typeface="Roboto"/>
      <p:regular r:id="rId24"/>
      <p:bold r:id="rId25"/>
      <p:italic r:id="rId26"/>
      <p:boldItalic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4D39836-C311-457D-A27E-803C3FBF983F}">
  <a:tblStyle styleId="{94D39836-C311-457D-A27E-803C3FBF983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font" Target="fonts/Roboto-regular.fntdata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Roboto-italic.fntdata"/><Relationship Id="rId25" Type="http://schemas.openxmlformats.org/officeDocument/2006/relationships/font" Target="fonts/Roboto-bold.fntdata"/><Relationship Id="rId27" Type="http://schemas.openxmlformats.org/officeDocument/2006/relationships/font" Target="fonts/Roboto-boldItalic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63af67b1ee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63af67b1ee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712b89a260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712b89a260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666db78322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666db78322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712b89a260_0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712b89a260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63af67b1ee_2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63af67b1ee_2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44f3a761b0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44f3a761b0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44f3a761b0_0_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44f3a761b0_0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44f3a761b0_0_1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44f3a761b0_0_1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3666db78322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3666db78322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44f3a761b0_0_1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344f3a761b0_0_1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63af67b1ee_2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363af67b1ee_2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63af67b1ee_2_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63af67b1ee_2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63af67b1ee_2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" name="Google Shape;213;g363af67b1ee_2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63af67b1ee_2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4" name="Google Shape;224;g363af67b1ee_2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363af67b1ee_2_1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363af67b1ee_2_1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63af67b1ee_2_1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363af67b1ee_2_1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3640bf93304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" name="Google Shape;269;g3640bf93304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www.youtube.com/watch?v=aircAruvnKk" TargetMode="External"/><Relationship Id="rId4" Type="http://schemas.openxmlformats.org/officeDocument/2006/relationships/hyperlink" Target="https://www.youtube.com/playlist?list=PLZHQObOWTQDPD3MizzM2xVFitgF8hE_ab" TargetMode="External"/><Relationship Id="rId5" Type="http://schemas.openxmlformats.org/officeDocument/2006/relationships/hyperlink" Target="https://www.youtube.com/playlist?list=PLZHQObOWTQDPD3MizzM2xVFitgF8hE_ab" TargetMode="External"/><Relationship Id="rId6" Type="http://schemas.openxmlformats.org/officeDocument/2006/relationships/hyperlink" Target="https://www.youtube.com/playlist?list=PLZHQObOWTQDPD3MizzM2xVFitgF8hE_ab" TargetMode="Externa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image" Target="../media/image19.png"/><Relationship Id="rId6" Type="http://schemas.openxmlformats.org/officeDocument/2006/relationships/image" Target="../media/image1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3.png"/><Relationship Id="rId4" Type="http://schemas.openxmlformats.org/officeDocument/2006/relationships/image" Target="../media/image22.png"/><Relationship Id="rId5" Type="http://schemas.openxmlformats.org/officeDocument/2006/relationships/image" Target="../media/image1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9" Type="http://schemas.openxmlformats.org/officeDocument/2006/relationships/image" Target="../media/image8.png"/><Relationship Id="rId5" Type="http://schemas.openxmlformats.org/officeDocument/2006/relationships/image" Target="../media/image5.png"/><Relationship Id="rId6" Type="http://schemas.openxmlformats.org/officeDocument/2006/relationships/image" Target="../media/image1.png"/><Relationship Id="rId7" Type="http://schemas.openxmlformats.org/officeDocument/2006/relationships/image" Target="../media/image21.png"/><Relationship Id="rId8" Type="http://schemas.openxmlformats.org/officeDocument/2006/relationships/image" Target="../media/image3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11" Type="http://schemas.openxmlformats.org/officeDocument/2006/relationships/image" Target="../media/image17.png"/><Relationship Id="rId10" Type="http://schemas.openxmlformats.org/officeDocument/2006/relationships/image" Target="../media/image20.png"/><Relationship Id="rId12" Type="http://schemas.openxmlformats.org/officeDocument/2006/relationships/image" Target="../media/image16.png"/><Relationship Id="rId9" Type="http://schemas.openxmlformats.org/officeDocument/2006/relationships/image" Target="../media/image15.png"/><Relationship Id="rId5" Type="http://schemas.openxmlformats.org/officeDocument/2006/relationships/image" Target="../media/image10.png"/><Relationship Id="rId6" Type="http://schemas.openxmlformats.org/officeDocument/2006/relationships/image" Target="../media/image9.png"/><Relationship Id="rId7" Type="http://schemas.openxmlformats.org/officeDocument/2006/relationships/image" Target="../media/image25.png"/><Relationship Id="rId8" Type="http://schemas.openxmlformats.org/officeDocument/2006/relationships/image" Target="../media/image1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6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7.png"/><Relationship Id="rId4" Type="http://schemas.openxmlformats.org/officeDocument/2006/relationships/image" Target="../media/image3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9.png"/><Relationship Id="rId4" Type="http://schemas.openxmlformats.org/officeDocument/2006/relationships/hyperlink" Target="http://drive.google.com/file/d/1Iw7ZxxdE_TZUfoZmgRfqpsOq7j3m0M-z/view" TargetMode="External"/><Relationship Id="rId5" Type="http://schemas.openxmlformats.org/officeDocument/2006/relationships/image" Target="../media/image31.jp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0.png"/><Relationship Id="rId4" Type="http://schemas.openxmlformats.org/officeDocument/2006/relationships/image" Target="../media/image28.png"/><Relationship Id="rId5" Type="http://schemas.openxmlformats.org/officeDocument/2006/relationships/image" Target="../media/image3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2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www.google.com/search?cs=0&amp;sca_esv=6803a1afa38366d6&amp;sxsrf=AE3TifNMAdDNdSccAqyuEQ2iCfyCE2HnZw%3A1754653547883&amp;q=ImageNet+Large+Scale+Visual+Recognition+Challenge+%28ILSVRC%29+in+2012&amp;sa=X&amp;ved=2ahUKEwjewInrkfuOAxXwFmIAHWAGI6oQxccNegQIBBAB&amp;mstk=AUtExfAkeh_oBXd9gAljxdXKQLCcuR0_F06j7mEbhFvuGQbhmljqGgamyIZiIAwhSwIe2ek8dmSrM76WbKCQbi_Ctp6-igqvN_hHbS00I8jin8V01HGVQQQRLnqLlatnPbnXrKCAJbJiuxDExrYMrq3kQugJnJr3S0UfCWWJt2fNsBsgOKo&amp;csui=3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Introduction to Deep Learning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Module 1, Class 1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idx="4294967295"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61" name="Google Shape;61;p14"/>
          <p:cNvSpPr txBox="1"/>
          <p:nvPr/>
        </p:nvSpPr>
        <p:spPr>
          <a:xfrm>
            <a:off x="480050" y="1195250"/>
            <a:ext cx="55551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Introduction to Functions or Maps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Learning as solution to an optimization problem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Why Neural Networks?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History of Neural Network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idx="4294967295"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Pre-read material</a:t>
            </a:r>
            <a:endParaRPr/>
          </a:p>
        </p:txBody>
      </p:sp>
      <p:sp>
        <p:nvSpPr>
          <p:cNvPr id="67" name="Google Shape;67;p15"/>
          <p:cNvSpPr txBox="1"/>
          <p:nvPr/>
        </p:nvSpPr>
        <p:spPr>
          <a:xfrm>
            <a:off x="369575" y="1174225"/>
            <a:ext cx="8881200" cy="170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</a:rPr>
              <a:t>Deep Learning Book (Goodfellow, Bengio, Courville) — Chapter 1: Introduction</a:t>
            </a:r>
            <a:br>
              <a:rPr b="1" lang="en" sz="1100">
                <a:solidFill>
                  <a:schemeClr val="dk1"/>
                </a:solidFill>
              </a:rPr>
            </a:br>
            <a:r>
              <a:rPr lang="en" sz="1100">
                <a:solidFill>
                  <a:schemeClr val="dk1"/>
                </a:solidFill>
              </a:rPr>
              <a:t> Available free online: Deep Learning Book</a:t>
            </a:r>
            <a:br>
              <a:rPr lang="en" sz="1100">
                <a:solidFill>
                  <a:schemeClr val="dk1"/>
                </a:solidFill>
              </a:rPr>
            </a:br>
            <a:r>
              <a:rPr lang="en" sz="1100">
                <a:solidFill>
                  <a:schemeClr val="dk1"/>
                </a:solidFill>
              </a:rPr>
              <a:t> → Gives a history and motivation for deep learning in a non-technical way.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</a:rPr>
              <a:t>3Blue1Brown Video Series: “</a:t>
            </a:r>
            <a:r>
              <a:rPr b="1" lang="en" sz="1100" u="sng">
                <a:solidFill>
                  <a:schemeClr val="hlink"/>
                </a:solidFill>
                <a:hlinkClick r:id="rId3"/>
              </a:rPr>
              <a:t>But what is a Neural Network?</a:t>
            </a:r>
            <a:r>
              <a:rPr b="1" lang="en" sz="1100">
                <a:solidFill>
                  <a:schemeClr val="dk1"/>
                </a:solidFill>
              </a:rPr>
              <a:t>” (YouTube)</a:t>
            </a:r>
            <a:br>
              <a:rPr b="1" lang="en" sz="1100">
                <a:solidFill>
                  <a:schemeClr val="dk1"/>
                </a:solidFill>
              </a:rPr>
            </a:br>
            <a:r>
              <a:rPr lang="en" sz="1100">
                <a:solidFill>
                  <a:schemeClr val="dk1"/>
                </a:solidFill>
                <a:uFill>
                  <a:noFill/>
                </a:uFill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 </a:t>
            </a:r>
            <a:r>
              <a:rPr lang="en" sz="1100" u="sng">
                <a:solidFill>
                  <a:schemeClr val="hlink"/>
                </a:solidFill>
                <a:hlinkClick r:id="rId5"/>
              </a:rPr>
              <a:t>3Blue1Brown Neural Networks Playlist</a:t>
            </a:r>
            <a:br>
              <a:rPr lang="en" sz="1100" u="sng">
                <a:solidFill>
                  <a:schemeClr val="hlink"/>
                </a:solidFill>
                <a:hlinkClick r:id="rId6"/>
              </a:rPr>
            </a:br>
            <a:r>
              <a:rPr lang="en" sz="1100">
                <a:solidFill>
                  <a:schemeClr val="dk1"/>
                </a:solidFill>
              </a:rPr>
              <a:t> → Visual and intuitive introduction to neural networks as function mappers.</a:t>
            </a:r>
            <a:br>
              <a:rPr lang="en" sz="1100">
                <a:solidFill>
                  <a:schemeClr val="dk1"/>
                </a:solidFill>
              </a:rPr>
            </a:b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idx="4294967295"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Many practical problems can be represented as a Map</a:t>
            </a:r>
            <a:endParaRPr/>
          </a:p>
        </p:txBody>
      </p:sp>
      <p:sp>
        <p:nvSpPr>
          <p:cNvPr id="73" name="Google Shape;73;p16"/>
          <p:cNvSpPr txBox="1"/>
          <p:nvPr/>
        </p:nvSpPr>
        <p:spPr>
          <a:xfrm>
            <a:off x="260550" y="2136075"/>
            <a:ext cx="842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Image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74" name="Google Shape;74;p16"/>
          <p:cNvSpPr txBox="1"/>
          <p:nvPr/>
        </p:nvSpPr>
        <p:spPr>
          <a:xfrm>
            <a:off x="3040200" y="2043675"/>
            <a:ext cx="15318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Segmentation mask</a:t>
            </a:r>
            <a:endParaRPr sz="1500">
              <a:solidFill>
                <a:schemeClr val="dk2"/>
              </a:solidFill>
            </a:endParaRPr>
          </a:p>
        </p:txBody>
      </p:sp>
      <p:sp>
        <p:nvSpPr>
          <p:cNvPr id="75" name="Google Shape;75;p16"/>
          <p:cNvSpPr/>
          <p:nvPr/>
        </p:nvSpPr>
        <p:spPr>
          <a:xfrm>
            <a:off x="1389300" y="1983825"/>
            <a:ext cx="1314300" cy="7662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Image Segmentation</a:t>
            </a:r>
            <a:endParaRPr sz="1300"/>
          </a:p>
        </p:txBody>
      </p:sp>
      <p:cxnSp>
        <p:nvCxnSpPr>
          <p:cNvPr id="76" name="Google Shape;76;p16"/>
          <p:cNvCxnSpPr>
            <a:stCxn id="75" idx="3"/>
            <a:endCxn id="74" idx="1"/>
          </p:cNvCxnSpPr>
          <p:nvPr/>
        </p:nvCxnSpPr>
        <p:spPr>
          <a:xfrm>
            <a:off x="2703600" y="2366925"/>
            <a:ext cx="3366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77" name="Google Shape;77;p16"/>
          <p:cNvCxnSpPr>
            <a:stCxn id="73" idx="3"/>
            <a:endCxn id="75" idx="1"/>
          </p:cNvCxnSpPr>
          <p:nvPr/>
        </p:nvCxnSpPr>
        <p:spPr>
          <a:xfrm>
            <a:off x="1102650" y="2366925"/>
            <a:ext cx="2868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78" name="Google Shape;78;p16"/>
          <p:cNvSpPr/>
          <p:nvPr/>
        </p:nvSpPr>
        <p:spPr>
          <a:xfrm>
            <a:off x="1424100" y="3096600"/>
            <a:ext cx="1277400" cy="6978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Sentiment Analysis</a:t>
            </a:r>
            <a:endParaRPr sz="1300"/>
          </a:p>
        </p:txBody>
      </p:sp>
      <p:sp>
        <p:nvSpPr>
          <p:cNvPr id="79" name="Google Shape;79;p16"/>
          <p:cNvSpPr txBox="1"/>
          <p:nvPr/>
        </p:nvSpPr>
        <p:spPr>
          <a:xfrm>
            <a:off x="362850" y="3214650"/>
            <a:ext cx="670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Text</a:t>
            </a:r>
            <a:endParaRPr sz="1800">
              <a:solidFill>
                <a:schemeClr val="dk2"/>
              </a:solidFill>
            </a:endParaRPr>
          </a:p>
        </p:txBody>
      </p:sp>
      <p:cxnSp>
        <p:nvCxnSpPr>
          <p:cNvPr id="80" name="Google Shape;80;p16"/>
          <p:cNvCxnSpPr>
            <a:stCxn id="79" idx="3"/>
            <a:endCxn id="78" idx="1"/>
          </p:cNvCxnSpPr>
          <p:nvPr/>
        </p:nvCxnSpPr>
        <p:spPr>
          <a:xfrm>
            <a:off x="1033050" y="3445500"/>
            <a:ext cx="3912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81" name="Google Shape;81;p16"/>
          <p:cNvCxnSpPr>
            <a:stCxn id="78" idx="3"/>
          </p:cNvCxnSpPr>
          <p:nvPr/>
        </p:nvCxnSpPr>
        <p:spPr>
          <a:xfrm>
            <a:off x="2701500" y="3445500"/>
            <a:ext cx="497400" cy="9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82" name="Google Shape;82;p16"/>
          <p:cNvSpPr txBox="1"/>
          <p:nvPr/>
        </p:nvSpPr>
        <p:spPr>
          <a:xfrm>
            <a:off x="3092548" y="3137125"/>
            <a:ext cx="15795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Sentiment probabilities</a:t>
            </a:r>
            <a:endParaRPr sz="1500">
              <a:solidFill>
                <a:schemeClr val="dk2"/>
              </a:solidFill>
            </a:endParaRPr>
          </a:p>
        </p:txBody>
      </p:sp>
      <p:sp>
        <p:nvSpPr>
          <p:cNvPr id="83" name="Google Shape;83;p16"/>
          <p:cNvSpPr/>
          <p:nvPr/>
        </p:nvSpPr>
        <p:spPr>
          <a:xfrm>
            <a:off x="1449300" y="4195275"/>
            <a:ext cx="1277400" cy="6978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Transcription</a:t>
            </a:r>
            <a:endParaRPr sz="1300"/>
          </a:p>
        </p:txBody>
      </p:sp>
      <p:sp>
        <p:nvSpPr>
          <p:cNvPr id="84" name="Google Shape;84;p16"/>
          <p:cNvSpPr txBox="1"/>
          <p:nvPr/>
        </p:nvSpPr>
        <p:spPr>
          <a:xfrm>
            <a:off x="311700" y="4205625"/>
            <a:ext cx="10614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2"/>
                </a:solidFill>
              </a:rPr>
              <a:t>Speech Sample</a:t>
            </a:r>
            <a:endParaRPr sz="1600">
              <a:solidFill>
                <a:schemeClr val="dk2"/>
              </a:solidFill>
            </a:endParaRPr>
          </a:p>
        </p:txBody>
      </p:sp>
      <p:cxnSp>
        <p:nvCxnSpPr>
          <p:cNvPr id="85" name="Google Shape;85;p16"/>
          <p:cNvCxnSpPr/>
          <p:nvPr/>
        </p:nvCxnSpPr>
        <p:spPr>
          <a:xfrm flipH="1" rot="10800000">
            <a:off x="1188900" y="4541775"/>
            <a:ext cx="234300" cy="4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86" name="Google Shape;86;p16"/>
          <p:cNvSpPr txBox="1"/>
          <p:nvPr/>
        </p:nvSpPr>
        <p:spPr>
          <a:xfrm>
            <a:off x="3243600" y="4218525"/>
            <a:ext cx="12774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Transcribed Text</a:t>
            </a:r>
            <a:endParaRPr sz="1500">
              <a:solidFill>
                <a:schemeClr val="dk2"/>
              </a:solidFill>
            </a:endParaRPr>
          </a:p>
        </p:txBody>
      </p:sp>
      <p:pic>
        <p:nvPicPr>
          <p:cNvPr id="87" name="Google Shape;87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43275" y="1427013"/>
            <a:ext cx="4204301" cy="228947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88" name="Google Shape;88;p16"/>
          <p:cNvCxnSpPr>
            <a:stCxn id="83" idx="3"/>
          </p:cNvCxnSpPr>
          <p:nvPr/>
        </p:nvCxnSpPr>
        <p:spPr>
          <a:xfrm flipH="1" rot="10800000">
            <a:off x="2726700" y="4539375"/>
            <a:ext cx="448500" cy="4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89" name="Google Shape;89;p16"/>
          <p:cNvSpPr txBox="1"/>
          <p:nvPr/>
        </p:nvSpPr>
        <p:spPr>
          <a:xfrm>
            <a:off x="65475" y="1299850"/>
            <a:ext cx="1037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Context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90" name="Google Shape;90;p16"/>
          <p:cNvSpPr txBox="1"/>
          <p:nvPr/>
        </p:nvSpPr>
        <p:spPr>
          <a:xfrm>
            <a:off x="3040200" y="1322950"/>
            <a:ext cx="15318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Next word</a:t>
            </a:r>
            <a:endParaRPr sz="1500">
              <a:solidFill>
                <a:schemeClr val="dk2"/>
              </a:solidFill>
            </a:endParaRPr>
          </a:p>
        </p:txBody>
      </p:sp>
      <p:sp>
        <p:nvSpPr>
          <p:cNvPr id="91" name="Google Shape;91;p16"/>
          <p:cNvSpPr/>
          <p:nvPr/>
        </p:nvSpPr>
        <p:spPr>
          <a:xfrm>
            <a:off x="1414388" y="1272550"/>
            <a:ext cx="1314300" cy="5163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LLM</a:t>
            </a:r>
            <a:endParaRPr sz="1300"/>
          </a:p>
        </p:txBody>
      </p:sp>
      <p:cxnSp>
        <p:nvCxnSpPr>
          <p:cNvPr id="92" name="Google Shape;92;p16"/>
          <p:cNvCxnSpPr>
            <a:stCxn id="91" idx="3"/>
            <a:endCxn id="90" idx="1"/>
          </p:cNvCxnSpPr>
          <p:nvPr/>
        </p:nvCxnSpPr>
        <p:spPr>
          <a:xfrm>
            <a:off x="2728688" y="1530700"/>
            <a:ext cx="3114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93" name="Google Shape;93;p16"/>
          <p:cNvCxnSpPr>
            <a:stCxn id="89" idx="3"/>
            <a:endCxn id="91" idx="1"/>
          </p:cNvCxnSpPr>
          <p:nvPr/>
        </p:nvCxnSpPr>
        <p:spPr>
          <a:xfrm>
            <a:off x="1102875" y="1530700"/>
            <a:ext cx="3114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7"/>
          <p:cNvSpPr txBox="1"/>
          <p:nvPr>
            <p:ph idx="4294967295" type="title"/>
          </p:nvPr>
        </p:nvSpPr>
        <p:spPr>
          <a:xfrm>
            <a:off x="338975" y="2158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Maps are Functions in Math speak</a:t>
            </a:r>
            <a:endParaRPr/>
          </a:p>
        </p:txBody>
      </p:sp>
      <p:sp>
        <p:nvSpPr>
          <p:cNvPr id="99" name="Google Shape;99;p17"/>
          <p:cNvSpPr txBox="1"/>
          <p:nvPr/>
        </p:nvSpPr>
        <p:spPr>
          <a:xfrm>
            <a:off x="411975" y="856475"/>
            <a:ext cx="52938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2"/>
                </a:solidFill>
              </a:rPr>
              <a:t>In math, functions map a point in Rn to Rm.  </a:t>
            </a:r>
            <a:endParaRPr sz="1600">
              <a:solidFill>
                <a:schemeClr val="dk2"/>
              </a:solidFill>
            </a:endParaRPr>
          </a:p>
        </p:txBody>
      </p:sp>
      <p:pic>
        <p:nvPicPr>
          <p:cNvPr descr="{&quot;backgroundColorModified&quot;:false,&quot;font&quot;:{&quot;color&quot;:&quot;#000000&quot;,&quot;size&quot;:16,&quot;family&quot;:&quot;Arial&quot;},&quot;code&quot;:&quot;\\begin{lalign*}\n&amp;{n=1,\\,m=2}\\\\\n&amp;{x\\,\\mapsto\\binom{x}{ax^{2}+bx\\,+c}}\t\n\\end{lalign*}&quot;,&quot;backgroundColor&quot;:&quot;#FFFFFF&quot;,&quot;aid&quot;:null,&quot;type&quot;:&quot;lalign*&quot;,&quot;id&quot;:&quot;3&quot;,&quot;ts&quot;:1754656667072,&quot;cs&quot;:&quot;6MboUofaWrcmyk5p6uZnJA==&quot;,&quot;size&quot;:{&quot;width&quot;:228.4,&quot;height&quot;:90.60000000000002}}" id="100" name="Google Shape;100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5062" y="2388198"/>
            <a:ext cx="2175510" cy="86296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aid&quot;:null,&quot;backgroundColor&quot;:&quot;#FFFFFF&quot;,&quot;type&quot;:&quot;lalign*&quot;,&quot;code&quot;:&quot;\\begin{lalign*}\n&amp;{n=2,\\,m=3}\\\\\n&amp;{\\binom{x}{y}\\mapsto\\begin{pmatrix}\n{x}\\\\\n{y}\\\\\n{\\sin\\left({\\sqrt[]{x^{2\\,}+y^{2}}}\\right)}\\\\\n\\end{pmatrix}}\\\\\n&amp;{}\t\n\\end{lalign*}&quot;,&quot;font&quot;:{&quot;family&quot;:&quot;Arial&quot;,&quot;color&quot;:&quot;#000000&quot;,&quot;size&quot;:12},&quot;id&quot;:&quot;4&quot;,&quot;backgroundColorModified&quot;:false,&quot;ts&quot;:1753444411246,&quot;cs&quot;:&quot;2NBBcwPKxNOI2pQ1YQ4cAA==&quot;,&quot;size&quot;:{&quot;width&quot;:224.80000000000004,&quot;height&quot;:109.20000000000003}}" id="101" name="Google Shape;101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9789" y="3774004"/>
            <a:ext cx="2141220" cy="104013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466400" y="2471475"/>
            <a:ext cx="2677599" cy="2633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143579" y="2133242"/>
            <a:ext cx="2999801" cy="1801250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7"/>
          <p:cNvSpPr txBox="1"/>
          <p:nvPr/>
        </p:nvSpPr>
        <p:spPr>
          <a:xfrm>
            <a:off x="3894675" y="3934500"/>
            <a:ext cx="2229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2"/>
                </a:solidFill>
              </a:rPr>
              <a:t>Mapping points along a line to a curve</a:t>
            </a:r>
            <a:r>
              <a:rPr lang="en" sz="800">
                <a:solidFill>
                  <a:schemeClr val="dk2"/>
                </a:solidFill>
              </a:rPr>
              <a:t>.  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105" name="Google Shape;105;p17"/>
          <p:cNvSpPr txBox="1"/>
          <p:nvPr/>
        </p:nvSpPr>
        <p:spPr>
          <a:xfrm>
            <a:off x="411975" y="1306775"/>
            <a:ext cx="7515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What is a dimension? Number of things that can vary </a:t>
            </a:r>
            <a:r>
              <a:rPr lang="en" sz="1500">
                <a:solidFill>
                  <a:schemeClr val="dk2"/>
                </a:solidFill>
              </a:rPr>
              <a:t>independently</a:t>
            </a:r>
            <a:r>
              <a:rPr lang="en" sz="1500">
                <a:solidFill>
                  <a:schemeClr val="dk2"/>
                </a:solidFill>
              </a:rPr>
              <a:t>. Points along a line are 1D, on a plane: 2D, in space: 3D..</a:t>
            </a:r>
            <a:r>
              <a:rPr lang="en" sz="1500">
                <a:solidFill>
                  <a:schemeClr val="dk2"/>
                </a:solidFill>
              </a:rPr>
              <a:t> </a:t>
            </a:r>
            <a:endParaRPr sz="15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8"/>
          <p:cNvSpPr txBox="1"/>
          <p:nvPr>
            <p:ph idx="4294967295"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Functions = Maps</a:t>
            </a:r>
            <a:endParaRPr/>
          </a:p>
        </p:txBody>
      </p:sp>
      <p:sp>
        <p:nvSpPr>
          <p:cNvPr id="111" name="Google Shape;111;p18"/>
          <p:cNvSpPr txBox="1"/>
          <p:nvPr/>
        </p:nvSpPr>
        <p:spPr>
          <a:xfrm>
            <a:off x="406300" y="910825"/>
            <a:ext cx="52938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2"/>
                </a:solidFill>
              </a:rPr>
              <a:t>Some other examples..</a:t>
            </a:r>
            <a:endParaRPr sz="1600">
              <a:solidFill>
                <a:schemeClr val="dk2"/>
              </a:solidFill>
            </a:endParaRPr>
          </a:p>
        </p:txBody>
      </p:sp>
      <p:sp>
        <p:nvSpPr>
          <p:cNvPr id="112" name="Google Shape;112;p18"/>
          <p:cNvSpPr txBox="1"/>
          <p:nvPr/>
        </p:nvSpPr>
        <p:spPr>
          <a:xfrm>
            <a:off x="463875" y="1354700"/>
            <a:ext cx="47418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chemeClr val="dk2"/>
                </a:solidFill>
              </a:rPr>
              <a:t>PCA:</a:t>
            </a:r>
            <a:r>
              <a:rPr lang="en" sz="1500">
                <a:solidFill>
                  <a:schemeClr val="dk2"/>
                </a:solidFill>
              </a:rPr>
              <a:t> </a:t>
            </a:r>
            <a:r>
              <a:rPr lang="en" sz="1500">
                <a:solidFill>
                  <a:schemeClr val="dk2"/>
                </a:solidFill>
              </a:rPr>
              <a:t>Dimensionality reduction technique to p</a:t>
            </a:r>
            <a:r>
              <a:rPr lang="en" sz="1500">
                <a:solidFill>
                  <a:schemeClr val="dk2"/>
                </a:solidFill>
              </a:rPr>
              <a:t>reserve variation</a:t>
            </a:r>
            <a:endParaRPr sz="1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chemeClr val="dk2"/>
                </a:solidFill>
              </a:rPr>
              <a:t>t-SNE:</a:t>
            </a:r>
            <a:r>
              <a:rPr lang="en" sz="1500">
                <a:solidFill>
                  <a:schemeClr val="dk2"/>
                </a:solidFill>
              </a:rPr>
              <a:t> Visualization technique to visualize vectors in high-dimensional spaces that preserves structure </a:t>
            </a:r>
            <a:endParaRPr sz="1500">
              <a:solidFill>
                <a:schemeClr val="dk2"/>
              </a:solidFill>
            </a:endParaRPr>
          </a:p>
        </p:txBody>
      </p:sp>
      <p:pic>
        <p:nvPicPr>
          <p:cNvPr id="113" name="Google Shape;113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77940" y="2571750"/>
            <a:ext cx="2522884" cy="2377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61700" y="2641225"/>
            <a:ext cx="2070700" cy="1984975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18"/>
          <p:cNvSpPr txBox="1"/>
          <p:nvPr/>
        </p:nvSpPr>
        <p:spPr>
          <a:xfrm>
            <a:off x="857000" y="4558500"/>
            <a:ext cx="21360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2"/>
                </a:solidFill>
              </a:rPr>
              <a:t>Digit 2 from the MNIST dataset (28, 28, 256)</a:t>
            </a:r>
            <a:endParaRPr sz="1200">
              <a:solidFill>
                <a:schemeClr val="dk2"/>
              </a:solidFill>
            </a:endParaRPr>
          </a:p>
        </p:txBody>
      </p:sp>
      <p:pic>
        <p:nvPicPr>
          <p:cNvPr id="116" name="Google Shape;116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4125" y="2615075"/>
            <a:ext cx="2070700" cy="1984975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18"/>
          <p:cNvSpPr/>
          <p:nvPr/>
        </p:nvSpPr>
        <p:spPr>
          <a:xfrm>
            <a:off x="2710400" y="3511925"/>
            <a:ext cx="847800" cy="2436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aphicFrame>
        <p:nvGraphicFramePr>
          <p:cNvPr id="118" name="Google Shape;118;p18"/>
          <p:cNvGraphicFramePr/>
          <p:nvPr/>
        </p:nvGraphicFramePr>
        <p:xfrm>
          <a:off x="3673375" y="24312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{94D39836-C311-457D-A27E-803C3FBF983F}</a:tableStyleId>
              </a:tblPr>
              <a:tblGrid>
                <a:gridCol w="382850"/>
              </a:tblGrid>
              <a:tr h="3451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>
                    <a:solidFill>
                      <a:schemeClr val="dk1"/>
                    </a:solidFill>
                  </a:tcPr>
                </a:tc>
              </a:tr>
              <a:tr h="3451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  <a:tr h="3451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  <a:tr h="3451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>
                    <a:solidFill>
                      <a:schemeClr val="dk1"/>
                    </a:solidFill>
                  </a:tcPr>
                </a:tc>
              </a:tr>
              <a:tr h="3451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>
                    <a:solidFill>
                      <a:schemeClr val="dk1"/>
                    </a:solidFill>
                  </a:tcPr>
                </a:tc>
              </a:tr>
              <a:tr h="3451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  <a:tr h="3451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119" name="Google Shape;119;p18"/>
          <p:cNvSpPr txBox="1"/>
          <p:nvPr/>
        </p:nvSpPr>
        <p:spPr>
          <a:xfrm>
            <a:off x="2642000" y="2994575"/>
            <a:ext cx="9162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2"/>
                </a:solidFill>
              </a:rPr>
              <a:t>Reshape to 784 * 1</a:t>
            </a:r>
            <a:endParaRPr sz="1000">
              <a:solidFill>
                <a:schemeClr val="dk2"/>
              </a:solidFill>
            </a:endParaRPr>
          </a:p>
        </p:txBody>
      </p:sp>
      <p:sp>
        <p:nvSpPr>
          <p:cNvPr id="120" name="Google Shape;120;p18"/>
          <p:cNvSpPr/>
          <p:nvPr/>
        </p:nvSpPr>
        <p:spPr>
          <a:xfrm>
            <a:off x="4171400" y="3487163"/>
            <a:ext cx="847800" cy="2931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18"/>
          <p:cNvSpPr txBox="1"/>
          <p:nvPr/>
        </p:nvSpPr>
        <p:spPr>
          <a:xfrm>
            <a:off x="7794675" y="4773900"/>
            <a:ext cx="13935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2"/>
                </a:solidFill>
              </a:rPr>
              <a:t>Code: mnist_t-sne.py</a:t>
            </a:r>
            <a:endParaRPr sz="1000">
              <a:solidFill>
                <a:schemeClr val="dk2"/>
              </a:solidFill>
            </a:endParaRPr>
          </a:p>
        </p:txBody>
      </p:sp>
      <p:sp>
        <p:nvSpPr>
          <p:cNvPr id="122" name="Google Shape;122;p18"/>
          <p:cNvSpPr txBox="1"/>
          <p:nvPr/>
        </p:nvSpPr>
        <p:spPr>
          <a:xfrm>
            <a:off x="4289600" y="3171725"/>
            <a:ext cx="91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2"/>
                </a:solidFill>
              </a:rPr>
              <a:t>t-SNE</a:t>
            </a:r>
            <a:endParaRPr sz="1000">
              <a:solidFill>
                <a:schemeClr val="dk2"/>
              </a:solidFill>
            </a:endParaRPr>
          </a:p>
        </p:txBody>
      </p:sp>
      <p:pic>
        <p:nvPicPr>
          <p:cNvPr id="123" name="Google Shape;123;p1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305103" y="0"/>
            <a:ext cx="3838899" cy="25717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9"/>
          <p:cNvSpPr txBox="1"/>
          <p:nvPr>
            <p:ph idx="4294967295"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Functions = Maps</a:t>
            </a:r>
            <a:endParaRPr/>
          </a:p>
        </p:txBody>
      </p:sp>
      <p:sp>
        <p:nvSpPr>
          <p:cNvPr id="129" name="Google Shape;129;p19"/>
          <p:cNvSpPr txBox="1"/>
          <p:nvPr/>
        </p:nvSpPr>
        <p:spPr>
          <a:xfrm>
            <a:off x="406300" y="910825"/>
            <a:ext cx="35232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2"/>
                </a:solidFill>
              </a:rPr>
              <a:t>Case 1: Image Classification</a:t>
            </a:r>
            <a:endParaRPr sz="1600">
              <a:solidFill>
                <a:schemeClr val="dk2"/>
              </a:solidFill>
            </a:endParaRPr>
          </a:p>
        </p:txBody>
      </p:sp>
      <p:sp>
        <p:nvSpPr>
          <p:cNvPr id="130" name="Google Shape;130;p19"/>
          <p:cNvSpPr/>
          <p:nvPr/>
        </p:nvSpPr>
        <p:spPr>
          <a:xfrm>
            <a:off x="3044200" y="2347975"/>
            <a:ext cx="540000" cy="2436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19"/>
          <p:cNvSpPr/>
          <p:nvPr/>
        </p:nvSpPr>
        <p:spPr>
          <a:xfrm>
            <a:off x="3589450" y="2098225"/>
            <a:ext cx="942000" cy="7431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Mapping 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{&quot;backgroundColorModified&quot;:false,&quot;backgroundColor&quot;:&quot;#EEEEEE&quot;,&quot;type&quot;:&quot;$$&quot;,&quot;aid&quot;:null,&quot;font&quot;:{&quot;family&quot;:&quot;Arial&quot;,&quot;color&quot;:&quot;#000000&quot;,&quot;size&quot;:14},&quot;id&quot;:&quot;6&quot;,&quot;code&quot;:&quot;$$f\\left(x\\right)$$&quot;,&quot;ts&quot;:1753545200107,&quot;cs&quot;:&quot;jJGULBu5gxkYTrp8Z4hlLQ==&quot;,&quot;size&quot;:{&quot;width&quot;:42.166666666666664,&quot;height&quot;:22}}" id="132" name="Google Shape;132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97025" y="2519425"/>
            <a:ext cx="401638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id&quot;:&quot;7&quot;,&quot;code&quot;:&quot;\\begin{gather*}\n{x}\\\\\n{\\left(H\\times W\\times255\\times255\\times255\\right)}\t\n\\end{gather*}&quot;,&quot;backgroundColorModified&quot;:false,&quot;backgroundColor&quot;:&quot;#FFFFFF&quot;,&quot;aid&quot;:null,&quot;type&quot;:&quot;gather*&quot;,&quot;font&quot;:{&quot;color&quot;:&quot;#000000&quot;,&quot;size&quot;:9,&quot;family&quot;:&quot;Arial&quot;},&quot;ts&quot;:1753546025214,&quot;cs&quot;:&quot;mUaO3t+1rvKonQ0zYDemSQ==&quot;,&quot;size&quot;:{&quot;width&quot;:171.51433464566932,&quot;height&quot;:28.782175590551144}}" id="133" name="Google Shape;133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09300" y="3452200"/>
            <a:ext cx="1633674" cy="274150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19"/>
          <p:cNvSpPr/>
          <p:nvPr/>
        </p:nvSpPr>
        <p:spPr>
          <a:xfrm>
            <a:off x="4541950" y="2328150"/>
            <a:ext cx="540000" cy="2436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{&quot;id&quot;:&quot;8&quot;,&quot;backgroundColorModified&quot;:false,&quot;font&quot;:{&quot;size&quot;:14,&quot;family&quot;:&quot;Arial&quot;,&quot;color&quot;:&quot;#000000&quot;},&quot;type&quot;:&quot;gather*&quot;,&quot;aid&quot;:null,&quot;code&quot;:&quot;\\begin{gather*}\n{y}\\\\\n{\\left(N\\times1\\right)}\t\n\\end{gather*}&quot;,&quot;backgroundColor&quot;:&quot;#FFFFFF&quot;,&quot;ts&quot;:1753546174724,&quot;cs&quot;:&quot;PQygBq3MkHCbOJMOH8VBnA==&quot;,&quot;size&quot;:{&quot;width&quot;:70.33333333333333,&quot;height&quot;:43.833333333333336}}" id="135" name="Google Shape;135;p1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116175" y="2286705"/>
            <a:ext cx="669925" cy="417513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36" name="Google Shape;136;p19"/>
          <p:cNvGraphicFramePr/>
          <p:nvPr/>
        </p:nvGraphicFramePr>
        <p:xfrm>
          <a:off x="5947413" y="1445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{94D39836-C311-457D-A27E-803C3FBF983F}</a:tableStyleId>
              </a:tblPr>
              <a:tblGrid>
                <a:gridCol w="471800"/>
              </a:tblGrid>
              <a:tr h="3451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0.6</a:t>
                      </a:r>
                      <a:endParaRPr sz="1100"/>
                    </a:p>
                  </a:txBody>
                  <a:tcPr marT="91425" marB="91425" marR="91425" marL="91425">
                    <a:solidFill>
                      <a:schemeClr val="lt1"/>
                    </a:solidFill>
                  </a:tcPr>
                </a:tc>
              </a:tr>
              <a:tr h="3451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0.05</a:t>
                      </a:r>
                      <a:endParaRPr baseline="-25000"/>
                    </a:p>
                  </a:txBody>
                  <a:tcPr marT="91425" marB="91425" marR="91425" marL="91425"/>
                </a:tc>
              </a:tr>
              <a:tr h="3451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0.06</a:t>
                      </a:r>
                      <a:endParaRPr sz="1100"/>
                    </a:p>
                  </a:txBody>
                  <a:tcPr marT="91425" marB="91425" marR="91425" marL="91425"/>
                </a:tc>
              </a:tr>
              <a:tr h="3451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91425" marB="91425" marR="91425" marL="91425">
                    <a:solidFill>
                      <a:schemeClr val="lt1"/>
                    </a:solidFill>
                  </a:tcPr>
                </a:tc>
              </a:tr>
              <a:tr h="3451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91425" marB="91425" marR="91425" marL="91425">
                    <a:solidFill>
                      <a:schemeClr val="lt1"/>
                    </a:solidFill>
                  </a:tcPr>
                </a:tc>
              </a:tr>
              <a:tr h="3451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91425" marB="91425" marR="91425" marL="91425"/>
                </a:tc>
              </a:tr>
              <a:tr h="3451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0.01</a:t>
                      </a:r>
                      <a:endParaRPr sz="1100"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137" name="Google Shape;137;p19"/>
          <p:cNvSpPr txBox="1"/>
          <p:nvPr/>
        </p:nvSpPr>
        <p:spPr>
          <a:xfrm>
            <a:off x="7675400" y="1445788"/>
            <a:ext cx="5400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Cat</a:t>
            </a:r>
            <a:endParaRPr sz="1100"/>
          </a:p>
        </p:txBody>
      </p:sp>
      <p:sp>
        <p:nvSpPr>
          <p:cNvPr id="138" name="Google Shape;138;p19"/>
          <p:cNvSpPr txBox="1"/>
          <p:nvPr/>
        </p:nvSpPr>
        <p:spPr>
          <a:xfrm>
            <a:off x="7675400" y="1796263"/>
            <a:ext cx="5400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Dog</a:t>
            </a:r>
            <a:endParaRPr sz="1100"/>
          </a:p>
        </p:txBody>
      </p:sp>
      <p:sp>
        <p:nvSpPr>
          <p:cNvPr id="139" name="Google Shape;139;p19"/>
          <p:cNvSpPr txBox="1"/>
          <p:nvPr/>
        </p:nvSpPr>
        <p:spPr>
          <a:xfrm>
            <a:off x="7671225" y="3444775"/>
            <a:ext cx="8517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Chicken</a:t>
            </a:r>
            <a:endParaRPr sz="1100"/>
          </a:p>
        </p:txBody>
      </p:sp>
      <p:sp>
        <p:nvSpPr>
          <p:cNvPr id="140" name="Google Shape;140;p19"/>
          <p:cNvSpPr txBox="1"/>
          <p:nvPr/>
        </p:nvSpPr>
        <p:spPr>
          <a:xfrm>
            <a:off x="5626813" y="1082275"/>
            <a:ext cx="11130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2"/>
                </a:solidFill>
              </a:rPr>
              <a:t>Probabilities</a:t>
            </a:r>
            <a:endParaRPr b="1" sz="1100">
              <a:solidFill>
                <a:schemeClr val="dk2"/>
              </a:solidFill>
            </a:endParaRPr>
          </a:p>
        </p:txBody>
      </p:sp>
      <p:sp>
        <p:nvSpPr>
          <p:cNvPr id="141" name="Google Shape;141;p19"/>
          <p:cNvSpPr txBox="1"/>
          <p:nvPr/>
        </p:nvSpPr>
        <p:spPr>
          <a:xfrm>
            <a:off x="7545500" y="1091788"/>
            <a:ext cx="6699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2"/>
                </a:solidFill>
              </a:rPr>
              <a:t>Labels</a:t>
            </a:r>
            <a:endParaRPr b="1" sz="1100">
              <a:solidFill>
                <a:schemeClr val="dk2"/>
              </a:solidFill>
            </a:endParaRPr>
          </a:p>
        </p:txBody>
      </p:sp>
      <p:graphicFrame>
        <p:nvGraphicFramePr>
          <p:cNvPr id="142" name="Google Shape;142;p19"/>
          <p:cNvGraphicFramePr/>
          <p:nvPr/>
        </p:nvGraphicFramePr>
        <p:xfrm>
          <a:off x="7073700" y="144578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{94D39836-C311-457D-A27E-803C3FBF983F}</a:tableStyleId>
              </a:tblPr>
              <a:tblGrid>
                <a:gridCol w="471800"/>
              </a:tblGrid>
              <a:tr h="3451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1</a:t>
                      </a:r>
                      <a:endParaRPr sz="1100"/>
                    </a:p>
                  </a:txBody>
                  <a:tcPr marT="91425" marB="91425" marR="91425" marL="91425">
                    <a:solidFill>
                      <a:schemeClr val="lt1"/>
                    </a:solidFill>
                  </a:tcPr>
                </a:tc>
              </a:tr>
              <a:tr h="3451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</a:t>
                      </a:r>
                      <a:endParaRPr baseline="-25000"/>
                    </a:p>
                  </a:txBody>
                  <a:tcPr marT="91425" marB="91425" marR="91425" marL="91425"/>
                </a:tc>
              </a:tr>
              <a:tr h="3451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</a:t>
                      </a:r>
                      <a:endParaRPr sz="1100"/>
                    </a:p>
                  </a:txBody>
                  <a:tcPr marT="91425" marB="91425" marR="91425" marL="91425"/>
                </a:tc>
              </a:tr>
              <a:tr h="3451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91425" marB="91425" marR="91425" marL="91425">
                    <a:solidFill>
                      <a:schemeClr val="lt1"/>
                    </a:solidFill>
                  </a:tcPr>
                </a:tc>
              </a:tr>
              <a:tr h="3451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91425" marB="91425" marR="91425" marL="91425">
                    <a:solidFill>
                      <a:schemeClr val="lt1"/>
                    </a:solidFill>
                  </a:tcPr>
                </a:tc>
              </a:tr>
              <a:tr h="3451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91425" marB="91425" marR="91425" marL="91425"/>
                </a:tc>
              </a:tr>
              <a:tr h="3451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</a:t>
                      </a:r>
                      <a:endParaRPr sz="1100"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pic>
        <p:nvPicPr>
          <p:cNvPr descr="{&quot;backgroundColorModified&quot;:false,&quot;font&quot;:{&quot;size&quot;:14,&quot;color&quot;:&quot;#000000&quot;,&quot;family&quot;:&quot;Arial&quot;},&quot;type&quot;:&quot;gather*&quot;,&quot;aid&quot;:null,&quot;id&quot;:&quot;8&quot;,&quot;code&quot;:&quot;\\begin{gather*}\n{\\hat{y}}\\\\\n{\\left(N\\times1\\right)}\t\n\\end{gather*}&quot;,&quot;backgroundColor&quot;:&quot;#FFFFFF&quot;,&quot;ts&quot;:1753547459379,&quot;cs&quot;:&quot;AU8XGaNzChp1/QUMWpUJiA==&quot;,&quot;size&quot;:{&quot;width&quot;:70.33333333333333,&quot;height&quot;:49.5}}" id="143" name="Google Shape;143;p1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677221" y="2261017"/>
            <a:ext cx="669925" cy="471488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19"/>
          <p:cNvSpPr/>
          <p:nvPr/>
        </p:nvSpPr>
        <p:spPr>
          <a:xfrm>
            <a:off x="6530275" y="4244200"/>
            <a:ext cx="512700" cy="4311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45" name="Google Shape;145;p19"/>
          <p:cNvCxnSpPr>
            <a:endCxn id="144" idx="1"/>
          </p:cNvCxnSpPr>
          <p:nvPr/>
        </p:nvCxnSpPr>
        <p:spPr>
          <a:xfrm flipH="1" rot="-5400000">
            <a:off x="6084625" y="4014100"/>
            <a:ext cx="551100" cy="340200"/>
          </a:xfrm>
          <a:prstGeom prst="bentConnector2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stealth"/>
          </a:ln>
        </p:spPr>
      </p:cxnSp>
      <p:cxnSp>
        <p:nvCxnSpPr>
          <p:cNvPr id="146" name="Google Shape;146;p19"/>
          <p:cNvCxnSpPr>
            <a:endCxn id="144" idx="3"/>
          </p:cNvCxnSpPr>
          <p:nvPr/>
        </p:nvCxnSpPr>
        <p:spPr>
          <a:xfrm rot="5400000">
            <a:off x="6908575" y="4048150"/>
            <a:ext cx="546000" cy="277200"/>
          </a:xfrm>
          <a:prstGeom prst="bentConnector2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stealth"/>
          </a:ln>
        </p:spPr>
      </p:cxnSp>
      <p:pic>
        <p:nvPicPr>
          <p:cNvPr descr="{&quot;code&quot;:&quot;\\begin{gather*}\n{d\\left(y,\\,\\hat{y}\\right)}\t\n\\end{gather*}&quot;,&quot;type&quot;:&quot;gather*&quot;,&quot;backgroundColor&quot;:&quot;#FFFFFF&quot;,&quot;aid&quot;:null,&quot;backgroundColorModified&quot;:false,&quot;font&quot;:{&quot;family&quot;:&quot;Arial&quot;,&quot;color&quot;:&quot;#000000&quot;,&quot;size&quot;:14},&quot;id&quot;:&quot;8&quot;,&quot;ts&quot;:1753547682247,&quot;cs&quot;:&quot;sghYg4y4tSTsYT67uuCYxA==&quot;,&quot;size&quot;:{&quot;width&quot;:65.99999999999993,&quot;height&quot;:26.333333333333332}}" id="147" name="Google Shape;147;p19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484871" y="4802089"/>
            <a:ext cx="628650" cy="2508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backgroundColor&quot;:&quot;#FFFFFF&quot;,&quot;id&quot;:&quot;9&quot;,&quot;code&quot;:&quot;$$\\text{Find}\\;f\\;\\text{that}\\;\\text{minimizes}\\;d\\left(y,\\,\\hat{y}\\right)$$&quot;,&quot;font&quot;:{&quot;size&quot;:16,&quot;color&quot;:&quot;#595959&quot;,&quot;family&quot;:&quot;Arial&quot;},&quot;backgroundColorModified&quot;:false,&quot;aid&quot;:null,&quot;type&quot;:&quot;$$&quot;,&quot;ts&quot;:1753547823355,&quot;cs&quot;:&quot;19gDSQkg1/CAt5Z9ezgXEA==&quot;,&quot;size&quot;:{&quot;width&quot;:322.75,&quot;height&quot;:30}}" id="148" name="Google Shape;148;p19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505300" y="4389550"/>
            <a:ext cx="3074194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19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772425" y="1496238"/>
            <a:ext cx="1907425" cy="1907425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19"/>
          <p:cNvSpPr txBox="1"/>
          <p:nvPr/>
        </p:nvSpPr>
        <p:spPr>
          <a:xfrm>
            <a:off x="4821600" y="3006625"/>
            <a:ext cx="9645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2"/>
                </a:solidFill>
              </a:rPr>
              <a:t>Number of classes</a:t>
            </a:r>
            <a:endParaRPr sz="1000">
              <a:solidFill>
                <a:schemeClr val="dk2"/>
              </a:solidFill>
            </a:endParaRPr>
          </a:p>
        </p:txBody>
      </p:sp>
      <p:cxnSp>
        <p:nvCxnSpPr>
          <p:cNvPr id="151" name="Google Shape;151;p19"/>
          <p:cNvCxnSpPr>
            <a:stCxn id="150" idx="0"/>
          </p:cNvCxnSpPr>
          <p:nvPr/>
        </p:nvCxnSpPr>
        <p:spPr>
          <a:xfrm rot="10800000">
            <a:off x="5298150" y="2718925"/>
            <a:ext cx="5700" cy="287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0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Functions = Maps</a:t>
            </a:r>
            <a:endParaRPr/>
          </a:p>
        </p:txBody>
      </p:sp>
      <p:sp>
        <p:nvSpPr>
          <p:cNvPr id="157" name="Google Shape;157;p20"/>
          <p:cNvSpPr txBox="1"/>
          <p:nvPr/>
        </p:nvSpPr>
        <p:spPr>
          <a:xfrm>
            <a:off x="373825" y="706750"/>
            <a:ext cx="35232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2"/>
                </a:solidFill>
              </a:rPr>
              <a:t>Case 2: Face Recognition</a:t>
            </a:r>
            <a:endParaRPr sz="1600">
              <a:solidFill>
                <a:schemeClr val="dk2"/>
              </a:solidFill>
            </a:endParaRPr>
          </a:p>
        </p:txBody>
      </p:sp>
      <p:sp>
        <p:nvSpPr>
          <p:cNvPr id="158" name="Google Shape;158;p20"/>
          <p:cNvSpPr/>
          <p:nvPr/>
        </p:nvSpPr>
        <p:spPr>
          <a:xfrm>
            <a:off x="2542950" y="2762750"/>
            <a:ext cx="942000" cy="5727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Mapping 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{&quot;backgroundColor&quot;:&quot;#FFFFFF&quot;,&quot;code&quot;:&quot;\\begin{lalign*}\n&amp;{\\text{Find}\\;f\\;\\text{that}\\;\\text{minimizes}\\;}\\\\\n&amp;{\\left(1-Y\\right)\\left(\\left\\|y_{i}-y_{j}\\right\\|\\right)+Y\\left(\\max\\left(0,\\,m-\\left\\|y_{i}-y_{j}\\right\\|\\right)\\right)}\t\n\\end{lalign*}&quot;,&quot;font&quot;:{&quot;size&quot;:16,&quot;family&quot;:&quot;Arial&quot;,&quot;color&quot;:&quot;#595959&quot;},&quot;type&quot;:&quot;lalign*&quot;,&quot;aid&quot;:null,&quot;id&quot;:&quot;9&quot;,&quot;backgroundColorModified&quot;:false,&quot;ts&quot;:1754742693234,&quot;cs&quot;:&quot;XT3YqT/OWhCm8C31h5ILCw==&quot;,&quot;size&quot;:{&quot;width&quot;:527.5,&quot;height&quot;:58}}" id="159" name="Google Shape;159;p20"/>
          <p:cNvPicPr preferRelativeResize="0"/>
          <p:nvPr/>
        </p:nvPicPr>
        <p:blipFill rotWithShape="1">
          <a:blip r:embed="rId3">
            <a:alphaModFix/>
          </a:blip>
          <a:srcRect b="-672720" l="-2920" r="2919" t="672720"/>
          <a:stretch/>
        </p:blipFill>
        <p:spPr>
          <a:xfrm>
            <a:off x="4425401" y="4650750"/>
            <a:ext cx="5024438" cy="552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21000" y="1179013"/>
            <a:ext cx="606300" cy="1818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1" name="Google Shape;161;p2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020988" y="3099525"/>
            <a:ext cx="669925" cy="2009775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20"/>
          <p:cNvSpPr/>
          <p:nvPr/>
        </p:nvSpPr>
        <p:spPr>
          <a:xfrm>
            <a:off x="782650" y="1179025"/>
            <a:ext cx="1032900" cy="1818900"/>
          </a:xfrm>
          <a:prstGeom prst="bracePair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20"/>
          <p:cNvSpPr/>
          <p:nvPr/>
        </p:nvSpPr>
        <p:spPr>
          <a:xfrm>
            <a:off x="814463" y="3194950"/>
            <a:ext cx="1083000" cy="1818900"/>
          </a:xfrm>
          <a:prstGeom prst="bracePair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20"/>
          <p:cNvSpPr txBox="1"/>
          <p:nvPr/>
        </p:nvSpPr>
        <p:spPr>
          <a:xfrm>
            <a:off x="2872200" y="4450800"/>
            <a:ext cx="21507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When yi and yj belong to the same subject, we want to drive them as close as possible </a:t>
            </a:r>
            <a:endParaRPr sz="1100"/>
          </a:p>
        </p:txBody>
      </p:sp>
      <p:sp>
        <p:nvSpPr>
          <p:cNvPr id="165" name="Google Shape;165;p20"/>
          <p:cNvSpPr txBox="1"/>
          <p:nvPr/>
        </p:nvSpPr>
        <p:spPr>
          <a:xfrm>
            <a:off x="46475" y="3927388"/>
            <a:ext cx="8517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Subject 2</a:t>
            </a:r>
            <a:endParaRPr sz="1100"/>
          </a:p>
        </p:txBody>
      </p:sp>
      <p:cxnSp>
        <p:nvCxnSpPr>
          <p:cNvPr id="166" name="Google Shape;166;p20"/>
          <p:cNvCxnSpPr>
            <a:stCxn id="162" idx="3"/>
            <a:endCxn id="158" idx="1"/>
          </p:cNvCxnSpPr>
          <p:nvPr/>
        </p:nvCxnSpPr>
        <p:spPr>
          <a:xfrm>
            <a:off x="1815550" y="2088475"/>
            <a:ext cx="727500" cy="960600"/>
          </a:xfrm>
          <a:prstGeom prst="bentConnector3">
            <a:avLst>
              <a:gd fmla="val 49993" name="adj1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67" name="Google Shape;167;p20"/>
          <p:cNvCxnSpPr>
            <a:stCxn id="163" idx="3"/>
            <a:endCxn id="158" idx="1"/>
          </p:cNvCxnSpPr>
          <p:nvPr/>
        </p:nvCxnSpPr>
        <p:spPr>
          <a:xfrm flipH="1" rot="10800000">
            <a:off x="1897463" y="3049000"/>
            <a:ext cx="645600" cy="1055400"/>
          </a:xfrm>
          <a:prstGeom prst="bentConnector3">
            <a:avLst>
              <a:gd fmla="val 42443" name="adj1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68" name="Google Shape;168;p20"/>
          <p:cNvCxnSpPr>
            <a:stCxn id="158" idx="3"/>
            <a:endCxn id="169" idx="1"/>
          </p:cNvCxnSpPr>
          <p:nvPr/>
        </p:nvCxnSpPr>
        <p:spPr>
          <a:xfrm flipH="1" rot="10800000">
            <a:off x="3484950" y="2406500"/>
            <a:ext cx="925200" cy="642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70" name="Google Shape;170;p20"/>
          <p:cNvCxnSpPr>
            <a:stCxn id="158" idx="3"/>
            <a:endCxn id="171" idx="1"/>
          </p:cNvCxnSpPr>
          <p:nvPr/>
        </p:nvCxnSpPr>
        <p:spPr>
          <a:xfrm>
            <a:off x="3484950" y="3049100"/>
            <a:ext cx="925200" cy="6363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descr="{&quot;aid&quot;:null,&quot;font&quot;:{&quot;size&quot;:14,&quot;family&quot;:&quot;Arial&quot;,&quot;color&quot;:&quot;#000000&quot;},&quot;type&quot;:&quot;$$&quot;,&quot;code&quot;:&quot;$$f\\left(x_{i},x_{j}\\right)$$&quot;,&quot;backgroundColor&quot;:&quot;#FFFFFF&quot;,&quot;backgroundColorModified&quot;:false,&quot;id&quot;:&quot;20&quot;,&quot;ts&quot;:1754743004209,&quot;cs&quot;:&quot;slclo+zm4s7jFxKrBAXJcQ==&quot;,&quot;size&quot;:{&quot;width&quot;:79.66666666666663,&quot;height&quot;:23}}" id="172" name="Google Shape;172;p2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651090" y="3399500"/>
            <a:ext cx="75882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font&quot;:{&quot;color&quot;:&quot;#000000&quot;,&quot;size&quot;:10,&quot;family&quot;:&quot;Arial&quot;},&quot;type&quot;:&quot;lalign*&quot;,&quot;backgroundColorModified&quot;:false,&quot;backgroundColor&quot;:&quot;#FFFFFF&quot;,&quot;aid&quot;:null,&quot;code&quot;:&quot;\\begin{lalign*}\n&amp;{Y=1\\,\\text{if}\\;x_{1}\\;\\text{and}\\;x_{2}\\;\\text{belong}\\;\\text{to}\\;\\text{different}\\;\\text{subjects}}\\\\\n&amp;{Y=0\\,\\text{if}\\;x_{1}\\;\\text{and}\\;x_{2}\\;\\text{belong}\\;\\text{to}\\;\\text{the}\\;\\text{same}\\;\\text{subject}}\t\n\\end{lalign*}&quot;,&quot;id&quot;:&quot;21&quot;,&quot;ts&quot;:1754742416815,&quot;cs&quot;:&quot;umNMY3LFc8uK5CBWCAyyWg==&quot;,&quot;size&quot;:{&quot;width&quot;:308.75,&quot;height&quot;:34.75}}" id="173" name="Google Shape;173;p2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124501" y="2458800"/>
            <a:ext cx="3466450" cy="3901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font&quot;:{&quot;color&quot;:&quot;#000000&quot;,&quot;family&quot;:&quot;Arial&quot;,&quot;size&quot;:14},&quot;backgroundColor&quot;:&quot;#FFFFFF&quot;,&quot;code&quot;:&quot;$$\\text{Minimize}\\;\\text{(1-Y)(}\\left\\|y_{i}-y_{j}\\right\\|\\text{)+Y(}\\max\\left(0,m-\\left\\|y_{i}-y_{j}\\right\\|\\right)\\text{)}$$&quot;,&quot;id&quot;:&quot;22&quot;,&quot;type&quot;:&quot;$$&quot;,&quot;aid&quot;:null,&quot;backgroundColorModified&quot;:false,&quot;ts&quot;:1754743041249,&quot;cs&quot;:&quot;1vmOgPwZPRDeXicIzwNwqg==&quot;,&quot;size&quot;:{&quot;width&quot;:523.542289238845,&quot;height&quot;:22.999996325459296}}" id="174" name="Google Shape;174;p20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2322212" y="4175803"/>
            <a:ext cx="498674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backgroundColorModified&quot;:false,&quot;backgroundColor&quot;:&quot;#FFFFFF&quot;,&quot;type&quot;:&quot;$$&quot;,&quot;code&quot;:&quot;$$y_{i}$$&quot;,&quot;id&quot;:&quot;23&quot;,&quot;aid&quot;:null,&quot;font&quot;:{&quot;size&quot;:15.5,&quot;family&quot;:&quot;Arial&quot;,&quot;color&quot;:&quot;#000000&quot;},&quot;ts&quot;:1754743056715,&quot;cs&quot;:&quot;JrSTW1dLmq13hDFPV05W4w==&quot;,&quot;size&quot;:{&quot;width&quot;:17.749778740157513,&quot;height&quot;:15.999990551181112}}" id="175" name="Google Shape;175;p20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4455379" y="2340750"/>
            <a:ext cx="169067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type&quot;:&quot;$$&quot;,&quot;aid&quot;:null,&quot;font&quot;:{&quot;family&quot;:&quot;Arial&quot;,&quot;color&quot;:&quot;#000000&quot;,&quot;size&quot;:15.5},&quot;id&quot;:&quot;23&quot;,&quot;backgroundColor&quot;:&quot;#FFFFFF&quot;,&quot;backgroundColorModified&quot;:false,&quot;code&quot;:&quot;$$y_{j}$$&quot;,&quot;ts&quot;:1754742979657,&quot;cs&quot;:&quot;IGyC3Yj5DSbabu2Tj+1Bkw==&quot;,&quot;size&quot;:{&quot;width&quot;:19.166666666666668,&quot;height&quot;:18}}" id="176" name="Google Shape;176;p20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4438511" y="3609050"/>
            <a:ext cx="182563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type&quot;:&quot;$$&quot;,&quot;font&quot;:{&quot;size&quot;:15.5,&quot;color&quot;:&quot;#000000&quot;,&quot;family&quot;:&quot;Arial&quot;},&quot;backgroundColor&quot;:&quot;#FFFFFF&quot;,&quot;id&quot;:&quot;23&quot;,&quot;aid&quot;:null,&quot;code&quot;:&quot;$$x_{i}$$&quot;,&quot;backgroundColorModified&quot;:false,&quot;ts&quot;:1754743073441,&quot;cs&quot;:&quot;B24s0bWkJUyXyq+bqSJb4Q==&quot;,&quot;size&quot;:{&quot;width&quot;:19.166666666666668,&quot;height&quot;:14.666666666666666}}" id="177" name="Google Shape;177;p20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2256754" y="2388189"/>
            <a:ext cx="182563" cy="139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id&quot;:&quot;23&quot;,&quot;backgroundColor&quot;:&quot;#FFFFFF&quot;,&quot;backgroundColorModified&quot;:false,&quot;code&quot;:&quot;$$x_{j}$$&quot;,&quot;aid&quot;:null,&quot;type&quot;:&quot;$$&quot;,&quot;font&quot;:{&quot;color&quot;:&quot;#000000&quot;,&quot;size&quot;:15.5,&quot;family&quot;:&quot;Arial&quot;},&quot;ts&quot;:1754743094808,&quot;cs&quot;:&quot;BVAayrHKjTcPbz9m+Uylbw==&quot;,&quot;size&quot;:{&quot;width&quot;:20.833333333333332,&quot;height&quot;:18}}" id="178" name="Google Shape;178;p20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2239916" y="3478864"/>
            <a:ext cx="198438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20"/>
          <p:cNvSpPr txBox="1"/>
          <p:nvPr/>
        </p:nvSpPr>
        <p:spPr>
          <a:xfrm>
            <a:off x="152400" y="2063863"/>
            <a:ext cx="8517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Subject 1</a:t>
            </a:r>
            <a:endParaRPr sz="1100"/>
          </a:p>
        </p:txBody>
      </p:sp>
      <p:sp>
        <p:nvSpPr>
          <p:cNvPr id="180" name="Google Shape;180;p20"/>
          <p:cNvSpPr txBox="1"/>
          <p:nvPr/>
        </p:nvSpPr>
        <p:spPr>
          <a:xfrm>
            <a:off x="5220500" y="4450800"/>
            <a:ext cx="39234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When yi and yj belong to </a:t>
            </a:r>
            <a:r>
              <a:rPr lang="en" sz="1100"/>
              <a:t>different</a:t>
            </a:r>
            <a:r>
              <a:rPr lang="en" sz="1100"/>
              <a:t> subjects, we want to drive them as far as the margin </a:t>
            </a:r>
            <a:r>
              <a:rPr i="1" lang="en" sz="1100"/>
              <a:t>m, </a:t>
            </a:r>
            <a:r>
              <a:rPr lang="en" sz="1100"/>
              <a:t>but no farther.. To keep the task simple. </a:t>
            </a:r>
            <a:r>
              <a:rPr i="1" lang="en" sz="1100"/>
              <a:t>m</a:t>
            </a:r>
            <a:r>
              <a:rPr lang="en" sz="1100"/>
              <a:t> can then be used as the decision threshold</a:t>
            </a:r>
            <a:r>
              <a:rPr lang="en" sz="1100"/>
              <a:t> </a:t>
            </a:r>
            <a:endParaRPr sz="11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1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Feature Extraction</a:t>
            </a:r>
            <a:endParaRPr/>
          </a:p>
        </p:txBody>
      </p:sp>
      <p:sp>
        <p:nvSpPr>
          <p:cNvPr id="186" name="Google Shape;186;p21"/>
          <p:cNvSpPr txBox="1"/>
          <p:nvPr/>
        </p:nvSpPr>
        <p:spPr>
          <a:xfrm>
            <a:off x="464800" y="4494100"/>
            <a:ext cx="35232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2"/>
                </a:solidFill>
              </a:rPr>
              <a:t>Audio Transcription</a:t>
            </a:r>
            <a:endParaRPr sz="1600">
              <a:solidFill>
                <a:schemeClr val="dk2"/>
              </a:solidFill>
            </a:endParaRPr>
          </a:p>
        </p:txBody>
      </p:sp>
      <p:pic>
        <p:nvPicPr>
          <p:cNvPr id="187" name="Google Shape;187;p21"/>
          <p:cNvPicPr preferRelativeResize="0"/>
          <p:nvPr/>
        </p:nvPicPr>
        <p:blipFill rotWithShape="1">
          <a:blip r:embed="rId3">
            <a:alphaModFix/>
          </a:blip>
          <a:srcRect b="24748" l="0" r="0" t="16993"/>
          <a:stretch/>
        </p:blipFill>
        <p:spPr>
          <a:xfrm>
            <a:off x="464800" y="2739613"/>
            <a:ext cx="4726476" cy="1835799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21"/>
          <p:cNvSpPr txBox="1"/>
          <p:nvPr/>
        </p:nvSpPr>
        <p:spPr>
          <a:xfrm>
            <a:off x="377375" y="862775"/>
            <a:ext cx="7925100" cy="19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2"/>
                </a:solidFill>
              </a:rPr>
              <a:t>Before raw input is fed into a mapper, it must be transformed into a </a:t>
            </a:r>
            <a:r>
              <a:rPr i="1" lang="en" sz="1600">
                <a:solidFill>
                  <a:schemeClr val="dk2"/>
                </a:solidFill>
              </a:rPr>
              <a:t>representation </a:t>
            </a:r>
            <a:r>
              <a:rPr lang="en" sz="1600">
                <a:solidFill>
                  <a:schemeClr val="dk2"/>
                </a:solidFill>
              </a:rPr>
              <a:t>that is often more compact and captures essential information from the raw input, but is generally not </a:t>
            </a:r>
            <a:r>
              <a:rPr i="1" lang="en" sz="1600">
                <a:solidFill>
                  <a:schemeClr val="dk2"/>
                </a:solidFill>
              </a:rPr>
              <a:t>invertible</a:t>
            </a:r>
            <a:r>
              <a:rPr lang="en" sz="1600">
                <a:solidFill>
                  <a:schemeClr val="dk2"/>
                </a:solidFill>
              </a:rPr>
              <a:t>. These representations are sometimes called </a:t>
            </a:r>
            <a:r>
              <a:rPr i="1" lang="en" sz="1600">
                <a:solidFill>
                  <a:schemeClr val="dk2"/>
                </a:solidFill>
              </a:rPr>
              <a:t>features. </a:t>
            </a:r>
            <a:r>
              <a:rPr lang="en" sz="1600">
                <a:solidFill>
                  <a:schemeClr val="dk2"/>
                </a:solidFill>
              </a:rPr>
              <a:t>They can </a:t>
            </a:r>
            <a:r>
              <a:rPr lang="en" sz="1600">
                <a:solidFill>
                  <a:schemeClr val="dk2"/>
                </a:solidFill>
              </a:rPr>
              <a:t>themselves be learnt.</a:t>
            </a:r>
            <a:endParaRPr sz="16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2"/>
                </a:solidFill>
              </a:rPr>
              <a:t>Examples: Fourier/wavelet transform in speech, embeddings in text, mean/variance/max/min in numerical data</a:t>
            </a:r>
            <a:endParaRPr sz="16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22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 we have an optimization problem!</a:t>
            </a:r>
            <a:endParaRPr/>
          </a:p>
        </p:txBody>
      </p:sp>
      <p:pic>
        <p:nvPicPr>
          <p:cNvPr descr="{&quot;backgroundColorModified&quot;:false,&quot;id&quot;:&quot;9&quot;,&quot;backgroundColor&quot;:&quot;#FFFFFF&quot;,&quot;aid&quot;:null,&quot;font&quot;:{&quot;family&quot;:&quot;Arial&quot;,&quot;size&quot;:16,&quot;color&quot;:&quot;#595959&quot;},&quot;type&quot;:&quot;lalign*&quot;,&quot;code&quot;:&quot;\\begin{lalign*}\n&amp;{\\text{If}\\;y=f\\left(x\\right),\\;}\\\\\n&amp;{\\text{find}\\;f\\,\\text{that}\\;\\text{minimizes}\\;\\text{L(y)}}\t\n\\end{lalign*}&quot;,&quot;ts&quot;:1753561656433,&quot;cs&quot;:&quot;yTReRyOOxMTbp80idXCI2Q==&quot;,&quot;size&quot;:{&quot;width&quot;:281.25,&quot;height&quot;:57.75000000000002}}" id="194" name="Google Shape;194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4484" y="988025"/>
            <a:ext cx="2678906" cy="550069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22"/>
          <p:cNvSpPr txBox="1"/>
          <p:nvPr/>
        </p:nvSpPr>
        <p:spPr>
          <a:xfrm>
            <a:off x="293225" y="1796175"/>
            <a:ext cx="7186800" cy="264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2"/>
                </a:solidFill>
              </a:rPr>
              <a:t>Here, L(y) is called a Loss function. It measures the difference between output of the function </a:t>
            </a:r>
            <a:r>
              <a:rPr i="1" lang="en" sz="1600">
                <a:solidFill>
                  <a:schemeClr val="dk2"/>
                </a:solidFill>
              </a:rPr>
              <a:t>f</a:t>
            </a:r>
            <a:r>
              <a:rPr lang="en" sz="1600">
                <a:solidFill>
                  <a:schemeClr val="dk2"/>
                </a:solidFill>
              </a:rPr>
              <a:t> and some groundtruth (classification label, audio transcription)..</a:t>
            </a:r>
            <a:endParaRPr sz="16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2"/>
                </a:solidFill>
              </a:rPr>
              <a:t>But.. </a:t>
            </a:r>
            <a:r>
              <a:rPr i="1" lang="en" sz="1600">
                <a:solidFill>
                  <a:schemeClr val="dk2"/>
                </a:solidFill>
              </a:rPr>
              <a:t>f </a:t>
            </a:r>
            <a:r>
              <a:rPr lang="en" sz="1600">
                <a:solidFill>
                  <a:schemeClr val="dk2"/>
                </a:solidFill>
              </a:rPr>
              <a:t>is some function in a high-dimensional space.. We don’t know its form--linear, quadratic.. number of parameters etc. All we have is input and desired output. </a:t>
            </a:r>
            <a:endParaRPr sz="16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2"/>
                </a:solidFill>
              </a:rPr>
              <a:t>How can we learn an unknown function in a high dimensional space using relatively simple and scalable math?</a:t>
            </a:r>
            <a:endParaRPr sz="16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3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Yes we can!</a:t>
            </a:r>
            <a:endParaRPr/>
          </a:p>
        </p:txBody>
      </p:sp>
      <p:sp>
        <p:nvSpPr>
          <p:cNvPr id="201" name="Google Shape;201;p23"/>
          <p:cNvSpPr txBox="1"/>
          <p:nvPr/>
        </p:nvSpPr>
        <p:spPr>
          <a:xfrm>
            <a:off x="381450" y="806388"/>
            <a:ext cx="3013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202" name="Google Shape;202;p23"/>
          <p:cNvSpPr txBox="1"/>
          <p:nvPr/>
        </p:nvSpPr>
        <p:spPr>
          <a:xfrm>
            <a:off x="283225" y="1082575"/>
            <a:ext cx="7299900" cy="264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2"/>
                </a:solidFill>
              </a:rPr>
              <a:t>And that’s where neural networks come in!</a:t>
            </a:r>
            <a:endParaRPr sz="16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2"/>
                </a:solidFill>
              </a:rPr>
              <a:t>Key ideas: </a:t>
            </a:r>
            <a:endParaRPr sz="16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2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Char char="-"/>
            </a:pPr>
            <a:r>
              <a:rPr b="1" lang="en" sz="1600">
                <a:solidFill>
                  <a:schemeClr val="dk2"/>
                </a:solidFill>
              </a:rPr>
              <a:t>Map to higher dimensions:</a:t>
            </a:r>
            <a:r>
              <a:rPr lang="en" sz="1600">
                <a:solidFill>
                  <a:schemeClr val="dk2"/>
                </a:solidFill>
              </a:rPr>
              <a:t> Complex relationships in lower dimensions can become tractable in higher dimensions</a:t>
            </a:r>
            <a:endParaRPr sz="1600">
              <a:solidFill>
                <a:schemeClr val="dk2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Char char="-"/>
            </a:pPr>
            <a:r>
              <a:rPr b="1" lang="en" sz="1600">
                <a:solidFill>
                  <a:schemeClr val="dk2"/>
                </a:solidFill>
              </a:rPr>
              <a:t>Concatenating linear functions</a:t>
            </a:r>
            <a:r>
              <a:rPr lang="en" sz="1600">
                <a:solidFill>
                  <a:schemeClr val="dk2"/>
                </a:solidFill>
              </a:rPr>
              <a:t> with simple non-linear functions (eg, piecewise linear functions) can approximate </a:t>
            </a:r>
            <a:r>
              <a:rPr b="1" lang="en" sz="1600">
                <a:solidFill>
                  <a:schemeClr val="dk2"/>
                </a:solidFill>
              </a:rPr>
              <a:t>any non-linear function</a:t>
            </a:r>
            <a:endParaRPr b="1" sz="1600">
              <a:solidFill>
                <a:schemeClr val="dk2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Char char="-"/>
            </a:pPr>
            <a:r>
              <a:rPr b="1" lang="en" sz="1600">
                <a:solidFill>
                  <a:schemeClr val="dk2"/>
                </a:solidFill>
              </a:rPr>
              <a:t>Learn from examples</a:t>
            </a:r>
            <a:r>
              <a:rPr lang="en" sz="1600">
                <a:solidFill>
                  <a:schemeClr val="dk2"/>
                </a:solidFill>
              </a:rPr>
              <a:t>, rather than formulate rigid rules. What makes a cat a cat? </a:t>
            </a:r>
            <a:endParaRPr sz="16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24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High dimensions can make things easier</a:t>
            </a:r>
            <a:endParaRPr/>
          </a:p>
        </p:txBody>
      </p:sp>
      <p:sp>
        <p:nvSpPr>
          <p:cNvPr id="208" name="Google Shape;208;p24"/>
          <p:cNvSpPr txBox="1"/>
          <p:nvPr/>
        </p:nvSpPr>
        <p:spPr>
          <a:xfrm>
            <a:off x="381450" y="806388"/>
            <a:ext cx="3013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209" name="Google Shape;209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9350" y="1587675"/>
            <a:ext cx="3362738" cy="3325026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48813" y="1646475"/>
            <a:ext cx="3650166" cy="3325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25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Concatenating linear functions and simple nonlinear functions can approximate any function!</a:t>
            </a:r>
            <a:endParaRPr/>
          </a:p>
        </p:txBody>
      </p:sp>
      <p:sp>
        <p:nvSpPr>
          <p:cNvPr id="216" name="Google Shape;216;p25"/>
          <p:cNvSpPr txBox="1"/>
          <p:nvPr/>
        </p:nvSpPr>
        <p:spPr>
          <a:xfrm>
            <a:off x="453613" y="1173763"/>
            <a:ext cx="3013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The nonlinearity is key!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217" name="Google Shape;217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063" y="1566475"/>
            <a:ext cx="4227375" cy="3219225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25"/>
          <p:cNvSpPr txBox="1"/>
          <p:nvPr/>
        </p:nvSpPr>
        <p:spPr>
          <a:xfrm>
            <a:off x="1512243" y="4701300"/>
            <a:ext cx="12651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Without ReLU</a:t>
            </a:r>
            <a:endParaRPr sz="1200">
              <a:solidFill>
                <a:schemeClr val="dk2"/>
              </a:solidFill>
            </a:endParaRPr>
          </a:p>
        </p:txBody>
      </p:sp>
      <p:sp>
        <p:nvSpPr>
          <p:cNvPr id="219" name="Google Shape;219;p25"/>
          <p:cNvSpPr txBox="1"/>
          <p:nvPr/>
        </p:nvSpPr>
        <p:spPr>
          <a:xfrm>
            <a:off x="6117443" y="4701300"/>
            <a:ext cx="12651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With ReLU</a:t>
            </a:r>
            <a:endParaRPr sz="1200">
              <a:solidFill>
                <a:schemeClr val="dk2"/>
              </a:solidFill>
            </a:endParaRPr>
          </a:p>
        </p:txBody>
      </p:sp>
      <p:sp>
        <p:nvSpPr>
          <p:cNvPr id="220" name="Google Shape;220;p25"/>
          <p:cNvSpPr txBox="1"/>
          <p:nvPr/>
        </p:nvSpPr>
        <p:spPr>
          <a:xfrm>
            <a:off x="6559175" y="1033600"/>
            <a:ext cx="13374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We’ll soon learn how to build this!</a:t>
            </a:r>
            <a:endParaRPr sz="1200">
              <a:solidFill>
                <a:schemeClr val="dk2"/>
              </a:solidFill>
            </a:endParaRPr>
          </a:p>
        </p:txBody>
      </p:sp>
      <p:pic>
        <p:nvPicPr>
          <p:cNvPr id="221" name="Google Shape;221;p25" title="learn_sine_funct.mp4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441838" y="1740100"/>
            <a:ext cx="3745067" cy="2808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26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Can you describe a cat?</a:t>
            </a:r>
            <a:endParaRPr/>
          </a:p>
        </p:txBody>
      </p:sp>
      <p:sp>
        <p:nvSpPr>
          <p:cNvPr id="227" name="Google Shape;227;p26"/>
          <p:cNvSpPr txBox="1"/>
          <p:nvPr/>
        </p:nvSpPr>
        <p:spPr>
          <a:xfrm>
            <a:off x="381450" y="806388"/>
            <a:ext cx="3013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228" name="Google Shape;228;p26"/>
          <p:cNvSpPr txBox="1"/>
          <p:nvPr/>
        </p:nvSpPr>
        <p:spPr>
          <a:xfrm>
            <a:off x="185250" y="982463"/>
            <a:ext cx="7299900" cy="14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2"/>
                </a:solidFill>
              </a:rPr>
              <a:t>Anyone can tell a cat from a dog.. But can you define what makes a cat a cat?</a:t>
            </a:r>
            <a:endParaRPr sz="16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2"/>
                </a:solidFill>
              </a:rPr>
              <a:t>Defining rules is brittle, because nature (and us) likes to break rules. </a:t>
            </a:r>
            <a:endParaRPr sz="16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2"/>
                </a:solidFill>
              </a:rPr>
              <a:t>Learning from examples is better, and let the “brain” figure out the rules</a:t>
            </a:r>
            <a:endParaRPr sz="1600">
              <a:solidFill>
                <a:schemeClr val="dk2"/>
              </a:solidFill>
            </a:endParaRPr>
          </a:p>
        </p:txBody>
      </p:sp>
      <p:pic>
        <p:nvPicPr>
          <p:cNvPr id="229" name="Google Shape;229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2650975"/>
            <a:ext cx="1836600" cy="1733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199400" y="2704622"/>
            <a:ext cx="2868800" cy="1562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1" name="Google Shape;231;p2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278600" y="2665138"/>
            <a:ext cx="1390875" cy="1641025"/>
          </a:xfrm>
          <a:prstGeom prst="rect">
            <a:avLst/>
          </a:prstGeom>
          <a:noFill/>
          <a:ln>
            <a:noFill/>
          </a:ln>
        </p:spPr>
      </p:pic>
      <p:sp>
        <p:nvSpPr>
          <p:cNvPr id="232" name="Google Shape;232;p26"/>
          <p:cNvSpPr txBox="1"/>
          <p:nvPr/>
        </p:nvSpPr>
        <p:spPr>
          <a:xfrm>
            <a:off x="293925" y="4462900"/>
            <a:ext cx="14793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This is a cat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233" name="Google Shape;233;p26"/>
          <p:cNvSpPr txBox="1"/>
          <p:nvPr/>
        </p:nvSpPr>
        <p:spPr>
          <a:xfrm>
            <a:off x="2871100" y="4462900"/>
            <a:ext cx="14793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So are these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234" name="Google Shape;234;p26"/>
          <p:cNvSpPr txBox="1"/>
          <p:nvPr/>
        </p:nvSpPr>
        <p:spPr>
          <a:xfrm>
            <a:off x="5234375" y="4462900"/>
            <a:ext cx="14793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And this..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235" name="Google Shape;235;p26"/>
          <p:cNvSpPr txBox="1"/>
          <p:nvPr/>
        </p:nvSpPr>
        <p:spPr>
          <a:xfrm>
            <a:off x="6920025" y="2665150"/>
            <a:ext cx="1479300" cy="118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</a:rPr>
              <a:t>So what makes a cat a cat? Who cares.. I know a cat when I see it :-)</a:t>
            </a:r>
            <a:endParaRPr sz="13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27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Some other desirable properties</a:t>
            </a:r>
            <a:endParaRPr/>
          </a:p>
        </p:txBody>
      </p:sp>
      <p:sp>
        <p:nvSpPr>
          <p:cNvPr id="241" name="Google Shape;241;p27"/>
          <p:cNvSpPr txBox="1"/>
          <p:nvPr/>
        </p:nvSpPr>
        <p:spPr>
          <a:xfrm>
            <a:off x="381450" y="806388"/>
            <a:ext cx="3013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242" name="Google Shape;242;p27"/>
          <p:cNvSpPr txBox="1"/>
          <p:nvPr/>
        </p:nvSpPr>
        <p:spPr>
          <a:xfrm>
            <a:off x="381450" y="944688"/>
            <a:ext cx="72999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2"/>
                </a:solidFill>
              </a:rPr>
              <a:t>Neural network calculations are simple and parallelizable. In face, most of the calculations in a neural network are matrix multiplications </a:t>
            </a:r>
            <a:endParaRPr sz="1600">
              <a:solidFill>
                <a:schemeClr val="dk2"/>
              </a:solidFill>
            </a:endParaRPr>
          </a:p>
        </p:txBody>
      </p:sp>
      <p:pic>
        <p:nvPicPr>
          <p:cNvPr descr="{&quot;id&quot;:&quot;18&quot;,&quot;backgroundColor&quot;:&quot;#FFFFFF&quot;,&quot;font&quot;:{&quot;family&quot;:&quot;Arial&quot;,&quot;size&quot;:12,&quot;color&quot;:&quot;#000000&quot;},&quot;aid&quot;:null,&quot;code&quot;:&quot;\\begin{lalign*}\n&amp;{\\begin{pmatrix}\n{y_{1}}\\\\\n{y_{2}}\\\\\n{y_{3\\,}}\\\\\n\\end{pmatrix}=\\begin{pmatrix}\n{w_{11}}&amp;{w_{12}}&amp;{w_{13}}\\\\\n{w_{21}}&amp;{w_{22}}&amp;{w_{23}}\\\\\n{w_{31}}&amp;{w_{32}}&amp;{w_{33}}\\\\\n\\end{pmatrix}\\begin{pmatrix}\n{x_{1}}\\\\\n{x_{2}}\\\\\n{x_{3}}\\\\\n\\end{pmatrix}}\\\\\n&amp;{y_{1}=w_{11}x_{1}+w_{12}x_{2}+w_{13}x_{3}}\\\\\n&amp;{y_{2}=w_{21}x_{1}+w_{22}x_{2}+w_{23}x_{3}}\\\\\n&amp;{y_{3}=w_{31}x_{1}+w_{32}x_{2}+w_{33}x_{3}}\t\n\\end{lalign*}&quot;,&quot;type&quot;:&quot;lalign*&quot;,&quot;backgroundColorModified&quot;:false,&quot;ts&quot;:1754653215911,&quot;cs&quot;:&quot;of9dXRY7xNmCilg0qfiD5A==&quot;,&quot;size&quot;:{&quot;width&quot;:283,&quot;height&quot;:143.75}}" id="243" name="Google Shape;243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98625" y="1836550"/>
            <a:ext cx="3400876" cy="1727475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27"/>
          <p:cNvSpPr txBox="1"/>
          <p:nvPr/>
        </p:nvSpPr>
        <p:spPr>
          <a:xfrm>
            <a:off x="5243075" y="3096225"/>
            <a:ext cx="2493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Each of the products can be calculated in parallel</a:t>
            </a:r>
            <a:endParaRPr sz="1500">
              <a:solidFill>
                <a:schemeClr val="dk2"/>
              </a:solidFill>
            </a:endParaRPr>
          </a:p>
        </p:txBody>
      </p:sp>
      <p:cxnSp>
        <p:nvCxnSpPr>
          <p:cNvPr id="245" name="Google Shape;245;p27"/>
          <p:cNvCxnSpPr>
            <a:stCxn id="244" idx="1"/>
          </p:cNvCxnSpPr>
          <p:nvPr/>
        </p:nvCxnSpPr>
        <p:spPr>
          <a:xfrm rot="10800000">
            <a:off x="4724675" y="3257175"/>
            <a:ext cx="518400" cy="162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46" name="Google Shape;246;p27"/>
          <p:cNvSpPr txBox="1"/>
          <p:nvPr/>
        </p:nvSpPr>
        <p:spPr>
          <a:xfrm>
            <a:off x="86925" y="4132475"/>
            <a:ext cx="2493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Each of the </a:t>
            </a:r>
            <a:r>
              <a:rPr i="1" lang="en" sz="1500">
                <a:solidFill>
                  <a:schemeClr val="dk2"/>
                </a:solidFill>
              </a:rPr>
              <a:t>y’s</a:t>
            </a:r>
            <a:r>
              <a:rPr lang="en" sz="1500">
                <a:solidFill>
                  <a:schemeClr val="dk2"/>
                </a:solidFill>
              </a:rPr>
              <a:t> can be calculated in parallel</a:t>
            </a:r>
            <a:endParaRPr sz="1500">
              <a:solidFill>
                <a:schemeClr val="dk2"/>
              </a:solidFill>
            </a:endParaRPr>
          </a:p>
        </p:txBody>
      </p:sp>
      <p:cxnSp>
        <p:nvCxnSpPr>
          <p:cNvPr id="247" name="Google Shape;247;p27"/>
          <p:cNvCxnSpPr/>
          <p:nvPr/>
        </p:nvCxnSpPr>
        <p:spPr>
          <a:xfrm flipH="1" rot="10800000">
            <a:off x="1418175" y="3606275"/>
            <a:ext cx="447600" cy="5712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48" name="Google Shape;248;p27"/>
          <p:cNvSpPr txBox="1"/>
          <p:nvPr/>
        </p:nvSpPr>
        <p:spPr>
          <a:xfrm>
            <a:off x="2613000" y="3963125"/>
            <a:ext cx="6045600" cy="98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</a:rPr>
              <a:t>That’s why GPUs are so popular in Deep Learning!</a:t>
            </a:r>
            <a:endParaRPr sz="1300">
              <a:solidFill>
                <a:schemeClr val="dk2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Char char="-"/>
            </a:pPr>
            <a:r>
              <a:rPr lang="en" sz="1300">
                <a:solidFill>
                  <a:schemeClr val="dk2"/>
                </a:solidFill>
              </a:rPr>
              <a:t>They are massively parallel (designed to draw pixels on the screen, a parallel calculation)</a:t>
            </a:r>
            <a:endParaRPr sz="1300">
              <a:solidFill>
                <a:schemeClr val="dk2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Char char="-"/>
            </a:pPr>
            <a:r>
              <a:rPr lang="en" sz="1300">
                <a:solidFill>
                  <a:schemeClr val="dk2"/>
                </a:solidFill>
              </a:rPr>
              <a:t>Programmable using CUDA</a:t>
            </a:r>
            <a:endParaRPr sz="13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28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 interesting aside..</a:t>
            </a:r>
            <a:endParaRPr/>
          </a:p>
        </p:txBody>
      </p:sp>
      <p:sp>
        <p:nvSpPr>
          <p:cNvPr id="254" name="Google Shape;254;p28"/>
          <p:cNvSpPr txBox="1"/>
          <p:nvPr/>
        </p:nvSpPr>
        <p:spPr>
          <a:xfrm>
            <a:off x="381450" y="806388"/>
            <a:ext cx="3013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255" name="Google Shape;255;p28"/>
          <p:cNvSpPr txBox="1"/>
          <p:nvPr/>
        </p:nvSpPr>
        <p:spPr>
          <a:xfrm>
            <a:off x="381450" y="756775"/>
            <a:ext cx="7299900" cy="21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Is AI something new or an incremental advance?</a:t>
            </a:r>
            <a:endParaRPr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-"/>
            </a:pPr>
            <a:r>
              <a:rPr lang="en">
                <a:solidFill>
                  <a:schemeClr val="dk2"/>
                </a:solidFill>
              </a:rPr>
              <a:t>Neural Networks, the workhorse of AI were invented in 1943.. But their true capabilities were never realized, because they remained “shallow” (1-2 layers)</a:t>
            </a:r>
            <a:endParaRPr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-"/>
            </a:pPr>
            <a:r>
              <a:rPr lang="en">
                <a:solidFill>
                  <a:schemeClr val="dk2"/>
                </a:solidFill>
              </a:rPr>
              <a:t>Aha moment arrived in 2012. Alex Krizhevsky, Ilya Sutskever, and Geoffrey Hinton from U of Toronto </a:t>
            </a:r>
            <a:r>
              <a:rPr lang="en" sz="1350">
                <a:solidFill>
                  <a:srgbClr val="001D3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won the </a:t>
            </a:r>
            <a:r>
              <a:rPr lang="en" sz="1350" u="sng">
                <a:solidFill>
                  <a:schemeClr val="accent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ImageNet Large Scale Visual Recognition Challenge (ILSVRC) in 2012</a:t>
            </a:r>
            <a:r>
              <a:rPr lang="en">
                <a:solidFill>
                  <a:schemeClr val="dk2"/>
                </a:solidFill>
              </a:rPr>
              <a:t> using a 8 layered Neural Network, that significantly outperformed the competition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256" name="Google Shape;256;p28"/>
          <p:cNvSpPr txBox="1"/>
          <p:nvPr/>
        </p:nvSpPr>
        <p:spPr>
          <a:xfrm>
            <a:off x="0" y="4827900"/>
            <a:ext cx="5695200" cy="3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>
                <a:solidFill>
                  <a:schemeClr val="dk1"/>
                </a:solidFill>
              </a:rPr>
              <a:t>https://proceedings.neurips.cc/paper_files/paper/2012/file/c399862d3b9d6b76c8436e924a68c45b-Paper.pdf</a:t>
            </a:r>
            <a:endParaRPr sz="900"/>
          </a:p>
        </p:txBody>
      </p:sp>
      <p:sp>
        <p:nvSpPr>
          <p:cNvPr id="257" name="Google Shape;257;p28"/>
          <p:cNvSpPr/>
          <p:nvPr/>
        </p:nvSpPr>
        <p:spPr>
          <a:xfrm>
            <a:off x="3589388" y="3137125"/>
            <a:ext cx="1216800" cy="6492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AI Revolution</a:t>
            </a:r>
            <a:endParaRPr/>
          </a:p>
        </p:txBody>
      </p:sp>
      <p:sp>
        <p:nvSpPr>
          <p:cNvPr id="258" name="Google Shape;258;p28"/>
          <p:cNvSpPr/>
          <p:nvPr/>
        </p:nvSpPr>
        <p:spPr>
          <a:xfrm>
            <a:off x="5428200" y="3137125"/>
            <a:ext cx="1216800" cy="6492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Large Datasets</a:t>
            </a:r>
            <a:endParaRPr/>
          </a:p>
        </p:txBody>
      </p:sp>
      <p:sp>
        <p:nvSpPr>
          <p:cNvPr id="259" name="Google Shape;259;p28"/>
          <p:cNvSpPr txBox="1"/>
          <p:nvPr/>
        </p:nvSpPr>
        <p:spPr>
          <a:xfrm>
            <a:off x="6836175" y="3092275"/>
            <a:ext cx="16203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Large, high-quality labeled datasets such as ImageNet</a:t>
            </a:r>
            <a:endParaRPr sz="1200">
              <a:solidFill>
                <a:schemeClr val="dk2"/>
              </a:solidFill>
            </a:endParaRPr>
          </a:p>
        </p:txBody>
      </p:sp>
      <p:sp>
        <p:nvSpPr>
          <p:cNvPr id="260" name="Google Shape;260;p28"/>
          <p:cNvSpPr/>
          <p:nvPr/>
        </p:nvSpPr>
        <p:spPr>
          <a:xfrm>
            <a:off x="1750575" y="3137125"/>
            <a:ext cx="1216800" cy="6492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Algorithmic Advances</a:t>
            </a:r>
            <a:endParaRPr/>
          </a:p>
        </p:txBody>
      </p:sp>
      <p:sp>
        <p:nvSpPr>
          <p:cNvPr id="261" name="Google Shape;261;p28"/>
          <p:cNvSpPr txBox="1"/>
          <p:nvPr/>
        </p:nvSpPr>
        <p:spPr>
          <a:xfrm>
            <a:off x="60275" y="2907625"/>
            <a:ext cx="16203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Rediscovery of Backpropagation</a:t>
            </a:r>
            <a:endParaRPr sz="12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Dropout to prevent overfitting..</a:t>
            </a:r>
            <a:endParaRPr sz="1200">
              <a:solidFill>
                <a:schemeClr val="dk2"/>
              </a:solidFill>
            </a:endParaRPr>
          </a:p>
        </p:txBody>
      </p:sp>
      <p:sp>
        <p:nvSpPr>
          <p:cNvPr id="262" name="Google Shape;262;p28"/>
          <p:cNvSpPr/>
          <p:nvPr/>
        </p:nvSpPr>
        <p:spPr>
          <a:xfrm>
            <a:off x="3422450" y="4219150"/>
            <a:ext cx="1550700" cy="5727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Programmable GPUs</a:t>
            </a:r>
            <a:endParaRPr/>
          </a:p>
        </p:txBody>
      </p:sp>
      <p:sp>
        <p:nvSpPr>
          <p:cNvPr id="263" name="Google Shape;263;p28"/>
          <p:cNvSpPr txBox="1"/>
          <p:nvPr/>
        </p:nvSpPr>
        <p:spPr>
          <a:xfrm>
            <a:off x="5204650" y="4136050"/>
            <a:ext cx="19098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Highly efficient GPU implementation of matmul, convolution etc</a:t>
            </a:r>
            <a:endParaRPr sz="1200">
              <a:solidFill>
                <a:schemeClr val="dk2"/>
              </a:solidFill>
            </a:endParaRPr>
          </a:p>
        </p:txBody>
      </p:sp>
      <p:cxnSp>
        <p:nvCxnSpPr>
          <p:cNvPr id="264" name="Google Shape;264;p28"/>
          <p:cNvCxnSpPr>
            <a:stCxn id="260" idx="3"/>
            <a:endCxn id="257" idx="1"/>
          </p:cNvCxnSpPr>
          <p:nvPr/>
        </p:nvCxnSpPr>
        <p:spPr>
          <a:xfrm>
            <a:off x="2967375" y="3461725"/>
            <a:ext cx="6219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5" name="Google Shape;265;p28"/>
          <p:cNvCxnSpPr>
            <a:stCxn id="258" idx="1"/>
            <a:endCxn id="257" idx="3"/>
          </p:cNvCxnSpPr>
          <p:nvPr/>
        </p:nvCxnSpPr>
        <p:spPr>
          <a:xfrm rot="10800000">
            <a:off x="4806300" y="3461725"/>
            <a:ext cx="6219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6" name="Google Shape;266;p28"/>
          <p:cNvCxnSpPr>
            <a:stCxn id="262" idx="0"/>
            <a:endCxn id="257" idx="2"/>
          </p:cNvCxnSpPr>
          <p:nvPr/>
        </p:nvCxnSpPr>
        <p:spPr>
          <a:xfrm rot="10800000">
            <a:off x="4197800" y="3786250"/>
            <a:ext cx="0" cy="4329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29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Homework problems</a:t>
            </a:r>
            <a:endParaRPr/>
          </a:p>
        </p:txBody>
      </p:sp>
      <p:sp>
        <p:nvSpPr>
          <p:cNvPr id="272" name="Google Shape;272;p29"/>
          <p:cNvSpPr txBox="1"/>
          <p:nvPr/>
        </p:nvSpPr>
        <p:spPr>
          <a:xfrm>
            <a:off x="381450" y="806388"/>
            <a:ext cx="3013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273" name="Google Shape;273;p29"/>
          <p:cNvSpPr txBox="1"/>
          <p:nvPr/>
        </p:nvSpPr>
        <p:spPr>
          <a:xfrm>
            <a:off x="367400" y="901325"/>
            <a:ext cx="5932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