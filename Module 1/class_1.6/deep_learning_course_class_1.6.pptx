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8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47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y="5143500" cx="9144000"/>
  <p:notesSz cx="6858000" cy="9144000"/>
  <p:embeddedFontLst>
    <p:embeddedFont>
      <p:font typeface="Roboto"/>
      <p:regular r:id="rId55"/>
      <p:bold r:id="rId56"/>
      <p:italic r:id="rId57"/>
      <p:boldItalic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3DCEB4-4C4A-4F73-9851-22E5D8EDBD95}">
  <a:tblStyle styleId="{913DCEB4-4C4A-4F73-9851-22E5D8EDBD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61CF3918-6FE5-4AB0-8454-EE18CFEB7B5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font" Target="fonts/Roboto-regular.fntdata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font" Target="fonts/Roboto-italic.fntdata"/><Relationship Id="rId12" Type="http://schemas.openxmlformats.org/officeDocument/2006/relationships/slide" Target="slides/slide6.xml"/><Relationship Id="rId56" Type="http://schemas.openxmlformats.org/officeDocument/2006/relationships/font" Target="fonts/Robot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8" Type="http://schemas.openxmlformats.org/officeDocument/2006/relationships/font" Target="fonts/Robot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9d5083aa5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9d5083aa5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700caf16bf_0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700caf16bf_0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d5083aa51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d5083aa5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5083aa5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9d5083aa5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d5083aa5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9d5083aa5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d5083aa51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d5083aa5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d5083aa51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9d5083aa51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9d5083aa51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9d5083aa51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d5083aa51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d5083aa51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700caf16bf_0_3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700caf16bf_0_3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700caf16bf_0_3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700caf16bf_0_3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d5083aa51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d5083aa51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d5083aa51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d5083aa51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d5083aa51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d5083aa51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e086f8d5e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e086f8d5e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9e086f8d5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9e086f8d5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e086f8d5e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e086f8d5e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e086f8d5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e086f8d5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e086f8d5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e086f8d5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700caf16bf_0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700caf16bf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00caf16bf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00caf16bf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700caf16bf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700caf16bf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700caf16bf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700caf16b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700caf16bf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700caf16bf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700caf16b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700caf16b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700caf16bf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700caf16b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700caf16bf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700caf16bf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0dfb63ab8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90dfb63ab8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90dfb63ab8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90dfb63ab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90dfb63ab8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90dfb63ab8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0dfb63ab8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0dfb63ab8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fb63ab8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fb63ab8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90de31746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90de31746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90dfb63ab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90dfb63ab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90dfb63ab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90dfb63ab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90dfb63ab8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90dfb63ab8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90dfb63ab8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390dfb63ab8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700caf16bf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700caf16bf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0caf16bf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700caf16bf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00caf16bf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00caf16bf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700caf16bf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700caf16bf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700caf16bf_0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3700caf16bf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700caf16bf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700caf16bf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700caf16bf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3700caf16bf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700caf16bf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700caf16bf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700caf16bf_0_2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700caf16bf_0_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700caf16bf_0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700caf16bf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www.khanacademy.org/math/statistics-probability" TargetMode="External"/><Relationship Id="rId4" Type="http://schemas.openxmlformats.org/officeDocument/2006/relationships/hyperlink" Target="https://www.khanacademy.org/math/statistics-probability" TargetMode="External"/><Relationship Id="rId9" Type="http://schemas.openxmlformats.org/officeDocument/2006/relationships/hyperlink" Target="https://cs231n.stanford.edu/slides/2018/cs231n_2018_lecture03.pdf" TargetMode="External"/><Relationship Id="rId5" Type="http://schemas.openxmlformats.org/officeDocument/2006/relationships/hyperlink" Target="https://www.khanacademy.org/math/statistics-probability/modeling-distributions-of-data/more-on-normal-distributions/v/introduction-to-the-normal-distribution" TargetMode="External"/><Relationship Id="rId6" Type="http://schemas.openxmlformats.org/officeDocument/2006/relationships/hyperlink" Target="https://www.khanacademy.org/math/statistics-probability/random-variables-stats-library/poisson-distribution/v/poisson-process-1" TargetMode="External"/><Relationship Id="rId7" Type="http://schemas.openxmlformats.org/officeDocument/2006/relationships/hyperlink" Target="https://cs231n.github.io/linear-classify/#softmax" TargetMode="External"/><Relationship Id="rId8" Type="http://schemas.openxmlformats.org/officeDocument/2006/relationships/hyperlink" Target="https://www.youtube.com/watch?v=uW0TapQ6UQU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Relationship Id="rId4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png"/><Relationship Id="rId4" Type="http://schemas.openxmlformats.org/officeDocument/2006/relationships/image" Target="../media/image3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42.png"/><Relationship Id="rId5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8.png"/><Relationship Id="rId4" Type="http://schemas.openxmlformats.org/officeDocument/2006/relationships/image" Target="../media/image34.png"/><Relationship Id="rId5" Type="http://schemas.openxmlformats.org/officeDocument/2006/relationships/image" Target="../media/image40.png"/><Relationship Id="rId6" Type="http://schemas.openxmlformats.org/officeDocument/2006/relationships/image" Target="../media/image44.png"/><Relationship Id="rId7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9.png"/><Relationship Id="rId4" Type="http://schemas.openxmlformats.org/officeDocument/2006/relationships/image" Target="../media/image38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0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7.png"/><Relationship Id="rId4" Type="http://schemas.openxmlformats.org/officeDocument/2006/relationships/image" Target="../media/image4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6.png"/><Relationship Id="rId4" Type="http://schemas.openxmlformats.org/officeDocument/2006/relationships/image" Target="../media/image52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5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1.png"/><Relationship Id="rId4" Type="http://schemas.openxmlformats.org/officeDocument/2006/relationships/image" Target="../media/image3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7.png"/><Relationship Id="rId4" Type="http://schemas.openxmlformats.org/officeDocument/2006/relationships/image" Target="../media/image5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8.png"/><Relationship Id="rId4" Type="http://schemas.openxmlformats.org/officeDocument/2006/relationships/image" Target="../media/image40.png"/><Relationship Id="rId5" Type="http://schemas.openxmlformats.org/officeDocument/2006/relationships/image" Target="../media/image31.png"/><Relationship Id="rId6" Type="http://schemas.openxmlformats.org/officeDocument/2006/relationships/image" Target="../media/image54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3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8.png"/><Relationship Id="rId4" Type="http://schemas.openxmlformats.org/officeDocument/2006/relationships/image" Target="../media/image55.png"/><Relationship Id="rId5" Type="http://schemas.openxmlformats.org/officeDocument/2006/relationships/image" Target="../media/image5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9.png"/><Relationship Id="rId4" Type="http://schemas.openxmlformats.org/officeDocument/2006/relationships/image" Target="../media/image53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58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9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Fundamentals of Probability for ML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Module 1, Class 6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Pre-read	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i="1" lang="en" sz="1300" u="sng">
                <a:solidFill>
                  <a:schemeClr val="hlink"/>
                </a:solidFill>
                <a:hlinkClick r:id="rId3"/>
              </a:rPr>
              <a:t>Khan Academy — Probability &amp; Statistics unit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 (covers PMF, PDF, expectation, variance)</a:t>
            </a:r>
            <a:r>
              <a:rPr lang="en" sz="2000"/>
              <a:t> (Unit 7,8,9)</a:t>
            </a:r>
            <a:endParaRPr sz="20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u="sng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Normal Distributions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u="sng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Poisson Distribution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CS 231n: </a:t>
            </a:r>
            <a:r>
              <a:rPr lang="en" sz="1400" u="sng">
                <a:solidFill>
                  <a:schemeClr val="hlink"/>
                </a:solidFill>
                <a:hlinkClick r:id="rId7"/>
              </a:rPr>
              <a:t>Section on Softmax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Youtube: </a:t>
            </a:r>
            <a:r>
              <a:rPr lang="en" sz="1400" u="sng">
                <a:solidFill>
                  <a:schemeClr val="hlink"/>
                </a:solidFill>
                <a:hlinkClick r:id="rId8"/>
              </a:rPr>
              <a:t>Correlation and Covariance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CS 231n: </a:t>
            </a:r>
            <a:r>
              <a:rPr lang="en" sz="1400" u="sng">
                <a:solidFill>
                  <a:schemeClr val="hlink"/>
                </a:solidFill>
                <a:hlinkClick r:id="rId9"/>
              </a:rPr>
              <a:t>Section on Softmax 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35325" y="1129850"/>
            <a:ext cx="62580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Why ML needs probability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Random variables – discrete vs continuous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Expectation &amp; Variance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Joint &amp; Conditional probability + Bayes’ rule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Covariance / Correlation / Independence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Estimating distribution parameters: API Response time example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Comparing distributions → KL divergence → Cross-entropy loss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Motivation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487850" y="10996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Probabilities</a:t>
            </a:r>
            <a:r>
              <a:rPr lang="en"/>
              <a:t> and probability distributions are used extensively in Deep Learning. Eg., a classification network outputs a probability distribution over classes, the dropout regularization method </a:t>
            </a:r>
            <a:r>
              <a:rPr lang="en"/>
              <a:t>probabilistically</a:t>
            </a:r>
            <a:r>
              <a:rPr lang="en"/>
              <a:t> removes neurons from a network, weights are </a:t>
            </a:r>
            <a:r>
              <a:rPr lang="en"/>
              <a:t>initialized</a:t>
            </a:r>
            <a:r>
              <a:rPr lang="en"/>
              <a:t> by sampling from a normal distribution..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Variables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A random variable is a variable whose value is a numerical outcome of a random phenomenon. A </a:t>
            </a:r>
            <a:r>
              <a:rPr b="1"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discrete random variable</a:t>
            </a: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has a countable number of possible values, such as the number of heads in three coin flips. A </a:t>
            </a:r>
            <a:r>
              <a:rPr b="1"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continuous random variable</a:t>
            </a: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can take on any value within a given range, meaning there are infinite possible values between any two given values, such as a person's height</a:t>
            </a:r>
            <a:endParaRPr sz="1200">
              <a:solidFill>
                <a:srgbClr val="001D3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01D3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Discrete Random Variables	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</a:rPr>
              <a:t>A </a:t>
            </a:r>
            <a:r>
              <a:rPr b="1" lang="en" sz="1500">
                <a:solidFill>
                  <a:schemeClr val="dk1"/>
                </a:solidFill>
              </a:rPr>
              <a:t>discrete random variable</a:t>
            </a:r>
            <a:r>
              <a:rPr lang="en" sz="1500">
                <a:solidFill>
                  <a:schemeClr val="dk1"/>
                </a:solidFill>
              </a:rPr>
              <a:t> is one that can take on </a:t>
            </a:r>
            <a:r>
              <a:rPr b="1" lang="en" sz="1500">
                <a:solidFill>
                  <a:schemeClr val="dk1"/>
                </a:solidFill>
              </a:rPr>
              <a:t>a countable number of distinct values</a:t>
            </a:r>
            <a:r>
              <a:rPr lang="en" sz="1500">
                <a:solidFill>
                  <a:schemeClr val="dk1"/>
                </a:solidFill>
              </a:rPr>
              <a:t>,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such as 0,1,2,3 or {−1,0,1}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It is described by a </a:t>
            </a:r>
            <a:r>
              <a:rPr b="1" lang="en" sz="1300">
                <a:solidFill>
                  <a:schemeClr val="dk1"/>
                </a:solidFill>
              </a:rPr>
              <a:t>probability mass function (PMF)</a:t>
            </a:r>
            <a:r>
              <a:rPr lang="en" sz="1300">
                <a:solidFill>
                  <a:schemeClr val="dk1"/>
                </a:solidFill>
              </a:rPr>
              <a:t>: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id&quot;:&quot;1&quot;,&quot;code&quot;:&quot;\\begin{gather*}\n{p\\left(x\\right)=p\\left(X=x\\right)}\\\\\n{p\\left(x\\right)\\geq0}\\\\\n{\\sum_{x}^{}p\\left(x\\right)\\,=\\,1}\t\n\\end{gather*}&quot;,&quot;type&quot;:&quot;gather*&quot;,&quot;font&quot;:{&quot;color&quot;:&quot;#000000&quot;,&quot;size&quot;:16.5,&quot;family&quot;:&quot;Arial&quot;},&quot;backgroundColorModified&quot;:false,&quot;aid&quot;:null,&quot;ts&quot;:1761695624326,&quot;cs&quot;:&quot;3JOMGMo8Yu73Q/1libBIfg==&quot;,&quot;size&quot;:{&quot;width&quot;:196.18627296587928,&quot;height&quot;:128.84253937007875}}"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5950" y="2657225"/>
            <a:ext cx="1868674" cy="122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Discrete Random Variables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92" name="Google Shape;92;p19"/>
          <p:cNvGraphicFramePr/>
          <p:nvPr/>
        </p:nvGraphicFramePr>
        <p:xfrm>
          <a:off x="146888" y="1103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{913DCEB4-4C4A-4F73-9851-22E5D8EDBD95}</a:tableStyleId>
              </a:tblPr>
              <a:tblGrid>
                <a:gridCol w="1727525"/>
                <a:gridCol w="1818325"/>
                <a:gridCol w="1831525"/>
                <a:gridCol w="3503100"/>
              </a:tblGrid>
              <a:tr h="618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Random Variable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Values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PMF 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1300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b="1" sz="13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Coin toss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p(1)=0.5, p(0)=0.5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11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Number of heads in 3 tosses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1, 2, 3}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Binomial distribution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Describes the number of "successes" in a fixed number of independent trials (n), where each trial has only two possible outcomes (success or failure). Prob(success) = p</a:t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16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Number of emails received per hour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1, 2, ...}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Poisson distribution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Models the probability of a specific number of independent events happening over a fixed interval (t), when you know the average rate of these events (lamda)</a:t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{&quot;backgroundColor&quot;:&quot;#FFFFFF&quot;,&quot;type&quot;:&quot;$$&quot;,&quot;font&quot;:{&quot;family&quot;:&quot;Arial&quot;,&quot;color&quot;:&quot;#000000&quot;,&quot;size&quot;:13},&quot;id&quot;:&quot;12&quot;,&quot;code&quot;:&quot;$$P\\left(X=k\\right)=\\Comb{n}{k}p^{k}\\left(1-p\\right)^{n-k}$$&quot;,&quot;aid&quot;:null,&quot;backgroundColorModified&quot;:false,&quot;ts&quot;:1762889482551,&quot;cs&quot;:&quot;ajxz4+Tm2j2p1Pcs44dO9w==&quot;,&quot;size&quot;:{&quot;width&quot;:261,&quot;height&quot;:24.800000000000008}}"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7888" y="3392000"/>
            <a:ext cx="2486025" cy="2362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id&quot;:&quot;13&quot;,&quot;font&quot;:{&quot;family&quot;:&quot;Arial&quot;,&quot;color&quot;:&quot;#000000&quot;,&quot;size&quot;:13},&quot;aid&quot;:null,&quot;backgroundColorModified&quot;:false,&quot;type&quot;:&quot;$$&quot;,&quot;code&quot;:&quot;$$p\\left(X=k\\right)=\\frac{\\exp\\left(-\\lambda\\right)\\lambda^{x}}{x!}$$&quot;,&quot;ts&quot;:1762889985829,&quot;cs&quot;:&quot;MRYthGth/AzMmSiiKQatpw==&quot;,&quot;size&quot;:{&quot;width&quot;:218,&quot;height&quot;:44}}" id="94" name="Google Shape;9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2675" y="4542850"/>
            <a:ext cx="2076450" cy="41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Random Variables	</a:t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A </a:t>
            </a:r>
            <a:r>
              <a:rPr b="1" lang="en" sz="1300">
                <a:solidFill>
                  <a:schemeClr val="dk1"/>
                </a:solidFill>
              </a:rPr>
              <a:t>continuous random variable</a:t>
            </a:r>
            <a:r>
              <a:rPr lang="en" sz="1300">
                <a:solidFill>
                  <a:schemeClr val="dk1"/>
                </a:solidFill>
              </a:rPr>
              <a:t> takes values from an </a:t>
            </a:r>
            <a:r>
              <a:rPr b="1" lang="en" sz="1300">
                <a:solidFill>
                  <a:schemeClr val="dk1"/>
                </a:solidFill>
              </a:rPr>
              <a:t>uncountable set</a:t>
            </a:r>
            <a:r>
              <a:rPr lang="en" sz="1300">
                <a:solidFill>
                  <a:schemeClr val="dk1"/>
                </a:solidFill>
              </a:rPr>
              <a:t> — typically all real numbers in an interval.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We describe it using a </a:t>
            </a:r>
            <a:r>
              <a:rPr b="1" lang="en" sz="1300">
                <a:solidFill>
                  <a:schemeClr val="dk1"/>
                </a:solidFill>
              </a:rPr>
              <a:t>probability density function (PDF)</a:t>
            </a:r>
            <a:r>
              <a:rPr lang="en" sz="1300">
                <a:solidFill>
                  <a:schemeClr val="dk1"/>
                </a:solidFill>
              </a:rPr>
              <a:t> f(x) such that: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aid&quot;:null,&quot;backgroundColorModified&quot;:false,&quot;font&quot;:{&quot;family&quot;:&quot;Arial&quot;,&quot;color&quot;:&quot;#000000&quot;,&quot;size&quot;:16.5},&quot;id&quot;:&quot;1&quot;,&quot;code&quot;:&quot;\\begin{gather*}\n{p\\left(a\\leq x\\leq b\\right)=\\int_{a}^{b}f\\left(x\\right)dx}\\\\\n{f\\left(x\\right)\\geq0}\\\\\n{\\int_{-\\infty}^{+\\infty}f\\left(x\\right)dx=1}\t\n\\end{gather*}&quot;,&quot;backgroundColor&quot;:&quot;#FFFFFF&quot;,&quot;type&quot;:&quot;gather*&quot;,&quot;ts&quot;:1761696303671,&quot;cs&quot;:&quot;hQeGjdYXVD4FzmaglGYfNw==&quot;,&quot;size&quot;:{&quot;width&quot;:300.75,&quot;height&quot;:167.5}}" id="101" name="Google Shape;10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5950" y="2188742"/>
            <a:ext cx="2864644" cy="159543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0"/>
          <p:cNvSpPr txBox="1"/>
          <p:nvPr/>
        </p:nvSpPr>
        <p:spPr>
          <a:xfrm>
            <a:off x="311700" y="3405900"/>
            <a:ext cx="8285400" cy="17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Intuition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The probability that X takes </a:t>
            </a:r>
            <a:r>
              <a:rPr b="1" lang="en" sz="1300">
                <a:solidFill>
                  <a:schemeClr val="dk1"/>
                </a:solidFill>
              </a:rPr>
              <a:t>any single value</a:t>
            </a:r>
            <a:r>
              <a:rPr lang="en" sz="1300">
                <a:solidFill>
                  <a:schemeClr val="dk1"/>
                </a:solidFill>
              </a:rPr>
              <a:t> (e.g., X=0.5) is </a:t>
            </a:r>
            <a:r>
              <a:rPr b="1" lang="en" sz="1300">
                <a:solidFill>
                  <a:schemeClr val="dk1"/>
                </a:solidFill>
              </a:rPr>
              <a:t>zero</a:t>
            </a:r>
            <a:r>
              <a:rPr lang="en" sz="1300">
                <a:solidFill>
                  <a:schemeClr val="dk1"/>
                </a:solidFill>
              </a:rPr>
              <a:t>.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Instead, we talk about the </a:t>
            </a:r>
            <a:r>
              <a:rPr b="1" lang="en" sz="1300">
                <a:solidFill>
                  <a:schemeClr val="dk1"/>
                </a:solidFill>
              </a:rPr>
              <a:t>probability of a range of values</a:t>
            </a:r>
            <a:r>
              <a:rPr lang="en" sz="1300">
                <a:solidFill>
                  <a:schemeClr val="dk1"/>
                </a:solidFill>
              </a:rPr>
              <a:t>.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The PDF is like a </a:t>
            </a:r>
            <a:r>
              <a:rPr i="1" lang="en" sz="1300">
                <a:solidFill>
                  <a:schemeClr val="dk1"/>
                </a:solidFill>
              </a:rPr>
              <a:t>curve</a:t>
            </a:r>
            <a:r>
              <a:rPr lang="en" sz="1300">
                <a:solidFill>
                  <a:schemeClr val="dk1"/>
                </a:solidFill>
              </a:rPr>
              <a:t> that shows how likely different regions are.</a:t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57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20"/>
              <a:t>Continuous Random Variables</a:t>
            </a:r>
            <a:endParaRPr sz="2220"/>
          </a:p>
        </p:txBody>
      </p:sp>
      <p:graphicFrame>
        <p:nvGraphicFramePr>
          <p:cNvPr id="108" name="Google Shape;108;p21"/>
          <p:cNvGraphicFramePr/>
          <p:nvPr/>
        </p:nvGraphicFramePr>
        <p:xfrm>
          <a:off x="311700" y="1483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{913DCEB4-4C4A-4F73-9851-22E5D8EDBD95}</a:tableStyleId>
              </a:tblPr>
              <a:tblGrid>
                <a:gridCol w="3486550"/>
                <a:gridCol w="2106850"/>
                <a:gridCol w="2927200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Random Variable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Range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PDF / Description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Height of a person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[0,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Approx. Normal(μ, σ²)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Time between phone calls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[0,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Exponential(λ)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Temperature of a city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(-     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Normal(μ, σ²)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09" name="Google Shape;10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000" y="2657225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0" name="Google Shape;11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000" y="2186813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1" name="Google Shape;11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7875" y="3127625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2" name="Google Shape;11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6700" y="3127625"/>
            <a:ext cx="254000" cy="13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</a:t>
            </a:r>
            <a:endParaRPr/>
          </a:p>
        </p:txBody>
      </p:sp>
      <p:pic>
        <p:nvPicPr>
          <p:cNvPr descr="{&quot;backgroundColor&quot;:&quot;#FFFFFF&quot;,&quot;type&quot;:&quot;gather*&quot;,&quot;font&quot;:{&quot;size&quot;:16.5,&quot;family&quot;:&quot;Arial&quot;,&quot;color&quot;:&quot;#000000&quot;},&quot;backgroundColorModified&quot;:false,&quot;id&quot;:&quot;1&quot;,&quot;aid&quot;:null,&quot;code&quot;:&quot;\\begin{gather*}\n{p\\left(-1\\leq x\\leq 1\\right)=\\int_{-1}^{1}\\frac{1}{2\\pi}\\exp\\left(-\\frac{x^{2}}{2}\\right)dx\\approx0.68}\t\n\\end{gather*}&quot;,&quot;ts&quot;:1761698281788,&quot;cs&quot;:&quot;eWDPRk+I6GlA74bQx4SEng==&quot;,&quot;size&quot;:{&quot;width&quot;:531,&quot;height&quot;:65}}"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925" y="1406779"/>
            <a:ext cx="505777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\\begin{gather*}\n{X:\\,\\text{time}\\;\\text{(in}\\;\\text{sec)}\\;\\text{until}\\;\\text{the}\\;\\text{next}\\;\\text{phone}\\;\\text{call}}\\\\\n{X\\sim Exp\\left(\\lambda=1\\right)\\,\\left(\\text{Exponential}\\;\\text{Distribution}\\right)}\\\\\n{f\\left(x\\right)=\\lambda\\exp\\left(-\\lambda x\\right)\\,}\\\\\n{P\\left(0\\leq x\\leq1\\right)=\\int_{0}^{1}\\exp\\left(-x\\right)dx}\\\\\n{=-\\left(\\exp\\left(-1\\right)-\\exp\\left(0\\right)\\right)=1-\\exp\\left(-1\\right)\\approx0.63}\\\\\n{}\t\n\\end{gather*}&quot;,&quot;aid&quot;:null,&quot;backgroundColor&quot;:&quot;#FFFFFF&quot;,&quot;id&quot;:&quot;1&quot;,&quot;font&quot;:{&quot;family&quot;:&quot;Arial&quot;,&quot;size&quot;:16.5,&quot;color&quot;:&quot;#000000&quot;},&quot;backgroundColorModified&quot;:false,&quot;type&quot;:&quot;gather*&quot;,&quot;ts&quot;:1761699224245,&quot;cs&quot;:&quot;tczrMjTHIPnfyCBlj0V0jg==&quot;,&quot;size&quot;:{&quot;width&quot;:531,&quot;height&quot;:197.99999999999997}}" id="119" name="Google Shape;11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8019" y="2414942"/>
            <a:ext cx="5057775" cy="188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PDF asks the question--”what is the probability that X (say outcome of rolling a dice) = 4?”.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CDF asks the question--”what is the probability that X &lt;= 4?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id&quot;:&quot;17&quot;,&quot;type&quot;:&quot;gather*&quot;,&quot;backgroundColor&quot;:&quot;#FFFFFF&quot;,&quot;aid&quot;:null,&quot;font&quot;:{&quot;color&quot;:&quot;#595959&quot;,&quot;size&quot;:18,&quot;family&quot;:&quot;Arial&quot;},&quot;backgroundColorModified&quot;:false,&quot;code&quot;:&quot;\\begin{gather*}\n{F_{X}\\left(x\\right)=P\\left(X\\leq x\\right)\\,}\\\\\n{\\text{CDF}\\;\\text{is}\\;\\text{monotonic,}\\;\\text{i.e.,}\\;\\text{always}\\;\\text{rising}}\\\\\n{\\text{For}\\;\\text{continuous}\\;\\text{RVs}}\\\\\n{F_{X}\\left(x\\right)=\\int_{-\\infty}^{x}f_{X}\\left(x\\right)dx}\\\\\n{\\text{Here}\\;f_{X}\\left(x\\right)\\;\\text{is}\\;\\text{the}\\;\\text{pdf}}\t\n\\end{gather*}&quot;,&quot;ts&quot;:1763038046083,&quot;cs&quot;:&quot;Bkm8sDjw75WYjlhW76xB3w==&quot;,&quot;size&quot;:{&quot;width&quot;:446.3333333333333,&quot;height&quot;:213}}"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5650" y="2571750"/>
            <a:ext cx="4251325" cy="202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Gaussian RV</a:t>
            </a:r>
            <a:endParaRPr/>
          </a:p>
        </p:txBody>
      </p:sp>
      <p:pic>
        <p:nvPicPr>
          <p:cNvPr descr="{&quot;backgroundColor&quot;:&quot;#FFFFFF&quot;,&quot;font&quot;:{&quot;size&quot;:14,&quot;family&quot;:&quot;Arial&quot;,&quot;color&quot;:&quot;#595959&quot;},&quot;code&quot;:&quot;\\begin{gather*}\n{\\text{For}\\;\\text{a}\\;\\text{normal}\\;\\text{RV}\\;\\text{X}\\;\\text{~N(}\\mu,\\,\\sigma\\text{):}}\\\\\n{f_{X}\\left(x\\right)=\\frac{1}{{\\sqrt[]{2\\pi\\sigma^{2}}}}e^{-\\frac{\\left(x-\\mu\\right)^{2}}{2\\sigma^{2}}}}\\\\\n{F_{X}\\left(x\\right)=\\frac{1}{{\\sqrt[]{2\\pi\\sigma^{2}}}}\\int_{-\\infty}^{x}e^{-\\frac{\\left(x-\\mu\\right)^{2}}{2\\sigma^{2}}}dx}\\\\\n{\\text{What}\\;\\text{fraction}\\;\\text{of}\\;\\text{the}\\;\\text{area}\\;\\text{of}\\;\\text{the}\\;\\text{bell}\\;\\text{curve}}\\\\\n{\\text{lies}\\;\\text{to}\\;\\text{the}\\;\\text{left}\\;\\text{of}\\;\\text{x?}}\\\\\n{\\text{There}\\;\\text{is}\\;\\text{no}\\;\\text{close}\\;\\text{form}\\;\\text{expression}\\;\\text{for}\\;\\text{the}\\;\\text{CDF}\\;\\text{of}\\;\\text{a}\\;\\text{Gaussian}\\;}\\\\\n{\\text{We}\\,\\text{write}\\;\\text{it}\\;\\text{in}\\;\\text{terms}\\;\\text{of}\\;\\text{special}\\;\\text{function}\\;\\text{defined}\\;\\text{as:}}\\\\\n{\\Phi\\left(z\\right)=\\frac{1}{{\\sqrt[]{2\\pi }}}\\int_{-\\infty}^{z}e^{-\\frac{t^{2}}{2}}dt}\\\\\n{\\text{Then}}\\\\\n{F_{X}\\left(x\\right)=\\Phi\\left(\\frac{x-\\mu}{\\sigma}\\right)}\t\n\\end{gather*}&quot;,&quot;backgroundColorModified&quot;:false,&quot;id&quot;:&quot;18&quot;,&quot;type&quot;:&quot;gather*&quot;,&quot;aid&quot;:null,&quot;ts&quot;:1763039574783,&quot;cs&quot;:&quot;Pra3VRw3xVL/omw0CUaVZg==&quot;,&quot;size&quot;:{&quot;width&quot;:583.2940797900263,&quot;height&quot;:413.14968818897637}}" id="132" name="Google Shape;13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125" y="1100800"/>
            <a:ext cx="4953476" cy="35085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aid&quot;:null,&quot;type&quot;:&quot;gather*&quot;,&quot;backgroundColorModified&quot;:false,&quot;font&quot;:{&quot;size&quot;:16,&quot;family&quot;:&quot;Arial&quot;,&quot;color&quot;:&quot;#000000&quot;},&quot;code&quot;:&quot;\\begin{gather*}\n{F_{X}\\left(x\\right)\\to0,\\,\\text{when}\\;x\\to-\\infty}\\\\\n{F_{X}\\left(x\\right)=0.5,\\,\\text{when}\\;x=\\mu}\\\\\n{F_{X}\\left(x\\right)\\to1,\\,\\text{when}\\;x\\to\\infty}\t\n\\end{gather*}&quot;,&quot;id&quot;:&quot;19&quot;,&quot;ts&quot;:1763039692971,&quot;cs&quot;:&quot;7V3Sf7vMZtxO0p85IDAPzA==&quot;,&quot;size&quot;:{&quot;width&quot;:298.80319055118105,&quot;height&quot;:90.6509448818898}}" id="133" name="Google Shape;133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5375" y="3544750"/>
            <a:ext cx="2846100" cy="863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4"/>
          <p:cNvSpPr txBox="1"/>
          <p:nvPr/>
        </p:nvSpPr>
        <p:spPr>
          <a:xfrm>
            <a:off x="5551500" y="1196925"/>
            <a:ext cx="31755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The concept of “percentile” is closely related to CDFs. If we denote the response times of an API call with a random variable x, then the pxx (eg., p99) of the API is the time t such that: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descr="{&quot;aid&quot;:null,&quot;type&quot;:&quot;$$&quot;,&quot;id&quot;:&quot;28&quot;,&quot;code&quot;:&quot;$$P\\left(X&lt;t\\right)=F_{X}\\left(x=t\\right)=0.99$$&quot;,&quot;backgroundColorModified&quot;:false,&quot;backgroundColor&quot;:&quot;#FFFFFF&quot;,&quot;font&quot;:{&quot;color&quot;:&quot;#000000&quot;,&quot;family&quot;:&quot;Arial&quot;,&quot;size&quot;:12},&quot;ts&quot;:1763256153971,&quot;cs&quot;:&quot;bmMWAELbTpOcQ2JY3Zeh6A==&quot;,&quot;size&quot;:{&quot;width&quot;:247,&quot;height&quot;:18.800000000000008}}" id="135" name="Google Shape;135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7525" y="2058825"/>
            <a:ext cx="2352675" cy="179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 and Variance</a:t>
            </a:r>
            <a:endParaRPr/>
          </a:p>
        </p:txBody>
      </p:sp>
      <p:sp>
        <p:nvSpPr>
          <p:cNvPr id="141" name="Google Shape;141;p25"/>
          <p:cNvSpPr txBox="1"/>
          <p:nvPr/>
        </p:nvSpPr>
        <p:spPr>
          <a:xfrm>
            <a:off x="311700" y="1272300"/>
            <a:ext cx="8048700" cy="25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Now that we know what random variables are — both </a:t>
            </a:r>
            <a:r>
              <a:rPr b="1" lang="en" sz="1900">
                <a:solidFill>
                  <a:schemeClr val="dk1"/>
                </a:solidFill>
              </a:rPr>
              <a:t>discrete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continuous</a:t>
            </a:r>
            <a:r>
              <a:rPr lang="en" sz="1900">
                <a:solidFill>
                  <a:schemeClr val="dk1"/>
                </a:solidFill>
              </a:rPr>
              <a:t> — we want to describe their </a:t>
            </a:r>
            <a:r>
              <a:rPr b="1" lang="en" sz="1900">
                <a:solidFill>
                  <a:schemeClr val="dk1"/>
                </a:solidFill>
              </a:rPr>
              <a:t>average behavior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spread</a:t>
            </a:r>
            <a:r>
              <a:rPr lang="en" sz="1900">
                <a:solidFill>
                  <a:schemeClr val="dk1"/>
                </a:solidFill>
              </a:rPr>
              <a:t>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That’s what </a:t>
            </a:r>
            <a:r>
              <a:rPr b="1" lang="en" sz="1900">
                <a:solidFill>
                  <a:schemeClr val="dk1"/>
                </a:solidFill>
              </a:rPr>
              <a:t>expectation (mean)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variance</a:t>
            </a:r>
            <a:r>
              <a:rPr lang="en" sz="1900">
                <a:solidFill>
                  <a:schemeClr val="dk1"/>
                </a:solidFill>
              </a:rPr>
              <a:t> capture.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280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The expectation of a random variable X, denoted E[X], is the weighted average of all possible values of X, using their probabilities as weights.</a:t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</a:t>
            </a:r>
            <a:endParaRPr/>
          </a:p>
        </p:txBody>
      </p:sp>
      <p:pic>
        <p:nvPicPr>
          <p:cNvPr descr="{&quot;backgroundColorModified&quot;:false,&quot;id&quot;:&quot;3&quot;,&quot;type&quot;:&quot;gather*&quot;,&quot;backgroundColor&quot;:&quot;#FFFFFF&quot;,&quot;font&quot;:{&quot;color&quot;:&quot;#000000&quot;,&quot;size&quot;:16.5,&quot;family&quot;:&quot;Arial&quot;},&quot;code&quot;:&quot;\\begin{gather*}\n{\\text{Discrete}\\;\\text{Random}\\;\\text{Variable}}\\\\\n{E\\left(X\\right)=\\Sigma_{x}xp\\left(x\\right)}\\\\\n{\\text{Eg.,}\\;\\text{X}\\;\\text{=}\\;\\text{number}\\;\\text{of}\\;\\text{heads}\\;\\text{in}\\;\\text{3}\\;\\text{fair}\\;\\text{coin}\\;\\text{tosses}}\\\\\n{p\\left(X=k\\right)=\\Comb{n}{k}0.5^{k}}\\\\\n{E\\left(X\\right)=\\sum_{k=0}^{3}k\\Comb{n}{k}0.5^{k}=1.5}\t\n\\end{gather*}&quot;,&quot;aid&quot;:null,&quot;ts&quot;:1761700657208,&quot;cs&quot;:&quot;HE5KZ1FymcuX8/DEoDTbxg==&quot;,&quot;size&quot;:{&quot;width&quot;:508.5,&quot;height&quot;:210.5}}" id="147" name="Google Shape;14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3" y="1251738"/>
            <a:ext cx="4843463" cy="2005013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6"/>
          <p:cNvSpPr txBox="1"/>
          <p:nvPr/>
        </p:nvSpPr>
        <p:spPr>
          <a:xfrm>
            <a:off x="207600" y="3490775"/>
            <a:ext cx="8242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Interpretation: </a:t>
            </a:r>
            <a:r>
              <a:rPr lang="en" sz="2400">
                <a:solidFill>
                  <a:schemeClr val="dk1"/>
                </a:solidFill>
              </a:rPr>
              <a:t>If you repeat the 3-toss experiment many times, the </a:t>
            </a:r>
            <a:r>
              <a:rPr b="1" lang="en" sz="2400">
                <a:solidFill>
                  <a:schemeClr val="dk1"/>
                </a:solidFill>
              </a:rPr>
              <a:t>average number of heads</a:t>
            </a:r>
            <a:r>
              <a:rPr lang="en" sz="2400">
                <a:solidFill>
                  <a:schemeClr val="dk1"/>
                </a:solidFill>
              </a:rPr>
              <a:t> tends to 1.5.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Note: The average itself is not in the possible values of X!</a:t>
            </a: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</a:t>
            </a:r>
            <a:endParaRPr/>
          </a:p>
        </p:txBody>
      </p:sp>
      <p:pic>
        <p:nvPicPr>
          <p:cNvPr descr="{&quot;backgroundColorModified&quot;:false,&quot;type&quot;:&quot;gather*&quot;,&quot;id&quot;:&quot;4&quot;,&quot;code&quot;:&quot;\\begin{gather*}\n{\\text{For}\\;\\text{a}\\;\\text{continuous}\\;\\text{random}\\;\\text{variable,}}\\\\\n{E\\left(X\\right)=\\int_{-\\infty}^{\\infty}xf\\left(x\\right)dx}\\\\\n{\\text{Let}\\;\\text{X}\\;\\sim \\text{Uniform(0,1)}}\\\\\n{\\text{Then,}\\;f\\left(x\\right)\\text{=1}\\;\\text{for}\\;\\text{0}\\leq x\\leq1,\\,0\\,\\text{otherwise}}\\\\\n{E\\left(X\\right)=\\int_{0}^{1}xdx=1/2}\t\n\\end{gather*}&quot;,&quot;font&quot;:{&quot;size&quot;:12,&quot;family&quot;:&quot;Arial&quot;,&quot;color&quot;:&quot;#000000&quot;},&quot;backgroundColor&quot;:&quot;#FFFFFF&quot;,&quot;aid&quot;:null,&quot;ts&quot;:1761702955479,&quot;cs&quot;:&quot;cRFrm7QPdDVQkW7J6bEACg==&quot;,&quot;size&quot;:{&quot;width&quot;:328.75,&quot;height&quot;:168.5}}" id="154" name="Google Shape;15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700" y="1237000"/>
            <a:ext cx="3131344" cy="16049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7"/>
          <p:cNvSpPr txBox="1"/>
          <p:nvPr/>
        </p:nvSpPr>
        <p:spPr>
          <a:xfrm>
            <a:off x="93525" y="3332650"/>
            <a:ext cx="8331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For a uniform distribution between 0 and 1, the expected value (average) is right in the middle — 0.5</a:t>
            </a:r>
            <a:endParaRPr sz="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Variance</a:t>
            </a:r>
            <a:endParaRPr/>
          </a:p>
        </p:txBody>
      </p:sp>
      <p:sp>
        <p:nvSpPr>
          <p:cNvPr id="161" name="Google Shape;161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Expectation tells us the </a:t>
            </a:r>
            <a:r>
              <a:rPr b="1" lang="en" sz="1100">
                <a:solidFill>
                  <a:schemeClr val="dk1"/>
                </a:solidFill>
              </a:rPr>
              <a:t>average</a:t>
            </a:r>
            <a:r>
              <a:rPr lang="en" sz="1100">
                <a:solidFill>
                  <a:schemeClr val="dk1"/>
                </a:solidFill>
              </a:rPr>
              <a:t> value.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Variance tells us </a:t>
            </a:r>
            <a:r>
              <a:rPr b="1" lang="en" sz="1100">
                <a:solidFill>
                  <a:schemeClr val="dk1"/>
                </a:solidFill>
              </a:rPr>
              <a:t>how far</a:t>
            </a:r>
            <a:r>
              <a:rPr lang="en" sz="1100">
                <a:solidFill>
                  <a:schemeClr val="dk1"/>
                </a:solidFill>
              </a:rPr>
              <a:t> the values of X are from that average.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aid&quot;:null,&quot;backgroundColorModified&quot;:false,&quot;backgroundColor&quot;:&quot;#FFFFFF&quot;,&quot;type&quot;:&quot;gather*&quot;,&quot;code&quot;:&quot;\\begin{gather*}\n{Var\\left(X\\right)=E\\left(\\left(X-E\\left[X\\right]\\right)^{2}\\right)\\,\\text{}}\\\\\n{\\text{Measures}\\;\\text{the}\\;\\text{average}\\;\\text{of}\\;\\text{the}\\;\\text{square}\\;\\text{of}\\;\\text{the}\\;\\text{deviations}\\;\\text{from}\\;\\text{the}\\;\\text{mean}}\\\\\n{Var\\left(X\\right)=E\\left(\\left(X-E\\left[X\\right]\\right)^{2}\\right)\\,}\\\\\n{=E\\left(X^{2}+E^{2}\\left[X\\right]-2E\\left[X\\right]E\\left[X\\right]\\right)}\\\\\n{=E\\left(X^{2}-E^{2}\\left[X\\right]\\right)}\\\\\n{=E\\left[X^{2}\\right]-E^{2}\\left[X\\right]\\,\\because E\\left(E^{2}\\left[X\\right]\\right)=E^{2}\\left[X\\right]}\t\n\\end{gather*}&quot;,&quot;id&quot;:&quot;5&quot;,&quot;font&quot;:{&quot;family&quot;:&quot;Arial&quot;,&quot;size&quot;:11,&quot;color&quot;:&quot;#000000&quot;},&quot;ts&quot;:1761703410353,&quot;cs&quot;:&quot;EO/+bsMp1So4Cy5NZOeyow==&quot;,&quot;size&quot;:{&quot;width&quot;:501.5,&quot;height&quot;:169}}" id="162" name="Google Shape;16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202425"/>
            <a:ext cx="4776788" cy="16097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code&quot;:&quot;\\begin{gather*}\n{\\text{Equivalent}\\;\\text{Definitions}\\,\\text{}}\\\\\n{\\text{Discrete}\\;\\text{RVs}}\\\\\n{Var\\left(X\\right)=\\sum_{x}^{}\\left(x-E\\left[x\\right]\\right)^{2}p\\left(x\\right)}\\\\\n{\\text{Continuous}\\;\\text{RVs}}\\\\\n{Var\\left(X\\right)=\\int_{-\\infty}^{\\infty}\\left(x-E\\left[X\\right]\\right)^{2}f\\left(x\\right)dx}\t\n\\end{gather*}&quot;,&quot;type&quot;:&quot;gather*&quot;,&quot;id&quot;:&quot;5&quot;,&quot;font&quot;:{&quot;family&quot;:&quot;Arial&quot;,&quot;size&quot;:11,&quot;color&quot;:&quot;#000000&quot;},&quot;backgroundColor&quot;:&quot;#FFFFFF&quot;,&quot;aid&quot;:null,&quot;ts&quot;:1761703830843,&quot;cs&quot;:&quot;h5AaIRZIDcHPCCX/dkQzMQ==&quot;,&quot;size&quot;:{&quot;width&quot;:264.20000000000005,&quot;height&quot;:152.60000000000002}}" id="163" name="Google Shape;16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0841" y="2133913"/>
            <a:ext cx="2516505" cy="14535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backgroundColorModified&quot;:false,&quot;type&quot;:&quot;gather*&quot;,&quot;code&quot;:&quot;\\begin{gather*}\n{\\text{Example}\\;\\text{1:}\\;\\text{Bernouli}\\,\\text{distribution}\\text{}\\text{}}\\\\\n{X=\\begin{cases}\n{1}&amp;{P=p}\\\\\n{0}&amp;{P=1-p}\\\\\n\\end{cases}}\\\\\n{E\\left(X\\right)=p\\,+\\left(1-p\\right)\\times0=p}\\\\\n{Var\\left(X\\right)=\\left(1-p\\right)^{2}p+\\left(-p\\right)^{2}\\left(1-p\\right)=p\\left(1-p\\right)}\t\n\\end{gather*}&quot;,&quot;font&quot;:{&quot;color&quot;:&quot;#000000&quot;,&quot;family&quot;:&quot;Arial&quot;,&quot;size&quot;:11},&quot;id&quot;:&quot;5&quot;,&quot;aid&quot;:null,&quot;ts&quot;:1761704651569,&quot;cs&quot;:&quot;XPNZ5W+sK+F1EmlHLQub1w==&quot;,&quot;size&quot;:{&quot;width&quot;:354,&quot;height&quot;:111.33333333333333}}" id="170" name="Google Shape;17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175" y="1282185"/>
            <a:ext cx="3371850" cy="1060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font&quot;:{&quot;size&quot;:11,&quot;family&quot;:&quot;Arial&quot;,&quot;color&quot;:&quot;#000000&quot;},&quot;backgroundColorModified&quot;:false,&quot;aid&quot;:null,&quot;type&quot;:&quot;gather*&quot;,&quot;id&quot;:&quot;5&quot;,&quot;code&quot;:&quot;\\begin{gather*}\n{\\text{Example}\\;\\text{2:}\\;\\text{Uniform}\\;\\text{Distribution}\\;\\text{(0,1)}\\text{}\\text{}}\\\\\n{}\\\\\n{E\\left(X\\right)=1/2}\\\\\n{E\\left(X^{2}\\right)=\\int_{0}^{1}x^{2}dx=1/3}\\\\\n{Var\\left(X\\right)=E\\left(X^{2}\\right)-E^{2}\\left(X\\right)=1/3-1/4=1/12}\t\n\\end{gather*}&quot;,&quot;ts&quot;:1761704809221,&quot;cs&quot;:&quot;bP72+GOL/eYqQQu+aUkjEw==&quot;,&quot;size&quot;:{&quot;width&quot;:364,&quot;height&quot;:136}}" id="171" name="Google Shape;17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843" y="2820360"/>
            <a:ext cx="3467100" cy="1295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code&quot;:&quot;\\begin{gather*}\n{\\text{Properties}\\;\\text{of}\\;\\text{Expectation}}\\\\\n{\\text{For}\\;\\text{any}\\;\\text{RVs}\\;\\text{X}\\;\\text{and}\\;\\text{Y,}}\\\\\n{E\\left(aX+bY\\right)=aE\\left(X\\right)+bE\\left(Y\\right)}\\\\\n{\\text{In}\\;\\text{general,}\\;\\text{}}\\\\\n{E\\left(XY\\right)\\neq E\\left(X\\right)E\\left(Y\\right)}\t\n\\end{gather*}&quot;,&quot;font&quot;:{&quot;color&quot;:&quot;#000000&quot;,&quot;size&quot;:12,&quot;family&quot;:&quot;Arial&quot;},&quot;backgroundColor&quot;:&quot;#FFFFFF&quot;,&quot;backgroundColorModified&quot;:false,&quot;type&quot;:&quot;gather*&quot;,&quot;id&quot;:&quot;7&quot;,&quot;ts&quot;:1761783684367,&quot;cs&quot;:&quot;D3+ewaJVkkn9yAYwfkunww==&quot;,&quot;size&quot;:{&quot;width&quot;:261.6000000000001,&quot;height&quot;:115.60000000000002}}" id="172" name="Google Shape;17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91438" y="1951150"/>
            <a:ext cx="2491740" cy="11010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Random Variables</a:t>
            </a:r>
            <a:endParaRPr/>
          </a:p>
        </p:txBody>
      </p:sp>
      <p:pic>
        <p:nvPicPr>
          <p:cNvPr descr="{&quot;backgroundColor&quot;:&quot;#FFFFFF&quot;,&quot;font&quot;:{&quot;family&quot;:&quot;Arial&quot;,&quot;size&quot;:14.5,&quot;color&quot;:&quot;#595959&quot;},&quot;aid&quot;:null,&quot;type&quot;:&quot;gather*&quot;,&quot;code&quot;:&quot;\\begin{gather*}\n{\\text{Discrete}\\;\\text{Random}\\;\\text{Variables}}\\\\\n{p\\left(X=x,Y=y\\right)=P\\left(X=x\\right)P\\left(Y=y\\right)}\\\\\n{\\text{Continuous}\\;\\text{Random}\\;\\text{Variables}}\\\\\n{f_{X,Y}\\left(x,y\\right)=f_{X}\\left(x\\right)f_{Y}\\left(y\\right)}\t\n\\end{gather*}&quot;,&quot;backgroundColorModified&quot;:false,&quot;id&quot;:&quot;6&quot;,&quot;ts&quot;:1761781954338,&quot;cs&quot;:&quot;nFLReLp82mF2CUZ9EC49EQ==&quot;,&quot;size&quot;:{&quot;width&quot;:397.39117532808405,&quot;height&quot;:112.87669396325458}}" id="178" name="Google Shape;17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775" y="1017725"/>
            <a:ext cx="3785151" cy="107515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0"/>
          <p:cNvSpPr txBox="1"/>
          <p:nvPr/>
        </p:nvSpPr>
        <p:spPr>
          <a:xfrm>
            <a:off x="311700" y="2237100"/>
            <a:ext cx="7575000" cy="24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Examples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b="1" lang="en" sz="1200">
                <a:solidFill>
                  <a:schemeClr val="dk1"/>
                </a:solidFill>
              </a:rPr>
              <a:t>Independent: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en" sz="1200">
                <a:solidFill>
                  <a:schemeClr val="dk1"/>
                </a:solidFill>
              </a:rPr>
              <a:t>Two fair dice: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 P(Dice1 = 3, Dice2 = 5) = P(Dice1 = 3)P(Dice2 = 5) = 1/36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en" sz="1200">
                <a:solidFill>
                  <a:schemeClr val="dk1"/>
                </a:solidFill>
              </a:rPr>
              <a:t>Rolling one die does not influence the outcome of the other.</a:t>
            </a:r>
            <a:br>
              <a:rPr b="1" lang="en" sz="1200">
                <a:solidFill>
                  <a:schemeClr val="dk1"/>
                </a:solidFill>
              </a:rPr>
            </a:b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b="1" lang="en" sz="1200">
                <a:solidFill>
                  <a:schemeClr val="dk1"/>
                </a:solidFill>
              </a:rPr>
              <a:t>Dependent: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lang="en" sz="1200">
                <a:solidFill>
                  <a:schemeClr val="dk1"/>
                </a:solidFill>
              </a:rPr>
              <a:t>X = number of heads in 2 tosses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Y=1 if first toss is a head, 0 otherwise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 → X and Y are dependent because knowing Y changes the likely values of X.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80" name="Google Shape;180;p30"/>
          <p:cNvSpPr txBox="1"/>
          <p:nvPr/>
        </p:nvSpPr>
        <p:spPr>
          <a:xfrm>
            <a:off x="5201525" y="1187250"/>
            <a:ext cx="2934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See Part 2 in dice_roll.py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Covariance</a:t>
            </a:r>
            <a:endParaRPr/>
          </a:p>
        </p:txBody>
      </p:sp>
      <p:sp>
        <p:nvSpPr>
          <p:cNvPr id="186" name="Google Shape;186;p31"/>
          <p:cNvSpPr txBox="1"/>
          <p:nvPr>
            <p:ph idx="1" type="body"/>
          </p:nvPr>
        </p:nvSpPr>
        <p:spPr>
          <a:xfrm>
            <a:off x="311700" y="1152475"/>
            <a:ext cx="8520600" cy="12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Covariance measures how two random variables vary </a:t>
            </a:r>
            <a:r>
              <a:rPr b="1" lang="en" sz="1100">
                <a:solidFill>
                  <a:schemeClr val="dk1"/>
                </a:solidFill>
              </a:rPr>
              <a:t>together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code&quot;:&quot;\\begin{gather*}\n{Cov\\left(X,Y\\right)=E\\left[\\left(X-E\\left(X\\right)\\right)\\left(Y-E\\left(Y\\right)\\right)\\right]}\\\\\n{=E\\left[XY-XE\\left(Y\\right)-YE\\left(X\\right)+E\\left(X\\right)E\\left(Y\\right)\\right]}\\\\\n{=E\\left[XY\\right]-E\\left[X\\right]E\\left[Y\\right]}\t\n\\end{gather*}&quot;,&quot;aid&quot;:null,&quot;font&quot;:{&quot;color&quot;:&quot;#000000&quot;,&quot;size&quot;:11,&quot;family&quot;:&quot;Arial&quot;},&quot;backgroundColorModified&quot;:false,&quot;backgroundColor&quot;:&quot;#FFFFFF&quot;,&quot;type&quot;:&quot;gather*&quot;,&quot;id&quot;:&quot;9&quot;,&quot;ts&quot;:1761784011837,&quot;cs&quot;:&quot;dDMiaD5lcplJREylGs79dA==&quot;,&quot;size&quot;:{&quot;width&quot;:332.75,&quot;height&quot;:62}}" id="187" name="Google Shape;18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725" y="1730100"/>
            <a:ext cx="3169444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1"/>
          <p:cNvSpPr txBox="1"/>
          <p:nvPr/>
        </p:nvSpPr>
        <p:spPr>
          <a:xfrm>
            <a:off x="391075" y="2626625"/>
            <a:ext cx="6775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&gt; 0: when X increases, Y tends to increase (eg., height and weight)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&lt; 0: when X increases, Y tends to decrease (eg., altitude and temperature)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= 0: no </a:t>
            </a:r>
            <a:r>
              <a:rPr i="1" lang="en" sz="1100">
                <a:solidFill>
                  <a:schemeClr val="dk1"/>
                </a:solidFill>
              </a:rPr>
              <a:t>linear</a:t>
            </a:r>
            <a:r>
              <a:rPr lang="en" sz="1100">
                <a:solidFill>
                  <a:schemeClr val="dk1"/>
                </a:solidFill>
              </a:rPr>
              <a:t> relationship (eg., # of code commits and developer productivity :-))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9" name="Google Shape;189;p31"/>
          <p:cNvSpPr txBox="1"/>
          <p:nvPr>
            <p:ph idx="1" type="body"/>
          </p:nvPr>
        </p:nvSpPr>
        <p:spPr>
          <a:xfrm>
            <a:off x="506625" y="3727850"/>
            <a:ext cx="8520600" cy="12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Independent RVs are uncorrelated, but reverse is not true! 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id&quot;:&quot;10&quot;,&quot;backgroundColorModified&quot;:false,&quot;type&quot;:&quot;gather*&quot;,&quot;font&quot;:{&quot;family&quot;:&quot;Arial&quot;,&quot;size&quot;:11,&quot;color&quot;:&quot;#000000&quot;},&quot;aid&quot;:null,&quot;code&quot;:&quot;\\begin{gather*}\n{X\\,\\sim\\,\\text{Uniform}\\;\\text{[-1,1]}}\\\\\n{Y=X^{2}}\\\\\n{HW:\\,\\text{Prove}\\;\\text{that}\\;\\text{X}\\;\\text{and}\\;\\text{Y}\\;\\text{are}\\;\\text{uncorrelated,}\\;\\text{but}\\;\\text{not}\\;\\text{independent}}\t\n\\end{gather*}&quot;,&quot;backgroundColor&quot;:&quot;#FFFFFF&quot;,&quot;ts&quot;:1761784932959,&quot;cs&quot;:&quot;BFWK7FI/Dv0qUpoxgtB4+A==&quot;,&quot;size&quot;:{&quot;width&quot;:485,&quot;height&quot;:63.333333333333336}}" id="190" name="Google Shape;190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250" y="4272075"/>
            <a:ext cx="4619625" cy="60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	</a:t>
            </a:r>
            <a:endParaRPr/>
          </a:p>
        </p:txBody>
      </p:sp>
      <p:pic>
        <p:nvPicPr>
          <p:cNvPr descr="{&quot;code&quot;:&quot;\\begin{gather*}\n{Var\\left(X+Y\\right)=Var\\left(X\\right)+Var\\left(Y\\right)+2Cov\\left(X,Y\\right)}\\\\\n{\\text{For}\\;\\text{independent}\\;\\text{X,Y}}\\\\\n{Var\\left(X+Y\\right)=Var\\left(X\\right)+Var\\left(Y\\right)}\\\\\n{}\\\\\n{\\text{When}\\;\\text{X}\\;\\text{and}\\;\\text{Y}\\;\\text{are}\\;\\text{positive}\\;\\text{corelated},\\,}\\\\\n{\\text{total}\\;\\text{variability}\\;\\text{is}\\;\\text{amplified}}\\\\\n{Var\\left(X+Y\\right)&gt;Var\\left(X\\right)+Var\\left(Y\\right)}\\\\\n{}\\\\\n{\\text{When}\\;\\text{X}\\;\\text{and}\\;\\text{Y}\\;\\text{are}\\;\\text{negatively}\\;\\text{corelated},\\,}\\\\\n{\\text{total}\\;\\text{variability}\\;\\text{is}\\;\\text{reduced}}\\\\\n{Var\\left(X+Y\\right)&lt;Var\\left(X\\right)+Var\\left(Y\\right)}\\\\\n{}\t\n\\end{gather*}&quot;,&quot;type&quot;:&quot;gather*&quot;,&quot;font&quot;:{&quot;size&quot;:15.5,&quot;family&quot;:&quot;Arial&quot;,&quot;color&quot;:&quot;#595959&quot;},&quot;aid&quot;:null,&quot;backgroundColor&quot;:&quot;#FFFFFF&quot;,&quot;backgroundColorModified&quot;:false,&quot;id&quot;:&quot;11&quot;,&quot;ts&quot;:1761785432175,&quot;cs&quot;:&quot;F/RLfczK1KZ385CKC5laEA==&quot;,&quot;size&quot;:{&quot;width&quot;:519.5,&quot;height&quot;:339.5}}" id="196" name="Google Shape;19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408" y="1083975"/>
            <a:ext cx="4948238" cy="3233738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2"/>
          <p:cNvSpPr txBox="1"/>
          <p:nvPr/>
        </p:nvSpPr>
        <p:spPr>
          <a:xfrm>
            <a:off x="51435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Part 2 in dice_roll.py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Variance: Matrix Product	</a:t>
            </a:r>
            <a:endParaRPr/>
          </a:p>
        </p:txBody>
      </p:sp>
      <p:sp>
        <p:nvSpPr>
          <p:cNvPr id="203" name="Google Shape;203;p33"/>
          <p:cNvSpPr txBox="1"/>
          <p:nvPr/>
        </p:nvSpPr>
        <p:spPr>
          <a:xfrm>
            <a:off x="51435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Part 2 in dice_roll.py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gather*}\n{Var\\left(y_{i}\\right)=Var\\left(\\sum_{j=1}^{m}A_{ij}x_{j}\\right)}\\\\\n{=\\sum_{j=1}^{m}Var\\left(A_{ij}x_{j}\\right)\\,\\because A_{ij}x_{j}\\,\\text{are}\\;\\text{independent}\\;\\text{}}\\\\\n{=\\,\\sum_{j=1}^{m}E\\left[A_{ij}^{2}x_{j}^{2}\\right]-E\\left[A_{ij}^{}x_{j}^{}\\right]^{2}}\\\\\n{=\\sum_{j=1}^{m}\\left(E\\left[A_{ij}^{2}x_{j}^{2}\\right]-E\\left[A_{ij}\\right]^{2}E\\left[x_{j}\\right]^{2}\\,\\right)\\because A_{ij\\,}\\text{and}\\,x_{j}\\,\\text{are}\\;\\text{independent}}\\\\\n{=\\sum_{j=1}^{m}E\\left[A_{ij}^{2}x_{j}^{2}\\right]\\,\\because E\\left[A_{ij}\\right],\\,E\\left[x_{j}\\right]=0}\\\\\n{=\\sum_{j=1}^{m}E\\left[A_{ij}^{2}x_{j}^{2}\\right]=\\sum_{j=1}^{m}E\\left[A_{ij}^{2}\\right]E\\left[x_{j}^{2}\\right]=\\sum_{j=1}^{m}\\left(E\\left[A_{ij}^{2}\\right]-E\\left[A_{ij}\\right]^{2}\\right)\\left(E\\left[x_{j}^{2}\\right]-E\\left[x_{j}\\right]^{2}\\right)}\\\\\n{\\because \\text{if}\\;A_{ij}\\,\\text{and}\\;x_{j}\\,\\text{are}\\;\\text{independent},\\,\\text{so}\\;\\text{are}\\;A_{ij}^{2}\\,\\text{and}\\;x_{j}^{2}\\,}\\\\\n{=\\sum_{j=1}^{m}Var\\left(A_{ij}\\right)Var\\left(x_{j}\\right)=m}\t\n\\end{gather*}&quot;,&quot;id&quot;:&quot;16&quot;,&quot;backgroundColor&quot;:&quot;#FFFFFF&quot;,&quot;type&quot;:&quot;gather*&quot;,&quot;backgroundColorModified&quot;:false,&quot;aid&quot;:null,&quot;font&quot;:{&quot;size&quot;:12,&quot;family&quot;:&quot;Arial&quot;,&quot;color&quot;:&quot;#000000&quot;},&quot;ts&quot;:1762910966535,&quot;cs&quot;:&quot;AcjQYZaIDn2a5XmAHgcE2Q==&quot;,&quot;size&quot;:{&quot;width&quot;:659,&quot;height&quot;:445.5}}" id="204" name="Google Shape;20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4175" y="1017731"/>
            <a:ext cx="6276975" cy="42433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type&quot;:&quot;gather*&quot;,&quot;font&quot;:{&quot;family&quot;:&quot;Arial&quot;,&quot;color&quot;:&quot;#000000&quot;,&quot;size&quot;:12},&quot;aid&quot;:null,&quot;code&quot;:&quot;\\begin{gather*}\n{\\text{Suppose}\\;\\text{y}\\;\\text{and}\\;\\text{x}\\;\\text{are}\\;n\\times1\\,\\text{and}\\;m\\times1\\,\\text{vectors}}\\\\\n{y=Ax,\\,A:n\\times m}\\\\\n{\\text{Elements}\\;\\text{of}\\;\\text{A}\\;\\text{and}\\;x\\,\\text{are}\\;iid,N\\left(0,1\\right)}\\\\\n{y_{i}=\\sum_{j=1}^{m}A_{ij}x_{j}}\\\\\n{E\\left(y_{i}\\right)=E\\left(\\sum_{j=1}^{m}A_{ij}x_{j}\\right)}\\\\\n{=\\sum_{j=1}^{m}E\\left(A_{ij}x_{j}\\right)\\,}\\\\\n{\\because E\\left(aX+bY\\right)=aE\\left(X\\right)+bE\\left(Y\\right)}\\\\\n{=\\sum_{j=1}^{m}E\\left(A_{ij}\\right)E\\left(x_{j}\\right)=0\\,\\because A_{ij}\\,\\text{and}\\;x_{j}\\,\\text{are}\\;\\text{independent}}\t\n\\end{gather*}&quot;,&quot;backgroundColorModified&quot;:false,&quot;id&quot;:&quot;16&quot;,&quot;ts&quot;:1762911009598,&quot;cs&quot;:&quot;AQi+rFCMKDIP1nGc6IwK/Q==&quot;,&quot;size&quot;:{&quot;width&quot;:432,&quot;height&quot;:333}}" id="205" name="Google Shape;205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263849"/>
            <a:ext cx="4114800" cy="317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Variance: Matrix Product	</a:t>
            </a:r>
            <a:endParaRPr/>
          </a:p>
        </p:txBody>
      </p:sp>
      <p:sp>
        <p:nvSpPr>
          <p:cNvPr id="211" name="Google Shape;211;p34"/>
          <p:cNvSpPr txBox="1"/>
          <p:nvPr/>
        </p:nvSpPr>
        <p:spPr>
          <a:xfrm>
            <a:off x="457200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variance_analysis_part2.py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gather*}\n{Var\\left(y_{i}\\right)=Var\\left(\\sum_{j=1}^{m}A_{ij}x_{j}\\right)}\\\\\n{=\\sum_{j=1}^{m}Var\\left(A_{ij}x_{j}\\right)\\,\\because A_{ij}x_{j}\\,\\text{are}\\;\\text{independent}\\;\\text{}}\\\\\n{=\\,\\sum_{j=1}^{m}E\\left[A_{ij}^{2}x_{j}^{2}\\right]-E\\left[A_{ij}^{}x_{j}^{}\\right]^{2}}\\\\\n{=\\sum_{j=1}^{m}\\left(E\\left[A_{ij}^{2}x_{j}^{2}\\right]-E\\left[A_{ij}\\right]^{2}E\\left[x_{j}\\right]^{2}\\,\\right)\\because A_{ij\\,}\\text{and}\\,x_{j}\\,\\text{are}\\;\\text{independent}}\\\\\n{=\\sum_{j=1}^{m}E\\left[A_{ij}^{2}x_{j}^{2}\\right]\\,\\because E\\left[A_{ij}\\right],\\,E\\left[x_{j}\\right]=0}\\\\\n{=\\sum_{j=1}^{m}E\\left[A_{ij}^{2}x_{j}^{2}\\right]=\\sum_{j=1}^{m}E\\left[A_{ij}^{2}\\right]E\\left[x_{j}^{2}\\right]=\\sum_{j=1}^{m}\\left(E\\left[A_{ij}^{2}\\right]-E\\left[A_{ij}\\right]^{2}\\right)\\left(E\\left[x_{j}^{2}\\right]-E\\left[x_{j}\\right]^{2}\\right)}\\\\\n{\\because \\text{if}\\;A_{ij}\\,\\text{and}\\;x_{j}\\,\\text{are}\\;\\text{independent},\\,\\text{so}\\;\\text{are}\\;A_{ij}^{2}\\,\\text{and}\\;x_{j}^{2}\\,}\\\\\n{=\\sum_{j=1}^{m}Var\\left(A_{ij}\\right)Var\\left(x_{j}\\right)=m}\t\n\\end{gather*}&quot;,&quot;id&quot;:&quot;16&quot;,&quot;backgroundColor&quot;:&quot;#FFFFFF&quot;,&quot;type&quot;:&quot;gather*&quot;,&quot;backgroundColorModified&quot;:false,&quot;aid&quot;:null,&quot;font&quot;:{&quot;size&quot;:12,&quot;family&quot;:&quot;Arial&quot;,&quot;color&quot;:&quot;#000000&quot;},&quot;ts&quot;:1762910966535,&quot;cs&quot;:&quot;AcjQYZaIDn2a5XmAHgcE2Q==&quot;,&quot;size&quot;:{&quot;width&quot;:659,&quot;height&quot;:445.5}}" id="212" name="Google Shape;212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350" y="1017725"/>
            <a:ext cx="5960777" cy="402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 and Conditional Probabilities	</a:t>
            </a:r>
            <a:endParaRPr/>
          </a:p>
        </p:txBody>
      </p:sp>
      <p:sp>
        <p:nvSpPr>
          <p:cNvPr id="218" name="Google Shape;218;p35"/>
          <p:cNvSpPr txBox="1"/>
          <p:nvPr>
            <p:ph idx="1" type="body"/>
          </p:nvPr>
        </p:nvSpPr>
        <p:spPr>
          <a:xfrm>
            <a:off x="311700" y="1152475"/>
            <a:ext cx="8520600" cy="376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Machine learning models rarely deal with a single variable.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Instead, we work with </a:t>
            </a:r>
            <a:r>
              <a:rPr i="1" lang="en" sz="1100">
                <a:solidFill>
                  <a:schemeClr val="dk1"/>
                </a:solidFill>
              </a:rPr>
              <a:t>joint behavior</a:t>
            </a:r>
            <a:r>
              <a:rPr lang="en" sz="1100">
                <a:solidFill>
                  <a:schemeClr val="dk1"/>
                </a:solidFill>
              </a:rPr>
              <a:t> of many variables — inputs, outputs, and hidden states.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For instance, in spam detection: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X = features of an email (words, sender domain, attachments)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Y = label (spam or not)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We want P(Y∣X): the probability the email is spam </a:t>
            </a:r>
            <a:r>
              <a:rPr b="1" lang="en" sz="1100">
                <a:solidFill>
                  <a:schemeClr val="dk1"/>
                </a:solidFill>
              </a:rPr>
              <a:t>given</a:t>
            </a:r>
            <a:r>
              <a:rPr lang="en" sz="1100">
                <a:solidFill>
                  <a:schemeClr val="dk1"/>
                </a:solidFill>
              </a:rPr>
              <a:t> its features.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To compute that, we must understand </a:t>
            </a:r>
            <a:r>
              <a:rPr b="1" lang="en" sz="1100">
                <a:solidFill>
                  <a:schemeClr val="dk1"/>
                </a:solidFill>
              </a:rPr>
              <a:t>joint</a:t>
            </a:r>
            <a:r>
              <a:rPr lang="en" sz="1100">
                <a:solidFill>
                  <a:schemeClr val="dk1"/>
                </a:solidFill>
              </a:rPr>
              <a:t> and </a:t>
            </a:r>
            <a:r>
              <a:rPr b="1" lang="en" sz="1100">
                <a:solidFill>
                  <a:schemeClr val="dk1"/>
                </a:solidFill>
              </a:rPr>
              <a:t>conditional</a:t>
            </a:r>
            <a:r>
              <a:rPr lang="en" sz="1100">
                <a:solidFill>
                  <a:schemeClr val="dk1"/>
                </a:solidFill>
              </a:rPr>
              <a:t> probability.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Joint Probability: </a:t>
            </a:r>
            <a:r>
              <a:rPr lang="en" sz="1100">
                <a:solidFill>
                  <a:schemeClr val="dk1"/>
                </a:solidFill>
              </a:rPr>
              <a:t>Probability that both events occur p(A,B) = p(A and B both occur)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Conditional Probability:</a:t>
            </a:r>
            <a:r>
              <a:rPr lang="en" sz="1100">
                <a:solidFill>
                  <a:schemeClr val="dk1"/>
                </a:solidFill>
              </a:rPr>
              <a:t> p(A|B) = p(A, given that B has occurred)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Eg., Let A:  “email contains the word </a:t>
            </a:r>
            <a:r>
              <a:rPr i="1" lang="en" sz="1100">
                <a:solidFill>
                  <a:schemeClr val="dk1"/>
                </a:solidFill>
              </a:rPr>
              <a:t>lottery</a:t>
            </a:r>
            <a:r>
              <a:rPr lang="en" sz="1100">
                <a:solidFill>
                  <a:schemeClr val="dk1"/>
                </a:solidFill>
              </a:rPr>
              <a:t>”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and B: “email is spam.”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If P(A,B)=0.06 and P(B)=0.1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then P(A∣B)=0.06/0.1=0.6.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 and Conditional Probabilities	</a:t>
            </a:r>
            <a:endParaRPr/>
          </a:p>
        </p:txBody>
      </p:sp>
      <p:sp>
        <p:nvSpPr>
          <p:cNvPr id="224" name="Google Shape;224;p36"/>
          <p:cNvSpPr txBox="1"/>
          <p:nvPr>
            <p:ph idx="1" type="body"/>
          </p:nvPr>
        </p:nvSpPr>
        <p:spPr>
          <a:xfrm>
            <a:off x="311700" y="1152475"/>
            <a:ext cx="8520600" cy="376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If A and B are independent, p(A|B)=p(A). Intuition: B doesn’t provide any information about 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Bayes Theorem</a:t>
            </a:r>
            <a:r>
              <a:rPr lang="en" sz="1100">
                <a:solidFill>
                  <a:schemeClr val="dk1"/>
                </a:solidFill>
              </a:rPr>
              <a:t>: p(A|B) = p(B|A)p(A)/p(B)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Example: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p(T+) = p(T+|D+)p(D+) + p(T+|D-)p(D-) = 0.99*0.01 + 0.05*(1-0.01) = 0.059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What is the probability that I’m diseased, if the test is positive?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p(D+|T+) = p(T+|D+) p(D+) / p(T+) = 0.99 * 0.01/0.059 = 0.167!</a:t>
            </a:r>
            <a:endParaRPr sz="1100">
              <a:solidFill>
                <a:schemeClr val="dk1"/>
              </a:solidFill>
            </a:endParaRPr>
          </a:p>
        </p:txBody>
      </p:sp>
      <p:graphicFrame>
        <p:nvGraphicFramePr>
          <p:cNvPr id="225" name="Google Shape;225;p36"/>
          <p:cNvGraphicFramePr/>
          <p:nvPr/>
        </p:nvGraphicFramePr>
        <p:xfrm>
          <a:off x="1829925" y="1964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{61CF3918-6FE5-4AB0-8454-EE18CFEB7B50}</a:tableStyleId>
              </a:tblPr>
              <a:tblGrid>
                <a:gridCol w="2655050"/>
                <a:gridCol w="2170950"/>
              </a:tblGrid>
              <a:tr h="44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Event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Probability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Disease (D+)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0.01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Positive Test (T+ if diseased)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0.99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Positive Test (T+ if healthy)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0.05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Comparing two probability distributions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311700" y="2662800"/>
            <a:ext cx="8520600" cy="8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Say we have two dice. One is a balanced dice (X), so the probability of rolling numbers 1-6 is ⅙. The second (Y) is unbalanced, with the following distribution  </a:t>
            </a:r>
            <a:endParaRPr/>
          </a:p>
        </p:txBody>
      </p:sp>
      <p:pic>
        <p:nvPicPr>
          <p:cNvPr descr="{&quot;font&quot;:{&quot;family&quot;:&quot;Arial&quot;,&quot;color&quot;:&quot;#595959&quot;,&quot;size&quot;:15},&quot;code&quot;:&quot;\\begin{lalign*}\n&amp;{\\text{Say}\\;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x_{i}\\,\\left(P\\left(X=X_{i}\\right)\\right)}\\\\\n&amp;{\\text{Similarly}\\;\\text{for}\\;\\text{Y.}\\;\\text{X}\\;\\text{is}\\;\\text{the}\\;\\text{target,}\\;\\text{Y}\\;\\text{is}\\;\\text{the}\\;\\text{modeled}\\;\\text{distribution}}\\\\\n&amp;{KL\\left(X\\left|\\right|Y\\right)=\\sum_{i=1}^{n}x_{i}\\log_{}\\left(\\frac{x_{i}}{y_{i}}\\right)}\t\n\\end{lalign*}&quot;,&quot;backgroundColorModified&quot;:false,&quot;backgroundColor&quot;:&quot;#FFFFFF&quot;,&quot;type&quot;:&quot;lalign*&quot;,&quot;aid&quot;:null,&quot;id&quot;:&quot;9&quot;,&quot;ts&quot;:1758249055956,&quot;cs&quot;:&quot;Iz7jwVVwTXRWIVxOHqVu5w==&quot;,&quot;size&quot;:{&quot;width&quot;:728,&quot;height&quot;:154}}" id="232" name="Google Shape;23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293" y="1085809"/>
            <a:ext cx="6934200" cy="1466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\\begin{lalign*}\n&amp;{p\\left(Y\\right)=\\left[\\frac{1}{8},\\,\\frac{1}{8},\\,\\frac{3}{16},\\,\\frac{3}{16},\\frac{3}{16},\\frac{3}{16}\\right]}\\\\\n&amp;{KL\\left(Y\\left|\\right|X\\right)=\\,\\frac{1}{8}\\log_{}\\left(\\frac{1}{8}\\times6\\right)+\\frac{1}{8}\\log_{}\\left(\\frac{1}{8}\\times6\\right)+\\frac{3}{16}\\log_{}\\left(\\frac{3}{16}\\times6\\right)+\\frac{3}{16}\\log_{}\\left(\\frac{3}{16}\\times6\\right)+\\frac{3}{16}\\log_{}\\left(\\frac{3}{16}\\times6\\right)}\t\n\\end{lalign*}&quot;,&quot;type&quot;:&quot;lalign*&quot;,&quot;id&quot;:&quot;10&quot;,&quot;backgroundColor&quot;:&quot;#FFFFFF&quot;,&quot;aid&quot;:null,&quot;font&quot;:{&quot;size&quot;:11,&quot;color&quot;:&quot;#595959&quot;,&quot;family&quot;:&quot;Arial&quot;},&quot;backgroundColorModified&quot;:false,&quot;ts&quot;:1758244482348,&quot;cs&quot;:&quot;McZ2+0trXKnxBmLjjGsNxA==&quot;,&quot;size&quot;:{&quot;width&quot;:809.5,&quot;height&quot;:88}}" id="233" name="Google Shape;23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025" y="3579946"/>
            <a:ext cx="7710488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7"/>
          <p:cNvSpPr txBox="1"/>
          <p:nvPr>
            <p:ph idx="1" type="body"/>
          </p:nvPr>
        </p:nvSpPr>
        <p:spPr>
          <a:xfrm>
            <a:off x="417300" y="4401850"/>
            <a:ext cx="8520600" cy="8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=0.016.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Note: KL(X||Y) =  0.017! KL(X||Y) doesn’t equal KL(Y||X)! I.e., KL distance isn’t symmetric!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Comparing two probability distributions: KL vs MSE</a:t>
            </a:r>
            <a:endParaRPr/>
          </a:p>
        </p:txBody>
      </p:sp>
      <p:sp>
        <p:nvSpPr>
          <p:cNvPr id="240" name="Google Shape;240;p38"/>
          <p:cNvSpPr txBox="1"/>
          <p:nvPr>
            <p:ph idx="1" type="body"/>
          </p:nvPr>
        </p:nvSpPr>
        <p:spPr>
          <a:xfrm>
            <a:off x="417300" y="1066950"/>
            <a:ext cx="42603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just use Mean Square Error?  </a:t>
            </a:r>
            <a:endParaRPr/>
          </a:p>
        </p:txBody>
      </p:sp>
      <p:pic>
        <p:nvPicPr>
          <p:cNvPr descr="{&quot;backgroundColor&quot;:&quot;#FFFFFF&quot;,&quot;aid&quot;:null,&quot;font&quot;:{&quot;size&quot;:12.5,&quot;color&quot;:&quot;#595959&quot;,&quot;family&quot;:&quot;Arial&quot;},&quot;id&quot;:&quot;9&quot;,&quot;type&quot;:&quot;lalign*&quot;,&quot;code&quot;:&quot;\\begin{lalign*}\n&amp;{\\text{True}\\;\\text{distribution}\\;X}\\\\\n&amp;{\\text{Modeled}\\;\\text{distribution}\\;Y}\\\\\n&amp;{d\\left(X,Y\\right)=\\frac{1}{n}\\sum_{i=1}^{n}\\left(x_{i}-y_{i}\\right)^{2}}\t\n\\end{lalign*}&quot;,&quot;backgroundColorModified&quot;:false,&quot;ts&quot;:1758249120181,&quot;cs&quot;:&quot;cGPcuPgKAlrDBs5fTmq0GA==&quot;,&quot;size&quot;:{&quot;width&quot;:229.20000000000002,&quot;height&quot;:101.80000000000001}}" id="241" name="Google Shape;24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401" y="1671926"/>
            <a:ext cx="2183130" cy="9696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size&quot;:11,&quot;family&quot;:&quot;Arial&quot;,&quot;color&quot;:&quot;#595959&quot;},&quot;backgroundColor&quot;:&quot;#FFFFFF&quot;,&quot;type&quot;:&quot;lalign*&quot;,&quot;aid&quot;:null,&quot;id&quot;:&quot;10&quot;,&quot;backgroundColorModified&quot;:false,&quot;code&quot;:&quot;\\begin{lalign*}\n&amp;{\\text{Let's}\\;\\text{consider}\\;\\text{two}\\;\\text{coins}\\;\\text{X}\\;\\text{and}\\;\\text{Y}}\\\\\n&amp;{\\text{Coin}\\;\\text{X}\\;\\text{is}\\;\\text{unbiased,}\\;\\text{s}\\text{o}\\;p\\left(X=H\\right)=1-p\\left(X=T\\right)=0.5}\\\\\n&amp;{\\text{Coin}\\;\\text{Y}\\;\\text{is}\\;\\text{biased}.\\,\\text{We'll}\\;\\text{vary}\\;p\\left(Y=H\\right)\\,\\text{from}\\;\\text{0-1}\\;\\text{and}\\;\\text{calculate}}\\\\\n&amp;{KL\\left(X\\left|\\right|Y\\right)\\,\\text{and}\\;\\text{d(p,q)}}\\\\\n&amp;{}\t\n\\end{lalign*}&quot;,&quot;ts&quot;:1758245678142,&quot;cs&quot;:&quot;RMKfDPtwsbFutEL+3nVV8A==&quot;,&quot;size&quot;:{&quot;width&quot;:458.6666666666667,&quot;height&quot;:83.6666666666667}}" id="242" name="Google Shape;242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175" y="2745350"/>
            <a:ext cx="4856300" cy="8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8"/>
          <p:cNvSpPr txBox="1"/>
          <p:nvPr>
            <p:ph idx="1" type="body"/>
          </p:nvPr>
        </p:nvSpPr>
        <p:spPr>
          <a:xfrm>
            <a:off x="417300" y="3805700"/>
            <a:ext cx="8057100" cy="11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23"/>
              <a:t>Notice that KL distance penalizes large deviations between p(X) and p(Y) much more severely!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3023"/>
              <a:t>Also, when p(Y) assigns a 0 probability to an outcome that p(X) assigns a non-zero probability, KL distance blows up, while MSE doesn’t 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44" name="Google Shape;244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10176" y="1170125"/>
            <a:ext cx="3281424" cy="24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Comparing two probability distributions: KL vs MSE</a:t>
            </a:r>
            <a:endParaRPr/>
          </a:p>
        </p:txBody>
      </p:sp>
      <p:sp>
        <p:nvSpPr>
          <p:cNvPr id="250" name="Google Shape;250;p39"/>
          <p:cNvSpPr txBox="1"/>
          <p:nvPr>
            <p:ph idx="1" type="body"/>
          </p:nvPr>
        </p:nvSpPr>
        <p:spPr>
          <a:xfrm>
            <a:off x="417300" y="1066950"/>
            <a:ext cx="4893000" cy="86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use Mean Square Error?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Let’s consider the gradient wrt Y   </a:t>
            </a:r>
            <a:endParaRPr/>
          </a:p>
        </p:txBody>
      </p:sp>
      <p:pic>
        <p:nvPicPr>
          <p:cNvPr descr="{&quot;backgroundColor&quot;:&quot;#FFFFFF&quot;,&quot;backgroundColorModified&quot;:false,&quot;font&quot;:{&quot;family&quot;:&quot;Arial&quot;,&quot;size&quot;:12.5,&quot;color&quot;:&quot;#595959&quot;},&quot;code&quot;:&quot;\\begin{lalign*}\n&amp;{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\\text{p(X)}}\\\\\n&amp;{\\text{Similarly}\\;\\text{for}\\;\\text{Y.}\\;\\text{X}\\;\\text{is}\\;\\text{the}\\;\\text{target,}\\;\\text{Y}\\;\\text{is}\\;\\text{the}\\;\\text{modeled}\\;\\text{distribution}}\\\\\n&amp;{d\\left(X,Y\\right)=\\frac{1}{n}\\sum_{i=1}^{n}\\left(p\\left(X_{i}\\right)-p\\left(Y_{i}\\right)\\right)^{2}}\\\\\n&amp;{\\frac{\\partial d\\left(X,Y\\right)}{\\partial Y}=\\frac{2}{n}\\left(p\\left(X_{i}\\right)-p\\left(Y_{i}\\right)\\right)\\,:\\,n\\times1\\,\\text{vector}\\;\\text{}}\\\\\n&amp;{KL\\left(X\\left|\\right|Y\\right)=\\sum_{i=1}^{n}p\\left(X_{i}\\right)\\log_{} \\left(\\frac{p\\left(X_{i}\\right)}{p\\left(Y_{i}\\right)}\\right)}\\\\\n&amp;{\\frac{\\partial KL\\left(X\\left|\\right|Y\\right)}{\\partial Y}=\\frac{-p\\left(X_{i}\\right)}{p\\left(Y_{i}\\right)}\\,:\\,\\,n\\times1\\,\\text{vector}\\;\\text{}}\\\\\n&amp;{}\t\n\\end{lalign*}&quot;,&quot;id&quot;:&quot;9&quot;,&quot;type&quot;:&quot;lalign*&quot;,&quot;aid&quot;:null,&quot;ts&quot;:1762895993446,&quot;cs&quot;:&quot;zyD4qasVLVxqewFlgyX4vQ==&quot;,&quot;size&quot;:{&quot;width&quot;:533.5,&quot;height&quot;:293.50000000000006}}" id="251" name="Google Shape;25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085" y="1978387"/>
            <a:ext cx="5081588" cy="2795588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5067250" y="3062800"/>
            <a:ext cx="3517200" cy="178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1716"/>
              <a:t>The gradient of the KL distance is much larger when p(X) and p(Y) differ a lot. This results in faster convergence. More on this later..</a:t>
            </a:r>
            <a:endParaRPr sz="1716"/>
          </a:p>
          <a:p>
            <a:pPr indent="0" lvl="0" marL="0" rtl="0" algn="l">
              <a:lnSpc>
                <a:spcPct val="8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86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1023150"/>
            <a:ext cx="8520600" cy="10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For classification problems, we need to compare two probability distributions--the network output and ground truth distribution. This is done using </a:t>
            </a:r>
            <a:r>
              <a:rPr b="1" lang="en" sz="1600"/>
              <a:t>cross entropy loss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First we need to convert network output into probabilities. This is done using a Softmax function. Say we have input x into a network characterized by </a:t>
            </a:r>
            <a:r>
              <a:rPr lang="en" sz="1600"/>
              <a:t>parameters</a:t>
            </a:r>
            <a:r>
              <a:rPr lang="en" sz="1600"/>
              <a:t> theta. The output can be one of K classes</a:t>
            </a:r>
            <a:endParaRPr sz="1600"/>
          </a:p>
        </p:txBody>
      </p:sp>
      <p:sp>
        <p:nvSpPr>
          <p:cNvPr id="259" name="Google Shape;259;p40"/>
          <p:cNvSpPr/>
          <p:nvPr/>
        </p:nvSpPr>
        <p:spPr>
          <a:xfrm>
            <a:off x="1641875" y="2613691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260" name="Google Shape;26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738" y="2758666"/>
            <a:ext cx="474663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id&quot;:&quot;3&quot;,&quot;font&quot;:{&quot;family&quot;:&quot;Arial&quot;,&quot;color&quot;:&quot;#000000&quot;,&quot;size&quot;:14},&quot;code&quot;:&quot;$$x$$&quot;,&quot;type&quot;:&quot;$$&quot;,&quot;backgroundColor&quot;:&quot;#EEEEEE&quot;,&quot;ts&quot;:1755217224382,&quot;cs&quot;:&quot;gDw5HS7k9p4iDn5NEy3pFA==&quot;,&quot;size&quot;:{&quot;width&quot;:10.666666666666666,&quot;height&quot;:10}}" id="261" name="Google Shape;261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8759" y="2815816"/>
            <a:ext cx="101600" cy="95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2" name="Google Shape;262;p40"/>
          <p:cNvCxnSpPr>
            <a:endCxn id="259" idx="1"/>
          </p:cNvCxnSpPr>
          <p:nvPr/>
        </p:nvCxnSpPr>
        <p:spPr>
          <a:xfrm>
            <a:off x="1352975" y="2863441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3" name="Google Shape;263;p40"/>
          <p:cNvCxnSpPr>
            <a:stCxn id="259" idx="3"/>
            <a:endCxn id="264" idx="1"/>
          </p:cNvCxnSpPr>
          <p:nvPr/>
        </p:nvCxnSpPr>
        <p:spPr>
          <a:xfrm>
            <a:off x="2298275" y="2863441"/>
            <a:ext cx="1353600" cy="1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265" name="Google Shape;265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91515" y="3163181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0"/>
          <p:cNvSpPr/>
          <p:nvPr/>
        </p:nvSpPr>
        <p:spPr>
          <a:xfrm>
            <a:off x="3651825" y="2539045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sp>
        <p:nvSpPr>
          <p:cNvPr id="266" name="Google Shape;266;p40"/>
          <p:cNvSpPr txBox="1"/>
          <p:nvPr/>
        </p:nvSpPr>
        <p:spPr>
          <a:xfrm>
            <a:off x="2298277" y="2402737"/>
            <a:ext cx="999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l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(logits)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font&quot;:{&quot;size&quot;:11,&quot;family&quot;:&quot;Arial&quot;,&quot;color&quot;:&quot;#000000&quot;},&quot;aid&quot;:null,&quot;type&quot;:&quot;$$&quot;,&quot;backgroundColorModified&quot;:false,&quot;backgroundColor&quot;:&quot;#FFFFFF&quot;,&quot;code&quot;:&quot;$$\\text{Softmax(}l_{i}\\text{)}\\;\\text{=}\\frac{\\exp\\left(l_{i}\\right)}{\\sum_{i=1}^{K}\\exp\\left(l_{i}\\right)}$$&quot;,&quot;id&quot;:&quot;4&quot;,&quot;ts&quot;:1755220878455,&quot;cs&quot;:&quot;B0RFm1hFxmYfElkksY7NNw==&quot;,&quot;size&quot;:{&quot;width&quot;:204.66666666666666,&quot;height&quot;:46}}" id="267" name="Google Shape;267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76320" y="3426365"/>
            <a:ext cx="1949450" cy="438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8" name="Google Shape;268;p40"/>
          <p:cNvCxnSpPr>
            <a:stCxn id="264" idx="3"/>
            <a:endCxn id="269" idx="1"/>
          </p:cNvCxnSpPr>
          <p:nvPr/>
        </p:nvCxnSpPr>
        <p:spPr>
          <a:xfrm>
            <a:off x="4572225" y="2881345"/>
            <a:ext cx="1092900" cy="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270" name="Google Shape;270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47180" y="4184624"/>
            <a:ext cx="2508885" cy="44958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40"/>
          <p:cNvSpPr txBox="1"/>
          <p:nvPr>
            <p:ph idx="1" type="body"/>
          </p:nvPr>
        </p:nvSpPr>
        <p:spPr>
          <a:xfrm>
            <a:off x="1240350" y="4619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Usually </a:t>
            </a:r>
            <a:r>
              <a:rPr i="1" lang="en" sz="1400"/>
              <a:t>p</a:t>
            </a:r>
            <a:r>
              <a:rPr lang="en" sz="1400"/>
              <a:t> is a one-hot vector. It is 1 for the input’s true class, and 0 everywhere else.</a:t>
            </a:r>
            <a:endParaRPr sz="1400"/>
          </a:p>
        </p:txBody>
      </p:sp>
      <p:sp>
        <p:nvSpPr>
          <p:cNvPr id="272" name="Google Shape;272;p40"/>
          <p:cNvSpPr txBox="1"/>
          <p:nvPr>
            <p:ph idx="1" type="body"/>
          </p:nvPr>
        </p:nvSpPr>
        <p:spPr>
          <a:xfrm>
            <a:off x="5123450" y="4123063"/>
            <a:ext cx="1836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300"/>
              <a:t>Why does this expression make sense?</a:t>
            </a:r>
            <a:endParaRPr sz="1300"/>
          </a:p>
        </p:txBody>
      </p:sp>
      <p:cxnSp>
        <p:nvCxnSpPr>
          <p:cNvPr id="273" name="Google Shape;273;p40"/>
          <p:cNvCxnSpPr>
            <a:stCxn id="272" idx="1"/>
          </p:cNvCxnSpPr>
          <p:nvPr/>
        </p:nvCxnSpPr>
        <p:spPr>
          <a:xfrm flipH="1">
            <a:off x="4619750" y="4409413"/>
            <a:ext cx="503700" cy="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4" name="Google Shape;274;p40"/>
          <p:cNvSpPr txBox="1"/>
          <p:nvPr>
            <p:ph idx="1" type="body"/>
          </p:nvPr>
        </p:nvSpPr>
        <p:spPr>
          <a:xfrm>
            <a:off x="2976325" y="2178510"/>
            <a:ext cx="2370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convert logits into probabilities</a:t>
            </a:r>
            <a:endParaRPr sz="1600"/>
          </a:p>
        </p:txBody>
      </p:sp>
      <p:sp>
        <p:nvSpPr>
          <p:cNvPr id="269" name="Google Shape;269;p40"/>
          <p:cNvSpPr/>
          <p:nvPr/>
        </p:nvSpPr>
        <p:spPr>
          <a:xfrm>
            <a:off x="5665105" y="2539054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sp>
        <p:nvSpPr>
          <p:cNvPr id="275" name="Google Shape;275;p40"/>
          <p:cNvSpPr txBox="1"/>
          <p:nvPr>
            <p:ph idx="1" type="body"/>
          </p:nvPr>
        </p:nvSpPr>
        <p:spPr>
          <a:xfrm>
            <a:off x="7523175" y="2661000"/>
            <a:ext cx="1136400" cy="4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523"/>
              <a:buNone/>
            </a:pPr>
            <a:r>
              <a:rPr lang="en" sz="1060"/>
              <a:t>True probability distribution (</a:t>
            </a:r>
            <a:r>
              <a:rPr i="1" lang="en" sz="1060"/>
              <a:t>p)</a:t>
            </a:r>
            <a:endParaRPr i="1" sz="1060"/>
          </a:p>
        </p:txBody>
      </p:sp>
      <p:sp>
        <p:nvSpPr>
          <p:cNvPr id="276" name="Google Shape;276;p40"/>
          <p:cNvSpPr txBox="1"/>
          <p:nvPr/>
        </p:nvSpPr>
        <p:spPr>
          <a:xfrm>
            <a:off x="4584929" y="2423881"/>
            <a:ext cx="113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y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class probabilities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277" name="Google Shape;277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46330" y="3392099"/>
            <a:ext cx="2508885" cy="4495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8" name="Google Shape;278;p40"/>
          <p:cNvCxnSpPr>
            <a:stCxn id="275" idx="1"/>
            <a:endCxn id="269" idx="3"/>
          </p:cNvCxnSpPr>
          <p:nvPr/>
        </p:nvCxnSpPr>
        <p:spPr>
          <a:xfrm rot="10800000">
            <a:off x="7204275" y="2885850"/>
            <a:ext cx="31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sp>
        <p:nvSpPr>
          <p:cNvPr id="284" name="Google Shape;284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I have three independent APIs, A, B, C, with average and p99 response times: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A system (Z) calls these APIs at the same time and waits for the slowest API to return (“</a:t>
            </a:r>
            <a:r>
              <a:rPr i="1" lang="en" sz="1300">
                <a:solidFill>
                  <a:schemeClr val="dk1"/>
                </a:solidFill>
              </a:rPr>
              <a:t>wait for all”)</a:t>
            </a:r>
            <a:r>
              <a:rPr lang="en" sz="1300">
                <a:solidFill>
                  <a:schemeClr val="dk1"/>
                </a:solidFill>
              </a:rPr>
              <a:t>. How do we calculate the p99 of this system’s response time?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backgroundColorModified&quot;:false,&quot;code&quot;:&quot;$$\\left(t_{avg}^{A},t_{99}^{A}\\right)$$&quot;,&quot;type&quot;:&quot;$$&quot;,&quot;id&quot;:&quot;20&quot;,&quot;aid&quot;:null,&quot;font&quot;:{&quot;family&quot;:&quot;Arial&quot;,&quot;size&quot;:13,&quot;color&quot;:&quot;#000000&quot;},&quot;ts&quot;:1763039914884,&quot;cs&quot;:&quot;7MP8RPe5brdt2flI3kSEnQ==&quot;,&quot;size&quot;:{&quot;width&quot;:80,&quot;height&quot;:36.666666666666664}}" id="285" name="Google Shape;28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4375" y="1152475"/>
            <a:ext cx="762000" cy="349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font&quot;:{&quot;family&quot;:&quot;Arial&quot;,&quot;color&quot;:&quot;#000000&quot;,&quot;size&quot;:12},&quot;id&quot;:&quot;25&quot;,&quot;backgroundColor&quot;:&quot;#FFFFFF&quot;,&quot;type&quot;:&quot;gather*&quot;,&quot;code&quot;:&quot;\\begin{gather*}\n{\\text{Let}\\text{s}\\;\\text{denote}\\;\\text{the}\\;\\text{response}\\;\\text{time}\\;\\text{of}\\;\\text{the}\\;\\text{system}\\;\\text{by}\\;\\text{random}\\;\\text{variable}\\;\\text{Z}}\\\\\n{\\text{Then}}\\\\\n{F_{Z}\\left(t\\right)=P\\left(Z&lt;t\\right)=P\\left(\\max\\left(A,B,C\\right)&lt;t\\right)=P\\left(A&lt;t,B&lt;t,C&lt;t\\right)}\\\\\n{\\text{Because}\\;\\text{the}\\;\\text{three}\\;\\text{APIs}\\;\\text{are}\\;\\text{independent,}}\\\\\n{P\\left(Z&lt;t\\right)=P\\left(A&lt;t,B&lt;t,C&lt;t\\right)}\\\\\n{=P\\left(A&lt;t\\right)P\\left(B&lt;t\\right)P\\left(C&lt;t\\right)}\\\\\n{=F_{A}\\left(t\\right)F_{B}\\left(t\\right)F_{C}\\left(t\\right)}\t\n\\end{gather*}&quot;,&quot;ts&quot;:1763256406610,&quot;cs&quot;:&quot;6sZWSJ1i/Gwo+fhUNbiGtQ==&quot;,&quot;size&quot;:{&quot;width&quot;:560,&quot;height&quot;:165}}" id="286" name="Google Shape;286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58025" y="2523415"/>
            <a:ext cx="5334000" cy="15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pic>
        <p:nvPicPr>
          <p:cNvPr descr="{&quot;backgroundColorModified&quot;:false,&quot;font&quot;:{&quot;color&quot;:&quot;#000000&quot;,&quot;family&quot;:&quot;Arial&quot;,&quot;size&quot;:13},&quot;type&quot;:&quot;gather*&quot;,&quot;code&quot;:&quot;\\begin{gather*}\n{\\text{Let}\\;\\text{the}\\;\\text{pdf}\\;\\text{of}\\;\\text{A,}\\;\\text{B,}\\;\\text{C}\\;\\text{be}\\;N\\left(\\mu_{A},\\sigma_{A}\\right),\\,N\\left(\\mu_{B},\\sigma_{B}\\right),\\,N\\left(\\mu_{C},\\sigma_{C}\\right)}\\\\\n{\\text{The}\\;\\text{corresponding}\\;\\text{CDFs}\\;F_{A}\\left(t\\right),\\,F_{B}\\left(t\\right),\\,F_{C}\\left(t\\right)\\,\\text{are}\\;}\\\\\n{\\Phi\\left(\\frac{t-\\mu_{A}}{\\sigma_{A}}\\right),\\,\\Phi\\left(\\frac{t-\\mu_{B}}{\\sigma_{B}}\\right),\\,\\Phi\\left(\\frac{t-\\mu_{C}}{\\sigma_{C}}\\right)}\\\\\n{F_{Z}\\left(t\\right)=F_{A}\\left(t\\right)F_{B}\\left(t\\right)F_{C}\\left(t\\right)=\\Phi\\left(\\frac{t-\\mu_{A}}{\\sigma_{A}}\\right)\\Phi\\left(\\frac{t-\\mu_{B}}{\\sigma_{B}}\\right)\\Phi\\left(\\frac{t-\\mu_{C}}{\\sigma_{C}}\\right)}\\\\\n{\\text{And}\\;\\text{the}\\;\\text{pdf}\\;\\text{of}\\;\\text{Z}\\;\\text{is}}\\\\\n{f_{Z}\\left(t\\right)=f_{A}\\left(t\\right)F_{B}\\left(t\\right)F_{C}\\left(t\\right)+F_{A}\\left(t\\right)f_{B}\\left(t\\right)F_{C}\\left(t\\right)+F_{A}\\left(t\\right)F_{B}\\left(t\\right)f_{C}\\left(t\\right)}\\\\\n{\\text{This}\\;\\text{is}\\;\\text{NOT}\\;\\text{a}\\;\\text{normal}\\;\\text{distribution!}}\\\\\n{\\text{Let's}\\;\\text{simplify}\\;\\text{a}\\;\\text{bit}\\;\\text{and}\\;\\text{assume}\\;\\text{that}\\;\\mu_{A}=\\mu_{B}=\\mu_{C},\\,\\text{and}\\;\\sigma_{A}=\\sigma_{B}=\\sigma_{C}}\\\\\n{\\text{This}\\;\\text{is}\\;\\text{the}\\;\\text{more}\\;\\text{interesting}\\;\\text{case}\\;\\text{anyway,}\\;\\text{because}\\;\\text{if}\\;\\text{one}\\;\\text{API's}\\;\\text{response}\\;\\text{time}}\\\\\n{\\text{is}\\;\\text{much}\\;\\text{higher}\\;\\text{than}\\;\\text{the}\\;\\text{other}\\;\\text{two,}\\;\\text{the}\\;\\text{overall}\\;\\text{response}\\;\\text{time}\\;\\text{will}\\;\\text{be}\\;\\text{dominated}\\;\\text{by}\\;\\text{that}\\;\\text{API}}\\\\\n{\\text{assuming}\\;\\text{the}\\;\\sigma \\,\\text{are}\\;\\text{roughly}\\;\\text{the}\\;\\text{same}}\\\\\n{\\text{Now}}\\\\\n{F_{Z}\\left(t\\right)=\\Phi^{3}\\left(\\frac{t-\\mu}{\\sigma}\\right)}\t\n\\end{gather*}&quot;,&quot;aid&quot;:null,&quot;id&quot;:&quot;22&quot;,&quot;backgroundColor&quot;:&quot;#FFFFFF&quot;,&quot;ts&quot;:1763085454828,&quot;cs&quot;:&quot;rg0OHhGWCVQC8I/aVsyvIA==&quot;,&quot;size&quot;:{&quot;width&quot;:804.5,&quot;height&quot;:423}}" id="292" name="Google Shape;292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58450"/>
            <a:ext cx="7662863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pic>
        <p:nvPicPr>
          <p:cNvPr descr="{&quot;backgroundColorModified&quot;:false,&quot;backgroundColor&quot;:&quot;#FFFFFF&quot;,&quot;code&quot;:&quot;\\begin{gather*}\n{\\text{Say}\\;\\mu=60ms,\\,\\sigma=40ms\\,}\\\\\n{p99\\,\\text{of}\\;\\text{each}\\;\\text{API}\\;\\text{can}\\;\\text{be}\\;\\text{obtained}\\;\\text{by}\\;\\text{solving}}\\\\\n{\\Phi\\left(\\frac{t-\\mu}{\\sigma}\\right)=0.99}\\\\\n{t=\\mu+\\sigma \\Phi^{-1}\\left(0.99\\right)=60+40\\times2.32=152.8\\text{ms}}\\\\\n{\\text{Now}\\;\\text{let's}\\;\\text{calculate}\\;\\text{the}\\;\\text{p99}\\;\\text{of}\\;\\text{our}\\;\\text{system}}\\\\\n{\\Phi^{3}\\left(\\frac{t-\\mu}{\\sigma}\\right)=0.99}\\\\\n{t=\\mu+\\sigma \\Phi^{-1}\\left(0.99^{1/3}\\right)=60+40\\times2.712=168.48!}\\\\\n{\\text{So,}\\;\\text{p99}\\;\\text{for}\\;\\text{the}\\;\\text{system}\\;\\text{is}\\;\\text{~10}\\%\\,higher\\,\\text{than}\\;\\text{for}\\;\\text{each}\\;\\text{API!}}\t\n\\end{gather*}&quot;,&quot;font&quot;:{&quot;color&quot;:&quot;#000000&quot;,&quot;family&quot;:&quot;Arial&quot;,&quot;size&quot;:13},&quot;aid&quot;:null,&quot;type&quot;:&quot;gather*&quot;,&quot;id&quot;:&quot;23&quot;,&quot;ts&quot;:1763087199775,&quot;cs&quot;:&quot;Eh5xTTl6hSceyQ8JHDsQFQ==&quot;,&quot;size&quot;:{&quot;width&quot;:493.5,&quot;height&quot;:280}}" id="298" name="Google Shape;29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175" y="1063610"/>
            <a:ext cx="4700588" cy="266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43"/>
          <p:cNvSpPr txBox="1"/>
          <p:nvPr/>
        </p:nvSpPr>
        <p:spPr>
          <a:xfrm>
            <a:off x="6400500" y="4504400"/>
            <a:ext cx="27435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API_call_wait_for_all.py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type&quot;:&quot;gather*&quot;,&quot;font&quot;:{&quot;color&quot;:&quot;#000000&quot;,&quot;family&quot;:&quot;Arial&quot;,&quot;size&quot;:12},&quot;code&quot;:&quot;\\begin{gather*}\n{\\text{In}\\;\\text{a}\\;\\text{real-life}\\;\\text{scenario,}\\;\\text{we'll}\\;\\text{be}\\;\\text{given}\\;\\text{the}\\;\\text{average}\\;\\left(\\mu\\,\\right)\\text{and}\\;\\text{p99}\\;\\text{response}\\;\\text{time}}\\\\\n{\\text{We}\\;\\text{can}\\;\\text{calculate}\\;\\sigma\\,\\text{of}\\;\\text{the}\\;\\text{best}\\;\\text{fit}\\;\\text{normal}\\;\\text{distribution}\\;\\text{by}\\;\\text{solving}\\;\\text{}}\\\\\n{\\frac{p99-\\mu}{\\sigma}=\\Phi^{-1}\\left(0.99\\right)}\\\\\n{\\text{We}\\;\\text{can}\\;\\text{do}\\;\\text{better}\\;\\text{when}\\;\\text{we}\\;\\text{have}\\;\\text{a}\\;\\text{dataset}\\;\\text{of}\\;\\text{response}\\;\\text{times,}\\;\\text{rather}\\;\\text{than}\\;\\text{just}\\;\\text{the}\\;\\text{average}\\;\\text{and}\\;\\text{p99}}\t\n\\end{gather*}&quot;,&quot;id&quot;:&quot;24&quot;,&quot;backgroundColorModified&quot;:false,&quot;aid&quot;:null,&quot;backgroundColor&quot;:&quot;#FFFFFF&quot;,&quot;ts&quot;:1763341501800,&quot;cs&quot;:&quot;XXNyVE/vmjTL0k39MmhAOQ==&quot;,&quot;size&quot;:{&quot;width&quot;:789,&quot;height&quot;:111}}" id="300" name="Google Shape;300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4875" y="4002018"/>
            <a:ext cx="7515225" cy="105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Calling--”race to first”</a:t>
            </a:r>
            <a:endParaRPr/>
          </a:p>
        </p:txBody>
      </p:sp>
      <p:sp>
        <p:nvSpPr>
          <p:cNvPr id="306" name="Google Shape;306;p44"/>
          <p:cNvSpPr txBox="1"/>
          <p:nvPr>
            <p:ph idx="1" type="body"/>
          </p:nvPr>
        </p:nvSpPr>
        <p:spPr>
          <a:xfrm>
            <a:off x="311700" y="1152475"/>
            <a:ext cx="8520600" cy="11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/>
              <a:t>Now let’s say the system goes by the response of whichever API returns first, rather than waiting for the slowest. To simplify things a bit, let’s just consider two APIs. Now Z=min(A,B)</a:t>
            </a:r>
            <a:endParaRPr sz="1700"/>
          </a:p>
        </p:txBody>
      </p:sp>
      <p:pic>
        <p:nvPicPr>
          <p:cNvPr descr="{&quot;backgroundColorModified&quot;:false,&quot;backgroundColor&quot;:&quot;#FFFFFF&quot;,&quot;type&quot;:&quot;gather*&quot;,&quot;font&quot;:{&quot;size&quot;:17,&quot;color&quot;:&quot;#595959&quot;,&quot;family&quot;:&quot;Arial&quot;},&quot;code&quot;:&quot;\\begin{gather*}\n{F_{Z}\\left(z\\right)=P\\left(Z&lt;z\\right)=P\\left(\\min\\left(A,B\\right)&lt;z\\right)}\\\\\n{P\\left(\\min\\left(A,B\\right)&lt;z\\right)=1-P\\left(\\min\\left(A,B\\right)&gt;z\\right)}\\\\\n{=1-P\\left(A&gt;z\\right)P\\left(B&gt;z\\right)\\,\\because A,B\\,\\text{are}\\;\\text{independent}}\\\\\n{=1-\\left(1-P\\left(A&lt;z\\right)\\right)\\left(1-P\\left(B&lt;z\\right)\\right)}\\\\\n{1-\\left(1-F_{A}\\left(z\\right)\\right)\\left(1-F_{B}\\left(z\\right)\\right)}\\\\\n{\\text{If}\\;\\text{A,B}\\;\\text{are}\\;\\text{both}\\;N\\left(\\mu,\\sigma\\right),}\\\\\n{F_{Z}\\left(z\\right)=1-\\left(1-\\Phi\\left(\\frac{z-\\mu}{\\sigma}\\right)^{2}\\right)}\t\n\\end{gather*}&quot;,&quot;aid&quot;:null,&quot;id&quot;:&quot;26&quot;,&quot;ts&quot;:1763256353477,&quot;cs&quot;:&quot;Gc49Spy4Ubvir4EJN38kKA==&quot;,&quot;size&quot;:{&quot;width&quot;:575,&quot;height&quot;:287.5}}" id="307" name="Google Shape;3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1413" y="2308125"/>
            <a:ext cx="4761175" cy="2380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API Calling--”race to first”</a:t>
            </a:r>
            <a:endParaRPr/>
          </a:p>
        </p:txBody>
      </p:sp>
      <p:sp>
        <p:nvSpPr>
          <p:cNvPr id="313" name="Google Shape;313;p45"/>
          <p:cNvSpPr txBox="1"/>
          <p:nvPr>
            <p:ph idx="1" type="body"/>
          </p:nvPr>
        </p:nvSpPr>
        <p:spPr>
          <a:xfrm>
            <a:off x="311700" y="1152475"/>
            <a:ext cx="8520600" cy="11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/>
              <a:t>Let’s solve for the 99th percentile..</a:t>
            </a:r>
            <a:endParaRPr sz="1700"/>
          </a:p>
        </p:txBody>
      </p:sp>
      <p:pic>
        <p:nvPicPr>
          <p:cNvPr descr="{&quot;backgroundColorModified&quot;:false,&quot;aid&quot;:null,&quot;type&quot;:&quot;gather*&quot;,&quot;id&quot;:&quot;26&quot;,&quot;backgroundColor&quot;:&quot;#FFFFFF&quot;,&quot;font&quot;:{&quot;size&quot;:17,&quot;color&quot;:&quot;#595959&quot;,&quot;family&quot;:&quot;Arial&quot;},&quot;code&quot;:&quot;\\begin{gather*}\n{F_{Z}\\left(z\\right)=1-\\left(1-\\Phi\\left(\\frac{z-\\mu}{\\sigma}\\right)\\right)^{2}}\\\\\n{0.99=1-\\left(1-\\Phi\\left(\\frac{z-\\mu}{\\sigma}\\right)\\right)^{2}}\\\\\n{z=\\mu+\\sigma\\Phi^{-1}\\left(1-\\left(1-0.99\\right)^{1/2}\\right)}\\\\\n{}\t\n\\end{gather*}&quot;,&quot;ts&quot;:1763123904779,&quot;cs&quot;:&quot;ihfo64/TgpA5FyVCrlLntg==&quot;,&quot;size&quot;:{&quot;width&quot;:380.6666666666667,&quot;height&quot;:202}}" id="314" name="Google Shape;31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009300"/>
            <a:ext cx="3401501" cy="180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27&quot;,&quot;type&quot;:&quot;gather*&quot;,&quot;font&quot;:{&quot;family&quot;:&quot;Arial&quot;,&quot;size&quot;:16,&quot;color&quot;:&quot;#000000&quot;},&quot;backgroundColor&quot;:&quot;#FFFFFF&quot;,&quot;code&quot;:&quot;\\begin{gather*}\n{\\text{As}\\;\\text{before,}\\;\\text{say}\\;\\mu=60\\text{ms,}\\;\\sigma=\\text{40ms}}\\\\\n{z=60+40\\Phi^{-1}\\left(0.89\\right)}\\\\\n{=60\\,+\\,40\\times1.28=111.2\\text{ms}\\,}\\\\\n{\\text{For}\\;\\text{3}\\;\\text{APIs..}}\\\\\n{60\\,+\\,40\\,\\times0.78=91.2\\text{ms}}\\\\\n{\\text{Now}\\;\\text{the}\\;\\text{system}\\;\\text{p99}\\;\\text{is}\\;\\text{lower}\\;\\text{than}\\;\\text{for}\\;\\text{either}\\;\\text{API!}}\\\\\n{}\t\n\\end{gather*}&quot;,&quot;backgroundColorModified&quot;:false,&quot;ts&quot;:1763125744134,&quot;cs&quot;:&quot;FB4sIwuYGVMw6Dhm6/SvRw==&quot;,&quot;size&quot;:{&quot;width&quot;:528,&quot;height&quot;:189.5}}" id="315" name="Google Shape;315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2000" y="2122200"/>
            <a:ext cx="4714649" cy="1692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45"/>
          <p:cNvSpPr txBox="1"/>
          <p:nvPr/>
        </p:nvSpPr>
        <p:spPr>
          <a:xfrm>
            <a:off x="3647225" y="4341725"/>
            <a:ext cx="48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API_call_race_to_first.py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Modeling API response times..</a:t>
            </a:r>
            <a:endParaRPr/>
          </a:p>
        </p:txBody>
      </p:sp>
      <p:sp>
        <p:nvSpPr>
          <p:cNvPr id="322" name="Google Shape;322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a dataset of API responses, I can pose two questions: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How do I determine the parameters of a best fitting model?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Given a model, how do I determine the goodness of the fit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Determining model parameters: MLE vs MAP estimation</a:t>
            </a:r>
            <a:endParaRPr/>
          </a:p>
        </p:txBody>
      </p:sp>
      <p:pic>
        <p:nvPicPr>
          <p:cNvPr descr="{&quot;id&quot;:&quot;29&quot;,&quot;backgroundColor&quot;:&quot;#FFFFFF&quot;,&quot;font&quot;:{&quot;size&quot;:11,&quot;color&quot;:&quot;#000000&quot;,&quot;family&quot;:&quot;Arial&quot;},&quot;aid&quot;:null,&quot;backgroundColorModified&quot;:false,&quot;code&quot;:&quot;\\begin{gather*}\n{\\text{Given}\\;\\text{data}\\;x_{1},x_{2}\\,\\dots x_{n},\\,\\text{and}\\;\\text{Likelihood}\\;\\text{function}}\\\\\n{L\\left(\\theta\\right)=p\\left(x_{1},x_{2}\\,\\dots x_{n}|\\theta\\right)}\\\\\n{\\text{MLE}\\;\\text{(Maximum}\\;\\text{Likelihood}\\;\\text{Estimation)}\\;\\text{chooses}\\;\\theta\\,\\text{that}\\;\\text{maximises}\\,L\\left(\\theta\\right)\\,i.e.,}\\\\\n{\\theta_{MLE}=\\text{arg}\\;\\text{max}_{\\theta}\\left(p\\left(x_{1},x_{2}\\,\\dots x_{n}|\\theta\\right)\\right)}\\\\\n{\\text{Equivalently}}\\\\\n{\\theta_{MLE}=\\text{arg}\\;\\text{max}_{\\theta}\\,Log\\left(p\\left(x_{1},x_{2}\\,\\dots x_{n}|\\theta\\right)\\right)}\\\\\n{\\text{MLE}\\;\\text{let's}\\;\\text{the}\\;\\text{\&quot;data}\\;\\text{speak\&quot;,}\\;\\text{doesn't}\\;\\text{factor}\\;\\text{in}\\;\\text{any}\\;\\text{prior}\\;\\text{knowledge}\\;\\text{about}\\;\\theta}\\\\\n{\\text{If}\\;\\text{we}\\;\\text{apply}\\;\\text{Bayes}\\;\\text{rule,}}\\\\\n{p\\left(\\theta |x_{1},x_{2}\\,\\dots x_{n}\\right)=\\frac{p\\left(x_{1},x_{2}\\,\\dots x_{n}|\\theta\\right)p\\left(\\theta\\right)}{p\\left(x_{1},x_{2}\\,\\dots x_{n}\\right)}}\\\\\n{\\theta_{MAP}=\\arg \\max_{\\theta}p\\left(\\theta |x_{1},x_{2}\\,\\dots x_{n}\\right)}\\\\\n{\\text{Since}\\;p\\left(x_{1},x_{2}\\,\\dots x_{n}\\right)\\,\\text{doesn't}\\;\\text{depend}\\;\\text{on}\\;\\text{the}\\;\\text{data,}}\\\\\n{\\theta_{MAP}=\\arg \\max_{\\theta}p\\left(x_{1},x_{2}\\,\\dots x_{n}|\\theta\\right)p\\left(\\theta\\right)}\\\\\n{\\text{Taking}\\;\\text{logs..}}\\\\\n{\\theta_{MAP}=\\arg \\max_{\\theta}\\left(\\log_{} p\\left(x_{1},x_{2}\\,\\dots x_{n}|\\theta\\right)+\\,\\log_{} p\\left(\\theta\\right)\\right)}\\\\\n{=\\arg \\max_{\\theta}\\left(L(\\theta)+\\,\\log_{} p\\left(\\theta\\right)\\right)}\\\\\n{\\text{So}\\;\\text{MAP}\\;\\text{(Maximum}\\;\\text{Aposteriori}\\;\\text{Estimate)}\\,\\text{factos}\\;\\text{in}\\;\\text{prior}\\;\\text{belief}\\;\\left(p\\left(\\theta\\right)\\right)\\,\\text{about}\\;\\text{the}\\;\\text{data}}\t\n\\end{gather*}&quot;,&quot;type&quot;:&quot;gather*&quot;,&quot;ts&quot;:1763309888111,&quot;cs&quot;:&quot;rgvn47s7OlZbTwhQD65zvw==&quot;,&quot;size&quot;:{&quot;width&quot;:636.5,&quot;height&quot;:413.5}}" id="328" name="Google Shape;32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700" y="1107904"/>
            <a:ext cx="6062663" cy="393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Determining model parameters: MLE</a:t>
            </a:r>
            <a:endParaRPr/>
          </a:p>
        </p:txBody>
      </p:sp>
      <p:pic>
        <p:nvPicPr>
          <p:cNvPr descr="{&quot;backgroundColorModified&quot;:false,&quot;code&quot;:&quot;\\begin{gather*}\n{\\text{Let's}\\;\\text{derive}\\;\\text{MLE}\\;\\text{estimate}\\;\\text{for}\\;\\text{a}\\;\\text{normal}\\;\\text{likelihood}\\;\\text{to}\\;\\text{make}\\;\\text{this}\\;\\text{concrete}}\\\\\n{\\theta_{MLE}=\\text{arg}\\;\\text{max}_{\\theta}\\,\\log_{}\\left(p\\left(x_{1},x_{2}\\,\\dots x_{n}|\\theta\\right)\\right)}\\\\\n{\\text{For}\\;\\text{a}\\;\\text{normal}\\;\\text{likelihood}\\;\\text{and}\\;\\text{iid}\\;x_{i}\\text{,}}\\\\\n{L\\left(\\mu,\\,\\sigma\\right)=p\\left(x_{1},x_{2}\\,\\dots x_{n}|\\theta\\right)=\\Pi_{i}p\\left(\\giventhat{x_{i}}{\\mu,\\,\\sigma}\\right)}\\\\\n{\\text{Because}\\;\\text{a}\\;\\text{normal}\\;\\text{likelihood}\\;\\text{is}\\;\\text{characterized}\\;\\text{by}\\;\\mu\\,\\text{and}\\;\\sigma}\\\\\n{log\\left(L\\left(\\theta\\right)\\right)=\\Sigma_{i}\\log_{}p\\left(\\giventhat{x_{i}}{\\theta}\\right)}\\\\\n{\\log_{}\\left(L\\left(\\mu,\\,\\sigma\\right)\\right)=p\\left(\\giventhat{x_{i}}{\\mu,\\,\\sigma}\\right)=\\frac{1}{{\\sqrt[]{2\\pi\\sigma^{2}}}}\\exp\\left(-\\frac{\\left(x_{i}-\\mu\\right)^{2}}{2\\sigma^{2}}\\right)}\\\\\n{\\log_{}\\left(p\\left(\\giventhat{x_{i}}{\\mu,\\,\\sigma}\\right)\\right)=-\\frac{1}{2}\\left(\\log_{}\\left(2\\pi\\right)+2\\log_{}\\left(\\sigma\\right)\\right)-\\frac{\\left(x_{i}-\\mu\\right)^{2}}{2\\sigma^{2}}}\\\\\n{\\text{Summing}\\;\\text{over}\\;i\\;\\text{an}\\text{d}\\;\\text{ignoring}\\;\\text{terms}\\;\\text{that}\\;\\text{don't}\\;\\text{depend}\\;\\text{on}\\;\\mu\\,\\text{and}\\;\\sigma}\\\\\n{\\log_{}\\left(L\\left(\\mu,\\,\\sigma\\right)\\right)=-n\\log_{}\\left(\\sigma\\right)-\\frac{1}{2\\sigma^{2}}\\Sigma_{i}^{n}\\left(x_{i}-\\mu\\right)^{2}}\\\\\n{\\text{Lets}\\;\\text{maximize}\\;L\\left(\\mu,\\,\\sigma\\right)\\,\\text{wrt}\\,\\mu\\,\\text{and}\\;\\sigma}\\\\\n{\\pdf{\\log_{}\\left(L\\left(\\mu,\\,\\sigma\\right)\\right)}{\\mu}=-\\frac{1}{\\sigma^{2}}\\Sigma_{i}^{n}\\left(x_{i}-\\mu\\right)=0}\\\\\n{\\mu_{MLE}=\\frac{1}{n}\\Sigma_{i}^{n}x_{i}=E\\left(\\mathbf{x}\\right)!}\t\n\\end{gather*}&quot;,&quot;aid&quot;:null,&quot;font&quot;:{&quot;color&quot;:&quot;#000000&quot;,&quot;size&quot;:11,&quot;family&quot;:&quot;Arial&quot;},&quot;id&quot;:&quot;29&quot;,&quot;type&quot;:&quot;gather*&quot;,&quot;backgroundColor&quot;:&quot;#FFFFFF&quot;,&quot;ts&quot;:1763311538942,&quot;cs&quot;:&quot;TT+Hs5upKmts/3MBrFcYnw==&quot;,&quot;size&quot;:{&quot;width&quot;:535,&quot;height&quot;:403.5}}" id="334" name="Google Shape;33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723" y="1017729"/>
            <a:ext cx="5095875" cy="3843338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48"/>
          <p:cNvSpPr txBox="1"/>
          <p:nvPr/>
        </p:nvSpPr>
        <p:spPr>
          <a:xfrm>
            <a:off x="5023050" y="4604250"/>
            <a:ext cx="3671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HW problem: Derive the MLE estimate of sigma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Determining model parameters: MLE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aid&quot;:null,&quot;font&quot;:{&quot;family&quot;:&quot;Arial&quot;,&quot;color&quot;:&quot;#000000&quot;,&quot;size&quot;:11.5},&quot;code&quot;:&quot;\\begin{gather*}\n{\\text{Using}\\;\\text{the}\\;\\text{framework}\\;\\text{in}\\;\\text{the}\\;\\text{previous}\\;\\text{slide,}}\\\\\n{\\text{For}\\;\\text{normal}\\;\\text{distribution,}}\\\\\n{\\mu_{MLE}=\\frac{\\Sigma_{i=1}^{n}x_{i}}{n}}\\\\\n{\\sigma_{MLE}={\\sqrt[]{\\frac{\\left(x_{i}-\\mu\\right)^{2}}{n}}}\\,\\text{i.e.,}\\;\\text{the}\\;\\text{variance}\\;\\text{of}\\;x_{i}}\t\n\\end{gather*}&quot;,&quot;backgroundColorModified&quot;:false,&quot;type&quot;:&quot;gather*&quot;,&quot;backgroundColor&quot;:&quot;#FFFFFF&quot;,&quot;id&quot;:&quot;30&quot;,&quot;ts&quot;:1763313358195,&quot;cs&quot;:&quot;Cno8+HaWP6HH8qKAgjzoVg==&quot;,&quot;size&quot;:{&quot;width&quot;:344.23886929133863,&quot;height&quot;:150.02369186351706}}" id="341" name="Google Shape;341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875" y="1065325"/>
            <a:ext cx="3278875" cy="14289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31&quot;,&quot;aid&quot;:null,&quot;backgroundColorModified&quot;:false,&quot;font&quot;:{&quot;color&quot;:&quot;#000000&quot;,&quot;size&quot;:11.5,&quot;family&quot;:&quot;Arial&quot;},&quot;type&quot;:&quot;gather*&quot;,&quot;backgroundColor&quot;:&quot;#FFFFFF&quot;,&quot;code&quot;:&quot;\\begin{gather*}\n{\\text{Log}\\text{Normal}\\;\\text{distribution:}}\\\\\n{\\text{if}\\;x_{i}\\,\\text{are}\\;\\text{iid}\\;\\text{from}\\;LogNormal\\left(\\mu,\\sigma^{2}\\right)}\\\\\n{\\text{Then,}\\;y_{i}=\\log_{}\\left(x_{i}\\right)\\,\\,\\text{are}\\;\\text{normally}\\;\\text{distributed}\\;N\\left(\\mu,\\,\\sigma^{2}\\right)}\\\\\n{\\mu \\,\\text{and}\\;\\sigma^{2}\\,\\text{of}\\;\\text{the}\\;\\text{lognormal}\\;\\text{distribution:}}\\\\\n{\\mu_{MLE}=\\frac{1}{n}\\Sigma_{i=1}^{n}\\log_{}\\left(x_{i}\\right)}\\\\\n{\\sigma_{MLE}=\\frac{1}{n}\\Sigma_{i=1}^{n}\\left(\\log_{}\\left(x_{i}\\right)-\\mu_{MLE}\\right)^{2}}\\\\\n{\\text{So}\\;\\text{MLE}\\;\\text{estimates}\\;\\text{for}\\;\\text{lognormal}\\;\\text{distribution}\\;\\text{are}\\;\\text{same}\\;\\text{as}\\;\\text{}}\\\\\n{\\text{MLE}\\;\\text{estimates}\\;\\text{on}\\;\\text{log}\\;\\text{transformed}\\;\\text{data}}\\\\\n{}\t\n\\end{gather*}&quot;,&quot;ts&quot;:1763318037445,&quot;cs&quot;:&quot;aWyf9PM1roezOmhSIqLtzA==&quot;,&quot;size&quot;:{&quot;width&quot;:441.3333333333333,&quot;height&quot;:228.33333333333334}}" id="342" name="Google Shape;342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3301" y="2752525"/>
            <a:ext cx="4203700" cy="217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Determining goodness of fit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color&quot;:&quot;#000000&quot;,&quot;size&quot;:11.5,&quot;family&quot;:&quot;Arial&quot;},&quot;code&quot;:&quot;\\begin{gather*}\n{\\text{There}\\;\\text{are}\\;\\text{several}\\;\\text{ways}\\;\\text{to}\\;\\text{do}\\;\\text{this..}\\;\\text{one}\\;\\text{way:}}\\\\\n{AIC\\,\\left(\\text{Akaike}\\;\\text{Information}\\;\\text{Criteria}\\right)}\\\\\n{AIC=2k-2\\log_{}\\left(L\\right)}\\\\\n{\\text{Lowe}\\;\\text{the}\\;\\text{AIC}\\;\\text{score,}\\;\\text{better}\\;\\text{the}\\;\\text{fit}}\\\\\n{\\text{Here}\\;\\;k\\,\\text{is}\\;\\text{the}\\,\\text{number}\\;\\text{of}\\;\\text{parameters}\\;\\text{in}\\;\\text{the}\\;\\text{model}\\;\\text{(eg.,}\\;\\text{2}\\;\\text{for}\\;\\text{normal}\\;\\text{and}\\;\\text{log}\\;\\text{normal)}}\\\\\n{\\text{Intuition:}\\;\\text{Penalize}\\;\\text{more}\\;\\text{complex}\\;\\text{models..}}\\\\\n{L\\,\\text{is}\\;\\text{the}\\;\\text{log}\\;\\text{likelihood.}}\\\\\n{}\t\n\\end{gather*}&quot;,&quot;id&quot;:&quot;32&quot;,&quot;backgroundColor&quot;:&quot;#FFFFFF&quot;,&quot;backgroundColorModified&quot;:false,&quot;type&quot;:&quot;gather*&quot;,&quot;aid&quot;:null,&quot;ts&quot;:1763318931574,&quot;cs&quot;:&quot;P/IbmB5uDerBpNWI+XhAFg==&quot;,&quot;size&quot;:{&quot;width&quot;:644.5,&quot;height&quot;:156.5}}" id="348" name="Google Shape;34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975" y="1159975"/>
            <a:ext cx="5555825" cy="13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4700" y="2571751"/>
            <a:ext cx="3847125" cy="2411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50"/>
          <p:cNvSpPr txBox="1"/>
          <p:nvPr/>
        </p:nvSpPr>
        <p:spPr>
          <a:xfrm>
            <a:off x="1986000" y="3558675"/>
            <a:ext cx="3894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730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Char char="-"/>
            </a:pPr>
            <a:r>
              <a:rPr lang="en" sz="700">
                <a:solidFill>
                  <a:schemeClr val="dk2"/>
                </a:solidFill>
              </a:rPr>
              <a:t>Visually lognorm is a better fit</a:t>
            </a:r>
            <a:endParaRPr sz="700">
              <a:solidFill>
                <a:schemeClr val="dk2"/>
              </a:solidFill>
            </a:endParaRPr>
          </a:p>
          <a:p>
            <a:pPr indent="-2730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Char char="-"/>
            </a:pPr>
            <a:r>
              <a:rPr lang="en" sz="700">
                <a:solidFill>
                  <a:schemeClr val="dk2"/>
                </a:solidFill>
              </a:rPr>
              <a:t>Norm assigns lower probabilities to the long right tail, resulting in a lot of large negatives in the likelihood</a:t>
            </a:r>
            <a:endParaRPr sz="700">
              <a:solidFill>
                <a:schemeClr val="dk2"/>
              </a:solidFill>
            </a:endParaRPr>
          </a:p>
        </p:txBody>
      </p:sp>
      <p:cxnSp>
        <p:nvCxnSpPr>
          <p:cNvPr id="351" name="Google Shape;351;p50"/>
          <p:cNvCxnSpPr/>
          <p:nvPr/>
        </p:nvCxnSpPr>
        <p:spPr>
          <a:xfrm flipH="1">
            <a:off x="2329375" y="4017550"/>
            <a:ext cx="331500" cy="70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52" name="Google Shape;352;p50"/>
          <p:cNvSpPr txBox="1"/>
          <p:nvPr/>
        </p:nvSpPr>
        <p:spPr>
          <a:xfrm>
            <a:off x="4201825" y="4547875"/>
            <a:ext cx="3894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2"/>
                </a:solidFill>
              </a:rPr>
              <a:t>See: parameter_estimation.py</a:t>
            </a:r>
            <a:endParaRPr sz="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consider a binary classification example. Here K = 2</a:t>
            </a:r>
            <a:endParaRPr sz="1600"/>
          </a:p>
        </p:txBody>
      </p:sp>
      <p:sp>
        <p:nvSpPr>
          <p:cNvPr id="359" name="Google Shape;359;p51"/>
          <p:cNvSpPr txBox="1"/>
          <p:nvPr>
            <p:ph idx="1" type="body"/>
          </p:nvPr>
        </p:nvSpPr>
        <p:spPr>
          <a:xfrm>
            <a:off x="464100" y="251490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Let’s say p_1 = 1. If the network gets it right, y_1 is close to 1, and x-entropy loss is low. Similarly if the network gets it wrong, y_1 is low, and x-entropy loss is high.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To use it within a Neural Network, we need to calculate its derivative! </a:t>
            </a:r>
            <a:endParaRPr sz="1600"/>
          </a:p>
        </p:txBody>
      </p:sp>
      <p:pic>
        <p:nvPicPr>
          <p:cNvPr descr="{&quot;type&quot;:&quot;$$&quot;,&quot;id&quot;:&quot;4&quot;,&quot;backgroundColor&quot;:&quot;#FFFFFF&quot;,&quot;aid&quot;:null,&quot;font&quot;:{&quot;size&quot;:11,&quot;color&quot;:&quot;#000000&quot;,&quot;family&quot;:&quot;Arial&quot;},&quot;backgroundColorModified&quot;:false,&quot;code&quot;:&quot;$$\\text{x-entropy-loss(}y\\text{)}\\;\\text{=}-p_{1}\\log_{}\\left(y_{1}\\right)-\\left(1-p_{1}\\right)\\log_{}\\left(1-y_{1}\\right)$$&quot;,&quot;ts&quot;:1755221105735,&quot;cs&quot;:&quot;nxWn0T+h796LdqUdVCaqpw==&quot;,&quot;size&quot;:{&quot;width&quot;:407.6666666666667,&quot;height&quot;:17.666666666666668}}" id="360" name="Google Shape;360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350" y="1971831"/>
            <a:ext cx="3883025" cy="16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Simple Example</a:t>
            </a:r>
            <a:endParaRPr/>
          </a:p>
        </p:txBody>
      </p:sp>
      <p:sp>
        <p:nvSpPr>
          <p:cNvPr id="366" name="Google Shape;366;p52"/>
          <p:cNvSpPr/>
          <p:nvPr/>
        </p:nvSpPr>
        <p:spPr>
          <a:xfrm>
            <a:off x="1611625" y="2674592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367" name="Google Shape;367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488" y="2819567"/>
            <a:ext cx="474663" cy="209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8" name="Google Shape;368;p52"/>
          <p:cNvCxnSpPr>
            <a:endCxn id="366" idx="1"/>
          </p:cNvCxnSpPr>
          <p:nvPr/>
        </p:nvCxnSpPr>
        <p:spPr>
          <a:xfrm>
            <a:off x="1322725" y="2924342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9" name="Google Shape;369;p52"/>
          <p:cNvCxnSpPr>
            <a:stCxn id="366" idx="3"/>
          </p:cNvCxnSpPr>
          <p:nvPr/>
        </p:nvCxnSpPr>
        <p:spPr>
          <a:xfrm>
            <a:off x="2268025" y="2924342"/>
            <a:ext cx="510000" cy="9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370" name="Google Shape;370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7940" y="3639757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52"/>
          <p:cNvSpPr/>
          <p:nvPr/>
        </p:nvSpPr>
        <p:spPr>
          <a:xfrm>
            <a:off x="3865806" y="2543372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cxnSp>
        <p:nvCxnSpPr>
          <p:cNvPr id="372" name="Google Shape;372;p52"/>
          <p:cNvCxnSpPr/>
          <p:nvPr/>
        </p:nvCxnSpPr>
        <p:spPr>
          <a:xfrm>
            <a:off x="3237564" y="2882972"/>
            <a:ext cx="623700" cy="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73" name="Google Shape;373;p52"/>
          <p:cNvSpPr txBox="1"/>
          <p:nvPr/>
        </p:nvSpPr>
        <p:spPr>
          <a:xfrm>
            <a:off x="2694350" y="1864250"/>
            <a:ext cx="726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Logits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374" name="Google Shape;374;p52"/>
          <p:cNvCxnSpPr>
            <a:stCxn id="371" idx="3"/>
          </p:cNvCxnSpPr>
          <p:nvPr/>
        </p:nvCxnSpPr>
        <p:spPr>
          <a:xfrm flipH="1" rot="10800000">
            <a:off x="4786206" y="28829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75" name="Google Shape;375;p52"/>
          <p:cNvSpPr txBox="1"/>
          <p:nvPr>
            <p:ph idx="1" type="body"/>
          </p:nvPr>
        </p:nvSpPr>
        <p:spPr>
          <a:xfrm>
            <a:off x="3163063" y="2194725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Cat</a:t>
            </a:r>
            <a:endParaRPr sz="1400"/>
          </a:p>
        </p:txBody>
      </p:sp>
      <p:sp>
        <p:nvSpPr>
          <p:cNvPr id="376" name="Google Shape;376;p52"/>
          <p:cNvSpPr/>
          <p:nvPr/>
        </p:nvSpPr>
        <p:spPr>
          <a:xfrm>
            <a:off x="5681080" y="2537530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377" name="Google Shape;377;p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08705" y="3729988"/>
            <a:ext cx="2508885" cy="449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5" y="2262766"/>
            <a:ext cx="1323159" cy="1323159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2"/>
          <p:cNvSpPr txBox="1"/>
          <p:nvPr>
            <p:ph idx="1" type="body"/>
          </p:nvPr>
        </p:nvSpPr>
        <p:spPr>
          <a:xfrm>
            <a:off x="311700" y="1065603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say we have an image classification problem, with three classes--Cat, Dog, Horse. Our input data is image of a cat. </a:t>
            </a:r>
            <a:endParaRPr sz="1600"/>
          </a:p>
        </p:txBody>
      </p:sp>
      <p:graphicFrame>
        <p:nvGraphicFramePr>
          <p:cNvPr id="380" name="Google Shape;380;p52"/>
          <p:cNvGraphicFramePr/>
          <p:nvPr/>
        </p:nvGraphicFramePr>
        <p:xfrm>
          <a:off x="2762607" y="229535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{61CF3918-6FE5-4AB0-8454-EE18CFEB7B50}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81" name="Google Shape;381;p52"/>
          <p:cNvSpPr txBox="1"/>
          <p:nvPr>
            <p:ph idx="1" type="body"/>
          </p:nvPr>
        </p:nvSpPr>
        <p:spPr>
          <a:xfrm>
            <a:off x="3186175" y="3110975"/>
            <a:ext cx="6564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Horse</a:t>
            </a:r>
            <a:endParaRPr sz="1600"/>
          </a:p>
        </p:txBody>
      </p:sp>
      <p:sp>
        <p:nvSpPr>
          <p:cNvPr id="382" name="Google Shape;382;p52"/>
          <p:cNvSpPr txBox="1"/>
          <p:nvPr>
            <p:ph idx="1" type="body"/>
          </p:nvPr>
        </p:nvSpPr>
        <p:spPr>
          <a:xfrm>
            <a:off x="3186173" y="2538278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Dog</a:t>
            </a:r>
            <a:endParaRPr sz="1400"/>
          </a:p>
        </p:txBody>
      </p:sp>
      <p:graphicFrame>
        <p:nvGraphicFramePr>
          <p:cNvPr id="383" name="Google Shape;383;p52"/>
          <p:cNvGraphicFramePr/>
          <p:nvPr/>
        </p:nvGraphicFramePr>
        <p:xfrm>
          <a:off x="7597832" y="22900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{61CF3918-6FE5-4AB0-8454-EE18CFEB7B50}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384" name="Google Shape;384;p52"/>
          <p:cNvCxnSpPr>
            <a:endCxn id="376" idx="3"/>
          </p:cNvCxnSpPr>
          <p:nvPr/>
        </p:nvCxnSpPr>
        <p:spPr>
          <a:xfrm flipH="1">
            <a:off x="7220380" y="2882830"/>
            <a:ext cx="364500" cy="1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385" name="Google Shape;385;p52"/>
          <p:cNvGraphicFramePr/>
          <p:nvPr/>
        </p:nvGraphicFramePr>
        <p:xfrm>
          <a:off x="4996307" y="22893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{61CF3918-6FE5-4AB0-8454-EE18CFEB7B50}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0.24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0.09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0.66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386" name="Google Shape;386;p52"/>
          <p:cNvCxnSpPr/>
          <p:nvPr/>
        </p:nvCxnSpPr>
        <p:spPr>
          <a:xfrm flipH="1" rot="10800000">
            <a:off x="5479118" y="28874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7" name="Google Shape;387;p52"/>
          <p:cNvSpPr txBox="1"/>
          <p:nvPr>
            <p:ph idx="1" type="body"/>
          </p:nvPr>
        </p:nvSpPr>
        <p:spPr>
          <a:xfrm>
            <a:off x="4048629" y="1765410"/>
            <a:ext cx="23700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Predicted probability distribution </a:t>
            </a:r>
            <a:r>
              <a:rPr i="1" lang="en" sz="1220"/>
              <a:t>y</a:t>
            </a:r>
            <a:endParaRPr i="1" sz="1220"/>
          </a:p>
        </p:txBody>
      </p:sp>
      <p:sp>
        <p:nvSpPr>
          <p:cNvPr id="388" name="Google Shape;388;p52"/>
          <p:cNvSpPr txBox="1"/>
          <p:nvPr>
            <p:ph idx="1" type="body"/>
          </p:nvPr>
        </p:nvSpPr>
        <p:spPr>
          <a:xfrm>
            <a:off x="6826701" y="1758575"/>
            <a:ext cx="2016900" cy="4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True probability distribution </a:t>
            </a:r>
            <a:r>
              <a:rPr i="1" lang="en" sz="1220"/>
              <a:t>p</a:t>
            </a:r>
            <a:endParaRPr i="1" sz="122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cross-entropy loss isn’t the same as KL Distance!</a:t>
            </a:r>
            <a:endParaRPr/>
          </a:p>
        </p:txBody>
      </p:sp>
      <p:pic>
        <p:nvPicPr>
          <p:cNvPr descr="{&quot;type&quot;:&quot;gather*&quot;,&quot;id&quot;:&quot;4&quot;,&quot;aid&quot;:null,&quot;font&quot;:{&quot;size&quot;:11,&quot;color&quot;:&quot;#000000&quot;,&quot;family&quot;:&quot;Arial&quot;},&quot;backgroundColorModified&quot;:false,&quot;code&quot;:&quot;\\begin{gather*}\n{\\text{Notice:}}\\\\\n{\\text{x-entropy-loss(}p,y\\text{)}\\;\\text{=}-\\sum_{i=1}^{K}p_{i}\\log_{}\\left(y_{i}\\right)}\\\\\n{\\text{While,}}\\\\\n{KL\\left(p\\left|\\right|y\\right)=\\sum_{i=1}^{K}p_{i}\\log_{}\\frac{p_{i}}{y_{i}}=\\sum_{i=1}^{K}p_{i}\\left(\\log_{}p_{i}-\\log_{}y_{i}\\right)}\\\\\n{=\\sum_{i=1}^{K}p_{i}\\log_{}p_{i}-\\sum_{i=1}^{K}p_{i}\\log_{}y_{i}}\\\\\n{\\text{The}\\;\\text{first}\\;\\text{term}\\;\\text{only}\\;\\text{depends}\\;\\text{on}\\;\\text{groundtruth}\\;\\text{probabilities,}\\;\\text{its}}\\\\\n{\\text{derivative}\\;\\text{wrt}\\;\\text{network}\\;\\text{output}\\;y_{i}\\;\\text{is}\\;\\text{zero..}\\;\\text{So}\\;\\text{it}\\;\\text{can}\\;\\text{be}\\;\\text{ignored}\\;\\text{during}\\;\\text{optimization.}\\;\\;\\text{}}\\\\\n{\\text{Second}\\;\\text{term}\\;\\text{is}\\;\\text{the}\\;\\text{x-entropy}\\;\\text{loss.}}\\\\\n{\\text{This}\\;\\text{is}\\;\\text{why}\\;\\text{x-entropy}\\;\\text{can}\\;\\text{be}\\;\\text{used}\\;\\text{a}\\text{s}\\;\\text{a}\\;\\text{distance}\\;\\text{metric}\\;\\text{between}\\;\\text{two}\\;\\text{probability}\\;\\text{distributions.}\\;}\\\\\n{\\text{The}\\;\\text{gradient}\\;\\text{wrt}\\;\\text{network}\\;\\text{output}\\;\\text{is}\\;\\text{the}\\;\\text{same}\\,\\text{for}\\;\\text{KL}\\;\\text{distance}\\;\\text{and}\\;\\text{x-entropy}\\;\\text{loss}}\\\\\n{}\t\n\\end{gather*}&quot;,&quot;backgroundColor&quot;:&quot;#FFFFFF&quot;,&quot;ts&quot;:1762899843659,&quot;cs&quot;:&quot;JUYiL8wNRJvleHz6jEMuqw==&quot;,&quot;size&quot;:{&quot;width&quot;:695,&quot;height&quot;:319}}" id="394" name="Google Shape;39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171" y="1276339"/>
            <a:ext cx="6619875" cy="303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sp>
        <p:nvSpPr>
          <p:cNvPr id="400" name="Google Shape;400;p54"/>
          <p:cNvSpPr txBox="1"/>
          <p:nvPr>
            <p:ph idx="1" type="body"/>
          </p:nvPr>
        </p:nvSpPr>
        <p:spPr>
          <a:xfrm>
            <a:off x="478775" y="312725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now derive the partial of </a:t>
            </a:r>
            <a:r>
              <a:rPr i="1" lang="en" sz="1600"/>
              <a:t>e</a:t>
            </a:r>
            <a:r>
              <a:rPr lang="en" sz="1600"/>
              <a:t> against partial of </a:t>
            </a:r>
            <a:r>
              <a:rPr i="1" lang="en" sz="1600"/>
              <a:t>l </a:t>
            </a:r>
            <a:r>
              <a:rPr lang="en" sz="1600"/>
              <a:t>using basic math  </a:t>
            </a:r>
            <a:endParaRPr sz="1600"/>
          </a:p>
        </p:txBody>
      </p:sp>
      <p:pic>
        <p:nvPicPr>
          <p:cNvPr descr="{&quot;id&quot;:&quot;4&quot;,&quot;backgroundColor&quot;:&quot;#FFFFFF&quot;,&quot;backgroundColorModified&quot;:false,&quot;aid&quot;:null,&quot;code&quot;:&quot;$$y_{i\\,}\\text{=}\\frac{\\exp\\left(l_{i}\\right)}{\\sum_{i=1}^{K}\\exp\\left(l_{i}\\right)}$$&quot;,&quot;font&quot;:{&quot;size&quot;:11,&quot;family&quot;:&quot;Arial&quot;,&quot;color&quot;:&quot;#000000&quot;},&quot;type&quot;:&quot;$$&quot;,&quot;ts&quot;:1755221767658,&quot;cs&quot;:&quot;W2pharTkNijPupzWty204A==&quot;,&quot;size&quot;:{&quot;width&quot;:131,&quot;height&quot;:46}}" id="401" name="Google Shape;401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9249" y="1806750"/>
            <a:ext cx="1503651" cy="52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family&quot;:&quot;Arial&quot;,&quot;size&quot;:11},&quot;type&quot;:&quot;$$&quot;,&quot;id&quot;:&quot;4&quot;,&quot;aid&quot;:null,&quot;code&quot;:&quot;$$e\\,=\\,L\\left(y\\right)\\;\\text{=}-\\sum_{i=1}^{K}p_{i}\\log_{}\\left(y_{i}\\right)$$&quot;,&quot;backgroundColorModified&quot;:false,&quot;backgroundColor&quot;:&quot;#FFFFFF&quot;,&quot;ts&quot;:1755221791143,&quot;cs&quot;:&quot;nJb4xPP3YBfPNyPSX53Khg==&quot;,&quot;size&quot;:{&quot;width&quot;:208.66666666666666,&quot;height&quot;:47}}" id="402" name="Google Shape;402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4526" y="1806749"/>
            <a:ext cx="2278352" cy="513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4&quot;,&quot;code&quot;:&quot;\\begin{lalign*}\n&amp;{\\text{We}\\;\\text{need}\\;\\frac{\\partial e}{\\partial l}}\\\\\n&amp;{\\text{If}\\;l\\,\\text{is}\\;\\text{a}\\;m\\times1\\,\\text{vector,}\\;\\text{then}\\;\\text{above}\\;\\text{is}\\;\\text{also}\\;\\text{a}\\;m\\times1\\;\\text{vector}}\t\n\\end{lalign*}&quot;,&quot;backgroundColorModified&quot;:false,&quot;font&quot;:{&quot;family&quot;:&quot;Arial&quot;,&quot;color&quot;:&quot;#000000&quot;,&quot;size&quot;:11},&quot;backgroundColor&quot;:&quot;#FFFFFF&quot;,&quot;type&quot;:&quot;lalign*&quot;,&quot;ts&quot;:1755221919276,&quot;cs&quot;:&quot;LWRbP96Cq4nx6Y9YxZH5bQ==&quot;,&quot;size&quot;:{&quot;width&quot;:402.6666666666667,&quot;height&quot;:57.666666666666664}}" id="403" name="Google Shape;403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4524" y="2376100"/>
            <a:ext cx="4330299" cy="62015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54"/>
          <p:cNvSpPr txBox="1"/>
          <p:nvPr>
            <p:ph idx="1" type="body"/>
          </p:nvPr>
        </p:nvSpPr>
        <p:spPr>
          <a:xfrm>
            <a:off x="403375" y="1100213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To use x-entropy loss in a neural network, we’ll need the derivative of its output against the input. </a:t>
            </a:r>
            <a:endParaRPr sz="16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descr="{&quot;id&quot;:&quot;14&quot;,&quot;type&quot;:&quot;gather*&quot;,&quot;backgroundColorModified&quot;:false,&quot;code&quot;:&quot;\\begin{gather*}\n{\\text{We}\\;\\text{have:}}\\\\\n{\\vec{l}\\to\\text{Softmax}\\to\\vec{y}\\to \\text{x-entropy}\\to e\\,\\left(\\text{scalar}\\right)}\\\\\n{\\vec{l}\\,\\;\\text{and}\\;\\vec{y}\\,\\;\\text{are}\\,K\\times1\\,\\text{vectors}\\;\\text{}}\\\\\n{\\text{We}\\;\\text{need:}}\\\\\n{\\diff{e}{\\vec{l}}}\\\\\n{\\text{Applyin}\\text{g}\\;\\text{chain}\\;\\text{rule}\\;\\text{(lecture}\\;\\text{1.4),}}\\\\\n{\\diff{e}{\\vec{l}}=\\diff{\\vec{y}}{\\vec{l}}\\diff{e}{\\vec{y}}}\t\n\\end{gather*}&quot;,&quot;backgroundColor&quot;:&quot;#FFFFFF&quot;,&quot;aid&quot;:null,&quot;font&quot;:{&quot;family&quot;:&quot;Arial&quot;,&quot;color&quot;:&quot;#000000&quot;,&quot;size&quot;:12},&quot;ts&quot;:1762900833431,&quot;cs&quot;:&quot;e3mzeYa/INoeSzXkxIAeuA==&quot;,&quot;size&quot;:{&quot;width&quot;:353.6666666666667,&quot;height&quot;:234}}" id="410" name="Google Shape;41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600" y="1288875"/>
            <a:ext cx="3368675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aid&quot;:null,&quot;id&quot;:&quot;15&quot;,&quot;type&quot;:&quot;gather*&quot;,&quot;font&quot;:{&quot;size&quot;:12.5,&quot;color&quot;:&quot;#000000&quot;,&quot;family&quot;:&quot;Arial&quot;},&quot;code&quot;:&quot;\\begin{gather*}\n{e\\,=\\,L\\left(y\\right)\\;\\text{=}-\\sum_{i=1}^{K}p_{i}\\log_{}\\left(y_{i}\\right)}\\\\\n{\\diff{e}{y_{i}}=-\\frac{p_{i}}{y_{i}},\\,\\text{so}\\;\\diff{e}{\\vec{y}}=-\\left[\\diff{p_{i}}{y_{i}}\\right]_{K\\times1}\\,}\\\\\n{\\text{Following}\\;\\text{denominator}\\;\\text{notation}}\\\\\n{\\diff{\\vec{y}}{\\vec{l}}_{\\left(K\\times K\\right)}=Diag\\left(\\vec{y}\\right)-\\vec{y}\\vec{y}^{T}\\,\\text{(Note}\\;\\text{this}\\;\\text{is}\\;\\text{an}\\;\\text{outer}\\;\\text{product)}}\\\\\n{\\text{So:}}\\\\\n{\\diff{e}{\\vec{l}}=-\\left(Diag\\left(\\vec{y}\\right)-\\vec{y}\\vec{y}^{T}\\right)\\left(\\frac{\\vec{p}}{\\vec{y}}\\right)=\\vec{y}-\\vec{p}}\t\n\\end{gather*}&quot;,&quot;backgroundColorModified&quot;:false,&quot;ts&quot;:1762901589254,&quot;cs&quot;:&quot;iSQeIAyS84k72tAnjI2NAA==&quot;,&quot;size&quot;:{&quot;width&quot;:489.5,&quot;height&quot;:278.5}}" id="411" name="Google Shape;411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9800" y="1372825"/>
            <a:ext cx="4662488" cy="2652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endParaRPr/>
          </a:p>
        </p:txBody>
      </p:sp>
      <p:sp>
        <p:nvSpPr>
          <p:cNvPr id="417" name="Google Shape;417;p5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Run dice_roll.py and make sure you follow the logic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Following kl_distance.py, generate two discrete probability distributions A and B, and calculate KL distance KL(A,B) and KL(B,A). Verify they are not equal.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Prove all the math in the derivative of cross-entropy loss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Derive the MLE estimate of sigma in the derivation of MLE estimates of normal distribution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Read about Kolmogorov-Smirnov test, another method to compare two probability distributions</a:t>
            </a:r>
            <a:endParaRPr sz="15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Appendix</a:t>
            </a:r>
            <a:endParaRPr/>
          </a:p>
        </p:txBody>
      </p:sp>
      <p:sp>
        <p:nvSpPr>
          <p:cNvPr id="423" name="Google Shape;423;p5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58"/>
          <p:cNvSpPr txBox="1"/>
          <p:nvPr>
            <p:ph type="title"/>
          </p:nvPr>
        </p:nvSpPr>
        <p:spPr>
          <a:xfrm>
            <a:off x="311700" y="445025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429" name="Google Shape;429;p58"/>
          <p:cNvPicPr preferRelativeResize="0"/>
          <p:nvPr/>
        </p:nvPicPr>
        <p:blipFill rotWithShape="1">
          <a:blip r:embed="rId3">
            <a:alphaModFix/>
          </a:blip>
          <a:srcRect b="11150" l="440" r="3737" t="0"/>
          <a:stretch/>
        </p:blipFill>
        <p:spPr>
          <a:xfrm>
            <a:off x="3615300" y="0"/>
            <a:ext cx="4115689" cy="508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9"/>
          <p:cNvSpPr txBox="1"/>
          <p:nvPr>
            <p:ph type="title"/>
          </p:nvPr>
        </p:nvSpPr>
        <p:spPr>
          <a:xfrm>
            <a:off x="262700" y="312750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435" name="Google Shape;435;p59"/>
          <p:cNvPicPr preferRelativeResize="0"/>
          <p:nvPr/>
        </p:nvPicPr>
        <p:blipFill rotWithShape="1">
          <a:blip r:embed="rId3">
            <a:alphaModFix/>
          </a:blip>
          <a:srcRect b="23983" l="4028" r="24548" t="0"/>
          <a:stretch/>
        </p:blipFill>
        <p:spPr>
          <a:xfrm>
            <a:off x="3948225" y="76200"/>
            <a:ext cx="3516238" cy="499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0"/>
          <p:cNvSpPr txBox="1"/>
          <p:nvPr>
            <p:ph type="title"/>
          </p:nvPr>
        </p:nvSpPr>
        <p:spPr>
          <a:xfrm>
            <a:off x="311700" y="445025"/>
            <a:ext cx="376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Derivative of Softmax followed by MSE</a:t>
            </a:r>
            <a:endParaRPr/>
          </a:p>
        </p:txBody>
      </p:sp>
      <p:pic>
        <p:nvPicPr>
          <p:cNvPr id="441" name="Google Shape;441;p60"/>
          <p:cNvPicPr preferRelativeResize="0"/>
          <p:nvPr/>
        </p:nvPicPr>
        <p:blipFill rotWithShape="1">
          <a:blip r:embed="rId3">
            <a:alphaModFix/>
          </a:blip>
          <a:srcRect b="12924" l="6756" r="18749" t="1990"/>
          <a:stretch/>
        </p:blipFill>
        <p:spPr>
          <a:xfrm>
            <a:off x="4934275" y="22250"/>
            <a:ext cx="3347599" cy="5099001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60"/>
          <p:cNvSpPr txBox="1"/>
          <p:nvPr/>
        </p:nvSpPr>
        <p:spPr>
          <a:xfrm>
            <a:off x="348500" y="1498000"/>
            <a:ext cx="38274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Notice that multiplicative factor of y.. This results in a small gradient when model assigns a small probability to the correct class, slowing down convergence!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443" name="Google Shape;443;p60"/>
          <p:cNvCxnSpPr/>
          <p:nvPr/>
        </p:nvCxnSpPr>
        <p:spPr>
          <a:xfrm>
            <a:off x="3145825" y="2864575"/>
            <a:ext cx="2577300" cy="147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4" name="Google Shape;444;p60"/>
          <p:cNvSpPr txBox="1"/>
          <p:nvPr/>
        </p:nvSpPr>
        <p:spPr>
          <a:xfrm>
            <a:off x="2774950" y="4599550"/>
            <a:ext cx="223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Ignoring the factor of 2/3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aid&quot;:null,&quot;backgroundColor&quot;:&quot;#FFFFFF&quot;,&quot;code&quot;:&quot;\\begin{lalign*}\n&amp;{\\begin{pmatrix}\n{y_{1}-y_{1}^{2}}&amp;{-y_{1}y_{2}}&amp;{-y_{1}y_{3}}\\\\\n{-y_{1}y_{2}}&amp;{y_{2}-y_{2}^{2}}&amp;{-y_{2}y_{3}}\\\\\n{-y_{1}y_{3}}&amp;{-y_{2}y_{3}}&amp;{y_{3}-y_{3}^{2}}\\\\\n\\end{pmatrix}=diag\\left(y\\right)-yy^{T}}\\\\\n&amp;{\\text{where}\\;y=\\begin{pmatrix}\n{y_{1}}\\\\\n{y_{2}}\\\\\n{y_{3}}\\\\\n\\end{pmatrix}.\\,\\text{Denoting}\\;\\begin{pmatrix}\n{y_{1}-p_{1}}\\\\\n{y_{2}-p_{2}}\\\\\n{y_{3}-p_{3}}\\\\\n\\end{pmatrix}\\text{as}\\;g,}\\\\\n&amp;{\\begin{pmatrix}\n{y_{1}-y_{1}^{2}}&amp;{-y_{1}y_{2}}&amp;{-y_{1}y_{3}}\\\\\n{-y_{1}y_{2}}&amp;{y_{2}-y_{2}^{2}}&amp;{-y_{2}y_{3}}\\\\\n{-y_{1}y_{3}}&amp;{-y_{2}y_{3}}&amp;{y_{3}-y_{3}^{2}}\\\\\n\\end{pmatrix}\\begin{pmatrix}\n{y_{1}-p_{1}}\\\\\n{y_{2}-p_{2}}\\\\\n{y_{3}-p_{3}}\\\\\n\\end{pmatrix}=\\left(diag\\left(y\\right)-yy^{T}\\right)g}\\\\\n&amp;{=y\\odot g-yy^{T}g=y\\odot\\left(g-y^{T}g\\right)}\\\\\n&amp;{\\odot:\\,\\text{Hadamard}\\;\\text{(elemeent}\\,\\text{wise}\\text{)}\\;\\text{product}}\t\n\\end{lalign*}&quot;,&quot;type&quot;:&quot;lalign*&quot;,&quot;font&quot;:{&quot;family&quot;:&quot;Arial&quot;,&quot;size&quot;:9,&quot;color&quot;:&quot;#000000&quot;},&quot;id&quot;:&quot;11&quot;,&quot;backgroundColorModified&quot;:false,&quot;ts&quot;:1758855761597,&quot;cs&quot;:&quot;81LtbRUMehaKTpN/9NcvAA==&quot;,&quot;size&quot;:{&quot;width&quot;:377.3333333333333,&quot;height&quot;:219.66666666666666}}" id="445" name="Google Shape;445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238" y="2864572"/>
            <a:ext cx="3594100" cy="209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