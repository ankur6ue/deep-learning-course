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slide+xml" PartName="/ppt/slides/slide40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</p:sldIdLst>
  <p:sldSz cy="5143500" cx="9144000"/>
  <p:notesSz cx="6858000" cy="9144000"/>
  <p:embeddedFontLst>
    <p:embeddedFont>
      <p:font typeface="Roboto"/>
      <p:regular r:id="rId50"/>
      <p:bold r:id="rId51"/>
      <p:italic r:id="rId52"/>
      <p:boldItalic r:id="rId5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4FF459D-6556-4B4A-BB01-7876015CE89A}">
  <a:tblStyle styleId="{04FF459D-6556-4B4A-BB01-7876015CE89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32424945-B5A6-4187-9655-5718CCD74F73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4.xml"/><Relationship Id="rId42" Type="http://schemas.openxmlformats.org/officeDocument/2006/relationships/slide" Target="slides/slide36.xml"/><Relationship Id="rId41" Type="http://schemas.openxmlformats.org/officeDocument/2006/relationships/slide" Target="slides/slide35.xml"/><Relationship Id="rId44" Type="http://schemas.openxmlformats.org/officeDocument/2006/relationships/slide" Target="slides/slide38.xml"/><Relationship Id="rId43" Type="http://schemas.openxmlformats.org/officeDocument/2006/relationships/slide" Target="slides/slide37.xml"/><Relationship Id="rId46" Type="http://schemas.openxmlformats.org/officeDocument/2006/relationships/slide" Target="slides/slide40.xml"/><Relationship Id="rId45" Type="http://schemas.openxmlformats.org/officeDocument/2006/relationships/slide" Target="slides/slide39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48" Type="http://schemas.openxmlformats.org/officeDocument/2006/relationships/slide" Target="slides/slide42.xml"/><Relationship Id="rId47" Type="http://schemas.openxmlformats.org/officeDocument/2006/relationships/slide" Target="slides/slide41.xml"/><Relationship Id="rId49" Type="http://schemas.openxmlformats.org/officeDocument/2006/relationships/slide" Target="slides/slide43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33" Type="http://schemas.openxmlformats.org/officeDocument/2006/relationships/slide" Target="slides/slide27.xml"/><Relationship Id="rId32" Type="http://schemas.openxmlformats.org/officeDocument/2006/relationships/slide" Target="slides/slide26.xml"/><Relationship Id="rId35" Type="http://schemas.openxmlformats.org/officeDocument/2006/relationships/slide" Target="slides/slide29.xml"/><Relationship Id="rId34" Type="http://schemas.openxmlformats.org/officeDocument/2006/relationships/slide" Target="slides/slide28.xml"/><Relationship Id="rId37" Type="http://schemas.openxmlformats.org/officeDocument/2006/relationships/slide" Target="slides/slide31.xml"/><Relationship Id="rId36" Type="http://schemas.openxmlformats.org/officeDocument/2006/relationships/slide" Target="slides/slide30.xml"/><Relationship Id="rId39" Type="http://schemas.openxmlformats.org/officeDocument/2006/relationships/slide" Target="slides/slide33.xml"/><Relationship Id="rId38" Type="http://schemas.openxmlformats.org/officeDocument/2006/relationships/slide" Target="slides/slide32.xml"/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29" Type="http://schemas.openxmlformats.org/officeDocument/2006/relationships/slide" Target="slides/slide23.xml"/><Relationship Id="rId51" Type="http://schemas.openxmlformats.org/officeDocument/2006/relationships/font" Target="fonts/Roboto-bold.fntdata"/><Relationship Id="rId50" Type="http://schemas.openxmlformats.org/officeDocument/2006/relationships/font" Target="fonts/Roboto-regular.fntdata"/><Relationship Id="rId53" Type="http://schemas.openxmlformats.org/officeDocument/2006/relationships/font" Target="fonts/Roboto-boldItalic.fntdata"/><Relationship Id="rId52" Type="http://schemas.openxmlformats.org/officeDocument/2006/relationships/font" Target="fonts/Roboto-italic.fntdata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9d5083aa5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9d5083aa5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700caf16bf_0_3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700caf16bf_0_3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9d5083aa51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9d5083aa51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9d5083aa51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9d5083aa51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9d5083aa51_0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9d5083aa51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9d5083aa51_0_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9d5083aa51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9d5083aa51_0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39d5083aa51_0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9d5083aa51_0_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39d5083aa51_0_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9d5083aa51_0_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9d5083aa51_0_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700caf16bf_0_3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700caf16bf_0_3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700caf16bf_0_3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3700caf16bf_0_3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700caf16bf_0_3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3700caf16bf_0_3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a31a9cff7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a31a9cff7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a31a9cff71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" name="Google Shape;150;g3a31a9cff71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a31a9cff71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3a31a9cff71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a31a9cff71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" name="Google Shape;165;g3a31a9cff71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9d5083aa51_0_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" name="Google Shape;174;g39d5083aa51_0_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9d5083aa51_0_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g39d5083aa51_0_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39d5083aa51_0_9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g39d5083aa51_0_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g39e086f8d5e_0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4" name="Google Shape;194;g39e086f8d5e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39e086f8d5e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39e086f8d5e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39e086f8d5e_0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39e086f8d5e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9e086f8d5e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9e086f8d5e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39e086f8d5e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9" name="Google Shape;229;g39e086f8d5e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3700caf16bf_0_30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6" name="Google Shape;236;g3700caf16bf_0_3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700caf16bf_0_3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700caf16bf_0_3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3700caf16bf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g3700caf16bf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700caf16bf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7" name="Google Shape;257;g3700caf16bf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3700caf16bf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4" name="Google Shape;264;g3700caf16bf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g3700caf16bf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3" name="Google Shape;273;g3700caf16bf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3700caf16bf_0_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3" name="Google Shape;283;g3700caf16bf_0_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700caf16bf_0_1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700caf16bf_0_1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3700caf16bf_0_1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7" name="Google Shape;317;g3700caf16bf_0_1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g3700caf16bf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5" name="Google Shape;325;g3700caf16bf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g3700caf16bf_0_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3" name="Google Shape;353;g3700caf16bf_0_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g3700caf16bf_0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" name="Google Shape;359;g3700caf16bf_0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7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g3700caf16bf_0_2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9" name="Google Shape;369;g3700caf16bf_0_2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4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g3700caf16bf_0_30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6" name="Google Shape;376;g3700caf16bf_0_3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0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g3700caf16bf_0_2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2" name="Google Shape;382;g3700caf16bf_0_2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g3700caf16bf_0_2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8" name="Google Shape;388;g3700caf16bf_0_2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g3700caf16bf_0_2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4" name="Google Shape;394;g3700caf16bf_0_2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g3700caf16bf_0_2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0" name="Google Shape;400;g3700caf16bf_0_2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www.khanacademy.org/math/statistics-probability" TargetMode="External"/><Relationship Id="rId4" Type="http://schemas.openxmlformats.org/officeDocument/2006/relationships/hyperlink" Target="https://www.khanacademy.org/math/statistics-probability" TargetMode="External"/><Relationship Id="rId9" Type="http://schemas.openxmlformats.org/officeDocument/2006/relationships/hyperlink" Target="https://cs231n.stanford.edu/slides/2018/cs231n_2018_lecture03.pdf" TargetMode="External"/><Relationship Id="rId5" Type="http://schemas.openxmlformats.org/officeDocument/2006/relationships/hyperlink" Target="https://www.khanacademy.org/math/statistics-probability/modeling-distributions-of-data/more-on-normal-distributions/v/introduction-to-the-normal-distribution" TargetMode="External"/><Relationship Id="rId6" Type="http://schemas.openxmlformats.org/officeDocument/2006/relationships/hyperlink" Target="https://www.khanacademy.org/math/statistics-probability/random-variables-stats-library/poisson-distribution/v/poisson-process-1" TargetMode="External"/><Relationship Id="rId7" Type="http://schemas.openxmlformats.org/officeDocument/2006/relationships/hyperlink" Target="https://cs231n.github.io/linear-classify/#softmax" TargetMode="External"/><Relationship Id="rId8" Type="http://schemas.openxmlformats.org/officeDocument/2006/relationships/hyperlink" Target="https://www.youtube.com/watch?v=uW0TapQ6UQU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1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png"/><Relationship Id="rId4" Type="http://schemas.openxmlformats.org/officeDocument/2006/relationships/image" Target="../media/image1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Relationship Id="rId4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9.png"/><Relationship Id="rId4" Type="http://schemas.openxmlformats.org/officeDocument/2006/relationships/image" Target="../media/image5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Relationship Id="rId4" Type="http://schemas.openxmlformats.org/officeDocument/2006/relationships/image" Target="../media/image2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9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7.png"/><Relationship Id="rId4" Type="http://schemas.openxmlformats.org/officeDocument/2006/relationships/image" Target="../media/image3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0.png"/><Relationship Id="rId4" Type="http://schemas.openxmlformats.org/officeDocument/2006/relationships/image" Target="../media/image28.png"/><Relationship Id="rId5" Type="http://schemas.openxmlformats.org/officeDocument/2006/relationships/image" Target="../media/image2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5.png"/><Relationship Id="rId4" Type="http://schemas.openxmlformats.org/officeDocument/2006/relationships/image" Target="../media/image1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46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32.png"/><Relationship Id="rId4" Type="http://schemas.openxmlformats.org/officeDocument/2006/relationships/image" Target="../media/image21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3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30.png"/><Relationship Id="rId4" Type="http://schemas.openxmlformats.org/officeDocument/2006/relationships/image" Target="../media/image27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33.png"/><Relationship Id="rId4" Type="http://schemas.openxmlformats.org/officeDocument/2006/relationships/image" Target="../media/image35.png"/><Relationship Id="rId5" Type="http://schemas.openxmlformats.org/officeDocument/2006/relationships/image" Target="../media/image34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44.png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42.png"/><Relationship Id="rId4" Type="http://schemas.openxmlformats.org/officeDocument/2006/relationships/image" Target="../media/image37.png"/><Relationship Id="rId5" Type="http://schemas.openxmlformats.org/officeDocument/2006/relationships/image" Target="../media/image38.png"/><Relationship Id="rId6" Type="http://schemas.openxmlformats.org/officeDocument/2006/relationships/image" Target="../media/image41.png"/><Relationship Id="rId7" Type="http://schemas.openxmlformats.org/officeDocument/2006/relationships/image" Target="../media/image48.png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45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42.png"/><Relationship Id="rId4" Type="http://schemas.openxmlformats.org/officeDocument/2006/relationships/image" Target="../media/image38.png"/><Relationship Id="rId5" Type="http://schemas.openxmlformats.org/officeDocument/2006/relationships/image" Target="../media/image48.png"/><Relationship Id="rId6" Type="http://schemas.openxmlformats.org/officeDocument/2006/relationships/image" Target="../media/image47.png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36.png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3.png"/><Relationship Id="rId4" Type="http://schemas.openxmlformats.org/officeDocument/2006/relationships/image" Target="../media/image50.png"/><Relationship Id="rId5" Type="http://schemas.openxmlformats.org/officeDocument/2006/relationships/image" Target="../media/image5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39.png"/><Relationship Id="rId4" Type="http://schemas.openxmlformats.org/officeDocument/2006/relationships/image" Target="../media/image4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52.png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49.png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53.png"/><Relationship Id="rId4" Type="http://schemas.openxmlformats.org/officeDocument/2006/relationships/image" Target="../media/image5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Fundamentals of Probability for ML</a:t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55000" lnSpcReduction="2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n"/>
              <a:t>Introduction to Deep Learning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n"/>
              <a:t>Module 1, Class 6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Pre-read	</a:t>
            </a:r>
            <a:endParaRPr/>
          </a:p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-"/>
            </a:pPr>
            <a:r>
              <a:rPr i="1" lang="en" sz="1300" u="sng">
                <a:solidFill>
                  <a:schemeClr val="hlink"/>
                </a:solidFill>
                <a:hlinkClick r:id="rId3"/>
              </a:rPr>
              <a:t>Khan Academy — Probability &amp; Statistics unit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 (covers PMF, PDF, expectation, variance)</a:t>
            </a:r>
            <a:r>
              <a:rPr lang="en" sz="2000"/>
              <a:t> (Unit 7,8,9)</a:t>
            </a:r>
            <a:endParaRPr sz="20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 sz="1400" u="sng">
                <a:solidFill>
                  <a:schemeClr val="accent5"/>
                </a:solidFill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Normal Distributions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 sz="1400" u="sng">
                <a:solidFill>
                  <a:schemeClr val="accent5"/>
                </a:solidFill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Poisson Distribution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 sz="1400"/>
              <a:t>CS 231n: </a:t>
            </a:r>
            <a:r>
              <a:rPr lang="en" sz="1400" u="sng">
                <a:solidFill>
                  <a:schemeClr val="hlink"/>
                </a:solidFill>
                <a:hlinkClick r:id="rId7"/>
              </a:rPr>
              <a:t>Section on Softmax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 sz="1400"/>
              <a:t>Youtube: </a:t>
            </a:r>
            <a:r>
              <a:rPr lang="en" sz="1400" u="sng">
                <a:solidFill>
                  <a:schemeClr val="hlink"/>
                </a:solidFill>
                <a:hlinkClick r:id="rId8"/>
              </a:rPr>
              <a:t>Correlation and Covariance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 sz="1400"/>
              <a:t>CS 231n: </a:t>
            </a:r>
            <a:r>
              <a:rPr lang="en" sz="1400" u="sng">
                <a:solidFill>
                  <a:schemeClr val="hlink"/>
                </a:solidFill>
                <a:hlinkClick r:id="rId9"/>
              </a:rPr>
              <a:t>Section on Softmax </a:t>
            </a:r>
            <a:endParaRPr sz="14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Agenda</a:t>
            </a:r>
            <a:endParaRPr/>
          </a:p>
        </p:txBody>
      </p:sp>
      <p:graphicFrame>
        <p:nvGraphicFramePr>
          <p:cNvPr id="67" name="Google Shape;67;p15"/>
          <p:cNvGraphicFramePr/>
          <p:nvPr/>
        </p:nvGraphicFramePr>
        <p:xfrm>
          <a:off x="388225" y="124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{04FF459D-6556-4B4A-BB01-7876015CE89A}</a:tableStyleId>
              </a:tblPr>
              <a:tblGrid>
                <a:gridCol w="4514975"/>
              </a:tblGrid>
              <a:tr h="19050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/>
                        <a:t>Topic</a:t>
                      </a:r>
                      <a:endParaRPr b="1"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905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Why ML needs probability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905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/>
                        <a:t>Random variables</a:t>
                      </a:r>
                      <a:r>
                        <a:rPr lang="en" sz="1100"/>
                        <a:t> – discrete vs continuous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905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/>
                        <a:t>Analyzing</a:t>
                      </a:r>
                      <a:r>
                        <a:rPr b="1" lang="en" sz="1100"/>
                        <a:t> API Calls</a:t>
                      </a:r>
                      <a:endParaRPr b="1"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905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/>
                        <a:t>Expectation &amp; Variance</a:t>
                      </a:r>
                      <a:endParaRPr b="1"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905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/>
                        <a:t>Joint &amp; Conditional probability + Bayes’ rule</a:t>
                      </a:r>
                      <a:endParaRPr b="1"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905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/>
                        <a:t>Covariance / Correlation / Independence</a:t>
                      </a:r>
                      <a:endParaRPr b="1"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905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/>
                        <a:t>Comparing distributions → KL divergence → Cross-entropy loss</a:t>
                      </a:r>
                      <a:endParaRPr b="1"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Motivation</a:t>
            </a:r>
            <a:endParaRPr/>
          </a:p>
        </p:txBody>
      </p:sp>
      <p:sp>
        <p:nvSpPr>
          <p:cNvPr id="73" name="Google Shape;73;p16"/>
          <p:cNvSpPr txBox="1"/>
          <p:nvPr>
            <p:ph idx="1" type="body"/>
          </p:nvPr>
        </p:nvSpPr>
        <p:spPr>
          <a:xfrm>
            <a:off x="487850" y="109962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Probabilities</a:t>
            </a:r>
            <a:r>
              <a:rPr lang="en"/>
              <a:t> and probability distributions are used extensively in Deep Learning. Eg., a classification network outputs a probability distribution over classes, the dropout regularization method </a:t>
            </a:r>
            <a:r>
              <a:rPr lang="en"/>
              <a:t>probabilistically</a:t>
            </a:r>
            <a:r>
              <a:rPr lang="en"/>
              <a:t> removes neurons from a network, weights are </a:t>
            </a:r>
            <a:r>
              <a:rPr lang="en"/>
              <a:t>initialized</a:t>
            </a:r>
            <a:r>
              <a:rPr lang="en"/>
              <a:t> by sampling from a normal distribution..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Random Variables</a:t>
            </a:r>
            <a:endParaRPr/>
          </a:p>
        </p:txBody>
      </p:sp>
      <p:sp>
        <p:nvSpPr>
          <p:cNvPr id="79" name="Google Shape;79;p1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001D35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A random variable is a variable whose value is a numerical outcome of a random phenomenon. A </a:t>
            </a:r>
            <a:r>
              <a:rPr b="1" lang="en" sz="1200">
                <a:solidFill>
                  <a:srgbClr val="001D35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discrete random variable</a:t>
            </a:r>
            <a:r>
              <a:rPr lang="en" sz="1200">
                <a:solidFill>
                  <a:srgbClr val="001D35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 has a countable number of possible values, such as the number of heads in three coin flips. A </a:t>
            </a:r>
            <a:r>
              <a:rPr b="1" lang="en" sz="1200">
                <a:solidFill>
                  <a:srgbClr val="001D35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continuous random variable</a:t>
            </a:r>
            <a:r>
              <a:rPr lang="en" sz="1200">
                <a:solidFill>
                  <a:srgbClr val="001D35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 can take on any value within a given range, meaning there are infinite possible values between any two given values, such as a person's height</a:t>
            </a:r>
            <a:endParaRPr sz="1200">
              <a:solidFill>
                <a:srgbClr val="001D35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200">
              <a:solidFill>
                <a:srgbClr val="001D35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Discrete Random Variables	</a:t>
            </a:r>
            <a:endParaRPr/>
          </a:p>
        </p:txBody>
      </p:sp>
      <p:sp>
        <p:nvSpPr>
          <p:cNvPr id="85" name="Google Shape;85;p1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500">
                <a:solidFill>
                  <a:schemeClr val="dk1"/>
                </a:solidFill>
              </a:rPr>
              <a:t>A </a:t>
            </a:r>
            <a:r>
              <a:rPr b="1" lang="en" sz="1500">
                <a:solidFill>
                  <a:schemeClr val="dk1"/>
                </a:solidFill>
              </a:rPr>
              <a:t>discrete random variable</a:t>
            </a:r>
            <a:r>
              <a:rPr lang="en" sz="1500">
                <a:solidFill>
                  <a:schemeClr val="dk1"/>
                </a:solidFill>
              </a:rPr>
              <a:t> is one that can take on </a:t>
            </a:r>
            <a:r>
              <a:rPr b="1" lang="en" sz="1500">
                <a:solidFill>
                  <a:schemeClr val="dk1"/>
                </a:solidFill>
              </a:rPr>
              <a:t>a countable number of distinct values</a:t>
            </a:r>
            <a:r>
              <a:rPr lang="en" sz="1500">
                <a:solidFill>
                  <a:schemeClr val="dk1"/>
                </a:solidFill>
              </a:rPr>
              <a:t>,</a:t>
            </a:r>
            <a:endParaRPr sz="15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</a:rPr>
              <a:t>such as 0,1,2,3 or {−1,0,1}</a:t>
            </a:r>
            <a:endParaRPr sz="15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</a:rPr>
              <a:t>It is described by a </a:t>
            </a:r>
            <a:r>
              <a:rPr b="1" lang="en" sz="1300">
                <a:solidFill>
                  <a:schemeClr val="dk1"/>
                </a:solidFill>
              </a:rPr>
              <a:t>probability mass function (PMF)</a:t>
            </a:r>
            <a:r>
              <a:rPr lang="en" sz="1300">
                <a:solidFill>
                  <a:schemeClr val="dk1"/>
                </a:solidFill>
              </a:rPr>
              <a:t>: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</a:endParaRPr>
          </a:p>
        </p:txBody>
      </p:sp>
      <p:pic>
        <p:nvPicPr>
          <p:cNvPr descr="{&quot;backgroundColor&quot;:&quot;#FFFFFF&quot;,&quot;id&quot;:&quot;1&quot;,&quot;code&quot;:&quot;\\begin{gather*}\n{p\\left(x\\right)=p\\left(X=x\\right)}\\\\\n{p\\left(x\\right)\\geq0}\\\\\n{\\sum_{x}^{}p\\left(x\\right)\\,=\\,1}\t\n\\end{gather*}&quot;,&quot;type&quot;:&quot;gather*&quot;,&quot;font&quot;:{&quot;color&quot;:&quot;#000000&quot;,&quot;size&quot;:16.5,&quot;family&quot;:&quot;Arial&quot;},&quot;backgroundColorModified&quot;:false,&quot;aid&quot;:null,&quot;ts&quot;:1761695624326,&quot;cs&quot;:&quot;3JOMGMo8Yu73Q/1libBIfg==&quot;,&quot;size&quot;:{&quot;width&quot;:196.18627296587928,&quot;height&quot;:128.84253937007875}}" id="86" name="Google Shape;86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05950" y="2657225"/>
            <a:ext cx="1868674" cy="1227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n"/>
              <a:t>Discrete Random Variables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aphicFrame>
        <p:nvGraphicFramePr>
          <p:cNvPr id="92" name="Google Shape;92;p19"/>
          <p:cNvGraphicFramePr/>
          <p:nvPr/>
        </p:nvGraphicFramePr>
        <p:xfrm>
          <a:off x="146888" y="11037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{04FF459D-6556-4B4A-BB01-7876015CE89A}</a:tableStyleId>
              </a:tblPr>
              <a:tblGrid>
                <a:gridCol w="1727525"/>
                <a:gridCol w="1818325"/>
                <a:gridCol w="1831525"/>
                <a:gridCol w="3503100"/>
              </a:tblGrid>
              <a:tr h="61812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300"/>
                        <a:t>Random Variable</a:t>
                      </a:r>
                      <a:endParaRPr b="1" sz="13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300"/>
                        <a:t>Values</a:t>
                      </a:r>
                      <a:endParaRPr b="1" sz="13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300"/>
                        <a:t>PMF </a:t>
                      </a:r>
                      <a:endParaRPr b="1" sz="13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" sz="1300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b="1" sz="1300">
                        <a:solidFill>
                          <a:schemeClr val="dk1"/>
                        </a:solidFill>
                      </a:endParaRPr>
                    </a:p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3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731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/>
                        <a:t>Coin toss</a:t>
                      </a:r>
                      <a:endParaRPr sz="13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/>
                        <a:t>{0, 1}</a:t>
                      </a:r>
                      <a:endParaRPr sz="13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/>
                        <a:t>p(1)=0.5, p(0)=0.5</a:t>
                      </a:r>
                      <a:endParaRPr sz="13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3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2113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/>
                        <a:t>Number of heads in 3 tosses</a:t>
                      </a:r>
                      <a:endParaRPr sz="13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/>
                        <a:t>{0, 1, 2, 3}</a:t>
                      </a:r>
                      <a:endParaRPr sz="13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/>
                        <a:t>Binomial distribution</a:t>
                      </a:r>
                      <a:endParaRPr sz="13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/>
                        <a:t>Describes the number of "successes" in a fixed number of independent trials (n), where each trial has only two possible outcomes (success or failure). Prob(success) = p</a:t>
                      </a:r>
                      <a:endParaRPr sz="1300"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3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4161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/>
                        <a:t>Number of emails received per hour</a:t>
                      </a:r>
                      <a:endParaRPr sz="13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/>
                        <a:t>{0, 1, 2, ...}</a:t>
                      </a:r>
                      <a:endParaRPr sz="13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/>
                        <a:t>Poisson distribution</a:t>
                      </a:r>
                      <a:endParaRPr sz="13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/>
                        <a:t>Models the probability of a specific number of independent events happening over a fixed interval (t), when you know the average rate of these events (lamda)</a:t>
                      </a:r>
                      <a:endParaRPr sz="1300"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300"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3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pic>
        <p:nvPicPr>
          <p:cNvPr descr="{&quot;backgroundColor&quot;:&quot;#FFFFFF&quot;,&quot;type&quot;:&quot;$$&quot;,&quot;font&quot;:{&quot;family&quot;:&quot;Arial&quot;,&quot;color&quot;:&quot;#000000&quot;,&quot;size&quot;:13},&quot;id&quot;:&quot;12&quot;,&quot;code&quot;:&quot;$$P\\left(X=k\\right)=\\Comb{n}{k}p^{k}\\left(1-p\\right)^{n-k}$$&quot;,&quot;aid&quot;:null,&quot;backgroundColorModified&quot;:false,&quot;ts&quot;:1762889482551,&quot;cs&quot;:&quot;ajxz4+Tm2j2p1Pcs44dO9w==&quot;,&quot;size&quot;:{&quot;width&quot;:261,&quot;height&quot;:24.800000000000008}}" id="93" name="Google Shape;93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857888" y="3392000"/>
            <a:ext cx="2486025" cy="23622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backgroundColor&quot;:&quot;#FFFFFF&quot;,&quot;id&quot;:&quot;13&quot;,&quot;font&quot;:{&quot;family&quot;:&quot;Arial&quot;,&quot;color&quot;:&quot;#000000&quot;,&quot;size&quot;:13},&quot;aid&quot;:null,&quot;backgroundColorModified&quot;:false,&quot;type&quot;:&quot;$$&quot;,&quot;code&quot;:&quot;$$p\\left(X=k\\right)=\\frac{\\exp\\left(-\\lambda\\right)\\lambda^{x}}{x!}$$&quot;,&quot;ts&quot;:1762889985829,&quot;cs&quot;:&quot;MRYthGth/AzMmSiiKQatpw==&quot;,&quot;size&quot;:{&quot;width&quot;:218,&quot;height&quot;:44}}" id="94" name="Google Shape;94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062675" y="4542850"/>
            <a:ext cx="2076450" cy="419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Continuous Random Variables	</a:t>
            </a:r>
            <a:endParaRPr/>
          </a:p>
        </p:txBody>
      </p:sp>
      <p:sp>
        <p:nvSpPr>
          <p:cNvPr id="100" name="Google Shape;100;p2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solidFill>
                  <a:schemeClr val="dk1"/>
                </a:solidFill>
              </a:rPr>
              <a:t>A </a:t>
            </a:r>
            <a:r>
              <a:rPr b="1" lang="en" sz="1300">
                <a:solidFill>
                  <a:schemeClr val="dk1"/>
                </a:solidFill>
              </a:rPr>
              <a:t>continuous random variable</a:t>
            </a:r>
            <a:r>
              <a:rPr lang="en" sz="1300">
                <a:solidFill>
                  <a:schemeClr val="dk1"/>
                </a:solidFill>
              </a:rPr>
              <a:t> takes values from an </a:t>
            </a:r>
            <a:r>
              <a:rPr b="1" lang="en" sz="1300">
                <a:solidFill>
                  <a:schemeClr val="dk1"/>
                </a:solidFill>
              </a:rPr>
              <a:t>uncountable set</a:t>
            </a:r>
            <a:r>
              <a:rPr lang="en" sz="1300">
                <a:solidFill>
                  <a:schemeClr val="dk1"/>
                </a:solidFill>
              </a:rPr>
              <a:t> — typically all real numbers in an interval.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solidFill>
                  <a:schemeClr val="dk1"/>
                </a:solidFill>
              </a:rPr>
              <a:t>We describe it using a </a:t>
            </a:r>
            <a:r>
              <a:rPr b="1" lang="en" sz="1300">
                <a:solidFill>
                  <a:schemeClr val="dk1"/>
                </a:solidFill>
              </a:rPr>
              <a:t>probability density function (PDF)</a:t>
            </a:r>
            <a:r>
              <a:rPr lang="en" sz="1300">
                <a:solidFill>
                  <a:schemeClr val="dk1"/>
                </a:solidFill>
              </a:rPr>
              <a:t> f(x) such that: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</a:endParaRPr>
          </a:p>
        </p:txBody>
      </p:sp>
      <p:pic>
        <p:nvPicPr>
          <p:cNvPr descr="{&quot;aid&quot;:null,&quot;backgroundColorModified&quot;:false,&quot;font&quot;:{&quot;family&quot;:&quot;Arial&quot;,&quot;color&quot;:&quot;#000000&quot;,&quot;size&quot;:16.5},&quot;id&quot;:&quot;1&quot;,&quot;code&quot;:&quot;\\begin{gather*}\n{p\\left(a\\leq x\\leq b\\right)=\\int_{a}^{b}f\\left(x\\right)dx}\\\\\n{f\\left(x\\right)\\geq0}\\\\\n{\\int_{-\\infty}^{+\\infty}f\\left(x\\right)dx=1}\t\n\\end{gather*}&quot;,&quot;backgroundColor&quot;:&quot;#FFFFFF&quot;,&quot;type&quot;:&quot;gather*&quot;,&quot;ts&quot;:1761696303671,&quot;cs&quot;:&quot;hQeGjdYXVD4FzmaglGYfNw==&quot;,&quot;size&quot;:{&quot;width&quot;:300.75,&quot;height&quot;:167.5}}" id="101" name="Google Shape;101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05950" y="2188742"/>
            <a:ext cx="2864644" cy="1595438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20"/>
          <p:cNvSpPr txBox="1"/>
          <p:nvPr/>
        </p:nvSpPr>
        <p:spPr>
          <a:xfrm>
            <a:off x="311700" y="3405900"/>
            <a:ext cx="8285400" cy="173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chemeClr val="dk1"/>
                </a:solidFill>
              </a:rPr>
              <a:t>Intuition</a:t>
            </a:r>
            <a:endParaRPr b="1" sz="1500">
              <a:solidFill>
                <a:schemeClr val="dk1"/>
              </a:solidFill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30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" sz="1300">
                <a:solidFill>
                  <a:schemeClr val="dk1"/>
                </a:solidFill>
              </a:rPr>
              <a:t>The probability that X takes </a:t>
            </a:r>
            <a:r>
              <a:rPr b="1" lang="en" sz="1300">
                <a:solidFill>
                  <a:schemeClr val="dk1"/>
                </a:solidFill>
              </a:rPr>
              <a:t>any single value</a:t>
            </a:r>
            <a:r>
              <a:rPr lang="en" sz="1300">
                <a:solidFill>
                  <a:schemeClr val="dk1"/>
                </a:solidFill>
              </a:rPr>
              <a:t> (e.g., X=0.5) is </a:t>
            </a:r>
            <a:r>
              <a:rPr b="1" lang="en" sz="1300">
                <a:solidFill>
                  <a:schemeClr val="dk1"/>
                </a:solidFill>
              </a:rPr>
              <a:t>zero</a:t>
            </a:r>
            <a:r>
              <a:rPr lang="en" sz="1300">
                <a:solidFill>
                  <a:schemeClr val="dk1"/>
                </a:solidFill>
              </a:rPr>
              <a:t>.</a:t>
            </a:r>
            <a:br>
              <a:rPr lang="en" sz="1300">
                <a:solidFill>
                  <a:schemeClr val="dk1"/>
                </a:solidFill>
              </a:rPr>
            </a:br>
            <a:endParaRPr sz="1300">
              <a:solidFill>
                <a:schemeClr val="dk1"/>
              </a:solidFill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" sz="1300">
                <a:solidFill>
                  <a:schemeClr val="dk1"/>
                </a:solidFill>
              </a:rPr>
              <a:t>Instead, we talk about the </a:t>
            </a:r>
            <a:r>
              <a:rPr b="1" lang="en" sz="1300">
                <a:solidFill>
                  <a:schemeClr val="dk1"/>
                </a:solidFill>
              </a:rPr>
              <a:t>probability of a range of values</a:t>
            </a:r>
            <a:r>
              <a:rPr lang="en" sz="1300">
                <a:solidFill>
                  <a:schemeClr val="dk1"/>
                </a:solidFill>
              </a:rPr>
              <a:t>.</a:t>
            </a:r>
            <a:br>
              <a:rPr lang="en" sz="1300">
                <a:solidFill>
                  <a:schemeClr val="dk1"/>
                </a:solidFill>
              </a:rPr>
            </a:br>
            <a:endParaRPr sz="1300">
              <a:solidFill>
                <a:schemeClr val="dk1"/>
              </a:solidFill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" sz="1300">
                <a:solidFill>
                  <a:schemeClr val="dk1"/>
                </a:solidFill>
              </a:rPr>
              <a:t>The PDF is like a </a:t>
            </a:r>
            <a:r>
              <a:rPr i="1" lang="en" sz="1300">
                <a:solidFill>
                  <a:schemeClr val="dk1"/>
                </a:solidFill>
              </a:rPr>
              <a:t>curve</a:t>
            </a:r>
            <a:r>
              <a:rPr lang="en" sz="1300">
                <a:solidFill>
                  <a:schemeClr val="dk1"/>
                </a:solidFill>
              </a:rPr>
              <a:t> that shows how likely different regions are.</a:t>
            </a:r>
            <a:endParaRPr sz="13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457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20"/>
              <a:t>Continuous Random Variables</a:t>
            </a:r>
            <a:endParaRPr sz="2220"/>
          </a:p>
        </p:txBody>
      </p:sp>
      <p:graphicFrame>
        <p:nvGraphicFramePr>
          <p:cNvPr id="108" name="Google Shape;108;p21"/>
          <p:cNvGraphicFramePr/>
          <p:nvPr/>
        </p:nvGraphicFramePr>
        <p:xfrm>
          <a:off x="311700" y="14834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{04FF459D-6556-4B4A-BB01-7876015CE89A}</a:tableStyleId>
              </a:tblPr>
              <a:tblGrid>
                <a:gridCol w="3486550"/>
                <a:gridCol w="2106850"/>
                <a:gridCol w="2927200"/>
              </a:tblGrid>
              <a:tr h="19050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900"/>
                        <a:t>Random Variable</a:t>
                      </a:r>
                      <a:endParaRPr b="1" sz="19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900"/>
                        <a:t>Range</a:t>
                      </a:r>
                      <a:endParaRPr b="1" sz="19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900"/>
                        <a:t>PDF / Description</a:t>
                      </a:r>
                      <a:endParaRPr b="1" sz="19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905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900"/>
                        <a:t>Height of a person</a:t>
                      </a:r>
                      <a:endParaRPr sz="19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900"/>
                        <a:t>( [0,    ) )</a:t>
                      </a:r>
                      <a:endParaRPr sz="19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900"/>
                        <a:t>Approx. Normal(μ, σ²)</a:t>
                      </a:r>
                      <a:endParaRPr sz="19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905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900"/>
                        <a:t>Time between phone calls</a:t>
                      </a:r>
                      <a:endParaRPr sz="19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900"/>
                        <a:t>( [0,    ) )</a:t>
                      </a:r>
                      <a:endParaRPr sz="19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900"/>
                        <a:t>Exponential(λ)</a:t>
                      </a:r>
                      <a:endParaRPr sz="19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905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900"/>
                        <a:t>Temperature of a city</a:t>
                      </a:r>
                      <a:endParaRPr sz="19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900"/>
                        <a:t>( (-     ,    ) )</a:t>
                      </a:r>
                      <a:endParaRPr sz="19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900"/>
                        <a:t>Normal(μ, σ²)</a:t>
                      </a:r>
                      <a:endParaRPr sz="19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pic>
        <p:nvPicPr>
          <p:cNvPr descr="{&quot;id&quot;:&quot;2&quot;,&quot;backgroundColorModified&quot;:false,&quot;type&quot;:&quot;$$&quot;,&quot;font&quot;:{&quot;color&quot;:&quot;#000000&quot;,&quot;family&quot;:&quot;Arial&quot;,&quot;size&quot;:19},&quot;backgroundColor&quot;:&quot;#FFFFFF&quot;,&quot;code&quot;:&quot;$$\\infty$$&quot;,&quot;aid&quot;:null,&quot;ts&quot;:1761696552784,&quot;cs&quot;:&quot;qIQV0zsHK3XnCyd9Z5bPtw==&quot;,&quot;size&quot;:{&quot;width&quot;:26.666666666666668,&quot;height&quot;:13.666666666666666}}" id="109" name="Google Shape;109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18000" y="2657225"/>
            <a:ext cx="254000" cy="1301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id&quot;:&quot;2&quot;,&quot;backgroundColorModified&quot;:false,&quot;type&quot;:&quot;$$&quot;,&quot;font&quot;:{&quot;color&quot;:&quot;#000000&quot;,&quot;family&quot;:&quot;Arial&quot;,&quot;size&quot;:19},&quot;backgroundColor&quot;:&quot;#FFFFFF&quot;,&quot;code&quot;:&quot;$$\\infty$$&quot;,&quot;aid&quot;:null,&quot;ts&quot;:1761696552784,&quot;cs&quot;:&quot;qIQV0zsHK3XnCyd9Z5bPtw==&quot;,&quot;size&quot;:{&quot;width&quot;:26.666666666666668,&quot;height&quot;:13.666666666666666}}" id="110" name="Google Shape;110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18000" y="2186813"/>
            <a:ext cx="254000" cy="1301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id&quot;:&quot;2&quot;,&quot;backgroundColorModified&quot;:false,&quot;type&quot;:&quot;$$&quot;,&quot;font&quot;:{&quot;color&quot;:&quot;#000000&quot;,&quot;family&quot;:&quot;Arial&quot;,&quot;size&quot;:19},&quot;backgroundColor&quot;:&quot;#FFFFFF&quot;,&quot;code&quot;:&quot;$$\\infty$$&quot;,&quot;aid&quot;:null,&quot;ts&quot;:1761696552784,&quot;cs&quot;:&quot;qIQV0zsHK3XnCyd9Z5bPtw==&quot;,&quot;size&quot;:{&quot;width&quot;:26.666666666666668,&quot;height&quot;:13.666666666666666}}" id="111" name="Google Shape;111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17875" y="3127625"/>
            <a:ext cx="254000" cy="1301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id&quot;:&quot;2&quot;,&quot;backgroundColorModified&quot;:false,&quot;type&quot;:&quot;$$&quot;,&quot;font&quot;:{&quot;color&quot;:&quot;#000000&quot;,&quot;family&quot;:&quot;Arial&quot;,&quot;size&quot;:19},&quot;backgroundColor&quot;:&quot;#FFFFFF&quot;,&quot;code&quot;:&quot;$$\\infty$$&quot;,&quot;aid&quot;:null,&quot;ts&quot;:1761696552784,&quot;cs&quot;:&quot;qIQV0zsHK3XnCyd9Z5bPtw==&quot;,&quot;size&quot;:{&quot;width&quot;:26.666666666666668,&quot;height&quot;:13.666666666666666}}" id="112" name="Google Shape;112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26700" y="3127625"/>
            <a:ext cx="254000" cy="13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Examples </a:t>
            </a:r>
            <a:endParaRPr/>
          </a:p>
        </p:txBody>
      </p:sp>
      <p:pic>
        <p:nvPicPr>
          <p:cNvPr descr="{&quot;backgroundColor&quot;:&quot;#FFFFFF&quot;,&quot;type&quot;:&quot;gather*&quot;,&quot;font&quot;:{&quot;size&quot;:16.5,&quot;family&quot;:&quot;Arial&quot;,&quot;color&quot;:&quot;#000000&quot;},&quot;backgroundColorModified&quot;:false,&quot;id&quot;:&quot;1&quot;,&quot;aid&quot;:null,&quot;code&quot;:&quot;\\begin{gather*}\n{p\\left(-1\\leq x\\leq 1\\right)=\\int_{-1}^{1}\\frac{1}{2\\pi}\\exp\\left(-\\frac{x^{2}}{2}\\right)dx\\approx0.68}\t\n\\end{gather*}&quot;,&quot;ts&quot;:1761698281788,&quot;cs&quot;:&quot;eWDPRk+I6GlA74bQx4SEng==&quot;,&quot;size&quot;:{&quot;width&quot;:531,&quot;height&quot;:65}}" id="118" name="Google Shape;118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8925" y="1406779"/>
            <a:ext cx="5057775" cy="6191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code&quot;:&quot;\\begin{gather*}\n{X:\\,\\text{time}\\;\\text{(in}\\;\\text{sec)}\\;\\text{until}\\;\\text{the}\\;\\text{next}\\;\\text{phone}\\;\\text{call}}\\\\\n{X\\sim Exp\\left(\\lambda=1\\right)\\,\\left(\\text{Exponential}\\;\\text{Distribution}\\right)}\\\\\n{f\\left(x\\right)=\\lambda\\exp\\left(-\\lambda x\\right)\\,}\\\\\n{P\\left(0\\leq x\\leq1\\right)=\\int_{0}^{1}\\exp\\left(-x\\right)dx}\\\\\n{=-\\left(\\exp\\left(-1\\right)-\\exp\\left(0\\right)\\right)=1-\\exp\\left(-1\\right)\\approx0.63}\\\\\n{}\t\n\\end{gather*}&quot;,&quot;aid&quot;:null,&quot;backgroundColor&quot;:&quot;#FFFFFF&quot;,&quot;id&quot;:&quot;1&quot;,&quot;font&quot;:{&quot;family&quot;:&quot;Arial&quot;,&quot;size&quot;:16.5,&quot;color&quot;:&quot;#000000&quot;},&quot;backgroundColorModified&quot;:false,&quot;type&quot;:&quot;gather*&quot;,&quot;ts&quot;:1761699224245,&quot;cs&quot;:&quot;tczrMjTHIPnfyCBlj0V0jg==&quot;,&quot;size&quot;:{&quot;width&quot;:531,&quot;height&quot;:197.99999999999997}}" id="119" name="Google Shape;119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68019" y="2414942"/>
            <a:ext cx="5057775" cy="1885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Cumulative Density Function</a:t>
            </a:r>
            <a:endParaRPr/>
          </a:p>
        </p:txBody>
      </p:sp>
      <p:sp>
        <p:nvSpPr>
          <p:cNvPr id="125" name="Google Shape;125;p2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PDF asks the question--”what is the probability that X (say outcome of rolling a dice) = 4?”.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CDF asks the question--”what is the probability that X &lt;= 4?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descr="{&quot;id&quot;:&quot;17&quot;,&quot;type&quot;:&quot;gather*&quot;,&quot;backgroundColor&quot;:&quot;#FFFFFF&quot;,&quot;aid&quot;:null,&quot;font&quot;:{&quot;color&quot;:&quot;#595959&quot;,&quot;size&quot;:18,&quot;family&quot;:&quot;Arial&quot;},&quot;backgroundColorModified&quot;:false,&quot;code&quot;:&quot;\\begin{gather*}\n{F_{X}\\left(x\\right)=P\\left(X\\leq x\\right)\\,}\\\\\n{\\text{CDF}\\;\\text{is}\\;\\text{monotonic,}\\;\\text{i.e.,}\\;\\text{always}\\;\\text{rising}}\\\\\n{\\text{For}\\;\\text{continuous}\\;\\text{RVs}}\\\\\n{F_{X}\\left(x\\right)=\\int_{-\\infty}^{x}f_{X}\\left(x\\right)dx}\\\\\n{\\text{Here}\\;f_{X}\\left(x\\right)\\;\\text{is}\\;\\text{the}\\;\\text{pdf}}\t\n\\end{gather*}&quot;,&quot;ts&quot;:1763038046083,&quot;cs&quot;:&quot;Bkm8sDjw75WYjlhW76xB3w==&quot;,&quot;size&quot;:{&quot;width&quot;:446.3333333333333,&quot;height&quot;:213}}" id="126" name="Google Shape;126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55650" y="2571750"/>
            <a:ext cx="4251325" cy="2028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Cumulative Density Function: Gaussian RV</a:t>
            </a:r>
            <a:endParaRPr/>
          </a:p>
        </p:txBody>
      </p:sp>
      <p:pic>
        <p:nvPicPr>
          <p:cNvPr descr="{&quot;backgroundColor&quot;:&quot;#FFFFFF&quot;,&quot;font&quot;:{&quot;size&quot;:14,&quot;family&quot;:&quot;Arial&quot;,&quot;color&quot;:&quot;#595959&quot;},&quot;code&quot;:&quot;\\begin{gather*}\n{\\text{For}\\;\\text{a}\\;\\text{normal}\\;\\text{RV}\\;\\text{X}\\;\\text{~N(}\\mu,\\,\\sigma\\text{):}}\\\\\n{f_{X}\\left(x\\right)=\\frac{1}{{\\sqrt[]{2\\pi\\sigma^{2}}}}e^{-\\frac{\\left(x-\\mu\\right)^{2}}{2\\sigma^{2}}}}\\\\\n{F_{X}\\left(x\\right)=\\frac{1}{{\\sqrt[]{2\\pi\\sigma^{2}}}}\\int_{-\\infty}^{x}e^{-\\frac{\\left(x-\\mu\\right)^{2}}{2\\sigma^{2}}}dx}\\\\\n{\\text{What}\\;\\text{fraction}\\;\\text{of}\\;\\text{the}\\;\\text{area}\\;\\text{of}\\;\\text{the}\\;\\text{bell}\\;\\text{curve}}\\\\\n{\\text{lies}\\;\\text{to}\\;\\text{the}\\;\\text{left}\\;\\text{of}\\;\\text{x?}}\\\\\n{\\text{There}\\;\\text{is}\\;\\text{no}\\;\\text{close}\\;\\text{form}\\;\\text{expression}\\;\\text{for}\\;\\text{the}\\;\\text{CDF}\\;\\text{of}\\;\\text{a}\\;\\text{Gaussian}\\;}\\\\\n{\\text{We}\\,\\text{write}\\;\\text{it}\\;\\text{in}\\;\\text{terms}\\;\\text{of}\\;\\text{special}\\;\\text{function}\\;\\text{defined}\\;\\text{as:}}\\\\\n{\\Phi\\left(z\\right)=\\frac{1}{{\\sqrt[]{2\\pi }}}\\int_{-\\infty}^{z}e^{-\\frac{t^{2}}{2}}dt}\\\\\n{\\text{Then}}\\\\\n{F_{X}\\left(x\\right)=\\Phi\\left(\\frac{x-\\mu}{\\sigma}\\right)}\t\n\\end{gather*}&quot;,&quot;backgroundColorModified&quot;:false,&quot;id&quot;:&quot;18&quot;,&quot;type&quot;:&quot;gather*&quot;,&quot;aid&quot;:null,&quot;ts&quot;:1763039574783,&quot;cs&quot;:&quot;Pra3VRw3xVL/omw0CUaVZg==&quot;,&quot;size&quot;:{&quot;width&quot;:583.2940797900263,&quot;height&quot;:413.14968818897637}}" id="132" name="Google Shape;132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4125" y="1100800"/>
            <a:ext cx="5555876" cy="393525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backgroundColor&quot;:&quot;#FFFFFF&quot;,&quot;aid&quot;:null,&quot;type&quot;:&quot;gather*&quot;,&quot;backgroundColorModified&quot;:false,&quot;font&quot;:{&quot;size&quot;:16,&quot;family&quot;:&quot;Arial&quot;,&quot;color&quot;:&quot;#000000&quot;},&quot;code&quot;:&quot;\\begin{gather*}\n{F_{X}\\left(x\\right)\\to0,\\,\\text{when}\\;x\\to-\\infty}\\\\\n{F_{X}\\left(x\\right)=0.5,\\,\\text{when}\\;x=\\mu}\\\\\n{F_{X}\\left(x\\right)\\to1,\\,\\text{when}\\;x\\to\\infty}\t\n\\end{gather*}&quot;,&quot;id&quot;:&quot;19&quot;,&quot;ts&quot;:1763039692971,&quot;cs&quot;:&quot;7V3Sf7vMZtxO0p85IDAPzA==&quot;,&quot;size&quot;:{&quot;width&quot;:298.80319055118105,&quot;height&quot;:90.6509448818898}}" id="133" name="Google Shape;133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920000" y="4112575"/>
            <a:ext cx="2846100" cy="863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Cumulative Density Function: API Calling--”wait for all”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solidFill>
                  <a:schemeClr val="dk1"/>
                </a:solidFill>
              </a:rPr>
              <a:t>I have three independent APIs, A, B, C, with average and p99 response times: 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solidFill>
                  <a:schemeClr val="dk1"/>
                </a:solidFill>
              </a:rPr>
              <a:t>A system (Z) calls these APIs at the same time and waits for the slowest API to return (“</a:t>
            </a:r>
            <a:r>
              <a:rPr i="1" lang="en" sz="1300">
                <a:solidFill>
                  <a:schemeClr val="dk1"/>
                </a:solidFill>
              </a:rPr>
              <a:t>wait for all”)</a:t>
            </a:r>
            <a:r>
              <a:rPr lang="en" sz="1300">
                <a:solidFill>
                  <a:schemeClr val="dk1"/>
                </a:solidFill>
              </a:rPr>
              <a:t>. How do we calculate the p99 of this system’s response time?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solidFill>
                  <a:schemeClr val="dk1"/>
                </a:solidFill>
              </a:rPr>
              <a:t> 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</a:endParaRPr>
          </a:p>
        </p:txBody>
      </p:sp>
      <p:pic>
        <p:nvPicPr>
          <p:cNvPr descr="{&quot;backgroundColor&quot;:&quot;#FFFFFF&quot;,&quot;backgroundColorModified&quot;:false,&quot;code&quot;:&quot;$$\\left(t_{avg}^{A},t_{99}^{A}\\right)$$&quot;,&quot;type&quot;:&quot;$$&quot;,&quot;id&quot;:&quot;20&quot;,&quot;aid&quot;:null,&quot;font&quot;:{&quot;family&quot;:&quot;Arial&quot;,&quot;size&quot;:13,&quot;color&quot;:&quot;#000000&quot;},&quot;ts&quot;:1763039914884,&quot;cs&quot;:&quot;7MP8RPe5brdt2flI3kSEnQ==&quot;,&quot;size&quot;:{&quot;width&quot;:80,&quot;height&quot;:36.666666666666664}}" id="140" name="Google Shape;140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44375" y="1152475"/>
            <a:ext cx="762000" cy="3492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font&quot;:{&quot;size&quot;:12,&quot;color&quot;:&quot;#000000&quot;,&quot;family&quot;:&quot;Arial&quot;},&quot;code&quot;:&quot;\\begin{gather*}\n{\\text{Let}\\text{s}\\;\\text{denote}\\;\\text{the}\\;\\text{response}\\;\\text{time}\\;\\text{of}\\;\\text{the}\\;\\text{system}\\;\\text{by}\\;\\text{random}\\;\\text{variable}\\;\\text{Z}}\\\\\n{\\text{Then}}\\\\\n{F_{Z}\\left(t\\right)=P\\left(Z&lt;t\\right)=P\\left(\\max\\left(A,B\\right)&lt;t\\right)=P\\left(A&lt;t,B&lt;t,C&lt;t\\right)}\\\\\n{\\text{Because}\\;\\text{the}\\;\\text{three}\\;\\text{APIs}\\;\\text{are}\\;\\text{independent,}}\\\\\n{P\\left(Z&lt;t\\right)=P\\left(A&lt;t,B&lt;t,C&lt;t\\right)}\\\\\n{=P\\left(A&lt;t\\right)P\\left(B&lt;t\\right)P\\left(C&lt;t\\right)}\\\\\n{=F_{A}\\left(t\\right)F_{B}\\left(t\\right)F_{C}\\left(t\\right)}\t\n\\end{gather*}&quot;,&quot;type&quot;:&quot;gather*&quot;,&quot;id&quot;:&quot;25&quot;,&quot;backgroundColorModified&quot;:false,&quot;aid&quot;:null,&quot;backgroundColor&quot;:&quot;#FFFFFF&quot;,&quot;ts&quot;:1763122830721,&quot;cs&quot;:&quot;66L1WZEfr+e2CvNFy0ihLQ==&quot;,&quot;size&quot;:{&quot;width&quot;:537.5,&quot;height&quot;:165.00000000000003}}" id="141" name="Google Shape;141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58025" y="2491842"/>
            <a:ext cx="5119688" cy="1571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n"/>
              <a:t>Cumulative Density Function: API Calling--”wait for all”</a:t>
            </a:r>
            <a:endParaRPr/>
          </a:p>
        </p:txBody>
      </p:sp>
      <p:pic>
        <p:nvPicPr>
          <p:cNvPr descr="{&quot;backgroundColorModified&quot;:false,&quot;font&quot;:{&quot;color&quot;:&quot;#000000&quot;,&quot;family&quot;:&quot;Arial&quot;,&quot;size&quot;:13},&quot;type&quot;:&quot;gather*&quot;,&quot;code&quot;:&quot;\\begin{gather*}\n{\\text{Let}\\;\\text{the}\\;\\text{pdf}\\;\\text{of}\\;\\text{A,}\\;\\text{B,}\\;\\text{C}\\;\\text{be}\\;N\\left(\\mu_{A},\\sigma_{A}\\right),\\,N\\left(\\mu_{B},\\sigma_{B}\\right),\\,N\\left(\\mu_{C},\\sigma_{C}\\right)}\\\\\n{\\text{The}\\;\\text{corresponding}\\;\\text{CDFs}\\;F_{A}\\left(t\\right),\\,F_{B}\\left(t\\right),\\,F_{C}\\left(t\\right)\\,\\text{are}\\;}\\\\\n{\\Phi\\left(\\frac{t-\\mu_{A}}{\\sigma_{A}}\\right),\\,\\Phi\\left(\\frac{t-\\mu_{B}}{\\sigma_{B}}\\right),\\,\\Phi\\left(\\frac{t-\\mu_{C}}{\\sigma_{C}}\\right)}\\\\\n{F_{Z}\\left(t\\right)=F_{A}\\left(t\\right)F_{B}\\left(t\\right)F_{C}\\left(t\\right)=\\Phi\\left(\\frac{t-\\mu_{A}}{\\sigma_{A}}\\right)\\Phi\\left(\\frac{t-\\mu_{B}}{\\sigma_{B}}\\right)\\Phi\\left(\\frac{t-\\mu_{C}}{\\sigma_{C}}\\right)}\\\\\n{\\text{And}\\;\\text{the}\\;\\text{pdf}\\;\\text{of}\\;\\text{Z}\\;\\text{is}}\\\\\n{f_{Z}\\left(t\\right)=f_{A}\\left(t\\right)F_{B}\\left(t\\right)F_{C}\\left(t\\right)+F_{A}\\left(t\\right)f_{B}\\left(t\\right)F_{C}\\left(t\\right)+F_{A}\\left(t\\right)F_{B}\\left(t\\right)f_{C}\\left(t\\right)}\\\\\n{\\text{This}\\;\\text{is}\\;\\text{NOT}\\;\\text{a}\\;\\text{normal}\\;\\text{distribution!}}\\\\\n{\\text{Let's}\\;\\text{simplify}\\;\\text{a}\\;\\text{bit}\\;\\text{and}\\;\\text{assume}\\;\\text{that}\\;\\mu_{A}=\\mu_{B}=\\mu_{C},\\,\\text{and}\\;\\sigma_{A}=\\sigma_{B}=\\sigma_{C}}\\\\\n{\\text{This}\\;\\text{is}\\;\\text{the}\\;\\text{more}\\;\\text{interesting}\\;\\text{case}\\;\\text{anyway,}\\;\\text{because}\\;\\text{if}\\;\\text{one}\\;\\text{API's}\\;\\text{response}\\;\\text{time}}\\\\\n{\\text{is}\\;\\text{much}\\;\\text{higher}\\;\\text{than}\\;\\text{the}\\;\\text{other}\\;\\text{two,}\\;\\text{the}\\;\\text{overall}\\;\\text{response}\\;\\text{time}\\;\\text{will}\\;\\text{be}\\;\\text{dominated}\\;\\text{by}\\;\\text{that}\\;\\text{API}}\\\\\n{\\text{assuming}\\;\\text{the}\\;\\sigma \\,\\text{are}\\;\\text{roughly}\\;\\text{the}\\;\\text{same}}\\\\\n{\\text{Now}}\\\\\n{F_{Z}\\left(t\\right)=\\Phi^{3}\\left(\\frac{t-\\mu}{\\sigma}\\right)}\t\n\\end{gather*}&quot;,&quot;aid&quot;:null,&quot;id&quot;:&quot;22&quot;,&quot;backgroundColor&quot;:&quot;#FFFFFF&quot;,&quot;ts&quot;:1763085454828,&quot;cs&quot;:&quot;rg0OHhGWCVQC8I/aVsyvIA==&quot;,&quot;size&quot;:{&quot;width&quot;:804.5,&quot;height&quot;:423}}" id="147" name="Google Shape;147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1058450"/>
            <a:ext cx="7662863" cy="4029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n"/>
              <a:t>Cumulative Density Function: API Calling--”wait for all”</a:t>
            </a:r>
            <a:endParaRPr/>
          </a:p>
        </p:txBody>
      </p:sp>
      <p:pic>
        <p:nvPicPr>
          <p:cNvPr descr="{&quot;backgroundColorModified&quot;:false,&quot;backgroundColor&quot;:&quot;#FFFFFF&quot;,&quot;code&quot;:&quot;\\begin{gather*}\n{\\text{Say}\\;\\mu=60ms,\\,\\sigma=40ms\\,}\\\\\n{p99\\,\\text{of}\\;\\text{each}\\;\\text{API}\\;\\text{can}\\;\\text{be}\\;\\text{obtained}\\;\\text{by}\\;\\text{solving}}\\\\\n{\\Phi\\left(\\frac{t-\\mu}{\\sigma}\\right)=0.99}\\\\\n{t=\\mu+\\sigma \\Phi^{-1}\\left(0.99\\right)=60+40\\times2.32=152.8\\text{ms}}\\\\\n{\\text{Now}\\;\\text{let's}\\;\\text{calculate}\\;\\text{the}\\;\\text{p99}\\;\\text{of}\\;\\text{our}\\;\\text{system}}\\\\\n{\\Phi^{3}\\left(\\frac{t-\\mu}{\\sigma}\\right)=0.99}\\\\\n{t=\\mu+\\sigma \\Phi^{-1}\\left(0.99^{1/3}\\right)=60+40\\times2.712=168.48!}\\\\\n{\\text{So,}\\;\\text{p99}\\;\\text{for}\\;\\text{the}\\;\\text{system}\\;\\text{is}\\;\\text{~10}\\%\\,higher\\,\\text{than}\\;\\text{for}\\;\\text{each}\\;\\text{API!}}\t\n\\end{gather*}&quot;,&quot;font&quot;:{&quot;color&quot;:&quot;#000000&quot;,&quot;family&quot;:&quot;Arial&quot;,&quot;size&quot;:13},&quot;aid&quot;:null,&quot;type&quot;:&quot;gather*&quot;,&quot;id&quot;:&quot;23&quot;,&quot;ts&quot;:1763087199775,&quot;cs&quot;:&quot;Eh5xTTl6hSceyQ8JHDsQFQ==&quot;,&quot;size&quot;:{&quot;width&quot;:493.5,&quot;height&quot;:280}}" id="153" name="Google Shape;153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7175" y="1063610"/>
            <a:ext cx="4700588" cy="2667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4" name="Google Shape;154;p27"/>
          <p:cNvSpPr txBox="1"/>
          <p:nvPr/>
        </p:nvSpPr>
        <p:spPr>
          <a:xfrm>
            <a:off x="4964975" y="4681800"/>
            <a:ext cx="4896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API_call_wait_for_all.py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descr="{&quot;backgroundColor&quot;:&quot;#FFFFFF&quot;,&quot;font&quot;:{&quot;size&quot;:12,&quot;color&quot;:&quot;#000000&quot;,&quot;family&quot;:&quot;Arial&quot;},&quot;type&quot;:&quot;gather*&quot;,&quot;aid&quot;:null,&quot;code&quot;:&quot;\\begin{gather*}\n{\\text{In}\\;\\text{a}\\;\\text{real-life}\\;\\text{scenario,}\\;\\text{we'll}\\;\\text{be}\\;\\text{given}\\;\\text{the}\\;\\text{average}\\;\\left(\\mu\\,\\right)\\text{and}\\;\\text{p99}\\;\\text{response}\\;\\text{time}}\\\\\n{\\text{We}\\;\\text{can}\\;\\text{calculate}\\;\\sigma\\,\\text{of}\\;\\text{the}\\;\\text{best}\\;\\text{fit}\\;\\text{normal}\\;\\text{distribution}\\;\\text{by}\\;\\text{solving}\\;\\text{}}\\\\\n{\\frac{p99-\\mu}{\\sigma}=\\Phi^{-1}\\left(0.99\\right)}\t\n\\end{gather*}&quot;,&quot;backgroundColorModified&quot;:false,&quot;id&quot;:&quot;24&quot;,&quot;ts&quot;:1763092055155,&quot;cs&quot;:&quot;bSDvq5vyYc5Sqh3q6ePEaQ==&quot;,&quot;size&quot;:{&quot;width&quot;:606,&quot;height&quot;:87.5}}" id="155" name="Google Shape;155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76625" y="4041450"/>
            <a:ext cx="5772150" cy="8334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n"/>
              <a:t>Cumulative Density Function: API Calling--”race to first”</a:t>
            </a:r>
            <a:endParaRPr/>
          </a:p>
        </p:txBody>
      </p:sp>
      <p:sp>
        <p:nvSpPr>
          <p:cNvPr id="161" name="Google Shape;161;p28"/>
          <p:cNvSpPr txBox="1"/>
          <p:nvPr>
            <p:ph idx="1" type="body"/>
          </p:nvPr>
        </p:nvSpPr>
        <p:spPr>
          <a:xfrm>
            <a:off x="311700" y="1152475"/>
            <a:ext cx="8520600" cy="1109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700"/>
              <a:t>Now let’s say the system goes by the response of whichever API returns first, rather than waiting for the slowest. To simplify things a bit, let’s just consider two APIs. Now Z=min(A,B)</a:t>
            </a:r>
            <a:endParaRPr sz="1700"/>
          </a:p>
        </p:txBody>
      </p:sp>
      <p:pic>
        <p:nvPicPr>
          <p:cNvPr descr="{&quot;id&quot;:&quot;26&quot;,&quot;backgroundColorModified&quot;:false,&quot;backgroundColor&quot;:&quot;#FFFFFF&quot;,&quot;font&quot;:{&quot;size&quot;:17,&quot;family&quot;:&quot;Arial&quot;,&quot;color&quot;:&quot;#595959&quot;},&quot;code&quot;:&quot;\\begin{gather*}\n{F_{Z}\\left(z\\right)=P\\left(Z&lt;z\\right)=P\\left(\\min\\left(Z\\right)&lt;z\\right)}\\\\\n{P\\left(\\min\\left(Z\\right)&lt;z\\right)=1-P\\left(\\min\\left(Z\\right)&gt;z\\right)}\\\\\n{=1-P\\left(A&gt;z\\right)P\\left(B&gt;z\\right)\\,\\because A,B\\,\\text{are}\\;\\text{independent}}\\\\\n{=1-\\left(1-P\\left(A&lt;z\\right)\\right)\\left(1-P\\left(B&lt;z\\right)\\right)}\\\\\n{1-\\left(1-F_{A}\\left(z\\right)\\right)\\left(1-F_{B}\\left(z\\right)\\right)}\\\\\n{\\text{If}\\;\\text{A,B}\\;\\text{are}\\;\\text{both}\\;N\\left(\\mu,\\sigma\\right),}\\\\\n{F_{Z}\\left(z\\right)=1-\\left(1-\\Phi\\left(\\frac{z-\\mu}{\\sigma}\\right)^{2}\\right)}\t\n\\end{gather*}&quot;,&quot;aid&quot;:null,&quot;type&quot;:&quot;gather*&quot;,&quot;ts&quot;:1763123289192,&quot;cs&quot;:&quot;EgOhpCoNp0wcnPQXrVR/MQ==&quot;,&quot;size&quot;:{&quot;width&quot;:575,&quot;height&quot;:287.5}}" id="162" name="Google Shape;162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7525" y="2104150"/>
            <a:ext cx="5476875" cy="27384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Cumulative Density Function: API Calling--”race to first”</a:t>
            </a:r>
            <a:endParaRPr/>
          </a:p>
        </p:txBody>
      </p:sp>
      <p:sp>
        <p:nvSpPr>
          <p:cNvPr id="168" name="Google Shape;168;p29"/>
          <p:cNvSpPr txBox="1"/>
          <p:nvPr>
            <p:ph idx="1" type="body"/>
          </p:nvPr>
        </p:nvSpPr>
        <p:spPr>
          <a:xfrm>
            <a:off x="311700" y="1152475"/>
            <a:ext cx="8520600" cy="1109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700"/>
              <a:t>Let’s solve for the 99th percentile..</a:t>
            </a:r>
            <a:endParaRPr sz="1700"/>
          </a:p>
        </p:txBody>
      </p:sp>
      <p:pic>
        <p:nvPicPr>
          <p:cNvPr descr="{&quot;backgroundColorModified&quot;:false,&quot;aid&quot;:null,&quot;type&quot;:&quot;gather*&quot;,&quot;id&quot;:&quot;26&quot;,&quot;backgroundColor&quot;:&quot;#FFFFFF&quot;,&quot;font&quot;:{&quot;size&quot;:17,&quot;color&quot;:&quot;#595959&quot;,&quot;family&quot;:&quot;Arial&quot;},&quot;code&quot;:&quot;\\begin{gather*}\n{F_{Z}\\left(z\\right)=1-\\left(1-\\Phi\\left(\\frac{z-\\mu}{\\sigma}\\right)\\right)^{2}}\\\\\n{0.99=1-\\left(1-\\Phi\\left(\\frac{z-\\mu}{\\sigma}\\right)\\right)^{2}}\\\\\n{z=\\mu+\\sigma\\Phi^{-1}\\left(1-\\left(1-0.99\\right)^{1/2}\\right)}\\\\\n{}\t\n\\end{gather*}&quot;,&quot;ts&quot;:1763123904779,&quot;cs&quot;:&quot;ihfo64/TgpA5FyVCrlLntg==&quot;,&quot;size&quot;:{&quot;width&quot;:380.6666666666667,&quot;height&quot;:202}}" id="169" name="Google Shape;169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2009300"/>
            <a:ext cx="3401501" cy="1805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aid&quot;:null,&quot;id&quot;:&quot;27&quot;,&quot;type&quot;:&quot;gather*&quot;,&quot;font&quot;:{&quot;family&quot;:&quot;Arial&quot;,&quot;size&quot;:16,&quot;color&quot;:&quot;#000000&quot;},&quot;backgroundColor&quot;:&quot;#FFFFFF&quot;,&quot;code&quot;:&quot;\\begin{gather*}\n{\\text{As}\\;\\text{before,}\\;\\text{say}\\;\\mu=60\\text{ms,}\\;\\sigma=\\text{40ms}}\\\\\n{z=60+40\\Phi^{-1}\\left(0.89\\right)}\\\\\n{=60\\,+\\,40\\times1.28=111.2\\text{ms}\\,}\\\\\n{\\text{For}\\;\\text{3}\\;\\text{APIs..}}\\\\\n{60\\,+\\,40\\,\\times0.78=91.2\\text{ms}}\\\\\n{\\text{Now}\\;\\text{the}\\;\\text{system}\\;\\text{p99}\\;\\text{is}\\;\\text{lower}\\;\\text{than}\\;\\text{for}\\;\\text{either}\\;\\text{API!}}\\\\\n{}\t\n\\end{gather*}&quot;,&quot;backgroundColorModified&quot;:false,&quot;ts&quot;:1763125744134,&quot;cs&quot;:&quot;FB4sIwuYGVMw6Dhm6/SvRw==&quot;,&quot;size&quot;:{&quot;width&quot;:528,&quot;height&quot;:189.5}}" id="170" name="Google Shape;170;p2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68232" y="2009300"/>
            <a:ext cx="5029200" cy="1804988"/>
          </a:xfrm>
          <a:prstGeom prst="rect">
            <a:avLst/>
          </a:prstGeom>
          <a:noFill/>
          <a:ln>
            <a:noFill/>
          </a:ln>
        </p:spPr>
      </p:pic>
      <p:sp>
        <p:nvSpPr>
          <p:cNvPr id="171" name="Google Shape;171;p29"/>
          <p:cNvSpPr txBox="1"/>
          <p:nvPr/>
        </p:nvSpPr>
        <p:spPr>
          <a:xfrm>
            <a:off x="3647225" y="4341725"/>
            <a:ext cx="4896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API_call_race_to_first.py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3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Expectation and Variance</a:t>
            </a:r>
            <a:endParaRPr/>
          </a:p>
        </p:txBody>
      </p:sp>
      <p:sp>
        <p:nvSpPr>
          <p:cNvPr id="177" name="Google Shape;177;p30"/>
          <p:cNvSpPr txBox="1"/>
          <p:nvPr/>
        </p:nvSpPr>
        <p:spPr>
          <a:xfrm>
            <a:off x="311700" y="1272300"/>
            <a:ext cx="8048700" cy="254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280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dk1"/>
                </a:solidFill>
              </a:rPr>
              <a:t>Now that we know what random variables are — both </a:t>
            </a:r>
            <a:r>
              <a:rPr b="1" lang="en" sz="1900">
                <a:solidFill>
                  <a:schemeClr val="dk1"/>
                </a:solidFill>
              </a:rPr>
              <a:t>discrete</a:t>
            </a:r>
            <a:r>
              <a:rPr lang="en" sz="1900">
                <a:solidFill>
                  <a:schemeClr val="dk1"/>
                </a:solidFill>
              </a:rPr>
              <a:t> and </a:t>
            </a:r>
            <a:r>
              <a:rPr b="1" lang="en" sz="1900">
                <a:solidFill>
                  <a:schemeClr val="dk1"/>
                </a:solidFill>
              </a:rPr>
              <a:t>continuous</a:t>
            </a:r>
            <a:r>
              <a:rPr lang="en" sz="1900">
                <a:solidFill>
                  <a:schemeClr val="dk1"/>
                </a:solidFill>
              </a:rPr>
              <a:t> — we want to describe their </a:t>
            </a:r>
            <a:r>
              <a:rPr b="1" lang="en" sz="1900">
                <a:solidFill>
                  <a:schemeClr val="dk1"/>
                </a:solidFill>
              </a:rPr>
              <a:t>average behavior</a:t>
            </a:r>
            <a:r>
              <a:rPr lang="en" sz="1900">
                <a:solidFill>
                  <a:schemeClr val="dk1"/>
                </a:solidFill>
              </a:rPr>
              <a:t> and </a:t>
            </a:r>
            <a:r>
              <a:rPr b="1" lang="en" sz="1900">
                <a:solidFill>
                  <a:schemeClr val="dk1"/>
                </a:solidFill>
              </a:rPr>
              <a:t>spread</a:t>
            </a:r>
            <a:r>
              <a:rPr lang="en" sz="1900">
                <a:solidFill>
                  <a:schemeClr val="dk1"/>
                </a:solidFill>
              </a:rPr>
              <a:t>.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280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dk1"/>
                </a:solidFill>
              </a:rPr>
              <a:t>That’s what </a:t>
            </a:r>
            <a:r>
              <a:rPr b="1" lang="en" sz="1900">
                <a:solidFill>
                  <a:schemeClr val="dk1"/>
                </a:solidFill>
              </a:rPr>
              <a:t>expectation (mean)</a:t>
            </a:r>
            <a:r>
              <a:rPr lang="en" sz="1900">
                <a:solidFill>
                  <a:schemeClr val="dk1"/>
                </a:solidFill>
              </a:rPr>
              <a:t> and </a:t>
            </a:r>
            <a:r>
              <a:rPr b="1" lang="en" sz="1900">
                <a:solidFill>
                  <a:schemeClr val="dk1"/>
                </a:solidFill>
              </a:rPr>
              <a:t>variance</a:t>
            </a:r>
            <a:r>
              <a:rPr lang="en" sz="1900">
                <a:solidFill>
                  <a:schemeClr val="dk1"/>
                </a:solidFill>
              </a:rPr>
              <a:t> capture.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2800"/>
              </a:spcBef>
              <a:spcAft>
                <a:spcPts val="2800"/>
              </a:spcAft>
              <a:buNone/>
            </a:pPr>
            <a:r>
              <a:rPr lang="en" sz="1900">
                <a:solidFill>
                  <a:schemeClr val="dk1"/>
                </a:solidFill>
              </a:rPr>
              <a:t>The expectation of a random variable X, denoted E[X], is the weighted average of all possible values of X, using their probabilities as weights.</a:t>
            </a:r>
            <a:endParaRPr sz="19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3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Expectation</a:t>
            </a:r>
            <a:endParaRPr/>
          </a:p>
        </p:txBody>
      </p:sp>
      <p:pic>
        <p:nvPicPr>
          <p:cNvPr descr="{&quot;backgroundColorModified&quot;:false,&quot;id&quot;:&quot;3&quot;,&quot;type&quot;:&quot;gather*&quot;,&quot;backgroundColor&quot;:&quot;#FFFFFF&quot;,&quot;font&quot;:{&quot;color&quot;:&quot;#000000&quot;,&quot;size&quot;:16.5,&quot;family&quot;:&quot;Arial&quot;},&quot;code&quot;:&quot;\\begin{gather*}\n{\\text{Discrete}\\;\\text{Random}\\;\\text{Variable}}\\\\\n{E\\left(X\\right)=\\Sigma_{x}xp\\left(x\\right)}\\\\\n{\\text{Eg.,}\\;\\text{X}\\;\\text{=}\\;\\text{number}\\;\\text{of}\\;\\text{heads}\\;\\text{in}\\;\\text{3}\\;\\text{fair}\\;\\text{coin}\\;\\text{tosses}}\\\\\n{p\\left(X=k\\right)=\\Comb{n}{k}0.5^{k}}\\\\\n{E\\left(X\\right)=\\sum_{k=0}^{3}k\\Comb{n}{k}0.5^{k}=1.5}\t\n\\end{gather*}&quot;,&quot;aid&quot;:null,&quot;ts&quot;:1761700657208,&quot;cs&quot;:&quot;HE5KZ1FymcuX8/DEoDTbxg==&quot;,&quot;size&quot;:{&quot;width&quot;:508.5,&quot;height&quot;:210.5}}" id="183" name="Google Shape;183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693" y="1251738"/>
            <a:ext cx="4843463" cy="2005013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p31"/>
          <p:cNvSpPr txBox="1"/>
          <p:nvPr/>
        </p:nvSpPr>
        <p:spPr>
          <a:xfrm>
            <a:off x="207600" y="3490775"/>
            <a:ext cx="82428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dk1"/>
                </a:solidFill>
              </a:rPr>
              <a:t>Interpretation: </a:t>
            </a:r>
            <a:r>
              <a:rPr lang="en" sz="2400">
                <a:solidFill>
                  <a:schemeClr val="dk1"/>
                </a:solidFill>
              </a:rPr>
              <a:t>If you repeat the 3-toss experiment many times, the </a:t>
            </a:r>
            <a:r>
              <a:rPr b="1" lang="en" sz="2400">
                <a:solidFill>
                  <a:schemeClr val="dk1"/>
                </a:solidFill>
              </a:rPr>
              <a:t>average number of heads</a:t>
            </a:r>
            <a:r>
              <a:rPr lang="en" sz="2400">
                <a:solidFill>
                  <a:schemeClr val="dk1"/>
                </a:solidFill>
              </a:rPr>
              <a:t> tends to 1.5.</a:t>
            </a:r>
            <a:endParaRPr sz="2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dk1"/>
                </a:solidFill>
              </a:rPr>
              <a:t>Note: The average itself is not in the possible values of X!</a:t>
            </a:r>
            <a:endParaRPr sz="24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3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Expectation</a:t>
            </a:r>
            <a:endParaRPr/>
          </a:p>
        </p:txBody>
      </p:sp>
      <p:pic>
        <p:nvPicPr>
          <p:cNvPr descr="{&quot;backgroundColorModified&quot;:false,&quot;type&quot;:&quot;gather*&quot;,&quot;id&quot;:&quot;4&quot;,&quot;code&quot;:&quot;\\begin{gather*}\n{\\text{For}\\;\\text{a}\\;\\text{continuous}\\;\\text{random}\\;\\text{variable,}}\\\\\n{E\\left(X\\right)=\\int_{-\\infty}^{\\infty}xf\\left(x\\right)dx}\\\\\n{\\text{Let}\\;\\text{X}\\;\\sim \\text{Uniform(0,1)}}\\\\\n{\\text{Then,}\\;f\\left(x\\right)\\text{=1}\\;\\text{for}\\;\\text{0}\\leq x\\leq1,\\,0\\,\\text{otherwise}}\\\\\n{E\\left(X\\right)=\\int_{0}^{1}xdx=1/2}\t\n\\end{gather*}&quot;,&quot;font&quot;:{&quot;size&quot;:12,&quot;family&quot;:&quot;Arial&quot;,&quot;color&quot;:&quot;#000000&quot;},&quot;backgroundColor&quot;:&quot;#FFFFFF&quot;,&quot;aid&quot;:null,&quot;ts&quot;:1761702955479,&quot;cs&quot;:&quot;cRFrm7QPdDVQkW7J6bEACg==&quot;,&quot;size&quot;:{&quot;width&quot;:328.75,&quot;height&quot;:168.5}}" id="190" name="Google Shape;190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8700" y="1237000"/>
            <a:ext cx="3131344" cy="1604963"/>
          </a:xfrm>
          <a:prstGeom prst="rect">
            <a:avLst/>
          </a:prstGeom>
          <a:noFill/>
          <a:ln>
            <a:noFill/>
          </a:ln>
        </p:spPr>
      </p:pic>
      <p:sp>
        <p:nvSpPr>
          <p:cNvPr id="191" name="Google Shape;191;p32"/>
          <p:cNvSpPr txBox="1"/>
          <p:nvPr/>
        </p:nvSpPr>
        <p:spPr>
          <a:xfrm>
            <a:off x="93525" y="3332650"/>
            <a:ext cx="83316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</a:rPr>
              <a:t>For a uniform distribution between 0 and 1, the expected value (average) is right in the middle — 0.5</a:t>
            </a:r>
            <a:endParaRPr sz="2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3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Variance</a:t>
            </a:r>
            <a:endParaRPr/>
          </a:p>
        </p:txBody>
      </p:sp>
      <p:sp>
        <p:nvSpPr>
          <p:cNvPr id="197" name="Google Shape;197;p3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</a:rPr>
              <a:t>Expectation tells us the </a:t>
            </a:r>
            <a:r>
              <a:rPr b="1" lang="en" sz="1100">
                <a:solidFill>
                  <a:schemeClr val="dk1"/>
                </a:solidFill>
              </a:rPr>
              <a:t>average</a:t>
            </a:r>
            <a:r>
              <a:rPr lang="en" sz="1100">
                <a:solidFill>
                  <a:schemeClr val="dk1"/>
                </a:solidFill>
              </a:rPr>
              <a:t> value.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Variance tells us </a:t>
            </a:r>
            <a:r>
              <a:rPr b="1" lang="en" sz="1100">
                <a:solidFill>
                  <a:schemeClr val="dk1"/>
                </a:solidFill>
              </a:rPr>
              <a:t>how far</a:t>
            </a:r>
            <a:r>
              <a:rPr lang="en" sz="1100">
                <a:solidFill>
                  <a:schemeClr val="dk1"/>
                </a:solidFill>
              </a:rPr>
              <a:t> the values of X are from that average.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</p:txBody>
      </p:sp>
      <p:pic>
        <p:nvPicPr>
          <p:cNvPr descr="{&quot;aid&quot;:null,&quot;backgroundColorModified&quot;:false,&quot;backgroundColor&quot;:&quot;#FFFFFF&quot;,&quot;type&quot;:&quot;gather*&quot;,&quot;code&quot;:&quot;\\begin{gather*}\n{Var\\left(X\\right)=E\\left(\\left(X-E\\left[X\\right]\\right)^{2}\\right)\\,\\text{}}\\\\\n{\\text{Measures}\\;\\text{the}\\;\\text{average}\\;\\text{of}\\;\\text{the}\\;\\text{square}\\;\\text{of}\\;\\text{the}\\;\\text{deviations}\\;\\text{from}\\;\\text{the}\\;\\text{mean}}\\\\\n{Var\\left(X\\right)=E\\left(\\left(X-E\\left[X\\right]\\right)^{2}\\right)\\,}\\\\\n{=E\\left(X^{2}+E^{2}\\left[X\\right]-2E\\left[X\\right]E\\left[X\\right]\\right)}\\\\\n{=E\\left(X^{2}-E^{2}\\left[X\\right]\\right)}\\\\\n{=E\\left[X^{2}\\right]-E^{2}\\left[X\\right]\\,\\because E\\left(E^{2}\\left[X\\right]\\right)=E^{2}\\left[X\\right]}\t\n\\end{gather*}&quot;,&quot;id&quot;:&quot;5&quot;,&quot;font&quot;:{&quot;family&quot;:&quot;Arial&quot;,&quot;size&quot;:11,&quot;color&quot;:&quot;#000000&quot;},&quot;ts&quot;:1761703410353,&quot;cs&quot;:&quot;EO/+bsMp1So4Cy5NZOeyow==&quot;,&quot;size&quot;:{&quot;width&quot;:501.5,&quot;height&quot;:169}}" id="198" name="Google Shape;198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2202425"/>
            <a:ext cx="4776788" cy="16097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backgroundColorModified&quot;:false,&quot;code&quot;:&quot;\\begin{gather*}\n{\\text{Equivalent}\\;\\text{Definitions}\\,\\text{}}\\\\\n{\\text{Discrete}\\;\\text{RVs}}\\\\\n{Var\\left(X\\right)=\\sum_{x}^{}\\left(x-E\\left[x\\right]\\right)^{2}p\\left(x\\right)}\\\\\n{\\text{Continuous}\\;\\text{RVs}}\\\\\n{Var\\left(X\\right)=\\int_{-\\infty}^{\\infty}\\left(x-E\\left[X\\right]\\right)^{2}f\\left(x\\right)dx}\t\n\\end{gather*}&quot;,&quot;type&quot;:&quot;gather*&quot;,&quot;id&quot;:&quot;5&quot;,&quot;font&quot;:{&quot;family&quot;:&quot;Arial&quot;,&quot;size&quot;:11,&quot;color&quot;:&quot;#000000&quot;},&quot;backgroundColor&quot;:&quot;#FFFFFF&quot;,&quot;aid&quot;:null,&quot;ts&quot;:1761703830843,&quot;cs&quot;:&quot;h5AaIRZIDcHPCCX/dkQzMQ==&quot;,&quot;size&quot;:{&quot;width&quot;:264.20000000000005,&quot;height&quot;:152.60000000000002}}" id="199" name="Google Shape;199;p3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850841" y="2133913"/>
            <a:ext cx="2516505" cy="14535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3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Examples</a:t>
            </a:r>
            <a:endParaRPr/>
          </a:p>
        </p:txBody>
      </p:sp>
      <p:sp>
        <p:nvSpPr>
          <p:cNvPr id="205" name="Google Shape;205;p3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</p:txBody>
      </p:sp>
      <p:pic>
        <p:nvPicPr>
          <p:cNvPr descr="{&quot;backgroundColor&quot;:&quot;#FFFFFF&quot;,&quot;backgroundColorModified&quot;:false,&quot;type&quot;:&quot;gather*&quot;,&quot;code&quot;:&quot;\\begin{gather*}\n{\\text{Example}\\;\\text{1:}\\;\\text{Bernouli}\\,\\text{distribution}\\text{}\\text{}}\\\\\n{X=\\begin{cases}\n{1}&amp;{P=p}\\\\\n{0}&amp;{P=1-p}\\\\\n\\end{cases}}\\\\\n{E\\left(X\\right)=p\\,+\\left(1-p\\right)\\times0=p}\\\\\n{Var\\left(X\\right)=\\left(1-p\\right)^{2}p+\\left(-p\\right)^{2}\\left(1-p\\right)=p\\left(1-p\\right)}\t\n\\end{gather*}&quot;,&quot;font&quot;:{&quot;color&quot;:&quot;#000000&quot;,&quot;family&quot;:&quot;Arial&quot;,&quot;size&quot;:11},&quot;id&quot;:&quot;5&quot;,&quot;aid&quot;:null,&quot;ts&quot;:1761704651569,&quot;cs&quot;:&quot;XPNZ5W+sK+F1EmlHLQub1w==&quot;,&quot;size&quot;:{&quot;width&quot;:354,&quot;height&quot;:111.33333333333333}}" id="206" name="Google Shape;206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6175" y="1282185"/>
            <a:ext cx="3371850" cy="1060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backgroundColor&quot;:&quot;#FFFFFF&quot;,&quot;font&quot;:{&quot;size&quot;:11,&quot;family&quot;:&quot;Arial&quot;,&quot;color&quot;:&quot;#000000&quot;},&quot;backgroundColorModified&quot;:false,&quot;aid&quot;:null,&quot;type&quot;:&quot;gather*&quot;,&quot;id&quot;:&quot;5&quot;,&quot;code&quot;:&quot;\\begin{gather*}\n{\\text{Example}\\;\\text{2:}\\;\\text{Uniform}\\;\\text{Distribution}\\;\\text{(0,1)}\\text{}\\text{}}\\\\\n{}\\\\\n{E\\left(X\\right)=1/2}\\\\\n{E\\left(X^{2}\\right)=\\int_{0}^{1}x^{2}dx=1/3}\\\\\n{Var\\left(X\\right)=E\\left(X^{2}\\right)-E^{2}\\left(X\\right)=1/3-1/4=1/12}\t\n\\end{gather*}&quot;,&quot;ts&quot;:1761704809221,&quot;cs&quot;:&quot;bP72+GOL/eYqQQu+aUkjEw==&quot;,&quot;size&quot;:{&quot;width&quot;:364,&quot;height&quot;:136}}" id="207" name="Google Shape;207;p3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12843" y="2820360"/>
            <a:ext cx="3467100" cy="1295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aid&quot;:null,&quot;code&quot;:&quot;\\begin{gather*}\n{\\text{Properties}\\;\\text{of}\\;\\text{Expectation}}\\\\\n{\\text{For}\\;\\text{any}\\;\\text{RVs}\\;\\text{X}\\;\\text{and}\\;\\text{Y,}}\\\\\n{E\\left(aX+bY\\right)=aE\\left(X\\right)+bE\\left(Y\\right)}\\\\\n{\\text{In}\\;\\text{general,}\\;\\text{}}\\\\\n{E\\left(XY\\right)\\neq E\\left(X\\right)E\\left(Y\\right)}\t\n\\end{gather*}&quot;,&quot;font&quot;:{&quot;color&quot;:&quot;#000000&quot;,&quot;size&quot;:12,&quot;family&quot;:&quot;Arial&quot;},&quot;backgroundColor&quot;:&quot;#FFFFFF&quot;,&quot;backgroundColorModified&quot;:false,&quot;type&quot;:&quot;gather*&quot;,&quot;id&quot;:&quot;7&quot;,&quot;ts&quot;:1761783684367,&quot;cs&quot;:&quot;D3+ewaJVkkn9yAYwfkunww==&quot;,&quot;size&quot;:{&quot;width&quot;:261.6000000000001,&quot;height&quot;:115.60000000000002}}" id="208" name="Google Shape;208;p3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191438" y="1951150"/>
            <a:ext cx="2491740" cy="11010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Independent Random Variables</a:t>
            </a:r>
            <a:endParaRPr/>
          </a:p>
        </p:txBody>
      </p:sp>
      <p:pic>
        <p:nvPicPr>
          <p:cNvPr descr="{&quot;backgroundColor&quot;:&quot;#FFFFFF&quot;,&quot;font&quot;:{&quot;family&quot;:&quot;Arial&quot;,&quot;size&quot;:14.5,&quot;color&quot;:&quot;#595959&quot;},&quot;aid&quot;:null,&quot;type&quot;:&quot;gather*&quot;,&quot;code&quot;:&quot;\\begin{gather*}\n{\\text{Discrete}\\;\\text{Random}\\;\\text{Variables}}\\\\\n{p\\left(X=x,Y=y\\right)=P\\left(X=x\\right)P\\left(Y=y\\right)}\\\\\n{\\text{Continuous}\\;\\text{Random}\\;\\text{Variables}}\\\\\n{f_{X,Y}\\left(x,y\\right)=f_{X}\\left(x\\right)f_{Y}\\left(y\\right)}\t\n\\end{gather*}&quot;,&quot;backgroundColorModified&quot;:false,&quot;id&quot;:&quot;6&quot;,&quot;ts&quot;:1761781954338,&quot;cs&quot;:&quot;nFLReLp82mF2CUZ9EC49EQ==&quot;,&quot;size&quot;:{&quot;width&quot;:397.39117532808405,&quot;height&quot;:112.87669396325458}}" id="214" name="Google Shape;214;p3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7775" y="1017725"/>
            <a:ext cx="3785151" cy="1075151"/>
          </a:xfrm>
          <a:prstGeom prst="rect">
            <a:avLst/>
          </a:prstGeom>
          <a:noFill/>
          <a:ln>
            <a:noFill/>
          </a:ln>
        </p:spPr>
      </p:pic>
      <p:sp>
        <p:nvSpPr>
          <p:cNvPr id="215" name="Google Shape;215;p35"/>
          <p:cNvSpPr txBox="1"/>
          <p:nvPr/>
        </p:nvSpPr>
        <p:spPr>
          <a:xfrm>
            <a:off x="311700" y="2237100"/>
            <a:ext cx="7575000" cy="244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Examples</a:t>
            </a:r>
            <a:endParaRPr b="1">
              <a:solidFill>
                <a:schemeClr val="dk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AutoNum type="arabicPeriod"/>
            </a:pPr>
            <a:r>
              <a:rPr b="1" lang="en" sz="1200">
                <a:solidFill>
                  <a:schemeClr val="dk1"/>
                </a:solidFill>
              </a:rPr>
              <a:t>Independent:</a:t>
            </a:r>
            <a:endParaRPr b="1" sz="1200">
              <a:solidFill>
                <a:schemeClr val="dk1"/>
              </a:solidFill>
            </a:endParaRPr>
          </a:p>
          <a:p>
            <a: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</a:pPr>
            <a:r>
              <a:rPr lang="en" sz="1200">
                <a:solidFill>
                  <a:schemeClr val="dk1"/>
                </a:solidFill>
              </a:rPr>
              <a:t>Two fair dice:</a:t>
            </a:r>
            <a:br>
              <a:rPr lang="en" sz="1200">
                <a:solidFill>
                  <a:schemeClr val="dk1"/>
                </a:solidFill>
              </a:rPr>
            </a:br>
            <a:r>
              <a:rPr lang="en" sz="1200">
                <a:solidFill>
                  <a:schemeClr val="dk1"/>
                </a:solidFill>
              </a:rPr>
              <a:t> P(Dice1 = 3, Dice2 = 5) = P(Dice1 = 3)P(Dice2 = 5) = 1/36</a:t>
            </a:r>
            <a:endParaRPr sz="1200">
              <a:solidFill>
                <a:schemeClr val="dk1"/>
              </a:solidFill>
            </a:endParaRPr>
          </a:p>
          <a:p>
            <a: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</a:pPr>
            <a:r>
              <a:rPr lang="en" sz="1200">
                <a:solidFill>
                  <a:schemeClr val="dk1"/>
                </a:solidFill>
              </a:rPr>
              <a:t>Rolling one die does not influence the outcome of the other.</a:t>
            </a:r>
            <a:br>
              <a:rPr b="1" lang="en" sz="1200">
                <a:solidFill>
                  <a:schemeClr val="dk1"/>
                </a:solidFill>
              </a:rPr>
            </a:br>
            <a:endParaRPr b="1" sz="1200">
              <a:solidFill>
                <a:schemeClr val="dk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AutoNum type="arabicPeriod"/>
            </a:pPr>
            <a:r>
              <a:rPr b="1" lang="en" sz="1200">
                <a:solidFill>
                  <a:schemeClr val="dk1"/>
                </a:solidFill>
              </a:rPr>
              <a:t>Dependent:</a:t>
            </a:r>
            <a:endParaRPr b="1" sz="1200">
              <a:solidFill>
                <a:schemeClr val="dk1"/>
              </a:solidFill>
            </a:endParaRPr>
          </a:p>
          <a:p>
            <a: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</a:pPr>
            <a:r>
              <a:rPr lang="en" sz="1200">
                <a:solidFill>
                  <a:schemeClr val="dk1"/>
                </a:solidFill>
              </a:rPr>
              <a:t>X = number of heads in 2 tosses</a:t>
            </a:r>
            <a:br>
              <a:rPr lang="en" sz="1200">
                <a:solidFill>
                  <a:schemeClr val="dk1"/>
                </a:solidFill>
              </a:rPr>
            </a:br>
            <a:r>
              <a:rPr lang="en" sz="1200">
                <a:solidFill>
                  <a:schemeClr val="dk1"/>
                </a:solidFill>
              </a:rPr>
              <a:t>Y=1 if first toss is a head, 0 otherwise</a:t>
            </a:r>
            <a:br>
              <a:rPr lang="en" sz="1200">
                <a:solidFill>
                  <a:schemeClr val="dk1"/>
                </a:solidFill>
              </a:rPr>
            </a:br>
            <a:r>
              <a:rPr lang="en" sz="1200">
                <a:solidFill>
                  <a:schemeClr val="dk1"/>
                </a:solidFill>
              </a:rPr>
              <a:t> → X and Y are dependent because knowing Y changes the likely values of X.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216" name="Google Shape;216;p35"/>
          <p:cNvSpPr txBox="1"/>
          <p:nvPr/>
        </p:nvSpPr>
        <p:spPr>
          <a:xfrm>
            <a:off x="5201525" y="1187250"/>
            <a:ext cx="29349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</a:rPr>
              <a:t>See Part 2 in dice_roll.py</a:t>
            </a:r>
            <a:endParaRPr sz="15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3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Covariance</a:t>
            </a:r>
            <a:endParaRPr/>
          </a:p>
        </p:txBody>
      </p:sp>
      <p:sp>
        <p:nvSpPr>
          <p:cNvPr id="222" name="Google Shape;222;p36"/>
          <p:cNvSpPr txBox="1"/>
          <p:nvPr>
            <p:ph idx="1" type="body"/>
          </p:nvPr>
        </p:nvSpPr>
        <p:spPr>
          <a:xfrm>
            <a:off x="311700" y="1152475"/>
            <a:ext cx="8520600" cy="127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Covariance measures how two random variables vary </a:t>
            </a:r>
            <a:r>
              <a:rPr b="1" lang="en" sz="1100">
                <a:solidFill>
                  <a:schemeClr val="dk1"/>
                </a:solidFill>
              </a:rPr>
              <a:t>together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</p:txBody>
      </p:sp>
      <p:pic>
        <p:nvPicPr>
          <p:cNvPr descr="{&quot;code&quot;:&quot;\\begin{gather*}\n{Cov\\left(X,Y\\right)=E\\left[\\left(X-E\\left(X\\right)\\right)\\left(Y-E\\left(Y\\right)\\right)\\right]}\\\\\n{=E\\left[XY-XE\\left(Y\\right)-YE\\left(X\\right)+E\\left(X\\right)E\\left(Y\\right)\\right]}\\\\\n{=E\\left[XY\\right]-E\\left[X\\right]E\\left[Y\\right]}\t\n\\end{gather*}&quot;,&quot;aid&quot;:null,&quot;font&quot;:{&quot;color&quot;:&quot;#000000&quot;,&quot;size&quot;:11,&quot;family&quot;:&quot;Arial&quot;},&quot;backgroundColorModified&quot;:false,&quot;backgroundColor&quot;:&quot;#FFFFFF&quot;,&quot;type&quot;:&quot;gather*&quot;,&quot;id&quot;:&quot;9&quot;,&quot;ts&quot;:1761784011837,&quot;cs&quot;:&quot;dDMiaD5lcplJREylGs79dA==&quot;,&quot;size&quot;:{&quot;width&quot;:332.75,&quot;height&quot;:62}}" id="223" name="Google Shape;223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7725" y="1730100"/>
            <a:ext cx="3169444" cy="590550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36"/>
          <p:cNvSpPr txBox="1"/>
          <p:nvPr/>
        </p:nvSpPr>
        <p:spPr>
          <a:xfrm>
            <a:off x="391075" y="2626625"/>
            <a:ext cx="6775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</a:rPr>
              <a:t>Cov(X,Y) &gt; 0: when X increases, Y tends to increase (eg., height and weight)</a:t>
            </a:r>
            <a:br>
              <a:rPr lang="en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</a:rPr>
              <a:t>Cov(X,Y) &lt; 0: when X increases, Y tends to decrease (eg., altitude and temperature)</a:t>
            </a:r>
            <a:br>
              <a:rPr lang="en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</a:rPr>
              <a:t>Cov(X,Y) = 0: no </a:t>
            </a:r>
            <a:r>
              <a:rPr i="1" lang="en" sz="1100">
                <a:solidFill>
                  <a:schemeClr val="dk1"/>
                </a:solidFill>
              </a:rPr>
              <a:t>linear</a:t>
            </a:r>
            <a:r>
              <a:rPr lang="en" sz="1100">
                <a:solidFill>
                  <a:schemeClr val="dk1"/>
                </a:solidFill>
              </a:rPr>
              <a:t> relationship (eg., # of code commits and developer productivity :-))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225" name="Google Shape;225;p36"/>
          <p:cNvSpPr txBox="1"/>
          <p:nvPr>
            <p:ph idx="1" type="body"/>
          </p:nvPr>
        </p:nvSpPr>
        <p:spPr>
          <a:xfrm>
            <a:off x="506625" y="3727850"/>
            <a:ext cx="8520600" cy="127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Independent RVs are uncorrelated, but reverse is not true! 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</p:txBody>
      </p:sp>
      <p:pic>
        <p:nvPicPr>
          <p:cNvPr descr="{&quot;id&quot;:&quot;10&quot;,&quot;backgroundColorModified&quot;:false,&quot;type&quot;:&quot;gather*&quot;,&quot;font&quot;:{&quot;family&quot;:&quot;Arial&quot;,&quot;size&quot;:11,&quot;color&quot;:&quot;#000000&quot;},&quot;aid&quot;:null,&quot;code&quot;:&quot;\\begin{gather*}\n{X\\,\\sim\\,\\text{Uniform}\\;\\text{[-1,1]}}\\\\\n{Y=X^{2}}\\\\\n{HW:\\,\\text{Prove}\\;\\text{that}\\;\\text{X}\\;\\text{and}\\;\\text{Y}\\;\\text{are}\\;\\text{uncorrelated,}\\;\\text{but}\\;\\text{not}\\;\\text{independent}}\t\n\\end{gather*}&quot;,&quot;backgroundColor&quot;:&quot;#FFFFFF&quot;,&quot;ts&quot;:1761784932959,&quot;cs&quot;:&quot;BFWK7FI/Dv0qUpoxgtB4+A==&quot;,&quot;size&quot;:{&quot;width&quot;:485,&quot;height&quot;:63.333333333333336}}" id="226" name="Google Shape;226;p3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4250" y="4272075"/>
            <a:ext cx="4619625" cy="603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Properties of Variance	</a:t>
            </a:r>
            <a:endParaRPr/>
          </a:p>
        </p:txBody>
      </p:sp>
      <p:pic>
        <p:nvPicPr>
          <p:cNvPr descr="{&quot;code&quot;:&quot;\\begin{gather*}\n{Var\\left(X+Y\\right)=Var\\left(X\\right)+Var\\left(Y\\right)+2Cov\\left(X,Y\\right)}\\\\\n{\\text{For}\\;\\text{independent}\\;\\text{X,Y}}\\\\\n{Var\\left(X+Y\\right)=Var\\left(X\\right)+Var\\left(Y\\right)}\\\\\n{}\\\\\n{\\text{When}\\;\\text{X}\\;\\text{and}\\;\\text{Y}\\;\\text{are}\\;\\text{positive}\\;\\text{corelated},\\,}\\\\\n{\\text{total}\\;\\text{variability}\\;\\text{is}\\;\\text{amplified}}\\\\\n{Var\\left(X+Y\\right)&gt;Var\\left(X\\right)+Var\\left(Y\\right)}\\\\\n{}\\\\\n{\\text{When}\\;\\text{X}\\;\\text{and}\\;\\text{Y}\\;\\text{are}\\;\\text{negatively}\\;\\text{corelated},\\,}\\\\\n{\\text{total}\\;\\text{variability}\\;\\text{is}\\;\\text{reduced}}\\\\\n{Var\\left(X+Y\\right)&lt;Var\\left(X\\right)+Var\\left(Y\\right)}\\\\\n{}\t\n\\end{gather*}&quot;,&quot;type&quot;:&quot;gather*&quot;,&quot;font&quot;:{&quot;size&quot;:15.5,&quot;family&quot;:&quot;Arial&quot;,&quot;color&quot;:&quot;#595959&quot;},&quot;aid&quot;:null,&quot;backgroundColor&quot;:&quot;#FFFFFF&quot;,&quot;backgroundColorModified&quot;:false,&quot;id&quot;:&quot;11&quot;,&quot;ts&quot;:1761785432175,&quot;cs&quot;:&quot;F/RLfczK1KZ385CKC5laEA==&quot;,&quot;size&quot;:{&quot;width&quot;:519.5,&quot;height&quot;:339.5}}" id="232" name="Google Shape;232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5408" y="1083975"/>
            <a:ext cx="4948238" cy="3233738"/>
          </a:xfrm>
          <a:prstGeom prst="rect">
            <a:avLst/>
          </a:prstGeom>
          <a:noFill/>
          <a:ln>
            <a:noFill/>
          </a:ln>
        </p:spPr>
      </p:pic>
      <p:sp>
        <p:nvSpPr>
          <p:cNvPr id="233" name="Google Shape;233;p37"/>
          <p:cNvSpPr txBox="1"/>
          <p:nvPr/>
        </p:nvSpPr>
        <p:spPr>
          <a:xfrm>
            <a:off x="514350" y="4681800"/>
            <a:ext cx="8713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See Part 2 in dice_roll.py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3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Properties of Variance: Matrix Product	</a:t>
            </a:r>
            <a:endParaRPr/>
          </a:p>
        </p:txBody>
      </p:sp>
      <p:sp>
        <p:nvSpPr>
          <p:cNvPr id="239" name="Google Shape;239;p38"/>
          <p:cNvSpPr txBox="1"/>
          <p:nvPr/>
        </p:nvSpPr>
        <p:spPr>
          <a:xfrm>
            <a:off x="514350" y="4681800"/>
            <a:ext cx="8713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See Part 2 in dice_roll.py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descr="{&quot;code&quot;:&quot;\\begin{gather*}\n{Var\\left(y_{i}\\right)=Var\\left(\\sum_{j=1}^{m}A_{ij}x_{j}\\right)}\\\\\n{=\\sum_{j=1}^{m}Var\\left(A_{ij}x_{j}\\right)\\,\\because A_{ij}x_{j}\\,\\text{are}\\;\\text{independent}\\;\\text{}}\\\\\n{=\\,\\sum_{j=1}^{m}E\\left[A_{ij}^{2}x_{j}^{2}\\right]-E\\left[A_{ij}^{}x_{j}^{}\\right]^{2}}\\\\\n{=\\sum_{j=1}^{m}\\left(E\\left[A_{ij}^{2}x_{j}^{2}\\right]-E\\left[A_{ij}\\right]^{2}E\\left[x_{j}\\right]^{2}\\,\\right)\\because A_{ij\\,}\\text{and}\\,x_{j}\\,\\text{are}\\;\\text{independent}}\\\\\n{=\\sum_{j=1}^{m}E\\left[A_{ij}^{2}x_{j}^{2}\\right]\\,\\because E\\left[A_{ij}\\right],\\,E\\left[x_{j}\\right]=0}\\\\\n{=\\sum_{j=1}^{m}E\\left[A_{ij}^{2}x_{j}^{2}\\right]=\\sum_{j=1}^{m}E\\left[A_{ij}^{2}\\right]E\\left[x_{j}^{2}\\right]=\\sum_{j=1}^{m}\\left(E\\left[A_{ij}^{2}\\right]-E\\left[A_{ij}\\right]^{2}\\right)\\left(E\\left[x_{j}^{2}\\right]-E\\left[x_{j}\\right]^{2}\\right)}\\\\\n{\\because \\text{if}\\;A_{ij}\\,\\text{and}\\;x_{j}\\,\\text{are}\\;\\text{independent},\\,\\text{so}\\;\\text{are}\\;A_{ij}^{2}\\,\\text{and}\\;x_{j}^{2}\\,}\\\\\n{=\\sum_{j=1}^{m}Var\\left(A_{ij}\\right)Var\\left(x_{j}\\right)=m}\t\n\\end{gather*}&quot;,&quot;id&quot;:&quot;16&quot;,&quot;backgroundColor&quot;:&quot;#FFFFFF&quot;,&quot;type&quot;:&quot;gather*&quot;,&quot;backgroundColorModified&quot;:false,&quot;aid&quot;:null,&quot;font&quot;:{&quot;size&quot;:12,&quot;family&quot;:&quot;Arial&quot;,&quot;color&quot;:&quot;#000000&quot;},&quot;ts&quot;:1762910966535,&quot;cs&quot;:&quot;AcjQYZaIDn2a5XmAHgcE2Q==&quot;,&quot;size&quot;:{&quot;width&quot;:659,&quot;height&quot;:445.5}}" id="240" name="Google Shape;240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64175" y="1017731"/>
            <a:ext cx="6276975" cy="424338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backgroundColor&quot;:&quot;#FFFFFF&quot;,&quot;type&quot;:&quot;gather*&quot;,&quot;font&quot;:{&quot;family&quot;:&quot;Arial&quot;,&quot;color&quot;:&quot;#000000&quot;,&quot;size&quot;:12},&quot;aid&quot;:null,&quot;code&quot;:&quot;\\begin{gather*}\n{\\text{Suppose}\\;\\text{y}\\;\\text{and}\\;\\text{x}\\;\\text{are}\\;n\\times1\\,\\text{and}\\;m\\times1\\,\\text{vectors}}\\\\\n{y=Ax,\\,A:n\\times m}\\\\\n{\\text{Elements}\\;\\text{of}\\;\\text{A}\\;\\text{and}\\;x\\,\\text{are}\\;iid,N\\left(0,1\\right)}\\\\\n{y_{i}=\\sum_{j=1}^{m}A_{ij}x_{j}}\\\\\n{E\\left(y_{i}\\right)=E\\left(\\sum_{j=1}^{m}A_{ij}x_{j}\\right)}\\\\\n{=\\sum_{j=1}^{m}E\\left(A_{ij}x_{j}\\right)\\,}\\\\\n{\\because E\\left(aX+bY\\right)=aE\\left(X\\right)+bE\\left(Y\\right)}\\\\\n{=\\sum_{j=1}^{m}E\\left(A_{ij}\\right)E\\left(x_{j}\\right)=0\\,\\because A_{ij}\\,\\text{and}\\;x_{j}\\,\\text{are}\\;\\text{independent}}\t\n\\end{gather*}&quot;,&quot;backgroundColorModified&quot;:false,&quot;id&quot;:&quot;16&quot;,&quot;ts&quot;:1762911009598,&quot;cs&quot;:&quot;AQi+rFCMKDIP1nGc6IwK/Q==&quot;,&quot;size&quot;:{&quot;width&quot;:432,&quot;height&quot;:333}}" id="241" name="Google Shape;241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1700" y="1263849"/>
            <a:ext cx="4114800" cy="3171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Properties of Variance: Matrix Product	</a:t>
            </a:r>
            <a:endParaRPr/>
          </a:p>
        </p:txBody>
      </p:sp>
      <p:sp>
        <p:nvSpPr>
          <p:cNvPr id="247" name="Google Shape;247;p39"/>
          <p:cNvSpPr txBox="1"/>
          <p:nvPr/>
        </p:nvSpPr>
        <p:spPr>
          <a:xfrm>
            <a:off x="4572000" y="4681800"/>
            <a:ext cx="8713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See variance_analysis_part2.py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descr="{&quot;code&quot;:&quot;\\begin{gather*}\n{Var\\left(y_{i}\\right)=Var\\left(\\sum_{j=1}^{m}A_{ij}x_{j}\\right)}\\\\\n{=\\sum_{j=1}^{m}Var\\left(A_{ij}x_{j}\\right)\\,\\because A_{ij}x_{j}\\,\\text{are}\\;\\text{independent}\\;\\text{}}\\\\\n{=\\,\\sum_{j=1}^{m}E\\left[A_{ij}^{2}x_{j}^{2}\\right]-E\\left[A_{ij}^{}x_{j}^{}\\right]^{2}}\\\\\n{=\\sum_{j=1}^{m}\\left(E\\left[A_{ij}^{2}x_{j}^{2}\\right]-E\\left[A_{ij}\\right]^{2}E\\left[x_{j}\\right]^{2}\\,\\right)\\because A_{ij\\,}\\text{and}\\,x_{j}\\,\\text{are}\\;\\text{independent}}\\\\\n{=\\sum_{j=1}^{m}E\\left[A_{ij}^{2}x_{j}^{2}\\right]\\,\\because E\\left[A_{ij}\\right],\\,E\\left[x_{j}\\right]=0}\\\\\n{=\\sum_{j=1}^{m}E\\left[A_{ij}^{2}x_{j}^{2}\\right]=\\sum_{j=1}^{m}E\\left[A_{ij}^{2}\\right]E\\left[x_{j}^{2}\\right]=\\sum_{j=1}^{m}\\left(E\\left[A_{ij}^{2}\\right]-E\\left[A_{ij}\\right]^{2}\\right)\\left(E\\left[x_{j}^{2}\\right]-E\\left[x_{j}\\right]^{2}\\right)}\\\\\n{\\because \\text{if}\\;A_{ij}\\,\\text{and}\\;x_{j}\\,\\text{are}\\;\\text{independent},\\,\\text{so}\\;\\text{are}\\;A_{ij}^{2}\\,\\text{and}\\;x_{j}^{2}\\,}\\\\\n{=\\sum_{j=1}^{m}Var\\left(A_{ij}\\right)Var\\left(x_{j}\\right)=m}\t\n\\end{gather*}&quot;,&quot;id&quot;:&quot;16&quot;,&quot;backgroundColor&quot;:&quot;#FFFFFF&quot;,&quot;type&quot;:&quot;gather*&quot;,&quot;backgroundColorModified&quot;:false,&quot;aid&quot;:null,&quot;font&quot;:{&quot;size&quot;:12,&quot;family&quot;:&quot;Arial&quot;,&quot;color&quot;:&quot;#000000&quot;},&quot;ts&quot;:1762910966535,&quot;cs&quot;:&quot;AcjQYZaIDn2a5XmAHgcE2Q==&quot;,&quot;size&quot;:{&quot;width&quot;:659,&quot;height&quot;:445.5}}" id="248" name="Google Shape;248;p3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3350" y="1017725"/>
            <a:ext cx="5960777" cy="4029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Joint and Conditional Probabilities	</a:t>
            </a:r>
            <a:endParaRPr/>
          </a:p>
        </p:txBody>
      </p:sp>
      <p:sp>
        <p:nvSpPr>
          <p:cNvPr id="254" name="Google Shape;254;p40"/>
          <p:cNvSpPr txBox="1"/>
          <p:nvPr>
            <p:ph idx="1" type="body"/>
          </p:nvPr>
        </p:nvSpPr>
        <p:spPr>
          <a:xfrm>
            <a:off x="311700" y="1152475"/>
            <a:ext cx="8520600" cy="376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</a:rPr>
              <a:t>Machine learning models rarely deal with a single variable.</a:t>
            </a:r>
            <a:br>
              <a:rPr lang="en" sz="1100">
                <a:solidFill>
                  <a:schemeClr val="dk1"/>
                </a:solidFill>
              </a:rPr>
            </a:br>
            <a:r>
              <a:rPr lang="en" sz="1100">
                <a:solidFill>
                  <a:schemeClr val="dk1"/>
                </a:solidFill>
              </a:rPr>
              <a:t>Instead, we work with </a:t>
            </a:r>
            <a:r>
              <a:rPr i="1" lang="en" sz="1100">
                <a:solidFill>
                  <a:schemeClr val="dk1"/>
                </a:solidFill>
              </a:rPr>
              <a:t>joint behavior</a:t>
            </a:r>
            <a:r>
              <a:rPr lang="en" sz="1100">
                <a:solidFill>
                  <a:schemeClr val="dk1"/>
                </a:solidFill>
              </a:rPr>
              <a:t> of many variables — inputs, outputs, and hidden states.</a:t>
            </a:r>
            <a:br>
              <a:rPr lang="en" sz="1100">
                <a:solidFill>
                  <a:schemeClr val="dk1"/>
                </a:solidFill>
              </a:rPr>
            </a:br>
            <a:r>
              <a:rPr lang="en" sz="1100">
                <a:solidFill>
                  <a:schemeClr val="dk1"/>
                </a:solidFill>
              </a:rPr>
              <a:t>For instance, in spam detection: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</a:rPr>
              <a:t>X = features of an email (words, sender domain, attachments)</a:t>
            </a:r>
            <a:br>
              <a:rPr lang="en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</a:rPr>
              <a:t>Y = label (spam or not)</a:t>
            </a:r>
            <a:br>
              <a:rPr lang="en" sz="1100">
                <a:solidFill>
                  <a:schemeClr val="dk1"/>
                </a:solidFill>
              </a:rPr>
            </a:br>
            <a:r>
              <a:rPr lang="en" sz="1100">
                <a:solidFill>
                  <a:schemeClr val="dk1"/>
                </a:solidFill>
              </a:rPr>
              <a:t> We want P(Y∣X): the probability the email is spam </a:t>
            </a:r>
            <a:r>
              <a:rPr b="1" lang="en" sz="1100">
                <a:solidFill>
                  <a:schemeClr val="dk1"/>
                </a:solidFill>
              </a:rPr>
              <a:t>given</a:t>
            </a:r>
            <a:r>
              <a:rPr lang="en" sz="1100">
                <a:solidFill>
                  <a:schemeClr val="dk1"/>
                </a:solidFill>
              </a:rPr>
              <a:t> its features.</a:t>
            </a:r>
            <a:br>
              <a:rPr lang="en" sz="1100">
                <a:solidFill>
                  <a:schemeClr val="dk1"/>
                </a:solidFill>
              </a:rPr>
            </a:br>
            <a:r>
              <a:rPr lang="en" sz="1100">
                <a:solidFill>
                  <a:schemeClr val="dk1"/>
                </a:solidFill>
              </a:rPr>
              <a:t> To compute that, we must understand </a:t>
            </a:r>
            <a:r>
              <a:rPr b="1" lang="en" sz="1100">
                <a:solidFill>
                  <a:schemeClr val="dk1"/>
                </a:solidFill>
              </a:rPr>
              <a:t>joint</a:t>
            </a:r>
            <a:r>
              <a:rPr lang="en" sz="1100">
                <a:solidFill>
                  <a:schemeClr val="dk1"/>
                </a:solidFill>
              </a:rPr>
              <a:t> and </a:t>
            </a:r>
            <a:r>
              <a:rPr b="1" lang="en" sz="1100">
                <a:solidFill>
                  <a:schemeClr val="dk1"/>
                </a:solidFill>
              </a:rPr>
              <a:t>conditional</a:t>
            </a:r>
            <a:r>
              <a:rPr lang="en" sz="1100">
                <a:solidFill>
                  <a:schemeClr val="dk1"/>
                </a:solidFill>
              </a:rPr>
              <a:t> probability.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</a:rPr>
              <a:t>Joint Probability: </a:t>
            </a:r>
            <a:r>
              <a:rPr lang="en" sz="1100">
                <a:solidFill>
                  <a:schemeClr val="dk1"/>
                </a:solidFill>
              </a:rPr>
              <a:t>Probability that both events occur p(A,B) = p(A and B both occur)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</a:rPr>
              <a:t>Conditional Probability:</a:t>
            </a:r>
            <a:r>
              <a:rPr lang="en" sz="1100">
                <a:solidFill>
                  <a:schemeClr val="dk1"/>
                </a:solidFill>
              </a:rPr>
              <a:t> p(A|B) = p(A, given that B has occurred)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</a:rPr>
              <a:t>Eg., Let A:  “email contains the word </a:t>
            </a:r>
            <a:r>
              <a:rPr i="1" lang="en" sz="1100">
                <a:solidFill>
                  <a:schemeClr val="dk1"/>
                </a:solidFill>
              </a:rPr>
              <a:t>lottery</a:t>
            </a:r>
            <a:r>
              <a:rPr lang="en" sz="1100">
                <a:solidFill>
                  <a:schemeClr val="dk1"/>
                </a:solidFill>
              </a:rPr>
              <a:t>”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</a:rPr>
              <a:t>and B: “email is spam.”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</a:rPr>
              <a:t>If P(A,B)=0.06 and P(B)=0.1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then P(A∣B)=0.06/0.1=0.6.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4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Joint and Conditional Probabilities	</a:t>
            </a:r>
            <a:endParaRPr/>
          </a:p>
        </p:txBody>
      </p:sp>
      <p:sp>
        <p:nvSpPr>
          <p:cNvPr id="260" name="Google Shape;260;p41"/>
          <p:cNvSpPr txBox="1"/>
          <p:nvPr>
            <p:ph idx="1" type="body"/>
          </p:nvPr>
        </p:nvSpPr>
        <p:spPr>
          <a:xfrm>
            <a:off x="311700" y="1152475"/>
            <a:ext cx="8520600" cy="376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If A and B are independent, p(A|B)=p(A). Intuition: B doesn’t provide any information about A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</a:rPr>
              <a:t>Bayes Theorem</a:t>
            </a:r>
            <a:r>
              <a:rPr lang="en" sz="1100">
                <a:solidFill>
                  <a:schemeClr val="dk1"/>
                </a:solidFill>
              </a:rPr>
              <a:t>: p(A|B) = p(B|A)p(A)/p(B)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</a:rPr>
              <a:t>Example:</a:t>
            </a:r>
            <a:endParaRPr b="1"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p(T+) = p(T+|D+)p(D+) + p(T+|D-)p(D-) = 0.99*0.01 + 0.05*(1-0.01) = 0.059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What is the probability that I’m diseased, if the test is positive?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p(D+|T+) = p(T+|D+) p(D+) / p(T+) = 0.99 * 0.01/0.059 = 0.167!</a:t>
            </a:r>
            <a:endParaRPr sz="1100">
              <a:solidFill>
                <a:schemeClr val="dk1"/>
              </a:solidFill>
            </a:endParaRPr>
          </a:p>
        </p:txBody>
      </p:sp>
      <p:graphicFrame>
        <p:nvGraphicFramePr>
          <p:cNvPr id="261" name="Google Shape;261;p41"/>
          <p:cNvGraphicFramePr/>
          <p:nvPr/>
        </p:nvGraphicFramePr>
        <p:xfrm>
          <a:off x="1829925" y="19648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{32424945-B5A6-4187-9655-5718CCD74F73}</a:tableStyleId>
              </a:tblPr>
              <a:tblGrid>
                <a:gridCol w="2655050"/>
                <a:gridCol w="2170950"/>
              </a:tblGrid>
              <a:tr h="4415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Event</a:t>
                      </a:r>
                      <a:endParaRPr b="1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Probability</a:t>
                      </a:r>
                      <a:r>
                        <a:rPr b="1" lang="en"/>
                        <a:t> </a:t>
                      </a:r>
                      <a:endParaRPr b="1"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Disease (D+)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0.01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Positive Test (T+ if diseased)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0.99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Positive Test (T+ if healthy)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0.05</a:t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4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Comparing two probability distributions</a:t>
            </a:r>
            <a:endParaRPr/>
          </a:p>
        </p:txBody>
      </p:sp>
      <p:sp>
        <p:nvSpPr>
          <p:cNvPr id="267" name="Google Shape;267;p42"/>
          <p:cNvSpPr txBox="1"/>
          <p:nvPr>
            <p:ph idx="1" type="body"/>
          </p:nvPr>
        </p:nvSpPr>
        <p:spPr>
          <a:xfrm>
            <a:off x="311700" y="2662800"/>
            <a:ext cx="8520600" cy="807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Say we have two dice. One is a balanced dice (X), so the probability of rolling numbers 1-6 is ⅙. The second (Y) is unbalanced, with the following distribution  </a:t>
            </a:r>
            <a:endParaRPr/>
          </a:p>
        </p:txBody>
      </p:sp>
      <p:pic>
        <p:nvPicPr>
          <p:cNvPr descr="{&quot;font&quot;:{&quot;family&quot;:&quot;Arial&quot;,&quot;color&quot;:&quot;#595959&quot;,&quot;size&quot;:15},&quot;code&quot;:&quot;\\begin{lalign*}\n&amp;{\\text{Say}\\;\\text{Random}\\;\\text{Variable}\\;X\\,\\text{can}\\;\\text{have}\\;\\text{discrete}\\;\\text{states}\\;X_{i}\\left(i\\in\\left[1,2\\,\\dots n\\right]\\right)}\\\\\n&amp;{\\text{Probability}\\;\\text{distribution}\\;\\text{over}\\;\\text{these}\\;\\text{states}\\;\\text{is}\\;\\text{denoted}\\;\\text{by}\\;x_{i}\\,\\left(P\\left(X=X_{i}\\right)\\right)}\\\\\n&amp;{\\text{Similarly}\\;\\text{for}\\;\\text{Y.}\\;\\text{X}\\;\\text{is}\\;\\text{the}\\;\\text{target,}\\;\\text{Y}\\;\\text{is}\\;\\text{the}\\;\\text{modeled}\\;\\text{distribution}}\\\\\n&amp;{KL\\left(X\\left|\\right|Y\\right)=\\sum_{i=1}^{n}x_{i}\\log_{}\\left(\\frac{x_{i}}{y_{i}}\\right)}\t\n\\end{lalign*}&quot;,&quot;backgroundColorModified&quot;:false,&quot;backgroundColor&quot;:&quot;#FFFFFF&quot;,&quot;type&quot;:&quot;lalign*&quot;,&quot;aid&quot;:null,&quot;id&quot;:&quot;9&quot;,&quot;ts&quot;:1758249055956,&quot;cs&quot;:&quot;Iz7jwVVwTXRWIVxOHqVu5w==&quot;,&quot;size&quot;:{&quot;width&quot;:728,&quot;height&quot;:154}}" id="268" name="Google Shape;268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7293" y="1085809"/>
            <a:ext cx="6934200" cy="14668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code&quot;:&quot;\\begin{lalign*}\n&amp;{p\\left(Y\\right)=\\left[\\frac{1}{8},\\,\\frac{1}{8},\\,\\frac{3}{16},\\,\\frac{3}{16},\\frac{3}{16},\\frac{3}{16}\\right]}\\\\\n&amp;{KL\\left(Y\\left|\\right|X\\right)=\\,\\frac{1}{8}\\log_{}\\left(\\frac{1}{8}\\times6\\right)+\\frac{1}{8}\\log_{}\\left(\\frac{1}{8}\\times6\\right)+\\frac{3}{16}\\log_{}\\left(\\frac{3}{16}\\times6\\right)+\\frac{3}{16}\\log_{}\\left(\\frac{3}{16}\\times6\\right)+\\frac{3}{16}\\log_{}\\left(\\frac{3}{16}\\times6\\right)}\t\n\\end{lalign*}&quot;,&quot;type&quot;:&quot;lalign*&quot;,&quot;id&quot;:&quot;10&quot;,&quot;backgroundColor&quot;:&quot;#FFFFFF&quot;,&quot;aid&quot;:null,&quot;font&quot;:{&quot;size&quot;:11,&quot;color&quot;:&quot;#595959&quot;,&quot;family&quot;:&quot;Arial&quot;},&quot;backgroundColorModified&quot;:false,&quot;ts&quot;:1758244482348,&quot;cs&quot;:&quot;McZ2+0trXKnxBmLjjGsNxA==&quot;,&quot;size&quot;:{&quot;width&quot;:809.5,&quot;height&quot;:88}}" id="269" name="Google Shape;269;p4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09025" y="3579946"/>
            <a:ext cx="7710488" cy="838200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42"/>
          <p:cNvSpPr txBox="1"/>
          <p:nvPr>
            <p:ph idx="1" type="body"/>
          </p:nvPr>
        </p:nvSpPr>
        <p:spPr>
          <a:xfrm>
            <a:off x="417300" y="4401850"/>
            <a:ext cx="8520600" cy="807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=0.016.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Note: KL(X||Y) =  0.017! KL(X||Y) doesn’t equal KL(Y||X)! I.e., KL distance isn’t symmetric!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4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Comparing two probability distributions: KL vs MSE</a:t>
            </a:r>
            <a:endParaRPr/>
          </a:p>
        </p:txBody>
      </p:sp>
      <p:sp>
        <p:nvSpPr>
          <p:cNvPr id="276" name="Google Shape;276;p43"/>
          <p:cNvSpPr txBox="1"/>
          <p:nvPr>
            <p:ph idx="1" type="body"/>
          </p:nvPr>
        </p:nvSpPr>
        <p:spPr>
          <a:xfrm>
            <a:off x="417300" y="1066950"/>
            <a:ext cx="4260300" cy="52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Why not just use Mean Square Error?  </a:t>
            </a:r>
            <a:endParaRPr/>
          </a:p>
        </p:txBody>
      </p:sp>
      <p:pic>
        <p:nvPicPr>
          <p:cNvPr descr="{&quot;backgroundColor&quot;:&quot;#FFFFFF&quot;,&quot;aid&quot;:null,&quot;font&quot;:{&quot;size&quot;:12.5,&quot;color&quot;:&quot;#595959&quot;,&quot;family&quot;:&quot;Arial&quot;},&quot;id&quot;:&quot;9&quot;,&quot;type&quot;:&quot;lalign*&quot;,&quot;code&quot;:&quot;\\begin{lalign*}\n&amp;{\\text{True}\\;\\text{distribution}\\;X}\\\\\n&amp;{\\text{Modeled}\\;\\text{distribution}\\;Y}\\\\\n&amp;{d\\left(X,Y\\right)=\\frac{1}{n}\\sum_{i=1}^{n}\\left(x_{i}-y_{i}\\right)^{2}}\t\n\\end{lalign*}&quot;,&quot;backgroundColorModified&quot;:false,&quot;ts&quot;:1758249120181,&quot;cs&quot;:&quot;cGPcuPgKAlrDBs5fTmq0GA==&quot;,&quot;size&quot;:{&quot;width&quot;:229.20000000000002,&quot;height&quot;:101.80000000000001}}" id="277" name="Google Shape;277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1401" y="1671926"/>
            <a:ext cx="2183130" cy="9696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font&quot;:{&quot;size&quot;:11,&quot;family&quot;:&quot;Arial&quot;,&quot;color&quot;:&quot;#595959&quot;},&quot;backgroundColor&quot;:&quot;#FFFFFF&quot;,&quot;type&quot;:&quot;lalign*&quot;,&quot;aid&quot;:null,&quot;id&quot;:&quot;10&quot;,&quot;backgroundColorModified&quot;:false,&quot;code&quot;:&quot;\\begin{lalign*}\n&amp;{\\text{Let's}\\;\\text{consider}\\;\\text{two}\\;\\text{coins}\\;\\text{X}\\;\\text{and}\\;\\text{Y}}\\\\\n&amp;{\\text{Coin}\\;\\text{X}\\;\\text{is}\\;\\text{unbiased,}\\;\\text{s}\\text{o}\\;p\\left(X=H\\right)=1-p\\left(X=T\\right)=0.5}\\\\\n&amp;{\\text{Coin}\\;\\text{Y}\\;\\text{is}\\;\\text{biased}.\\,\\text{We'll}\\;\\text{vary}\\;p\\left(Y=H\\right)\\,\\text{from}\\;\\text{0-1}\\;\\text{and}\\;\\text{calculate}}\\\\\n&amp;{KL\\left(X\\left|\\right|Y\\right)\\,\\text{and}\\;\\text{d(p,q)}}\\\\\n&amp;{}\t\n\\end{lalign*}&quot;,&quot;ts&quot;:1758245678142,&quot;cs&quot;:&quot;RMKfDPtwsbFutEL+3nVV8A==&quot;,&quot;size&quot;:{&quot;width&quot;:458.6666666666667,&quot;height&quot;:83.6666666666667}}" id="278" name="Google Shape;278;p4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3175" y="2745350"/>
            <a:ext cx="4856300" cy="885850"/>
          </a:xfrm>
          <a:prstGeom prst="rect">
            <a:avLst/>
          </a:prstGeom>
          <a:noFill/>
          <a:ln>
            <a:noFill/>
          </a:ln>
        </p:spPr>
      </p:pic>
      <p:sp>
        <p:nvSpPr>
          <p:cNvPr id="279" name="Google Shape;279;p43"/>
          <p:cNvSpPr txBox="1"/>
          <p:nvPr>
            <p:ph idx="1" type="body"/>
          </p:nvPr>
        </p:nvSpPr>
        <p:spPr>
          <a:xfrm>
            <a:off x="417300" y="3805700"/>
            <a:ext cx="8057100" cy="114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40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23"/>
              <a:t>Notice that KL distance penalizes large deviations between p(X) and p(Y) much more severely!</a:t>
            </a:r>
            <a:endParaRPr sz="3023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3023"/>
              <a:t>Also, when p(Y) assigns a 0 probability to an outcome that p(X) assigns a non-zero probability, KL distance blows up, while MSE doesn’t </a:t>
            </a:r>
            <a:endParaRPr sz="3023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280" name="Google Shape;280;p4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710176" y="1170125"/>
            <a:ext cx="3281424" cy="2461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n"/>
              <a:t>Comparing two probability distributions: KL vs MSE</a:t>
            </a:r>
            <a:endParaRPr/>
          </a:p>
        </p:txBody>
      </p:sp>
      <p:sp>
        <p:nvSpPr>
          <p:cNvPr id="286" name="Google Shape;286;p44"/>
          <p:cNvSpPr txBox="1"/>
          <p:nvPr>
            <p:ph idx="1" type="body"/>
          </p:nvPr>
        </p:nvSpPr>
        <p:spPr>
          <a:xfrm>
            <a:off x="417300" y="1066950"/>
            <a:ext cx="4893000" cy="86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not just use Mean Square Error?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Let’s consider the gradient wrt Y   </a:t>
            </a:r>
            <a:endParaRPr/>
          </a:p>
        </p:txBody>
      </p:sp>
      <p:pic>
        <p:nvPicPr>
          <p:cNvPr descr="{&quot;backgroundColor&quot;:&quot;#FFFFFF&quot;,&quot;backgroundColorModified&quot;:false,&quot;font&quot;:{&quot;family&quot;:&quot;Arial&quot;,&quot;size&quot;:12.5,&quot;color&quot;:&quot;#595959&quot;},&quot;code&quot;:&quot;\\begin{lalign*}\n&amp;{\\text{Random}\\;\\text{Variable}\\;X\\,\\text{can}\\;\\text{have}\\;\\text{discrete}\\;\\text{states}\\;X_{i}\\left(i\\in\\left[1,2\\,\\dots n\\right]\\right)}\\\\\n&amp;{\\text{Probability}\\;\\text{distribution}\\;\\text{over}\\;\\text{these}\\;\\text{states}\\;\\text{is}\\;\\text{denoted}\\;\\text{by}\\;\\text{p(X)}}\\\\\n&amp;{\\text{Similarly}\\;\\text{for}\\;\\text{Y.}\\;\\text{X}\\;\\text{is}\\;\\text{the}\\;\\text{target,}\\;\\text{Y}\\;\\text{is}\\;\\text{the}\\;\\text{modeled}\\;\\text{distribution}}\\\\\n&amp;{d\\left(X,Y\\right)=\\frac{1}{n}\\sum_{i=1}^{n}\\left(p\\left(X_{i}\\right)-p\\left(Y_{i}\\right)\\right)^{2}}\\\\\n&amp;{\\frac{\\partial d\\left(X,Y\\right)}{\\partial Y}=\\frac{2}{n}\\left(p\\left(X_{i}\\right)-p\\left(Y_{i}\\right)\\right)\\,:\\,n\\times1\\,\\text{vector}\\;\\text{}}\\\\\n&amp;{KL\\left(X\\left|\\right|Y\\right)=\\sum_{i=1}^{n}p\\left(X_{i}\\right)\\log_{} \\left(\\frac{p\\left(X_{i}\\right)}{p\\left(Y_{i}\\right)}\\right)}\\\\\n&amp;{\\frac{\\partial KL\\left(X\\left|\\right|Y\\right)}{\\partial Y}=\\frac{-p\\left(X_{i}\\right)}{p\\left(Y_{i}\\right)}\\,:\\,\\,n\\times1\\,\\text{vector}\\;\\text{}}\\\\\n&amp;{}\t\n\\end{lalign*}&quot;,&quot;id&quot;:&quot;9&quot;,&quot;type&quot;:&quot;lalign*&quot;,&quot;aid&quot;:null,&quot;ts&quot;:1762895993446,&quot;cs&quot;:&quot;zyD4qasVLVxqewFlgyX4vQ==&quot;,&quot;size&quot;:{&quot;width&quot;:533.5,&quot;height&quot;:293.50000000000006}}" id="287" name="Google Shape;287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1085" y="1978387"/>
            <a:ext cx="5081588" cy="2795588"/>
          </a:xfrm>
          <a:prstGeom prst="rect">
            <a:avLst/>
          </a:prstGeom>
          <a:noFill/>
          <a:ln>
            <a:noFill/>
          </a:ln>
        </p:spPr>
      </p:pic>
      <p:sp>
        <p:nvSpPr>
          <p:cNvPr id="288" name="Google Shape;288;p44"/>
          <p:cNvSpPr txBox="1"/>
          <p:nvPr>
            <p:ph idx="1" type="body"/>
          </p:nvPr>
        </p:nvSpPr>
        <p:spPr>
          <a:xfrm>
            <a:off x="5067250" y="3062800"/>
            <a:ext cx="3517200" cy="178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770"/>
              <a:buNone/>
            </a:pPr>
            <a:r>
              <a:rPr lang="en" sz="1716"/>
              <a:t>The gradient of the KL distance is much larger when p(X) and p(Y) differ a lot. This results in faster convergence. More on this later..</a:t>
            </a:r>
            <a:endParaRPr sz="1716"/>
          </a:p>
          <a:p>
            <a:pPr indent="0" lvl="0" marL="0" rtl="0" algn="l">
              <a:lnSpc>
                <a:spcPct val="85000"/>
              </a:lnSpc>
              <a:spcBef>
                <a:spcPts val="1200"/>
              </a:spcBef>
              <a:spcAft>
                <a:spcPts val="1200"/>
              </a:spcAft>
              <a:buSzPts val="770"/>
              <a:buNone/>
            </a:pPr>
            <a:r>
              <a:t/>
            </a:r>
            <a:endParaRPr sz="86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Cross Entropy Loss</a:t>
            </a:r>
            <a:endParaRPr/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1023150"/>
            <a:ext cx="8520600" cy="109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7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For classification problems, we need to compare two probability distributions--the network output and ground truth distribution. This is done using </a:t>
            </a:r>
            <a:r>
              <a:rPr b="1" lang="en" sz="1600"/>
              <a:t>cross entropy loss</a:t>
            </a:r>
            <a:endParaRPr b="1" sz="16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600"/>
              <a:t>First we need to convert network output into probabilities. This is done using a Softmax function. Say we have input x into a network characterized by </a:t>
            </a:r>
            <a:r>
              <a:rPr lang="en" sz="1600"/>
              <a:t>parameters</a:t>
            </a:r>
            <a:r>
              <a:rPr lang="en" sz="1600"/>
              <a:t> theta. The output can be one of K classes</a:t>
            </a:r>
            <a:endParaRPr sz="1600"/>
          </a:p>
        </p:txBody>
      </p:sp>
      <p:sp>
        <p:nvSpPr>
          <p:cNvPr id="295" name="Google Shape;295;p45"/>
          <p:cNvSpPr/>
          <p:nvPr/>
        </p:nvSpPr>
        <p:spPr>
          <a:xfrm>
            <a:off x="1641875" y="2613691"/>
            <a:ext cx="656400" cy="4995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{&quot;font&quot;:{&quot;size&quot;:14,&quot;family&quot;:&quot;Arial&quot;,&quot;color&quot;:&quot;#000000&quot;},&quot;type&quot;:&quot;$$&quot;,&quot;backgroundColorModified&quot;:false,&quot;id&quot;:&quot;3&quot;,&quot;aid&quot;:null,&quot;code&quot;:&quot;$$f_{\\theta}\\left(x\\right)$$&quot;,&quot;backgroundColor&quot;:&quot;#EEEEEE&quot;,&quot;ts&quot;:1755217193477,&quot;cs&quot;:&quot;ebk20vktDPhjmfZ3hlPO8g==&quot;,&quot;size&quot;:{&quot;width&quot;:49.833333333333336,&quot;height&quot;:22}}" id="296" name="Google Shape;296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32738" y="2758666"/>
            <a:ext cx="474663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aid&quot;:null,&quot;backgroundColorModified&quot;:false,&quot;id&quot;:&quot;3&quot;,&quot;font&quot;:{&quot;family&quot;:&quot;Arial&quot;,&quot;color&quot;:&quot;#000000&quot;,&quot;size&quot;:14},&quot;code&quot;:&quot;$$x$$&quot;,&quot;type&quot;:&quot;$$&quot;,&quot;backgroundColor&quot;:&quot;#EEEEEE&quot;,&quot;ts&quot;:1755217224382,&quot;cs&quot;:&quot;gDw5HS7k9p4iDn5NEy3pFA==&quot;,&quot;size&quot;:{&quot;width&quot;:10.666666666666666,&quot;height&quot;:10}}" id="297" name="Google Shape;297;p4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38759" y="2815816"/>
            <a:ext cx="101600" cy="952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98" name="Google Shape;298;p45"/>
          <p:cNvCxnSpPr>
            <a:endCxn id="295" idx="1"/>
          </p:cNvCxnSpPr>
          <p:nvPr/>
        </p:nvCxnSpPr>
        <p:spPr>
          <a:xfrm>
            <a:off x="1352975" y="2863441"/>
            <a:ext cx="2889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99" name="Google Shape;299;p45"/>
          <p:cNvCxnSpPr>
            <a:stCxn id="295" idx="3"/>
            <a:endCxn id="300" idx="1"/>
          </p:cNvCxnSpPr>
          <p:nvPr/>
        </p:nvCxnSpPr>
        <p:spPr>
          <a:xfrm>
            <a:off x="2298275" y="2863441"/>
            <a:ext cx="1353600" cy="18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pic>
        <p:nvPicPr>
          <p:cNvPr descr="{&quot;id&quot;:&quot;3&quot;,&quot;backgroundColorModified&quot;:false,&quot;backgroundColor&quot;:&quot;#EEEEEE&quot;,&quot;font&quot;:{&quot;color&quot;:&quot;#000000&quot;,&quot;size&quot;:14,&quot;family&quot;:&quot;Arial&quot;},&quot;type&quot;:&quot;$$&quot;,&quot;code&quot;:&quot;$$l\\,\\left(K\\times1\\right)$$&quot;,&quot;aid&quot;:null,&quot;ts&quot;:1755217375364,&quot;cs&quot;:&quot;B3e7Q0TMU/1UwHNEOT1nBQ==&quot;,&quot;size&quot;:{&quot;width&quot;:85.33333333333333,&quot;height&quot;:22}}" id="301" name="Google Shape;301;p4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391515" y="3163181"/>
            <a:ext cx="812800" cy="209550"/>
          </a:xfrm>
          <a:prstGeom prst="rect">
            <a:avLst/>
          </a:prstGeom>
          <a:noFill/>
          <a:ln>
            <a:noFill/>
          </a:ln>
        </p:spPr>
      </p:pic>
      <p:sp>
        <p:nvSpPr>
          <p:cNvPr id="300" name="Google Shape;300;p45"/>
          <p:cNvSpPr/>
          <p:nvPr/>
        </p:nvSpPr>
        <p:spPr>
          <a:xfrm>
            <a:off x="3651825" y="2539045"/>
            <a:ext cx="920400" cy="6846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Softmax</a:t>
            </a:r>
            <a:endParaRPr/>
          </a:p>
        </p:txBody>
      </p:sp>
      <p:sp>
        <p:nvSpPr>
          <p:cNvPr id="302" name="Google Shape;302;p45"/>
          <p:cNvSpPr txBox="1"/>
          <p:nvPr/>
        </p:nvSpPr>
        <p:spPr>
          <a:xfrm>
            <a:off x="2298277" y="2402737"/>
            <a:ext cx="9993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>
                <a:solidFill>
                  <a:schemeClr val="dk2"/>
                </a:solidFill>
              </a:rPr>
              <a:t>l</a:t>
            </a:r>
            <a:endParaRPr i="1">
              <a:solidFill>
                <a:schemeClr val="dk2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>
              <a:solidFill>
                <a:schemeClr val="dk2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(logits)</a:t>
            </a:r>
            <a:endParaRPr>
              <a:solidFill>
                <a:schemeClr val="dk2"/>
              </a:solidFill>
            </a:endParaRPr>
          </a:p>
        </p:txBody>
      </p:sp>
      <p:pic>
        <p:nvPicPr>
          <p:cNvPr descr="{&quot;font&quot;:{&quot;size&quot;:11,&quot;family&quot;:&quot;Arial&quot;,&quot;color&quot;:&quot;#000000&quot;},&quot;aid&quot;:null,&quot;type&quot;:&quot;$$&quot;,&quot;backgroundColorModified&quot;:false,&quot;backgroundColor&quot;:&quot;#FFFFFF&quot;,&quot;code&quot;:&quot;$$\\text{Softmax(}l_{i}\\text{)}\\;\\text{=}\\frac{\\exp\\left(l_{i}\\right)}{\\sum_{i=1}^{K}\\exp\\left(l_{i}\\right)}$$&quot;,&quot;id&quot;:&quot;4&quot;,&quot;ts&quot;:1755220878455,&quot;cs&quot;:&quot;B0RFm1hFxmYfElkksY7NNw==&quot;,&quot;size&quot;:{&quot;width&quot;:204.66666666666666,&quot;height&quot;:46}}" id="303" name="Google Shape;303;p4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976320" y="3426365"/>
            <a:ext cx="1949450" cy="4381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04" name="Google Shape;304;p45"/>
          <p:cNvCxnSpPr>
            <a:stCxn id="300" idx="3"/>
            <a:endCxn id="305" idx="1"/>
          </p:cNvCxnSpPr>
          <p:nvPr/>
        </p:nvCxnSpPr>
        <p:spPr>
          <a:xfrm>
            <a:off x="4572225" y="2881345"/>
            <a:ext cx="1092900" cy="4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pic>
        <p:nvPicPr>
          <p:cNvPr descr="{&quot;code&quot;:&quot;$$\\text{x-entropy-loss(}y\\text{)}\\;\\text{=}-\\sum_{i=1}^{K}p_{i}\\log_{}\\left(y_{i}\\right)$$&quot;,&quot;type&quot;:&quot;$$&quot;,&quot;id&quot;:&quot;4&quot;,&quot;backgroundColorModified&quot;:false,&quot;aid&quot;:null,&quot;font&quot;:{&quot;family&quot;:&quot;Arial&quot;,&quot;color&quot;:&quot;#000000&quot;,&quot;size&quot;:11},&quot;backgroundColor&quot;:&quot;#FFFFFF&quot;,&quot;ts&quot;:1755221148731,&quot;cs&quot;:&quot;x4wEYk6cL/HjwXtb7K8Hkg==&quot;,&quot;size&quot;:{&quot;width&quot;:263.40000000000003,&quot;height&quot;:47.200000000000024}}" id="306" name="Google Shape;306;p45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947180" y="4184624"/>
            <a:ext cx="2508885" cy="449580"/>
          </a:xfrm>
          <a:prstGeom prst="rect">
            <a:avLst/>
          </a:prstGeom>
          <a:noFill/>
          <a:ln>
            <a:noFill/>
          </a:ln>
        </p:spPr>
      </p:pic>
      <p:sp>
        <p:nvSpPr>
          <p:cNvPr id="307" name="Google Shape;307;p45"/>
          <p:cNvSpPr txBox="1"/>
          <p:nvPr>
            <p:ph idx="1" type="body"/>
          </p:nvPr>
        </p:nvSpPr>
        <p:spPr>
          <a:xfrm>
            <a:off x="1240350" y="4619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400"/>
              <a:t>Usually </a:t>
            </a:r>
            <a:r>
              <a:rPr i="1" lang="en" sz="1400"/>
              <a:t>p</a:t>
            </a:r>
            <a:r>
              <a:rPr lang="en" sz="1400"/>
              <a:t> is a one-hot vector. It is 1 for the input’s true class, and 0 everywhere else.</a:t>
            </a:r>
            <a:endParaRPr sz="1400"/>
          </a:p>
        </p:txBody>
      </p:sp>
      <p:sp>
        <p:nvSpPr>
          <p:cNvPr id="308" name="Google Shape;308;p45"/>
          <p:cNvSpPr txBox="1"/>
          <p:nvPr>
            <p:ph idx="1" type="body"/>
          </p:nvPr>
        </p:nvSpPr>
        <p:spPr>
          <a:xfrm>
            <a:off x="5123450" y="4123063"/>
            <a:ext cx="1836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300"/>
              <a:t>Why does this expression make sense?</a:t>
            </a:r>
            <a:endParaRPr sz="1300"/>
          </a:p>
        </p:txBody>
      </p:sp>
      <p:cxnSp>
        <p:nvCxnSpPr>
          <p:cNvPr id="309" name="Google Shape;309;p45"/>
          <p:cNvCxnSpPr>
            <a:stCxn id="308" idx="1"/>
          </p:cNvCxnSpPr>
          <p:nvPr/>
        </p:nvCxnSpPr>
        <p:spPr>
          <a:xfrm flipH="1">
            <a:off x="4619750" y="4409413"/>
            <a:ext cx="503700" cy="84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310" name="Google Shape;310;p45"/>
          <p:cNvSpPr txBox="1"/>
          <p:nvPr>
            <p:ph idx="1" type="body"/>
          </p:nvPr>
        </p:nvSpPr>
        <p:spPr>
          <a:xfrm>
            <a:off x="2976325" y="2178510"/>
            <a:ext cx="2370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7500"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600"/>
              <a:t>convert logits into probabilities</a:t>
            </a:r>
            <a:endParaRPr sz="1600"/>
          </a:p>
        </p:txBody>
      </p:sp>
      <p:sp>
        <p:nvSpPr>
          <p:cNvPr id="305" name="Google Shape;305;p45"/>
          <p:cNvSpPr/>
          <p:nvPr/>
        </p:nvSpPr>
        <p:spPr>
          <a:xfrm>
            <a:off x="5665105" y="2539054"/>
            <a:ext cx="1539300" cy="6936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Cross-entropy loss</a:t>
            </a:r>
            <a:endParaRPr/>
          </a:p>
        </p:txBody>
      </p:sp>
      <p:sp>
        <p:nvSpPr>
          <p:cNvPr id="311" name="Google Shape;311;p45"/>
          <p:cNvSpPr txBox="1"/>
          <p:nvPr>
            <p:ph idx="1" type="body"/>
          </p:nvPr>
        </p:nvSpPr>
        <p:spPr>
          <a:xfrm>
            <a:off x="7523175" y="2661000"/>
            <a:ext cx="1136400" cy="449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SzPts val="523"/>
              <a:buNone/>
            </a:pPr>
            <a:r>
              <a:rPr lang="en" sz="1060"/>
              <a:t>True probability distribution (</a:t>
            </a:r>
            <a:r>
              <a:rPr i="1" lang="en" sz="1060"/>
              <a:t>p)</a:t>
            </a:r>
            <a:endParaRPr i="1" sz="1060"/>
          </a:p>
        </p:txBody>
      </p:sp>
      <p:sp>
        <p:nvSpPr>
          <p:cNvPr id="312" name="Google Shape;312;p45"/>
          <p:cNvSpPr txBox="1"/>
          <p:nvPr/>
        </p:nvSpPr>
        <p:spPr>
          <a:xfrm>
            <a:off x="4584929" y="2423881"/>
            <a:ext cx="11364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>
                <a:solidFill>
                  <a:schemeClr val="dk2"/>
                </a:solidFill>
              </a:rPr>
              <a:t>y</a:t>
            </a:r>
            <a:endParaRPr i="1">
              <a:solidFill>
                <a:schemeClr val="dk2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</a:rPr>
              <a:t>class probabilities</a:t>
            </a:r>
            <a:endParaRPr sz="1300">
              <a:solidFill>
                <a:schemeClr val="dk2"/>
              </a:solidFill>
            </a:endParaRPr>
          </a:p>
        </p:txBody>
      </p:sp>
      <p:pic>
        <p:nvPicPr>
          <p:cNvPr descr="{&quot;code&quot;:&quot;$$\\text{x-entropy-loss(}y\\text{)}\\;\\text{=}-\\sum_{i=1}^{K}p_{i}\\log_{}\\left(y_{i}\\right)$$&quot;,&quot;type&quot;:&quot;$$&quot;,&quot;id&quot;:&quot;4&quot;,&quot;backgroundColorModified&quot;:false,&quot;aid&quot;:null,&quot;font&quot;:{&quot;family&quot;:&quot;Arial&quot;,&quot;color&quot;:&quot;#000000&quot;,&quot;size&quot;:11},&quot;backgroundColor&quot;:&quot;#FFFFFF&quot;,&quot;ts&quot;:1755221148731,&quot;cs&quot;:&quot;x4wEYk6cL/HjwXtb7K8Hkg==&quot;,&quot;size&quot;:{&quot;width&quot;:263.40000000000003,&quot;height&quot;:47.200000000000024}}" id="313" name="Google Shape;313;p45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346330" y="3392099"/>
            <a:ext cx="2508885" cy="44958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14" name="Google Shape;314;p45"/>
          <p:cNvCxnSpPr>
            <a:stCxn id="311" idx="1"/>
            <a:endCxn id="305" idx="3"/>
          </p:cNvCxnSpPr>
          <p:nvPr/>
        </p:nvCxnSpPr>
        <p:spPr>
          <a:xfrm rot="10800000">
            <a:off x="7204275" y="2885850"/>
            <a:ext cx="3189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4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Cross Entropy Loss</a:t>
            </a:r>
            <a:endParaRPr/>
          </a:p>
        </p:txBody>
      </p:sp>
      <p:sp>
        <p:nvSpPr>
          <p:cNvPr id="320" name="Google Shape;320;p46"/>
          <p:cNvSpPr txBox="1"/>
          <p:nvPr>
            <p:ph idx="1" type="body"/>
          </p:nvPr>
        </p:nvSpPr>
        <p:spPr>
          <a:xfrm>
            <a:off x="311700" y="1152475"/>
            <a:ext cx="8520600" cy="68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600"/>
              <a:t>Let’s consider a binary classification example. Here K = 2</a:t>
            </a:r>
            <a:endParaRPr sz="1600"/>
          </a:p>
        </p:txBody>
      </p:sp>
      <p:sp>
        <p:nvSpPr>
          <p:cNvPr id="321" name="Google Shape;321;p46"/>
          <p:cNvSpPr txBox="1"/>
          <p:nvPr>
            <p:ph idx="1" type="body"/>
          </p:nvPr>
        </p:nvSpPr>
        <p:spPr>
          <a:xfrm>
            <a:off x="464100" y="2514900"/>
            <a:ext cx="8520600" cy="119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Let’s say p_1 = 1. If the network gets it right, y_1 is close to 1, and x-entropy loss is low. Similarly if the network gets it wrong, y_1 is low, and x-entropy loss is high.</a:t>
            </a:r>
            <a:endParaRPr sz="16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600"/>
              <a:t>To use it within a Neural Network, we need to calculate its derivative! </a:t>
            </a:r>
            <a:endParaRPr sz="1600"/>
          </a:p>
        </p:txBody>
      </p:sp>
      <p:pic>
        <p:nvPicPr>
          <p:cNvPr descr="{&quot;type&quot;:&quot;$$&quot;,&quot;id&quot;:&quot;4&quot;,&quot;backgroundColor&quot;:&quot;#FFFFFF&quot;,&quot;aid&quot;:null,&quot;font&quot;:{&quot;size&quot;:11,&quot;color&quot;:&quot;#000000&quot;,&quot;family&quot;:&quot;Arial&quot;},&quot;backgroundColorModified&quot;:false,&quot;code&quot;:&quot;$$\\text{x-entropy-loss(}y\\text{)}\\;\\text{=}-p_{1}\\log_{}\\left(y_{1}\\right)-\\left(1-p_{1}\\right)\\log_{}\\left(1-y_{1}\\right)$$&quot;,&quot;ts&quot;:1755221105735,&quot;cs&quot;:&quot;nxWn0T+h796LdqUdVCaqpw==&quot;,&quot;size&quot;:{&quot;width&quot;:407.6666666666667,&quot;height&quot;:17.666666666666668}}" id="322" name="Google Shape;322;p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94350" y="1971831"/>
            <a:ext cx="3883025" cy="168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4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Cross Entropy Loss: Simple Example</a:t>
            </a:r>
            <a:endParaRPr/>
          </a:p>
        </p:txBody>
      </p:sp>
      <p:sp>
        <p:nvSpPr>
          <p:cNvPr id="328" name="Google Shape;328;p47"/>
          <p:cNvSpPr/>
          <p:nvPr/>
        </p:nvSpPr>
        <p:spPr>
          <a:xfrm>
            <a:off x="1611625" y="2674592"/>
            <a:ext cx="656400" cy="4995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{&quot;font&quot;:{&quot;size&quot;:14,&quot;family&quot;:&quot;Arial&quot;,&quot;color&quot;:&quot;#000000&quot;},&quot;type&quot;:&quot;$$&quot;,&quot;backgroundColorModified&quot;:false,&quot;id&quot;:&quot;3&quot;,&quot;aid&quot;:null,&quot;code&quot;:&quot;$$f_{\\theta}\\left(x\\right)$$&quot;,&quot;backgroundColor&quot;:&quot;#EEEEEE&quot;,&quot;ts&quot;:1755217193477,&quot;cs&quot;:&quot;ebk20vktDPhjmfZ3hlPO8g==&quot;,&quot;size&quot;:{&quot;width&quot;:49.833333333333336,&quot;height&quot;:22}}" id="329" name="Google Shape;329;p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02488" y="2819567"/>
            <a:ext cx="474663" cy="2095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30" name="Google Shape;330;p47"/>
          <p:cNvCxnSpPr>
            <a:endCxn id="328" idx="1"/>
          </p:cNvCxnSpPr>
          <p:nvPr/>
        </p:nvCxnSpPr>
        <p:spPr>
          <a:xfrm>
            <a:off x="1322725" y="2924342"/>
            <a:ext cx="2889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31" name="Google Shape;331;p47"/>
          <p:cNvCxnSpPr>
            <a:stCxn id="328" idx="3"/>
          </p:cNvCxnSpPr>
          <p:nvPr/>
        </p:nvCxnSpPr>
        <p:spPr>
          <a:xfrm>
            <a:off x="2268025" y="2924342"/>
            <a:ext cx="510000" cy="99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pic>
        <p:nvPicPr>
          <p:cNvPr descr="{&quot;id&quot;:&quot;3&quot;,&quot;backgroundColorModified&quot;:false,&quot;backgroundColor&quot;:&quot;#EEEEEE&quot;,&quot;font&quot;:{&quot;color&quot;:&quot;#000000&quot;,&quot;size&quot;:14,&quot;family&quot;:&quot;Arial&quot;},&quot;type&quot;:&quot;$$&quot;,&quot;code&quot;:&quot;$$l\\,\\left(K\\times1\\right)$$&quot;,&quot;aid&quot;:null,&quot;ts&quot;:1755217375364,&quot;cs&quot;:&quot;B3e7Q0TMU/1UwHNEOT1nBQ==&quot;,&quot;size&quot;:{&quot;width&quot;:85.33333333333333,&quot;height&quot;:22}}" id="332" name="Google Shape;332;p4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537940" y="3639757"/>
            <a:ext cx="812800" cy="209550"/>
          </a:xfrm>
          <a:prstGeom prst="rect">
            <a:avLst/>
          </a:prstGeom>
          <a:noFill/>
          <a:ln>
            <a:noFill/>
          </a:ln>
        </p:spPr>
      </p:pic>
      <p:sp>
        <p:nvSpPr>
          <p:cNvPr id="333" name="Google Shape;333;p47"/>
          <p:cNvSpPr/>
          <p:nvPr/>
        </p:nvSpPr>
        <p:spPr>
          <a:xfrm>
            <a:off x="3865806" y="2543372"/>
            <a:ext cx="920400" cy="6846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Softmax</a:t>
            </a:r>
            <a:endParaRPr/>
          </a:p>
        </p:txBody>
      </p:sp>
      <p:cxnSp>
        <p:nvCxnSpPr>
          <p:cNvPr id="334" name="Google Shape;334;p47"/>
          <p:cNvCxnSpPr/>
          <p:nvPr/>
        </p:nvCxnSpPr>
        <p:spPr>
          <a:xfrm>
            <a:off x="3237564" y="2882972"/>
            <a:ext cx="623700" cy="9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335" name="Google Shape;335;p47"/>
          <p:cNvSpPr txBox="1"/>
          <p:nvPr/>
        </p:nvSpPr>
        <p:spPr>
          <a:xfrm>
            <a:off x="2694350" y="1864250"/>
            <a:ext cx="7266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Logits</a:t>
            </a:r>
            <a:endParaRPr>
              <a:solidFill>
                <a:schemeClr val="dk2"/>
              </a:solidFill>
            </a:endParaRPr>
          </a:p>
        </p:txBody>
      </p:sp>
      <p:cxnSp>
        <p:nvCxnSpPr>
          <p:cNvPr id="336" name="Google Shape;336;p47"/>
          <p:cNvCxnSpPr>
            <a:stCxn id="333" idx="3"/>
          </p:cNvCxnSpPr>
          <p:nvPr/>
        </p:nvCxnSpPr>
        <p:spPr>
          <a:xfrm flipH="1" rot="10800000">
            <a:off x="4786206" y="2882972"/>
            <a:ext cx="193800" cy="2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337" name="Google Shape;337;p47"/>
          <p:cNvSpPr txBox="1"/>
          <p:nvPr>
            <p:ph idx="1" type="body"/>
          </p:nvPr>
        </p:nvSpPr>
        <p:spPr>
          <a:xfrm>
            <a:off x="3163063" y="2194725"/>
            <a:ext cx="6564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400"/>
              <a:t>Cat</a:t>
            </a:r>
            <a:endParaRPr sz="1400"/>
          </a:p>
        </p:txBody>
      </p:sp>
      <p:sp>
        <p:nvSpPr>
          <p:cNvPr id="338" name="Google Shape;338;p47"/>
          <p:cNvSpPr/>
          <p:nvPr/>
        </p:nvSpPr>
        <p:spPr>
          <a:xfrm>
            <a:off x="5681080" y="2537530"/>
            <a:ext cx="1539300" cy="6936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Cross-entropy loss</a:t>
            </a:r>
            <a:endParaRPr/>
          </a:p>
        </p:txBody>
      </p:sp>
      <p:pic>
        <p:nvPicPr>
          <p:cNvPr descr="{&quot;code&quot;:&quot;$$\\text{x-entropy-loss(}y\\text{)}\\;\\text{=}-\\sum_{i=1}^{K}p_{i}\\log_{}\\left(y_{i}\\right)$$&quot;,&quot;type&quot;:&quot;$$&quot;,&quot;id&quot;:&quot;4&quot;,&quot;backgroundColorModified&quot;:false,&quot;aid&quot;:null,&quot;font&quot;:{&quot;family&quot;:&quot;Arial&quot;,&quot;color&quot;:&quot;#000000&quot;,&quot;size&quot;:11},&quot;backgroundColor&quot;:&quot;#FFFFFF&quot;,&quot;ts&quot;:1755221148731,&quot;cs&quot;:&quot;x4wEYk6cL/HjwXtb7K8Hkg==&quot;,&quot;size&quot;:{&quot;width&quot;:263.40000000000003,&quot;height&quot;:47.200000000000024}}" id="339" name="Google Shape;339;p4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508705" y="3729988"/>
            <a:ext cx="2508885" cy="44958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0" name="Google Shape;340;p4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4525" y="2262766"/>
            <a:ext cx="1323159" cy="1323159"/>
          </a:xfrm>
          <a:prstGeom prst="rect">
            <a:avLst/>
          </a:prstGeom>
          <a:noFill/>
          <a:ln>
            <a:noFill/>
          </a:ln>
        </p:spPr>
      </p:pic>
      <p:sp>
        <p:nvSpPr>
          <p:cNvPr id="341" name="Google Shape;341;p47"/>
          <p:cNvSpPr txBox="1"/>
          <p:nvPr>
            <p:ph idx="1" type="body"/>
          </p:nvPr>
        </p:nvSpPr>
        <p:spPr>
          <a:xfrm>
            <a:off x="311700" y="1065603"/>
            <a:ext cx="8520600" cy="68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600"/>
              <a:t>Let’s say we have an image classification problem, with three classes--Cat, Dog, Horse. Our input data is image of a cat. </a:t>
            </a:r>
            <a:endParaRPr sz="1600"/>
          </a:p>
        </p:txBody>
      </p:sp>
      <p:graphicFrame>
        <p:nvGraphicFramePr>
          <p:cNvPr id="342" name="Google Shape;342;p47"/>
          <p:cNvGraphicFramePr/>
          <p:nvPr/>
        </p:nvGraphicFramePr>
        <p:xfrm>
          <a:off x="2762607" y="2295356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{32424945-B5A6-4187-9655-5718CCD74F73}</a:tableStyleId>
              </a:tblPr>
              <a:tblGrid>
                <a:gridCol w="474650"/>
              </a:tblGrid>
              <a:tr h="3218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-1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218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-2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218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</a:t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sp>
        <p:nvSpPr>
          <p:cNvPr id="343" name="Google Shape;343;p47"/>
          <p:cNvSpPr txBox="1"/>
          <p:nvPr>
            <p:ph idx="1" type="body"/>
          </p:nvPr>
        </p:nvSpPr>
        <p:spPr>
          <a:xfrm>
            <a:off x="3186175" y="3110975"/>
            <a:ext cx="656400" cy="37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7500"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600"/>
              <a:t>Horse</a:t>
            </a:r>
            <a:endParaRPr sz="1600"/>
          </a:p>
        </p:txBody>
      </p:sp>
      <p:sp>
        <p:nvSpPr>
          <p:cNvPr id="344" name="Google Shape;344;p47"/>
          <p:cNvSpPr txBox="1"/>
          <p:nvPr>
            <p:ph idx="1" type="body"/>
          </p:nvPr>
        </p:nvSpPr>
        <p:spPr>
          <a:xfrm>
            <a:off x="3186173" y="2538278"/>
            <a:ext cx="6564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400"/>
              <a:t>Dog</a:t>
            </a:r>
            <a:endParaRPr sz="1400"/>
          </a:p>
        </p:txBody>
      </p:sp>
      <p:graphicFrame>
        <p:nvGraphicFramePr>
          <p:cNvPr id="345" name="Google Shape;345;p47"/>
          <p:cNvGraphicFramePr/>
          <p:nvPr/>
        </p:nvGraphicFramePr>
        <p:xfrm>
          <a:off x="7597832" y="2290031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{32424945-B5A6-4187-9655-5718CCD74F73}</a:tableStyleId>
              </a:tblPr>
              <a:tblGrid>
                <a:gridCol w="474650"/>
              </a:tblGrid>
              <a:tr h="3218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218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218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</a:t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cxnSp>
        <p:nvCxnSpPr>
          <p:cNvPr id="346" name="Google Shape;346;p47"/>
          <p:cNvCxnSpPr>
            <a:endCxn id="338" idx="3"/>
          </p:cNvCxnSpPr>
          <p:nvPr/>
        </p:nvCxnSpPr>
        <p:spPr>
          <a:xfrm flipH="1">
            <a:off x="7220380" y="2882830"/>
            <a:ext cx="364500" cy="1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graphicFrame>
        <p:nvGraphicFramePr>
          <p:cNvPr id="347" name="Google Shape;347;p47"/>
          <p:cNvGraphicFramePr/>
          <p:nvPr/>
        </p:nvGraphicFramePr>
        <p:xfrm>
          <a:off x="4996307" y="2289381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{32424945-B5A6-4187-9655-5718CCD74F73}</a:tableStyleId>
              </a:tblPr>
              <a:tblGrid>
                <a:gridCol w="474650"/>
              </a:tblGrid>
              <a:tr h="3218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0.24</a:t>
                      </a:r>
                      <a:endParaRPr sz="1100"/>
                    </a:p>
                  </a:txBody>
                  <a:tcPr marT="91425" marB="91425" marR="91425" marL="91425"/>
                </a:tc>
              </a:tr>
              <a:tr h="3218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0.09</a:t>
                      </a:r>
                      <a:endParaRPr sz="1100"/>
                    </a:p>
                  </a:txBody>
                  <a:tcPr marT="91425" marB="91425" marR="91425" marL="91425"/>
                </a:tc>
              </a:tr>
              <a:tr h="3218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0.66</a:t>
                      </a:r>
                      <a:endParaRPr sz="1100"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cxnSp>
        <p:nvCxnSpPr>
          <p:cNvPr id="348" name="Google Shape;348;p47"/>
          <p:cNvCxnSpPr/>
          <p:nvPr/>
        </p:nvCxnSpPr>
        <p:spPr>
          <a:xfrm flipH="1" rot="10800000">
            <a:off x="5479118" y="2887472"/>
            <a:ext cx="193800" cy="2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349" name="Google Shape;349;p47"/>
          <p:cNvSpPr txBox="1"/>
          <p:nvPr>
            <p:ph idx="1" type="body"/>
          </p:nvPr>
        </p:nvSpPr>
        <p:spPr>
          <a:xfrm>
            <a:off x="4048629" y="1765410"/>
            <a:ext cx="2370000" cy="37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SzPts val="770"/>
              <a:buNone/>
            </a:pPr>
            <a:r>
              <a:rPr lang="en" sz="1220"/>
              <a:t>Predicted probability distribution </a:t>
            </a:r>
            <a:r>
              <a:rPr i="1" lang="en" sz="1220"/>
              <a:t>y</a:t>
            </a:r>
            <a:endParaRPr i="1" sz="1220"/>
          </a:p>
        </p:txBody>
      </p:sp>
      <p:sp>
        <p:nvSpPr>
          <p:cNvPr id="350" name="Google Shape;350;p47"/>
          <p:cNvSpPr txBox="1"/>
          <p:nvPr>
            <p:ph idx="1" type="body"/>
          </p:nvPr>
        </p:nvSpPr>
        <p:spPr>
          <a:xfrm>
            <a:off x="6826701" y="1758575"/>
            <a:ext cx="2016900" cy="449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SzPts val="770"/>
              <a:buNone/>
            </a:pPr>
            <a:r>
              <a:rPr lang="en" sz="1220"/>
              <a:t>True probability distribution </a:t>
            </a:r>
            <a:r>
              <a:rPr i="1" lang="en" sz="1220"/>
              <a:t>p</a:t>
            </a:r>
            <a:endParaRPr i="1" sz="122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4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But cross-entropy loss isn’t the same as KL Distance!</a:t>
            </a:r>
            <a:endParaRPr/>
          </a:p>
        </p:txBody>
      </p:sp>
      <p:pic>
        <p:nvPicPr>
          <p:cNvPr descr="{&quot;type&quot;:&quot;gather*&quot;,&quot;id&quot;:&quot;4&quot;,&quot;aid&quot;:null,&quot;font&quot;:{&quot;size&quot;:11,&quot;color&quot;:&quot;#000000&quot;,&quot;family&quot;:&quot;Arial&quot;},&quot;backgroundColorModified&quot;:false,&quot;code&quot;:&quot;\\begin{gather*}\n{\\text{Notice:}}\\\\\n{\\text{x-entropy-loss(}p,y\\text{)}\\;\\text{=}-\\sum_{i=1}^{K}p_{i}\\log_{}\\left(y_{i}\\right)}\\\\\n{\\text{While,}}\\\\\n{KL\\left(p\\left|\\right|y\\right)=\\sum_{i=1}^{K}p_{i}\\log_{}\\frac{p_{i}}{y_{i}}=\\sum_{i=1}^{K}p_{i}\\left(\\log_{}p_{i}-\\log_{}y_{i}\\right)}\\\\\n{=\\sum_{i=1}^{K}p_{i}\\log_{}p_{i}-\\sum_{i=1}^{K}p_{i}\\log_{}y_{i}}\\\\\n{\\text{The}\\;\\text{first}\\;\\text{term}\\;\\text{only}\\;\\text{depends}\\;\\text{on}\\;\\text{groundtruth}\\;\\text{probabilities,}\\;\\text{its}}\\\\\n{\\text{derivative}\\;\\text{wrt}\\;\\text{network}\\;\\text{output}\\;y_{i}\\;\\text{is}\\;\\text{zero..}\\;\\text{So}\\;\\text{it}\\;\\text{can}\\;\\text{be}\\;\\text{ignored}\\;\\text{during}\\;\\text{optimization.}\\;\\;\\text{}}\\\\\n{\\text{Second}\\;\\text{term}\\;\\text{is}\\;\\text{the}\\;\\text{x-entropy}\\;\\text{loss.}}\\\\\n{\\text{This}\\;\\text{is}\\;\\text{why}\\;\\text{x-entropy}\\;\\text{can}\\;\\text{be}\\;\\text{used}\\;\\text{a}\\text{s}\\;\\text{a}\\;\\text{distance}\\;\\text{metric}\\;\\text{between}\\;\\text{two}\\;\\text{probability}\\;\\text{distributions.}\\;}\\\\\n{\\text{The}\\;\\text{gradient}\\;\\text{wrt}\\;\\text{network}\\;\\text{output}\\;\\text{is}\\;\\text{the}\\;\\text{same}\\,\\text{for}\\;\\text{KL}\\;\\text{distance}\\;\\text{and}\\;\\text{x-entropy}\\;\\text{loss}}\\\\\n{}\t\n\\end{gather*}&quot;,&quot;backgroundColor&quot;:&quot;#FFFFFF&quot;,&quot;ts&quot;:1762899843659,&quot;cs&quot;:&quot;JUYiL8wNRJvleHz6jEMuqw==&quot;,&quot;size&quot;:{&quot;width&quot;:695,&quot;height&quot;:319}}" id="356" name="Google Shape;356;p4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20171" y="1276339"/>
            <a:ext cx="6619875" cy="3038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4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Cross Entropy Loss: Derivative</a:t>
            </a:r>
            <a:endParaRPr/>
          </a:p>
        </p:txBody>
      </p:sp>
      <p:sp>
        <p:nvSpPr>
          <p:cNvPr id="362" name="Google Shape;362;p49"/>
          <p:cNvSpPr txBox="1"/>
          <p:nvPr>
            <p:ph idx="1" type="body"/>
          </p:nvPr>
        </p:nvSpPr>
        <p:spPr>
          <a:xfrm>
            <a:off x="478775" y="3127250"/>
            <a:ext cx="8520600" cy="119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600"/>
              <a:t>Let’s now derive the partial of </a:t>
            </a:r>
            <a:r>
              <a:rPr i="1" lang="en" sz="1600"/>
              <a:t>e</a:t>
            </a:r>
            <a:r>
              <a:rPr lang="en" sz="1600"/>
              <a:t> against partial of </a:t>
            </a:r>
            <a:r>
              <a:rPr i="1" lang="en" sz="1600"/>
              <a:t>l </a:t>
            </a:r>
            <a:r>
              <a:rPr lang="en" sz="1600"/>
              <a:t>using basic math  </a:t>
            </a:r>
            <a:endParaRPr sz="1600"/>
          </a:p>
        </p:txBody>
      </p:sp>
      <p:pic>
        <p:nvPicPr>
          <p:cNvPr descr="{&quot;id&quot;:&quot;4&quot;,&quot;backgroundColor&quot;:&quot;#FFFFFF&quot;,&quot;backgroundColorModified&quot;:false,&quot;aid&quot;:null,&quot;code&quot;:&quot;$$y_{i\\,}\\text{=}\\frac{\\exp\\left(l_{i}\\right)}{\\sum_{i=1}^{K}\\exp\\left(l_{i}\\right)}$$&quot;,&quot;font&quot;:{&quot;size&quot;:11,&quot;family&quot;:&quot;Arial&quot;,&quot;color&quot;:&quot;#000000&quot;},&quot;type&quot;:&quot;$$&quot;,&quot;ts&quot;:1755221767658,&quot;cs&quot;:&quot;W2pharTkNijPupzWty204A==&quot;,&quot;size&quot;:{&quot;width&quot;:131,&quot;height&quot;:46}}" id="363" name="Google Shape;363;p4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39249" y="1806750"/>
            <a:ext cx="1503651" cy="52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font&quot;:{&quot;color&quot;:&quot;#000000&quot;,&quot;family&quot;:&quot;Arial&quot;,&quot;size&quot;:11},&quot;type&quot;:&quot;$$&quot;,&quot;id&quot;:&quot;4&quot;,&quot;aid&quot;:null,&quot;code&quot;:&quot;$$e\\,=\\,L\\left(y\\right)\\;\\text{=}-\\sum_{i=1}^{K}p_{i}\\log_{}\\left(y_{i}\\right)$$&quot;,&quot;backgroundColorModified&quot;:false,&quot;backgroundColor&quot;:&quot;#FFFFFF&quot;,&quot;ts&quot;:1755221791143,&quot;cs&quot;:&quot;nJb4xPP3YBfPNyPSX53Khg==&quot;,&quot;size&quot;:{&quot;width&quot;:208.66666666666666,&quot;height&quot;:47}}" id="364" name="Google Shape;364;p4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24526" y="1806749"/>
            <a:ext cx="2278352" cy="5131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aid&quot;:null,&quot;id&quot;:&quot;4&quot;,&quot;code&quot;:&quot;\\begin{lalign*}\n&amp;{\\text{We}\\;\\text{need}\\;\\frac{\\partial e}{\\partial l}}\\\\\n&amp;{\\text{If}\\;l\\,\\text{is}\\;\\text{a}\\;m\\times1\\,\\text{vector,}\\;\\text{then}\\;\\text{above}\\;\\text{is}\\;\\text{also}\\;\\text{a}\\;m\\times1\\;\\text{vector}}\t\n\\end{lalign*}&quot;,&quot;backgroundColorModified&quot;:false,&quot;font&quot;:{&quot;family&quot;:&quot;Arial&quot;,&quot;color&quot;:&quot;#000000&quot;,&quot;size&quot;:11},&quot;backgroundColor&quot;:&quot;#FFFFFF&quot;,&quot;type&quot;:&quot;lalign*&quot;,&quot;ts&quot;:1755221919276,&quot;cs&quot;:&quot;LWRbP96Cq4nx6Y9YxZH5bQ==&quot;,&quot;size&quot;:{&quot;width&quot;:402.6666666666667,&quot;height&quot;:57.666666666666664}}" id="365" name="Google Shape;365;p4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224524" y="2376100"/>
            <a:ext cx="4330299" cy="620150"/>
          </a:xfrm>
          <a:prstGeom prst="rect">
            <a:avLst/>
          </a:prstGeom>
          <a:noFill/>
          <a:ln>
            <a:noFill/>
          </a:ln>
        </p:spPr>
      </p:pic>
      <p:sp>
        <p:nvSpPr>
          <p:cNvPr id="366" name="Google Shape;366;p49"/>
          <p:cNvSpPr txBox="1"/>
          <p:nvPr>
            <p:ph idx="1" type="body"/>
          </p:nvPr>
        </p:nvSpPr>
        <p:spPr>
          <a:xfrm>
            <a:off x="403375" y="1100213"/>
            <a:ext cx="8520600" cy="119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600"/>
              <a:t>To use x-entropy loss in a neural network, we’ll need the derivative of its output against the input. </a:t>
            </a:r>
            <a:endParaRPr sz="160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p5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Cross Entropy Loss: Derivative</a:t>
            </a:r>
            <a:endParaRPr/>
          </a:p>
        </p:txBody>
      </p:sp>
      <p:pic>
        <p:nvPicPr>
          <p:cNvPr descr="{&quot;id&quot;:&quot;14&quot;,&quot;type&quot;:&quot;gather*&quot;,&quot;backgroundColorModified&quot;:false,&quot;code&quot;:&quot;\\begin{gather*}\n{\\text{We}\\;\\text{have:}}\\\\\n{\\vec{l}\\to\\text{Softmax}\\to\\vec{y}\\to \\text{x-entropy}\\to e\\,\\left(\\text{scalar}\\right)}\\\\\n{\\vec{l}\\,\\;\\text{and}\\;\\vec{y}\\,\\;\\text{are}\\,K\\times1\\,\\text{vectors}\\;\\text{}}\\\\\n{\\text{We}\\;\\text{need:}}\\\\\n{\\diff{e}{\\vec{l}}}\\\\\n{\\text{Applyin}\\text{g}\\;\\text{chain}\\;\\text{rule}\\;\\text{(lecture}\\;\\text{1.4),}}\\\\\n{\\diff{e}{\\vec{l}}=\\diff{\\vec{y}}{\\vec{l}}\\diff{e}{\\vec{y}}}\t\n\\end{gather*}&quot;,&quot;backgroundColor&quot;:&quot;#FFFFFF&quot;,&quot;aid&quot;:null,&quot;font&quot;:{&quot;family&quot;:&quot;Arial&quot;,&quot;color&quot;:&quot;#000000&quot;,&quot;size&quot;:12},&quot;ts&quot;:1762900833431,&quot;cs&quot;:&quot;e3mzeYa/INoeSzXkxIAeuA==&quot;,&quot;size&quot;:{&quot;width&quot;:353.6666666666667,&quot;height&quot;:234}}" id="372" name="Google Shape;372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5600" y="1288875"/>
            <a:ext cx="3368675" cy="22288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backgroundColor&quot;:&quot;#FFFFFF&quot;,&quot;aid&quot;:null,&quot;id&quot;:&quot;15&quot;,&quot;type&quot;:&quot;gather*&quot;,&quot;font&quot;:{&quot;size&quot;:12.5,&quot;color&quot;:&quot;#000000&quot;,&quot;family&quot;:&quot;Arial&quot;},&quot;code&quot;:&quot;\\begin{gather*}\n{e\\,=\\,L\\left(y\\right)\\;\\text{=}-\\sum_{i=1}^{K}p_{i}\\log_{}\\left(y_{i}\\right)}\\\\\n{\\diff{e}{y_{i}}=-\\frac{p_{i}}{y_{i}},\\,\\text{so}\\;\\diff{e}{\\vec{y}}=-\\left[\\diff{p_{i}}{y_{i}}\\right]_{K\\times1}\\,}\\\\\n{\\text{Following}\\;\\text{denominator}\\;\\text{notation}}\\\\\n{\\diff{\\vec{y}}{\\vec{l}}_{\\left(K\\times K\\right)}=Diag\\left(\\vec{y}\\right)-\\vec{y}\\vec{y}^{T}\\,\\text{(Note}\\;\\text{this}\\;\\text{is}\\;\\text{an}\\;\\text{outer}\\;\\text{product)}}\\\\\n{\\text{So:}}\\\\\n{\\diff{e}{\\vec{l}}=-\\left(Diag\\left(\\vec{y}\\right)-\\vec{y}\\vec{y}^{T}\\right)\\left(\\frac{\\vec{p}}{\\vec{y}}\\right)=\\vec{y}-\\vec{p}}\t\n\\end{gather*}&quot;,&quot;backgroundColorModified&quot;:false,&quot;ts&quot;:1762901589254,&quot;cs&quot;:&quot;iSQeIAyS84k72tAnjI2NAA==&quot;,&quot;size&quot;:{&quot;width&quot;:489.5,&quot;height&quot;:278.5}}" id="373" name="Google Shape;37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69800" y="1372825"/>
            <a:ext cx="4662488" cy="265271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7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p5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Homework</a:t>
            </a:r>
            <a:endParaRPr/>
          </a:p>
        </p:txBody>
      </p:sp>
      <p:sp>
        <p:nvSpPr>
          <p:cNvPr id="379" name="Google Shape;379;p5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Run dice_roll.py and make sure you follow the logic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Following kl_distance.py, generate two discrete probability distributions A and B, and calculate KL distance KL(A,B) and KL(B,A). Verify they are not equal.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Prove all the math in the derivative of cross-entropy loss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3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5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Appendix</a:t>
            </a:r>
            <a:endParaRPr/>
          </a:p>
        </p:txBody>
      </p:sp>
      <p:sp>
        <p:nvSpPr>
          <p:cNvPr id="385" name="Google Shape;385;p5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53"/>
          <p:cNvSpPr txBox="1"/>
          <p:nvPr>
            <p:ph type="title"/>
          </p:nvPr>
        </p:nvSpPr>
        <p:spPr>
          <a:xfrm>
            <a:off x="311700" y="445025"/>
            <a:ext cx="3303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n"/>
              <a:t>Cross Entropy Loss: Derivative</a:t>
            </a:r>
            <a:endParaRPr/>
          </a:p>
        </p:txBody>
      </p:sp>
      <p:pic>
        <p:nvPicPr>
          <p:cNvPr id="391" name="Google Shape;391;p53"/>
          <p:cNvPicPr preferRelativeResize="0"/>
          <p:nvPr/>
        </p:nvPicPr>
        <p:blipFill rotWithShape="1">
          <a:blip r:embed="rId3">
            <a:alphaModFix/>
          </a:blip>
          <a:srcRect b="11150" l="440" r="3737" t="0"/>
          <a:stretch/>
        </p:blipFill>
        <p:spPr>
          <a:xfrm>
            <a:off x="3615300" y="0"/>
            <a:ext cx="4115689" cy="5089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5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p54"/>
          <p:cNvSpPr txBox="1"/>
          <p:nvPr>
            <p:ph type="title"/>
          </p:nvPr>
        </p:nvSpPr>
        <p:spPr>
          <a:xfrm>
            <a:off x="262700" y="312750"/>
            <a:ext cx="3303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Cross Entropy Loss: Derivative</a:t>
            </a:r>
            <a:endParaRPr/>
          </a:p>
        </p:txBody>
      </p:sp>
      <p:pic>
        <p:nvPicPr>
          <p:cNvPr id="397" name="Google Shape;397;p54"/>
          <p:cNvPicPr preferRelativeResize="0"/>
          <p:nvPr/>
        </p:nvPicPr>
        <p:blipFill rotWithShape="1">
          <a:blip r:embed="rId3">
            <a:alphaModFix/>
          </a:blip>
          <a:srcRect b="23983" l="4028" r="24548" t="0"/>
          <a:stretch/>
        </p:blipFill>
        <p:spPr>
          <a:xfrm>
            <a:off x="3948225" y="76200"/>
            <a:ext cx="3516238" cy="49910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55"/>
          <p:cNvSpPr txBox="1"/>
          <p:nvPr>
            <p:ph type="title"/>
          </p:nvPr>
        </p:nvSpPr>
        <p:spPr>
          <a:xfrm>
            <a:off x="311700" y="445025"/>
            <a:ext cx="3769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n"/>
              <a:t>Derivative of Softmax followed by MSE</a:t>
            </a:r>
            <a:endParaRPr/>
          </a:p>
        </p:txBody>
      </p:sp>
      <p:pic>
        <p:nvPicPr>
          <p:cNvPr id="403" name="Google Shape;403;p55"/>
          <p:cNvPicPr preferRelativeResize="0"/>
          <p:nvPr/>
        </p:nvPicPr>
        <p:blipFill rotWithShape="1">
          <a:blip r:embed="rId3">
            <a:alphaModFix/>
          </a:blip>
          <a:srcRect b="12924" l="6756" r="18749" t="1990"/>
          <a:stretch/>
        </p:blipFill>
        <p:spPr>
          <a:xfrm>
            <a:off x="4934275" y="22250"/>
            <a:ext cx="3347599" cy="5099001"/>
          </a:xfrm>
          <a:prstGeom prst="rect">
            <a:avLst/>
          </a:prstGeom>
          <a:noFill/>
          <a:ln>
            <a:noFill/>
          </a:ln>
        </p:spPr>
      </p:pic>
      <p:sp>
        <p:nvSpPr>
          <p:cNvPr id="404" name="Google Shape;404;p55"/>
          <p:cNvSpPr txBox="1"/>
          <p:nvPr/>
        </p:nvSpPr>
        <p:spPr>
          <a:xfrm>
            <a:off x="348500" y="1498000"/>
            <a:ext cx="38274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</a:rPr>
              <a:t>Notice that multiplicative factor of y.. This results in a small gradient when model assigns a small probability to the correct class, slowing down convergence!</a:t>
            </a:r>
            <a:endParaRPr sz="1500">
              <a:solidFill>
                <a:schemeClr val="dk2"/>
              </a:solidFill>
            </a:endParaRPr>
          </a:p>
        </p:txBody>
      </p:sp>
      <p:cxnSp>
        <p:nvCxnSpPr>
          <p:cNvPr id="405" name="Google Shape;405;p55"/>
          <p:cNvCxnSpPr/>
          <p:nvPr/>
        </p:nvCxnSpPr>
        <p:spPr>
          <a:xfrm>
            <a:off x="3145825" y="2864575"/>
            <a:ext cx="2577300" cy="1476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406" name="Google Shape;406;p55"/>
          <p:cNvSpPr txBox="1"/>
          <p:nvPr/>
        </p:nvSpPr>
        <p:spPr>
          <a:xfrm>
            <a:off x="2774950" y="4599550"/>
            <a:ext cx="22362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</a:rPr>
              <a:t>Ignoring the factor of 2/3</a:t>
            </a:r>
            <a:endParaRPr sz="1300">
              <a:solidFill>
                <a:schemeClr val="dk2"/>
              </a:solidFill>
            </a:endParaRPr>
          </a:p>
        </p:txBody>
      </p:sp>
      <p:pic>
        <p:nvPicPr>
          <p:cNvPr descr="{&quot;aid&quot;:null,&quot;backgroundColor&quot;:&quot;#FFFFFF&quot;,&quot;code&quot;:&quot;\\begin{lalign*}\n&amp;{\\begin{pmatrix}\n{y_{1}-y_{1}^{2}}&amp;{-y_{1}y_{2}}&amp;{-y_{1}y_{3}}\\\\\n{-y_{1}y_{2}}&amp;{y_{2}-y_{2}^{2}}&amp;{-y_{2}y_{3}}\\\\\n{-y_{1}y_{3}}&amp;{-y_{2}y_{3}}&amp;{y_{3}-y_{3}^{2}}\\\\\n\\end{pmatrix}=diag\\left(y\\right)-yy^{T}}\\\\\n&amp;{\\text{where}\\;y=\\begin{pmatrix}\n{y_{1}}\\\\\n{y_{2}}\\\\\n{y_{3}}\\\\\n\\end{pmatrix}.\\,\\text{Denoting}\\;\\begin{pmatrix}\n{y_{1}-p_{1}}\\\\\n{y_{2}-p_{2}}\\\\\n{y_{3}-p_{3}}\\\\\n\\end{pmatrix}\\text{as}\\;g,}\\\\\n&amp;{\\begin{pmatrix}\n{y_{1}-y_{1}^{2}}&amp;{-y_{1}y_{2}}&amp;{-y_{1}y_{3}}\\\\\n{-y_{1}y_{2}}&amp;{y_{2}-y_{2}^{2}}&amp;{-y_{2}y_{3}}\\\\\n{-y_{1}y_{3}}&amp;{-y_{2}y_{3}}&amp;{y_{3}-y_{3}^{2}}\\\\\n\\end{pmatrix}\\begin{pmatrix}\n{y_{1}-p_{1}}\\\\\n{y_{2}-p_{2}}\\\\\n{y_{3}-p_{3}}\\\\\n\\end{pmatrix}=\\left(diag\\left(y\\right)-yy^{T}\\right)g}\\\\\n&amp;{=y\\odot g-yy^{T}g=y\\odot\\left(g-y^{T}g\\right)}\\\\\n&amp;{\\odot:\\,\\text{Hadamard}\\;\\text{(elemeent}\\,\\text{wise}\\text{)}\\;\\text{product}}\t\n\\end{lalign*}&quot;,&quot;type&quot;:&quot;lalign*&quot;,&quot;font&quot;:{&quot;family&quot;:&quot;Arial&quot;,&quot;size&quot;:9,&quot;color&quot;:&quot;#000000&quot;},&quot;id&quot;:&quot;11&quot;,&quot;backgroundColorModified&quot;:false,&quot;ts&quot;:1758855761597,&quot;cs&quot;:&quot;81LtbRUMehaKTpN/9NcvAA==&quot;,&quot;size&quot;:{&quot;width&quot;:377.3333333333333,&quot;height&quot;:219.66666666666666}}" id="407" name="Google Shape;407;p5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89238" y="2864572"/>
            <a:ext cx="3594100" cy="2092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