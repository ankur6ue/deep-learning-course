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af67b1e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af67b1e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12b89a26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12b89a26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4d324047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4d324047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8fb5ce5a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8fb5ce5a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a1723c4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1a1723c4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1a1723c4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1a1723c4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1a1723c46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1a1723c46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a1723c4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1a1723c4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1a1723c46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1a1723c46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1a1723c46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1a1723c46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1a1723c46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1a1723c46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1a1723c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1a1723c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1a1723c4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1a1723c4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1a1723c46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1a1723c46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bdd1193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bdd1193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1a1723c46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1a1723c46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42636540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742636540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1a1723c46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1a1723c46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1a1723c46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1a1723c46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1a1723c46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1a1723c46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1a1723c46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1a1723c46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playlist?list=PLZHQObOWTQDNU6R1_67000Dx_ZCJB-3p" TargetMode="External"/><Relationship Id="rId4" Type="http://schemas.openxmlformats.org/officeDocument/2006/relationships/hyperlink" Target="https://www.youtube.com/playlist?list=PLZHQObOWTQDNU6R1_67000Dx_ZCJB-3p" TargetMode="External"/><Relationship Id="rId5" Type="http://schemas.openxmlformats.org/officeDocument/2006/relationships/hyperlink" Target="https://introtodeeplearning.com/2019/materials/2019_6S191_L1.pdf?utm_source=chatgpt.com" TargetMode="External"/><Relationship Id="rId6" Type="http://schemas.openxmlformats.org/officeDocument/2006/relationships/hyperlink" Target="https://cs231n.github.io/neural-networks-1/" TargetMode="External"/><Relationship Id="rId7" Type="http://schemas.openxmlformats.org/officeDocument/2006/relationships/hyperlink" Target="https://www.khanacademy.org/math/multivariable-calculus/multivariable-derivative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18.png"/><Relationship Id="rId22" Type="http://schemas.openxmlformats.org/officeDocument/2006/relationships/image" Target="../media/image30.png"/><Relationship Id="rId10" Type="http://schemas.openxmlformats.org/officeDocument/2006/relationships/image" Target="../media/image24.png"/><Relationship Id="rId21" Type="http://schemas.openxmlformats.org/officeDocument/2006/relationships/image" Target="../media/image35.png"/><Relationship Id="rId13" Type="http://schemas.openxmlformats.org/officeDocument/2006/relationships/image" Target="../media/image7.png"/><Relationship Id="rId24" Type="http://schemas.openxmlformats.org/officeDocument/2006/relationships/image" Target="../media/image34.png"/><Relationship Id="rId12" Type="http://schemas.openxmlformats.org/officeDocument/2006/relationships/image" Target="../media/image4.png"/><Relationship Id="rId23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3.png"/><Relationship Id="rId15" Type="http://schemas.openxmlformats.org/officeDocument/2006/relationships/image" Target="../media/image10.png"/><Relationship Id="rId14" Type="http://schemas.openxmlformats.org/officeDocument/2006/relationships/image" Target="../media/image5.png"/><Relationship Id="rId17" Type="http://schemas.openxmlformats.org/officeDocument/2006/relationships/image" Target="../media/image25.png"/><Relationship Id="rId16" Type="http://schemas.openxmlformats.org/officeDocument/2006/relationships/image" Target="../media/image32.png"/><Relationship Id="rId5" Type="http://schemas.openxmlformats.org/officeDocument/2006/relationships/image" Target="../media/image2.png"/><Relationship Id="rId19" Type="http://schemas.openxmlformats.org/officeDocument/2006/relationships/image" Target="../media/image29.png"/><Relationship Id="rId6" Type="http://schemas.openxmlformats.org/officeDocument/2006/relationships/image" Target="../media/image14.png"/><Relationship Id="rId18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38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Mathematical </a:t>
            </a:r>
            <a:r>
              <a:rPr lang="en" sz="4700"/>
              <a:t>Preliminaries</a:t>
            </a:r>
            <a:endParaRPr sz="47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7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1, Class 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381"/>
              <a:buFont typeface="Arial"/>
              <a:buNone/>
            </a:pPr>
            <a:r>
              <a:rPr b="1" lang="en" sz="1562">
                <a:solidFill>
                  <a:schemeClr val="dk1"/>
                </a:solidFill>
              </a:rPr>
              <a:t>Topic:</a:t>
            </a:r>
            <a:r>
              <a:rPr lang="en" sz="1562">
                <a:solidFill>
                  <a:schemeClr val="dk1"/>
                </a:solidFill>
              </a:rPr>
              <a:t> </a:t>
            </a:r>
            <a:r>
              <a:rPr i="1" lang="en" sz="1562">
                <a:solidFill>
                  <a:schemeClr val="dk1"/>
                </a:solidFill>
              </a:rPr>
              <a:t>Adding Non-Linearities and Constructing a Simple Neural Network</a:t>
            </a:r>
            <a:endParaRPr i="1" sz="156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381"/>
              <a:buFont typeface="Arial"/>
              <a:buNone/>
            </a:pPr>
            <a:r>
              <a:rPr b="1" lang="en" sz="1562">
                <a:solidFill>
                  <a:schemeClr val="dk1"/>
                </a:solidFill>
              </a:rPr>
              <a:t>Objective:</a:t>
            </a:r>
            <a:endParaRPr b="1" sz="156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2">
                <a:solidFill>
                  <a:schemeClr val="dk1"/>
                </a:solidFill>
              </a:rPr>
              <a:t>Students learn why linear models cannot represent nonlinear relationships, how element-wise nonlinearities (ReLU, tanh, GELU, etc.) overcome this limitation, and how forward / backward passes handle such activations within the backpropagation framework.</a:t>
            </a:r>
            <a:endParaRPr sz="326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Pre-read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72250" y="1064400"/>
            <a:ext cx="7841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lang="en" sz="1600" u="sng">
                <a:solidFill>
                  <a:schemeClr val="hlink"/>
                </a:solidFill>
                <a:hlinkClick r:id="rId3"/>
              </a:rPr>
              <a:t>3Blue1Brown — “But what is a neural network?</a:t>
            </a:r>
            <a:r>
              <a:rPr lang="en" sz="1600" u="sng">
                <a:solidFill>
                  <a:schemeClr val="hlink"/>
                </a:solidFill>
                <a:hlinkClick r:id="rId4"/>
              </a:rPr>
              <a:t>”</a:t>
            </a:r>
            <a:r>
              <a:rPr lang="en" sz="1600">
                <a:solidFill>
                  <a:schemeClr val="dk2"/>
                </a:solidFill>
              </a:rPr>
              <a:t> (Deep Learning, Ch. 1). Short, visual intro to why you need nonlinear activations. Episode 1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Intro to Deep Learning:</a:t>
            </a:r>
            <a:r>
              <a:rPr lang="en" sz="1600">
                <a:solidFill>
                  <a:schemeClr val="dk2"/>
                </a:solidFill>
              </a:rPr>
              <a:t> MIT: Good intro to gradient descent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Deep Learning for Computer Vision:</a:t>
            </a:r>
            <a:r>
              <a:rPr lang="en" sz="1600">
                <a:solidFill>
                  <a:schemeClr val="dk2"/>
                </a:solidFill>
              </a:rPr>
              <a:t> Good intro to common activation functions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 u="sng">
                <a:solidFill>
                  <a:schemeClr val="hlink"/>
                </a:solidFill>
                <a:hlinkClick r:id="rId7"/>
              </a:rPr>
              <a:t>Khan Academy — Multivariable derivatives (unit) + chain rule</a:t>
            </a:r>
            <a:r>
              <a:rPr lang="en" sz="1600">
                <a:solidFill>
                  <a:schemeClr val="dk2"/>
                </a:solidFill>
              </a:rPr>
              <a:t>. Handy refresher for backprop math.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80050" y="1195250"/>
            <a:ext cx="6747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Recap: Two Linear Layers Collapse to One (Affine Equivalence)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Motivation for Non-Linearities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Adding a Non-Linearity: ReLU, tanh, etc.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Constructing a Two-Layer Network to Fit sin(x)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Stochastic Mini-Batch Gradient Descent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Backpropagation with Non-Linear Activations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Other Common Non-Linearities: Leaky ReLU, GELU, Swish, SwiGLU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Discussion + Homework</a:t>
            </a:r>
            <a:endParaRPr sz="1100">
              <a:solidFill>
                <a:schemeClr val="dk2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"/>
              <a:buChar char="-"/>
            </a:pPr>
            <a:r>
              <a:t/>
            </a:r>
            <a:endParaRPr sz="3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Constructing a Simple Neural Network..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1072200" y="1102300"/>
            <a:ext cx="7752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356525" y="1259050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5" name="Google Shape;75;p16"/>
          <p:cNvCxnSpPr>
            <a:endCxn id="73" idx="1"/>
          </p:cNvCxnSpPr>
          <p:nvPr/>
        </p:nvCxnSpPr>
        <p:spPr>
          <a:xfrm>
            <a:off x="720600" y="1489900"/>
            <a:ext cx="3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6"/>
          <p:cNvCxnSpPr>
            <a:stCxn id="73" idx="3"/>
          </p:cNvCxnSpPr>
          <p:nvPr/>
        </p:nvCxnSpPr>
        <p:spPr>
          <a:xfrm>
            <a:off x="1847400" y="1489900"/>
            <a:ext cx="4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6"/>
          <p:cNvSpPr/>
          <p:nvPr/>
        </p:nvSpPr>
        <p:spPr>
          <a:xfrm>
            <a:off x="3559200" y="1102300"/>
            <a:ext cx="4683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78" name="Google Shape;78;p16"/>
          <p:cNvCxnSpPr>
            <a:stCxn id="77" idx="3"/>
          </p:cNvCxnSpPr>
          <p:nvPr/>
        </p:nvCxnSpPr>
        <p:spPr>
          <a:xfrm>
            <a:off x="4027500" y="1489900"/>
            <a:ext cx="3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6"/>
          <p:cNvSpPr txBox="1"/>
          <p:nvPr/>
        </p:nvSpPr>
        <p:spPr>
          <a:xfrm>
            <a:off x="4334400" y="1259050"/>
            <a:ext cx="38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920000" y="989693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315700" y="1102300"/>
            <a:ext cx="7752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3163500" y="989700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3" name="Google Shape;83;p16"/>
          <p:cNvCxnSpPr/>
          <p:nvPr/>
        </p:nvCxnSpPr>
        <p:spPr>
          <a:xfrm>
            <a:off x="3090900" y="1489900"/>
            <a:ext cx="4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6"/>
          <p:cNvSpPr txBox="1"/>
          <p:nvPr/>
        </p:nvSpPr>
        <p:spPr>
          <a:xfrm>
            <a:off x="484150" y="2294550"/>
            <a:ext cx="7365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 the previous lecture, we created a 2 layered network consisting of matrices A and B and a function f that maps the output of the second layer to a scalar L. We </a:t>
            </a:r>
            <a:r>
              <a:rPr lang="en">
                <a:solidFill>
                  <a:schemeClr val="dk2"/>
                </a:solidFill>
              </a:rPr>
              <a:t>derived</a:t>
            </a:r>
            <a:r>
              <a:rPr lang="en">
                <a:solidFill>
                  <a:schemeClr val="dk2"/>
                </a:solidFill>
              </a:rPr>
              <a:t> equations for derivatives of L against elements of matrices A and B. The matrix elements are also called </a:t>
            </a:r>
            <a:r>
              <a:rPr i="1" lang="en">
                <a:solidFill>
                  <a:schemeClr val="dk2"/>
                </a:solidFill>
              </a:rPr>
              <a:t>weights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 then used these derivatives in a gradient descent loop to solve for the weights that drive the norm of u to zero..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Constructing a Simple Neural Network..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1072200" y="1102300"/>
            <a:ext cx="7752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W1</a:t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356525" y="1259050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2" name="Google Shape;92;p17"/>
          <p:cNvCxnSpPr>
            <a:endCxn id="90" idx="1"/>
          </p:cNvCxnSpPr>
          <p:nvPr/>
        </p:nvCxnSpPr>
        <p:spPr>
          <a:xfrm>
            <a:off x="720600" y="1489900"/>
            <a:ext cx="3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7"/>
          <p:cNvCxnSpPr>
            <a:stCxn id="90" idx="3"/>
          </p:cNvCxnSpPr>
          <p:nvPr/>
        </p:nvCxnSpPr>
        <p:spPr>
          <a:xfrm>
            <a:off x="1847400" y="1489900"/>
            <a:ext cx="4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7"/>
          <p:cNvSpPr/>
          <p:nvPr/>
        </p:nvSpPr>
        <p:spPr>
          <a:xfrm>
            <a:off x="3792350" y="1102300"/>
            <a:ext cx="4683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95" name="Google Shape;95;p17"/>
          <p:cNvCxnSpPr>
            <a:stCxn id="94" idx="3"/>
          </p:cNvCxnSpPr>
          <p:nvPr/>
        </p:nvCxnSpPr>
        <p:spPr>
          <a:xfrm>
            <a:off x="4260650" y="1489900"/>
            <a:ext cx="3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7"/>
          <p:cNvSpPr txBox="1"/>
          <p:nvPr/>
        </p:nvSpPr>
        <p:spPr>
          <a:xfrm>
            <a:off x="4567550" y="1259050"/>
            <a:ext cx="38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920000" y="989693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2315700" y="1102300"/>
            <a:ext cx="7752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W2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3163500" y="1028100"/>
            <a:ext cx="864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y_hat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00" name="Google Shape;100;p17"/>
          <p:cNvCxnSpPr>
            <a:stCxn id="98" idx="3"/>
          </p:cNvCxnSpPr>
          <p:nvPr/>
        </p:nvCxnSpPr>
        <p:spPr>
          <a:xfrm>
            <a:off x="3090900" y="1489900"/>
            <a:ext cx="70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7"/>
          <p:cNvSpPr txBox="1"/>
          <p:nvPr/>
        </p:nvSpPr>
        <p:spPr>
          <a:xfrm>
            <a:off x="423650" y="3471775"/>
            <a:ext cx="7365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Have we constructed a neural network? Recall that a neural network should be able to non-linear problems. Let’s see if this network can learn to predict the value of a sin(x) for a given value of x. We’ll train the network on several [x, sin(x)] points, and use euclidean distance between network output and ground </a:t>
            </a:r>
            <a:r>
              <a:rPr lang="en" sz="1500">
                <a:solidFill>
                  <a:schemeClr val="dk2"/>
                </a:solidFill>
              </a:rPr>
              <a:t>truth</a:t>
            </a:r>
            <a:r>
              <a:rPr lang="en" sz="1500">
                <a:solidFill>
                  <a:schemeClr val="dk2"/>
                </a:solidFill>
              </a:rPr>
              <a:t> (sin(x)) as the loss..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1205700" y="2137100"/>
            <a:ext cx="508200" cy="4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b1</a:t>
            </a:r>
            <a:endParaRPr/>
          </a:p>
        </p:txBody>
      </p:sp>
      <p:cxnSp>
        <p:nvCxnSpPr>
          <p:cNvPr id="103" name="Google Shape;103;p17"/>
          <p:cNvCxnSpPr>
            <a:stCxn id="102" idx="0"/>
            <a:endCxn id="90" idx="2"/>
          </p:cNvCxnSpPr>
          <p:nvPr/>
        </p:nvCxnSpPr>
        <p:spPr>
          <a:xfrm rot="10800000">
            <a:off x="1459800" y="1877600"/>
            <a:ext cx="0" cy="2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7"/>
          <p:cNvSpPr/>
          <p:nvPr/>
        </p:nvSpPr>
        <p:spPr>
          <a:xfrm>
            <a:off x="2449200" y="2137100"/>
            <a:ext cx="508200" cy="4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b2</a:t>
            </a:r>
            <a:endParaRPr/>
          </a:p>
        </p:txBody>
      </p:sp>
      <p:cxnSp>
        <p:nvCxnSpPr>
          <p:cNvPr id="105" name="Google Shape;105;p17"/>
          <p:cNvCxnSpPr>
            <a:stCxn id="104" idx="0"/>
            <a:endCxn id="98" idx="2"/>
          </p:cNvCxnSpPr>
          <p:nvPr/>
        </p:nvCxnSpPr>
        <p:spPr>
          <a:xfrm rot="10800000">
            <a:off x="2703300" y="1877600"/>
            <a:ext cx="0" cy="2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" name="Google Shape;106;p17"/>
          <p:cNvSpPr/>
          <p:nvPr/>
        </p:nvSpPr>
        <p:spPr>
          <a:xfrm>
            <a:off x="3772400" y="2137100"/>
            <a:ext cx="508200" cy="4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cxnSp>
        <p:nvCxnSpPr>
          <p:cNvPr id="107" name="Google Shape;107;p17"/>
          <p:cNvCxnSpPr/>
          <p:nvPr/>
        </p:nvCxnSpPr>
        <p:spPr>
          <a:xfrm rot="10800000">
            <a:off x="4026500" y="1877600"/>
            <a:ext cx="0" cy="2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7"/>
          <p:cNvSpPr txBox="1"/>
          <p:nvPr/>
        </p:nvSpPr>
        <p:spPr>
          <a:xfrm>
            <a:off x="3490100" y="2630100"/>
            <a:ext cx="107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Groundtruth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2189500" y="803750"/>
            <a:ext cx="1032300" cy="193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757225" y="3015000"/>
            <a:ext cx="378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Hidden </a:t>
            </a:r>
            <a:r>
              <a:rPr lang="en" sz="1000">
                <a:solidFill>
                  <a:schemeClr val="dk2"/>
                </a:solidFill>
              </a:rPr>
              <a:t>layer (because it sits between input and output, and hidden from view) 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11" name="Google Shape;111;p17"/>
          <p:cNvCxnSpPr>
            <a:stCxn id="110" idx="0"/>
            <a:endCxn id="109" idx="2"/>
          </p:cNvCxnSpPr>
          <p:nvPr/>
        </p:nvCxnSpPr>
        <p:spPr>
          <a:xfrm flipH="1" rot="10800000">
            <a:off x="2647825" y="2734500"/>
            <a:ext cx="5790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45025"/>
            <a:ext cx="471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Stochastic Minibatch Gradient Descent</a:t>
            </a:r>
            <a:endParaRPr sz="2020"/>
          </a:p>
        </p:txBody>
      </p:sp>
      <p:sp>
        <p:nvSpPr>
          <p:cNvPr id="117" name="Google Shape;117;p18"/>
          <p:cNvSpPr txBox="1"/>
          <p:nvPr/>
        </p:nvSpPr>
        <p:spPr>
          <a:xfrm>
            <a:off x="362025" y="973425"/>
            <a:ext cx="82674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In the gradient descent loop, it is common to consider a </a:t>
            </a:r>
            <a:r>
              <a:rPr i="1" lang="en" sz="1300">
                <a:solidFill>
                  <a:schemeClr val="dk2"/>
                </a:solidFill>
              </a:rPr>
              <a:t>batch</a:t>
            </a:r>
            <a:r>
              <a:rPr lang="en" sz="1300"/>
              <a:t> </a:t>
            </a:r>
            <a:r>
              <a:rPr lang="en" sz="1300">
                <a:solidFill>
                  <a:schemeClr val="dk2"/>
                </a:solidFill>
              </a:rPr>
              <a:t>of points in practice, as the gradients for a </a:t>
            </a:r>
            <a:r>
              <a:rPr lang="en" sz="1300">
                <a:solidFill>
                  <a:schemeClr val="dk2"/>
                </a:solidFill>
              </a:rPr>
              <a:t>single</a:t>
            </a:r>
            <a:r>
              <a:rPr lang="en" sz="1300">
                <a:solidFill>
                  <a:schemeClr val="dk2"/>
                </a:solidFill>
              </a:rPr>
              <a:t> point can be quite noisy, resulting in optimization instability. Let’s denote the batch size by B. How do we pick B?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Say we have </a:t>
            </a:r>
            <a:r>
              <a:rPr i="1" lang="en" sz="1300">
                <a:solidFill>
                  <a:schemeClr val="dk2"/>
                </a:solidFill>
              </a:rPr>
              <a:t>n </a:t>
            </a:r>
            <a:r>
              <a:rPr lang="en" sz="1300">
                <a:solidFill>
                  <a:schemeClr val="dk2"/>
                </a:solidFill>
              </a:rPr>
              <a:t>data points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18" name="Google Shape;118;p18"/>
          <p:cNvCxnSpPr/>
          <p:nvPr/>
        </p:nvCxnSpPr>
        <p:spPr>
          <a:xfrm>
            <a:off x="1750450" y="3064925"/>
            <a:ext cx="425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8"/>
          <p:cNvSpPr txBox="1"/>
          <p:nvPr/>
        </p:nvSpPr>
        <p:spPr>
          <a:xfrm>
            <a:off x="514425" y="3143550"/>
            <a:ext cx="2740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B=1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a random point from the dataset (without replacement)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Calculate gradient and update weights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Problem:</a:t>
            </a:r>
            <a:r>
              <a:rPr lang="en" sz="1100">
                <a:solidFill>
                  <a:schemeClr val="dk2"/>
                </a:solidFill>
              </a:rPr>
              <a:t> Gradient is very noisy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4572000" y="3112750"/>
            <a:ext cx="30189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B=n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the entire dataset at every iteration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Calculate gradient and update weights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Problem:</a:t>
            </a:r>
            <a:r>
              <a:rPr lang="en" sz="1100">
                <a:solidFill>
                  <a:schemeClr val="dk2"/>
                </a:solidFill>
              </a:rPr>
              <a:t> Large matrices, compute heavy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1882325" y="1878200"/>
            <a:ext cx="3927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1&lt;B&lt;n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a subset of the dataset at every iteration (without replacement). Calculate gradient and update weights. Do until we sweep through the entire dataset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Best of both worlds. Stable gradients, lower compute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22" name="Google Shape;122;p18"/>
          <p:cNvCxnSpPr/>
          <p:nvPr/>
        </p:nvCxnSpPr>
        <p:spPr>
          <a:xfrm>
            <a:off x="1928525" y="4499575"/>
            <a:ext cx="440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8"/>
          <p:cNvSpPr/>
          <p:nvPr/>
        </p:nvSpPr>
        <p:spPr>
          <a:xfrm rot="-5400000">
            <a:off x="2196275" y="4268950"/>
            <a:ext cx="92400" cy="627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 rot="-5400000">
            <a:off x="2824175" y="4268950"/>
            <a:ext cx="92400" cy="627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 rot="-5400000">
            <a:off x="3452075" y="4268950"/>
            <a:ext cx="92400" cy="627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 rot="-5400000">
            <a:off x="4079975" y="4268950"/>
            <a:ext cx="92400" cy="627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 rot="-5400000">
            <a:off x="4707875" y="4268950"/>
            <a:ext cx="92400" cy="627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 rot="-5400000">
            <a:off x="5335775" y="4268950"/>
            <a:ext cx="92400" cy="627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 rot="-5400000">
            <a:off x="5963675" y="4268950"/>
            <a:ext cx="92400" cy="627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893075" y="4536700"/>
            <a:ext cx="639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Sample 1&lt;B&lt;n at each iteration. A sweep through the entire training dataset is called an </a:t>
            </a:r>
            <a:r>
              <a:rPr b="1" lang="en">
                <a:solidFill>
                  <a:schemeClr val="dk2"/>
                </a:solidFill>
              </a:rPr>
              <a:t>epoch</a:t>
            </a:r>
            <a:r>
              <a:rPr lang="en">
                <a:solidFill>
                  <a:schemeClr val="dk2"/>
                </a:solidFill>
              </a:rPr>
              <a:t>. Number of iterations in an epoch: </a:t>
            </a:r>
            <a:r>
              <a:rPr b="1" lang="en">
                <a:solidFill>
                  <a:schemeClr val="dk2"/>
                </a:solidFill>
              </a:rPr>
              <a:t>n/B</a:t>
            </a:r>
            <a:r>
              <a:rPr lang="en">
                <a:solidFill>
                  <a:schemeClr val="dk2"/>
                </a:solidFill>
              </a:rPr>
              <a:t>, assuming B divides n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31" name="Google Shape;131;p18"/>
          <p:cNvCxnSpPr/>
          <p:nvPr/>
        </p:nvCxnSpPr>
        <p:spPr>
          <a:xfrm flipH="1">
            <a:off x="1750450" y="2977625"/>
            <a:ext cx="5100" cy="17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8"/>
          <p:cNvCxnSpPr/>
          <p:nvPr/>
        </p:nvCxnSpPr>
        <p:spPr>
          <a:xfrm flipH="1">
            <a:off x="6000850" y="2977625"/>
            <a:ext cx="5100" cy="17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8"/>
          <p:cNvCxnSpPr/>
          <p:nvPr/>
        </p:nvCxnSpPr>
        <p:spPr>
          <a:xfrm flipH="1">
            <a:off x="3704700" y="2977625"/>
            <a:ext cx="5100" cy="17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8"/>
          <p:cNvSpPr txBox="1"/>
          <p:nvPr/>
        </p:nvSpPr>
        <p:spPr>
          <a:xfrm>
            <a:off x="6356050" y="4299475"/>
            <a:ext cx="33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Constructing a Simple Neural Network..</a:t>
            </a:r>
            <a:endParaRPr/>
          </a:p>
        </p:txBody>
      </p:sp>
      <p:pic>
        <p:nvPicPr>
          <p:cNvPr descr="{&quot;backgroundColor&quot;:&quot;#FFFFFF&quot;,&quot;type&quot;:&quot;gather*&quot;,&quot;code&quot;:&quot;\\begin{gather*}\n{\\boldsymbol{x}\\to W_{1},\\mathbf{b_{1}}\\to \\boldsymbol{h}\\to W_{2},\\,\\mathbf{b_{2}}\\to \\boldsymbol{\\hat{y}}\\to f\\left(\\boldsymbol{\\hat{y},y}\\right)\\to L}\\\\\n{\\text{We'll}\\;\\text{consider}\\;\\text{a}\\;\\text{batch}\\;\\text{of}\\;\\text{input}\\;\\text{data}\\;\\text{points,}\\;\\text{rather}\\;\\text{than}\\;\\text{a}\\;\\text{single}\\;\\text{data}\\,\\text{point}}\\\\\n{\\text{Let}\\;\\text{batch}\\;\\text{size}\\;\\text{be}\\;\\text{B}}\\\\\n{\\;\\boldsymbol{x}:\\,1\\times B,\\,W_{1}:\\,h\\times 1,\\,\\boldsymbol{b_{1}}:\\,1\\times1,\\,W_{2}:\\,1\\times h,\\,\\boldsymbol{b_{2}}:\\,1\\times1}\\\\\n{\\boldsymbol{h}=W_{1}\\boldsymbol{x}+\\boldsymbol{b_{1}}\\,\\left[h\\times B\\right]}\\\\\n{\\boldsymbol{\\hat{y}}=W_{2}\\boldsymbol{h}+\\boldsymbol{b_{2}}\\,\\left[1\\times B\\right]}\\\\\n{L=\\left(\\boldsymbol{y}-\\hat{\\boldsymbol{y}}\\right)^{2}/B\\,\\left[1\\times1\\right]}\\\\\n{\\text{The}\\;\\text{derivatives}\\;\\text{don't}\\;\\text{change..}\\;\\text{except}\\;\\diff{L}{b_{1}}\\text{and}\\diff{L}{b_{2}}}\\\\\n{\\diff{L}{W_{2}}=\\diff{L}{\\boldsymbol{\\hat{y}}}\\boldsymbol{h^{T}},\\diff{L}{\\boldsymbol{h}}=W_{1}^{T}\\diff{L}{\\boldsymbol{\\hat{y}}}}\\\\\n{\\diff{L}{b_{2}}=\\sum_{i=1}^{B}\\diff{L}{\\boldsymbol{\\hat{y}}}\\,\\text{(try}\\;\\text{t}\\text{o}\\;\\text{prove}\\;\\text{it!}\\text{)}}\\\\\n{\\text{Note}\\;\\text{the}\\;\\text{dimensions}\\;\\text{work}\\;\\text{out..}}\\\\\n{\\diff{L}{\\boldsymbol{\\hat{y}}}:\\,1\\times B,\\,\\boldsymbol{h:}\\,h\\times B}\\\\\n{\\text{Similarl}\\text{y}\\;\\text{for}\\;\\text{the}\\;\\text{first}\\;\\text{layer..}}\t\n\\end{gather*}&quot;,&quot;aid&quot;:null,&quot;font&quot;:{&quot;family&quot;:&quot;Arial&quot;,&quot;color&quot;:&quot;#000000&quot;,&quot;size&quot;:9},&quot;backgroundColorModified&quot;:false,&quot;id&quot;:&quot;13&quot;,&quot;ts&quot;:1762745017485,&quot;cs&quot;:&quot;oRAPNqjKc0j3kEfrql/NKQ==&quot;,&quot;size&quot;:{&quot;width&quot;:452.6666666666667,&quot;height&quot;:326}}"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541" y="1210125"/>
            <a:ext cx="4311650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Constructing a Simple Neural Network..</a:t>
            </a:r>
            <a:endParaRPr/>
          </a:p>
        </p:txBody>
      </p:sp>
      <p:pic>
        <p:nvPicPr>
          <p:cNvPr descr="{&quot;backgroundColorModified&quot;:false,&quot;code&quot;:&quot;\\begin{gather*}\n{\\boldsymbol{x}\\to W_{1},b_{1}\\to \\boldsymbol{h}\\to W_{2},\\,b_{2}\\to \\boldsymbol{\\hat{y}}\\to f\\left(\\boldsymbol{\\hat{y},y}\\right)\\to L}\\\\\n{\\hat{y}=W_{2}h+b_{2}=W_{2}\\left(W_{1}x+b_{1}\\right)+b_{2}}\\\\\n{=W_{2}W_{1}x+W_{2}b_{1}+b_{2}}\\\\\n{W_{2}W_{1}:\\,1\\times1,\\,W_{2}b_{1}+b_{2}:\\,1\\times1}\\\\\n{\\text{So}\\;\\text{this}\\;\\text{two}\\;\\text{layered}\\;\\text{network}\\;\\text{collapses}\\;\\text{into}\\;\\text{an}\\;\\text{affine}\\;\\text{transformation}\\;\\text{of}\\;x.}\\\\\n{\\text{}}\\\\\n{\\text{An}\\;\\boldsymbol{\\text{affine}}\\;\\text{transformation}\\;\\text{is}\\;\\text{any}\\;\\text{transformation}\\;\\text{t}\\text{hat}\\;\\text{preserves}\\;\\text{collinearity}\\;}\\\\\n{\\text{}\\text{ie,}\\;\\text{all}\\;\\text{points}\\;\\text{lying}\\;\\text{on}\\;\\text{a}\\;\\text{line}\\,\\text{initially}\\,\\text{still}\\,\\text{lie}\\,\\text{on}\\,\\text{a}\\,\\text{line}\\,\\text{after}\\,\\text{transformation}}\\\\\n{\\text{So,}\\;\\text{the}\\;\\text{best}\\;\\text{this}\\;\\text{network}\\;\\text{can}\\;\\text{do}\\;\\text{is}\\;\\text{to}\\;\\text{map}\\;\\text{points}\\;\\text{along}\\;\\text{the}\\;\\text{x}\\;\\text{axis,}\\;\\text{to}\\;\\text{another}\\;\\text{2D}\\;\\text{line}}\\\\\n{\\text{That's}\\;\\text{what}\\;\\text{we}\\;\\text{observe!}}\\\\\n{}\\\\\n{}\\\\\n{}\t\n\\end{gather*}&quot;,&quot;id&quot;:&quot;13&quot;,&quot;type&quot;:&quot;gather*&quot;,&quot;aid&quot;:null,&quot;backgroundColor&quot;:&quot;#FFFFFF&quot;,&quot;font&quot;:{&quot;family&quot;:&quot;Arial&quot;,&quot;size&quot;:10,&quot;color&quot;:&quot;#000000&quot;},&quot;ts&quot;:1762648021580,&quot;cs&quot;:&quot;JM99CENxkeAncm9V1bdPLA==&quot;,&quot;size&quot;:{&quot;width&quot;:572,&quot;height&quot;:199}}"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328" y="859120"/>
            <a:ext cx="544830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300" y="2906995"/>
            <a:ext cx="3695814" cy="2084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4643100" y="4580700"/>
            <a:ext cx="3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Code: two_linear_no_nonlinearity.py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384825" y="3388200"/>
            <a:ext cx="3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Final value of Loss: 0.41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add a non-linearity: ReLu (Rectified Non-Linear Unit)</a:t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1072200" y="1102300"/>
            <a:ext cx="7752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W1</a:t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356525" y="1259050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7" name="Google Shape;157;p21"/>
          <p:cNvCxnSpPr>
            <a:endCxn id="155" idx="1"/>
          </p:cNvCxnSpPr>
          <p:nvPr/>
        </p:nvCxnSpPr>
        <p:spPr>
          <a:xfrm>
            <a:off x="720600" y="1489900"/>
            <a:ext cx="3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1"/>
          <p:cNvCxnSpPr>
            <a:stCxn id="155" idx="3"/>
          </p:cNvCxnSpPr>
          <p:nvPr/>
        </p:nvCxnSpPr>
        <p:spPr>
          <a:xfrm>
            <a:off x="1847400" y="1489900"/>
            <a:ext cx="47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1"/>
          <p:cNvSpPr/>
          <p:nvPr/>
        </p:nvSpPr>
        <p:spPr>
          <a:xfrm>
            <a:off x="5114650" y="1092807"/>
            <a:ext cx="4683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160" name="Google Shape;160;p21"/>
          <p:cNvCxnSpPr>
            <a:stCxn id="159" idx="3"/>
          </p:cNvCxnSpPr>
          <p:nvPr/>
        </p:nvCxnSpPr>
        <p:spPr>
          <a:xfrm>
            <a:off x="5582950" y="1480407"/>
            <a:ext cx="3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1"/>
          <p:cNvSpPr txBox="1"/>
          <p:nvPr/>
        </p:nvSpPr>
        <p:spPr>
          <a:xfrm>
            <a:off x="5889850" y="1249557"/>
            <a:ext cx="38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1920000" y="989093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3638000" y="1102307"/>
            <a:ext cx="7752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W2</a:t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4485800" y="1018607"/>
            <a:ext cx="864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y_hat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65" name="Google Shape;165;p21"/>
          <p:cNvCxnSpPr>
            <a:stCxn id="163" idx="3"/>
          </p:cNvCxnSpPr>
          <p:nvPr/>
        </p:nvCxnSpPr>
        <p:spPr>
          <a:xfrm>
            <a:off x="4413200" y="1489907"/>
            <a:ext cx="70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1"/>
          <p:cNvSpPr/>
          <p:nvPr/>
        </p:nvSpPr>
        <p:spPr>
          <a:xfrm>
            <a:off x="1205700" y="2137100"/>
            <a:ext cx="508200" cy="4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b1</a:t>
            </a:r>
            <a:endParaRPr/>
          </a:p>
        </p:txBody>
      </p:sp>
      <p:cxnSp>
        <p:nvCxnSpPr>
          <p:cNvPr id="167" name="Google Shape;167;p21"/>
          <p:cNvCxnSpPr>
            <a:stCxn id="166" idx="0"/>
            <a:endCxn id="155" idx="2"/>
          </p:cNvCxnSpPr>
          <p:nvPr/>
        </p:nvCxnSpPr>
        <p:spPr>
          <a:xfrm rot="10800000">
            <a:off x="1459800" y="1877600"/>
            <a:ext cx="0" cy="2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21"/>
          <p:cNvSpPr/>
          <p:nvPr/>
        </p:nvSpPr>
        <p:spPr>
          <a:xfrm>
            <a:off x="3771500" y="2127607"/>
            <a:ext cx="508200" cy="4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b2</a:t>
            </a:r>
            <a:endParaRPr/>
          </a:p>
        </p:txBody>
      </p:sp>
      <p:cxnSp>
        <p:nvCxnSpPr>
          <p:cNvPr id="169" name="Google Shape;169;p21"/>
          <p:cNvCxnSpPr>
            <a:stCxn id="168" idx="0"/>
            <a:endCxn id="163" idx="2"/>
          </p:cNvCxnSpPr>
          <p:nvPr/>
        </p:nvCxnSpPr>
        <p:spPr>
          <a:xfrm rot="10800000">
            <a:off x="4025600" y="1877407"/>
            <a:ext cx="0" cy="25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1"/>
          <p:cNvSpPr/>
          <p:nvPr/>
        </p:nvSpPr>
        <p:spPr>
          <a:xfrm>
            <a:off x="5094700" y="2127607"/>
            <a:ext cx="508200" cy="4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cxnSp>
        <p:nvCxnSpPr>
          <p:cNvPr id="171" name="Google Shape;171;p21"/>
          <p:cNvCxnSpPr/>
          <p:nvPr/>
        </p:nvCxnSpPr>
        <p:spPr>
          <a:xfrm rot="10800000">
            <a:off x="5348800" y="1868107"/>
            <a:ext cx="0" cy="2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21"/>
          <p:cNvSpPr txBox="1"/>
          <p:nvPr/>
        </p:nvSpPr>
        <p:spPr>
          <a:xfrm>
            <a:off x="4602175" y="2562307"/>
            <a:ext cx="182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Groundtruth [Sin(x)]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2295750" y="1102300"/>
            <a:ext cx="7752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ReLU</a:t>
            </a:r>
            <a:endParaRPr/>
          </a:p>
        </p:txBody>
      </p:sp>
      <p:cxnSp>
        <p:nvCxnSpPr>
          <p:cNvPr id="174" name="Google Shape;174;p21"/>
          <p:cNvCxnSpPr>
            <a:stCxn id="173" idx="3"/>
            <a:endCxn id="163" idx="1"/>
          </p:cNvCxnSpPr>
          <p:nvPr/>
        </p:nvCxnSpPr>
        <p:spPr>
          <a:xfrm>
            <a:off x="3070950" y="1489900"/>
            <a:ext cx="56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type&quot;:&quot;$$&quot;,&quot;code&quot;:&quot;$$\\boldsymbol{a}=ReLU\\left(\\boldsymbol{h}\\right)=\\begin{cases}\n{h_{i}}&amp;{h_{i}\\geq0}\\\\\n{0}&amp;{h_{i}&lt;0}\\\\\n\\end{cases}$$&quot;,&quot;font&quot;:{&quot;color&quot;:&quot;#000000&quot;,&quot;size&quot;:12,&quot;family&quot;:&quot;Arial&quot;},&quot;backgroundColorModified&quot;:false,&quot;backgroundColor&quot;:&quot;#FFFFFF&quot;,&quot;id&quot;:&quot;1&quot;,&quot;aid&quot;:null,&quot;ts&quot;:1762659147902,&quot;cs&quot;:&quot;q/OqWbDaZPN5h+enfviSoQ==&quot;,&quot;size&quot;:{&quot;width&quot;:242.4,&quot;height&quot;:45.19999999999999}}" id="175" name="Google Shape;17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150" y="3050734"/>
            <a:ext cx="2308860" cy="43053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3156975" y="989093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301025" y="3642800"/>
            <a:ext cx="4462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Now I can no longer collapse the network into a single layer. The non-linearity also allows us to learn non-linear relationships.. As we’ll soon see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Note that ReLU (and non-linearities in </a:t>
            </a:r>
            <a:r>
              <a:rPr lang="en" sz="1100">
                <a:solidFill>
                  <a:schemeClr val="dk2"/>
                </a:solidFill>
              </a:rPr>
              <a:t>general</a:t>
            </a:r>
            <a:r>
              <a:rPr lang="en" sz="1100">
                <a:solidFill>
                  <a:schemeClr val="dk2"/>
                </a:solidFill>
              </a:rPr>
              <a:t>) are element-wise operators. They don’t have any parameters. All we need is the derivative of </a:t>
            </a:r>
            <a:r>
              <a:rPr b="1" lang="en" sz="1100">
                <a:solidFill>
                  <a:schemeClr val="dk2"/>
                </a:solidFill>
              </a:rPr>
              <a:t>a </a:t>
            </a:r>
            <a:r>
              <a:rPr lang="en" sz="1100">
                <a:solidFill>
                  <a:schemeClr val="dk2"/>
                </a:solidFill>
              </a:rPr>
              <a:t>against </a:t>
            </a:r>
            <a:r>
              <a:rPr b="1" lang="en" sz="1100">
                <a:solidFill>
                  <a:schemeClr val="dk2"/>
                </a:solidFill>
              </a:rPr>
              <a:t>h. </a:t>
            </a:r>
            <a:r>
              <a:rPr lang="en" sz="1100">
                <a:solidFill>
                  <a:schemeClr val="dk2"/>
                </a:solidFill>
              </a:rPr>
              <a:t>The rest of backpropagation remains unchanged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descr="{&quot;font&quot;:{&quot;size&quot;:9,&quot;color&quot;:&quot;#000000&quot;,&quot;family&quot;:&quot;Arial&quot;},&quot;backgroundColorModified&quot;:false,&quot;aid&quot;:null,&quot;type&quot;:&quot;gather*&quot;,&quot;code&quot;:&quot;\\begin{gather*}\n{\\text{Let}\\;\\mathbf{\\text{a}}\\;\\text{and}\\;\\mathbf{\\text{h}}\\;\\text{by}\\;\\text{n}\\times1\\,\\text{vectors.}}\\\\\n{\\diff{\\mathbf{a}}{\\mathbf{h}}_{n\\times n}=\\begin{bmatrix}\n{\\pdf{a_{1}}{h_{1}}}&amp;{\\pdf{a_{2}}{h_{1}}}&amp;{\\dots}&amp;{\\pdf{a_{n}}{h_{1}}}\\\\\n{\\pdf{a_{1}}{h_{2}}}&amp;{\\ddots}&amp;{}&amp;{}\\\\\n{\\vdots}&amp;{}&amp;{}&amp;{}\\\\\n{\\pdf{a_{1}}{h_{n}}}&amp;{}&amp;{}&amp;{\\pdf{a_{n}}{h_{n}}}\\\\\n\\end{bmatrix}=Diag\\left(\\pdf{a_{1}}{h_{1}},\\pdf{a_{2}}{h_{2}}\\dots\\pdf{a_{n}}{h_{n}}\\right)}\\\\\n{\\because\\pdf{a_{i}}{h_{j}}=0\\,\\text{when}\\;i\\neq j\\,\\text{as}\\;\\text{ReLU}\\;\\text{is}\\;\\text{an}\\;\\text{element-wise}\\;\\text{operator}}\t\n\\end{gather*}&quot;,&quot;id&quot;:&quot;2&quot;,&quot;backgroundColor&quot;:&quot;#FFFFFF&quot;,&quot;ts&quot;:1762659936465,&quot;cs&quot;:&quot;SB2n2SIT3R6D/BghAXaI4g==&quot;,&quot;size&quot;:{&quot;width&quot;:389.3333333333333,&quot;height&quot;:161.6666666666667}}" id="178" name="Google Shape;17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375" y="3381912"/>
            <a:ext cx="3708400" cy="15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add a non-linearity: ReLu (Rectified Non-Linear Unit)</a:t>
            </a:r>
            <a:endParaRPr/>
          </a:p>
        </p:txBody>
      </p:sp>
      <p:pic>
        <p:nvPicPr>
          <p:cNvPr descr="{&quot;id&quot;:&quot;1&quot;,&quot;aid&quot;:null,&quot;backgroundColorModified&quot;:false,&quot;backgroundColor&quot;:&quot;#FFFFFF&quot;,&quot;code&quot;:&quot;\\begin{gather*}\n{\\boldsymbol{a}=ReLU\\left(\\boldsymbol{h}\\right)=\\begin{cases}\n{h_{i}}&amp;{h_{i}\\geq0}\\\\\n{0}&amp;{h_{i}&lt;0}\\\\\n\\end{cases}}\\\\\n{\\pdf{a_{i}}{h_{i}}=\\begin{cases}\n{1}&amp;{h_{i}\\geq0}\\\\\n{0}&amp;{h_{i}&lt;0}\\\\\n\\end{cases}}\\\\\n{\\text{And}}\\\\\n{\\pdf{a_{i}}{h_{j}}=0\\,\\text{when}\\;i\\neq j}\t\n\\end{gather*}&quot;,&quot;type&quot;:&quot;gather*&quot;,&quot;font&quot;:{&quot;size&quot;:12,&quot;color&quot;:&quot;#000000&quot;,&quot;family&quot;:&quot;Arial&quot;},&quot;ts&quot;:1762660157575,&quot;cs&quot;:&quot;ax03wScgX8cW0Bzbx/AiYQ==&quot;,&quot;size&quot;:{&quot;width&quot;:242.4,&quot;height&quot;:170.4}}"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03" y="1038509"/>
            <a:ext cx="2308860" cy="1623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9400" y="820725"/>
            <a:ext cx="6024601" cy="339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259350" y="4662850"/>
            <a:ext cx="3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Code: two_linear_with_ReLU.py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4703150" y="4308825"/>
            <a:ext cx="3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Final value of loss: 0.13.. Much better fit!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/>
        </p:nvSpPr>
        <p:spPr>
          <a:xfrm>
            <a:off x="7525" y="1242363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486298" y="1492050"/>
            <a:ext cx="6186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213" y="1921519"/>
            <a:ext cx="328613" cy="235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/>
          <p:nvPr/>
        </p:nvSpPr>
        <p:spPr>
          <a:xfrm>
            <a:off x="1567925" y="1489800"/>
            <a:ext cx="6495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300"/>
              <a:t>ReLU</a:t>
            </a:r>
            <a:endParaRPr b="1" i="0" sz="13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196" name="Google Shape;196;p23"/>
          <p:cNvCxnSpPr>
            <a:stCxn id="193" idx="3"/>
            <a:endCxn id="195" idx="1"/>
          </p:cNvCxnSpPr>
          <p:nvPr/>
        </p:nvCxnSpPr>
        <p:spPr>
          <a:xfrm flipH="1" rot="10800000">
            <a:off x="1104898" y="2040000"/>
            <a:ext cx="462900" cy="2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425" y="1951892"/>
            <a:ext cx="207827" cy="1750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23"/>
          <p:cNvCxnSpPr>
            <a:stCxn id="197" idx="3"/>
            <a:endCxn id="193" idx="1"/>
          </p:cNvCxnSpPr>
          <p:nvPr/>
        </p:nvCxnSpPr>
        <p:spPr>
          <a:xfrm>
            <a:off x="305252" y="2039398"/>
            <a:ext cx="180900" cy="2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" name="Google Shape;199;p23"/>
          <p:cNvCxnSpPr>
            <a:stCxn id="195" idx="3"/>
            <a:endCxn id="200" idx="1"/>
          </p:cNvCxnSpPr>
          <p:nvPr/>
        </p:nvCxnSpPr>
        <p:spPr>
          <a:xfrm>
            <a:off x="2217425" y="2039850"/>
            <a:ext cx="295500" cy="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01" name="Google Shape;20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6962" y="1858600"/>
            <a:ext cx="175500" cy="14040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/>
          <p:nvPr/>
        </p:nvSpPr>
        <p:spPr>
          <a:xfrm>
            <a:off x="5753700" y="1491450"/>
            <a:ext cx="6495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pic>
        <p:nvPicPr>
          <p:cNvPr id="203" name="Google Shape;203;p23" title="[0,0,0,&quot;https://www.codecogs.com/eqnedit.php?latex=W_n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4388" y="1905101"/>
            <a:ext cx="328625" cy="2139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23"/>
          <p:cNvCxnSpPr>
            <a:stCxn id="202" idx="3"/>
            <a:endCxn id="205" idx="1"/>
          </p:cNvCxnSpPr>
          <p:nvPr/>
        </p:nvCxnSpPr>
        <p:spPr>
          <a:xfrm flipH="1" rot="10800000">
            <a:off x="6403200" y="2040000"/>
            <a:ext cx="554400" cy="1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06" name="Google Shape;206;p23" title="[0,0,0,&quot;https://www.codecogs.com/eqnedit.php?latex=y_n#0&quot;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36543" y="1803084"/>
            <a:ext cx="207825" cy="15589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/>
          <p:nvPr/>
        </p:nvSpPr>
        <p:spPr>
          <a:xfrm>
            <a:off x="6957724" y="1489800"/>
            <a:ext cx="7173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Loss function (</a:t>
            </a:r>
            <a:r>
              <a:rPr i="1" lang="en" sz="1100"/>
              <a:t>L</a:t>
            </a:r>
            <a:r>
              <a:rPr lang="en" sz="1100"/>
              <a:t>)</a:t>
            </a:r>
            <a:endParaRPr sz="1100"/>
          </a:p>
        </p:txBody>
      </p:sp>
      <p:cxnSp>
        <p:nvCxnSpPr>
          <p:cNvPr id="207" name="Google Shape;207;p23"/>
          <p:cNvCxnSpPr>
            <a:endCxn id="205" idx="0"/>
          </p:cNvCxnSpPr>
          <p:nvPr/>
        </p:nvCxnSpPr>
        <p:spPr>
          <a:xfrm>
            <a:off x="7316374" y="1174800"/>
            <a:ext cx="0" cy="315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23"/>
          <p:cNvSpPr txBox="1"/>
          <p:nvPr/>
        </p:nvSpPr>
        <p:spPr>
          <a:xfrm>
            <a:off x="7019825" y="866975"/>
            <a:ext cx="59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/>
              <a:t>labels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23"/>
          <p:cNvCxnSpPr/>
          <p:nvPr/>
        </p:nvCxnSpPr>
        <p:spPr>
          <a:xfrm flipH="1" rot="10800000">
            <a:off x="7675031" y="2007988"/>
            <a:ext cx="309300" cy="9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p23"/>
          <p:cNvSpPr txBox="1"/>
          <p:nvPr/>
        </p:nvSpPr>
        <p:spPr>
          <a:xfrm>
            <a:off x="7984325" y="1858600"/>
            <a:ext cx="9513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/>
              <a:t>Error </a:t>
            </a:r>
            <a:endParaRPr b="1"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" sz="1100"/>
              <a:t>e = L(y)</a:t>
            </a:r>
            <a:endParaRPr b="1" i="1" sz="1100"/>
          </a:p>
        </p:txBody>
      </p:sp>
      <p:sp>
        <p:nvSpPr>
          <p:cNvPr id="211" name="Google Shape;211;p23"/>
          <p:cNvSpPr/>
          <p:nvPr/>
        </p:nvSpPr>
        <p:spPr>
          <a:xfrm>
            <a:off x="3830450" y="557450"/>
            <a:ext cx="1244400" cy="23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3346496" y="157250"/>
            <a:ext cx="234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Forward Pass or Inference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213" name="Google Shape;213;p23"/>
          <p:cNvCxnSpPr>
            <a:stCxn id="210" idx="2"/>
            <a:endCxn id="202" idx="2"/>
          </p:cNvCxnSpPr>
          <p:nvPr/>
        </p:nvCxnSpPr>
        <p:spPr>
          <a:xfrm rot="5400000">
            <a:off x="7141475" y="1273000"/>
            <a:ext cx="255600" cy="2381400"/>
          </a:xfrm>
          <a:prstGeom prst="bentConnector3">
            <a:avLst>
              <a:gd fmla="val 2483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23"/>
          <p:cNvCxnSpPr>
            <a:stCxn id="210" idx="2"/>
            <a:endCxn id="193" idx="2"/>
          </p:cNvCxnSpPr>
          <p:nvPr/>
        </p:nvCxnSpPr>
        <p:spPr>
          <a:xfrm rot="5400000">
            <a:off x="4499675" y="-1368200"/>
            <a:ext cx="256200" cy="7664400"/>
          </a:xfrm>
          <a:prstGeom prst="bentConnector3">
            <a:avLst>
              <a:gd fmla="val 2477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23"/>
          <p:cNvSpPr txBox="1"/>
          <p:nvPr/>
        </p:nvSpPr>
        <p:spPr>
          <a:xfrm>
            <a:off x="7267349" y="3079125"/>
            <a:ext cx="151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Backward pass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(Training)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216" name="Google Shape;216;p23"/>
          <p:cNvCxnSpPr/>
          <p:nvPr/>
        </p:nvCxnSpPr>
        <p:spPr>
          <a:xfrm>
            <a:off x="1355538" y="1278175"/>
            <a:ext cx="0" cy="17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3"/>
          <p:cNvCxnSpPr/>
          <p:nvPr/>
        </p:nvCxnSpPr>
        <p:spPr>
          <a:xfrm>
            <a:off x="2564688" y="1278175"/>
            <a:ext cx="0" cy="17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3"/>
          <p:cNvCxnSpPr/>
          <p:nvPr/>
        </p:nvCxnSpPr>
        <p:spPr>
          <a:xfrm>
            <a:off x="6785750" y="1126675"/>
            <a:ext cx="0" cy="19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descr="{&quot;code&quot;:&quot;$$\\frac{\\partial e}{\\partial y_{n}}$$&quot;,&quot;backgroundColor&quot;:&quot;#FFFFFF&quot;,&quot;font&quot;:{&quot;color&quot;:&quot;#595959&quot;,&quot;family&quot;:&quot;Arial&quot;,&quot;size&quot;:11},&quot;type&quot;:&quot;$$&quot;,&quot;id&quot;:&quot;25&quot;,&quot;backgroundColorModified&quot;:false,&quot;aid&quot;:null,&quot;ts&quot;:1755260874233,&quot;cs&quot;:&quot;mM/gRArJMHO2CaKHNxQiPw==&quot;,&quot;size&quot;:{&quot;width&quot;:31.000010498687704,&quot;height&quot;:40.086220472440964}}" id="219" name="Google Shape;219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02213" y="3077913"/>
            <a:ext cx="295275" cy="381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a_{n-1}$$&quot;,&quot;font&quot;:{&quot;color&quot;:&quot;#000000&quot;,&quot;size&quot;:11,&quot;family&quot;:&quot;Arial&quot;},&quot;type&quot;:&quot;$$&quot;,&quot;backgroundColorModified&quot;:false,&quot;backgroundColor&quot;:&quot;#FFFFFF&quot;,&quot;aid&quot;:null,&quot;id&quot;:&quot;26&quot;,&quot;ts&quot;:1755261393563,&quot;cs&quot;:&quot;HzJsxHpH17AsiCzjvpJ2KQ==&quot;,&quot;size&quot;:{&quot;width&quot;:31.166666666666668,&quot;height&quot;:10.333333333333334}}" id="220" name="Google Shape;220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48076" y="1879591"/>
            <a:ext cx="296863" cy="9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size&quot;:7.5,&quot;family&quot;:&quot;Arial&quot;,&quot;color&quot;:&quot;#000000&quot;},&quot;code&quot;:&quot;\\begin{lalign*}\n&amp;{\\frac{\\partial e}{\\partial W_{n}}=\\frac{\\partial e}{\\partial y_{n}}a_{n-1}^{T}}\\\\\n&amp;{\\frac{\\partial e}{\\partial a_{n-1}}=W_{n}^{T}\\frac{\\partial e}{\\partial y_{n}}}\t\n\\end{lalign*}&quot;,&quot;backgroundColorModified&quot;:false,&quot;id&quot;:&quot;27&quot;,&quot;backgroundColor&quot;:&quot;#FFFFFF&quot;,&quot;type&quot;:&quot;lalign*&quot;,&quot;ts&quot;:1755261644737,&quot;cs&quot;:&quot;qq7O0He5JfU+NBxOmCTDaA==&quot;,&quot;size&quot;:{&quot;width&quot;:90.66666666666667,&quot;height&quot;:57.166666666666664}}" id="221" name="Google Shape;221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87740" y="3062952"/>
            <a:ext cx="863600" cy="54451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5692800" y="4363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Used to update the weights of this layer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5381975" y="3769138"/>
            <a:ext cx="104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</a:rPr>
              <a:t>Sent back to previous layers</a:t>
            </a:r>
            <a:endParaRPr b="1" sz="900">
              <a:solidFill>
                <a:schemeClr val="dk2"/>
              </a:solidFill>
            </a:endParaRPr>
          </a:p>
        </p:txBody>
      </p:sp>
      <p:cxnSp>
        <p:nvCxnSpPr>
          <p:cNvPr id="224" name="Google Shape;224;p23"/>
          <p:cNvCxnSpPr/>
          <p:nvPr/>
        </p:nvCxnSpPr>
        <p:spPr>
          <a:xfrm rot="10800000">
            <a:off x="5990915" y="3287833"/>
            <a:ext cx="636600" cy="11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23"/>
          <p:cNvSpPr txBox="1"/>
          <p:nvPr/>
        </p:nvSpPr>
        <p:spPr>
          <a:xfrm>
            <a:off x="4154388" y="3620050"/>
            <a:ext cx="135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No parameters!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descr="{&quot;backgroundColor&quot;:&quot;#FFFFFF&quot;,&quot;type&quot;:&quot;lalign*&quot;,&quot;code&quot;:&quot;\\begin{lalign*}\n&amp;{\\frac{\\partial e}{\\partial W_{1}}=\\frac{\\partial e}{\\partial y_{1}}x^{T}}\\\\\n&amp;{\\frac{\\partial e}{\\partial x}=W_{1}^{T}\\frac{\\partial e}{\\partial y_{1}}}\t\n\\end{lalign*}&quot;,&quot;id&quot;:&quot;27&quot;,&quot;backgroundColorModified&quot;:false,&quot;font&quot;:{&quot;color&quot;:&quot;#000000&quot;,&quot;size&quot;:8.5,&quot;family&quot;:&quot;Arial&quot;},&quot;aid&quot;:null,&quot;ts&quot;:1755261167087,&quot;cs&quot;:&quot;bqoQxo8+zRvFCfNJ8IIztQ==&quot;,&quot;size&quot;:{&quot;width&quot;:89.26368923884513,&quot;height&quot;:65.39639265091861}}" id="226" name="Google Shape;226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0726" y="3075477"/>
            <a:ext cx="850237" cy="622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5&quot;,&quot;backgroundColorModified&quot;:false,&quot;aid&quot;:null,&quot;font&quot;:{&quot;family&quot;:&quot;Arial&quot;,&quot;size&quot;:11.5,&quot;color&quot;:&quot;#595959&quot;},&quot;type&quot;:&quot;$&quot;,&quot;backgroundColor&quot;:&quot;#FFFFFF&quot;,&quot;code&quot;:&quot;$y_{1\\,}=W_{1\\,}x$&quot;,&quot;ts&quot;:1755262444592,&quot;cs&quot;:&quot;uaPKqCdFjiyWhM02w0onvA==&quot;,&quot;size&quot;:{&quot;width&quot;:82.25147716535433,&quot;height&quot;:16.36744015748032}}" id="227" name="Google Shape;227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5023" y="1078176"/>
            <a:ext cx="783445" cy="15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&quot;,&quot;backgroundColorModified&quot;:false,&quot;code&quot;:&quot;$y_{n}=W_{n\\,}a_{n-1}$&quot;,&quot;aid&quot;:null,&quot;id&quot;:&quot;25&quot;,&quot;font&quot;:{&quot;family&quot;:&quot;Arial&quot;,&quot;size&quot;:11,&quot;color&quot;:&quot;#595959&quot;},&quot;ts&quot;:1755261556225,&quot;cs&quot;:&quot;aGfG0ftQtgykb5fhRi5Gvg==&quot;,&quot;size&quot;:{&quot;width&quot;:100.25196587926513,&quot;height&quot;:15.472927559055123}}" id="228" name="Google Shape;228;p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606415" y="1067603"/>
            <a:ext cx="954900" cy="147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6636950" y="3707975"/>
            <a:ext cx="21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Notice we need the output of the previous layer in the backward pass!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230" name="Google Shape;230;p23"/>
          <p:cNvCxnSpPr>
            <a:endCxn id="221" idx="3"/>
          </p:cNvCxnSpPr>
          <p:nvPr/>
        </p:nvCxnSpPr>
        <p:spPr>
          <a:xfrm rot="10800000">
            <a:off x="6551340" y="3335208"/>
            <a:ext cx="286200" cy="4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3"/>
          <p:cNvSpPr txBox="1"/>
          <p:nvPr>
            <p:ph type="ctrTitle"/>
          </p:nvPr>
        </p:nvSpPr>
        <p:spPr>
          <a:xfrm>
            <a:off x="-41050" y="234250"/>
            <a:ext cx="3187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80"/>
              <a:t>Backpropagation</a:t>
            </a:r>
            <a:endParaRPr sz="2480"/>
          </a:p>
        </p:txBody>
      </p:sp>
      <p:sp>
        <p:nvSpPr>
          <p:cNvPr id="232" name="Google Shape;232;p23"/>
          <p:cNvSpPr/>
          <p:nvPr/>
        </p:nvSpPr>
        <p:spPr>
          <a:xfrm rot="10800000">
            <a:off x="7441250" y="2992600"/>
            <a:ext cx="954900" cy="17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id&quot;:&quot;26&quot;,&quot;code&quot;:&quot;$$a_{n-2}$$&quot;,&quot;type&quot;:&quot;$$&quot;,&quot;backgroundColor&quot;:&quot;#FFFFFF&quot;,&quot;aid&quot;:null,&quot;font&quot;:{&quot;color&quot;:&quot;#000000&quot;,&quot;family&quot;:&quot;Arial&quot;,&quot;size&quot;:11},&quot;ts&quot;:1755261284641,&quot;cs&quot;:&quot;NNWgOZ3nzgXb/13j0nQWPQ==&quot;,&quot;size&quot;:{&quot;width&quot;:31.5,&quot;height&quot;:10.333333333333334}}" id="233" name="Google Shape;233;p2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824145" y="1858584"/>
            <a:ext cx="300038" cy="98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23"/>
          <p:cNvGrpSpPr/>
          <p:nvPr/>
        </p:nvGrpSpPr>
        <p:grpSpPr>
          <a:xfrm>
            <a:off x="2969050" y="1489350"/>
            <a:ext cx="1471800" cy="1100100"/>
            <a:chOff x="3578650" y="1489350"/>
            <a:chExt cx="1471800" cy="1100100"/>
          </a:xfrm>
        </p:grpSpPr>
        <p:sp>
          <p:nvSpPr>
            <p:cNvPr id="235" name="Google Shape;235;p23"/>
            <p:cNvSpPr txBox="1"/>
            <p:nvPr/>
          </p:nvSpPr>
          <p:spPr>
            <a:xfrm>
              <a:off x="3941100" y="1808550"/>
              <a:ext cx="342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…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236" name="Google Shape;236;p23"/>
            <p:cNvCxnSpPr>
              <a:stCxn id="237" idx="3"/>
              <a:endCxn id="238" idx="1"/>
            </p:cNvCxnSpPr>
            <p:nvPr/>
          </p:nvCxnSpPr>
          <p:spPr>
            <a:xfrm>
              <a:off x="4372450" y="2039400"/>
              <a:ext cx="6780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7" name="Google Shape;237;p23"/>
            <p:cNvSpPr/>
            <p:nvPr/>
          </p:nvSpPr>
          <p:spPr>
            <a:xfrm>
              <a:off x="3779350" y="1489350"/>
              <a:ext cx="593100" cy="1100100"/>
            </a:xfrm>
            <a:prstGeom prst="roundRect">
              <a:avLst>
                <a:gd fmla="val 9734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100"/>
            </a:p>
          </p:txBody>
        </p:sp>
        <p:pic>
          <p:nvPicPr>
            <p:cNvPr descr="{&quot;code&quot;:&quot;$$W_{n-1}$$&quot;,&quot;aid&quot;:null,&quot;id&quot;:&quot;3&quot;,&quot;backgroundColorModified&quot;:false,&quot;type&quot;:&quot;$$&quot;,&quot;backgroundColor&quot;:&quot;#FFFFFF&quot;,&quot;font&quot;:{&quot;color&quot;:&quot;#000000&quot;,&quot;family&quot;:&quot;Arial&quot;,&quot;size&quot;:12},&quot;ts&quot;:1755260290480,&quot;cs&quot;:&quot;Ed+JPRiox70jOjZAtPdSEw==&quot;,&quot;size&quot;:{&quot;width&quot;:41.5,&quot;height&quot;:15.833333333333334}}" id="239" name="Google Shape;239;p23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3885575" y="1963988"/>
              <a:ext cx="395288" cy="15081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0" name="Google Shape;240;p23"/>
            <p:cNvCxnSpPr/>
            <p:nvPr/>
          </p:nvCxnSpPr>
          <p:spPr>
            <a:xfrm>
              <a:off x="3578650" y="2039400"/>
              <a:ext cx="1755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41" name="Google Shape;241;p23"/>
          <p:cNvGrpSpPr/>
          <p:nvPr/>
        </p:nvGrpSpPr>
        <p:grpSpPr>
          <a:xfrm>
            <a:off x="2513049" y="1840327"/>
            <a:ext cx="395001" cy="400202"/>
            <a:chOff x="4034225" y="3362525"/>
            <a:chExt cx="455700" cy="461700"/>
          </a:xfrm>
        </p:grpSpPr>
        <p:pic>
          <p:nvPicPr>
            <p:cNvPr descr="{&quot;aid&quot;:null,&quot;code&quot;:&quot;$$...$$&quot;,&quot;font&quot;:{&quot;family&quot;:&quot;Arial&quot;,&quot;size&quot;:10.5,&quot;color&quot;:&quot;#000000&quot;},&quot;backgroundColor&quot;:&quot;#FFFFFF&quot;,&quot;backgroundColorModified&quot;:false,&quot;type&quot;:&quot;$$&quot;,&quot;id&quot;:&quot;4&quot;,&quot;ts&quot;:1755260511281,&quot;cs&quot;:&quot;ytP0/aVkpBm2pk2P7+sS6g==&quot;,&quot;size&quot;:{&quot;width&quot;:17.5,&quot;height&quot;:2.1666666666666665}}" id="242" name="Google Shape;242;p23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4207300" y="3583063"/>
              <a:ext cx="166688" cy="20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3"/>
            <p:cNvSpPr txBox="1"/>
            <p:nvPr/>
          </p:nvSpPr>
          <p:spPr>
            <a:xfrm>
              <a:off x="4034225" y="3362525"/>
              <a:ext cx="45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250" lIns="79250" spcFirstLastPara="1" rIns="79250" wrap="square" tIns="792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60">
                <a:solidFill>
                  <a:schemeClr val="dk2"/>
                </a:solidFill>
              </a:endParaRPr>
            </a:p>
          </p:txBody>
        </p:sp>
      </p:grpSp>
      <p:sp>
        <p:nvSpPr>
          <p:cNvPr id="238" name="Google Shape;238;p23"/>
          <p:cNvSpPr/>
          <p:nvPr/>
        </p:nvSpPr>
        <p:spPr>
          <a:xfrm>
            <a:off x="4440762" y="1489350"/>
            <a:ext cx="6495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300"/>
              <a:t>ReLU</a:t>
            </a:r>
            <a:endParaRPr b="1" i="0" sz="13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243" name="Google Shape;243;p23"/>
          <p:cNvCxnSpPr>
            <a:stCxn id="238" idx="3"/>
            <a:endCxn id="202" idx="1"/>
          </p:cNvCxnSpPr>
          <p:nvPr/>
        </p:nvCxnSpPr>
        <p:spPr>
          <a:xfrm>
            <a:off x="5090262" y="2039400"/>
            <a:ext cx="663300" cy="2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" name="Google Shape;244;p23"/>
          <p:cNvCxnSpPr/>
          <p:nvPr/>
        </p:nvCxnSpPr>
        <p:spPr>
          <a:xfrm>
            <a:off x="4170075" y="1308600"/>
            <a:ext cx="0" cy="17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3"/>
          <p:cNvCxnSpPr/>
          <p:nvPr/>
        </p:nvCxnSpPr>
        <p:spPr>
          <a:xfrm>
            <a:off x="5500450" y="1141375"/>
            <a:ext cx="0" cy="193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descr="{&quot;font&quot;:{&quot;size&quot;:12,&quot;color&quot;:&quot;#000000&quot;,&quot;family&quot;:&quot;Arial&quot;},&quot;aid&quot;:null,&quot;type&quot;:&quot;$$&quot;,&quot;id&quot;:&quot;5&quot;,&quot;backgroundColor&quot;:&quot;#FFFFFF&quot;,&quot;backgroundColorModified&quot;:false,&quot;code&quot;:&quot;$$a_{1}$$&quot;,&quot;ts&quot;:1755261078204,&quot;cs&quot;:&quot;zld6unW/0mNjLy8FO/JllA==&quot;,&quot;size&quot;:{&quot;width&quot;:15.666666666666666,&quot;height&quot;:11.166666666666666}}" id="246" name="Google Shape;246;p2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382135" y="1854600"/>
            <a:ext cx="149225" cy="106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id&quot;:&quot;26&quot;,&quot;aid&quot;:null,&quot;code&quot;:&quot;$$y_{n-1}$$&quot;,&quot;font&quot;:{&quot;family&quot;:&quot;Arial&quot;,&quot;size&quot;:11,&quot;color&quot;:&quot;#000000&quot;},&quot;backgroundColor&quot;:&quot;#FFFFFF&quot;,&quot;ts&quot;:1755261311908,&quot;cs&quot;:&quot;7mU12nk2z+5i/2Zztp0Ypw==&quot;,&quot;size&quot;:{&quot;width&quot;:30.666666666666668,&quot;height&quot;:11.166666666666666}}" id="247" name="Google Shape;247;p2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852456" y="1875616"/>
            <a:ext cx="292100" cy="106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5&quot;,&quot;backgroundColor&quot;:&quot;#FFFFFF&quot;,&quot;backgroundColorModified&quot;:false,&quot;font&quot;:{&quot;size&quot;:9,&quot;color&quot;:&quot;#595959&quot;,&quot;family&quot;:&quot;Arial&quot;},&quot;aid&quot;:null,&quot;type&quot;:&quot;$&quot;,&quot;code&quot;:&quot;$a_{n-1}=ReLU\\left(y_{n-1}\\right)$&quot;,&quot;ts&quot;:1755261538532,&quot;cs&quot;:&quot;xLiRZLUgTLIjIoEztzYX+Q==&quot;,&quot;size&quot;:{&quot;width&quot;:127.45593254593177,&quot;height&quot;:14.740153018372702}}" id="248" name="Google Shape;248;p2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167952" y="1071103"/>
            <a:ext cx="1214018" cy="14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7&quot;,&quot;aid&quot;:null,&quot;font&quot;:{&quot;family&quot;:&quot;Arial&quot;,&quot;size&quot;:10,&quot;color&quot;:&quot;#000000&quot;},&quot;type&quot;:&quot;lalign*&quot;,&quot;backgroundColorModified&quot;:false,&quot;code&quot;:&quot;\\begin{lalign*}\n&amp;{\\frac{\\partial e}{\\partial y_{n-1,i}}=\\frac{\\partial e}{\\partial a_{n-1,i\\,}}\\text{if}\\;a_{n-1,i}&gt;0}\\\\\n&amp;{\\,\\,\\,\\,\\,\\,\\,\\,\\,\\,\\,\\,\\,\\,\\,\\,\\,\\,\\,\\,\\,\\,=0\\,\\;\\;\\;\\;\\;\\text{otherwise}}\\\\\n&amp;{}\t\n\\end{lalign*}&quot;,&quot;backgroundColor&quot;:&quot;#FFFFFF&quot;,&quot;ts&quot;:1757162153896,&quot;cs&quot;:&quot;B2WGJR0LD4adlzPpgXo8Fg==&quot;,&quot;size&quot;:{&quot;width&quot;:205.83333333333334,&quot;height&quot;:53.833333333333336}}" id="249" name="Google Shape;249;p2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098976" y="3124672"/>
            <a:ext cx="1512600" cy="395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7.5,&quot;family&quot;:&quot;Arial&quot;},&quot;type&quot;:&quot;lalign*&quot;,&quot;backgroundColor&quot;:&quot;#FFFFFF&quot;,&quot;backgroundColorModified&quot;:false,&quot;aid&quot;:null,&quot;id&quot;:&quot;27&quot;,&quot;code&quot;:&quot;\\begin{lalign*}\n&amp;{\\frac{\\partial e}{\\partial y_{i,1}}=\\frac{\\partial e}{\\partial a_{i,1\\,}}\\text{if}\\;a_{i,1}&gt;0}\\\\\n&amp;{\\,\\,\\,\\,\\,\\,\\,\\,\\,\\,\\,\\,\\,=0\\,\\;\\;\\;\\;\\;\\text{otherwise}}\\\\\n&amp;{}\t\n\\end{lalign*}&quot;,&quot;ts&quot;:1755262173707,&quot;cs&quot;:&quot;QhY5sxkQgr+XM7MhjN084g==&quot;,&quot;size&quot;:{&quot;width&quot;:120.16666666666667,&quot;height&quot;:40.333333333333336}}" id="250" name="Google Shape;250;p2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372456" y="3124063"/>
            <a:ext cx="1144588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000000&quot;,&quot;size&quot;:7.5},&quot;aid&quot;:null,&quot;code&quot;:&quot;\\begin{lalign*}\n&amp;{\\frac{\\partial e}{\\partial W_{n-1}}=\\frac{\\partial e}{\\partial y_{n-1}}a_{n-2}^{T}}\\\\\n&amp;{\\frac{\\partial e}{\\partial a_{n-2}}=W_{n-1}^{T}\\frac{\\partial e}{\\partial y_{n-1}}}\t\n\\end{lalign*}&quot;,&quot;backgroundColor&quot;:&quot;#FFFFFF&quot;,&quot;type&quot;:&quot;lalign*&quot;,&quot;backgroundColorModified&quot;:false,&quot;id&quot;:&quot;27&quot;,&quot;ts&quot;:1755262366864,&quot;cs&quot;:&quot;EeCKrESTvLyaj759KxpxSA==&quot;,&quot;size&quot;:{&quot;width&quot;:109.66666666666667,&quot;height&quot;:57.16666666666663}}" id="251" name="Google Shape;251;p2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2809277" y="3043908"/>
            <a:ext cx="1044575" cy="544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5&quot;,&quot;font&quot;:{&quot;size&quot;:11,&quot;family&quot;:&quot;Arial&quot;,&quot;color&quot;:&quot;#595959&quot;},&quot;backgroundColor&quot;:&quot;#FFFFFF&quot;,&quot;code&quot;:&quot;$y_{n-1}=W_{n-1\\,}a_{n-2}$&quot;,&quot;aid&quot;:null,&quot;backgroundColorModified&quot;:false,&quot;type&quot;:&quot;$&quot;,&quot;ts&quot;:1755262414493,&quot;cs&quot;:&quot;oY8K8eAd4uw0hiF9TwkzWA==&quot;,&quot;size&quot;:{&quot;width&quot;:130.66666666666666,&quot;height&quot;:15.333333333333334}}" id="252" name="Google Shape;252;p2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687155" y="1075116"/>
            <a:ext cx="1244600" cy="14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5&quot;,&quot;type&quot;:&quot;$&quot;,&quot;font&quot;:{&quot;size&quot;:9,&quot;family&quot;:&quot;Arial&quot;,&quot;color&quot;:&quot;#595959&quot;},&quot;code&quot;:&quot;$a_{1}=ReLU\\left(y_{1}\\right)$&quot;,&quot;aid&quot;:null,&quot;backgroundColorModified&quot;:false,&quot;backgroundColor&quot;:&quot;#FFFFFF&quot;,&quot;ts&quot;:1755262480461,&quot;cs&quot;:&quot;YCIacjxf7pfu10pNc9ln1A==&quot;,&quot;size&quot;:{&quot;width&quot;:94.5,&quot;height&quot;:14.166666666666666}}" id="253" name="Google Shape;253;p2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481023" y="1078178"/>
            <a:ext cx="900113" cy="1349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23"/>
          <p:cNvCxnSpPr>
            <a:stCxn id="210" idx="2"/>
            <a:endCxn id="237" idx="2"/>
          </p:cNvCxnSpPr>
          <p:nvPr/>
        </p:nvCxnSpPr>
        <p:spPr>
          <a:xfrm rot="5400000">
            <a:off x="5836325" y="-34250"/>
            <a:ext cx="253500" cy="4993800"/>
          </a:xfrm>
          <a:prstGeom prst="bentConnector3">
            <a:avLst>
              <a:gd fmla="val 25042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3"/>
          <p:cNvSpPr/>
          <p:nvPr/>
        </p:nvSpPr>
        <p:spPr>
          <a:xfrm>
            <a:off x="386700" y="1344250"/>
            <a:ext cx="1994400" cy="1404900"/>
          </a:xfrm>
          <a:prstGeom prst="roundRect">
            <a:avLst>
              <a:gd fmla="val 607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511647" y="2669776"/>
            <a:ext cx="59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Layer 1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3024650" y="1344250"/>
            <a:ext cx="2109300" cy="1404900"/>
          </a:xfrm>
          <a:prstGeom prst="roundRect">
            <a:avLst>
              <a:gd fmla="val 607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414348" y="2673361"/>
            <a:ext cx="71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Layer n-1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625000" y="1329475"/>
            <a:ext cx="900000" cy="1404900"/>
          </a:xfrm>
          <a:prstGeom prst="roundRect">
            <a:avLst>
              <a:gd fmla="val 607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053848" y="2673199"/>
            <a:ext cx="71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Layer n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61" name="Google Shape;261;p23"/>
          <p:cNvSpPr/>
          <p:nvPr/>
        </p:nvSpPr>
        <p:spPr>
          <a:xfrm rot="10800000">
            <a:off x="5687313" y="3620057"/>
            <a:ext cx="249900" cy="16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 rot="10800000">
            <a:off x="4116340" y="3420732"/>
            <a:ext cx="249900" cy="16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 rot="10800000">
            <a:off x="2822507" y="3634901"/>
            <a:ext cx="249900" cy="16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410745" y="3958575"/>
            <a:ext cx="344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Forward and Backward pass on a </a:t>
            </a:r>
            <a:r>
              <a:rPr i="1" lang="en" sz="1200">
                <a:solidFill>
                  <a:schemeClr val="dk2"/>
                </a:solidFill>
              </a:rPr>
              <a:t>n </a:t>
            </a:r>
            <a:r>
              <a:rPr lang="en" sz="1200">
                <a:solidFill>
                  <a:schemeClr val="dk2"/>
                </a:solidFill>
              </a:rPr>
              <a:t>layer network and using backpropagation to update weights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Non-Linearities</a:t>
            </a:r>
            <a:endParaRPr/>
          </a:p>
        </p:txBody>
      </p:sp>
      <p:sp>
        <p:nvSpPr>
          <p:cNvPr id="270" name="Google Shape;27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Lots of other non-linearities have been explored in literature, we’ll focus on some recent ones:</a:t>
            </a:r>
            <a:endParaRPr sz="14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Leaky ReLU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Tanh 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GELU</a:t>
            </a:r>
            <a:r>
              <a:rPr lang="en" sz="1200"/>
              <a:t> (Gaussian Error Linear Unit)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Swish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SwiGLU</a:t>
            </a:r>
            <a:r>
              <a:rPr lang="en" sz="1200"/>
              <a:t> (GELU + Swish: Latest in Transformers. Will discuss later)</a:t>
            </a:r>
            <a:endParaRPr sz="1200"/>
          </a:p>
        </p:txBody>
      </p:sp>
      <p:pic>
        <p:nvPicPr>
          <p:cNvPr descr="{&quot;backgroundColor&quot;:&quot;#FFFFFF&quot;,&quot;aid&quot;:null,&quot;font&quot;:{&quot;family&quot;:&quot;Arial&quot;,&quot;size&quot;:11.5,&quot;color&quot;:&quot;#000000&quot;},&quot;id&quot;:&quot;1&quot;,&quot;code&quot;:&quot;\\begin{lalign*}\n&amp;{\\text{Leaky}\\;\\text{ReLU:}\\;x\\to\\max\\left(x,\\,\\alpha x\\right)\\,\\alpha\\,\\sim\\,0.05}\\\\\n&amp;{\\text{Tanh:}\\;x\\to \\tanh\\left(x\\right)}\\\\\n&amp;{\\text{GELU:}\\;x\\to x\\cdot\\Phi\\left(x\\right),\\,\\Phi\\left(x\\right)=\\frac{1}{2}​(1+erf(\\frac{x}{{\\sqrt[]{2}}}​)).\\,\\text{Generally}\\;\\text{an}\\;\\text{approximation}\\;\\text{is}\\;\\text{used}}\\\\\n&amp;{\\text{Swish:}\\;x\\to x\\cdot\\sigma\\left(x\\right),\\,\\sigma\\left(x\\right)=\\frac{1}{1+\\exp\\left(-x\\right)}}\\\\\n&amp;{\\text{}}\t\n\\end{lalign*}&quot;,&quot;backgroundColorModified&quot;:false,&quot;type&quot;:&quot;lalign*&quot;,&quot;ts&quot;:1755827215544,&quot;cs&quot;:&quot;kUei+0G9b4qWVddWRMxyuA==&quot;,&quot;size&quot;:{&quot;width&quot;:677.9211023622049,&quot;height&quot;:138.93171758530187}}" id="271" name="Google Shape;2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400" y="3245550"/>
            <a:ext cx="6457199" cy="13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Non-Linearities</a:t>
            </a:r>
            <a:endParaRPr/>
          </a:p>
        </p:txBody>
      </p:sp>
      <p:pic>
        <p:nvPicPr>
          <p:cNvPr id="277" name="Google Shape;2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7875"/>
            <a:ext cx="6535600" cy="392134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6049121" y="243053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Tanh:</a:t>
            </a:r>
            <a:r>
              <a:rPr lang="en" sz="1200">
                <a:solidFill>
                  <a:schemeClr val="dk1"/>
                </a:solidFill>
              </a:rPr>
              <a:t> zero-centered, smooth, but suffers from vanishing gradients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6109496" y="1533738"/>
            <a:ext cx="3000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LeakyReLU:</a:t>
            </a:r>
            <a:r>
              <a:rPr lang="en" sz="1200">
                <a:solidFill>
                  <a:schemeClr val="dk2"/>
                </a:solidFill>
              </a:rPr>
              <a:t> Allows a small, non-zero gradient when inputs are negative, keeping neurons alive and trainable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6143996" y="305566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GELU: smoothest, probabilistic, dominates in modern Transformers.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5974446" y="421511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See: non-linearities.py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non-linearity: tanh</a:t>
            </a:r>
            <a:endParaRPr/>
          </a:p>
        </p:txBody>
      </p:sp>
      <p:pic>
        <p:nvPicPr>
          <p:cNvPr descr="{&quot;code&quot;:&quot;\\begin{gather*}\n{\\boldsymbol{a}=tanh\\left(\\boldsymbol{h}\\right)=\\tanh \\left(h_{i}\\right)}\\\\\n{\\text{Note:}\\;\\text{tanh}\\;\\text{is}\\;\\text{point-wise}\\;\\text{and}\\;\\text{non-linear,}\\;\\text{but}\\;\\text{symmetrical}\\;\\text{}}\\\\\n{\\pdf{a_{i}}{h_{i}}=1-a_{i}^{2}}\\\\\n{\\text{And}}\\\\\n{\\pdf{a_{i}}{h_{j}}=0\\,\\text{when}\\;i\\neq j}\t\n\\end{gather*}&quot;,&quot;backgroundColorModified&quot;:false,&quot;id&quot;:&quot;1&quot;,&quot;font&quot;:{&quot;size&quot;:12,&quot;family&quot;:&quot;Arial&quot;,&quot;color&quot;:&quot;#000000&quot;},&quot;backgroundColor&quot;:&quot;#FFFFFF&quot;,&quot;type&quot;:&quot;gather*&quot;,&quot;aid&quot;:null,&quot;ts&quot;:1762706955126,&quot;cs&quot;:&quot;LRzV6eaPrmWQRM8hVLq7Gg==&quot;,&quot;size&quot;:{&quot;width&quot;:459.6666666666667,&quot;height&quot;:165.33333333333331}}" id="287" name="Google Shape;2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28" y="996938"/>
            <a:ext cx="4378325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>
            <a:off x="4703150" y="4308825"/>
            <a:ext cx="3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Final value of loss: 0.09.. Better fit than ReLU!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289" name="Google Shape;28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8503" y="1842700"/>
            <a:ext cx="4136047" cy="2332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"/>
          <p:cNvSpPr txBox="1"/>
          <p:nvPr>
            <p:ph type="ctrTitle"/>
          </p:nvPr>
        </p:nvSpPr>
        <p:spPr>
          <a:xfrm>
            <a:off x="311700" y="244849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problems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381450" y="587161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381450" y="817550"/>
            <a:ext cx="7553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lang="en" sz="1500">
                <a:solidFill>
                  <a:schemeClr val="dk2"/>
                </a:solidFill>
              </a:rPr>
              <a:t>Modify two_linear_with_ReLU.py to replace ReLU with tanh non-linearity and verify the plot shown in slide 14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lang="en" sz="1500">
                <a:solidFill>
                  <a:schemeClr val="dk2"/>
                </a:solidFill>
              </a:rPr>
              <a:t>Experiment with different batch sizes B = 1, 8, 32 and observe how gradient noise affects training.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"/>
          <p:cNvSpPr txBox="1"/>
          <p:nvPr>
            <p:ph type="title"/>
          </p:nvPr>
        </p:nvSpPr>
        <p:spPr>
          <a:xfrm>
            <a:off x="311700" y="445025"/>
            <a:ext cx="378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Supplementary Slides</a:t>
            </a:r>
            <a:endParaRPr sz="20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Structure of a Network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464725" y="1242363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1555994" y="1489800"/>
            <a:ext cx="9282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5750" y="1921931"/>
            <a:ext cx="328613" cy="235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3133731" y="1489791"/>
            <a:ext cx="9282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300"/>
              <a:t>ReLU</a:t>
            </a:r>
            <a:endParaRPr b="1" i="0" sz="13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311" name="Google Shape;311;p29"/>
          <p:cNvCxnSpPr>
            <a:stCxn id="308" idx="3"/>
            <a:endCxn id="310" idx="1"/>
          </p:cNvCxnSpPr>
          <p:nvPr/>
        </p:nvCxnSpPr>
        <p:spPr>
          <a:xfrm>
            <a:off x="2484194" y="2039850"/>
            <a:ext cx="649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29"/>
          <p:cNvSpPr txBox="1"/>
          <p:nvPr/>
        </p:nvSpPr>
        <p:spPr>
          <a:xfrm>
            <a:off x="711344" y="1818825"/>
            <a:ext cx="41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625" y="1952292"/>
            <a:ext cx="207827" cy="1750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29"/>
          <p:cNvCxnSpPr/>
          <p:nvPr/>
        </p:nvCxnSpPr>
        <p:spPr>
          <a:xfrm>
            <a:off x="906381" y="2039813"/>
            <a:ext cx="649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29"/>
          <p:cNvCxnSpPr/>
          <p:nvPr/>
        </p:nvCxnSpPr>
        <p:spPr>
          <a:xfrm>
            <a:off x="4061856" y="2039813"/>
            <a:ext cx="649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16" name="Google Shape;31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5719" y="1818825"/>
            <a:ext cx="21431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65625" y="1807838"/>
            <a:ext cx="2214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/>
          <p:nvPr/>
        </p:nvSpPr>
        <p:spPr>
          <a:xfrm>
            <a:off x="4740919" y="1489741"/>
            <a:ext cx="9282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pic>
        <p:nvPicPr>
          <p:cNvPr id="319" name="Google Shape;319;p29" title="[0,0,0,&quot;https://www.codecogs.com/eqnedit.php?latex=W_n#0&quot;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8751" y="1905551"/>
            <a:ext cx="328625" cy="2139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29"/>
          <p:cNvCxnSpPr/>
          <p:nvPr/>
        </p:nvCxnSpPr>
        <p:spPr>
          <a:xfrm>
            <a:off x="5669131" y="2012488"/>
            <a:ext cx="649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21" name="Google Shape;321;p29" title="[0,0,0,&quot;https://www.codecogs.com/eqnedit.php?latex=y_n#0&quot;]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22684" y="1708025"/>
            <a:ext cx="285139" cy="2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9"/>
          <p:cNvSpPr/>
          <p:nvPr/>
        </p:nvSpPr>
        <p:spPr>
          <a:xfrm>
            <a:off x="6348124" y="1489800"/>
            <a:ext cx="7173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Loss function</a:t>
            </a:r>
            <a:endParaRPr sz="1100"/>
          </a:p>
        </p:txBody>
      </p:sp>
      <p:cxnSp>
        <p:nvCxnSpPr>
          <p:cNvPr id="323" name="Google Shape;323;p29"/>
          <p:cNvCxnSpPr>
            <a:endCxn id="322" idx="0"/>
          </p:cNvCxnSpPr>
          <p:nvPr/>
        </p:nvCxnSpPr>
        <p:spPr>
          <a:xfrm>
            <a:off x="6706774" y="1174800"/>
            <a:ext cx="0" cy="315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4" name="Google Shape;324;p29"/>
          <p:cNvSpPr txBox="1"/>
          <p:nvPr/>
        </p:nvSpPr>
        <p:spPr>
          <a:xfrm>
            <a:off x="6410225" y="866975"/>
            <a:ext cx="59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/>
              <a:t>labels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4170100" y="1979300"/>
            <a:ext cx="41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26" name="Google Shape;326;p29"/>
          <p:cNvCxnSpPr/>
          <p:nvPr/>
        </p:nvCxnSpPr>
        <p:spPr>
          <a:xfrm flipH="1" rot="10800000">
            <a:off x="7065431" y="2007988"/>
            <a:ext cx="309300" cy="9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7" name="Google Shape;327;p29"/>
          <p:cNvSpPr txBox="1"/>
          <p:nvPr/>
        </p:nvSpPr>
        <p:spPr>
          <a:xfrm>
            <a:off x="7374725" y="1858600"/>
            <a:ext cx="59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/>
              <a:t>Error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3046900" y="1151000"/>
            <a:ext cx="1244400" cy="23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2611096" y="774575"/>
            <a:ext cx="234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Forward Pass or Inference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330" name="Google Shape;330;p29"/>
          <p:cNvCxnSpPr>
            <a:stCxn id="327" idx="2"/>
            <a:endCxn id="318" idx="2"/>
          </p:cNvCxnSpPr>
          <p:nvPr/>
        </p:nvCxnSpPr>
        <p:spPr>
          <a:xfrm rot="5400000">
            <a:off x="6226475" y="1144900"/>
            <a:ext cx="423300" cy="2466300"/>
          </a:xfrm>
          <a:prstGeom prst="bentConnector3">
            <a:avLst>
              <a:gd fmla="val 15628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29"/>
          <p:cNvCxnSpPr>
            <a:stCxn id="327" idx="2"/>
            <a:endCxn id="308" idx="2"/>
          </p:cNvCxnSpPr>
          <p:nvPr/>
        </p:nvCxnSpPr>
        <p:spPr>
          <a:xfrm rot="5400000">
            <a:off x="4633925" y="-447350"/>
            <a:ext cx="423600" cy="5651100"/>
          </a:xfrm>
          <a:prstGeom prst="bentConnector3">
            <a:avLst>
              <a:gd fmla="val 1561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29"/>
          <p:cNvSpPr txBox="1"/>
          <p:nvPr/>
        </p:nvSpPr>
        <p:spPr>
          <a:xfrm>
            <a:off x="3398846" y="2904925"/>
            <a:ext cx="234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Backward pass or training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3" name="Google Shape;333;p29"/>
          <p:cNvSpPr txBox="1"/>
          <p:nvPr/>
        </p:nvSpPr>
        <p:spPr>
          <a:xfrm>
            <a:off x="150574" y="3444325"/>
            <a:ext cx="4881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Points on a 2D space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Sequence of embeddings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Fourier transform coefficients of an audio sample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Images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Image patches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Video frames..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334" name="Google Shape;334;p29"/>
          <p:cNvCxnSpPr/>
          <p:nvPr/>
        </p:nvCxnSpPr>
        <p:spPr>
          <a:xfrm rot="10800000">
            <a:off x="773839" y="2297405"/>
            <a:ext cx="352800" cy="11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29"/>
          <p:cNvSpPr txBox="1"/>
          <p:nvPr/>
        </p:nvSpPr>
        <p:spPr>
          <a:xfrm>
            <a:off x="3963849" y="3504625"/>
            <a:ext cx="488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Key question: </a:t>
            </a:r>
            <a:r>
              <a:rPr lang="en" sz="1100">
                <a:solidFill>
                  <a:schemeClr val="dk2"/>
                </a:solidFill>
              </a:rPr>
              <a:t>How do I adjust the weights to reduce error?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Answer:</a:t>
            </a:r>
            <a:r>
              <a:rPr lang="en" sz="1100">
                <a:solidFill>
                  <a:schemeClr val="dk2"/>
                </a:solidFill>
              </a:rPr>
              <a:t> Backpropagation!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0"/>
          <p:cNvPicPr preferRelativeResize="0"/>
          <p:nvPr/>
        </p:nvPicPr>
        <p:blipFill rotWithShape="1">
          <a:blip r:embed="rId3">
            <a:alphaModFix/>
          </a:blip>
          <a:srcRect b="4488" l="5977" r="1343" t="1411"/>
          <a:stretch/>
        </p:blipFill>
        <p:spPr>
          <a:xfrm>
            <a:off x="4316350" y="11231"/>
            <a:ext cx="3789900" cy="513227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>
            <p:ph type="title"/>
          </p:nvPr>
        </p:nvSpPr>
        <p:spPr>
          <a:xfrm>
            <a:off x="311700" y="445025"/>
            <a:ext cx="378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Backpropagation: Batched</a:t>
            </a:r>
            <a:endParaRPr sz="2020"/>
          </a:p>
        </p:txBody>
      </p:sp>
      <p:sp>
        <p:nvSpPr>
          <p:cNvPr id="342" name="Google Shape;342;p30"/>
          <p:cNvSpPr txBox="1"/>
          <p:nvPr/>
        </p:nvSpPr>
        <p:spPr>
          <a:xfrm>
            <a:off x="336350" y="911825"/>
            <a:ext cx="351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Derivative of error against the weights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1"/>
          <p:cNvPicPr preferRelativeResize="0"/>
          <p:nvPr/>
        </p:nvPicPr>
        <p:blipFill rotWithShape="1">
          <a:blip r:embed="rId3">
            <a:alphaModFix/>
          </a:blip>
          <a:srcRect b="17005" l="6974" r="18747" t="0"/>
          <a:stretch/>
        </p:blipFill>
        <p:spPr>
          <a:xfrm>
            <a:off x="4506975" y="152400"/>
            <a:ext cx="3331474" cy="496427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1"/>
          <p:cNvSpPr txBox="1"/>
          <p:nvPr>
            <p:ph type="title"/>
          </p:nvPr>
        </p:nvSpPr>
        <p:spPr>
          <a:xfrm>
            <a:off x="311700" y="445025"/>
            <a:ext cx="378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Backpropagation: Batched</a:t>
            </a:r>
            <a:endParaRPr sz="202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2"/>
          <p:cNvPicPr preferRelativeResize="0"/>
          <p:nvPr/>
        </p:nvPicPr>
        <p:blipFill rotWithShape="1">
          <a:blip r:embed="rId3">
            <a:alphaModFix/>
          </a:blip>
          <a:srcRect b="2257" l="2510" r="12664" t="0"/>
          <a:stretch/>
        </p:blipFill>
        <p:spPr>
          <a:xfrm>
            <a:off x="4414575" y="0"/>
            <a:ext cx="33471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2"/>
          <p:cNvSpPr txBox="1"/>
          <p:nvPr>
            <p:ph type="title"/>
          </p:nvPr>
        </p:nvSpPr>
        <p:spPr>
          <a:xfrm>
            <a:off x="311700" y="445025"/>
            <a:ext cx="378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Backpropagation: Batched</a:t>
            </a:r>
            <a:endParaRPr sz="2020"/>
          </a:p>
        </p:txBody>
      </p:sp>
      <p:sp>
        <p:nvSpPr>
          <p:cNvPr id="355" name="Google Shape;355;p32"/>
          <p:cNvSpPr txBox="1"/>
          <p:nvPr/>
        </p:nvSpPr>
        <p:spPr>
          <a:xfrm>
            <a:off x="336350" y="911825"/>
            <a:ext cx="351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Derivative of error against bias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3"/>
          <p:cNvPicPr preferRelativeResize="0"/>
          <p:nvPr/>
        </p:nvPicPr>
        <p:blipFill rotWithShape="1">
          <a:blip r:embed="rId3">
            <a:alphaModFix/>
          </a:blip>
          <a:srcRect b="56470" l="3297" r="0" t="0"/>
          <a:stretch/>
        </p:blipFill>
        <p:spPr>
          <a:xfrm>
            <a:off x="4373525" y="152400"/>
            <a:ext cx="4252499" cy="255282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3"/>
          <p:cNvSpPr txBox="1"/>
          <p:nvPr>
            <p:ph type="title"/>
          </p:nvPr>
        </p:nvSpPr>
        <p:spPr>
          <a:xfrm>
            <a:off x="311700" y="445025"/>
            <a:ext cx="378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Backpropagation: Batched</a:t>
            </a:r>
            <a:endParaRPr sz="2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