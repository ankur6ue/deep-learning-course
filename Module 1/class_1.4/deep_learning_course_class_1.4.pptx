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schemas.openxmlformats.org/officeDocument/2006/relationships/slide" Target="slides/slide19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3af67b1ee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3af67b1ee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712b89a260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712b89a260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4d3240471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4d324047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63af67b1ee_2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63af67b1ee_2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8ae1b43c8f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8ae1b43c8f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68c05038f9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68c05038f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85a6818ab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85a6818ab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8ae1b43c8f_1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8ae1b43c8f_1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85a6818ab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85a6818ab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72865cd5e0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72865cd5e0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72865cd5e0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72865cd5e0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8bec3a3a05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8bec3a3a05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8bec3a3a0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8bec3a3a0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8bec3a3a05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8bec3a3a0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8bdd1193af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8bdd1193af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68fb5ce5a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68fb5ce5a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68fb5ce5a1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68fb5ce5a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8bdd1193a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8bdd1193a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7426365403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742636540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cs.cmu.edu/~mgormley/courses/10601/slides/10601-matrix-calculus.pdf" TargetMode="External"/><Relationship Id="rId4" Type="http://schemas.openxmlformats.org/officeDocument/2006/relationships/hyperlink" Target="https://www.khanacademy.org/math/linear-algebra/matrix-transformations/composition-of-transformations/v/linear-algebra-matrix-product-examples" TargetMode="External"/><Relationship Id="rId5" Type="http://schemas.openxmlformats.org/officeDocument/2006/relationships/hyperlink" Target="https://www.khanacademy.org/math/linear-algebra/matrix-transformations/composition-of-transformations/v/matrix-product-associativity" TargetMode="External"/><Relationship Id="rId6" Type="http://schemas.openxmlformats.org/officeDocument/2006/relationships/hyperlink" Target="https://www.khanacademy.org/math/linear-algebra/matrix-transformations/composition-of-transformations/v/distributive-property-of-matrix-products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4.png"/><Relationship Id="rId4" Type="http://schemas.openxmlformats.org/officeDocument/2006/relationships/image" Target="../media/image18.png"/><Relationship Id="rId5" Type="http://schemas.openxmlformats.org/officeDocument/2006/relationships/image" Target="../media/image1.png"/><Relationship Id="rId6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2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2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8.png"/><Relationship Id="rId4" Type="http://schemas.openxmlformats.org/officeDocument/2006/relationships/image" Target="../media/image23.png"/><Relationship Id="rId5" Type="http://schemas.openxmlformats.org/officeDocument/2006/relationships/image" Target="../media/image26.png"/><Relationship Id="rId6" Type="http://schemas.openxmlformats.org/officeDocument/2006/relationships/image" Target="../media/image29.png"/><Relationship Id="rId7" Type="http://schemas.openxmlformats.org/officeDocument/2006/relationships/image" Target="../media/image27.png"/><Relationship Id="rId8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/>
              <a:t>Mathematical </a:t>
            </a:r>
            <a:r>
              <a:rPr lang="en" sz="4700"/>
              <a:t>Preliminaries</a:t>
            </a:r>
            <a:endParaRPr sz="47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Deep Learning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 1, Class 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4294967295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Pre-read</a:t>
            </a:r>
            <a:endParaRPr/>
          </a:p>
        </p:txBody>
      </p:sp>
      <p:sp>
        <p:nvSpPr>
          <p:cNvPr id="61" name="Google Shape;61;p14"/>
          <p:cNvSpPr txBox="1"/>
          <p:nvPr/>
        </p:nvSpPr>
        <p:spPr>
          <a:xfrm>
            <a:off x="372250" y="1064400"/>
            <a:ext cx="7841700" cy="40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rabicPeriod"/>
            </a:pPr>
            <a:r>
              <a:rPr lang="en" sz="1600" u="sng">
                <a:solidFill>
                  <a:schemeClr val="hlink"/>
                </a:solidFill>
                <a:hlinkClick r:id="rId3"/>
              </a:rPr>
              <a:t>Matrix Calculus</a:t>
            </a:r>
            <a:r>
              <a:rPr lang="en" sz="1600">
                <a:solidFill>
                  <a:schemeClr val="dk2"/>
                </a:solidFill>
              </a:rPr>
              <a:t>, Sections 2.1.1, 2.1.2. Do some of the exercises (1.4)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rabicPeriod"/>
            </a:pPr>
            <a:r>
              <a:rPr b="1" lang="en" sz="1600">
                <a:solidFill>
                  <a:schemeClr val="dk2"/>
                </a:solidFill>
              </a:rPr>
              <a:t>Essence of Linear Algebra (YouTube series by 3Blue1Brown)</a:t>
            </a:r>
            <a:endParaRPr b="1"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-"/>
            </a:pPr>
            <a:r>
              <a:rPr lang="en" sz="1600">
                <a:solidFill>
                  <a:schemeClr val="dk2"/>
                </a:solidFill>
              </a:rPr>
              <a:t>Good intuition on how matrices encode linear transformation of vectors.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rabicPeriod"/>
            </a:pPr>
            <a:r>
              <a:rPr lang="en" sz="1600">
                <a:solidFill>
                  <a:schemeClr val="dk2"/>
                </a:solidFill>
              </a:rPr>
              <a:t>Khan Academy Videos</a:t>
            </a:r>
            <a:endParaRPr sz="1600">
              <a:solidFill>
                <a:schemeClr val="dk2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lphaLcPeriod"/>
            </a:pPr>
            <a:r>
              <a:rPr lang="en" sz="1600" u="sng">
                <a:solidFill>
                  <a:schemeClr val="hlink"/>
                </a:solidFill>
                <a:hlinkClick r:id="rId4"/>
              </a:rPr>
              <a:t>Matrix product examples</a:t>
            </a:r>
            <a:endParaRPr sz="1600">
              <a:solidFill>
                <a:schemeClr val="dk2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lphaLcPeriod"/>
            </a:pPr>
            <a:r>
              <a:rPr lang="en" sz="1600" u="sng">
                <a:solidFill>
                  <a:schemeClr val="hlink"/>
                </a:solidFill>
                <a:hlinkClick r:id="rId5"/>
              </a:rPr>
              <a:t>Matrix product associativity</a:t>
            </a:r>
            <a:endParaRPr sz="1600">
              <a:solidFill>
                <a:schemeClr val="dk2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lphaLcPeriod"/>
            </a:pPr>
            <a:r>
              <a:rPr lang="en" sz="1600" u="sng">
                <a:solidFill>
                  <a:schemeClr val="hlink"/>
                </a:solidFill>
                <a:hlinkClick r:id="rId6"/>
              </a:rPr>
              <a:t>Distributive property of matrix products 	</a:t>
            </a:r>
            <a:endParaRPr sz="1600">
              <a:solidFill>
                <a:schemeClr val="dk2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lphaLcPeriod"/>
            </a:pPr>
            <a:r>
              <a:rPr lang="en" sz="1600">
                <a:solidFill>
                  <a:schemeClr val="dk2"/>
                </a:solidFill>
              </a:rPr>
              <a:t>Watch the entire linear algebra series, if you have time.. It covers the concepts of linear transformations quite well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rabicPeriod"/>
            </a:pPr>
            <a:r>
              <a:rPr lang="en" sz="1600">
                <a:solidFill>
                  <a:schemeClr val="dk2"/>
                </a:solidFill>
              </a:rPr>
              <a:t>Using python, generate two matrices A (n=4,m=5) and B(m=5, k=3) with random numbers and calculate their product, C=AB using nested for loops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rabicPeriod"/>
            </a:pPr>
            <a:r>
              <a:rPr lang="en" sz="1600">
                <a:solidFill>
                  <a:schemeClr val="dk2"/>
                </a:solidFill>
              </a:rPr>
              <a:t>Now consider square matrices (n=m=k). Verify that AB is not equal to BA. When would AB = BA?  </a:t>
            </a:r>
            <a:endParaRPr sz="16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idx="4294967295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67" name="Google Shape;67;p15"/>
          <p:cNvSpPr txBox="1"/>
          <p:nvPr/>
        </p:nvSpPr>
        <p:spPr>
          <a:xfrm>
            <a:off x="480050" y="1195250"/>
            <a:ext cx="67473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Introduction to multivariate functions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Geometric </a:t>
            </a:r>
            <a:r>
              <a:rPr lang="en" sz="1800">
                <a:solidFill>
                  <a:schemeClr val="dk2"/>
                </a:solidFill>
              </a:rPr>
              <a:t>interpretation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Chain rule in a computational graph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Using partial </a:t>
            </a:r>
            <a:r>
              <a:rPr lang="en" sz="1800">
                <a:solidFill>
                  <a:schemeClr val="dk2"/>
                </a:solidFill>
              </a:rPr>
              <a:t>derivatives</a:t>
            </a:r>
            <a:r>
              <a:rPr lang="en" sz="1800">
                <a:solidFill>
                  <a:schemeClr val="dk2"/>
                </a:solidFill>
              </a:rPr>
              <a:t> to solve linear regression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idx="4294967295" type="title"/>
          </p:nvPr>
        </p:nvSpPr>
        <p:spPr>
          <a:xfrm>
            <a:off x="259350" y="157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Derivative of multivariate functions</a:t>
            </a:r>
            <a:endParaRPr/>
          </a:p>
        </p:txBody>
      </p:sp>
      <p:pic>
        <p:nvPicPr>
          <p:cNvPr descr="{&quot;font&quot;:{&quot;size&quot;:12,&quot;family&quot;:&quot;Arial&quot;,&quot;color&quot;:&quot;#000000&quot;},&quot;backgroundColor&quot;:&quot;#FFFFFF&quot;,&quot;code&quot;:&quot;$$y_{1},\\,y_{2}=f\\left(x_{1},\\,x_{2},x_{3}\\right)$$&quot;,&quot;aid&quot;:null,&quot;backgroundColorModified&quot;:false,&quot;id&quot;:&quot;19&quot;,&quot;type&quot;:&quot;$$&quot;,&quot;ts&quot;:1754655326526,&quot;cs&quot;:&quot;ZpsAs/lBqjd1qo6ejZ4asw==&quot;,&quot;size&quot;:{&quot;width&quot;:173.83333333333334,&quot;height&quot;:18.833333333333332}}"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663" y="1809899"/>
            <a:ext cx="1655763" cy="1793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$&quot;,&quot;font&quot;:{&quot;color&quot;:&quot;#000000&quot;,&quot;family&quot;:&quot;Arial&quot;,&quot;size&quot;:12},&quot;id&quot;:&quot;19&quot;,&quot;backgroundColor&quot;:&quot;#FFFFFF&quot;,&quot;code&quot;:&quot;$$\\begin{pmatrix}\n{y_{1}}\\\\\n{y_{2}}\\\\\n\\end{pmatrix}=\\begin{pmatrix}\n{x_{1}+x_{2}}\\\\\n{x_{1}^{2}+x_{2}^{2}+x_{3}^{2}}\\\\\n\\end{pmatrix}$$&quot;,&quot;backgroundColorModified&quot;:false,&quot;aid&quot;:null,&quot;ts&quot;:1754655474638,&quot;cs&quot;:&quot;FRBll95K4gvA5t0LPOOWVg==&quot;,&quot;size&quot;:{&quot;width&quot;:192.66666666666666,&quot;height&quot;:46.5}}" id="74" name="Google Shape;7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4672" y="3144124"/>
            <a:ext cx="1835150" cy="4429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id&quot;:&quot;19&quot;,&quot;backgroundColorModified&quot;:false,&quot;backgroundColor&quot;:&quot;#FFFFFF&quot;,&quot;code&quot;:&quot;$$\\frac{d\\vec{y}}{d\\vec{x}}=\\begin{pmatrix}\n{\\frac{\\partial y_{1}}{\\partial x_{1}}}&amp;{\\frac{\\partial y_{1}}{\\partial x_{2}}}&amp;{\\frac{\\partial y_{1}}{\\partial x_{3}}}\\\\\n{\\frac{\\partial y_{2}}{\\partial x_{1}}}&amp;{\\frac{\\partial y_{2}}{\\partial x_{2}}}&amp;{\\frac{\\partial y_{2}}{\\partial x_{3}}}\\\\\n\\end{pmatrix}\\text{or}\\,\\begin{pmatrix}\n{\\frac{\\partial y_{1}}{\\partial x_{1}}}&amp;{\\frac{\\partial y_{2}}{\\partial x_{1}}}\\\\\n{\\frac{\\partial y_{1}}{\\partial x_{2}}}&amp;{\\frac{\\partial y_{2}}{\\partial x_{2}}}\\\\\n{\\frac{\\partial y_{1}}{\\partial x_{3}}}&amp;{\\frac{\\partial y_{2}}{\\partial x_{3}}}\\\\\n\\end{pmatrix}$$&quot;,&quot;font&quot;:{&quot;color&quot;:&quot;#000000&quot;,&quot;size&quot;:12,&quot;family&quot;:&quot;Arial&quot;},&quot;type&quot;:&quot;$$&quot;,&quot;ts&quot;:1759696395837,&quot;cs&quot;:&quot;kC3u9/LIk4vVQAxbZF9dCQ==&quot;,&quot;size&quot;:{&quot;width&quot;:337.25,&quot;height&quot;:96.5}}" id="75" name="Google Shape;75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12806" y="1491114"/>
            <a:ext cx="3212306" cy="9191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aid&quot;:null,&quot;backgroundColor&quot;:&quot;#FFFFFF&quot;,&quot;font&quot;:{&quot;color&quot;:&quot;#000000&quot;,&quot;family&quot;:&quot;Arial&quot;,&quot;size&quot;:12},&quot;code&quot;:&quot;$$\\frac{dy}{dx}=\\begin{pmatrix}\n{1}&amp;{1}&amp;{0}\\\\\n{2x_{1}}&amp;{2x_{2}}&amp;{2x_{3}}\\\\\n\\end{pmatrix}\\text{}$$&quot;,&quot;type&quot;:&quot;$$&quot;,&quot;id&quot;:&quot;19&quot;,&quot;ts&quot;:1754656205019,&quot;cs&quot;:&quot;8R2fbNft9HHD4yAAVQKhZA==&quot;,&quot;size&quot;:{&quot;width&quot;:197.83333333333334,&quot;height&quot;:45.16666666666665}}" id="76" name="Google Shape;76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50781" y="3183300"/>
            <a:ext cx="1884363" cy="430212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/>
          <p:nvPr/>
        </p:nvSpPr>
        <p:spPr>
          <a:xfrm>
            <a:off x="482950" y="1940063"/>
            <a:ext cx="305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chemeClr val="dk2"/>
                </a:solidFill>
              </a:rPr>
              <a:t>y</a:t>
            </a:r>
            <a:endParaRPr i="1" sz="1500">
              <a:solidFill>
                <a:schemeClr val="dk2"/>
              </a:solidFill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1437375" y="1930813"/>
            <a:ext cx="305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chemeClr val="dk2"/>
                </a:solidFill>
              </a:rPr>
              <a:t>x</a:t>
            </a:r>
            <a:endParaRPr i="1" sz="1500">
              <a:solidFill>
                <a:schemeClr val="dk2"/>
              </a:solidFill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387340" y="2534950"/>
            <a:ext cx="1281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Example: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348875" y="902800"/>
            <a:ext cx="7349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Up until now, the output of a function was a scalar.. But it can also be multivariate..  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3081275" y="2346325"/>
            <a:ext cx="1884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Numerator Notation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6215725" y="1742950"/>
            <a:ext cx="2502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Denomina</a:t>
            </a:r>
            <a:r>
              <a:rPr lang="en" sz="1500">
                <a:solidFill>
                  <a:schemeClr val="dk2"/>
                </a:solidFill>
              </a:rPr>
              <a:t>tor Notation</a:t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0449" y="1774950"/>
            <a:ext cx="2696850" cy="13186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 txBox="1"/>
          <p:nvPr>
            <p:ph idx="4294967295" type="title"/>
          </p:nvPr>
        </p:nvSpPr>
        <p:spPr>
          <a:xfrm>
            <a:off x="259350" y="157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Derivative of multivariate functions</a:t>
            </a:r>
            <a:endParaRPr/>
          </a:p>
        </p:txBody>
      </p:sp>
      <p:sp>
        <p:nvSpPr>
          <p:cNvPr id="89" name="Google Shape;89;p17"/>
          <p:cNvSpPr txBox="1"/>
          <p:nvPr/>
        </p:nvSpPr>
        <p:spPr>
          <a:xfrm>
            <a:off x="869825" y="1485025"/>
            <a:ext cx="1467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Derivative of scalar wrt scalar</a:t>
            </a:r>
            <a:endParaRPr sz="1300">
              <a:solidFill>
                <a:schemeClr val="dk2"/>
              </a:solidFill>
            </a:endParaRPr>
          </a:p>
        </p:txBody>
      </p:sp>
      <p:cxnSp>
        <p:nvCxnSpPr>
          <p:cNvPr id="90" name="Google Shape;90;p17"/>
          <p:cNvCxnSpPr>
            <a:stCxn id="89" idx="3"/>
          </p:cNvCxnSpPr>
          <p:nvPr/>
        </p:nvCxnSpPr>
        <p:spPr>
          <a:xfrm>
            <a:off x="2336825" y="1777525"/>
            <a:ext cx="1101600" cy="43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1" name="Google Shape;91;p17"/>
          <p:cNvSpPr txBox="1"/>
          <p:nvPr/>
        </p:nvSpPr>
        <p:spPr>
          <a:xfrm>
            <a:off x="3038400" y="1074975"/>
            <a:ext cx="17877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Derivative of scalar wrt vector (n, 1). </a:t>
            </a:r>
            <a:r>
              <a:rPr b="1" lang="en" sz="1300">
                <a:solidFill>
                  <a:schemeClr val="dk2"/>
                </a:solidFill>
              </a:rPr>
              <a:t>Output:</a:t>
            </a:r>
            <a:r>
              <a:rPr lang="en" sz="1300">
                <a:solidFill>
                  <a:schemeClr val="dk2"/>
                </a:solidFill>
              </a:rPr>
              <a:t> vector (n, 1)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92" name="Google Shape;92;p17"/>
          <p:cNvSpPr txBox="1"/>
          <p:nvPr/>
        </p:nvSpPr>
        <p:spPr>
          <a:xfrm>
            <a:off x="5255025" y="1103975"/>
            <a:ext cx="2514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Derivative of scalar wrt matrix (n, m). </a:t>
            </a:r>
            <a:r>
              <a:rPr b="1" lang="en" sz="1300">
                <a:solidFill>
                  <a:schemeClr val="dk2"/>
                </a:solidFill>
              </a:rPr>
              <a:t>Output:</a:t>
            </a:r>
            <a:r>
              <a:rPr lang="en" sz="1300">
                <a:solidFill>
                  <a:schemeClr val="dk2"/>
                </a:solidFill>
              </a:rPr>
              <a:t> matrix (n, m)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93" name="Google Shape;93;p17"/>
          <p:cNvSpPr txBox="1"/>
          <p:nvPr/>
        </p:nvSpPr>
        <p:spPr>
          <a:xfrm>
            <a:off x="156625" y="2169075"/>
            <a:ext cx="2473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Derivative of vector (n,1) wrt scalar. </a:t>
            </a:r>
            <a:r>
              <a:rPr b="1" lang="en" sz="1300">
                <a:solidFill>
                  <a:schemeClr val="dk2"/>
                </a:solidFill>
              </a:rPr>
              <a:t>Output: </a:t>
            </a:r>
            <a:r>
              <a:rPr lang="en" sz="1300">
                <a:solidFill>
                  <a:schemeClr val="dk2"/>
                </a:solidFill>
              </a:rPr>
              <a:t>vector (n,1)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94" name="Google Shape;94;p17"/>
          <p:cNvSpPr txBox="1"/>
          <p:nvPr/>
        </p:nvSpPr>
        <p:spPr>
          <a:xfrm>
            <a:off x="3438425" y="3481150"/>
            <a:ext cx="1965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Derivative of matrix wrt vector. </a:t>
            </a:r>
            <a:r>
              <a:rPr b="1" lang="en" sz="1300">
                <a:solidFill>
                  <a:schemeClr val="dk2"/>
                </a:solidFill>
              </a:rPr>
              <a:t>Output: </a:t>
            </a:r>
            <a:r>
              <a:rPr lang="en" sz="1300">
                <a:solidFill>
                  <a:schemeClr val="dk2"/>
                </a:solidFill>
              </a:rPr>
              <a:t>Tensor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5539150" y="2279250"/>
            <a:ext cx="3021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Derivative of vector wrt matrix. </a:t>
            </a:r>
            <a:r>
              <a:rPr b="1" lang="en" sz="1300">
                <a:solidFill>
                  <a:schemeClr val="dk2"/>
                </a:solidFill>
              </a:rPr>
              <a:t>Output: </a:t>
            </a:r>
            <a:r>
              <a:rPr lang="en" sz="1300">
                <a:solidFill>
                  <a:schemeClr val="dk2"/>
                </a:solidFill>
              </a:rPr>
              <a:t>Tensor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96" name="Google Shape;96;p17"/>
          <p:cNvSpPr txBox="1"/>
          <p:nvPr/>
        </p:nvSpPr>
        <p:spPr>
          <a:xfrm>
            <a:off x="591500" y="3527525"/>
            <a:ext cx="3021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Derivative of matrix (n,m) wrt scalar (1,1). </a:t>
            </a:r>
            <a:r>
              <a:rPr b="1" lang="en" sz="1300">
                <a:solidFill>
                  <a:schemeClr val="dk2"/>
                </a:solidFill>
              </a:rPr>
              <a:t>Output: </a:t>
            </a:r>
            <a:r>
              <a:rPr lang="en" sz="1300">
                <a:solidFill>
                  <a:schemeClr val="dk2"/>
                </a:solidFill>
              </a:rPr>
              <a:t>matrix (n,m)</a:t>
            </a:r>
            <a:endParaRPr sz="1300">
              <a:solidFill>
                <a:schemeClr val="dk2"/>
              </a:solidFill>
            </a:endParaRPr>
          </a:p>
        </p:txBody>
      </p:sp>
      <p:sp>
        <p:nvSpPr>
          <p:cNvPr id="97" name="Google Shape;97;p17"/>
          <p:cNvSpPr txBox="1"/>
          <p:nvPr/>
        </p:nvSpPr>
        <p:spPr>
          <a:xfrm>
            <a:off x="5507675" y="2965750"/>
            <a:ext cx="3021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Derivative of matrix wrt matrix. </a:t>
            </a:r>
            <a:r>
              <a:rPr b="1" lang="en" sz="1300">
                <a:solidFill>
                  <a:schemeClr val="dk2"/>
                </a:solidFill>
              </a:rPr>
              <a:t>Output: </a:t>
            </a:r>
            <a:r>
              <a:rPr lang="en" sz="1300">
                <a:solidFill>
                  <a:schemeClr val="dk2"/>
                </a:solidFill>
              </a:rPr>
              <a:t>Tensor</a:t>
            </a:r>
            <a:endParaRPr sz="1300">
              <a:solidFill>
                <a:schemeClr val="dk2"/>
              </a:solidFill>
            </a:endParaRPr>
          </a:p>
        </p:txBody>
      </p:sp>
      <p:cxnSp>
        <p:nvCxnSpPr>
          <p:cNvPr id="98" name="Google Shape;98;p17"/>
          <p:cNvCxnSpPr/>
          <p:nvPr/>
        </p:nvCxnSpPr>
        <p:spPr>
          <a:xfrm>
            <a:off x="3838575" y="1728550"/>
            <a:ext cx="231900" cy="510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9" name="Google Shape;99;p17"/>
          <p:cNvCxnSpPr/>
          <p:nvPr/>
        </p:nvCxnSpPr>
        <p:spPr>
          <a:xfrm flipH="1">
            <a:off x="4946100" y="1635775"/>
            <a:ext cx="1258200" cy="614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0" name="Google Shape;100;p17"/>
          <p:cNvCxnSpPr/>
          <p:nvPr/>
        </p:nvCxnSpPr>
        <p:spPr>
          <a:xfrm>
            <a:off x="2361675" y="2539463"/>
            <a:ext cx="1146300" cy="2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" name="Google Shape;101;p17"/>
          <p:cNvCxnSpPr/>
          <p:nvPr/>
        </p:nvCxnSpPr>
        <p:spPr>
          <a:xfrm flipH="1" rot="10800000">
            <a:off x="2591925" y="2876725"/>
            <a:ext cx="933600" cy="695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2" name="Google Shape;102;p17"/>
          <p:cNvSpPr txBox="1"/>
          <p:nvPr/>
        </p:nvSpPr>
        <p:spPr>
          <a:xfrm>
            <a:off x="219525" y="2772900"/>
            <a:ext cx="3021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Derivative of vector (n,1) wrt vector (m,1). </a:t>
            </a:r>
            <a:r>
              <a:rPr b="1" lang="en" sz="1300">
                <a:solidFill>
                  <a:schemeClr val="dk2"/>
                </a:solidFill>
              </a:rPr>
              <a:t>Output: </a:t>
            </a:r>
            <a:r>
              <a:rPr lang="en" sz="1300" u="sng">
                <a:solidFill>
                  <a:schemeClr val="dk2"/>
                </a:solidFill>
              </a:rPr>
              <a:t>matrix (m,n)</a:t>
            </a:r>
            <a:endParaRPr sz="1300" u="sng">
              <a:solidFill>
                <a:schemeClr val="dk2"/>
              </a:solidFill>
            </a:endParaRPr>
          </a:p>
        </p:txBody>
      </p:sp>
      <p:cxnSp>
        <p:nvCxnSpPr>
          <p:cNvPr id="103" name="Google Shape;103;p17"/>
          <p:cNvCxnSpPr/>
          <p:nvPr/>
        </p:nvCxnSpPr>
        <p:spPr>
          <a:xfrm flipH="1" rot="10800000">
            <a:off x="2446975" y="2580850"/>
            <a:ext cx="1623600" cy="562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4" name="Google Shape;104;p17"/>
          <p:cNvCxnSpPr>
            <a:stCxn id="94" idx="0"/>
          </p:cNvCxnSpPr>
          <p:nvPr/>
        </p:nvCxnSpPr>
        <p:spPr>
          <a:xfrm rot="10800000">
            <a:off x="4337225" y="2928850"/>
            <a:ext cx="84000" cy="55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" name="Google Shape;105;p17"/>
          <p:cNvCxnSpPr>
            <a:stCxn id="97" idx="1"/>
          </p:cNvCxnSpPr>
          <p:nvPr/>
        </p:nvCxnSpPr>
        <p:spPr>
          <a:xfrm rot="10800000">
            <a:off x="4946075" y="2911450"/>
            <a:ext cx="561600" cy="34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6" name="Google Shape;106;p17"/>
          <p:cNvCxnSpPr>
            <a:stCxn id="95" idx="1"/>
          </p:cNvCxnSpPr>
          <p:nvPr/>
        </p:nvCxnSpPr>
        <p:spPr>
          <a:xfrm flipH="1">
            <a:off x="4980850" y="2571750"/>
            <a:ext cx="558300" cy="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7" name="Google Shape;107;p17"/>
          <p:cNvSpPr txBox="1"/>
          <p:nvPr/>
        </p:nvSpPr>
        <p:spPr>
          <a:xfrm>
            <a:off x="2213350" y="4403950"/>
            <a:ext cx="4118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We’ll use </a:t>
            </a:r>
            <a:r>
              <a:rPr lang="en" sz="1500">
                <a:solidFill>
                  <a:schemeClr val="dk2"/>
                </a:solidFill>
              </a:rPr>
              <a:t>Denominator Notation throughout!</a:t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 txBox="1"/>
          <p:nvPr>
            <p:ph idx="4294967295" type="title"/>
          </p:nvPr>
        </p:nvSpPr>
        <p:spPr>
          <a:xfrm>
            <a:off x="259350" y="157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Derivative of multivariate functions</a:t>
            </a:r>
            <a:endParaRPr/>
          </a:p>
        </p:txBody>
      </p:sp>
      <p:pic>
        <p:nvPicPr>
          <p:cNvPr descr="{&quot;backgroundColor&quot;:&quot;#FFFFFF&quot;,&quot;aid&quot;:null,&quot;id&quot;:&quot;19&quot;,&quot;backgroundColorModified&quot;:false,&quot;type&quot;:&quot;lalign*&quot;,&quot;font&quot;:{&quot;size&quot;:12,&quot;color&quot;:&quot;#000000&quot;,&quot;family&quot;:&quot;Arial&quot;},&quot;code&quot;:&quot;\\begin{lalign*}\n&amp;{}\\\\\n&amp;{y_{1}=a_{11}x_{1}+a_{12}x_{2}+a_{13}x_{3}}\\\\\n&amp;{y_{2}=a_{21}x_{1}+a_{22}x_{2}+a_{23}x_{3}}\\\\\n&amp;{\\boldsymbol{y_{2\\times1}=A_{2\\times3}x_{3\\times1}}\\,}\\\\\n&amp;{\\pdf{y_{i}}{x_{j}}=a_{ij}}\\\\\n&amp;{\\text{So:}}\\\\\n&amp;{\\pdf{\\mathbf{y}}{\\boldsymbol{x}}=\\begin{pmatrix}\n{\\pdf{y_{1}}{x_{1}}}&amp;{\\pdf{y_{2}}{x_{1}}}\\\\\n{\\pdf{y_{1}}{x_{2}}}&amp;{\\pdf{y_{2}}{x_{2}}}\\\\\n{\\pdf{y_{1}}{x_{3}}}&amp;{\\pdf{y_{2}}{x_{3}}}\\\\\n\\end{pmatrix}=\\begin{pmatrix}\n{a_{11}}&amp;{a_{21}}\\\\\n{a_{12}}&amp;{a_{22}}\\\\\n{a_{13}}&amp;{a_{23}}\\\\\n\\end{pmatrix}=A^{T}}\t\n\\end{lalign*}&quot;,&quot;ts&quot;:1759696641698,&quot;cs&quot;:&quot;bBLcIshkfgSVARCjYAWgYQ==&quot;,&quot;size&quot;:{&quot;width&quot;:341.25000000000006,&quot;height&quot;:241.25}}" id="113" name="Google Shape;11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329" y="961797"/>
            <a:ext cx="3250406" cy="22979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/>
          <p:nvPr>
            <p:ph idx="4294967295" type="title"/>
          </p:nvPr>
        </p:nvSpPr>
        <p:spPr>
          <a:xfrm>
            <a:off x="259350" y="157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Chain Rule</a:t>
            </a:r>
            <a:endParaRPr/>
          </a:p>
        </p:txBody>
      </p:sp>
      <p:pic>
        <p:nvPicPr>
          <p:cNvPr descr="{&quot;backgroundColorModified&quot;:false,&quot;aid&quot;:null,&quot;backgroundColor&quot;:&quot;#FFFFFF&quot;,&quot;font&quot;:{&quot;family&quot;:&quot;Arial&quot;,&quot;size&quot;:7.5,&quot;color&quot;:&quot;#000000&quot;},&quot;type&quot;:&quot;gather*&quot;,&quot;code&quot;:&quot;\\begin{gather*}\n{\\text{In}\\;\\text{1D,}\\;\\text{if}\\;x\\to y\\to z,}\\\\\n{\\diff{z}{x}=\\diff{z}{y}\\diff{y}{x}=\\diff{y}{x}\\diff{z}{y}}\\\\\n{\\text{What}\\;\\text{if}\\;x,y,z\\;\\text{are}\\;\\text{vectors?}}\\\\\n{\\text{Usually}\\;\\text{I}\\;\\text{denote}\\;\\text{vectors}\\;\\text{in}\\;\\text{boldface}\\;\\text{or}\\;\\text{with}\\;\\text{an}\\;\\text{arrow}\\;\\text{above,}}\\\\\n{\\text{but}\\;\\text{I'll}\\;\\text{jus}\\text{t}\\;\\text{use}\\;\\text{plainface}\\;\\text{here..}}\\\\\n{\\text{Let}\\;y=Ax,\\,y:m\\times1,\\,A:m\\times n,x:n\\times1\\,}\\\\\n{z=By,\\,z:k\\times1,B:k\\times m}\\\\\n{\\text{We}\\;\\text{know}\\;\\text{that}\\;\\diff{z}{x}\\,\\text{should}\\;\\text{be}\\;n\\times k\\,\\left(\\text{denominator}\\;\\text{notation}\\right)}\\\\\n{\\text{Let's}\\;\\text{consider}\\;\\text{the}\\;ij^{th}\\text{element}\\;\\text{of}\\;\\diff{z}{x}}\\\\\n{\\left[\\diff{z}{x}\\right]_{ij}=\\diff{z_{j}}{x_{i}}}\\\\\n{z_{j\\,}\\text{is}\\;\\text{the}\\;j^{th}\\,\\text{row}\\;\\text{of}\\;\\text{B}\\;\\text{multiplied}\\;\\text{with}\\;y}\\\\\n{z_{j}=\\sum_{u=1}^{m}B_{ju}y_{u}}\\\\\n{y_{u}\\;\\text{is}\\;\\text{the}\\,u^{th}\\;\\text{row}\\;\\text{of}\\;\\text{A}\\;\\text{multiplied}\\;\\text{with}\\;x}\\\\\n{y_{u}=\\sum_{v=1}^{n}A_{uv}yx_{v}}\\\\\n{\\text{So,}\\;\\text{}}\\\\\n{z_{j}=\\sum_{u=1}^{m}B_{ju}\\sum_{v=1}^{n}A_{uv}x_{v}}\t\n\\end{gather*}&quot;,&quot;id&quot;:&quot;1&quot;,&quot;ts&quot;:1760013042156,&quot;cs&quot;:&quot;1izw6XvnV7aVPEK53ei9yQ==&quot;,&quot;size&quot;:{&quot;width&quot;:304.6666666666667,&quot;height&quot;:364.6666666666667}}" id="119" name="Google Shape;11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75" y="729950"/>
            <a:ext cx="3658751" cy="43793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color&quot;:&quot;#000000&quot;,&quot;size&quot;:9,&quot;family&quot;:&quot;Arial&quot;},&quot;aid&quot;:null,&quot;backgroundColor&quot;:&quot;#FFFFFF&quot;,&quot;code&quot;:&quot;\\begin{gather*}\n{\\text{We}\\;\\text{are}\\;\\text{only}\\;\\text{interested}\\;\\text{in}\\;\\text{derivative}\\;\\text{wrt}\\;x_{i}.\\,\\diff{x_{k}}{x_{i}}=1,\\,\\text{when}\\;i=k,\\,0\\,\\text{otherwise}}\\\\\n{\\text{So,}}\\\\\n{\\diff{z_{j}}{x_{i}}=\\sum_{u=1}^{m}B_{ju}A_{ui}=\\left(BA\\right)_{ji}=\\left(BA\\right)_{ij}^{T}}\\\\\n{\\text{So}}\\\\\n{\\text{}\\diff{z}{x}=\\left(BA\\right)^{T}=A^{T}B^{T}}\\\\\n{\\text{Since}\\,\\diff{y}{x}=A^{T},\\,\\,\\diff{z}{y}=B^{T},}\\\\\n{\\diff{z}{x}=\\diff{y}{x}\\diff{z}{y}\\neq\\diff{z}{y}\\diff{y}{x}!}\\\\\n{\\text{This}\\;\\text{can}\\;\\text{be}\\;\\text{extended..}\\text{so,}\\;\\text{if}\\;\\text{we}\\;\\text{have}}\\\\\n{x\\to y\\to z\\to w}\\\\\n{w=Cz,\\,z=By,\\,y=Ax}\\\\\n{\\diff{w}{x}=A^{T}B^{T}C^{T}=\\diff{y}{x}\\diff{z}{y}\\diff{w}{z}}\t\n\\end{gather*}&quot;,&quot;backgroundColorModified&quot;:false,&quot;type&quot;:&quot;gather*&quot;,&quot;id&quot;:&quot;2&quot;,&quot;ts&quot;:1760047949497,&quot;cs&quot;:&quot;pfm1ORnRdeXPL5Pyt4jBVg==&quot;,&quot;size&quot;:{&quot;width&quot;:474,&quot;height&quot;:308}}" id="120" name="Google Shape;12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51735" y="753138"/>
            <a:ext cx="4514850" cy="2933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9"/>
          <p:cNvSpPr txBox="1"/>
          <p:nvPr/>
        </p:nvSpPr>
        <p:spPr>
          <a:xfrm>
            <a:off x="2731100" y="4639325"/>
            <a:ext cx="157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verify_derivatives.py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idx="4294967295" type="title"/>
          </p:nvPr>
        </p:nvSpPr>
        <p:spPr>
          <a:xfrm>
            <a:off x="259350" y="157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Chain Rule</a:t>
            </a:r>
            <a:endParaRPr/>
          </a:p>
        </p:txBody>
      </p:sp>
      <p:pic>
        <p:nvPicPr>
          <p:cNvPr descr="{&quot;type&quot;:&quot;gather*&quot;,&quot;font&quot;:{&quot;size&quot;:9,&quot;family&quot;:&quot;Arial&quot;,&quot;color&quot;:&quot;#000000&quot;},&quot;backgroundColor&quot;:&quot;#FFFFFF&quot;,&quot;backgroundColorModified&quot;:false,&quot;code&quot;:&quot;\\begin{gather*}\n{x\\to y\\to z\\to w}\\\\\n{w=Cz,\\,z=By,\\,y=Ax}\\\\\n{\\diff{w}{x}=A^{T}B^{T}C^{T}=\\diff{y}{x}\\diff{z}{y}\\diff{w}{z}=\\diff{y}{x}\\diff{w}{y}}\t\n\\end{gather*}&quot;,&quot;aid&quot;:null,&quot;id&quot;:&quot;2&quot;,&quot;ts&quot;:1760212585837,&quot;cs&quot;:&quot;uo+7hTnm9PDjJZZCDW5ICQ==&quot;,&quot;size&quot;:{&quot;width&quot;:247.59999999999994,&quot;height&quot;:65.19999999999999}}" id="127" name="Google Shape;12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4910" y="1691719"/>
            <a:ext cx="2358390" cy="62103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0"/>
          <p:cNvSpPr txBox="1"/>
          <p:nvPr/>
        </p:nvSpPr>
        <p:spPr>
          <a:xfrm>
            <a:off x="382750" y="2406950"/>
            <a:ext cx="157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Derivative of network output wrt input to layer 1</a:t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129" name="Google Shape;12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8318" y="942450"/>
            <a:ext cx="2965675" cy="53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0"/>
          <p:cNvSpPr txBox="1"/>
          <p:nvPr/>
        </p:nvSpPr>
        <p:spPr>
          <a:xfrm>
            <a:off x="2222475" y="2571750"/>
            <a:ext cx="157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Derivative of layer 1 output wrt input</a:t>
            </a:r>
            <a:endParaRPr sz="1200">
              <a:solidFill>
                <a:schemeClr val="dk2"/>
              </a:solidFill>
            </a:endParaRPr>
          </a:p>
        </p:txBody>
      </p:sp>
      <p:cxnSp>
        <p:nvCxnSpPr>
          <p:cNvPr id="131" name="Google Shape;131;p20"/>
          <p:cNvCxnSpPr>
            <a:stCxn id="130" idx="0"/>
          </p:cNvCxnSpPr>
          <p:nvPr/>
        </p:nvCxnSpPr>
        <p:spPr>
          <a:xfrm flipH="1" rot="10800000">
            <a:off x="3008175" y="2343150"/>
            <a:ext cx="41700" cy="22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" name="Google Shape;132;p20"/>
          <p:cNvCxnSpPr/>
          <p:nvPr/>
        </p:nvCxnSpPr>
        <p:spPr>
          <a:xfrm rot="10800000">
            <a:off x="1125100" y="2314200"/>
            <a:ext cx="22500" cy="18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3" name="Google Shape;133;p20"/>
          <p:cNvSpPr txBox="1"/>
          <p:nvPr/>
        </p:nvSpPr>
        <p:spPr>
          <a:xfrm>
            <a:off x="6917250" y="1038275"/>
            <a:ext cx="140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Output of layer 1</a:t>
            </a:r>
            <a:endParaRPr i="1" sz="1200">
              <a:solidFill>
                <a:schemeClr val="dk2"/>
              </a:solidFill>
            </a:endParaRPr>
          </a:p>
        </p:txBody>
      </p:sp>
      <p:cxnSp>
        <p:nvCxnSpPr>
          <p:cNvPr id="134" name="Google Shape;134;p20"/>
          <p:cNvCxnSpPr/>
          <p:nvPr/>
        </p:nvCxnSpPr>
        <p:spPr>
          <a:xfrm rot="10800000">
            <a:off x="6697075" y="917325"/>
            <a:ext cx="312900" cy="22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{&quot;code&quot;:&quot;\\begin{gather*}\n{}\\\\\n{w=Cz,\\,z=By}\\\\\n{\\diff{w}{y}=B^{T}C^{T}=\\diff{z}{y}\\diff{w}{z}}\t\n\\end{gather*}&quot;,&quot;backgroundColorModified&quot;:false,&quot;id&quot;:&quot;2&quot;,&quot;backgroundColor&quot;:&quot;#FFFFFF&quot;,&quot;type&quot;:&quot;gather*&quot;,&quot;font&quot;:{&quot;color&quot;:&quot;#000000&quot;,&quot;family&quot;:&quot;Arial&quot;,&quot;size&quot;:9},&quot;aid&quot;:null,&quot;ts&quot;:1760214530460,&quot;cs&quot;:&quot;Hbh5j4CPBqfYcjEzzmnzuw==&quot;,&quot;size&quot;:{&quot;width&quot;:142.00000000000003,&quot;height&quot;:49.666666666666664}}" id="135" name="Google Shape;135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57586" y="3450444"/>
            <a:ext cx="1352550" cy="47307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0"/>
          <p:cNvSpPr txBox="1"/>
          <p:nvPr/>
        </p:nvSpPr>
        <p:spPr>
          <a:xfrm>
            <a:off x="326500" y="4223475"/>
            <a:ext cx="157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Derivative of network output wrt input to layer 2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37" name="Google Shape;137;p20"/>
          <p:cNvSpPr txBox="1"/>
          <p:nvPr/>
        </p:nvSpPr>
        <p:spPr>
          <a:xfrm>
            <a:off x="2166225" y="4388275"/>
            <a:ext cx="157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Derivative of layer 2 output wrt input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38" name="Google Shape;138;p20"/>
          <p:cNvSpPr txBox="1"/>
          <p:nvPr/>
        </p:nvSpPr>
        <p:spPr>
          <a:xfrm>
            <a:off x="3677700" y="3996925"/>
            <a:ext cx="3334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Derivative of network output wrt layer 2 output.. </a:t>
            </a:r>
            <a:r>
              <a:rPr i="1" lang="en" sz="1200">
                <a:solidFill>
                  <a:schemeClr val="dk2"/>
                </a:solidFill>
              </a:rPr>
              <a:t>Layer 1 doesn’t care how many layers are ahead of it!</a:t>
            </a:r>
            <a:endParaRPr i="1" sz="1200">
              <a:solidFill>
                <a:schemeClr val="dk2"/>
              </a:solidFill>
            </a:endParaRPr>
          </a:p>
        </p:txBody>
      </p:sp>
      <p:cxnSp>
        <p:nvCxnSpPr>
          <p:cNvPr id="139" name="Google Shape;139;p20"/>
          <p:cNvCxnSpPr/>
          <p:nvPr/>
        </p:nvCxnSpPr>
        <p:spPr>
          <a:xfrm flipH="1" rot="10800000">
            <a:off x="1305800" y="4001525"/>
            <a:ext cx="103200" cy="28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0" name="Google Shape;140;p20"/>
          <p:cNvCxnSpPr/>
          <p:nvPr/>
        </p:nvCxnSpPr>
        <p:spPr>
          <a:xfrm rot="10800000">
            <a:off x="2470100" y="4018925"/>
            <a:ext cx="266100" cy="42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" name="Google Shape;141;p20"/>
          <p:cNvCxnSpPr/>
          <p:nvPr/>
        </p:nvCxnSpPr>
        <p:spPr>
          <a:xfrm rot="10800000">
            <a:off x="2870250" y="3798650"/>
            <a:ext cx="1176600" cy="29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{&quot;aid&quot;:null,&quot;id&quot;:&quot;2&quot;,&quot;code&quot;:&quot;\\begin{gather*}\n{x\\to y\\to z\\to w}\\\\\n{w=Cz,\\,z=By,\\,y=Ax}\\\\\n{w=C\\left(B\\left(Ax\\right)\\right)}\t\n\\end{gather*}&quot;,&quot;type&quot;:&quot;gather*&quot;,&quot;backgroundColorModified&quot;:false,&quot;backgroundColor&quot;:&quot;#FFFFFF&quot;,&quot;font&quot;:{&quot;family&quot;:&quot;Arial&quot;,&quot;color&quot;:&quot;#000000&quot;,&quot;size&quot;:9},&quot;ts&quot;:1760214739561,&quot;cs&quot;:&quot;jfdMBI+jlJoBAjTmbnzP8A==&quot;,&quot;size&quot;:{&quot;width&quot;:149.66666666666666,&quot;height&quot;:47.333333333333336}}" id="142" name="Google Shape;142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57276" y="309597"/>
            <a:ext cx="1810862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0"/>
          <p:cNvSpPr txBox="1"/>
          <p:nvPr/>
        </p:nvSpPr>
        <p:spPr>
          <a:xfrm>
            <a:off x="3886350" y="2332800"/>
            <a:ext cx="3334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Derivative of network output wrt layer 1 output.. </a:t>
            </a:r>
            <a:r>
              <a:rPr i="1" lang="en" sz="1200">
                <a:solidFill>
                  <a:schemeClr val="dk2"/>
                </a:solidFill>
              </a:rPr>
              <a:t>Layer 1 doesn’t care how many layers are ahead of it!</a:t>
            </a:r>
            <a:endParaRPr i="1" sz="1200">
              <a:solidFill>
                <a:schemeClr val="dk2"/>
              </a:solidFill>
            </a:endParaRPr>
          </a:p>
        </p:txBody>
      </p:sp>
      <p:sp>
        <p:nvSpPr>
          <p:cNvPr id="144" name="Google Shape;144;p20"/>
          <p:cNvSpPr/>
          <p:nvPr/>
        </p:nvSpPr>
        <p:spPr>
          <a:xfrm rot="-5400000">
            <a:off x="6491275" y="763500"/>
            <a:ext cx="87000" cy="3246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0"/>
          <p:cNvSpPr/>
          <p:nvPr/>
        </p:nvSpPr>
        <p:spPr>
          <a:xfrm rot="-5400000">
            <a:off x="6406300" y="746150"/>
            <a:ext cx="119400" cy="5118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0"/>
          <p:cNvSpPr txBox="1"/>
          <p:nvPr/>
        </p:nvSpPr>
        <p:spPr>
          <a:xfrm>
            <a:off x="5257275" y="1167475"/>
            <a:ext cx="140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Output of layer 2</a:t>
            </a:r>
            <a:endParaRPr i="1" sz="1200">
              <a:solidFill>
                <a:schemeClr val="dk2"/>
              </a:solidFill>
            </a:endParaRPr>
          </a:p>
        </p:txBody>
      </p:sp>
      <p:cxnSp>
        <p:nvCxnSpPr>
          <p:cNvPr id="147" name="Google Shape;147;p20"/>
          <p:cNvCxnSpPr>
            <a:endCxn id="145" idx="1"/>
          </p:cNvCxnSpPr>
          <p:nvPr/>
        </p:nvCxnSpPr>
        <p:spPr>
          <a:xfrm flipH="1" rot="10800000">
            <a:off x="6070900" y="1061750"/>
            <a:ext cx="395100" cy="174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1"/>
          <p:cNvSpPr txBox="1"/>
          <p:nvPr>
            <p:ph idx="4294967295" type="title"/>
          </p:nvPr>
        </p:nvSpPr>
        <p:spPr>
          <a:xfrm>
            <a:off x="259350" y="157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more Examples..</a:t>
            </a:r>
            <a:endParaRPr/>
          </a:p>
        </p:txBody>
      </p:sp>
      <p:pic>
        <p:nvPicPr>
          <p:cNvPr descr="{&quot;id&quot;:&quot;3&quot;,&quot;backgroundColorModified&quot;:false,&quot;font&quot;:{&quot;family&quot;:&quot;Arial&quot;,&quot;size&quot;:12,&quot;color&quot;:&quot;#000000&quot;},&quot;code&quot;:&quot;\\begin{gather*}\n{\\text{Example}\\;\\text{2}}\\\\\n{y=x^{T}A\\,\\,\\,x:n\\times1,\\,A:n\\times m,\\,y:1\\times m\\,}\\\\\n{\\diff{y}{x}:\\,m\\times n\\,\\text{matrix}\\;\\text{in}\\;\\text{denominator}\\;\\text{notation}}\\\\\n{y_{k}=\\sum_{i=1}^{n}x_{i}A_{ik}}\\\\\n{\\pdf{y_{k}}{x_{i}}=A_{ik}}\\\\\n{\\text{So,}\\;\\diff{y}{x}=A}\t\n\\end{gather*}&quot;,&quot;aid&quot;:null,&quot;backgroundColor&quot;:&quot;#FFFFFF&quot;,&quot;type&quot;:&quot;gather*&quot;,&quot;ts&quot;:1760059085957,&quot;cs&quot;:&quot;gh9SqQGpk/5MtrX5xnpwaQ==&quot;,&quot;size&quot;:{&quot;width&quot;:358,&quot;height&quot;:239.66666666666666}}" id="153" name="Google Shape;15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375" y="823213"/>
            <a:ext cx="3409950" cy="2282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\\begin{gather*}\n{\\text{Example}\\;\\text{3:}}\\\\\n{y=x^{T}Ax\\,\\,A:\\,m\\times m,\\,x:m\\times1,\\,y:\\,1\\times1}\\\\\n{\\text{This}\\;\\text{is}\\;\\text{called}\\;\\text{the}\\;\\text{\&quot;quadratic}\\;\\text{form\&quot;}}\\\\\n{\\text{Let}\\;\\text{m=2}}\\\\\n{y=\\begin{pmatrix}\n{x_{1}}&amp;{x_{2}}\\\\\n\\end{pmatrix}\\begin{pmatrix}\n{a_{11}}&amp;{a_{12}}\\\\\n{a_{21}}&amp;{a_{22}}\\\\\n\\end{pmatrix}\\begin{pmatrix}\n{x_{1}}\\\\\n{x_{2}}\\\\\n\\end{pmatrix}}\\\\\n{y=x_{1}\\left(a_{11}x_{1}+a_{12}x_{2}\\right)+x_{2}\\left(a_{21}x_{1}+a_{22}x_{2}\\right)}\\\\\n{=a_{11}x_{1}^{2}+a_{12}x_{1}x_{2}+a_{21}x_{2}x_{1}+a_{22}x_{2}^{2}}\\\\\n{\\pdf{y}{x_{1}}=2a_{11}x_{1}+a_{12}x_{2}+a_{21}x_{2}=\\left(2a_{11},a_{12}+a_{21}\\right)\\left(x_{1},x_{2}\\right)^{T}}\\\\\n{\\pdf{y}{x_{2}}=2a_{22}x_{2}+a_{21}x_{1}+a_{12}x_{1}=\\left(2a_{22},a_{12}+a_{21}\\right)\\left(x_{1},x_{2}\\right)^{T}}\\\\\n{\\text{combining}\\;\\text{the}\\;\\text{two:}}\\\\\n{\\begin{pmatrix}\n{\\pdf{y}{x_{1}}}\\\\\n{\\pdf{y}{x_{2}}}\\\\\n\\end{pmatrix}=\\begin{pmatrix}\n{2a_{11}}&amp;{a_{12}+a_{21}}\\\\\n{a_{21}+a_{21}}&amp;{2a_{22}}\\\\\n\\end{pmatrix}\\begin{pmatrix}\n{x_{1}}\\\\\n{x_{2}}\\\\\n\\end{pmatrix}}\\\\\n{=\\begin{pmatrix}\n{a_{11}}&amp;{a_{12}}\\\\\n{a_{21}}&amp;{a_{22}}\\\\\n\\end{pmatrix}\\begin{pmatrix}\n{x_{1}}\\\\\n{x_{2}}\\\\\n\\end{pmatrix}+\\begin{pmatrix}\n{a_{11}}&amp;{a_{21}}\\\\\n{a_{12}}&amp;{a_{22}}\\\\\n\\end{pmatrix}\\begin{pmatrix}\n{x_{1}}\\\\\n{x_{2}}\\\\\n\\end{pmatrix}}\\\\\n{=\\left(A+A^{T}\\right)x}\\\\\n{\\text{This}\\;\\text{result}\\;\\text{holds}\\;\\text{in}\\;\\text{dimensions}\\;\\text{&gt;}\\;\\text{2}\\;\\text{also}}\\\\\n{\\text{Note:}\\;\\text{because}\\;y\\;\\text{is}\\;\\text{a}\\;\\text{scalar,}\\;\\left(x^{T}Ax\\right)^{T}=x^{T}Ax\\,}\t\n\\end{gather*}&quot;,&quot;backgroundColor&quot;:&quot;#FFFFFF&quot;,&quot;type&quot;:&quot;gather*&quot;,&quot;aid&quot;:null,&quot;font&quot;:{&quot;color&quot;:&quot;#000000&quot;,&quot;size&quot;:12,&quot;family&quot;:&quot;Arial&quot;},&quot;backgroundColorModified&quot;:false,&quot;id&quot;:&quot;4&quot;,&quot;ts&quot;:1760222612896,&quot;cs&quot;:&quot;ZL8a2rl/1OzKWGEm7olKDA==&quot;,&quot;size&quot;:{&quot;width&quot;:472.49999999999994,&quot;height&quot;:519}}" id="154" name="Google Shape;15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276700"/>
            <a:ext cx="4433475" cy="4869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2"/>
          <p:cNvSpPr txBox="1"/>
          <p:nvPr>
            <p:ph idx="4294967295" type="title"/>
          </p:nvPr>
        </p:nvSpPr>
        <p:spPr>
          <a:xfrm>
            <a:off x="259350" y="157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Using this math to simplify linear regression..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2"/>
          <p:cNvSpPr txBox="1"/>
          <p:nvPr/>
        </p:nvSpPr>
        <p:spPr>
          <a:xfrm>
            <a:off x="381450" y="806388"/>
            <a:ext cx="30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1" name="Google Shape;161;p22"/>
          <p:cNvSpPr txBox="1"/>
          <p:nvPr/>
        </p:nvSpPr>
        <p:spPr>
          <a:xfrm>
            <a:off x="579775" y="4740375"/>
            <a:ext cx="542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Code: linear_regression.py in code for lecture 1.3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descr="{&quot;backgroundColor&quot;:&quot;#FFFFFF&quot;,&quot;code&quot;:&quot;\\begin{gather*}\n{\\text{We}\\;\\text{have}\\;n\\,\\text{noisy}\\;\\text{points}\\;\\text{(}x_{i},\\hat{y_{i}}\\text{)}}\\\\\n{\\text{We}\\;\\text{want}\\;\\text{t}\\text{o}\\;\\text{find}\\;\\text{the}\\;\\text{coefficients}\\;\\text{of}\\;\\text{a}\\;\\text{linear}\\;\\text{equation}\\;\\text{that}}\\\\\n{\\text{best}\\;\\text{fits}\\;\\text{these}\\;\\text{points.}\\;\\text{Let}\\;\\text{the}\\;\\text{coefficients}\\;\\text{be}\\;a,b}\\\\\n{\\text{Our}\\;\\text{estimated}\\;\\text{points}\\;y_{i}=ax_{i}+b=\\left(x_{i},1\\right)\\begin{pmatrix}\n{a}\\\\\n{b}\\\\\n\\end{pmatrix}}\\\\\n{\\text{We}\\;\\text{want}\\;\\text{to}\\;\\text{minimize}}\\\\\n{L=\\sum_{i=1}^{n}\\left(y_{i}-\\hat{y_{i}}\\right)^{2}}\\\\\n{\\text{Let's}\\;\\text{stack}\\;\\text{the}\\;\\text{points}\\;\\text{row-wise}}\\\\\n{Y_{n\\times1}=\\begin{pmatrix}\n{y_{1}-\\hat{y_{1}}}\\\\\n{y_{2}-\\hat{y_{2}}}\\\\\n{\\vdots}\\\\\n{y_{n}-\\hat{y_{n}}}\\\\\n\\end{pmatrix}=\\begin{pmatrix}\n{x_{1}}&amp;{1}\\\\\n{x_{2}}&amp;{1}\\\\\n{\\vdots}&amp;{\\vdots}\\\\\n{x_{n}}&amp;{1}\\\\\n\\end{pmatrix}\\begin{pmatrix}\n{a}\\\\\n{b}\\\\\n\\end{pmatrix}-\\begin{pmatrix}\n{\\hat{y_{1}}}\\\\\n{\\hat{y_{2}}}\\\\\n{\\vdots}\\\\\n{\\hat{y_{n}}}\\\\\n\\end{pmatrix}}\\\\\n{X_{n\\times2}=\\begin{pmatrix}\n{x_{1}}&amp;{1}\\\\\n{x_{2}}&amp;{1}\\\\\n{\\vdots}&amp;{\\vdots}\\\\\n{x_{n}}&amp;{1}\\\\\n\\end{pmatrix},\\,\\hat{Y}=\\begin{pmatrix}\n{\\hat{y_{1}}}\\\\\n{\\hat{y_{2}}}\\\\\n{\\vdots}\\\\\n{\\hat{y_{n}}}\\\\\n\\end{pmatrix},A_{2\\times1}=\\begin{pmatrix}\n{a}\\\\\n{b}\\\\\n\\end{pmatrix}}\\\\\n{L=Y^{T}Y=\\left(XA-\\hat{Y}\\right)^{T}\\left(XA-\\hat{Y}\\right)}\t\n\\end{gather*}&quot;,&quot;id&quot;:&quot;6&quot;,&quot;backgroundColorModified&quot;:false,&quot;type&quot;:&quot;gather*&quot;,&quot;aid&quot;:null,&quot;font&quot;:{&quot;family&quot;:&quot;Arial&quot;,&quot;size&quot;:9,&quot;color&quot;:&quot;#000000&quot;},&quot;ts&quot;:1760193963415,&quot;cs&quot;:&quot;boJFuggCUFCoTZZ4dWScaQ==&quot;,&quot;size&quot;:{&quot;width&quot;:344.3333333333333,&quot;height&quot;:377.3333333333333}}" id="162" name="Google Shape;16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8800" y="859881"/>
            <a:ext cx="3279775" cy="3594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backgroundColor&quot;:&quot;#FFFFFF&quot;,&quot;id&quot;:&quot;6&quot;,&quot;backgroundColorModified&quot;:false,&quot;font&quot;:{&quot;size&quot;:10,&quot;color&quot;:&quot;#000000&quot;,&quot;family&quot;:&quot;Arial&quot;},&quot;code&quot;:&quot;\\begin{gather*}\n{L=\\left(XA-\\hat{Y}\\right)^{T}\\left(XA-\\hat{Y}\\right)}\\\\\n{\\pdf{L}{A}=\\pdf{\\left(A^{T}X^{T}XA-A^{T}X^{T}\\hat{Y}-\\hat{Y}^{T}XA+\\hat{Y}^{T}\\hat{Y}\\right)}{A}}\\\\\n{=\\pdf{A^{T}X^{T}XA}{A}-2\\pdf{\\hat{Y}^{T}XA}{A}\\,}\\\\\n{\\because A^{T}X^{T}\\hat{Y}\\left(\\text{a}\\;\\text{scalar}\\right)=\\left(A^{T}X^{T}\\hat{Y}\\right)^{T}=\\hat{Y}^{T}XA}\\\\\n{\\pdf{L}{A}=X^{T}XA+\\left(X^{T}X\\right)^{T}A-2X^{T}\\hat{Y}}\\\\\n{\\text{Setting}\\;\\pdf{L}{A}=0,}\\\\\n{2X^{T}XA-2X^{T}\\hat{Y}=0}\\\\\n{A=\\left(X^{T}X\\right)^{-1}X^{T}\\hat{Y}}\t\n\\end{gather*}&quot;,&quot;type&quot;:&quot;gather*&quot;,&quot;ts&quot;:1760194197674,&quot;cs&quot;:&quot;p26CkvgIyxE+AeWFpCTUWg==&quot;,&quot;size&quot;:{&quot;width&quot;:345,&quot;height&quot;:288.75}}" id="163" name="Google Shape;16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17835" y="1453501"/>
            <a:ext cx="3286125" cy="27503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3"/>
          <p:cNvSpPr txBox="1"/>
          <p:nvPr>
            <p:ph idx="4294967295" type="title"/>
          </p:nvPr>
        </p:nvSpPr>
        <p:spPr>
          <a:xfrm>
            <a:off x="259350" y="157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Limits of linear regression.. </a:t>
            </a:r>
            <a:endParaRPr/>
          </a:p>
        </p:txBody>
      </p:sp>
      <p:sp>
        <p:nvSpPr>
          <p:cNvPr id="169" name="Google Shape;169;p23"/>
          <p:cNvSpPr txBox="1"/>
          <p:nvPr/>
        </p:nvSpPr>
        <p:spPr>
          <a:xfrm>
            <a:off x="381450" y="806388"/>
            <a:ext cx="30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70" name="Google Shape;17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1575" y="857825"/>
            <a:ext cx="4887849" cy="3614549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3"/>
          <p:cNvSpPr txBox="1"/>
          <p:nvPr/>
        </p:nvSpPr>
        <p:spPr>
          <a:xfrm>
            <a:off x="283225" y="1082575"/>
            <a:ext cx="3726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Trying to fit a linear function to points around a quadratic function will naturally result in higher errors..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4"/>
          <p:cNvSpPr txBox="1"/>
          <p:nvPr>
            <p:ph idx="4294967295" type="title"/>
          </p:nvPr>
        </p:nvSpPr>
        <p:spPr>
          <a:xfrm>
            <a:off x="259350" y="157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Derivative of a vector against a matrix</a:t>
            </a:r>
            <a:endParaRPr/>
          </a:p>
        </p:txBody>
      </p:sp>
      <p:sp>
        <p:nvSpPr>
          <p:cNvPr id="177" name="Google Shape;177;p24"/>
          <p:cNvSpPr txBox="1"/>
          <p:nvPr/>
        </p:nvSpPr>
        <p:spPr>
          <a:xfrm>
            <a:off x="381450" y="806388"/>
            <a:ext cx="30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{&quot;type&quot;:&quot;gather*&quot;,&quot;aid&quot;:null,&quot;backgroundColor&quot;:&quot;#FFFFFF&quot;,&quot;id&quot;:&quot;7&quot;,&quot;font&quot;:{&quot;size&quot;:10,&quot;color&quot;:&quot;#595959&quot;,&quot;family&quot;:&quot;Arial&quot;},&quot;code&quot;:&quot;\\begin{gather*}\n{y=Ax,\\,x:m\\times1,\\,A:\\,n\\times m,\\,y:\\,n\\times1}\\\\\n{\\text{We}\\,\\text{know}\\;\\text{that}}\\\\\n{\\diff{y}{x}=A^{T}}\\\\\n{\\text{What}\\;\\text{about}\\;\\diff{y}{W}?}\\\\\n{\\text{This}\\;\\text{is}\\;\\text{a}\\;\\text{derivative}\\;\\text{of}\\;\\text{a}\\;\\text{vector}\\;\\text{against}\\;\\text{a}\\;\\text{matrix},\\,\\text{which}\\;\\text{is}\\;\\text{a}\\;\\text{hard}\\;\\text{concept}\\;\\text{to}\\;\\text{think}\\;\\text{about}.}\\\\\n{\\text{But..}\\;\\text{if}\\;\\text{we}\\;\\text{add}\\;\\text{a}\\;\\text{function}\\;\\text{that}\\;\\text{maps}\\;\\text{the}\\;\\text{vector}\\,\\text{to}\\;\\text{a}\\;\\text{scalar,}\\;\\text{then}\\;\\text{the}\\;\\text{derivative}\\;\\text{becomes}\\;\\text{tractable..}}\\\\\n{x\\to y=Ax\\to v=f\\left(y\\right)}\\\\\n{\\text{Here}\\;v\\,\\text{is}\\;\\text{a}\\;\\text{scalar..}}\\\\\n{\\text{Now}\\;\\text{we}\\;\\text{can}\\;\\text{calculate}\\;\\diff{v}{A},\\,\\text{a}\\;\\text{matrix}\\;\\text{with}\\;\\text{the}\\;\\text{same}\\;\\text{dimension}\\;\\text{as}\\;A}\t\n\\end{gather*}&quot;,&quot;backgroundColorModified&quot;:false,&quot;ts&quot;:1760223512959,&quot;cs&quot;:&quot;CUiisz3z3r6qsdC/5GOGwA==&quot;,&quot;size&quot;:{&quot;width&quot;:662,&quot;height&quot;:228}}" id="178" name="Google Shape;17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750" y="806400"/>
            <a:ext cx="8047073" cy="27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5"/>
          <p:cNvSpPr txBox="1"/>
          <p:nvPr>
            <p:ph idx="4294967295" type="title"/>
          </p:nvPr>
        </p:nvSpPr>
        <p:spPr>
          <a:xfrm>
            <a:off x="259350" y="157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Derivative of a vector against a matrix</a:t>
            </a:r>
            <a:endParaRPr/>
          </a:p>
        </p:txBody>
      </p:sp>
      <p:sp>
        <p:nvSpPr>
          <p:cNvPr id="184" name="Google Shape;184;p25"/>
          <p:cNvSpPr txBox="1"/>
          <p:nvPr/>
        </p:nvSpPr>
        <p:spPr>
          <a:xfrm>
            <a:off x="381450" y="806388"/>
            <a:ext cx="30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{&quot;aid&quot;:null,&quot;code&quot;:&quot;\\begin{gather*}\n{\\text{Let's}\\;\\text{consider}\\;\\text{the}\\;ij^{th}\\;\\text{element}\\;\\text{of}\\;\\diff{v}{A},\\,\\text{i.e.,}\\;\\diff{v}{A_{ij}}}\\\\\n{\\text{Now}\\;\\text{we}\\;\\text{have}\\;\\text{a}\\;\\text{chain..}}\\\\\n{A_{ij}\\to y\\to v,\\,\\text{here}\\;y\\,\\;\\text{is}\\;\\text{a}\\;\\text{vector}}\\\\\n{\\text{Now..}}\\\\\n{y_{i}=\\sum_{j=1}^{m}A_{ij}x_{j}}\\\\\n{\\text{Since}\\;\\text{each}\\;\\text{element}\\;\\text{of}\\;y\\,\\;\\text{is}\\;\\text{the}\\;\\text{corresponding}\\,\\text{row}\\;\\text{of}\\;\\text{A}\\;\\text{multiplied}\\;\\text{with}\\;x,\\,}\\\\\n{\\text{and}\\;\\text{other}\\;\\text{rows}\\;\\text{of}\\;\\text{A}\\,\\text{don't}\\;\\text{affect}\\;y_{i},\\,\\text{the}\\;\\text{chain}\\;\\text{above}\\;\\text{becomes}\\;\\text{a}\\;\\text{scalar}\\;\\text{chain..}\\text{}}\\\\\n{A_{ij}\\to y_{i}\\to v}\\\\\n{\\text{Now}\\;\\text{we}\\;\\text{can}\\;\\text{apply}\\;\\text{the}\\;\\text{chain}\\;\\text{rule..}}\\\\\n{\\diff{v}{A_{ij}}=\\diff{v}{y_{i}}\\diff{y_{i}}{A_{ij}}=\\diff{v}{y_{i}}\\diff{\\sum_{j=1}^{m}A_{ij}x_{j}}{A_{ij}}=\\diff{v}{y_{i}}x_{j}}\\\\\n{\\text{So..}\\;\\diff{v}{A}\\,\\text{becomes}\\;\\text{the}\\;\\text{outer}\\;\\text{product}\\;\\text{of}\\;\\text{the}\\;\\text{vectors}\\;\\diff{v}{y}\\,\\text{and}\\;x!}\\\\\n{\\diff{v}{A}=\\diff{v}{y}x^{T}\\,\\text{}}\\\\\n{\\text{Verify}\\;\\text{that}\\;\\text{the}\\;\\text{dimensions}\\;\\text{work}\\;\\text{out!}}\t\n\\end{gather*}&quot;,&quot;font&quot;:{&quot;size&quot;:10.5,&quot;family&quot;:&quot;Arial&quot;,&quot;color&quot;:&quot;#000000&quot;},&quot;backgroundColorModified&quot;:false,&quot;backgroundColor&quot;:&quot;#FFFFFF&quot;,&quot;type&quot;:&quot;gather*&quot;,&quot;id&quot;:&quot;8&quot;,&quot;ts&quot;:1760275413561,&quot;cs&quot;:&quot;Slu0SnbJfaPIp94v4raG1w==&quot;,&quot;size&quot;:{&quot;width&quot;:582.2808456692914,&quot;height&quot;:428.3019128608924}}" id="185" name="Google Shape;18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150" y="806400"/>
            <a:ext cx="5546225" cy="4079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6"/>
          <p:cNvSpPr txBox="1"/>
          <p:nvPr>
            <p:ph idx="4294967295" type="title"/>
          </p:nvPr>
        </p:nvSpPr>
        <p:spPr>
          <a:xfrm>
            <a:off x="259350" y="157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Derivative of a vector against a matrix</a:t>
            </a:r>
            <a:endParaRPr/>
          </a:p>
        </p:txBody>
      </p:sp>
      <p:sp>
        <p:nvSpPr>
          <p:cNvPr id="191" name="Google Shape;191;p26"/>
          <p:cNvSpPr txBox="1"/>
          <p:nvPr/>
        </p:nvSpPr>
        <p:spPr>
          <a:xfrm>
            <a:off x="381450" y="806388"/>
            <a:ext cx="30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{&quot;id&quot;:&quot;9&quot;,&quot;backgroundColor&quot;:&quot;#FFFFFF&quot;,&quot;code&quot;:&quot;\\begin{gather*}\n{\\text{Now}\\;\\text{let's}\\;\\text{add}\\;\\text{another}\\;\\text{layer}\\;\\text{in}\\;\\text{front..}}\\\\\n{x\\to A\\to y\\to B\\to u\\to f\\to v}\\\\\n{\\text{As}\\;\\text{before,}\\;x:\\,m\\times1,\\,A:\\,n\\times m.\\,B:\\,k\\times n}\\\\\n{\\text{From}\\;\\text{before,}}\\\\\n{\\diff{v}{B}=\\diff{v}{u}y^{T},\\diff{v}{y}=B^{T}\\diff{v}{u}}\\\\\n{\\text{And}}\\\\\n{\\diff{v}{A}=\\diff{v}{y}x^{T}}\\\\\n{\\text{We}\\;\\text{can}\\;\\text{think}\\;\\text{of}\\;\\text{this}\\;\\text{as}\\;\\text{a}\\;2\\,\\text{layer}\\;\\text{network,}\\;\\text{where}\\;\\text{the}\\;\\text{parameters}\\;\\text{of}\\;\\text{each}\\;\\text{layer}\\;\\text{are}\\;\\text{A}\\;\\text{and}\\;\\text{B}}\\\\\n{x\\,\\text{is}\\;\\text{the}\\;\\text{input}\\;\\text{to}\\;\\text{layer}\\;\\text{1,}\\;\\text{and}\\;y\\,\\text{is}\\;\\text{the}\\;\\text{output.}\\;\\text{}}\\\\\n{y\\,\\,\\text{is}\\;\\text{the}\\;\\text{input}\\;\\text{to}\\;\\text{layer}\\;\\text{2.}\\;\\text{Output}\\;\\text{of}\\;\\text{layer}\\;\\text{2},\\,u\\;\\text{goes}\\;\\text{into}\\;\\text{function}\\;f\\,\\text{that}\\;\\text{produces}\\;\\text{a}\\;\\text{scalar}\\;\\text{value}\\;v}\\\\\n{\\text{Layer}\\;\\text{2}\\;\\text{calculates}\\;\\text{the}\\;\\text{gradient}\\;\\text{of}\\;\\text{the}\\;\\text{final}\\;\\text{output}\\;v\\,\\text{wrt}\\;\\text{its}\\;\\text{parameters}\\;B}\\\\\n{\\text{It}\\;\\text{also}\\;\\text{calculates}\\;\\text{the}\\;\\text{gradient}\\;\\text{wrt}\\;\\text{its}\\;\\text{input,}\\;\\text{which}\\;\\text{is}\\;backpropagated\\,\\text{to}\\;\\text{the}\\;\\text{previous}\\;\\text{layer}}\\\\\n{\\text{which}\\;\\text{uses}\\;\\text{it}\\;\\text{to}\\;\\text{calculate}\\;\\text{the}\\;\\text{gradient}\\;\\text{wrt}\\;\\text{its}\\;\\text{parameters}\\;\\text{and}\\;\\text{input..}\\;\\text{}}\t\n\\end{gather*}&quot;,&quot;font&quot;:{&quot;family&quot;:&quot;Arial&quot;,&quot;color&quot;:&quot;#000000&quot;,&quot;size&quot;:10.5},&quot;type&quot;:&quot;gather*&quot;,&quot;aid&quot;:null,&quot;backgroundColorModified&quot;:false,&quot;ts&quot;:1760276974089,&quot;cs&quot;:&quot;w4DnoI+cLB2zQV5+266eWQ==&quot;,&quot;size&quot;:{&quot;width&quot;:677,&quot;height&quot;:313}}" id="192" name="Google Shape;19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450" y="884175"/>
            <a:ext cx="6979051" cy="3226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6"/>
          <p:cNvSpPr txBox="1"/>
          <p:nvPr/>
        </p:nvSpPr>
        <p:spPr>
          <a:xfrm>
            <a:off x="579775" y="4740375"/>
            <a:ext cx="542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Code: 2_layer_network_derivatives.py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7"/>
          <p:cNvSpPr txBox="1"/>
          <p:nvPr>
            <p:ph idx="4294967295" type="title"/>
          </p:nvPr>
        </p:nvSpPr>
        <p:spPr>
          <a:xfrm>
            <a:off x="259350" y="157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Derivative of a vector against a matrix</a:t>
            </a:r>
            <a:endParaRPr/>
          </a:p>
        </p:txBody>
      </p:sp>
      <p:sp>
        <p:nvSpPr>
          <p:cNvPr id="199" name="Google Shape;199;p27"/>
          <p:cNvSpPr txBox="1"/>
          <p:nvPr/>
        </p:nvSpPr>
        <p:spPr>
          <a:xfrm>
            <a:off x="381450" y="806388"/>
            <a:ext cx="30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{&quot;aid&quot;:null,&quot;code&quot;:&quot;\\begin{gather*}\n{\\text{Let's}\\;\\text{consider}\\;\\text{the}\\;ij^{th}\\;\\text{element}\\;\\text{of}\\;\\diff{v}{A},\\,\\text{i.e.,}\\;\\diff{v}{A_{ij}}}\\\\\n{\\text{Now}\\;\\text{we}\\;\\text{have}\\;\\text{a}\\;\\text{chain..}}\\\\\n{A_{ij}\\to y\\to v,\\,\\text{here}\\;y\\,\\;\\text{is}\\;\\text{a}\\;\\text{vector}}\\\\\n{\\text{Now..}}\\\\\n{y_{i}=\\sum_{j=1}^{m}A_{ij}x_{j}}\\\\\n{\\text{Since}\\;\\text{each}\\;\\text{element}\\;\\text{of}\\;y\\,\\;\\text{is}\\;\\text{the}\\;\\text{corresponding}\\,\\text{row}\\;\\text{of}\\;\\text{A}\\;\\text{multiplied}\\;\\text{with}\\;x,\\,}\\\\\n{\\text{and}\\;\\text{other}\\;\\text{rows}\\;\\text{of}\\;\\text{A}\\,\\text{don't}\\;\\text{affect}\\;y_{i},\\,\\text{the}\\;\\text{chain}\\;\\text{above}\\;\\text{becomes}\\;\\text{a}\\;\\text{scalar}\\;\\text{chain..}\\text{}}\\\\\n{A_{ij}\\to y_{i}\\to v}\\\\\n{\\text{Now}\\;\\text{we}\\;\\text{can}\\;\\text{apply}\\;\\text{the}\\;\\text{chain}\\;\\text{rule..}}\\\\\n{\\diff{v}{A_{ij}}=\\diff{v}{y_{i}}\\diff{y_{i}}{A_{ij}}=\\diff{v}{y_{i}}\\diff{\\sum_{j=1}^{m}A_{ij}x_{j}}{A_{ij}}=\\diff{v}{y_{i}}x_{j}}\\\\\n{\\text{So..}\\;\\diff{v}{A}\\,\\text{becomes}\\;\\text{the}\\;\\text{outer}\\;\\text{product}\\;\\text{of}\\;\\text{the}\\;\\text{vectors}\\;\\diff{v}{y}\\,\\text{and}\\;x!}\\\\\n{\\diff{v}{A}=\\diff{v}{y}x^{T}\\,\\text{}}\\\\\n{\\text{Verify}\\;\\text{that}\\;\\text{the}\\;\\text{dimensions}\\;\\text{work}\\;\\text{out!}}\t\n\\end{gather*}&quot;,&quot;font&quot;:{&quot;size&quot;:10.5,&quot;family&quot;:&quot;Arial&quot;,&quot;color&quot;:&quot;#000000&quot;},&quot;backgroundColorModified&quot;:false,&quot;backgroundColor&quot;:&quot;#FFFFFF&quot;,&quot;type&quot;:&quot;gather*&quot;,&quot;id&quot;:&quot;8&quot;,&quot;ts&quot;:1760275169609,&quot;cs&quot;:&quot;l2j0dH2bjN2hjF9nIGzL3Q==&quot;,&quot;size&quot;:{&quot;width&quot;:557.3779509186352,&quot;height&quot;:409.9841679790026}}" id="200" name="Google Shape;20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150" y="806400"/>
            <a:ext cx="5546225" cy="40795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9&quot;,&quot;backgroundColor&quot;:&quot;#FFFFFF&quot;,&quot;code&quot;:&quot;\\begin{gather*}\n{\\text{Now}\\;\\text{let's}\\;\\text{add}\\;\\text{another}\\;\\text{layer}\\;\\text{in}\\;\\text{front..}}\\\\\n{x\\to A\\to y\\to B\\to u\\to f\\to v}\\\\\n{\\text{As}\\;\\text{before,}\\;x:\\,m\\times1,\\,A:\\,n\\times m.\\,B:\\,k\\times n}\\\\\n{\\text{From}\\;\\text{before,}}\\\\\n{\\diff{v}{B}=\\diff{v}{u}y^{T},\\diff{v}{y}=B^{T}\\diff{v}{u}}\\\\\n{\\text{And}}\\\\\n{\\diff{v}{A}=\\diff{v}{y}x^{T}}\\\\\n{\\text{We}\\;\\text{can}\\;\\text{think}\\;\\text{of}\\;\\text{this}\\;\\text{as}\\;\\text{a}\\;2\\,\\text{layer}\\;\\text{network,}\\;\\text{where}\\;\\text{the}\\;\\text{parameters}\\;\\text{of}\\;\\text{each}\\;\\text{layer}\\;\\text{are}\\;\\text{A}\\;\\text{and}\\;\\text{B}}\\\\\n{x\\,\\text{is}\\;\\text{the}\\;\\text{input}\\;\\text{to}\\;\\text{layer}\\;\\text{1,}\\;\\text{and}\\;y\\,\\text{is}\\;\\text{the}\\;\\text{output.}\\;\\text{}}\\\\\n{y\\,\\,\\text{is}\\;\\text{the}\\;\\text{input}\\;\\text{to}\\;\\text{layer}\\;\\text{2.}\\;\\text{Output}\\;\\text{of}\\;\\text{layer}\\;\\text{2},\\,u\\;\\text{goes}\\;\\text{into}\\;\\text{function}\\;f\\,\\text{that}\\;\\text{produces}\\;\\text{a}\\;\\text{scalar}\\;\\text{value}\\;v}\\\\\n{\\text{Layer}\\;\\text{2}\\;\\text{calculates}\\;\\text{the}\\;\\text{gradient}\\;\\text{of}\\;\\text{the}\\;\\text{final}\\;\\text{output}\\;v\\,\\text{wrt}\\;\\text{its}\\;\\text{parameters}\\;B}\\\\\n{\\text{It}\\;\\text{also}\\;\\text{calculates}\\;\\text{the}\\;\\text{gradient}\\;\\text{wrt}\\;\\text{its}\\;\\text{input,}\\;\\text{which}\\;\\text{is}\\;backpropagated\\,\\text{to}\\;\\text{the}\\;\\text{previous}\\;\\text{layer}}\\\\\n{\\text{which}\\;\\text{uses}\\;\\text{it}\\;\\text{to}\\;\\text{calculate}\\;\\text{the}\\;\\text{gradient}\\;\\text{wrt}\\;\\text{its}\\;\\text{parameters}\\;\\text{and}\\;\\text{input..}\\;\\text{}}\t\n\\end{gather*}&quot;,&quot;font&quot;:{&quot;family&quot;:&quot;Arial&quot;,&quot;color&quot;:&quot;#000000&quot;,&quot;size&quot;:10.5},&quot;type&quot;:&quot;gather*&quot;,&quot;aid&quot;:null,&quot;backgroundColorModified&quot;:false,&quot;ts&quot;:1760276974089,&quot;cs&quot;:&quot;w4DnoI+cLB2zQV5+266eWQ==&quot;,&quot;size&quot;:{&quot;width&quot;:677,&quot;height&quot;:313}}" id="201" name="Google Shape;201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2571750"/>
            <a:ext cx="6448425" cy="298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 txBox="1"/>
          <p:nvPr>
            <p:ph idx="4294967295" type="title"/>
          </p:nvPr>
        </p:nvSpPr>
        <p:spPr>
          <a:xfrm>
            <a:off x="259350" y="157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Examples of f</a:t>
            </a:r>
            <a:endParaRPr/>
          </a:p>
        </p:txBody>
      </p:sp>
      <p:sp>
        <p:nvSpPr>
          <p:cNvPr id="207" name="Google Shape;207;p28"/>
          <p:cNvSpPr txBox="1"/>
          <p:nvPr/>
        </p:nvSpPr>
        <p:spPr>
          <a:xfrm>
            <a:off x="381450" y="806388"/>
            <a:ext cx="30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08" name="Google Shape;208;p28"/>
          <p:cNvSpPr txBox="1"/>
          <p:nvPr/>
        </p:nvSpPr>
        <p:spPr>
          <a:xfrm>
            <a:off x="579775" y="4740375"/>
            <a:ext cx="5421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Code: 2_layer_network_optimization.py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descr="{&quot;backgroundColorModified&quot;:false,&quot;backgroundColor&quot;:&quot;#FFFFFF&quot;,&quot;id&quot;:&quot;10&quot;,&quot;aid&quot;:null,&quot;font&quot;:{&quot;color&quot;:&quot;#000000&quot;,&quot;size&quot;:11,&quot;family&quot;:&quot;Arial&quot;},&quot;code&quot;:&quot;\\begin{gather*}\n{\\text{Let's}\\;\\text{look}\\;\\text{at}\\;\\text{some}\\;\\text{examples}\\;\\text{of}\\;f}\\\\\n{x\\to A\\to y\\to B\\to u\\to f\\to v}\\\\\n{\\text{Example}\\;\\text{1:}}\\\\\n{f:\\,\\text{Sum}\\;\\text{function}}\\\\\n{v=\\sum_{i=1}^{k}u_{k}}\\\\\n{\\diff{v}{u}:\\,k\\times1\\,\\text{vector}}\\\\\n{\\text{Let's}\\;\\text{consider}\\;i^{th\\,}\\text{element}\\;\\text{of}\\;\\diff{v}{u}}\\\\\n{\\diff{v}{u_{i}}=1}\\\\\n{\\text{so}\\;\\diff{v}{u}=ones\\,\\left(n\\times1\\right)}\t\n\\end{gather*}&quot;,&quot;type&quot;:&quot;gather*&quot;,&quot;ts&quot;:1760305614423,&quot;cs&quot;:&quot;LoN2fiPvYipRZGBesM+EXg==&quot;,&quot;size&quot;:{&quot;width&quot;:240.5,&quot;height&quot;:305.75}}" id="209" name="Google Shape;20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775" y="1005275"/>
            <a:ext cx="2290763" cy="29122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code&quot;:&quot;\\begin{gather*}\n{\\text{Example}\\;\\text{2:}}\\\\\n{f:\\,\\text{Norm}}\\\\\n{v=\\frac{1}{2}\\sum_{i=1}^{k}u_{k}^{2}}\\\\\n{\\diff{v}{u_{i}}=u_{i}}\\\\\n{\\text{so}\\;\\diff{v}{u}=u}\t\n\\end{gather*}&quot;,&quot;backgroundColorModified&quot;:false,&quot;font&quot;:{&quot;size&quot;:11,&quot;family&quot;:&quot;Arial&quot;,&quot;color&quot;:&quot;#000000&quot;},&quot;type&quot;:&quot;gather*&quot;,&quot;id&quot;:&quot;10&quot;,&quot;backgroundColor&quot;:&quot;#FFFFFF&quot;,&quot;ts&quot;:1760305994868,&quot;cs&quot;:&quot;0CnibtYFpyvKYn0aLUIA2w==&quot;,&quot;size&quot;:{&quot;width&quot;:94.33333333333333,&quot;height&quot;:179.33333333333334}}" id="210" name="Google Shape;210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12225" y="1005275"/>
            <a:ext cx="1077174" cy="2047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9"/>
          <p:cNvSpPr txBox="1"/>
          <p:nvPr>
            <p:ph idx="4294967295" type="title"/>
          </p:nvPr>
        </p:nvSpPr>
        <p:spPr>
          <a:xfrm>
            <a:off x="259350" y="157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Adding a bias</a:t>
            </a:r>
            <a:endParaRPr/>
          </a:p>
        </p:txBody>
      </p:sp>
      <p:sp>
        <p:nvSpPr>
          <p:cNvPr id="216" name="Google Shape;216;p29"/>
          <p:cNvSpPr txBox="1"/>
          <p:nvPr/>
        </p:nvSpPr>
        <p:spPr>
          <a:xfrm>
            <a:off x="1195300" y="596463"/>
            <a:ext cx="30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17" name="Google Shape;217;p29"/>
          <p:cNvSpPr/>
          <p:nvPr/>
        </p:nvSpPr>
        <p:spPr>
          <a:xfrm>
            <a:off x="2832550" y="1074800"/>
            <a:ext cx="775200" cy="77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218" name="Google Shape;218;p29"/>
          <p:cNvSpPr txBox="1"/>
          <p:nvPr/>
        </p:nvSpPr>
        <p:spPr>
          <a:xfrm>
            <a:off x="1726300" y="1231550"/>
            <a:ext cx="32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x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219" name="Google Shape;219;p29"/>
          <p:cNvCxnSpPr>
            <a:stCxn id="218" idx="3"/>
            <a:endCxn id="217" idx="1"/>
          </p:cNvCxnSpPr>
          <p:nvPr/>
        </p:nvCxnSpPr>
        <p:spPr>
          <a:xfrm>
            <a:off x="2049400" y="1462400"/>
            <a:ext cx="783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0" name="Google Shape;220;p29"/>
          <p:cNvSpPr txBox="1"/>
          <p:nvPr/>
        </p:nvSpPr>
        <p:spPr>
          <a:xfrm>
            <a:off x="3058600" y="2207550"/>
            <a:ext cx="32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b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221" name="Google Shape;221;p29"/>
          <p:cNvCxnSpPr>
            <a:stCxn id="220" idx="0"/>
            <a:endCxn id="217" idx="2"/>
          </p:cNvCxnSpPr>
          <p:nvPr/>
        </p:nvCxnSpPr>
        <p:spPr>
          <a:xfrm rot="10800000">
            <a:off x="3220150" y="1849950"/>
            <a:ext cx="0" cy="35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2" name="Google Shape;222;p29"/>
          <p:cNvCxnSpPr>
            <a:stCxn id="217" idx="3"/>
          </p:cNvCxnSpPr>
          <p:nvPr/>
        </p:nvCxnSpPr>
        <p:spPr>
          <a:xfrm>
            <a:off x="3607750" y="1462400"/>
            <a:ext cx="468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3" name="Google Shape;223;p29"/>
          <p:cNvSpPr/>
          <p:nvPr/>
        </p:nvSpPr>
        <p:spPr>
          <a:xfrm>
            <a:off x="4076050" y="1074800"/>
            <a:ext cx="468300" cy="775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endParaRPr/>
          </a:p>
        </p:txBody>
      </p:sp>
      <p:cxnSp>
        <p:nvCxnSpPr>
          <p:cNvPr id="224" name="Google Shape;224;p29"/>
          <p:cNvCxnSpPr>
            <a:stCxn id="223" idx="3"/>
          </p:cNvCxnSpPr>
          <p:nvPr/>
        </p:nvCxnSpPr>
        <p:spPr>
          <a:xfrm>
            <a:off x="4544350" y="1462400"/>
            <a:ext cx="387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5" name="Google Shape;225;p29"/>
          <p:cNvSpPr txBox="1"/>
          <p:nvPr/>
        </p:nvSpPr>
        <p:spPr>
          <a:xfrm>
            <a:off x="4998250" y="1231550"/>
            <a:ext cx="38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L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26" name="Google Shape;226;p29"/>
          <p:cNvSpPr txBox="1"/>
          <p:nvPr/>
        </p:nvSpPr>
        <p:spPr>
          <a:xfrm>
            <a:off x="3680350" y="1000700"/>
            <a:ext cx="32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y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{&quot;code&quot;:&quot;\\begin{gather*}\n{\\text{Now}\\;\\text{lets}\\;\\text{add}\\;\\text{a}\\;\\text{bias}\\;\\text{term}}\\\\\n{\\text{So,}\\;y=Ax+b;\\,x:m\\times1,\\,A:\\,n\\times m,\\,b:\\,n\\times1}\\\\\n{L=f\\left(y\\right)\\,}\\\\\n{\\text{We}\\;\\text{want}\\;\\diff{L}{b}}\\\\\n{\\text{Let's}\\;\\text{consider}\\;i^{th\\,}\\text{element}\\;\\text{of}\\,\\diff{L}{b}}\\\\\n{\\text{It}\\;\\text{is}\\;\\text{easy}\\;\\text{to}\\;\\text{see}\\;\\text{that}\\;b_{i}\\,\\text{only}\\;\\text{affects}\\;y_{i},\\,\\text{so}\\;\\text{we}\\;\\text{get}\\;\\text{a}\\;\\text{scalar}\\;\\text{chain}\\;\\text{rule}}\\\\\n{b_{i}\\to y_{i}\\to L}\\\\\n{\\diff{L}{b_{i}}=\\diff{L}{y_{i}}\\diff{y_{i}}{b_{i}}=\\diff{L}{y_{i}}}\t\n\\end{gather*}&quot;,&quot;type&quot;:&quot;gather*&quot;,&quot;backgroundColorModified&quot;:false,&quot;backgroundColor&quot;:&quot;#FFFFFF&quot;,&quot;aid&quot;:null,&quot;font&quot;:{&quot;size&quot;:12,&quot;color&quot;:&quot;#000000&quot;,&quot;family&quot;:&quot;Arial&quot;},&quot;id&quot;:&quot;11&quot;,&quot;ts&quot;:1760307980441,&quot;cs&quot;:&quot;+MCI3wTTaXcxbjPD5qWmgQ==&quot;,&quot;size&quot;:{&quot;width&quot;:536,&quot;height&quot;:252.5}}" id="227" name="Google Shape;22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6325" y="2669250"/>
            <a:ext cx="5105400" cy="2405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0"/>
          <p:cNvSpPr txBox="1"/>
          <p:nvPr>
            <p:ph type="ctrTitle"/>
          </p:nvPr>
        </p:nvSpPr>
        <p:spPr>
          <a:xfrm>
            <a:off x="311700" y="244849"/>
            <a:ext cx="8520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 problems</a:t>
            </a:r>
            <a:endParaRPr/>
          </a:p>
        </p:txBody>
      </p:sp>
      <p:sp>
        <p:nvSpPr>
          <p:cNvPr id="233" name="Google Shape;233;p30"/>
          <p:cNvSpPr txBox="1"/>
          <p:nvPr/>
        </p:nvSpPr>
        <p:spPr>
          <a:xfrm>
            <a:off x="381450" y="587161"/>
            <a:ext cx="30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34" name="Google Shape;234;p30"/>
          <p:cNvSpPr txBox="1"/>
          <p:nvPr/>
        </p:nvSpPr>
        <p:spPr>
          <a:xfrm>
            <a:off x="367400" y="682100"/>
            <a:ext cx="7553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AutoNum type="arabicPeriod"/>
            </a:pPr>
            <a:r>
              <a:rPr lang="en" sz="1500">
                <a:solidFill>
                  <a:schemeClr val="dk2"/>
                </a:solidFill>
              </a:rPr>
              <a:t>Hadamard product of two vectors is defined as the element-wise product. Eg., 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235" name="Google Shape;235;p30"/>
          <p:cNvSpPr txBox="1"/>
          <p:nvPr/>
        </p:nvSpPr>
        <p:spPr>
          <a:xfrm>
            <a:off x="421825" y="3145050"/>
            <a:ext cx="7276200" cy="17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AutoNum type="arabicPeriod"/>
            </a:pPr>
            <a:r>
              <a:rPr lang="en">
                <a:solidFill>
                  <a:schemeClr val="dk2"/>
                </a:solidFill>
              </a:rPr>
              <a:t>For some reason, we want the intercept </a:t>
            </a:r>
            <a:r>
              <a:rPr i="1" lang="en">
                <a:solidFill>
                  <a:schemeClr val="dk2"/>
                </a:solidFill>
              </a:rPr>
              <a:t>b</a:t>
            </a:r>
            <a:r>
              <a:rPr lang="en">
                <a:solidFill>
                  <a:schemeClr val="dk2"/>
                </a:solidFill>
              </a:rPr>
              <a:t> to remain small. How would add this constraint to the regression problem? Solve for optimal values of a and b with this constraint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. </a:t>
            </a:r>
            <a:endParaRPr sz="1500">
              <a:solidFill>
                <a:schemeClr val="dk2"/>
              </a:solidFill>
            </a:endParaRPr>
          </a:p>
        </p:txBody>
      </p:sp>
      <p:pic>
        <p:nvPicPr>
          <p:cNvPr descr="{&quot;font&quot;:{&quot;color&quot;:&quot;#595959&quot;,&quot;family&quot;:&quot;Arial&quot;,&quot;size&quot;:15},&quot;backgroundColor&quot;:&quot;#FFFFFF&quot;,&quot;code&quot;:&quot;\\begin{gather*}\n{x=\\begin{pmatrix}\n{x_{1}}\\\\\n{x_{2}}\\\\\n{x_{3}}\\\\\n\\end{pmatrix}y=\\begin{pmatrix}\n{y_{1}}\\\\\n{y_{2}}\\\\\n{y_{3}}\\\\\n\\end{pmatrix}}\\\\\n{\\text{Then,}\\;\\text{z=hadamard(x,y)=}x\\odot y=\\begin{pmatrix}\n{x_{1}y_{1}}\\\\\n{x_{2}y_{2}}\\\\\n{x_{3}y_{3}}\\\\\n\\end{pmatrix}}\\\\\n{\\text{Calculate}\\;\\pdf{z}{x}\\,\\text{and}\\;\\pdf{z}{y}}\t\n\\end{gather*}&quot;,&quot;aid&quot;:null,&quot;type&quot;:&quot;gather*&quot;,&quot;backgroundColorModified&quot;:false,&quot;id&quot;:&quot;12&quot;,&quot;ts&quot;:1760308325873,&quot;cs&quot;:&quot;kPehWn9jOle3+jYsWB+A0g==&quot;,&quot;size&quot;:{&quot;width&quot;:430,&quot;height&quot;:246}}" id="236" name="Google Shape;23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1101" y="1097600"/>
            <a:ext cx="3643576" cy="208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1"/>
          <p:cNvSpPr txBox="1"/>
          <p:nvPr>
            <p:ph idx="4294967295" type="title"/>
          </p:nvPr>
        </p:nvSpPr>
        <p:spPr>
          <a:xfrm>
            <a:off x="259350" y="157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Recall: Structure of a Network</a:t>
            </a:r>
            <a:endParaRPr/>
          </a:p>
        </p:txBody>
      </p:sp>
      <p:sp>
        <p:nvSpPr>
          <p:cNvPr id="242" name="Google Shape;242;p31"/>
          <p:cNvSpPr txBox="1"/>
          <p:nvPr/>
        </p:nvSpPr>
        <p:spPr>
          <a:xfrm>
            <a:off x="464725" y="1242363"/>
            <a:ext cx="301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43" name="Google Shape;243;p31"/>
          <p:cNvSpPr/>
          <p:nvPr/>
        </p:nvSpPr>
        <p:spPr>
          <a:xfrm>
            <a:off x="1555994" y="1489800"/>
            <a:ext cx="928200" cy="1100100"/>
          </a:xfrm>
          <a:prstGeom prst="roundRect">
            <a:avLst>
              <a:gd fmla="val 9734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4" name="Google Shape;24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5750" y="1921931"/>
            <a:ext cx="328613" cy="235744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31"/>
          <p:cNvSpPr/>
          <p:nvPr/>
        </p:nvSpPr>
        <p:spPr>
          <a:xfrm>
            <a:off x="3133731" y="1489791"/>
            <a:ext cx="928200" cy="1100100"/>
          </a:xfrm>
          <a:prstGeom prst="roundRect">
            <a:avLst>
              <a:gd fmla="val 9734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300"/>
              <a:t>ReLU</a:t>
            </a:r>
            <a:endParaRPr b="1" i="0" sz="1300" u="none" cap="none" strike="noStrike">
              <a:solidFill>
                <a:srgbClr val="000000"/>
              </a:solidFill>
            </a:endParaRPr>
          </a:p>
        </p:txBody>
      </p:sp>
      <p:cxnSp>
        <p:nvCxnSpPr>
          <p:cNvPr id="246" name="Google Shape;246;p31"/>
          <p:cNvCxnSpPr>
            <a:stCxn id="243" idx="3"/>
            <a:endCxn id="245" idx="1"/>
          </p:cNvCxnSpPr>
          <p:nvPr/>
        </p:nvCxnSpPr>
        <p:spPr>
          <a:xfrm>
            <a:off x="2484194" y="2039850"/>
            <a:ext cx="649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7" name="Google Shape;247;p31"/>
          <p:cNvSpPr txBox="1"/>
          <p:nvPr/>
        </p:nvSpPr>
        <p:spPr>
          <a:xfrm>
            <a:off x="711344" y="1818825"/>
            <a:ext cx="412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8" name="Google Shape;248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9625" y="1952292"/>
            <a:ext cx="207827" cy="17501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9" name="Google Shape;249;p31"/>
          <p:cNvCxnSpPr/>
          <p:nvPr/>
        </p:nvCxnSpPr>
        <p:spPr>
          <a:xfrm>
            <a:off x="906381" y="2039813"/>
            <a:ext cx="649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0" name="Google Shape;250;p31"/>
          <p:cNvCxnSpPr/>
          <p:nvPr/>
        </p:nvCxnSpPr>
        <p:spPr>
          <a:xfrm>
            <a:off x="4061856" y="2039813"/>
            <a:ext cx="649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251" name="Google Shape;251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15719" y="1818825"/>
            <a:ext cx="214313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65625" y="1807838"/>
            <a:ext cx="221456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31"/>
          <p:cNvSpPr/>
          <p:nvPr/>
        </p:nvSpPr>
        <p:spPr>
          <a:xfrm>
            <a:off x="4740919" y="1489741"/>
            <a:ext cx="928200" cy="1100100"/>
          </a:xfrm>
          <a:prstGeom prst="roundRect">
            <a:avLst>
              <a:gd fmla="val 9734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/>
          </a:p>
        </p:txBody>
      </p:sp>
      <p:pic>
        <p:nvPicPr>
          <p:cNvPr id="254" name="Google Shape;254;p31" title="[0,0,0,&quot;https://www.codecogs.com/eqnedit.php?latex=W_n#0&quot;]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98751" y="1905551"/>
            <a:ext cx="328625" cy="21390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5" name="Google Shape;255;p31"/>
          <p:cNvCxnSpPr/>
          <p:nvPr/>
        </p:nvCxnSpPr>
        <p:spPr>
          <a:xfrm>
            <a:off x="5669131" y="2012488"/>
            <a:ext cx="649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256" name="Google Shape;256;p31" title="[0,0,0,&quot;https://www.codecogs.com/eqnedit.php?latex=y_n#0&quot;]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822684" y="1708025"/>
            <a:ext cx="285139" cy="2139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31"/>
          <p:cNvSpPr/>
          <p:nvPr/>
        </p:nvSpPr>
        <p:spPr>
          <a:xfrm>
            <a:off x="6348124" y="1489800"/>
            <a:ext cx="717300" cy="1100100"/>
          </a:xfrm>
          <a:prstGeom prst="roundRect">
            <a:avLst>
              <a:gd fmla="val 9734" name="adj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/>
              <a:t>Loss function</a:t>
            </a:r>
            <a:endParaRPr sz="1100"/>
          </a:p>
        </p:txBody>
      </p:sp>
      <p:cxnSp>
        <p:nvCxnSpPr>
          <p:cNvPr id="258" name="Google Shape;258;p31"/>
          <p:cNvCxnSpPr>
            <a:endCxn id="257" idx="0"/>
          </p:cNvCxnSpPr>
          <p:nvPr/>
        </p:nvCxnSpPr>
        <p:spPr>
          <a:xfrm>
            <a:off x="6706774" y="1174800"/>
            <a:ext cx="0" cy="315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9" name="Google Shape;259;p31"/>
          <p:cNvSpPr txBox="1"/>
          <p:nvPr/>
        </p:nvSpPr>
        <p:spPr>
          <a:xfrm>
            <a:off x="6410225" y="866975"/>
            <a:ext cx="593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100"/>
              <a:t>labels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31"/>
          <p:cNvSpPr txBox="1"/>
          <p:nvPr/>
        </p:nvSpPr>
        <p:spPr>
          <a:xfrm>
            <a:off x="4170100" y="1979300"/>
            <a:ext cx="41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…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261" name="Google Shape;261;p31"/>
          <p:cNvCxnSpPr/>
          <p:nvPr/>
        </p:nvCxnSpPr>
        <p:spPr>
          <a:xfrm flipH="1" rot="10800000">
            <a:off x="7065431" y="2007988"/>
            <a:ext cx="309300" cy="9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2" name="Google Shape;262;p31"/>
          <p:cNvSpPr txBox="1"/>
          <p:nvPr/>
        </p:nvSpPr>
        <p:spPr>
          <a:xfrm>
            <a:off x="7374725" y="1858600"/>
            <a:ext cx="593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100"/>
              <a:t>Error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31"/>
          <p:cNvSpPr/>
          <p:nvPr/>
        </p:nvSpPr>
        <p:spPr>
          <a:xfrm>
            <a:off x="3046900" y="1151000"/>
            <a:ext cx="1244400" cy="235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31"/>
          <p:cNvSpPr txBox="1"/>
          <p:nvPr/>
        </p:nvSpPr>
        <p:spPr>
          <a:xfrm>
            <a:off x="2611096" y="774575"/>
            <a:ext cx="234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Forward Pass or Inference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265" name="Google Shape;265;p31"/>
          <p:cNvCxnSpPr>
            <a:stCxn id="262" idx="2"/>
            <a:endCxn id="253" idx="2"/>
          </p:cNvCxnSpPr>
          <p:nvPr/>
        </p:nvCxnSpPr>
        <p:spPr>
          <a:xfrm rot="5400000">
            <a:off x="6226475" y="1144900"/>
            <a:ext cx="423300" cy="2466300"/>
          </a:xfrm>
          <a:prstGeom prst="bentConnector3">
            <a:avLst>
              <a:gd fmla="val 15628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6" name="Google Shape;266;p31"/>
          <p:cNvCxnSpPr>
            <a:stCxn id="262" idx="2"/>
            <a:endCxn id="243" idx="2"/>
          </p:cNvCxnSpPr>
          <p:nvPr/>
        </p:nvCxnSpPr>
        <p:spPr>
          <a:xfrm rot="5400000">
            <a:off x="4633925" y="-447350"/>
            <a:ext cx="423600" cy="5651100"/>
          </a:xfrm>
          <a:prstGeom prst="bentConnector3">
            <a:avLst>
              <a:gd fmla="val 15619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7" name="Google Shape;267;p31"/>
          <p:cNvSpPr txBox="1"/>
          <p:nvPr/>
        </p:nvSpPr>
        <p:spPr>
          <a:xfrm>
            <a:off x="3398846" y="2904925"/>
            <a:ext cx="234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Backward pass or training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68" name="Google Shape;268;p31"/>
          <p:cNvSpPr txBox="1"/>
          <p:nvPr/>
        </p:nvSpPr>
        <p:spPr>
          <a:xfrm>
            <a:off x="150574" y="3444325"/>
            <a:ext cx="48816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Points on a 2D space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Sequence of embeddings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Fourier transform coefficients of an audio sample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Images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Image patches</a:t>
            </a:r>
            <a:endParaRPr sz="1100">
              <a:solidFill>
                <a:schemeClr val="dk2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</a:pPr>
            <a:r>
              <a:rPr lang="en" sz="1100">
                <a:solidFill>
                  <a:schemeClr val="dk2"/>
                </a:solidFill>
              </a:rPr>
              <a:t>Video frames..</a:t>
            </a:r>
            <a:endParaRPr sz="1100">
              <a:solidFill>
                <a:schemeClr val="dk2"/>
              </a:solidFill>
            </a:endParaRPr>
          </a:p>
        </p:txBody>
      </p:sp>
      <p:cxnSp>
        <p:nvCxnSpPr>
          <p:cNvPr id="269" name="Google Shape;269;p31"/>
          <p:cNvCxnSpPr/>
          <p:nvPr/>
        </p:nvCxnSpPr>
        <p:spPr>
          <a:xfrm rot="10800000">
            <a:off x="773839" y="2297405"/>
            <a:ext cx="352800" cy="11268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0" name="Google Shape;270;p31"/>
          <p:cNvSpPr txBox="1"/>
          <p:nvPr/>
        </p:nvSpPr>
        <p:spPr>
          <a:xfrm>
            <a:off x="3963849" y="3504625"/>
            <a:ext cx="4881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</a:rPr>
              <a:t>Key question: </a:t>
            </a:r>
            <a:r>
              <a:rPr lang="en" sz="1100">
                <a:solidFill>
                  <a:schemeClr val="dk2"/>
                </a:solidFill>
              </a:rPr>
              <a:t>How do I adjust the weights to reduce error? 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</a:rPr>
              <a:t>Answer:</a:t>
            </a:r>
            <a:r>
              <a:rPr lang="en" sz="1100">
                <a:solidFill>
                  <a:schemeClr val="dk2"/>
                </a:solidFill>
              </a:rPr>
              <a:t> Backpropagation!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