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af67b1e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af67b1e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12b89a26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12b89a26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49334e9f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49334e9f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4f3a761b0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4f3a761b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 of a function is itself a function of x!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4f3a761b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4f3a761b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4a7f1d99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4a7f1d99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41786365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41786365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4f3a761b0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4f3a761b0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41786365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41786365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41786365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41786365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41786365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41786365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4178636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4178636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49334e9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49334e9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40bf9330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40bf933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9vKqVkMQHKk&amp;list=PLZHQObOWTQDMsr9K-rj53DwVRMYO3t5Yr&amp;index=2" TargetMode="External"/><Relationship Id="rId4" Type="http://schemas.openxmlformats.org/officeDocument/2006/relationships/hyperlink" Target="https://tutorial.math.lamar.edu/Classes/CalcI/ChainRule.aspx" TargetMode="External"/><Relationship Id="rId5" Type="http://schemas.openxmlformats.org/officeDocument/2006/relationships/hyperlink" Target="https://towardsdatascience.com/gradient-descent-demystified-in-5-minutes-f02966704e35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Mathematical </a:t>
            </a:r>
            <a:r>
              <a:rPr lang="en" sz="4700"/>
              <a:t>Preliminaries</a:t>
            </a:r>
            <a:endParaRPr sz="4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1, Class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480050" y="1195250"/>
            <a:ext cx="6747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Introduction to derivatives in one dimension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Calculating derivatives using numerical approximation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Product rule, Quotient rule, Chain rule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Properties of derivatives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Derivatives and Optimization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Gradient descent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Introduction to Integration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Pre-read materials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80050" y="1195250"/>
            <a:ext cx="6747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The Essence of Calculus</a:t>
            </a:r>
            <a:r>
              <a:rPr lang="en" sz="1800">
                <a:solidFill>
                  <a:schemeClr val="dk2"/>
                </a:solidFill>
              </a:rPr>
              <a:t> video series by 3Blue1Brown (esp. episodes 1–5: derivative intuition, chain rule, optimization) — extremely effective for intuition.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Paul’s Online Math Notes</a:t>
            </a:r>
            <a:r>
              <a:rPr lang="en" sz="1800">
                <a:solidFill>
                  <a:schemeClr val="dk2"/>
                </a:solidFill>
              </a:rPr>
              <a:t>: Chapter 3.1 - 3.6, and section 3.9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Blog post: “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Gradient Descent Demystified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Derivatives in one dimension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825" y="667350"/>
            <a:ext cx="7513149" cy="37222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1373700" y="4321200"/>
            <a:ext cx="6455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As      gets smaller, the derivative approximates the slope of the tangent where the derivative is calculated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descr="{&quot;id&quot;:&quot;16&quot;,&quot;backgroundColorModified&quot;:false,&quot;code&quot;:&quot;$$\\Delta x$$&quot;,&quot;backgroundColor&quot;:&quot;#FFFFFF&quot;,&quot;aid&quot;:null,&quot;type&quot;:&quot;$$&quot;,&quot;font&quot;:{&quot;size&quot;:13.5,&quot;color&quot;:&quot;#595959&quot;,&quot;family&quot;:&quot;Arial&quot;},&quot;ts&quot;:1754444397391,&quot;cs&quot;:&quot;lJh1Y8YfFDjTVesJz/0R3g==&quot;,&quot;size&quot;:{&quot;width&quot;:27.833049343832016,&quot;height&quot;:15.540690288713902}}"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3268" y="4481785"/>
            <a:ext cx="265110" cy="1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Derivatives: Some examples..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8483" l="0" r="0" t="0"/>
          <a:stretch/>
        </p:blipFill>
        <p:spPr>
          <a:xfrm>
            <a:off x="0" y="656775"/>
            <a:ext cx="3675958" cy="448672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5359713" y="687617"/>
            <a:ext cx="2098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>
                <a:solidFill>
                  <a:schemeClr val="dk1"/>
                </a:solidFill>
              </a:rPr>
              <a:t>delta_x:  0.00, derivative:  4.00</a:t>
            </a:r>
            <a:endParaRPr baseline="-25000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>
                <a:solidFill>
                  <a:schemeClr val="dk1"/>
                </a:solidFill>
              </a:rPr>
              <a:t>delta_x:  0.05, derivative:  4.31</a:t>
            </a:r>
            <a:endParaRPr baseline="-25000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>
                <a:solidFill>
                  <a:schemeClr val="dk1"/>
                </a:solidFill>
              </a:rPr>
              <a:t>delta_x:  0.10, derivative:  4.64</a:t>
            </a:r>
            <a:endParaRPr baseline="-25000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>
                <a:solidFill>
                  <a:schemeClr val="dk1"/>
                </a:solidFill>
              </a:rPr>
              <a:t>delta_x:  0.15, derivative:  4.99</a:t>
            </a:r>
            <a:endParaRPr baseline="-25000" sz="1500">
              <a:solidFill>
                <a:schemeClr val="dk1"/>
              </a:solidFill>
            </a:endParaRPr>
          </a:p>
        </p:txBody>
      </p:sp>
      <p:pic>
        <p:nvPicPr>
          <p:cNvPr descr="{&quot;code&quot;:&quot;$$f\\left(x\\right)=x^{n\\,},\\,x=1,\\,n=4$$&quot;,&quot;font&quot;:{&quot;color&quot;:&quot;#595959&quot;,&quot;size&quot;:18,&quot;family&quot;:&quot;Arial&quot;},&quot;aid&quot;:null,&quot;type&quot;:&quot;$$&quot;,&quot;backgroundColorModified&quot;:false,&quot;backgroundColor&quot;:&quot;#FFFFFF&quot;,&quot;id&quot;:&quot;11&quot;,&quot;ts&quot;:1753571615042,&quot;cs&quot;:&quot;WUkzv0uV0+JLXUtHEhV4yg==&quot;,&quot;size&quot;:{&quot;width&quot;:299.25,&quot;height&quot;:28.25}}"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6138" y="375229"/>
            <a:ext cx="2850356" cy="26908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5359713" y="224983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>
                <a:solidFill>
                  <a:schemeClr val="dk1"/>
                </a:solidFill>
              </a:rPr>
              <a:t>delta_x:  0.00, derivative:  2.00</a:t>
            </a:r>
            <a:endParaRPr baseline="-25000"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>
                <a:solidFill>
                  <a:schemeClr val="dk1"/>
                </a:solidFill>
              </a:rPr>
              <a:t>delta_x:  0.05, derivative:  2.05</a:t>
            </a:r>
            <a:endParaRPr baseline="-25000"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>
                <a:solidFill>
                  <a:schemeClr val="dk1"/>
                </a:solidFill>
              </a:rPr>
              <a:t>delta_x:  0.10, derivative:  2.10</a:t>
            </a:r>
            <a:endParaRPr baseline="-25000"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>
                <a:solidFill>
                  <a:schemeClr val="dk1"/>
                </a:solidFill>
              </a:rPr>
              <a:t>delta_x:  0.15, derivative:  2.15</a:t>
            </a:r>
            <a:endParaRPr baseline="-25000" sz="1500">
              <a:solidFill>
                <a:schemeClr val="dk1"/>
              </a:solidFill>
            </a:endParaRPr>
          </a:p>
        </p:txBody>
      </p:sp>
      <p:pic>
        <p:nvPicPr>
          <p:cNvPr descr="{&quot;code&quot;:&quot;$$f\\left(x\\right)=x^{n\\,},\\,x=1,\\,n=2$$&quot;,&quot;type&quot;:&quot;$$&quot;,&quot;backgroundColorModified&quot;:false,&quot;id&quot;:&quot;11&quot;,&quot;font&quot;:{&quot;color&quot;:&quot;#595959&quot;,&quot;family&quot;:&quot;Arial&quot;,&quot;size&quot;:18},&quot;backgroundColor&quot;:&quot;#FFFFFF&quot;,&quot;aid&quot;:null,&quot;ts&quot;:1753571806976,&quot;cs&quot;:&quot;Dwgn60dH/3wlJREq6EUU/g==&quot;,&quot;size&quot;:{&quot;width&quot;:298.5,&quot;height&quot;:28.25}}"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9710" y="1941042"/>
            <a:ext cx="2843213" cy="26908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4034325" y="3397767"/>
            <a:ext cx="434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Intuition: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" sz="1300">
                <a:solidFill>
                  <a:schemeClr val="dk2"/>
                </a:solidFill>
              </a:rPr>
              <a:t>Derivative approximation becomes less accurate as delta_x increases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" sz="1300">
                <a:solidFill>
                  <a:schemeClr val="dk2"/>
                </a:solidFill>
              </a:rPr>
              <a:t>Derivative approximation becomes less accurate more quickly for faster changing functions..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7148300" y="4820400"/>
            <a:ext cx="195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Code: simple_derivatives.py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Derivatives</a:t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7148300" y="4820400"/>
            <a:ext cx="195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Code: simple_derivatives.py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descr="{&quot;aid&quot;:null,&quot;font&quot;:{&quot;color&quot;:&quot;#000000&quot;,&quot;size&quot;:12,&quot;family&quot;:&quot;Arial&quot;},&quot;backgroundColorModified&quot;:false,&quot;backgroundColor&quot;:&quot;#FFFFFF&quot;,&quot;code&quot;:&quot;\\begin{lalign*}\n&amp;{\\text{Product}\\;\\text{Rule}}\\\\\n&amp;{f\\left(x\\right)=g\\left(x\\right)f\\left(x\\right)}\\\\\n&amp;{f^{\\prime}\\left(x\\right)=\\frac{\\dd f}{\\dd x}=f\\left(x\\right)g^{\\prime}\\left(x\\right)+g\\left(x\\right)f^{\\prime}\\left(x\\right)}\\\\\n&amp;{\\text{eg.,}\\;f\\left(x\\right)=\\sin\\left(x\\right)\\log_{}\\left(x\\right)}\\\\\n&amp;{f^{\\prime}\\left(x\\right)=\\,\\frac{\\sin\\left(x\\right)}{x}+\\log_{}\\left(x\\right)\\cos\\left(x\\right)\\,}\\\\\n&amp;{\\because \\frac{\\dd \\log_{}\\left(x\\right)}{\\dd x}=\\frac{1}{x},\\,\\frac{\\dd sin\\left(x\\right)}{\\dd x}=\\cos\\left(x\\right)}\\\\\n&amp;{}\\\\\n&amp;{\\text{Chain}\\;\\text{Rule}}\\\\\n&amp;{f\\left(x\\right)=g\\left(h\\left(x\\right)\\right)}\\\\\n&amp;{f^{\\prime}\\left(x\\right)=h^{\\prime}\\left(x\\right)g^{\\prime}\\left(h\\left(x\\right)\\right)}\\\\\n&amp;{\\text{eg.,}\\;f\\left(x\\right)=\\sin\\left(\\log_{}\\left(x\\right)\\right)}\\\\\n&amp;{f^{\\prime}\\left(x\\right)=\\frac{1}{x}\\cos\\left(\\log_{}\\left(x\\right)\\right)\\,}\\\\\n&amp;{\\text{eg}\\;\\text{2:}\\;\\frac{\\dd \\log_{}\\left(f\\left(x\\right)\\right)}{\\dd x}=\\frac{f^{\\prime}\\left(x\\right)}{f\\left(x\\right)}}\t\n\\end{lalign*}&quot;,&quot;id&quot;:&quot;1&quot;,&quot;type&quot;:&quot;lalign*&quot;,&quot;ts&quot;:1758933737120,&quot;cs&quot;:&quot;ywcLxi8nzu3yP2BigWBsVQ==&quot;,&quot;size&quot;:{&quot;width&quot;:309.33333333333337,&quot;height&quot;:421.6666666666667}}"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382" y="806450"/>
            <a:ext cx="2946400" cy="401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size&quot;:12,&quot;color&quot;:&quot;#000000&quot;,&quot;family&quot;:&quot;Arial&quot;},&quot;type&quot;:&quot;lalign*&quot;,&quot;backgroundColor&quot;:&quot;#FFFFFF&quot;,&quot;id&quot;:&quot;1&quot;,&quot;code&quot;:&quot;\\begin{lalign*}\n&amp;{\\text{Quotient}\\;\\text{Rule}}\\\\\n&amp;{f\\left(x\\right)=\\frac{f\\left(x\\right)}{g\\left(x\\right)}}\\\\\n&amp;{f^{\\prime}\\left(x\\right)=\\frac{\\dd}{\\dd x}\\left(f\\left(x\\right)\\times\\frac{1}{g\\left(x\\right)}\\right)}\\\\\n&amp;{\\,\\,\\,\\,\\,\\,\\,\\,\\,\\,\\,\\,\\,\\,\\,\\,=\\,\\frac{f^{\\prime}\\left(x\\right)}{g\\left(x\\right)}-\\frac{f\\left(x\\right)g^{\\prime}\\left(x\\right)}{g^{2}\\left(x\\right)}}\\\\\n&amp;{\\,\\,\\,\\,\\,\\,\\,\\,\\,\\,\\,\\,\\,\\,\\,\\,=\\,\\frac{g\\left(x\\right)f^{\\prime}\\left(x\\right)-f\\left(x\\right)g^{\\prime}\\left(x\\right)}{g^{2}\\left(x\\right)}}\\\\\n&amp;{\\text{eg.,}\\;f\\left(x\\right)=\\frac{\\sin\\left(x\\right)}{\\log_{}\\left(x\\right)}}\\\\\n&amp;{f^{\\prime}\\left(x\\right)=\\,\\frac{\\log_{}\\left(x\\right)\\cos\\left(x\\right)-\\frac{\\sin\\left(x\\right)}{x}}{\\log_{}^{2}\\left(x\\right)}}\\\\\n&amp;{\\,\\,\\,\\,\\,\\,\\,\\,\\,\\,\\,\\,\\,\\,}\t\n\\end{lalign*}&quot;,&quot;aid&quot;:null,&quot;ts&quot;:1758630090527,&quot;cs&quot;:&quot;/zlI6TmmZSvZLyFo4hyS8w==&quot;,&quot;size&quot;:{&quot;width&quot;:265.66666666666674,&quot;height&quot;:335.3333333333333}}"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678" y="806445"/>
            <a:ext cx="2530475" cy="319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Derivative: Important property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13" y="2613250"/>
            <a:ext cx="3910397" cy="253025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259350" y="729950"/>
            <a:ext cx="50328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Derivative points in the opposite direction of the minimum. Thus if start somewhere and move in the direction of the negative gradient, we’ll eventually hit the minimum.</a:t>
            </a:r>
            <a:br>
              <a:rPr lang="en" sz="1300">
                <a:solidFill>
                  <a:schemeClr val="dk2"/>
                </a:solidFill>
              </a:rPr>
            </a:br>
            <a:r>
              <a:rPr lang="en" sz="1300">
                <a:solidFill>
                  <a:schemeClr val="dk2"/>
                </a:solidFill>
              </a:rPr>
              <a:t> 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At the minimum, the derivative is 0. Makes sense, because derivative of a function at a point is the slope of the function at that point, and the slope must be zero at a local minima. Note: slope can be zero both at a minima and maxima!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4516200" y="45618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Code: multiple_local_minima.py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4">
            <a:alphaModFix/>
          </a:blip>
          <a:srcRect b="3314" l="6062" r="6071" t="3323"/>
          <a:stretch/>
        </p:blipFill>
        <p:spPr>
          <a:xfrm>
            <a:off x="5355500" y="16040"/>
            <a:ext cx="3788500" cy="301903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5873600" y="3035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Code: derivative_direction.py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Derivative: Important property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259350" y="729950"/>
            <a:ext cx="75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A function can have many local </a:t>
            </a:r>
            <a:r>
              <a:rPr lang="en" sz="1500">
                <a:solidFill>
                  <a:schemeClr val="dk2"/>
                </a:solidFill>
              </a:rPr>
              <a:t>minima or maxima</a:t>
            </a:r>
            <a:r>
              <a:rPr lang="en" sz="1500">
                <a:solidFill>
                  <a:schemeClr val="dk2"/>
                </a:solidFill>
              </a:rPr>
              <a:t>! We can distinguish between minimum and maximum using the second derivative test.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Sometimes, we can analytically solve f_prime(x) = 0, but usually not. </a:t>
            </a:r>
            <a:br>
              <a:rPr lang="en" sz="1500">
                <a:solidFill>
                  <a:schemeClr val="dk2"/>
                </a:solidFill>
              </a:rPr>
            </a:br>
            <a:r>
              <a:rPr lang="en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6002200" y="4684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Code: multiple_local_minima.py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50" y="1519650"/>
            <a:ext cx="4085726" cy="3064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size&quot;:12,&quot;color&quot;:&quot;#000000&quot;},&quot;code&quot;:&quot;\\begin{lalign*}\n&amp;{f\\left(x\\right)=\\,x^{4}-3x^{2\\,}+\\,2}\\\\\n&amp;{f^{\\prime}\\left(x\\right)=4x^{3}-6x}\\\\\n&amp;{f^{\\prime}\\left(x\\right)=0\\,\\text{at}\\;x=0,\\,x=\\pm{\\sqrt[]{3/2}}}\\\\\n&amp;{f^{\&quot;}\\left(x\\right)=12x^{2}-6}\\\\\n&amp;{\\text{At}\\;x=0,\\,f^{\&quot;}\\left(x\\right)=-6,\\,\\to\\,\\text{local}\\;\\text{maximum}}\\\\\n&amp;{\\text{At}\\;x=\\pm{\\sqrt[]{3/2}},\\,f^{\&quot;}\\left(x\\right)=12\\,\\to\\,\\text{local}\\;\\text{mimumim}}\t\n\\end{lalign*}&quot;,&quot;id&quot;:&quot;3&quot;,&quot;backgroundColorModified&quot;:false,&quot;backgroundColor&quot;:&quot;#FFFFFF&quot;,&quot;type&quot;:&quot;lalign*&quot;,&quot;aid&quot;:null,&quot;ts&quot;:1759096556198,&quot;cs&quot;:&quot;quHJXim4oEGS/g3o2jgA/A==&quot;,&quot;size&quot;:{&quot;width&quot;:389.3333333333333,&quot;height&quot;:182}}"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3525" y="1840488"/>
            <a:ext cx="37084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100" y="1449475"/>
            <a:ext cx="4124400" cy="304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259350" y="729950"/>
            <a:ext cx="751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In this case below, we can’t easily solve for f_prime(x) = 0</a:t>
            </a:r>
            <a:br>
              <a:rPr lang="en" sz="1500">
                <a:solidFill>
                  <a:schemeClr val="dk2"/>
                </a:solidFill>
              </a:rPr>
            </a:br>
            <a:r>
              <a:rPr lang="en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23" name="Google Shape;123;p21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Derivative: Important property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100" y="1449475"/>
            <a:ext cx="4124400" cy="304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259350" y="729950"/>
            <a:ext cx="751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Process of finding a minimum by starting at a guess, and moving in the direction of the negative gradient. 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30" name="Google Shape;130;p22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using Gradient Descent</a:t>
            </a:r>
            <a:endParaRPr/>
          </a:p>
        </p:txBody>
      </p:sp>
      <p:pic>
        <p:nvPicPr>
          <p:cNvPr descr="{&quot;backgroundColor&quot;:&quot;#FFFFFF&quot;,&quot;id&quot;:&quot;4&quot;,&quot;code&quot;:&quot;$$x_{t+1}=x_{t}-\\eta _{t}f^{\\prime}\\left(x_{t}\\right)$$&quot;,&quot;type&quot;:&quot;$$&quot;,&quot;aid&quot;:null,&quot;font&quot;:{&quot;size&quot;:19.5,&quot;color&quot;:&quot;#000000&quot;,&quot;family&quot;:&quot;Arial&quot;},&quot;backgroundColorModified&quot;:false,&quot;ts&quot;:1759099433651,&quot;cs&quot;:&quot;q81oGM4uyhEVauqAthXJgQ==&quot;,&quot;size&quot;:{&quot;width&quot;:266.20000000000005,&quot;height&quot;:32.600000000000016}}" id="131" name="Google Shape;13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4700" y="1880813"/>
            <a:ext cx="2535555" cy="31051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5723300" y="2629550"/>
            <a:ext cx="157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Learning rate</a:t>
            </a:r>
            <a:r>
              <a:rPr lang="en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133" name="Google Shape;133;p22"/>
          <p:cNvCxnSpPr>
            <a:stCxn id="132" idx="0"/>
          </p:cNvCxnSpPr>
          <p:nvPr/>
        </p:nvCxnSpPr>
        <p:spPr>
          <a:xfrm flipH="1" rot="10800000">
            <a:off x="6512600" y="2202350"/>
            <a:ext cx="541200" cy="42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2"/>
          <p:cNvSpPr txBox="1"/>
          <p:nvPr/>
        </p:nvSpPr>
        <p:spPr>
          <a:xfrm>
            <a:off x="7301900" y="2629550"/>
            <a:ext cx="157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Gradient at current iterate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135" name="Google Shape;135;p22"/>
          <p:cNvCxnSpPr>
            <a:stCxn id="134" idx="0"/>
          </p:cNvCxnSpPr>
          <p:nvPr/>
        </p:nvCxnSpPr>
        <p:spPr>
          <a:xfrm rot="10800000">
            <a:off x="7690400" y="2268650"/>
            <a:ext cx="400800" cy="3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2"/>
          <p:cNvSpPr txBox="1"/>
          <p:nvPr/>
        </p:nvSpPr>
        <p:spPr>
          <a:xfrm>
            <a:off x="4639075" y="3342200"/>
            <a:ext cx="4176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Key points:</a:t>
            </a:r>
            <a:endParaRPr b="1" sz="15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Gradient points in the direction of maximum ascent, that’s why we move against the gradient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Gradient provides both direction and size of the step. However, it is common to decrease the 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/>
        </p:nvSpPr>
        <p:spPr>
          <a:xfrm>
            <a:off x="259350" y="729950"/>
            <a:ext cx="751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Process of finding a minimum by starting at a guess, and moving in the direction of the negative gradient. 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42" name="Google Shape;142;p23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using Gradient Descent</a:t>
            </a:r>
            <a:endParaRPr/>
          </a:p>
        </p:txBody>
      </p:sp>
      <p:pic>
        <p:nvPicPr>
          <p:cNvPr descr="{&quot;backgroundColor&quot;:&quot;#FFFFFF&quot;,&quot;id&quot;:&quot;4&quot;,&quot;code&quot;:&quot;$$x_{t+1}=x_{t}-\\eta _{t}f^{\\prime}\\left(x_{t}\\right)$$&quot;,&quot;type&quot;:&quot;$$&quot;,&quot;aid&quot;:null,&quot;font&quot;:{&quot;size&quot;:19.5,&quot;color&quot;:&quot;#000000&quot;,&quot;family&quot;:&quot;Arial&quot;},&quot;backgroundColorModified&quot;:false,&quot;ts&quot;:1759099433651,&quot;cs&quot;:&quot;q81oGM4uyhEVauqAthXJgQ==&quot;,&quot;size&quot;:{&quot;width&quot;:266.20000000000005,&quot;height&quot;:32.600000000000016}}"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473" y="1880813"/>
            <a:ext cx="2535555" cy="31051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5954840" y="2629550"/>
            <a:ext cx="157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Learning rate 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145" name="Google Shape;145;p23"/>
          <p:cNvCxnSpPr>
            <a:stCxn id="144" idx="0"/>
          </p:cNvCxnSpPr>
          <p:nvPr/>
        </p:nvCxnSpPr>
        <p:spPr>
          <a:xfrm flipH="1" rot="10800000">
            <a:off x="6744140" y="2218850"/>
            <a:ext cx="888300" cy="41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3"/>
          <p:cNvSpPr txBox="1"/>
          <p:nvPr/>
        </p:nvSpPr>
        <p:spPr>
          <a:xfrm>
            <a:off x="7533440" y="2629550"/>
            <a:ext cx="157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Gradient at current iterate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147" name="Google Shape;147;p23"/>
          <p:cNvCxnSpPr>
            <a:stCxn id="146" idx="0"/>
          </p:cNvCxnSpPr>
          <p:nvPr/>
        </p:nvCxnSpPr>
        <p:spPr>
          <a:xfrm rot="10800000">
            <a:off x="8104040" y="2243750"/>
            <a:ext cx="218700" cy="3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50" y="1389825"/>
            <a:ext cx="5737000" cy="344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154" name="Google Shape;154;p24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315150" y="842975"/>
            <a:ext cx="676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Integrating a function from a to b means calculating the area under the curve defined by the function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579775" y="47403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Code: integration_demo.py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13825"/>
            <a:ext cx="3832200" cy="28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000" y="1713825"/>
            <a:ext cx="4369700" cy="327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problems</a:t>
            </a:r>
            <a:endParaRPr/>
          </a:p>
        </p:txBody>
      </p:sp>
      <p:sp>
        <p:nvSpPr>
          <p:cNvPr id="164" name="Google Shape;164;p25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367400" y="901325"/>
            <a:ext cx="593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code&quot;:&quot;\\begin{lalign*}\n&amp;{\\text{Calculate}\\;\\text{derivatives}\\;\\text{of:}}\\\\\n&amp;{f\\left(x\\right)\\,=\\,\\left(3x^{2}+1\\right)\\left(5x+2\\right)\\,\\text{using}\\;\\text{product}\\;\\text{rule}}\\\\\n&amp;{f\\left(x\\right)=\\frac{x^{2}+1}{2x-3}\\text{using}\\;\\text{quotient}\\;\\text{rule}}\\\\\n&amp;{f\\left(x\\right)=\\sin\\left(3x^{2}\\right)\\,\\text{using}\\;\\text{chain}\\;\\text{rule}}\\\\\n&amp;{f\\left(x\\right)=x\\sigma\\left(x\\right),\\,\\text{where}\\;\\sigma\\left(x\\right)=\\frac{1}{1+e^{-x}}}\\\\\n&amp;{}\t\n\\end{lalign*}&quot;,&quot;backgroundColor&quot;:&quot;#FFFFFF&quot;,&quot;type&quot;:&quot;lalign*&quot;,&quot;id&quot;:&quot;2&quot;,&quot;backgroundColorModified&quot;:false,&quot;font&quot;:{&quot;family&quot;:&quot;Arial&quot;,&quot;color&quot;:&quot;#000000&quot;,&quot;size&quot;:12},&quot;aid&quot;:null,&quot;ts&quot;:1759187517188,&quot;cs&quot;:&quot;nB7DipQgoPNqVYbHBxDYcA==&quot;,&quot;size&quot;:{&quot;width&quot;:368.3333333333333,&quot;height&quot;:169.33333333333334}}"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16" y="1328875"/>
            <a:ext cx="3508375" cy="161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lalign*&quot;,&quot;aid&quot;:null,&quot;code&quot;:&quot;\\begin{lalign*}\n&amp;{\\text{Calculate}\\;\\text{critical}\\;\\text{points}\\;\\text{(minima/maxima}\\text{)}\\;\\text{of}}\\\\\n&amp;{f\\left(x\\right)\\,=\\,x^{3}-6x^{2}+9x.\\,\\text{Use}\\;\\text{second}\\;\\text{derivative}\\;\\text{test}}\\\\\n&amp;{\\text{to}\\;\\text{classify}\\;\\text{minima/maxima}}\\\\\n&amp;{\\text{Explain}\\;\\text{why}\\;\\text{gradient}\\;\\text{descent}\\;\\text{on}\\;f\\left(x\\right)=\\left(x-2\\right)^{2}\\,\\text{converges}}\\\\\n&amp;{\\text{to}\\;\\text{the}\\;\\text{same}\\;\\text{minimum}\\;\\text{(2)}\\;\\text{from}\\;\\text{any}\\;\\text{starting}\\;\\text{point}}\t\n\\end{lalign*}&quot;,&quot;backgroundColorModified&quot;:false,&quot;backgroundColor&quot;:&quot;#FFFFFF&quot;,&quot;font&quot;:{&quot;color&quot;:&quot;#000000&quot;,&quot;family&quot;:&quot;Arial&quot;,&quot;size&quot;:12},&quot;id&quot;:&quot;2&quot;,&quot;ts&quot;:1759187866334,&quot;cs&quot;:&quot;+LvwsusBs/gPeNPvYxh7ag==&quot;,&quot;size&quot;:{&quot;width&quot;:482.3333333333333,&quot;height&quot;:122.66666666666667}}" id="167" name="Google Shape;1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391" y="3540704"/>
            <a:ext cx="4594225" cy="11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367400" y="793625"/>
            <a:ext cx="676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Derivative Rules</a:t>
            </a:r>
            <a:r>
              <a:rPr b="1" lang="en" sz="1600">
                <a:solidFill>
                  <a:schemeClr val="dk2"/>
                </a:solidFill>
              </a:rPr>
              <a:t> 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472425" y="3025675"/>
            <a:ext cx="676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Optimization</a:t>
            </a:r>
            <a:r>
              <a:rPr b="1" lang="en" sz="1600">
                <a:solidFill>
                  <a:schemeClr val="dk2"/>
                </a:solidFill>
              </a:rPr>
              <a:t> 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problems</a:t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367400" y="901325"/>
            <a:ext cx="593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font&quot;:{&quot;family&quot;:&quot;Arial&quot;,&quot;size&quot;:12,&quot;color&quot;:&quot;#000000&quot;},&quot;code&quot;:&quot;\\begin{lalign*}\n&amp;{\\text{1.}\\;\\text{}\\text{Calculate}\\;\\int_{0}^{1}x^{2}dx\\,\\text{manually}\\;\\text{and}\\;\\text{using}\\;\\text{numerical}\\;\\text{approximation}.\\,}\\\\\n&amp;{\\text{Calculate}\\;\\text{the}\\;\\text{area}\\;\\text{of}\\;\\text{the}\\;\\text{quadilaterals}\\;\\text{under}\\;\\text{the}\\;\\text{curve}\\;\\text{using}\\;\\text{a}\\;\\text{trapezoid}\\;\\text{}}\\\\\n&amp;{\\text{approximation.}\\;\\text{Vary}\\;\\text{the}\\;\\text{number}\\;\\text{of}\\;\\text{trapezoids.}\\;\\text{}}\\\\\n&amp;{2.\\,\\text{Numerical}\\;\\text{approximation}\\;\\text{of}\\;\\text{the}\\;\\text{derivative}\\;\\text{of}\\;x^{2}\\text{at}\\;x=2,\\,\\text{for}\\;\\text{different}\\;\\text{values}}\\\\\n&amp;{\\text{of}\\;\\delta x\\,\\text{(0.1,}\\;\\text{0.01,}\\;\\text{0.002).}\\;\\text{Compare}\\;\\text{with}\\;\\text{the}\\;\\text{exact}\\;\\text{value}\\;\\text{of}\\;\\text{the}\\;\\text{derivative}}\\\\\n&amp;{3.\\,\\text{Implement}\\;\\text{gradient}\\;\\text{descent}\\;\\text{for}\\;f\\left(x\\right)=\\left(x-3\\right)^{2}\\,\\text{starting}\\;\\text{with}\\;\\text{different}\\;\\text{values}\\text{}}\\\\\n&amp;{\\text{of}\\;\\text{starting}\\;\\text{points.}\\;\\text{Try}\\;\\text{different}\\;\\text{values}\\;\\text{of}\\;\\text{the}\\;\\text{learning}\\;\\text{rate}\\;\\text{(0.1,}\\;\\text{0.5)}}\\\\\n&amp;{}\t\n\\end{lalign*}&quot;,&quot;type&quot;:&quot;lalign*&quot;,&quot;backgroundColorModified&quot;:false,&quot;id&quot;:&quot;5&quot;,&quot;aid&quot;:null,&quot;backgroundColor&quot;:&quot;#FFFFFF&quot;,&quot;ts&quot;:1759189729748,&quot;cs&quot;:&quot;RA48TYB0GGK8minOmdaXdA==&quot;,&quot;size&quot;:{&quot;width&quot;:645,&quot;height&quot;:199}}"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50" y="1405775"/>
            <a:ext cx="614362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367400" y="793625"/>
            <a:ext cx="676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Coding Problems</a:t>
            </a:r>
            <a:r>
              <a:rPr b="1" lang="en" sz="1600">
                <a:solidFill>
                  <a:schemeClr val="dk2"/>
                </a:solidFill>
              </a:rPr>
              <a:t> 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