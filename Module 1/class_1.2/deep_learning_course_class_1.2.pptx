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63af67b1ee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63af67b1ee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712b89a260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712b89a260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49334e9f7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49334e9f7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44f3a761b0_0_1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44f3a761b0_0_1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 of a function is itself a function of x!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85e4c0c1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85e4c0c1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 of a function is itself a function of x!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44f3a761b0_0_1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44f3a761b0_0_1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84a7f1d99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84a7f1d99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Talk about notation.. 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8417863650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8417863650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8917b16c8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8917b16c8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44f3a761b0_0_2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44f3a761b0_0_2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8417863650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8417863650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8417863650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8417863650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8417863650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8417863650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841786365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841786365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849334e9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849334e9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640bf93304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640bf93304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www.youtube.com/watch?v=9vKqVkMQHKk&amp;list=PLZHQObOWTQDMsr9K-rj53DwVRMYO3t5Yr&amp;index=2" TargetMode="External"/><Relationship Id="rId4" Type="http://schemas.openxmlformats.org/officeDocument/2006/relationships/hyperlink" Target="https://tutorial.math.lamar.edu/Classes/CalcI/ChainRule.aspx" TargetMode="External"/><Relationship Id="rId5" Type="http://schemas.openxmlformats.org/officeDocument/2006/relationships/hyperlink" Target="https://explained.ai/matrix-calculus/index.html" TargetMode="External"/><Relationship Id="rId6" Type="http://schemas.openxmlformats.org/officeDocument/2006/relationships/hyperlink" Target="https://towardsdatascience.com/gradient-descent-demystified-in-5-minutes-f02966704e35/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22.png"/><Relationship Id="rId5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Relationship Id="rId4" Type="http://schemas.openxmlformats.org/officeDocument/2006/relationships/image" Target="../media/image10.png"/><Relationship Id="rId5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Relationship Id="rId4" Type="http://schemas.openxmlformats.org/officeDocument/2006/relationships/image" Target="../media/image2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700"/>
              <a:t>Mathematical </a:t>
            </a:r>
            <a:r>
              <a:rPr lang="en" sz="4700"/>
              <a:t>Preliminaries</a:t>
            </a:r>
            <a:endParaRPr sz="470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Deep Learning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Module 1, Class 2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1" name="Google Shape;61;p14"/>
          <p:cNvSpPr txBox="1"/>
          <p:nvPr/>
        </p:nvSpPr>
        <p:spPr>
          <a:xfrm>
            <a:off x="480050" y="1195250"/>
            <a:ext cx="67473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Introduction to derivatives in one dimension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Calculating derivatives using numerical approximation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Product rule, Quotient rule, Chain rule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Properties of derivatives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Derivatives and Optimization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Gradient descent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Introduction to Integration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Pre-read materials</a:t>
            </a:r>
            <a:endParaRPr/>
          </a:p>
        </p:txBody>
      </p:sp>
      <p:sp>
        <p:nvSpPr>
          <p:cNvPr id="67" name="Google Shape;67;p15"/>
          <p:cNvSpPr txBox="1"/>
          <p:nvPr/>
        </p:nvSpPr>
        <p:spPr>
          <a:xfrm>
            <a:off x="480050" y="1195250"/>
            <a:ext cx="76638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The Essence of Calculus</a:t>
            </a:r>
            <a:r>
              <a:rPr lang="en" sz="1800">
                <a:solidFill>
                  <a:schemeClr val="dk2"/>
                </a:solidFill>
              </a:rPr>
              <a:t> video series by 3Blue1Brown (esp. episodes 1–5: derivative intuition, chain rule, optimization) — extremely effective for intuition.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 u="sng">
                <a:solidFill>
                  <a:schemeClr val="hlink"/>
                </a:solidFill>
                <a:hlinkClick r:id="rId4"/>
              </a:rPr>
              <a:t>Paul’s Online Math Notes</a:t>
            </a:r>
            <a:r>
              <a:rPr lang="en" sz="1800">
                <a:solidFill>
                  <a:schemeClr val="dk2"/>
                </a:solidFill>
              </a:rPr>
              <a:t>: Sections 3.1 - 3.6, and section 3.9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 u="sng">
                <a:solidFill>
                  <a:schemeClr val="hlink"/>
                </a:solidFill>
                <a:hlinkClick r:id="rId5"/>
              </a:rPr>
              <a:t>Explained.ai</a:t>
            </a:r>
            <a:r>
              <a:rPr lang="en" sz="1800">
                <a:solidFill>
                  <a:schemeClr val="dk2"/>
                </a:solidFill>
              </a:rPr>
              <a:t> : Review Scalar derivative rules section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Blog post: “</a:t>
            </a:r>
            <a:r>
              <a:rPr lang="en" sz="1800" u="sng">
                <a:solidFill>
                  <a:schemeClr val="hlink"/>
                </a:solidFill>
                <a:hlinkClick r:id="rId6"/>
              </a:rPr>
              <a:t>Gradient Descent Demystified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Derivatives in one dimension</a:t>
            </a:r>
            <a:endParaRPr/>
          </a:p>
        </p:txBody>
      </p:sp>
      <p:pic>
        <p:nvPicPr>
          <p:cNvPr id="73" name="Google Shape;7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4825" y="667350"/>
            <a:ext cx="7513149" cy="3722201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6"/>
          <p:cNvSpPr txBox="1"/>
          <p:nvPr/>
        </p:nvSpPr>
        <p:spPr>
          <a:xfrm>
            <a:off x="1373700" y="4321200"/>
            <a:ext cx="64554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As      gets smaller, the derivative approximates the slope of the tangent where the derivative is calculated</a:t>
            </a:r>
            <a:endParaRPr sz="1600">
              <a:solidFill>
                <a:schemeClr val="dk2"/>
              </a:solidFill>
            </a:endParaRPr>
          </a:p>
        </p:txBody>
      </p:sp>
      <p:pic>
        <p:nvPicPr>
          <p:cNvPr descr="{&quot;id&quot;:&quot;16&quot;,&quot;backgroundColorModified&quot;:false,&quot;code&quot;:&quot;$$\\Delta x$$&quot;,&quot;backgroundColor&quot;:&quot;#FFFFFF&quot;,&quot;aid&quot;:null,&quot;type&quot;:&quot;$$&quot;,&quot;font&quot;:{&quot;size&quot;:13.5,&quot;color&quot;:&quot;#595959&quot;,&quot;family&quot;:&quot;Arial&quot;},&quot;ts&quot;:1754444397391,&quot;cs&quot;:&quot;lJh1Y8YfFDjTVesJz/0R3g==&quot;,&quot;size&quot;:{&quot;width&quot;:27.833049343832016,&quot;height&quot;:15.540690288713902}}" id="75" name="Google Shape;75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43268" y="4481785"/>
            <a:ext cx="265110" cy="148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120"/>
              <a:t>Derivatives in one dimension: Forward, Backward, Central Difference</a:t>
            </a:r>
            <a:endParaRPr sz="2120"/>
          </a:p>
        </p:txBody>
      </p:sp>
      <p:pic>
        <p:nvPicPr>
          <p:cNvPr descr="{&quot;font&quot;:{&quot;color&quot;:&quot;#000000&quot;,&quot;size&quot;:12,&quot;family&quot;:&quot;Arial&quot;},&quot;code&quot;:&quot;\\begin{gather*}\n{\\text{Forward}\\;\\text{Difference:}}\\\\\n{\\lim_{\\delta x\\to o}\\frac{f\\left(x+\\delta x\\right)-f\\left(x\\right)}{\\delta x}}\\\\\n{}\\\\\n{\\text{Backward}\\;\\text{Difference}}\\\\\n{\\lim_{\\delta x\\to o}\\frac{f\\left(x\\right)-f\\left(x-\\delta x\\right)}{\\delta x}}\\\\\n{}\\\\\n{\\text{Central}\\;\\text{Difference}}\\\\\n{\\lim_{\\delta x\\to o}\\frac{f\\left(x+\\delta x\\right)-f\\left(x-\\delta x\\right)}{2\\delta x}}\t\n\\end{gather*}&quot;,&quot;backgroundColor&quot;:&quot;#FFFFFF&quot;,&quot;type&quot;:&quot;gather*&quot;,&quot;backgroundColorModified&quot;:false,&quot;id&quot;:&quot;8&quot;,&quot;aid&quot;:null,&quot;ts&quot;:1760200586629,&quot;cs&quot;:&quot;FAqaTxFBzoQW7Zicsq/v3w==&quot;,&quot;size&quot;:{&quot;width&quot;:226.59999999999994,&quot;height&quot;:257.20000000000005}}" id="81" name="Google Shape;8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9875" y="932900"/>
            <a:ext cx="2158365" cy="244983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7"/>
          <p:cNvSpPr txBox="1"/>
          <p:nvPr/>
        </p:nvSpPr>
        <p:spPr>
          <a:xfrm>
            <a:off x="474900" y="3828500"/>
            <a:ext cx="7904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Central difference is </a:t>
            </a:r>
            <a:r>
              <a:rPr lang="en" sz="1500">
                <a:solidFill>
                  <a:schemeClr val="dk2"/>
                </a:solidFill>
              </a:rPr>
              <a:t>preferred</a:t>
            </a:r>
            <a:r>
              <a:rPr lang="en" sz="1500">
                <a:solidFill>
                  <a:schemeClr val="dk2"/>
                </a:solidFill>
              </a:rPr>
              <a:t> for manual (finite difference) calculation of the derivative</a:t>
            </a:r>
            <a:endParaRPr sz="15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Derivatives: Some examples..</a:t>
            </a:r>
            <a:endParaRPr/>
          </a:p>
        </p:txBody>
      </p:sp>
      <p:pic>
        <p:nvPicPr>
          <p:cNvPr id="88" name="Google Shape;88;p18"/>
          <p:cNvPicPr preferRelativeResize="0"/>
          <p:nvPr/>
        </p:nvPicPr>
        <p:blipFill rotWithShape="1">
          <a:blip r:embed="rId3">
            <a:alphaModFix/>
          </a:blip>
          <a:srcRect b="8483" l="0" r="0" t="0"/>
          <a:stretch/>
        </p:blipFill>
        <p:spPr>
          <a:xfrm>
            <a:off x="0" y="656775"/>
            <a:ext cx="3675958" cy="4486727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8"/>
          <p:cNvSpPr txBox="1"/>
          <p:nvPr/>
        </p:nvSpPr>
        <p:spPr>
          <a:xfrm>
            <a:off x="5359713" y="687617"/>
            <a:ext cx="20982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0.00, derivative:  4.00</a:t>
            </a:r>
            <a:endParaRPr baseline="-25000"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0.05, derivative:  4.31</a:t>
            </a:r>
            <a:endParaRPr baseline="-25000"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0.10, derivative:  4.64</a:t>
            </a:r>
            <a:endParaRPr baseline="-25000"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0.15, derivative:  4.99</a:t>
            </a:r>
            <a:endParaRPr baseline="-25000" sz="1500">
              <a:solidFill>
                <a:schemeClr val="dk1"/>
              </a:solidFill>
            </a:endParaRPr>
          </a:p>
        </p:txBody>
      </p:sp>
      <p:pic>
        <p:nvPicPr>
          <p:cNvPr descr="{&quot;code&quot;:&quot;$$f\\left(x\\right)=x^{n\\,},\\,x=1,\\,n=4$$&quot;,&quot;font&quot;:{&quot;color&quot;:&quot;#595959&quot;,&quot;size&quot;:18,&quot;family&quot;:&quot;Arial&quot;},&quot;aid&quot;:null,&quot;type&quot;:&quot;$$&quot;,&quot;backgroundColorModified&quot;:false,&quot;backgroundColor&quot;:&quot;#FFFFFF&quot;,&quot;id&quot;:&quot;11&quot;,&quot;ts&quot;:1753571615042,&quot;cs&quot;:&quot;WUkzv0uV0+JLXUtHEhV4yg==&quot;,&quot;size&quot;:{&quot;width&quot;:299.25,&quot;height&quot;:28.25}}" id="90" name="Google Shape;90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56138" y="375229"/>
            <a:ext cx="2850356" cy="269081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5359713" y="2249830"/>
            <a:ext cx="30000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0.00, derivative:  2.00</a:t>
            </a:r>
            <a:endParaRPr baseline="-25000"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0.05, derivative:  2.05</a:t>
            </a:r>
            <a:endParaRPr baseline="-25000"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0.10, derivative:  2.10</a:t>
            </a:r>
            <a:endParaRPr baseline="-25000"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0.15, derivative:  2.15</a:t>
            </a:r>
            <a:endParaRPr baseline="-25000" sz="1500">
              <a:solidFill>
                <a:schemeClr val="dk1"/>
              </a:solidFill>
            </a:endParaRPr>
          </a:p>
        </p:txBody>
      </p:sp>
      <p:pic>
        <p:nvPicPr>
          <p:cNvPr descr="{&quot;code&quot;:&quot;$$f\\left(x\\right)=x^{n\\,},\\,x=1,\\,n=2$$&quot;,&quot;type&quot;:&quot;$$&quot;,&quot;backgroundColorModified&quot;:false,&quot;id&quot;:&quot;11&quot;,&quot;font&quot;:{&quot;color&quot;:&quot;#595959&quot;,&quot;family&quot;:&quot;Arial&quot;,&quot;size&quot;:18},&quot;backgroundColor&quot;:&quot;#FFFFFF&quot;,&quot;aid&quot;:null,&quot;ts&quot;:1753571806976,&quot;cs&quot;:&quot;Dwgn60dH/3wlJREq6EUU/g==&quot;,&quot;size&quot;:{&quot;width&quot;:298.5,&quot;height&quot;:28.25}}" id="92" name="Google Shape;92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59710" y="1941042"/>
            <a:ext cx="2843213" cy="269081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8"/>
          <p:cNvSpPr txBox="1"/>
          <p:nvPr/>
        </p:nvSpPr>
        <p:spPr>
          <a:xfrm>
            <a:off x="4034325" y="3397767"/>
            <a:ext cx="43485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2"/>
                </a:solidFill>
              </a:rPr>
              <a:t>Intuition: </a:t>
            </a:r>
            <a:endParaRPr b="1" sz="13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AutoNum type="arabicPeriod"/>
            </a:pPr>
            <a:r>
              <a:rPr lang="en" sz="1300">
                <a:solidFill>
                  <a:schemeClr val="dk2"/>
                </a:solidFill>
              </a:rPr>
              <a:t>Derivative approximation becomes less accurate as delta_x increases</a:t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AutoNum type="arabicPeriod"/>
            </a:pPr>
            <a:r>
              <a:rPr lang="en" sz="1300">
                <a:solidFill>
                  <a:schemeClr val="dk2"/>
                </a:solidFill>
              </a:rPr>
              <a:t>Derivative approximation becomes less accurate more quickly for faster changing functions..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94" name="Google Shape;94;p18"/>
          <p:cNvSpPr txBox="1"/>
          <p:nvPr/>
        </p:nvSpPr>
        <p:spPr>
          <a:xfrm>
            <a:off x="7148300" y="4820400"/>
            <a:ext cx="1956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2"/>
                </a:solidFill>
              </a:rPr>
              <a:t>Code: simple_derivatives.py</a:t>
            </a:r>
            <a:endParaRPr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Derivatives</a:t>
            </a:r>
            <a:endParaRPr/>
          </a:p>
        </p:txBody>
      </p:sp>
      <p:sp>
        <p:nvSpPr>
          <p:cNvPr id="100" name="Google Shape;100;p19"/>
          <p:cNvSpPr txBox="1"/>
          <p:nvPr/>
        </p:nvSpPr>
        <p:spPr>
          <a:xfrm>
            <a:off x="7148300" y="4820400"/>
            <a:ext cx="1956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2"/>
                </a:solidFill>
              </a:rPr>
              <a:t>Code: simple_derivatives.py</a:t>
            </a:r>
            <a:endParaRPr sz="900">
              <a:solidFill>
                <a:schemeClr val="dk2"/>
              </a:solidFill>
            </a:endParaRPr>
          </a:p>
        </p:txBody>
      </p:sp>
      <p:pic>
        <p:nvPicPr>
          <p:cNvPr descr="{&quot;backgroundColorModified&quot;:false,&quot;aid&quot;:null,&quot;backgroundColor&quot;:&quot;#FFFFFF&quot;,&quot;type&quot;:&quot;lalign*&quot;,&quot;code&quot;:&quot;\\begin{lalign*}\n&amp;{\\text{Product}\\;\\text{Rule}}\\\\\n&amp;{h\\left(x\\right)=f\\left(x\\right)g\\left(x\\right)}\\\\\n&amp;{\\nabla x=h^{\\prime}\\left(x\\right)=\\frac{\\dd h\\left(x\\right)}{\\dd x}=f\\left(x\\right)g^{\\prime}\\left(x\\right)+g\\left(x\\right)f^{\\prime}\\left(x\\right)}\\\\\n&amp;{\\text{eg.,}\\;h\\left(x\\right)=\\sin\\left(x\\right)\\log_{}\\left(x\\right)}\\\\\n&amp;{h^{\\prime}\\left(x\\right)=\\,\\frac{\\sin\\left(x\\right)}{x}+\\log_{}\\left(x\\right)\\cos\\left(x\\right)\\,}\\\\\n&amp;{\\because \\frac{\\dd \\log_{}\\left(x\\right)}{\\dd x}=\\frac{1}{x},\\,\\frac{\\dd sin\\left(x\\right)}{\\dd x}=\\cos\\left(x\\right)}\\\\\n&amp;{}\\\\\n&amp;{\\text{Chain}\\;\\text{Rule}}\\\\\n&amp;{f\\left(x\\right)=g\\left(h\\left(x\\right)\\right)}\\\\\n&amp;{f^{\\prime}\\left(x\\right)=h^{\\prime}\\left(x\\right)g^{\\prime}\\left(h\\left(x\\right)\\right)}\\\\\n&amp;{\\text{eg.,}\\;f\\left(x\\right)=\\sin\\left(\\log_{}\\left(x\\right)\\right)}\\\\\n&amp;{f^{\\prime}\\left(x\\right)=\\frac{1}{x}\\cos\\left(\\log_{}\\left(x\\right)\\right)\\,}\\\\\n&amp;{\\text{eg}\\;\\text{2:}\\;\\frac{\\dd \\log_{}\\left(f\\left(x\\right)\\right)}{\\dd x}=\\frac{f^{\\prime}\\left(x\\right)}{f\\left(x\\right)}}\t\n\\end{lalign*}&quot;,&quot;id&quot;:&quot;1&quot;,&quot;font&quot;:{&quot;size&quot;:12,&quot;family&quot;:&quot;Arial&quot;,&quot;color&quot;:&quot;#000000&quot;},&quot;ts&quot;:1760702371219,&quot;cs&quot;:&quot;vFZCyKExv+0EkqeAh0/zYg==&quot;,&quot;size&quot;:{&quot;width&quot;:388.6666666666667,&quot;height&quot;:423.3333333333333}}" id="101" name="Google Shape;10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0332" y="806462"/>
            <a:ext cx="3702050" cy="4032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Modified&quot;:false,&quot;font&quot;:{&quot;size&quot;:12,&quot;color&quot;:&quot;#000000&quot;,&quot;family&quot;:&quot;Arial&quot;},&quot;type&quot;:&quot;lalign*&quot;,&quot;backgroundColor&quot;:&quot;#FFFFFF&quot;,&quot;id&quot;:&quot;1&quot;,&quot;code&quot;:&quot;\\begin{lalign*}\n&amp;{\\text{Quotient}\\;\\text{Rule}}\\\\\n&amp;{f\\left(x\\right)=\\frac{f\\left(x\\right)}{g\\left(x\\right)}}\\\\\n&amp;{f^{\\prime}\\left(x\\right)=\\frac{\\dd}{\\dd x}\\left(f\\left(x\\right)\\times\\frac{1}{g\\left(x\\right)}\\right)}\\\\\n&amp;{\\,\\,\\,\\,\\,\\,\\,\\,\\,\\,\\,\\,\\,\\,\\,\\,=\\,\\frac{f^{\\prime}\\left(x\\right)}{g\\left(x\\right)}-\\frac{f\\left(x\\right)g^{\\prime}\\left(x\\right)}{g^{2}\\left(x\\right)}}\\\\\n&amp;{\\,\\,\\,\\,\\,\\,\\,\\,\\,\\,\\,\\,\\,\\,\\,\\,=\\,\\frac{g\\left(x\\right)f^{\\prime}\\left(x\\right)-f\\left(x\\right)g^{\\prime}\\left(x\\right)}{g^{2}\\left(x\\right)}}\\\\\n&amp;{\\text{eg.,}\\;f\\left(x\\right)=\\frac{\\sin\\left(x\\right)}{\\log_{}\\left(x\\right)}}\\\\\n&amp;{f^{\\prime}\\left(x\\right)=\\,\\frac{\\log_{}\\left(x\\right)\\cos\\left(x\\right)-\\frac{\\sin\\left(x\\right)}{x}}{\\log_{}^{2}\\left(x\\right)}}\\\\\n&amp;{\\,\\,\\,\\,\\,\\,\\,\\,\\,\\,\\,\\,\\,\\,}\t\n\\end{lalign*}&quot;,&quot;aid&quot;:null,&quot;ts&quot;:1758630090527,&quot;cs&quot;:&quot;/zlI6TmmZSvZLyFo4hyS8w==&quot;,&quot;size&quot;:{&quot;width&quot;:265.66666666666674,&quot;height&quot;:335.3333333333333}}" id="102" name="Google Shape;102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21678" y="806445"/>
            <a:ext cx="2530475" cy="319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Derivative: Important property</a:t>
            </a:r>
            <a:endParaRPr/>
          </a:p>
        </p:txBody>
      </p:sp>
      <p:sp>
        <p:nvSpPr>
          <p:cNvPr id="108" name="Google Shape;108;p20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09" name="Google Shape;10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5813" y="2613250"/>
            <a:ext cx="3910397" cy="2530257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 txBox="1"/>
          <p:nvPr/>
        </p:nvSpPr>
        <p:spPr>
          <a:xfrm>
            <a:off x="259350" y="729950"/>
            <a:ext cx="5032800" cy="19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Derivative points in the opposite direction of the minimum. Thus if start somewhere and move in the direction of the negative gradient, we’ll eventually hit the minimum.</a:t>
            </a:r>
            <a:br>
              <a:rPr lang="en" sz="1300">
                <a:solidFill>
                  <a:schemeClr val="dk2"/>
                </a:solidFill>
              </a:rPr>
            </a:br>
            <a:r>
              <a:rPr lang="en" sz="1300">
                <a:solidFill>
                  <a:schemeClr val="dk2"/>
                </a:solidFill>
              </a:rPr>
              <a:t> </a:t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At the minimum, the derivative is 0. Makes sense, because derivative of a function at a point is the slope of the function at that point, and the slope must be zero. Note: slope can be zero both at a minima and maxima! So how to we tell them apart? Second derivative test!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111" name="Google Shape;111;p20"/>
          <p:cNvSpPr txBox="1"/>
          <p:nvPr/>
        </p:nvSpPr>
        <p:spPr>
          <a:xfrm>
            <a:off x="4516200" y="4730500"/>
            <a:ext cx="4518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Code: multiple_local_minima.py, derivative_direction.py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12" name="Google Shape;112;p20"/>
          <p:cNvPicPr preferRelativeResize="0"/>
          <p:nvPr/>
        </p:nvPicPr>
        <p:blipFill rotWithShape="1">
          <a:blip r:embed="rId4">
            <a:alphaModFix/>
          </a:blip>
          <a:srcRect b="3314" l="6062" r="6071" t="3323"/>
          <a:stretch/>
        </p:blipFill>
        <p:spPr>
          <a:xfrm>
            <a:off x="5355500" y="16040"/>
            <a:ext cx="3788500" cy="301903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size&quot;:9,&quot;family&quot;:&quot;Arial&quot;,&quot;color&quot;:&quot;#000000&quot;},&quot;type&quot;:&quot;lalign*&quot;,&quot;id&quot;:&quot;6&quot;,&quot;backgroundColor&quot;:&quot;#FFFFFF&quot;,&quot;code&quot;:&quot;\\begin{lalign*}\n&amp;{\\text{To}\\;\\text{move}\\;\\text{towards}\\;\\text{the}\\;\\text{minimum}\\;\\text{from}\\;\\text{any}\\;\\text{point,}\\;\\text{I}\\;\\text{need}\\;\\text{to}\\;\\text{know:}}\\\\\n&amp;{1.\\,\\text{Which}\\;\\text{direction}\\;\\text{should}\\;\\text{I}\\;\\text{move}\\;\\text{(left/right)}}\\\\\n&amp;{2.\\,\\text{How}\\;\\text{much}\\;\\text{should}\\;\\text{I}\\;\\text{move}}\\\\\n&amp;{\\text{Gradient}\\;\\text{gives}\\;\\text{us}\\;\\text{both.}\\;\\text{}}\\\\\n&amp;{Eg.,\\,\\text{At}\\;\\text{x}\\;\\text{=}\\;\\text{4.5,}\\;f^{\\prime}\\left(x\\right)=3.\\,\\text{Since}\\;f^{\\prime}\\left(x\\right)&gt;0,\\,\\text{w}\\text{e}\\;\\text{step}\\;\\text{to}\\;\\text{the}\\;\\text{left,}\\;\\text{by}\\;\\text{}}\\\\\n&amp;{\\text{learning}\\;\\text{rate}\\;\\times\\,3}\\\\\n&amp;{\\text{At}\\;\\text{x=2,}\\;f^{\\prime}\\left(x\\right)=-2.\\,\\,\\text{Since}\\;f^{\\prime}\\left(x\\right)&lt;0,\\,\\text{w}\\text{e}\\;\\text{step}\\;\\text{to}\\;\\text{the}\\;\\text{right,}\\;\\text{by}}\\\\\n&amp;{\\text{learning}\\;\\text{rate}\\;\\times\\,2}\t\n\\end{lalign*}&quot;,&quot;aid&quot;:null,&quot;backgroundColorModified&quot;:false,&quot;ts&quot;:1760702774072,&quot;cs&quot;:&quot;dn4x7Xar5PwxNvW6wqzAKQ==&quot;,&quot;size&quot;:{&quot;width&quot;:406,&quot;height&quot;:142.66666666666666}}" id="113" name="Google Shape;113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88188" y="3206783"/>
            <a:ext cx="3867150" cy="1358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1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 derivative test</a:t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type&quot;:&quot;lalign*&quot;,&quot;code&quot;:&quot;\\begin{lalign*}\n&amp;{f\\left(x_{0}+h\\right)=f\\left(x_{0}\\right)+f^{\\prime}\\left(x_{0}\\right)h+\\frac{1}{2}f^{\&quot;}\\left(x_{0}\\right)h^{2}+\\frac{1}{6}f^{\&quot;\\prime}\\left(x_{0}\\right)h^{3}...}\\\\\n&amp;{\\,\\,\\,\\,\\,\\,\\,\\,\\,\\,\\,\\,\\,\\,\\,\\,\\,\\,\\,\\,\\,\\,\\,\\,\\,\\,\\,=f\\left(x_{0}\\right)+f^{\\prime}\\left(x_{0}\\right)h+\\frac{1}{2}f^{\&quot;}\\left(x_{0}\\right)h^{2}+R\\left(x_{0},h\\right)}\\\\\n&amp;{\\,\\text{When}\\;x_{0}\\;\\text{is}\\;\\text{a}\\;\\text{local}\\;\\text{min/max,}\\;f^{\\prime}\\left(x_{0}\\right)=0.\\,\\text{In}\\;\\text{a}\\;\\text{sufficiently}\\;\\text{small}\\relempty }\\\\\n&amp;{\\text{neighborhood}\\;\\text{of}\\;x_{0}\\,\\text{i.e.,}\\;h\\,\\text{is}\\;\\text{\&quot;small\&quot;,}\\;R\\left(x_{0},h\\right)\\,\\text{is}\\;\\text{negligibly}\\;\\text{small}\\text{}}\\\\\n&amp;{f\\left(x_{0}+h\\right)\\approx f\\left(x_{0}\\right)+\\frac{1}{2}f^{\&quot;}\\left(x_{0}\\right)h^{2}}\\\\\n&amp;{\\text{So,}\\;\\text{when}\\;f^{\&quot;}\\left(x_{0}\\right)&gt;0,\\,f\\left(x_{0}+h\\right)&gt;f\\left(x_{0}\\right),\\,\\text{i.e.,}\\;x_{0\\,}\\text{is}\\;\\text{a}\\;\\text{local}\\;\\text{minimum}}\\\\\n&amp;{\\text{and,}\\;\\text{when}\\;f^{\&quot;}\\left(x_{0}\\right)&lt;0,\\,f\\left(x_{0}+h\\right)&lt;f\\left(x_{0}\\right),\\,\\text{i.e.,}\\;x_{0\\,}\\text{is}\\;\\text{local}\\;\\text{maximum}\\text{}}\\\\\n&amp;{\\text{when}\\;f^{\&quot;}\\left(x_{0}\\right)=0,\\,\\text{test}\\;\\text{i}\\text{s}\\;\\text{inconclusive}}\t\n\\end{lalign*}&quot;,&quot;font&quot;:{&quot;size&quot;:12,&quot;family&quot;:&quot;Arial&quot;,&quot;color&quot;:&quot;#000000&quot;},&quot;backgroundColor&quot;:&quot;#FFFFFF&quot;,&quot;aid&quot;:null,&quot;id&quot;:&quot;7&quot;,&quot;backgroundColorModified&quot;:false,&quot;ts&quot;:1759972713682,&quot;cs&quot;:&quot;Z7Au1euBn/qCTAPHo5tOjQ==&quot;,&quot;size&quot;:{&quot;width&quot;:555,&quot;height&quot;:252.5}}" id="120" name="Google Shape;120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5979" y="806391"/>
            <a:ext cx="5286375" cy="2405063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21"/>
          <p:cNvSpPr txBox="1"/>
          <p:nvPr/>
        </p:nvSpPr>
        <p:spPr>
          <a:xfrm>
            <a:off x="381450" y="3293550"/>
            <a:ext cx="7053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For some functions (eg., sin(x), log(x)) all higher order derivatives exist. For others, only derivatives up to a </a:t>
            </a:r>
            <a:r>
              <a:rPr lang="en">
                <a:solidFill>
                  <a:schemeClr val="dk2"/>
                </a:solidFill>
              </a:rPr>
              <a:t>certain</a:t>
            </a:r>
            <a:r>
              <a:rPr lang="en">
                <a:solidFill>
                  <a:schemeClr val="dk2"/>
                </a:solidFill>
              </a:rPr>
              <a:t> order </a:t>
            </a:r>
            <a:r>
              <a:rPr lang="en">
                <a:solidFill>
                  <a:schemeClr val="dk2"/>
                </a:solidFill>
              </a:rPr>
              <a:t>exist</a:t>
            </a:r>
            <a:r>
              <a:rPr lang="en">
                <a:solidFill>
                  <a:schemeClr val="dk2"/>
                </a:solidFill>
              </a:rPr>
              <a:t> (x^n) and higher order derivatives are zero..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Derivative: Important property</a:t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8" name="Google Shape;128;p22"/>
          <p:cNvSpPr txBox="1"/>
          <p:nvPr/>
        </p:nvSpPr>
        <p:spPr>
          <a:xfrm>
            <a:off x="259350" y="729950"/>
            <a:ext cx="75138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-"/>
            </a:pPr>
            <a:r>
              <a:rPr lang="en" sz="1500">
                <a:solidFill>
                  <a:schemeClr val="dk2"/>
                </a:solidFill>
              </a:rPr>
              <a:t>A function can have many local </a:t>
            </a:r>
            <a:r>
              <a:rPr lang="en" sz="1500">
                <a:solidFill>
                  <a:schemeClr val="dk2"/>
                </a:solidFill>
              </a:rPr>
              <a:t>minima or maxima</a:t>
            </a:r>
            <a:r>
              <a:rPr lang="en" sz="1500">
                <a:solidFill>
                  <a:schemeClr val="dk2"/>
                </a:solidFill>
              </a:rPr>
              <a:t>! We can distinguish between minimum and maximum using the second derivative test.</a:t>
            </a:r>
            <a:endParaRPr sz="1500">
              <a:solidFill>
                <a:schemeClr val="dk2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-"/>
            </a:pPr>
            <a:r>
              <a:rPr lang="en" sz="1500">
                <a:solidFill>
                  <a:schemeClr val="dk2"/>
                </a:solidFill>
              </a:rPr>
              <a:t>Sometimes, we can analytically solve f_prime(x) = 0, but usually not. </a:t>
            </a:r>
            <a:br>
              <a:rPr lang="en" sz="1500">
                <a:solidFill>
                  <a:schemeClr val="dk2"/>
                </a:solidFill>
              </a:rPr>
            </a:br>
            <a:r>
              <a:rPr lang="en" sz="1500">
                <a:solidFill>
                  <a:schemeClr val="dk2"/>
                </a:solidFill>
              </a:rPr>
              <a:t> 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129" name="Google Shape;129;p22"/>
          <p:cNvSpPr txBox="1"/>
          <p:nvPr/>
        </p:nvSpPr>
        <p:spPr>
          <a:xfrm>
            <a:off x="6002200" y="4684575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Code: multiple_local_minima.py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30" name="Google Shape;13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850" y="1519650"/>
            <a:ext cx="4085726" cy="30643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family&quot;:&quot;Arial&quot;,&quot;size&quot;:12,&quot;color&quot;:&quot;#000000&quot;},&quot;code&quot;:&quot;\\begin{lalign*}\n&amp;{f\\left(x\\right)=\\,x^{4}-3x^{2\\,}+\\,2}\\\\\n&amp;{f^{\\prime}\\left(x\\right)=4x^{3}-6x}\\\\\n&amp;{f^{\\prime}\\left(x\\right)=0\\,\\text{at}\\;x=0,\\,x=\\pm{\\sqrt[]{3/2}}}\\\\\n&amp;{f^{\&quot;}\\left(x\\right)=12x^{2}-6}\\\\\n&amp;{\\text{At}\\;x=0,\\,f^{\&quot;}\\left(x\\right)=-6,\\,\\to\\,\\text{local}\\;\\text{maximum}}\\\\\n&amp;{\\text{At}\\;x=\\pm{\\sqrt[]{3/2}},\\,f^{\&quot;}\\left(x\\right)=12\\,\\to\\,\\text{local}\\;\\text{mimumim}}\t\n\\end{lalign*}&quot;,&quot;id&quot;:&quot;3&quot;,&quot;backgroundColorModified&quot;:false,&quot;backgroundColor&quot;:&quot;#FFFFFF&quot;,&quot;type&quot;:&quot;lalign*&quot;,&quot;aid&quot;:null,&quot;ts&quot;:1759096556198,&quot;cs&quot;:&quot;quHJXim4oEGS/g3o2jgA/A==&quot;,&quot;size&quot;:{&quot;width&quot;:389.3333333333333,&quot;height&quot;:182}}" id="131" name="Google Shape;131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73525" y="1840488"/>
            <a:ext cx="37084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0100" y="1449475"/>
            <a:ext cx="4124400" cy="304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3"/>
          <p:cNvSpPr txBox="1"/>
          <p:nvPr/>
        </p:nvSpPr>
        <p:spPr>
          <a:xfrm>
            <a:off x="259350" y="729950"/>
            <a:ext cx="7513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In this case below, we can’t easily solve for f_prime(x) = 0</a:t>
            </a:r>
            <a:br>
              <a:rPr lang="en" sz="1500">
                <a:solidFill>
                  <a:schemeClr val="dk2"/>
                </a:solidFill>
              </a:rPr>
            </a:br>
            <a:r>
              <a:rPr lang="en" sz="1500">
                <a:solidFill>
                  <a:schemeClr val="dk2"/>
                </a:solidFill>
              </a:rPr>
              <a:t> 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138" name="Google Shape;138;p23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Derivative: Important property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0100" y="1449475"/>
            <a:ext cx="4124400" cy="304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4"/>
          <p:cNvSpPr txBox="1"/>
          <p:nvPr/>
        </p:nvSpPr>
        <p:spPr>
          <a:xfrm>
            <a:off x="259350" y="729950"/>
            <a:ext cx="7513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Process of finding a minimum by starting at a guess, and moving in the direction of the negative gradient.  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145" name="Google Shape;145;p24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Optimization using Gradient Descent</a:t>
            </a:r>
            <a:endParaRPr/>
          </a:p>
        </p:txBody>
      </p:sp>
      <p:pic>
        <p:nvPicPr>
          <p:cNvPr descr="{&quot;backgroundColor&quot;:&quot;#FFFFFF&quot;,&quot;id&quot;:&quot;4&quot;,&quot;code&quot;:&quot;$$x_{t+1}=x_{t}-\\eta _{t}f^{\\prime}\\left(x_{t}\\right)$$&quot;,&quot;type&quot;:&quot;$$&quot;,&quot;aid&quot;:null,&quot;font&quot;:{&quot;size&quot;:19.5,&quot;color&quot;:&quot;#000000&quot;,&quot;family&quot;:&quot;Arial&quot;},&quot;backgroundColorModified&quot;:false,&quot;ts&quot;:1759099433651,&quot;cs&quot;:&quot;q81oGM4uyhEVauqAthXJgQ==&quot;,&quot;size&quot;:{&quot;width&quot;:266.20000000000005,&quot;height&quot;:32.600000000000016}}" id="146" name="Google Shape;146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14700" y="1880813"/>
            <a:ext cx="2535555" cy="31051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4"/>
          <p:cNvSpPr txBox="1"/>
          <p:nvPr/>
        </p:nvSpPr>
        <p:spPr>
          <a:xfrm>
            <a:off x="5723300" y="2629550"/>
            <a:ext cx="15786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Learning rate</a:t>
            </a:r>
            <a:r>
              <a:rPr lang="en" sz="1500">
                <a:solidFill>
                  <a:schemeClr val="dk2"/>
                </a:solidFill>
              </a:rPr>
              <a:t> </a:t>
            </a:r>
            <a:endParaRPr sz="1500">
              <a:solidFill>
                <a:schemeClr val="dk2"/>
              </a:solidFill>
            </a:endParaRPr>
          </a:p>
        </p:txBody>
      </p:sp>
      <p:cxnSp>
        <p:nvCxnSpPr>
          <p:cNvPr id="148" name="Google Shape;148;p24"/>
          <p:cNvCxnSpPr>
            <a:stCxn id="147" idx="0"/>
          </p:cNvCxnSpPr>
          <p:nvPr/>
        </p:nvCxnSpPr>
        <p:spPr>
          <a:xfrm flipH="1" rot="10800000">
            <a:off x="6512600" y="2202350"/>
            <a:ext cx="541200" cy="427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9" name="Google Shape;149;p24"/>
          <p:cNvSpPr txBox="1"/>
          <p:nvPr/>
        </p:nvSpPr>
        <p:spPr>
          <a:xfrm>
            <a:off x="7301900" y="2629550"/>
            <a:ext cx="157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Gradient at current iterate</a:t>
            </a:r>
            <a:endParaRPr sz="1500">
              <a:solidFill>
                <a:schemeClr val="dk2"/>
              </a:solidFill>
            </a:endParaRPr>
          </a:p>
        </p:txBody>
      </p:sp>
      <p:cxnSp>
        <p:nvCxnSpPr>
          <p:cNvPr id="150" name="Google Shape;150;p24"/>
          <p:cNvCxnSpPr>
            <a:stCxn id="149" idx="0"/>
          </p:cNvCxnSpPr>
          <p:nvPr/>
        </p:nvCxnSpPr>
        <p:spPr>
          <a:xfrm rot="10800000">
            <a:off x="7690400" y="2268650"/>
            <a:ext cx="400800" cy="360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1" name="Google Shape;151;p24"/>
          <p:cNvSpPr txBox="1"/>
          <p:nvPr/>
        </p:nvSpPr>
        <p:spPr>
          <a:xfrm>
            <a:off x="4639075" y="3342200"/>
            <a:ext cx="4176000" cy="181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2"/>
                </a:solidFill>
              </a:rPr>
              <a:t>Key points:</a:t>
            </a:r>
            <a:endParaRPr b="1" sz="15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Gradient points in the direction of maximum ascent, that’s why we move against the gradient</a:t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The step size is a combination of learning rate and current value of the gradient</a:t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Gradient provides both direction and size of the step. However, it is common to decrease the learning rate as we approach the minimum</a:t>
            </a:r>
            <a:endParaRPr sz="13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5"/>
          <p:cNvSpPr txBox="1"/>
          <p:nvPr/>
        </p:nvSpPr>
        <p:spPr>
          <a:xfrm>
            <a:off x="259350" y="729950"/>
            <a:ext cx="7513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Process of finding a minimum by starting at a guess, and moving in the direction of the negative gradient.  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157" name="Google Shape;157;p25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Optimization using Gradient Descent</a:t>
            </a:r>
            <a:endParaRPr/>
          </a:p>
        </p:txBody>
      </p:sp>
      <p:pic>
        <p:nvPicPr>
          <p:cNvPr descr="{&quot;backgroundColor&quot;:&quot;#FFFFFF&quot;,&quot;id&quot;:&quot;4&quot;,&quot;code&quot;:&quot;$$x_{t+1}=x_{t}-\\eta _{t}f^{\\prime}\\left(x_{t}\\right)$$&quot;,&quot;type&quot;:&quot;$$&quot;,&quot;aid&quot;:null,&quot;font&quot;:{&quot;size&quot;:19.5,&quot;color&quot;:&quot;#000000&quot;,&quot;family&quot;:&quot;Arial&quot;},&quot;backgroundColorModified&quot;:false,&quot;ts&quot;:1759099433651,&quot;cs&quot;:&quot;q81oGM4uyhEVauqAthXJgQ==&quot;,&quot;size&quot;:{&quot;width&quot;:266.20000000000005,&quot;height&quot;:32.600000000000016}}" id="158" name="Google Shape;158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60473" y="1880813"/>
            <a:ext cx="2535555" cy="310515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5"/>
          <p:cNvSpPr txBox="1"/>
          <p:nvPr/>
        </p:nvSpPr>
        <p:spPr>
          <a:xfrm>
            <a:off x="5954840" y="2629550"/>
            <a:ext cx="15786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Learning rate </a:t>
            </a:r>
            <a:endParaRPr sz="1500">
              <a:solidFill>
                <a:schemeClr val="dk2"/>
              </a:solidFill>
            </a:endParaRPr>
          </a:p>
        </p:txBody>
      </p:sp>
      <p:cxnSp>
        <p:nvCxnSpPr>
          <p:cNvPr id="160" name="Google Shape;160;p25"/>
          <p:cNvCxnSpPr>
            <a:stCxn id="159" idx="0"/>
          </p:cNvCxnSpPr>
          <p:nvPr/>
        </p:nvCxnSpPr>
        <p:spPr>
          <a:xfrm flipH="1" rot="10800000">
            <a:off x="6744140" y="2218850"/>
            <a:ext cx="888300" cy="410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1" name="Google Shape;161;p25"/>
          <p:cNvSpPr txBox="1"/>
          <p:nvPr/>
        </p:nvSpPr>
        <p:spPr>
          <a:xfrm>
            <a:off x="7533440" y="2629550"/>
            <a:ext cx="157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Gradient at current iterate</a:t>
            </a:r>
            <a:endParaRPr sz="1500">
              <a:solidFill>
                <a:schemeClr val="dk2"/>
              </a:solidFill>
            </a:endParaRPr>
          </a:p>
        </p:txBody>
      </p:sp>
      <p:cxnSp>
        <p:nvCxnSpPr>
          <p:cNvPr id="162" name="Google Shape;162;p25"/>
          <p:cNvCxnSpPr>
            <a:stCxn id="161" idx="0"/>
          </p:cNvCxnSpPr>
          <p:nvPr/>
        </p:nvCxnSpPr>
        <p:spPr>
          <a:xfrm rot="10800000">
            <a:off x="8104040" y="2243750"/>
            <a:ext cx="218700" cy="385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163" name="Google Shape;163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250" y="1389825"/>
            <a:ext cx="5737000" cy="344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6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Integration</a:t>
            </a:r>
            <a:endParaRPr/>
          </a:p>
        </p:txBody>
      </p:sp>
      <p:sp>
        <p:nvSpPr>
          <p:cNvPr id="169" name="Google Shape;169;p26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70" name="Google Shape;170;p26"/>
          <p:cNvSpPr txBox="1"/>
          <p:nvPr/>
        </p:nvSpPr>
        <p:spPr>
          <a:xfrm>
            <a:off x="315150" y="842975"/>
            <a:ext cx="6769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Integrating a function from a to b means calculating the area under the curve defined by the function </a:t>
            </a:r>
            <a:endParaRPr sz="1600">
              <a:solidFill>
                <a:schemeClr val="dk2"/>
              </a:solidFill>
            </a:endParaRPr>
          </a:p>
        </p:txBody>
      </p:sp>
      <p:sp>
        <p:nvSpPr>
          <p:cNvPr id="171" name="Google Shape;171;p26"/>
          <p:cNvSpPr txBox="1"/>
          <p:nvPr/>
        </p:nvSpPr>
        <p:spPr>
          <a:xfrm>
            <a:off x="579775" y="4740375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Code: integration_demo.py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72" name="Google Shape;17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713825"/>
            <a:ext cx="3832200" cy="287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37000" y="1713825"/>
            <a:ext cx="4369700" cy="3277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problems</a:t>
            </a:r>
            <a:endParaRPr/>
          </a:p>
        </p:txBody>
      </p:sp>
      <p:sp>
        <p:nvSpPr>
          <p:cNvPr id="179" name="Google Shape;179;p27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80" name="Google Shape;180;p27"/>
          <p:cNvSpPr txBox="1"/>
          <p:nvPr/>
        </p:nvSpPr>
        <p:spPr>
          <a:xfrm>
            <a:off x="367400" y="901325"/>
            <a:ext cx="5932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code&quot;:&quot;\\begin{lalign*}\n&amp;{\\text{Calculate}\\;\\text{derivatives}\\;\\text{of:}}\\\\\n&amp;{f\\left(x\\right)\\,=\\,\\left(3x^{2}+1\\right)\\left(5x+2\\right)\\,\\text{using}\\;\\text{product}\\;\\text{rule}}\\\\\n&amp;{f\\left(x\\right)=\\frac{x^{2}+1}{2x-3}\\text{using}\\;\\text{quotient}\\;\\text{rule}}\\\\\n&amp;{f\\left(x\\right)=\\sin\\left(3x^{2}\\right)\\,\\text{using}\\;\\text{chain}\\;\\text{rule}}\\\\\n&amp;{f\\left(x\\right)=x\\sigma\\left(x\\right),\\,\\text{where}\\;\\sigma\\left(x\\right)=\\frac{1}{1+e^{-x}}}\\\\\n&amp;{}\t\n\\end{lalign*}&quot;,&quot;backgroundColor&quot;:&quot;#FFFFFF&quot;,&quot;type&quot;:&quot;lalign*&quot;,&quot;id&quot;:&quot;2&quot;,&quot;backgroundColorModified&quot;:false,&quot;font&quot;:{&quot;family&quot;:&quot;Arial&quot;,&quot;color&quot;:&quot;#000000&quot;,&quot;size&quot;:12},&quot;aid&quot;:null,&quot;ts&quot;:1759187517188,&quot;cs&quot;:&quot;nB7DipQgoPNqVYbHBxDYcA==&quot;,&quot;size&quot;:{&quot;width&quot;:368.3333333333333,&quot;height&quot;:169.33333333333334}}" id="181" name="Google Shape;181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416" y="1328875"/>
            <a:ext cx="3508375" cy="161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type&quot;:&quot;lalign*&quot;,&quot;aid&quot;:null,&quot;code&quot;:&quot;\\begin{lalign*}\n&amp;{\\text{Calculate}\\;\\text{critical}\\;\\text{points}\\;\\text{(minima/maxima}\\text{)}\\;\\text{of}}\\\\\n&amp;{f\\left(x\\right)\\,=\\,x^{3}-6x^{2}+9x.\\,\\text{Use}\\;\\text{second}\\;\\text{derivative}\\;\\text{test}}\\\\\n&amp;{\\text{to}\\;\\text{classify}\\;\\text{minima/maxima}}\\\\\n&amp;{\\text{Explain}\\;\\text{why}\\;\\text{gradient}\\;\\text{descent}\\;\\text{on}\\;f\\left(x\\right)=\\left(x-2\\right)^{2}\\,\\text{converges}}\\\\\n&amp;{\\text{to}\\;\\text{the}\\;\\text{same}\\;\\text{minimum}\\;\\text{(2)}\\;\\text{from}\\;\\text{any}\\;\\text{starting}\\;\\text{point}}\t\n\\end{lalign*}&quot;,&quot;backgroundColorModified&quot;:false,&quot;backgroundColor&quot;:&quot;#FFFFFF&quot;,&quot;font&quot;:{&quot;color&quot;:&quot;#000000&quot;,&quot;family&quot;:&quot;Arial&quot;,&quot;size&quot;:12},&quot;id&quot;:&quot;2&quot;,&quot;ts&quot;:1759187866334,&quot;cs&quot;:&quot;+LvwsusBs/gPeNPvYxh7ag==&quot;,&quot;size&quot;:{&quot;width&quot;:482.3333333333333,&quot;height&quot;:122.66666666666667}}" id="182" name="Google Shape;182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7391" y="3540704"/>
            <a:ext cx="4594225" cy="11684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/>
          <p:nvPr/>
        </p:nvSpPr>
        <p:spPr>
          <a:xfrm>
            <a:off x="367400" y="793625"/>
            <a:ext cx="6769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</a:rPr>
              <a:t>Derivative Rules</a:t>
            </a:r>
            <a:r>
              <a:rPr b="1" lang="en" sz="1600">
                <a:solidFill>
                  <a:schemeClr val="dk2"/>
                </a:solidFill>
              </a:rPr>
              <a:t> </a:t>
            </a:r>
            <a:endParaRPr b="1" sz="1600">
              <a:solidFill>
                <a:schemeClr val="dk2"/>
              </a:solidFill>
            </a:endParaRPr>
          </a:p>
        </p:txBody>
      </p:sp>
      <p:sp>
        <p:nvSpPr>
          <p:cNvPr id="184" name="Google Shape;184;p27"/>
          <p:cNvSpPr txBox="1"/>
          <p:nvPr/>
        </p:nvSpPr>
        <p:spPr>
          <a:xfrm>
            <a:off x="472425" y="3025675"/>
            <a:ext cx="6769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</a:rPr>
              <a:t>Optimization</a:t>
            </a:r>
            <a:r>
              <a:rPr b="1" lang="en" sz="1600">
                <a:solidFill>
                  <a:schemeClr val="dk2"/>
                </a:solidFill>
              </a:rPr>
              <a:t> </a:t>
            </a:r>
            <a:endParaRPr b="1" sz="1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8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problems</a:t>
            </a:r>
            <a:endParaRPr/>
          </a:p>
        </p:txBody>
      </p:sp>
      <p:sp>
        <p:nvSpPr>
          <p:cNvPr id="190" name="Google Shape;190;p28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91" name="Google Shape;191;p28"/>
          <p:cNvSpPr txBox="1"/>
          <p:nvPr/>
        </p:nvSpPr>
        <p:spPr>
          <a:xfrm>
            <a:off x="367400" y="901325"/>
            <a:ext cx="5932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code&quot;:&quot;\\begin{lalign*}\n&amp;{\\text{1.}\\;\\text{}\\text{Calculate}\\;\\int_{0}^{1}x^{2}dx\\,\\text{manually}\\;\\text{and}\\;\\text{using}\\;\\text{numerical}\\;\\text{approximation}.\\,}\\\\\n&amp;{\\text{Calculate}\\;\\text{the}\\;\\text{area}\\;\\text{of}\\;\\text{the}\\;\\text{quadilaterals}\\;\\text{under}\\;\\text{the}\\;\\text{curve}\\;\\text{using}\\;\\text{a}\\;\\text{trapezoid}\\;\\text{}}\\\\\n&amp;{\\text{approximation.}\\;\\text{Vary}\\;\\text{the}\\;\\text{number}\\;\\text{of}\\;\\text{trapezoids.}\\;\\text{}}\\\\\n&amp;{2.\\,\\text{Using}\\;\\text{numerical}\\;\\text{approximation}\\;\\text{(use}\\;\\text{central}\\;\\text{difference),}\\;}\\\\\n&amp;{\\text{calculate}\\;\\text{derivative}\\;\\text{of}\\;x^{2}\\text{at}\\;x=2,\\,\\text{for}\\;\\text{different}\\;\\text{values}}\\\\\n&amp;{\\text{of}\\;\\delta x\\,\\text{(0.1,}\\;\\text{0.01,}\\;\\text{0.002).}\\;\\text{Compare}\\;\\text{with}\\;\\text{the}\\;\\text{exact}\\;\\text{value}\\;\\text{of}\\;\\text{the}\\;\\text{derivative}}\\\\\n&amp;{3.\\,\\text{Implement}\\;\\text{gradient}\\;\\text{descent}\\;\\text{for}\\;f\\left(x\\right)=\\left(x-3\\right)^{2}\\,\\text{starting}\\;\\text{with}\\;\\text{different}\\;\\text{values}\\text{}}\\\\\n&amp;{\\text{of}\\;\\text{starting}\\;\\text{points.}\\;\\text{Try}\\;\\text{two}\\;\\text{different}\\;\\text{values}\\;\\text{of}\\;\\text{the}\\;\\text{learning}\\;\\text{rate}\\;\\text{(0.1,}\\;\\text{0.5)}}\\\\\n&amp;{}\t\n\\end{lalign*}&quot;,&quot;backgroundColor&quot;:&quot;#FFFFFF&quot;,&quot;backgroundColorModified&quot;:false,&quot;font&quot;:{&quot;color&quot;:&quot;#000000&quot;,&quot;size&quot;:12,&quot;family&quot;:&quot;Arial&quot;},&quot;type&quot;:&quot;lalign*&quot;,&quot;id&quot;:&quot;5&quot;,&quot;aid&quot;:null,&quot;ts&quot;:1760201579040,&quot;cs&quot;:&quot;8wehhPDoAC3OIVfxnX8vng==&quot;,&quot;size&quot;:{&quot;width&quot;:645,&quot;height&quot;:223.5}}" id="192" name="Google Shape;19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4956" y="1344550"/>
            <a:ext cx="6143625" cy="2128838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8"/>
          <p:cNvSpPr txBox="1"/>
          <p:nvPr/>
        </p:nvSpPr>
        <p:spPr>
          <a:xfrm>
            <a:off x="367400" y="793625"/>
            <a:ext cx="6769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</a:rPr>
              <a:t>Coding Problems</a:t>
            </a:r>
            <a:r>
              <a:rPr b="1" lang="en" sz="1600">
                <a:solidFill>
                  <a:schemeClr val="dk2"/>
                </a:solidFill>
              </a:rPr>
              <a:t> </a:t>
            </a:r>
            <a:endParaRPr b="1" sz="1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