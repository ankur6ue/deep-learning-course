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af67b1e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af67b1e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12b89a26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12b89a26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4d324047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4d324047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4d324047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4d32404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4d324047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4d324047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4d324047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4d324047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81bfdceb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81bfdceb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4d324047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4d324047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8ba380d9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8ba380d9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8ba380d9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8ba380d9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8ba380d9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8ba380d9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8ba380d9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8ba380d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41786365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41786365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41786365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41786365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41786365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41786365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41786365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41786365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0bf933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40bf933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umpy.org/doc/stable/user/absolute_beginners.html#linear-algebra" TargetMode="External"/><Relationship Id="rId4" Type="http://schemas.openxmlformats.org/officeDocument/2006/relationships/hyperlink" Target="https://www.cs.cmu.edu/~mgormley/courses/10601/slides/10601-matrix-calculus.pd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Mathematical </a:t>
            </a:r>
            <a:r>
              <a:rPr lang="en" sz="4700"/>
              <a:t>Preliminaries</a:t>
            </a:r>
            <a:endParaRPr sz="4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1, Class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Pre-read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89250" y="1234150"/>
            <a:ext cx="7841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Paul’s online notes, section 13.2 (Partial Derivatives), 13.3 (Interpretation), 13.6 (Chain Rule), 13.7 (Directional Derivatives): Do the examples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https://www.khanacademy.org/math/linear-algebra/vectors-and-spaces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Covers vector addition, scalar multiplication, dot product, and length (norms) with visualizations.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NumPy Tutorial: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Linear Algebra Basics</a:t>
            </a:r>
            <a:r>
              <a:rPr lang="en" sz="1800">
                <a:solidFill>
                  <a:schemeClr val="dk2"/>
                </a:solidFill>
              </a:rPr>
              <a:t>, for practice with numpy.dot, numpy.linalg.norm, and other operations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Matrix Calculus</a:t>
            </a:r>
            <a:r>
              <a:rPr lang="en" sz="1800">
                <a:solidFill>
                  <a:schemeClr val="dk2"/>
                </a:solidFill>
              </a:rPr>
              <a:t>, Sections 1.1, 1.2, 1.3, 2.1, 2.2. Do some of the exercises (1.4), 2.1, 2.2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80050" y="1195250"/>
            <a:ext cx="6747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Introduction to derivatives in multiple dimensions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Geometric </a:t>
            </a:r>
            <a:r>
              <a:rPr lang="en" sz="1800">
                <a:solidFill>
                  <a:schemeClr val="dk2"/>
                </a:solidFill>
              </a:rPr>
              <a:t>interpretation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Chain rule in a computational graph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Using partial </a:t>
            </a:r>
            <a:r>
              <a:rPr lang="en" sz="1800">
                <a:solidFill>
                  <a:schemeClr val="dk2"/>
                </a:solidFill>
              </a:rPr>
              <a:t>derivatives</a:t>
            </a:r>
            <a:r>
              <a:rPr lang="en" sz="1800">
                <a:solidFill>
                  <a:schemeClr val="dk2"/>
                </a:solidFill>
              </a:rPr>
              <a:t> to solve linear regression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480050" y="1195250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backgroundColor&quot;:&quot;#FFFFFF&quot;,&quot;code&quot;:&quot;\\begin{lalign*}\n&amp;{\\text{Until}\\;\\text{now,}\\;\\text{we}\\;\\text{considered}\\;\\text{functions}\\;\\text{that}\\;\\text{mapped}\\;\\text{points}\\;\\text{to}\\;\\text{points..}\\;\\text{eg.,}\\;y=ax+b.\\,\\text{These}\\;\\text{functions}}\\\\\n&amp;{\\text{are}\\;\\text{called}\\;\\text{univariate}\\;\\text{as}\\;\\text{they}\\;\\text{map}\\;\\text{points}\\;\\text{from}\\;\\mathbb{R}^{1}\\to\\mathbb{R}^{1}}\\\\\n&amp;{\\text{Now}\\;\\text{let's}\\;\\text{consider}\\;\\text{multivariate}\\;\\text{functions..}\\;\\text{that}\\;\\text{map}\\;\\text{points}\\;\\text{from}\\;\\mathbb{R}^{n}\\to\\mathbb{R}^{1}\\,\\left(\\text{also}\\;\\text{just}\\;\\text{denoted}\\;\\text{as}\\;\\mathbb{R}\\right)}\\\\\n&amp;{\\text{Eg.,}\\,}\\\\\n&amp;{\\text{Volume}\\;\\text{of}\\;\\text{Cone:}}\\\\\n&amp;{V\\left(r,h\\right)=\\frac{1}{3}\\pi r^{2}h\\,\\,\\left[r,h\\right]\\in\\mathbb{R}^{2}\\,\\to\\frac{1}{3}\\pi r^{2}h\\,\\in \\mathbb{R}}\\\\\n&amp;{L_{2}\\,\\text{norm}\\;\\text{of}\\;\\text{a}\\;\\text{vector}}\\\\\n&amp;{f\\left(x\\right)={\\sqrt[]{x_{1}^{2}+x_{2}^{2}\\,...\\,x_{n}^{2}}},\\,\\text{vector}\\;\\boldsymbol{x}\\,\\in\\mathbb{R}^{n}\\to \\mathbb{R}}\t\n\\end{lalign*}&quot;,&quot;id&quot;:&quot;1&quot;,&quot;type&quot;:&quot;lalign*&quot;,&quot;aid&quot;:null,&quot;font&quot;:{&quot;size&quot;:10,&quot;family&quot;:&quot;Arial&quot;,&quot;color&quot;:&quot;#595959&quot;},&quot;backgroundColorModified&quot;:false,&quot;ts&quot;:1759356690136,&quot;cs&quot;:&quot;Eewot4Z8eoYTp4QAJD1nvQ==&quot;,&quot;size&quot;:{&quot;width&quot;:667.0000000000001,&quot;height&quot;:191.5}}"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25" y="1017721"/>
            <a:ext cx="6353175" cy="1824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id&quot;:&quot;2&quot;,&quot;font&quot;:{&quot;color&quot;:&quot;#000000&quot;,&quot;family&quot;:&quot;Arial&quot;,&quot;size&quot;:10},&quot;type&quot;:&quot;lalign*&quot;,&quot;code&quot;:&quot;\\begin{lalign*}\n&amp;{\\text{For}\\;\\text{a}\\;\\text{general}\\;\\text{function}\\;y=f\\left(\\boldsymbol{x}\\right)\\,\\mathbb{R^{n}\\to\\mathbb{R},}}\\\\\n&amp;{\\diff{y}{\\boldsymbol{x}}=\\begin{pmatrix}\n{\\pdf{y}{x_{1}}}\\\\\n{\\pdf{y}{x_{2}}}\\\\\n{...}\\\\\n{\\pdf{y}{x_{n}}}\\\\\n\\end{pmatrix},\\,n\\times1\\,\\text{vector}}\\\\\n&amp;{\\text{Note:}\\;\\text{We}\\;\\text{could}\\;\\text{also}\\;\\text{have}\\;\\text{written}\\;\\text{this}\\;\\text{the}\\;\\text{derivative}\\;\\text{as}\\;\\text{a}\\;\\text{row}\\;\\text{vector}}\\\\\n&amp;{\\begin{pmatrix}\n{\\pdf{y}{x_{1}}}&amp;{\\pdf{y}{x_{2}}}&amp;{...}&amp;{\\pdf{y}{x_{n}}}\\\\\n\\end{pmatrix}}\\\\\n&amp;{\\text{But}\\;\\text{we'll}\\;\\text{always}\\;\\text{write}\\;\\text{derivative}\\;\\text{of}\\;\\text{a}\\;\\text{scalar}\\;\\text{against}\\;\\text{a}\\;\\text{vector}\\;\\text{as}\\;\\text{a}\\;\\text{column}\\;\\text{vector}}\t\n\\end{lalign*}&quot;,&quot;aid&quot;:null,&quot;backgroundColor&quot;:&quot;#FFFFFF&quot;,&quot;ts&quot;:1759356604318,&quot;cs&quot;:&quot;C/qRiBQeS+YRnUs29w3vrg==&quot;,&quot;size&quot;:{&quot;width&quot;:538,&quot;height&quot;:195.5}}"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25" y="3008925"/>
            <a:ext cx="512445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956550" y="3328675"/>
            <a:ext cx="4559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 we are considering the derivative of a scalar against a vector!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69775" y="1162825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id&quot;:&quot;3&quot;,&quot;type&quot;:&quot;lalign*&quot;,&quot;aid&quot;:null,&quot;backgroundColor&quot;:&quot;#FFFFFF&quot;,&quot;backgroundColorModified&quot;:false,&quot;font&quot;:{&quot;family&quot;:&quot;Arial&quot;,&quot;color&quot;:&quot;#595959&quot;,&quot;size&quot;:13},&quot;code&quot;:&quot;\\begin{lalign*}\n&amp;{\\text{How}\\;\\text{do}\\;\\text{we}\\;\\text{calculate}\\;\\text{partial}\\;\\text{derivatives?}\\;\\text{We}\\;\\text{only}\\;\\text{vary}\\;\\text{the}\\;\\text{coordinate}\\;}\\\\\n&amp;{\\text{we}\\;\\text{are}\\;\\text{calculating}\\;\\text{the}\\;\\text{derivative}\\;\\text{against,}\\;\\text{and}\\;\\text{hold}\\;\\text{the}\\,\\text{other}}\\\\\n&amp;{\\text{coordinates}\\;\\text{constant.}\\;\\text{Eg.,}}\\\\\n&amp;{y=f\\left(r,h\\right)=\\frac{1}{3}r^{2}h}\\\\\n&amp;{\\pdf{y}{r}=\\frac{2}{3}rh,\\,\\pdf{y}{h}=\\frac{1}{3}r^{2}}\\\\\n&amp;{z=\\sin\\left(xy\\right)}\\\\\n&amp;{\\pdf{z}{y}=x\\cos\\left(xy\\right),\\,\\pdf{z}{x}=y\\cos\\left(xy\\right)}\\\\\n&amp;{y={\\sqrt[]{x_{1}^{2}+x_{2}^{2}\\,...\\,x_{n}^{2}}},}\\\\\n&amp;{\\pdf{y}{x_{i}}=\\frac{x_{i}}{{\\sqrt[]{x_{1}^{2}+x_{2}^{2}\\,...\\,x_{n}^{2}}},}}\t\n\\end{lalign*}&quot;,&quot;ts&quot;:1759689050818,&quot;cs&quot;:&quot;2tgbtNIl4FweSxZU4hi30Q==&quot;,&quot;size&quot;:{&quot;width&quot;:612.4999999999999,&quot;height&quot;:363.5}}"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83" y="1162825"/>
            <a:ext cx="5834063" cy="34623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3652000" y="2196975"/>
            <a:ext cx="4773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Partial derivative along one coordinate is the same as regular derivative if we treat the other dimensions as a constant</a:t>
            </a:r>
            <a:endParaRPr sz="13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The </a:t>
            </a:r>
            <a:r>
              <a:rPr i="1" lang="en" sz="1300">
                <a:solidFill>
                  <a:schemeClr val="dk2"/>
                </a:solidFill>
              </a:rPr>
              <a:t>total </a:t>
            </a:r>
            <a:r>
              <a:rPr lang="en" sz="1300">
                <a:solidFill>
                  <a:schemeClr val="dk2"/>
                </a:solidFill>
              </a:rPr>
              <a:t>derivative is now a vector, with the partial derivatives forming the coordinates along each axis. The total derivative vector still points in the direction of the steepest ascent!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Partial derivatives can depend on all dimensions, a single dimension and anything in between. They can also be a constant, including 0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11700" y="4625150"/>
            <a:ext cx="455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verify_partial_derivatives.py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Derivatives: Interpretation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369775" y="1162825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512400" y="1149350"/>
            <a:ext cx="705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Partial derivative along one coordinate is the same as regular derivative if we treat the other dimensions as a constant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50" y="2571750"/>
            <a:ext cx="2720950" cy="254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9300" y="2571750"/>
            <a:ext cx="2459622" cy="23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4297" y="2616325"/>
            <a:ext cx="2459622" cy="230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id&quot;:&quot;4&quot;,&quot;code&quot;:&quot;\\begin{gather*}\n{f\\left(x\\right)=x^{2}-y^{2}}\\\\\n{f_{x}\\left(x,y=1\\right)=\\pdf{\\left(x^{2}-1\\right)}{x}=2x,\\,f_{y}\\left(x=1,y\\right)=\\pdf{\\left(1-y^{2}\\right)}{y}=-2y}\t\n\\end{gather*}&quot;,&quot;aid&quot;:null,&quot;type&quot;:&quot;gather*&quot;,&quot;font&quot;:{&quot;size&quot;:15,&quot;family&quot;:&quot;Arial&quot;,&quot;color&quot;:&quot;#595959&quot;},&quot;ts&quot;:1759612859752,&quot;cs&quot;:&quot;0EoAIbj6ONwdi0vucs+urQ==&quot;,&quot;size&quot;:{&quot;width&quot;:675,&quot;height&quot;:93.5}}" id="96" name="Google Shape;9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925" y="1754475"/>
            <a:ext cx="5334231" cy="7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4294967295" type="title"/>
          </p:nvPr>
        </p:nvSpPr>
        <p:spPr>
          <a:xfrm>
            <a:off x="311700" y="445025"/>
            <a:ext cx="300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Derivatives: Interpretation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369775" y="1162825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5775" y="1542200"/>
            <a:ext cx="33075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From a point x0, y0, there are an </a:t>
            </a:r>
            <a:r>
              <a:rPr lang="en" sz="1300">
                <a:solidFill>
                  <a:schemeClr val="dk2"/>
                </a:solidFill>
              </a:rPr>
              <a:t>infinite number of directions I could move. The function can change by different amounts in each direction. I can ask two questions: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If I move in direction (u,v), what is the rate of change?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In which direction is the rate of change maximum, and what is the value of that rate of change? 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descr="{&quot;backgroundColorModified&quot;:false,&quot;aid&quot;:null,&quot;font&quot;:{&quot;color&quot;:&quot;#000000&quot;,&quot;size&quot;:12,&quot;family&quot;:&quot;Arial&quot;},&quot;backgroundColor&quot;:&quot;#FFFFFF&quot;,&quot;code&quot;:&quot;\\begin{lalign*}\n&amp;{\\text{Let}\\;\\boldsymbol{u}\\,\\text{be}\\;\\text{a}\\;\\text{unit}\\;\\text{vector}\\;\\text{describing}\\;\\text{a}\\;\\text{direction}\\;\\text{(}u_{x},\\,u_{y}\\text{).}\\;\\text{Then,}\\;\\text{}}\\\\\n&amp;{\\text{rate}\\;\\text{of}\\;\\text{change}\\;\\text{of}\\;\\text{a}\\;\\text{function}\\;f\\,\\text{in}\\;\\text{direction}\\;\\boldsymbol{u},\\,D_{u}=\\left[f_{x},\\,f_{y}\\right].\\left[u_{x},\\,u_{y}\\right]^{}}\\\\\n&amp;{eg.,\\,\\text{if}\\;\\text{I'm}\\;\\text{on}\\;\\text{(1,1)}\\;\\text{on}\\;f\\left(x,y\\right)=x^{2}+y^{2},\\,\\text{and}\\;\\text{I}\\;\\text{move}\\;\\text{by}\\;\\;\\text{}}\\\\\n&amp;{\\text{0.1}\\;\\text{along}\\;\\text{x,}\\;\\text{and}\\;\\text{0.05}\\;\\text{along}\\;\\text{y,}\\;\\text{then}}\\\\\n&amp;{D_{u}=\\left(\\frac{0.1}{{\\sqrt[]{0.1^{2}+0.05^{2}}}},\\,\\frac{0.05}{{\\sqrt[]{0.1^{2}+0.05^{2}}}}\\right).\\left(2,2\\right)=2.68}\\\\\n&amp;{\\text{In}\\;\\text{which}\\;\\text{direction}\\;\\text{is}\\;\\text{the}\\;\\text{function}\\;\\text{changing}\\;\\text{fastest?}\\;\\text{i.e.,}\\;D_{u\\,}\\text{highest?}\\;\\text{}}\\\\\n&amp;{D_{u}=\\left|\\left|\\nabla f\\right|\\right|\\,\\left|\\left|\\boldsymbol{u}\\right|\\right|\\cos\\left(\\theta\\right),\\,\\text{theta}\\;\\text{is}\\;\\text{angle}\\;\\text{between}\\;\\nabla f\\,\\text{and}\\;\\boldsymbol{u}}\\\\\n&amp;{\\,\\,\\,\\,\\,\\,\\,\\,\\,=\\,\\left|\\left|\\nabla f\\right|\\right|\\cos\\left(\\theta\\right),\\,\\text{because}\\;\\boldsymbol{u\\,}\\text{is}\\;\\text{a}\\;\\text{unit}\\;\\text{vector}}\\\\\n&amp;{\\text{Max}\\;\\text{value}\\;\\text{of}\\;\\cos\\left(\\theta\\right)=1,\\,\\theta=0,\\,\\text{i.e.,}\\;\\boldsymbol{u}=\\nabla f/\\left|\\left|\\nabla f\\right|\\right|}\\\\\n&amp;{\\text{So,}\\;\\text{the}\\;\\text{magnitude}\\;\\text{of}\\;\\text{the}\\;\\text{gradient}\\;\\text{is}\\;\\text{the}\\;\\text{maximum}\\;\\text{rate}\\;\\text{of}\\;\\text{change}\\;\\text{in}}\\\\\n&amp;{\\text{any}\\;\\text{direction,}\\;\\text{and}\\;\\text{the}\\;\\text{direction}\\;\\text{of}\\;\\text{maximum}\\;\\text{rate}\\;\\text{of}\\;\\text{change}\\;\\text{is}\\;\\text{the}\\;\\text{gradient}\\;\\text{}}\\\\\n&amp;{\\text{vector}}\t\n\\end{lalign*}&quot;,&quot;id&quot;:&quot;5&quot;,&quot;type&quot;:&quot;lalign*&quot;,&quot;ts&quot;:1759615746007,&quot;cs&quot;:&quot;ZIVPsa1d7PgeeNxOg3k4KA==&quot;,&quot;size&quot;:{&quot;width&quot;:604.5,&quot;height&quot;:324.5}}"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125" y="904800"/>
            <a:ext cx="5757863" cy="309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Derivatives: Interpretation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369775" y="1162825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50" y="1112400"/>
            <a:ext cx="4614999" cy="403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8050" y="976375"/>
            <a:ext cx="4202826" cy="420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Derivatives: Chain Rule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369775" y="1162825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type&quot;:&quot;lalign*&quot;,&quot;backgroundColorModified&quot;:false,&quot;id&quot;:&quot;6&quot;,&quot;font&quot;:{&quot;color&quot;:&quot;#000000&quot;,&quot;size&quot;:12,&quot;family&quot;:&quot;Arial&quot;},&quot;code&quot;:&quot;\\begin{lalign*}\n&amp;{\\text{Recall}\\;\\text{chain}\\;\\text{rule}\\;\\text{in}\\;\\text{one}\\;\\text{dimension:}}\\\\\n&amp;{h\\left(x\\right)=f\\left(g\\left(x\\right)\\right)}\\\\\n&amp;{\\diff{h}{x}=\\diff{g}{x}\\diff{f}{g},\\,eg.,\\,h\\left(x\\right)=\\sin\\left(\\log_{}\\left(x\\right)\\right),\\,h^{\\prime}\\left(x\\right)=\\cos\\left(\\log_{}\\left(x\\right)\\right)/x}\\\\\n&amp;{\\text{This}\\;\\text{can}\\;\\text{be}\\;\\text{thought}\\;\\text{of}\\;\\text{a}\\text{s}\\;\\text{a}\\;\\text{graph}}\\\\\n&amp;{g\\to f\\to h}\t\n\\end{lalign*}&quot;,&quot;backgroundColor&quot;:&quot;#FFFFFF&quot;,&quot;aid&quot;:null,&quot;ts&quot;:1759617508681,&quot;cs&quot;:&quot;aARgiuTPqfv9QbSFG55aeA==&quot;,&quot;size&quot;:{&quot;width&quot;:518.5,&quot;height&quot;:138.5}}"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75" y="1162825"/>
            <a:ext cx="4938713" cy="131921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165800" y="2571750"/>
            <a:ext cx="713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  We can generalize this as follows: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951550" y="3499300"/>
            <a:ext cx="437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1849750" y="3094475"/>
            <a:ext cx="542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f(x)</a:t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1849750" y="3906950"/>
            <a:ext cx="542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g(x)</a:t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2945125" y="3465100"/>
            <a:ext cx="12384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h(f(x), g(x))</a:t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4652950" y="3465100"/>
            <a:ext cx="437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cxnSp>
        <p:nvCxnSpPr>
          <p:cNvPr id="126" name="Google Shape;126;p21"/>
          <p:cNvCxnSpPr>
            <a:stCxn id="121" idx="3"/>
            <a:endCxn id="122" idx="1"/>
          </p:cNvCxnSpPr>
          <p:nvPr/>
        </p:nvCxnSpPr>
        <p:spPr>
          <a:xfrm flipH="1" rot="10800000">
            <a:off x="1388650" y="3266050"/>
            <a:ext cx="461100" cy="4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1"/>
          <p:cNvCxnSpPr>
            <a:stCxn id="121" idx="3"/>
            <a:endCxn id="123" idx="1"/>
          </p:cNvCxnSpPr>
          <p:nvPr/>
        </p:nvCxnSpPr>
        <p:spPr>
          <a:xfrm>
            <a:off x="1388650" y="3670750"/>
            <a:ext cx="461100" cy="4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1"/>
          <p:cNvCxnSpPr>
            <a:stCxn id="122" idx="3"/>
          </p:cNvCxnSpPr>
          <p:nvPr/>
        </p:nvCxnSpPr>
        <p:spPr>
          <a:xfrm>
            <a:off x="2391850" y="3265925"/>
            <a:ext cx="553200" cy="3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1"/>
          <p:cNvCxnSpPr>
            <a:stCxn id="123" idx="3"/>
            <a:endCxn id="124" idx="1"/>
          </p:cNvCxnSpPr>
          <p:nvPr/>
        </p:nvCxnSpPr>
        <p:spPr>
          <a:xfrm flipH="1" rot="10800000">
            <a:off x="2391850" y="3636500"/>
            <a:ext cx="553200" cy="44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1"/>
          <p:cNvCxnSpPr>
            <a:stCxn id="124" idx="3"/>
            <a:endCxn id="125" idx="1"/>
          </p:cNvCxnSpPr>
          <p:nvPr/>
        </p:nvCxnSpPr>
        <p:spPr>
          <a:xfrm>
            <a:off x="4183525" y="3636550"/>
            <a:ext cx="46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$\\pdf{h}{f}$$&quot;,&quot;font&quot;:{&quot;family&quot;:&quot;Arial&quot;,&quot;size&quot;:14,&quot;color&quot;:&quot;#000000&quot;},&quot;backgroundColorModified&quot;:false,&quot;backgroundColor&quot;:&quot;#EEEEEE&quot;,&quot;aid&quot;:null,&quot;type&quot;:&quot;$$&quot;,&quot;id&quot;:&quot;8&quot;,&quot;ts&quot;:1759676254594,&quot;cs&quot;:&quot;ORmG5BsYHePJNC5t1yPhjA==&quot;,&quot;size&quot;:{&quot;width&quot;:29.666666666666668,&quot;height&quot;:50}}"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5000" y="2915450"/>
            <a:ext cx="240122" cy="40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color&quot;:&quot;#000000&quot;,&quot;size&quot;:14,&quot;family&quot;:&quot;Arial&quot;},&quot;backgroundColorModified&quot;:false,&quot;backgroundColor&quot;:&quot;#FFFFFF&quot;,&quot;type&quot;:&quot;$$&quot;,&quot;code&quot;:&quot;$$\\pdf{h}{g}$$&quot;,&quot;id&quot;:&quot;9&quot;,&quot;ts&quot;:1759676276679,&quot;cs&quot;:&quot;EjUf1W/u9vfVIoywd6dHiQ==&quot;,&quot;size&quot;:{&quot;width&quot;:29.666666666666668,&quot;height&quot;:50}}" id="132" name="Google Shape;1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0300" y="3927550"/>
            <a:ext cx="240125" cy="404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10&quot;,&quot;font&quot;:{&quot;size&quot;:14,&quot;color&quot;:&quot;#000000&quot;,&quot;family&quot;:&quot;Arial&quot;},&quot;type&quot;:&quot;$$&quot;,&quot;code&quot;:&quot;$$\\diff{f}{x}$$&quot;,&quot;backgroundColorModified&quot;:false,&quot;backgroundColor&quot;:&quot;#FFFFFF&quot;,&quot;ts&quot;:1759676328967,&quot;cs&quot;:&quot;uXDGP/K8g8GdIRDV2NTuuA==&quot;,&quot;size&quot;:{&quot;width&quot;:29.333333333333332,&quot;height&quot;:45.5}}" id="133" name="Google Shape;13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8363" y="2986051"/>
            <a:ext cx="240125" cy="372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backgroundColorModified&quot;:false,&quot;backgroundColor&quot;:&quot;#FFFFFF&quot;,&quot;code&quot;:&quot;$$\\diff{g}{x}$$&quot;,&quot;font&quot;:{&quot;color&quot;:&quot;#000000&quot;,&quot;size&quot;:18,&quot;family&quot;:&quot;Arial&quot;},&quot;id&quot;:&quot;11&quot;,&quot;ts&quot;:1759676375776,&quot;cs&quot;:&quot;AvAEUwZie6D8hX1WI6IPRg==&quot;,&quot;size&quot;:{&quot;width&quot;:37.666666666666664,&quot;height&quot;:58.333333333333336}}" id="134" name="Google Shape;13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7225" y="3982975"/>
            <a:ext cx="279400" cy="4327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1"/>
          <p:cNvCxnSpPr/>
          <p:nvPr/>
        </p:nvCxnSpPr>
        <p:spPr>
          <a:xfrm flipH="1">
            <a:off x="1388975" y="3182900"/>
            <a:ext cx="4491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1"/>
          <p:cNvCxnSpPr/>
          <p:nvPr/>
        </p:nvCxnSpPr>
        <p:spPr>
          <a:xfrm rot="10800000">
            <a:off x="1400475" y="3759450"/>
            <a:ext cx="447900" cy="40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21"/>
          <p:cNvCxnSpPr/>
          <p:nvPr/>
        </p:nvCxnSpPr>
        <p:spPr>
          <a:xfrm rot="10800000">
            <a:off x="2389025" y="3172700"/>
            <a:ext cx="545700" cy="3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21"/>
          <p:cNvCxnSpPr/>
          <p:nvPr/>
        </p:nvCxnSpPr>
        <p:spPr>
          <a:xfrm flipH="1">
            <a:off x="2399275" y="3728650"/>
            <a:ext cx="540600" cy="44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5744075" y="3460913"/>
            <a:ext cx="36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0" name="Google Shape;140;p21"/>
          <p:cNvSpPr txBox="1"/>
          <p:nvPr/>
        </p:nvSpPr>
        <p:spPr>
          <a:xfrm>
            <a:off x="5967558" y="3256175"/>
            <a:ext cx="174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  Backward pass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41" name="Google Shape;141;p21"/>
          <p:cNvCxnSpPr/>
          <p:nvPr/>
        </p:nvCxnSpPr>
        <p:spPr>
          <a:xfrm>
            <a:off x="5744075" y="3796838"/>
            <a:ext cx="36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1"/>
          <p:cNvSpPr txBox="1"/>
          <p:nvPr/>
        </p:nvSpPr>
        <p:spPr>
          <a:xfrm>
            <a:off x="5999008" y="3604400"/>
            <a:ext cx="174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  Forward Pass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Derivatives: Chain Rule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369775" y="1162825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code&quot;:&quot;\\begin{lalign*}\n&amp;{\\text{In}\\;\\text{the}\\;\\text{below,}\\;\\text{we'll}\\;\\text{refer}\\;\\text{to}\\;\\text{h(x),}\\;\\text{g(x),}\\;\\text{f(x)}\\;\\text{as}\\;h,g,f\\,\\text{respectively}}\\\\\n&amp;{\\text{Example}\\;\\text{1:}}\\\\\n&amp;{h=g+f}\\\\\n&amp;{h_{g}:=\\pdf{h}{g}=1\\,\\text{:=}\\;\\text{means}\\;\\text{\&quot;defined}\\;\\text{as\&quot;}}\\\\\n&amp;{h_{f}:=\\pdf{h}{f}=1}\\\\\n&amp;{\\text{Example}\\;\\text{2:}}\\\\\n&amp;{h=g\\times f}\\\\\n&amp;{h_{g}=f}\\\\\n&amp;{h_{f}=g}\\\\\n&amp;{\\text{Eg.,}\\;h\\left(x\\right)=\\sin\\left(x\\right)\\cos\\left(x\\right)}\\\\\n&amp;{f\\left(x\\right)=\\sin\\left(x\\right),\\,g\\left(x\\right)=\\cos\\left(x\\right)}\\\\\n&amp;{h_{x}=f\\left(x\\right)g_{x}\\left(x\\right)+g\\left(x\\right)f_{x}\\left(x\\right)=-\\sin \\left(x\\right)\\sin\\left(x\\right)+\\cos\\left(x\\right)\\cos\\left(x\\right)}\t\n\\end{lalign*}&quot;,&quot;id&quot;:&quot;6&quot;,&quot;backgroundColor&quot;:&quot;#FFFFFF&quot;,&quot;type&quot;:&quot;lalign*&quot;,&quot;aid&quot;:null,&quot;font&quot;:{&quot;color&quot;:&quot;#000000&quot;,&quot;family&quot;:&quot;Arial&quot;,&quot;size&quot;:12},&quot;backgroundColorModified&quot;:false,&quot;ts&quot;:1759684194328,&quot;cs&quot;:&quot;1Oe8TIPI+zPMuJirAbWNYw==&quot;,&quot;size&quot;:{&quot;width&quot;:518,&quot;height&quot;:337}}"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6" y="1114350"/>
            <a:ext cx="493395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Derivatives: Chain Rule</a:t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936739" y="1004075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61514" y="904350"/>
            <a:ext cx="713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More complicated example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1157914" y="1791825"/>
            <a:ext cx="437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2056114" y="1387000"/>
            <a:ext cx="7728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f1=x^2</a:t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2056114" y="2199475"/>
            <a:ext cx="7728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g1=1/x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4350639" y="2199475"/>
            <a:ext cx="10452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g2=log(g1)</a:t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6053714" y="1869025"/>
            <a:ext cx="9162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h=f3/g2</a:t>
            </a:r>
            <a:endParaRPr/>
          </a:p>
        </p:txBody>
      </p:sp>
      <p:cxnSp>
        <p:nvCxnSpPr>
          <p:cNvPr id="162" name="Google Shape;162;p23"/>
          <p:cNvCxnSpPr>
            <a:stCxn id="157" idx="3"/>
            <a:endCxn id="158" idx="1"/>
          </p:cNvCxnSpPr>
          <p:nvPr/>
        </p:nvCxnSpPr>
        <p:spPr>
          <a:xfrm flipH="1" rot="10800000">
            <a:off x="1595014" y="1558575"/>
            <a:ext cx="461100" cy="4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3"/>
          <p:cNvCxnSpPr>
            <a:stCxn id="157" idx="3"/>
            <a:endCxn id="159" idx="1"/>
          </p:cNvCxnSpPr>
          <p:nvPr/>
        </p:nvCxnSpPr>
        <p:spPr>
          <a:xfrm>
            <a:off x="1595014" y="1963275"/>
            <a:ext cx="461100" cy="4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3"/>
          <p:cNvCxnSpPr>
            <a:stCxn id="158" idx="3"/>
            <a:endCxn id="165" idx="1"/>
          </p:cNvCxnSpPr>
          <p:nvPr/>
        </p:nvCxnSpPr>
        <p:spPr>
          <a:xfrm>
            <a:off x="2828914" y="1558450"/>
            <a:ext cx="47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3"/>
          <p:cNvCxnSpPr>
            <a:stCxn id="159" idx="3"/>
            <a:endCxn id="160" idx="1"/>
          </p:cNvCxnSpPr>
          <p:nvPr/>
        </p:nvCxnSpPr>
        <p:spPr>
          <a:xfrm>
            <a:off x="2828914" y="2370925"/>
            <a:ext cx="152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3"/>
          <p:cNvCxnSpPr>
            <a:stCxn id="160" idx="3"/>
            <a:endCxn id="161" idx="1"/>
          </p:cNvCxnSpPr>
          <p:nvPr/>
        </p:nvCxnSpPr>
        <p:spPr>
          <a:xfrm flipH="1" rot="10800000">
            <a:off x="5395839" y="2040625"/>
            <a:ext cx="657900" cy="33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3"/>
          <p:cNvSpPr/>
          <p:nvPr/>
        </p:nvSpPr>
        <p:spPr>
          <a:xfrm>
            <a:off x="3304639" y="1387000"/>
            <a:ext cx="7728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f2=(+)</a:t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4401164" y="1387000"/>
            <a:ext cx="9675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f3=sin(f2)</a:t>
            </a:r>
            <a:endParaRPr/>
          </a:p>
        </p:txBody>
      </p:sp>
      <p:cxnSp>
        <p:nvCxnSpPr>
          <p:cNvPr id="169" name="Google Shape;169;p23"/>
          <p:cNvCxnSpPr>
            <a:stCxn id="165" idx="3"/>
            <a:endCxn id="168" idx="1"/>
          </p:cNvCxnSpPr>
          <p:nvPr/>
        </p:nvCxnSpPr>
        <p:spPr>
          <a:xfrm>
            <a:off x="4077439" y="1558450"/>
            <a:ext cx="3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3"/>
          <p:cNvCxnSpPr>
            <a:stCxn id="168" idx="3"/>
            <a:endCxn id="161" idx="1"/>
          </p:cNvCxnSpPr>
          <p:nvPr/>
        </p:nvCxnSpPr>
        <p:spPr>
          <a:xfrm>
            <a:off x="5368664" y="1558450"/>
            <a:ext cx="685200" cy="4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3"/>
          <p:cNvCxnSpPr>
            <a:stCxn id="159" idx="3"/>
            <a:endCxn id="165" idx="1"/>
          </p:cNvCxnSpPr>
          <p:nvPr/>
        </p:nvCxnSpPr>
        <p:spPr>
          <a:xfrm flipH="1" rot="10800000">
            <a:off x="2828914" y="1558525"/>
            <a:ext cx="475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3"/>
          <p:cNvCxnSpPr>
            <a:stCxn id="161" idx="3"/>
            <a:endCxn id="173" idx="1"/>
          </p:cNvCxnSpPr>
          <p:nvPr/>
        </p:nvCxnSpPr>
        <p:spPr>
          <a:xfrm>
            <a:off x="6969914" y="2040475"/>
            <a:ext cx="5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23"/>
          <p:cNvSpPr/>
          <p:nvPr/>
        </p:nvSpPr>
        <p:spPr>
          <a:xfrm>
            <a:off x="7499512" y="1869025"/>
            <a:ext cx="437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pic>
        <p:nvPicPr>
          <p:cNvPr descr="{&quot;type&quot;:&quot;lalign*&quot;,&quot;code&quot;:&quot;\\begin{lalign*}\n&amp;{h\\,=\\,\\frac{\\sin \\left(x^{2}+1/x\\right)}{\\log_{}\\left(1/x\\right)}}\\\\\n&amp;{\\diff{h}{g_{2}}=-\\frac{f_{3}}{g_{2}^{2}},\\diff{h}{f_{3}}=\\frac{1}{g_{2}}}\\\\\n&amp;{\\diff{f_{3}}{f_{2}}=\\cos\\left(f_{2}\\right),\\,\\diff{g_{2}}{g_{1}}=1/g_{1}}\\\\\n&amp;{\\diff{h}{f_{2}}=\\diff{h}{f_{3}}\\diff{f_{3}}{f_{2}}=\\frac{\\cos\\left(f_{2}\\right)}{g_{2}}}\\\\\n&amp;{\\diff{f2}{g1}=1,\\,\\diff{f2}{f1}=1}\\\\\n&amp;{\\diff{h}{g_{1}}=\\diff{h}{f_{2}}+\\diff{h}{g_{2}}\\diff{g_{2}}{g_{1}}=\\frac{\\cos\\left(f_{2}\\right)}{g_{2}}-\\frac{f_{3}}{g_{2}^{2}g_{1}}}\\\\\n&amp;{\\diff{h}{f_{1}}=\\diff{h}{f_{2}}\\diff{f_{2}}{f_{1}}=\\frac{\\cos\\left(f_{2}\\right)}{g_{2}}}\\\\\n&amp;{\\diff{h}{x}=\\diff{h}{f_{1}}\\diff{f_{1}}{x}+\\diff{h}{g_{1}}\\diff{g_{1}}{x}=\\frac{\\cos\\left(f_{2}\\right)}{g_{2}}2x-\\frac{1}{x^{2}}\\left(\\frac{\\cos\\left(f_{2}\\right)}{g_{2}}-\\frac{f_{3}}{g_{2}^{2}g_{1}}\\right)}\t\n\\end{lalign*}&quot;,&quot;font&quot;:{&quot;size&quot;:8,&quot;color&quot;:&quot;#000000&quot;,&quot;family&quot;:&quot;Arial&quot;},&quot;id&quot;:&quot;12&quot;,&quot;backgroundColorModified&quot;:false,&quot;aid&quot;:null,&quot;backgroundColor&quot;:&quot;#FFFFFF&quot;,&quot;ts&quot;:1759686743747,&quot;cs&quot;:&quot;qlO9+GnZHHpVzfDG/R5v7w==&quot;,&quot;size&quot;:{&quot;width&quot;:380.8134215223096,&quot;height&quot;:288.7612598425197}}" id="174" name="Google Shape;1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25" y="2370921"/>
            <a:ext cx="3627248" cy="275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/>
          <p:nvPr/>
        </p:nvSpPr>
        <p:spPr>
          <a:xfrm>
            <a:off x="2568626" y="3183400"/>
            <a:ext cx="502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This is the interesting part! </a:t>
            </a:r>
            <a:r>
              <a:rPr lang="en" sz="1300">
                <a:solidFill>
                  <a:schemeClr val="dk2"/>
                </a:solidFill>
              </a:rPr>
              <a:t>g</a:t>
            </a:r>
            <a:r>
              <a:rPr lang="en" sz="1300">
                <a:solidFill>
                  <a:schemeClr val="dk2"/>
                </a:solidFill>
              </a:rPr>
              <a:t>1 gets gradients from f2 and g2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76" name="Google Shape;176;p23"/>
          <p:cNvCxnSpPr/>
          <p:nvPr/>
        </p:nvCxnSpPr>
        <p:spPr>
          <a:xfrm flipH="1">
            <a:off x="1557389" y="3452600"/>
            <a:ext cx="1051800" cy="5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3"/>
          <p:cNvSpPr txBox="1"/>
          <p:nvPr/>
        </p:nvSpPr>
        <p:spPr>
          <a:xfrm>
            <a:off x="4401150" y="4752075"/>
            <a:ext cx="27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chain_rule</a:t>
            </a:r>
            <a:r>
              <a:rPr lang="en" sz="1200">
                <a:solidFill>
                  <a:schemeClr val="dk2"/>
                </a:solidFill>
              </a:rPr>
              <a:t>.py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Derivatives: Chain Rule</a:t>
            </a:r>
            <a:endParaRPr/>
          </a:p>
        </p:txBody>
      </p:sp>
      <p:sp>
        <p:nvSpPr>
          <p:cNvPr id="183" name="Google Shape;183;p24"/>
          <p:cNvSpPr txBox="1"/>
          <p:nvPr/>
        </p:nvSpPr>
        <p:spPr>
          <a:xfrm>
            <a:off x="1564170" y="1650035"/>
            <a:ext cx="67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385025" y="1037588"/>
            <a:ext cx="713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Multivariate case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2296420" y="2122710"/>
            <a:ext cx="437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3286045" y="2122710"/>
            <a:ext cx="542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f(x)</a:t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3197670" y="2935185"/>
            <a:ext cx="7188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g(x,y)</a:t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4381420" y="2493335"/>
            <a:ext cx="12384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h(f(x), g(x,y))</a:t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6089245" y="2493335"/>
            <a:ext cx="437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cxnSp>
        <p:nvCxnSpPr>
          <p:cNvPr id="190" name="Google Shape;190;p24"/>
          <p:cNvCxnSpPr>
            <a:stCxn id="185" idx="3"/>
            <a:endCxn id="186" idx="1"/>
          </p:cNvCxnSpPr>
          <p:nvPr/>
        </p:nvCxnSpPr>
        <p:spPr>
          <a:xfrm>
            <a:off x="2733520" y="2294160"/>
            <a:ext cx="5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4"/>
          <p:cNvCxnSpPr>
            <a:stCxn id="185" idx="3"/>
            <a:endCxn id="187" idx="1"/>
          </p:cNvCxnSpPr>
          <p:nvPr/>
        </p:nvCxnSpPr>
        <p:spPr>
          <a:xfrm>
            <a:off x="2733520" y="2294160"/>
            <a:ext cx="4641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4"/>
          <p:cNvCxnSpPr>
            <a:stCxn id="186" idx="3"/>
          </p:cNvCxnSpPr>
          <p:nvPr/>
        </p:nvCxnSpPr>
        <p:spPr>
          <a:xfrm>
            <a:off x="3828145" y="2294160"/>
            <a:ext cx="553200" cy="3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4"/>
          <p:cNvCxnSpPr>
            <a:stCxn id="187" idx="3"/>
            <a:endCxn id="188" idx="1"/>
          </p:cNvCxnSpPr>
          <p:nvPr/>
        </p:nvCxnSpPr>
        <p:spPr>
          <a:xfrm flipH="1" rot="10800000">
            <a:off x="3916470" y="2664735"/>
            <a:ext cx="465000" cy="44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4"/>
          <p:cNvCxnSpPr>
            <a:stCxn id="188" idx="3"/>
            <a:endCxn id="189" idx="1"/>
          </p:cNvCxnSpPr>
          <p:nvPr/>
        </p:nvCxnSpPr>
        <p:spPr>
          <a:xfrm>
            <a:off x="5619820" y="2664785"/>
            <a:ext cx="46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aid&quot;:null,&quot;font&quot;:{&quot;family&quot;:&quot;Arial&quot;,&quot;size&quot;:11.5,&quot;color&quot;:&quot;#000000&quot;},&quot;id&quot;:&quot;9&quot;,&quot;type&quot;:&quot;$$&quot;,&quot;backgroundColor&quot;:&quot;#FFFFFF&quot;,&quot;code&quot;:&quot;$$\\pdf{h}{y}=\\pdf{h}{g}\\pdf{g}{y}$$&quot;,&quot;backgroundColorModified&quot;:false,&quot;ts&quot;:1759687964827,&quot;cs&quot;:&quot;Qc8PJV17GmA9R5BlOgzUXQ==&quot;,&quot;size&quot;:{&quot;width&quot;:103.66666666666667,&quot;height&quot;:41.166666666666664}}"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195" y="2910572"/>
            <a:ext cx="987425" cy="392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pdf{g}{y}$$&quot;,&quot;id&quot;:&quot;11&quot;,&quot;backgroundColorModified&quot;:false,&quot;font&quot;:{&quot;family&quot;:&quot;Arial&quot;,&quot;size&quot;:10,&quot;color&quot;:&quot;#000000&quot;},&quot;type&quot;:&quot;$$&quot;,&quot;aid&quot;:null,&quot;ts&quot;:1759688055217,&quot;cs&quot;:&quot;7d3QjHgfedczDp+7xAJdCQ==&quot;,&quot;size&quot;:{&quot;width&quot;:19.91999999999999,&quot;height&quot;:36}}" id="196" name="Google Shape;19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723" y="3208655"/>
            <a:ext cx="18973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/>
          <p:nvPr/>
        </p:nvSpPr>
        <p:spPr>
          <a:xfrm>
            <a:off x="2296420" y="2935185"/>
            <a:ext cx="4371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cxnSp>
        <p:nvCxnSpPr>
          <p:cNvPr id="198" name="Google Shape;198;p24"/>
          <p:cNvCxnSpPr>
            <a:stCxn id="197" idx="3"/>
            <a:endCxn id="187" idx="1"/>
          </p:cNvCxnSpPr>
          <p:nvPr/>
        </p:nvCxnSpPr>
        <p:spPr>
          <a:xfrm>
            <a:off x="2733520" y="3106635"/>
            <a:ext cx="46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font&quot;:{&quot;size&quot;:11.5,&quot;family&quot;:&quot;Arial&quot;,&quot;color&quot;:&quot;#000000&quot;},&quot;backgroundColorModified&quot;:false,&quot;backgroundColor&quot;:&quot;#FFFFFF&quot;,&quot;id&quot;:&quot;9&quot;,&quot;code&quot;:&quot;$$\\pdf{h}{g}$$&quot;,&quot;type&quot;:&quot;$$&quot;,&quot;aid&quot;:null,&quot;ts&quot;:1759687993613,&quot;cs&quot;:&quot;dCXzNT7L6Cjy9szm1NfC2Q==&quot;,&quot;size&quot;:{&quot;width&quot;:24.333333333333332,&quot;height&quot;:41.166666666666664}}" id="199" name="Google Shape;19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9695" y="2910572"/>
            <a:ext cx="231775" cy="392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pdf{h}{f}$$&quot;,&quot;aid&quot;:null,&quot;backgroundColor&quot;:&quot;#FFFFFF&quot;,&quot;backgroundColorModified&quot;:false,&quot;id&quot;:&quot;9&quot;,&quot;type&quot;:&quot;$$&quot;,&quot;font&quot;:{&quot;family&quot;:&quot;Arial&quot;,&quot;size&quot;:11.5,&quot;color&quot;:&quot;#000000&quot;},&quot;ts&quot;:1759688077455,&quot;cs&quot;:&quot;Ru/TbM+nOZyykFFW/A2RKQ==&quot;,&quot;size&quot;:{&quot;width&quot;:24.333333333333332,&quot;height&quot;:41.166666666666664}}" id="200" name="Google Shape;20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7745" y="2042447"/>
            <a:ext cx="231775" cy="392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000000&quot;,&quot;size&quot;:10},&quot;code&quot;:&quot;$$\\pdf{h}{g}\\pdf{g}{x}$$&quot;,&quot;backgroundColorModified&quot;:false,&quot;type&quot;:&quot;$$&quot;,&quot;aid&quot;:null,&quot;backgroundColor&quot;:&quot;#FFFFFF&quot;,&quot;id&quot;:&quot;9&quot;,&quot;ts&quot;:1759688173091,&quot;cs&quot;:&quot;Pm59d0r0uGzPNNWgCgxrqQ==&quot;,&quot;size&quot;:{&quot;width&quot;:46.05521679790025,&quot;height&quot;:36.00002309711285}}" id="201" name="Google Shape;20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6193" y="2490610"/>
            <a:ext cx="438676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pdf{h}{f}\\pdf{f}{x}$$&quot;,&quot;aid&quot;:null,&quot;backgroundColor&quot;:&quot;#FFFFFF&quot;,&quot;type&quot;:&quot;$$&quot;,&quot;font&quot;:{&quot;color&quot;:&quot;#000000&quot;,&quot;family&quot;:&quot;Arial&quot;,&quot;size&quot;:10},&quot;id&quot;:&quot;9&quot;,&quot;backgroundColorModified&quot;:false,&quot;ts&quot;:1759688199442,&quot;cs&quot;:&quot;iRyEckkOyXXlYqZQXm8qvQ==&quot;,&quot;size&quot;:{&quot;width&quot;:46.00000000000002,&quot;height&quot;:35.83333333333335}}" id="202" name="Google Shape;20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90705" y="1889724"/>
            <a:ext cx="438150" cy="341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$$\\pdf{h}{x}=\\pdf{h}{g}\\pdf{g}{x}+\\pdf{h}{f}\\pdf{f}{x}$$&quot;,&quot;aid&quot;:null,&quot;type&quot;:&quot;$$&quot;,&quot;id&quot;:&quot;9&quot;,&quot;font&quot;:{&quot;family&quot;:&quot;Arial&quot;,&quot;size&quot;:11.5,&quot;color&quot;:&quot;#000000&quot;},&quot;backgroundColor&quot;:&quot;#FFFFFF&quot;,&quot;ts&quot;:1759688245069,&quot;cs&quot;:&quot;UjOpRCzbC4wKd4lYYnBDoQ==&quot;,&quot;size&quot;:{&quot;width&quot;:184,&quot;height&quot;:41.166666666666664}}" id="203" name="Google Shape;20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5020" y="2070532"/>
            <a:ext cx="1752600" cy="39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case</a:t>
            </a:r>
            <a:endParaRPr/>
          </a:p>
        </p:txBody>
      </p:sp>
      <p:pic>
        <p:nvPicPr>
          <p:cNvPr descr="{&quot;type&quot;:&quot;lalign*&quot;,&quot;backgroundColor&quot;:&quot;#FFFFFF&quot;,&quot;code&quot;:&quot;\\begin{lalign*}\n&amp;{\\text{Let}\\;\\boldsymbol{x}\\,\\text{and}\\;\\boldsymbol{a}\\,\\text{be}\\;N\\times1\\,\\text{vectors}}\\\\\n&amp;{y=a^{T}x=a_{1}x_{1}+a_{2}x_{2}\\cdots a_{n}x_{n}}\\\\\n&amp;{\\pdf{y}{x_{i}}=a_{i}\\,\\therefore\\pdf{y}{\\boldsymbol{x}}=\\boldsymbol{a\\,}\\,N\\times1\\,\\text{vector}}\t\n\\end{lalign*}&quot;,&quot;backgroundColorModified&quot;:false,&quot;id&quot;:&quot;14&quot;,&quot;aid&quot;:null,&quot;font&quot;:{&quot;family&quot;:&quot;Arial&quot;,&quot;color&quot;:&quot;#000000&quot;,&quot;size&quot;:12},&quot;ts&quot;:1759690899809,&quot;cs&quot;:&quot;NAwmycti0QMIwDAha7kl9Q==&quot;,&quot;size&quot;:{&quot;width&quot;:279.5,&quot;height&quot;:92.5}}" id="209" name="Google Shape;2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50" y="946450"/>
            <a:ext cx="3175050" cy="10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come back to the optimization problem</a:t>
            </a:r>
            <a:endParaRPr/>
          </a:p>
        </p:txBody>
      </p:sp>
      <p:pic>
        <p:nvPicPr>
          <p:cNvPr descr="{&quot;backgroundColorModified&quot;:false,&quot;id&quot;:&quot;9&quot;,&quot;backgroundColor&quot;:&quot;#FFFFFF&quot;,&quot;aid&quot;:null,&quot;font&quot;:{&quot;family&quot;:&quot;Arial&quot;,&quot;size&quot;:16,&quot;color&quot;:&quot;#595959&quot;},&quot;type&quot;:&quot;lalign*&quot;,&quot;code&quot;:&quot;\\begin{lalign*}\n&amp;{\\text{If}\\;y=f\\left(x\\right),\\;}\\\\\n&amp;{\\text{find}\\;f\\,\\text{that}\\;\\text{minimizes}\\;\\text{L(y)}}\t\n\\end{lalign*}&quot;,&quot;ts&quot;:1753561656433,&quot;cs&quot;:&quot;yTReRyOOxMTbp80idXCI2Q==&quot;,&quot;size&quot;:{&quot;width&quot;:281.25,&quot;height&quot;:57.75000000000002}}"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484" y="988025"/>
            <a:ext cx="2678906" cy="550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24,&quot;family&quot;:&quot;Arial&quot;,&quot;color&quot;:&quot;#000000&quot;},&quot;aid&quot;:null,&quot;backgroundColorModified&quot;:false,&quot;code&quot;:&quot;\\begin{lalign*}\n&amp;{\\text{Let's}\\;\\text{consider}\\;\\text{a}\\;\\text{simple}\\;\\text{function}\\;\\text{}}\\\\\n&amp;{y=ax+b}\\\\\n&amp;{\\text{Here,}\\;a\\;\\text{and}\\;b\\,\\text{are}\\;\\text{the}\\;\\text{function}\\;\\text{parameters}}\\\\\n&amp;{x\\,\\text{is}\\;\\text{the}\\;\\text{indepedent}\\;\\text{variable}}\\\\\n&amp;{y\\,\\text{is}\\;\\text{the}\\;\\text{dependent}\\;\\text{variable}}\\\\\n&amp;{\\text{There}\\;\\text{are}\\;\\text{two}\\;\\text{types}\\;\\text{of}\\;\\text{problems}\\;\\text{we}\\;\\text{can}\\;\\text{pose}}\\\\\n&amp;{1.\\,\\text{Solve}\\;\\text{for}\\;x:\\,\\text{For}\\;\\text{a}\\;\\text{given}\\;\\text{y,}\\;a\\,\\text{and}\\;b,\\,\\text{find}\\;x}\\\\\n&amp;{2.\\,\\text{Given}\\;\\text{some}\\;x\\,\\text{and}\\;y,\\,\\text{find}\\;a\\,\\text{and}\\;b}\t\n\\end{lalign*}&quot;,&quot;backgroundColor&quot;:&quot;#FFFFFF&quot;,&quot;id&quot;:&quot;12&quot;,&quot;type&quot;:&quot;lalign*&quot;,&quot;ts&quot;:1753756039838,&quot;cs&quot;:&quot;unEBo9Ze5PUYjDHHVFcaEw==&quot;,&quot;size&quot;:{&quot;width&quot;:725.5,&quot;height&quot;:376}}" id="216" name="Google Shape;2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975" y="1736375"/>
            <a:ext cx="5161925" cy="267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come back to the optimization problem</a:t>
            </a:r>
            <a:endParaRPr/>
          </a:p>
        </p:txBody>
      </p:sp>
      <p:sp>
        <p:nvSpPr>
          <p:cNvPr id="222" name="Google Shape;222;p27"/>
          <p:cNvSpPr txBox="1"/>
          <p:nvPr/>
        </p:nvSpPr>
        <p:spPr>
          <a:xfrm>
            <a:off x="367400" y="901325"/>
            <a:ext cx="593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Optimization deals with problem 2.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367400" y="1382625"/>
            <a:ext cx="593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Let’s consider an example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type&quot;:&quot;lalign*&quot;,&quot;font&quot;:{&quot;color&quot;:&quot;#000000&quot;,&quot;family&quot;:&quot;Arial&quot;,&quot;size&quot;:13.5},&quot;backgroundColorModified&quot;:false,&quot;code&quot;:&quot;\\begin{lalign*}\n&amp;{y=ax+b}\\\\\n&amp;{\\text{say}\\;y=1,\\,x\\,=2}\\\\\n&amp;{\\text{There}\\;\\text{are}\\;\\text{infinite}\\;\\text{number}\\;\\text{of}\\;\\text{solutions}\\;\\text{for}\\;a\\,\\text{and}\\;b}\\\\\n&amp;{\\text{Now}\\;\\text{if}\\;\\text{I}\\;\\text{add}\\;\\text{another}\\;\\text{point,}}\\\\\n&amp;{y\\,=\\,0,\\,x\\,=\\,0}\\\\\n&amp;{\\text{Now}\\;\\text{there}\\;\\text{is}\\;\\text{a}\\;\\text{unique}\\;\\text{solution}\\;\\text{for}\\;a\\,\\text{and}\\;b}\\\\\n&amp;{}\t\n\\end{lalign*}&quot;,&quot;backgroundColor&quot;:&quot;#FFFFFF&quot;,&quot;aid&quot;:null,&quot;id&quot;:&quot;14&quot;,&quot;ts&quot;:1753756745327,&quot;cs&quot;:&quot;L72IIKDiUzu/CwZa4fgLbg==&quot;,&quot;size&quot;:{&quot;width&quot;:461.74019212598427,&quot;height&quot;:161.93959685039368}}"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300" y="1940625"/>
            <a:ext cx="4398075" cy="154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 txBox="1"/>
          <p:nvPr/>
        </p:nvSpPr>
        <p:spPr>
          <a:xfrm>
            <a:off x="309975" y="3592425"/>
            <a:ext cx="593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if there are several points? Now, the best we can do is to find </a:t>
            </a:r>
            <a:r>
              <a:rPr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and </a:t>
            </a:r>
            <a:r>
              <a:rPr i="1" lang="en" sz="1800">
                <a:solidFill>
                  <a:schemeClr val="dk2"/>
                </a:solidFill>
              </a:rPr>
              <a:t>b </a:t>
            </a:r>
            <a:r>
              <a:rPr lang="en" sz="1800">
                <a:solidFill>
                  <a:schemeClr val="dk2"/>
                </a:solidFill>
              </a:rPr>
              <a:t>that minimize some distance metric between the points and the line defined by </a:t>
            </a:r>
            <a:r>
              <a:rPr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and </a:t>
            </a:r>
            <a:r>
              <a:rPr i="1" lang="en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Example</a:t>
            </a:r>
            <a:endParaRPr/>
          </a:p>
        </p:txBody>
      </p:sp>
      <p:sp>
        <p:nvSpPr>
          <p:cNvPr id="231" name="Google Shape;231;p28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381450" y="759275"/>
            <a:ext cx="330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Let’s now use derivatives to solve a common optimization problem.. Linear regression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33" name="Google Shape;2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000" y="200800"/>
            <a:ext cx="3672850" cy="489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500" y="1712000"/>
            <a:ext cx="4095201" cy="302838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/>
        </p:nvSpPr>
        <p:spPr>
          <a:xfrm>
            <a:off x="579775" y="4740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Code: linear_regression.py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{&quot;backgroundColorModified&quot;:false,&quot;backgroundColor&quot;:&quot;#FFFFFF&quot;,&quot;aid&quot;:null,&quot;code&quot;:&quot;\\begin{lalign*}\n&amp;{y=\\left(ax+b\\right)^{n}}\\\\\n&amp;{\\frac{dy}{dx}=na\\left(ax+b\\right)^{n-1}}\t\n\\end{lalign*}&quot;,&quot;type&quot;:&quot;lalign*&quot;,&quot;font&quot;:{&quot;size&quot;:11,&quot;color&quot;:&quot;#000000&quot;,&quot;family&quot;:&quot;Arial&quot;},&quot;id&quot;:&quot;24&quot;,&quot;ts&quot;:1754743931563,&quot;cs&quot;:&quot;MCli5abPHyp2ixxnvyrq/Q==&quot;,&quot;size&quot;:{&quot;width&quot;:151.66666666666666,&quot;height&quot;:58.666666666666664}}" id="236" name="Google Shape;23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5275" y="1852075"/>
            <a:ext cx="1444625" cy="55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28"/>
          <p:cNvCxnSpPr/>
          <p:nvPr/>
        </p:nvCxnSpPr>
        <p:spPr>
          <a:xfrm flipH="1">
            <a:off x="6857900" y="2094350"/>
            <a:ext cx="4467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idx="4294967295" type="title"/>
          </p:nvPr>
        </p:nvSpPr>
        <p:spPr>
          <a:xfrm>
            <a:off x="259350" y="-6197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problems</a:t>
            </a:r>
            <a:endParaRPr/>
          </a:p>
        </p:txBody>
      </p:sp>
      <p:sp>
        <p:nvSpPr>
          <p:cNvPr id="243" name="Google Shape;243;p29"/>
          <p:cNvSpPr txBox="1"/>
          <p:nvPr/>
        </p:nvSpPr>
        <p:spPr>
          <a:xfrm>
            <a:off x="381450" y="587161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367400" y="682099"/>
            <a:ext cx="59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lang="en" sz="1500">
                <a:solidFill>
                  <a:schemeClr val="dk2"/>
                </a:solidFill>
              </a:rPr>
              <a:t>Following slide 12, and verify_partial_derivates.py, calculate following derivatives and verify numerically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descr="{&quot;aid&quot;:null,&quot;code&quot;:&quot;\\begin{lalign*}\n&amp;{f=x^{2},\\,g=\\exp\\left(x\\right),\\,h=fg}\\\\\n&amp;{\\text{Calculate}\\;h_{x}=\\diff{h}{x}}\\\\\n&amp;{f=x^{2},\\,g=xy+1,h=f/g\\,}\\\\\n&amp;{\\text{Calculate}\\;h_{x},\\,h_{y}}\t\n\\end{lalign*}&quot;,&quot;backgroundColorModified&quot;:false,&quot;type&quot;:&quot;lalign*&quot;,&quot;id&quot;:&quot;13&quot;,&quot;font&quot;:{&quot;family&quot;:&quot;Arial&quot;,&quot;size&quot;:12,&quot;color&quot;:&quot;#000000&quot;},&quot;backgroundColor&quot;:&quot;#FFFFFF&quot;,&quot;ts&quot;:1759690112382,&quot;cs&quot;:&quot;uNh7qRnTKuF30vt9nBVOQg==&quot;,&quot;size&quot;:{&quot;width&quot;:224,&quot;height&quot;:118}}"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425" y="1328599"/>
            <a:ext cx="21336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9"/>
          <p:cNvSpPr txBox="1"/>
          <p:nvPr/>
        </p:nvSpPr>
        <p:spPr>
          <a:xfrm>
            <a:off x="436650" y="2610999"/>
            <a:ext cx="59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2. Run part 2 of verify_partial_derivatives.py. Make sure you can follow the code and see how it implements the math in Slide 14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436650" y="3322824"/>
            <a:ext cx="5932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3</a:t>
            </a:r>
            <a:r>
              <a:rPr lang="en">
                <a:solidFill>
                  <a:schemeClr val="dk2"/>
                </a:solidFill>
              </a:rPr>
              <a:t>. Following linear_regression.py, generate points along y=xsin(x) and fit a line. What do you observe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4. For some reason, we want the intercept </a:t>
            </a:r>
            <a:r>
              <a:rPr i="1" lang="en">
                <a:solidFill>
                  <a:schemeClr val="dk2"/>
                </a:solidFill>
              </a:rPr>
              <a:t>b</a:t>
            </a:r>
            <a:r>
              <a:rPr lang="en">
                <a:solidFill>
                  <a:schemeClr val="dk2"/>
                </a:solidFill>
              </a:rPr>
              <a:t> to remain small. How would add this constraint to the regression problem? Solve for optimal values of a and b with this constraint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