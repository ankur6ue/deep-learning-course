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4d324047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4d324047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84d324047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84d324047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84d324047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84d324047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84d324047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84d324047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881bfdceb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881bfdceb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84d3240471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84d3240471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85a649fa4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85a649fa4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85a649fa4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85a649fa4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85a649fa4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85a649fa4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68ba380d9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68ba380d9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68ba380d96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68ba380d96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68ba380d96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68ba380d96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68ba380d96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68ba380d96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8417863650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8417863650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8417863650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8417863650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841786365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841786365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8417863650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8417863650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640bf9330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640bf9330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numpy.org/doc/stable/user/absolute_beginners.html#linear-algebra" TargetMode="External"/><Relationship Id="rId4" Type="http://schemas.openxmlformats.org/officeDocument/2006/relationships/hyperlink" Target="https://www.cs.cmu.edu/~mgormley/courses/10601/slides/10601-matrix-calculus.pdf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27.png"/><Relationship Id="rId6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7.png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4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Relationship Id="rId6" Type="http://schemas.openxmlformats.org/officeDocument/2006/relationships/image" Target="../media/image5.png"/><Relationship Id="rId7" Type="http://schemas.openxmlformats.org/officeDocument/2006/relationships/image" Target="../media/image2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17.png"/><Relationship Id="rId5" Type="http://schemas.openxmlformats.org/officeDocument/2006/relationships/image" Target="../media/image21.png"/><Relationship Id="rId6" Type="http://schemas.openxmlformats.org/officeDocument/2006/relationships/image" Target="../media/image14.png"/><Relationship Id="rId7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10" Type="http://schemas.openxmlformats.org/officeDocument/2006/relationships/image" Target="../media/image29.png"/><Relationship Id="rId9" Type="http://schemas.openxmlformats.org/officeDocument/2006/relationships/image" Target="../media/image32.png"/><Relationship Id="rId5" Type="http://schemas.openxmlformats.org/officeDocument/2006/relationships/image" Target="../media/image24.png"/><Relationship Id="rId6" Type="http://schemas.openxmlformats.org/officeDocument/2006/relationships/image" Target="../media/image22.png"/><Relationship Id="rId7" Type="http://schemas.openxmlformats.org/officeDocument/2006/relationships/image" Target="../media/image42.png"/><Relationship Id="rId8" Type="http://schemas.openxmlformats.org/officeDocument/2006/relationships/image" Target="../media/image3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3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6.png"/><Relationship Id="rId4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5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4.png"/><Relationship Id="rId4" Type="http://schemas.openxmlformats.org/officeDocument/2006/relationships/hyperlink" Target="https://www.cs.cmu.edu/~mgormley/courses/10601/slides/10601-matrix-calculus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/>
              <a:t>Mathematical </a:t>
            </a:r>
            <a:r>
              <a:rPr lang="en" sz="4700"/>
              <a:t>Preliminaries</a:t>
            </a:r>
            <a:endParaRPr sz="47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3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389250" y="1234150"/>
            <a:ext cx="78417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Paul’s online notes, section 13.2 (Partial Derivatives), 13.3 (Interpretation), 13.6 (Chain Rule), 13.7 (Directional Derivatives): Do the examples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https://www.khanacademy.org/math/linear-algebra/vectors-and-spaces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Covers vector addition, scalar multiplication, dot product, and length (norms) with visualizations.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NumPy Tutorial: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Linear Algebra Basics</a:t>
            </a:r>
            <a:r>
              <a:rPr lang="en" sz="1800">
                <a:solidFill>
                  <a:schemeClr val="dk2"/>
                </a:solidFill>
              </a:rPr>
              <a:t>, for practice with numpy.dot, numpy.linalg.norm, and other operations 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 u="sng">
                <a:solidFill>
                  <a:schemeClr val="hlink"/>
                </a:solidFill>
                <a:hlinkClick r:id="rId4"/>
              </a:rPr>
              <a:t>Matrix Calculus</a:t>
            </a:r>
            <a:r>
              <a:rPr lang="en" sz="1800">
                <a:solidFill>
                  <a:schemeClr val="dk2"/>
                </a:solidFill>
              </a:rPr>
              <a:t>, Sections 1.1, 1.2, 1.3, 2.1.1.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80050" y="1195250"/>
            <a:ext cx="67473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derivatives in multiple dimensions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Geometric </a:t>
            </a:r>
            <a:r>
              <a:rPr lang="en" sz="1800">
                <a:solidFill>
                  <a:schemeClr val="dk2"/>
                </a:solidFill>
              </a:rPr>
              <a:t>interpretation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Chain rule in a computational graph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Using partial </a:t>
            </a:r>
            <a:r>
              <a:rPr lang="en" sz="1800">
                <a:solidFill>
                  <a:schemeClr val="dk2"/>
                </a:solidFill>
              </a:rPr>
              <a:t>derivatives</a:t>
            </a:r>
            <a:r>
              <a:rPr lang="en" sz="1800">
                <a:solidFill>
                  <a:schemeClr val="dk2"/>
                </a:solidFill>
              </a:rPr>
              <a:t> to solve linear regression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</a:t>
            </a:r>
            <a:endParaRPr/>
          </a:p>
        </p:txBody>
      </p:sp>
      <p:sp>
        <p:nvSpPr>
          <p:cNvPr id="73" name="Google Shape;73;p16"/>
          <p:cNvSpPr txBox="1"/>
          <p:nvPr/>
        </p:nvSpPr>
        <p:spPr>
          <a:xfrm>
            <a:off x="480050" y="1195250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backgroundColor&quot;:&quot;#FFFFFF&quot;,&quot;code&quot;:&quot;\\begin{lalign*}\n&amp;{\\text{Until}\\;\\text{now,}\\;\\text{we}\\;\\text{considered}\\;\\text{functions}\\;\\text{that}\\;\\text{mapped}\\;\\text{points}\\;\\text{to}\\;\\text{points..}\\;\\text{eg.,}\\;y=ax+b.\\,\\text{These}\\;\\text{functions}}\\\\\n&amp;{\\text{are}\\;\\text{called}\\;\\text{univariate}\\;\\text{as}\\;\\text{they}\\;\\text{map}\\;\\text{points}\\;\\text{from}\\;\\mathbb{R}^{1}\\to\\mathbb{R}^{1}}\\\\\n&amp;{\\text{Now}\\;\\text{let's}\\;\\text{consider}\\;\\text{multivariate}\\;\\text{functions..}\\;\\text{that}\\;\\text{map}\\;\\text{points}\\;\\text{from}\\;\\mathbb{R}^{n}\\to\\mathbb{R}^{1}\\,\\left(\\text{also}\\;\\text{just}\\;\\text{denoted}\\;\\text{as}\\;\\mathbb{R}\\right)}\\\\\n&amp;{\\text{Eg.,}\\,}\\\\\n&amp;{\\text{Volume}\\;\\text{of}\\;\\text{Cone:}}\\\\\n&amp;{V\\left(r,h\\right)=\\frac{1}{3}\\pi r^{2}h\\,\\,\\left[r,h\\right]\\in\\mathbb{R}^{2}\\,\\to\\frac{1}{3}\\pi r^{2}h\\,\\in \\mathbb{R}}\\\\\n&amp;{L_{2}\\,\\text{norm}\\;\\text{of}\\;\\text{a}\\;\\text{vector}}\\\\\n&amp;{f\\left(x\\right)={\\sqrt[]{x_{1}^{2}+x_{2}^{2}\\,...\\,x_{n}^{2}}},\\,\\text{vector}\\;\\boldsymbol{x}\\,\\in\\mathbb{R}^{n}\\to \\mathbb{R}}\t\n\\end{lalign*}&quot;,&quot;id&quot;:&quot;1&quot;,&quot;type&quot;:&quot;lalign*&quot;,&quot;aid&quot;:null,&quot;font&quot;:{&quot;size&quot;:10,&quot;family&quot;:&quot;Arial&quot;,&quot;color&quot;:&quot;#595959&quot;},&quot;backgroundColorModified&quot;:false,&quot;ts&quot;:1759356690136,&quot;cs&quot;:&quot;Eewot4Z8eoYTp4QAJD1nvQ==&quot;,&quot;size&quot;:{&quot;width&quot;:667.0000000000001,&quot;height&quot;:191.5}}" id="74" name="Google Shape;7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425" y="1017721"/>
            <a:ext cx="6353175" cy="182403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id&quot;:&quot;2&quot;,&quot;font&quot;:{&quot;color&quot;:&quot;#000000&quot;,&quot;family&quot;:&quot;Arial&quot;,&quot;size&quot;:10},&quot;type&quot;:&quot;lalign*&quot;,&quot;code&quot;:&quot;\\begin{lalign*}\n&amp;{\\text{For}\\;\\text{a}\\;\\text{general}\\;\\text{function}\\;y=f\\left(\\boldsymbol{x}\\right)\\,\\mathbb{R^{n}\\to\\mathbb{R},}}\\\\\n&amp;{\\diff{y}{\\boldsymbol{x}}=\\begin{pmatrix}\n{\\pdf{y}{x_{1}}}\\\\\n{\\pdf{y}{x_{2}}}\\\\\n{...}\\\\\n{\\pdf{y}{x_{n}}}\\\\\n\\end{pmatrix},\\,n\\times1\\,\\text{vector}}\\\\\n&amp;{\\text{Note:}\\;\\text{We}\\;\\text{could}\\;\\text{also}\\;\\text{have}\\;\\text{written}\\;\\text{this}\\;\\text{the}\\;\\text{derivative}\\;\\text{as}\\;\\text{a}\\;\\text{row}\\;\\text{vector}}\\\\\n&amp;{\\begin{pmatrix}\n{\\pdf{y}{x_{1}}}&amp;{\\pdf{y}{x_{2}}}&amp;{...}&amp;{\\pdf{y}{x_{n}}}\\\\\n\\end{pmatrix}}\\\\\n&amp;{\\text{But}\\;\\text{we'll}\\;\\text{always}\\;\\text{write}\\;\\text{derivative}\\;\\text{of}\\;\\text{a}\\;\\text{scalar}\\;\\text{against}\\;\\text{a}\\;\\text{vector}\\;\\text{as}\\;\\text{a}\\;\\text{column}\\;\\text{vector}}\t\n\\end{lalign*}&quot;,&quot;aid&quot;:null,&quot;backgroundColor&quot;:&quot;#FFFFFF&quot;,&quot;ts&quot;:1759356604318,&quot;cs&quot;:&quot;C/qRiBQeS+YRnUs29w3vrg==&quot;,&quot;size&quot;:{&quot;width&quot;:538,&quot;height&quot;:195.5}}" id="75" name="Google Shape;7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9425" y="3008925"/>
            <a:ext cx="5124450" cy="186213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/>
          <p:nvPr/>
        </p:nvSpPr>
        <p:spPr>
          <a:xfrm>
            <a:off x="3956550" y="3328675"/>
            <a:ext cx="4559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Note we are considering the derivative of a scalar against a vector!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</a:t>
            </a:r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id&quot;:&quot;3&quot;,&quot;type&quot;:&quot;lalign*&quot;,&quot;aid&quot;:null,&quot;backgroundColor&quot;:&quot;#FFFFFF&quot;,&quot;backgroundColorModified&quot;:false,&quot;font&quot;:{&quot;family&quot;:&quot;Arial&quot;,&quot;color&quot;:&quot;#595959&quot;,&quot;size&quot;:13},&quot;code&quot;:&quot;\\begin{lalign*}\n&amp;{\\text{How}\\;\\text{do}\\;\\text{we}\\;\\text{calculate}\\;\\text{partial}\\;\\text{derivatives?}\\;\\text{We}\\;\\text{only}\\;\\text{vary}\\;\\text{the}\\;\\text{coordinate}\\;}\\\\\n&amp;{\\text{we}\\;\\text{are}\\;\\text{calculating}\\;\\text{the}\\;\\text{derivative}\\;\\text{against,}\\;\\text{and}\\;\\text{hold}\\;\\text{the}\\,\\text{other}}\\\\\n&amp;{\\text{coordinates}\\;\\text{constant.}\\;\\text{Eg.,}}\\\\\n&amp;{y=f\\left(r,h\\right)=\\frac{1}{3}r^{2}h}\\\\\n&amp;{\\pdf{y}{r}=\\frac{2}{3}rh,\\,\\pdf{y}{h}=\\frac{1}{3}r^{2}}\\\\\n&amp;{z=\\sin\\left(xy\\right)}\\\\\n&amp;{\\pdf{z}{y}=x\\cos\\left(xy\\right),\\,\\pdf{z}{x}=y\\cos\\left(xy\\right)}\\\\\n&amp;{y={\\sqrt[]{x_{1}^{2}+x_{2}^{2}\\,...\\,x_{n}^{2}}},}\\\\\n&amp;{\\pdf{y}{x_{i}}=\\frac{x_{i}}{{\\sqrt[]{x_{1}^{2}+x_{2}^{2}\\,...\\,x_{n}^{2}}},}}\t\n\\end{lalign*}&quot;,&quot;ts&quot;:1759689050818,&quot;cs&quot;:&quot;2tgbtNIl4FweSxZU4hi30Q==&quot;,&quot;size&quot;:{&quot;width&quot;:612.4999999999999,&quot;height&quot;:363.5}}" id="83" name="Google Shape;8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383" y="1162825"/>
            <a:ext cx="5834063" cy="3462338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3652000" y="2196975"/>
            <a:ext cx="47739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Partial derivative along one coordinate is the same as regular derivative if we treat the other dimensions as a constant</a:t>
            </a:r>
            <a:endParaRPr sz="13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The </a:t>
            </a:r>
            <a:r>
              <a:rPr i="1" lang="en" sz="1300">
                <a:solidFill>
                  <a:schemeClr val="dk2"/>
                </a:solidFill>
              </a:rPr>
              <a:t>total </a:t>
            </a:r>
            <a:r>
              <a:rPr lang="en" sz="1300">
                <a:solidFill>
                  <a:schemeClr val="dk2"/>
                </a:solidFill>
              </a:rPr>
              <a:t>derivative is now a vector, with the partial derivatives forming the coordinates along each axis. The total derivative vector still points in the direction of the steepest ascent!</a:t>
            </a:r>
            <a:br>
              <a:rPr lang="en" sz="1300">
                <a:solidFill>
                  <a:schemeClr val="dk2"/>
                </a:solidFill>
              </a:rPr>
            </a:b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Partial derivatives can depend on all dimensions, a single dimension and anything in between. They can also be a constant, including 0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11700" y="4625150"/>
            <a:ext cx="4559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See: verify_partial_derivatives.py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Derivatives: Interpretation</a:t>
            </a:r>
            <a:endParaRPr/>
          </a:p>
        </p:txBody>
      </p:sp>
      <p:sp>
        <p:nvSpPr>
          <p:cNvPr id="91" name="Google Shape;91;p18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512400" y="1149350"/>
            <a:ext cx="7050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Partial derivative along one coordinate is the same as regular derivative if we treat the other dimensions as a constant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93" name="Google Shape;9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350" y="2571750"/>
            <a:ext cx="2720950" cy="2548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9300" y="2571750"/>
            <a:ext cx="2459622" cy="230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24297" y="2616325"/>
            <a:ext cx="2459622" cy="2303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backgroundColorModified&quot;:false,&quot;id&quot;:&quot;4&quot;,&quot;code&quot;:&quot;\\begin{gather*}\n{f\\left(x\\right)=x^{2}-y^{2}}\\\\\n{f_{x}\\left(x,y=1\\right)=\\pdf{\\left(x^{2}-1\\right)}{x}=2x,\\,f_{y}\\left(x=1,y\\right)=\\pdf{\\left(1-y^{2}\\right)}{y}=-2y}\t\n\\end{gather*}&quot;,&quot;aid&quot;:null,&quot;type&quot;:&quot;gather*&quot;,&quot;font&quot;:{&quot;size&quot;:15,&quot;family&quot;:&quot;Arial&quot;,&quot;color&quot;:&quot;#595959&quot;},&quot;ts&quot;:1759612859752,&quot;cs&quot;:&quot;0EoAIbj6ONwdi0vucs+urQ==&quot;,&quot;size&quot;:{&quot;width&quot;:675,&quot;height&quot;:93.5}}" id="96" name="Google Shape;96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4925" y="1754475"/>
            <a:ext cx="5334231" cy="73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idx="4294967295" type="title"/>
          </p:nvPr>
        </p:nvSpPr>
        <p:spPr>
          <a:xfrm>
            <a:off x="311700" y="445025"/>
            <a:ext cx="599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Derivatives: Interpretation</a:t>
            </a:r>
            <a:endParaRPr/>
          </a:p>
        </p:txBody>
      </p:sp>
      <p:sp>
        <p:nvSpPr>
          <p:cNvPr id="102" name="Google Shape;102;p19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45775" y="1542200"/>
            <a:ext cx="33075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From a point x0, y0, there are an </a:t>
            </a:r>
            <a:r>
              <a:rPr lang="en" sz="1300">
                <a:solidFill>
                  <a:schemeClr val="dk2"/>
                </a:solidFill>
              </a:rPr>
              <a:t>infinite number of directions I could move. The function can change by different amounts in each direction. I can ask two questions: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If I move in direction (u,v), what is the rate of change?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In which direction is the rate of change maximum, and what is the value of that rate of change? 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aid&quot;:null,&quot;font&quot;:{&quot;color&quot;:&quot;#000000&quot;,&quot;size&quot;:12,&quot;family&quot;:&quot;Arial&quot;},&quot;backgroundColor&quot;:&quot;#FFFFFF&quot;,&quot;code&quot;:&quot;\\begin{lalign*}\n&amp;{\\text{Let}\\;\\boldsymbol{u}\\,\\text{be}\\;\\text{a}\\;\\text{unit}\\;\\text{vector}\\;\\text{describing}\\;\\text{a}\\;\\text{direction}\\;\\text{(}u_{x},\\,u_{y}\\text{).}\\;\\text{Then,}\\;\\text{}}\\\\\n&amp;{\\text{rate}\\;\\text{of}\\;\\text{change}\\;\\text{of}\\;\\text{a}\\;\\text{function}\\;f\\,\\text{in}\\;\\text{direction}\\;\\boldsymbol{u},\\,D_{u}=\\left[f_{x},\\,f_{y}\\right].\\left[u_{x},\\,u_{y}\\right]^{}}\\\\\n&amp;{eg.,\\,\\text{if}\\;\\text{I'm}\\;\\text{on}\\;\\text{(1,1)}\\;\\text{on}\\;f\\left(x,y\\right)=x^{2}+y^{2},\\,\\text{and}\\;\\text{I}\\;\\text{move}\\;\\text{by}\\;\\;\\text{}}\\\\\n&amp;{\\text{0.1}\\;\\text{along}\\;\\text{x,}\\;\\text{and}\\;\\text{0.05}\\;\\text{along}\\;\\text{y,}\\;\\text{then}}\\\\\n&amp;{D_{u}=\\left(\\frac{0.1}{{\\sqrt[]{0.1^{2}+0.05^{2}}}},\\,\\frac{0.05}{{\\sqrt[]{0.1^{2}+0.05^{2}}}}\\right).\\left(2,2\\right)=2.68}\\\\\n&amp;{\\text{In}\\;\\text{which}\\;\\text{direction}\\;\\text{is}\\;\\text{the}\\;\\text{function}\\;\\text{changing}\\;\\text{fastest?}\\;\\text{i.e.,}\\;D_{u\\,}\\text{highest?}\\;\\text{}}\\\\\n&amp;{D_{u}=\\left|\\left|\\nabla f\\right|\\right|\\,\\left|\\left|\\boldsymbol{u}\\right|\\right|\\cos\\left(\\theta\\right),\\,\\text{theta}\\;\\text{is}\\;\\text{angle}\\;\\text{between}\\;\\nabla f\\,\\text{and}\\;\\boldsymbol{u}}\\\\\n&amp;{\\,\\,\\,\\,\\,\\,\\,\\,\\,=\\,\\left|\\left|\\nabla f\\right|\\right|\\cos\\left(\\theta\\right),\\,\\text{because}\\;\\boldsymbol{u\\,}\\text{is}\\;\\text{a}\\;\\text{unit}\\;\\text{vector}}\\\\\n&amp;{\\text{Max}\\;\\text{value}\\;\\text{of}\\;\\cos\\left(\\theta\\right)=1,\\,\\theta=0,\\,\\text{i.e.,}\\;\\boldsymbol{u}=\\nabla f/\\left|\\left|\\nabla f\\right|\\right|}\\\\\n&amp;{\\text{So,}\\;\\text{the}\\;\\text{magnitude}\\;\\text{of}\\;\\text{the}\\;\\text{gradient}\\;\\text{is}\\;\\text{the}\\;\\text{maximum}\\;\\text{rate}\\;\\text{of}\\;\\text{change}\\;\\text{in}}\\\\\n&amp;{\\text{any}\\;\\text{direction,}\\;\\text{and}\\;\\text{the}\\;\\text{direction}\\;\\text{of}\\;\\text{maximum}\\;\\text{rate}\\;\\text{of}\\;\\text{change}\\;\\text{is}\\;\\text{the}\\;\\text{gradient}\\;\\text{}}\\\\\n&amp;{\\text{vector}}\t\n\\end{lalign*}&quot;,&quot;id&quot;:&quot;5&quot;,&quot;type&quot;:&quot;lalign*&quot;,&quot;ts&quot;:1759615746007,&quot;cs&quot;:&quot;ZIVPsa1d7PgeeNxOg3k4KA==&quot;,&quot;size&quot;:{&quot;width&quot;:604.5,&quot;height&quot;:324.5}}" id="104" name="Google Shape;10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53275" y="1237300"/>
            <a:ext cx="5757863" cy="3090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Derivatives: Interpretation</a:t>
            </a:r>
            <a:endParaRPr/>
          </a:p>
        </p:txBody>
      </p:sp>
      <p:sp>
        <p:nvSpPr>
          <p:cNvPr id="110" name="Google Shape;110;p20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050" y="1112400"/>
            <a:ext cx="4614999" cy="4031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8050" y="976375"/>
            <a:ext cx="4202826" cy="420282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0"/>
          <p:cNvSpPr txBox="1"/>
          <p:nvPr/>
        </p:nvSpPr>
        <p:spPr>
          <a:xfrm>
            <a:off x="0" y="4708275"/>
            <a:ext cx="4559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See: direction_derivatives.py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idx="4294967295" type="title"/>
          </p:nvPr>
        </p:nvSpPr>
        <p:spPr>
          <a:xfrm>
            <a:off x="311700" y="445025"/>
            <a:ext cx="6865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Hessian Matrix</a:t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0" name="Google Shape;120;p21"/>
          <p:cNvSpPr txBox="1"/>
          <p:nvPr/>
        </p:nvSpPr>
        <p:spPr>
          <a:xfrm>
            <a:off x="418875" y="1128425"/>
            <a:ext cx="738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Hessian matrix is a matrix of second derivatives. 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aid&quot;:null,&quot;type&quot;:&quot;lalign*&quot;,&quot;font&quot;:{&quot;size&quot;:10,&quot;family&quot;:&quot;Arial&quot;,&quot;color&quot;:&quot;#000000&quot;},&quot;id&quot;:&quot;15&quot;,&quot;code&quot;:&quot;\\begin{lalign*}\n&amp;{\\text{if}\\;f\\left(x\\right)=\\begin{pmatrix}\n{x_{1}}\\\\\n{x_{2}}\\\\\n{x_{3}}\\\\\n\\end{pmatrix}}\\\\\n&amp;{\\text{Then,}\\;\\diff{f}{x}=\\nabla f=\\begin{pmatrix}\n{\\pdf{f}{x_{1}}}\\\\\n{\\pdf{f}{x_{2}}}\\\\\n{\\pdf{f}{x_{3}}}\\\\\n\\end{pmatrix}}\\\\\n&amp;{\\text{And}\\,\\frac{\\dd ^{2}f}{\\dd ^{2}x}=H=\\begin{pmatrix}\n{\\pdf{f}{x_{1}^{}}\\pdf{f}{x_{1}^{}}}&amp;{\\pdf{f}{x_{1}^{}}\\pdf{f}{x_{2}^{}}}&amp;{\\pdf{f}{x_{1}^{}}\\pdf{f}{x_{3}^{}}}\\\\\n{\\pdf{f}{x_{2}^{}}\\pdf{f}{x_{1}^{}}}&amp;{\\pdf{f}{x_{2}^{}}\\pdf{f}{x_{2}^{}}}&amp;{\\pdf{f}{x_{2}^{}}\\pdf{f}{x_{3}^{}}}\\\\\n{\\pdf{f}{x_{3}^{}}\\pdf{f}{x_{1}^{}}}&amp;{\\pdf{f}{x_{3}^{}}\\pdf{f}{x_{2}^{}}}&amp;{\\pdf{f}{x_{3}^{}}\\pdf{f}{x_{3}^{}}}\\\\\n\\end{pmatrix}}\t\n\\end{lalign*}&quot;,&quot;backgroundColor&quot;:&quot;#FFFFFF&quot;,&quot;backgroundColorModified&quot;:false,&quot;ts&quot;:1759975179259,&quot;cs&quot;:&quot;U4n/H9DmU+aT6mE6beIRPQ==&quot;,&quot;size&quot;:{&quot;width&quot;:318.25,&quot;height&quot;:234.75}}" id="121" name="Google Shape;12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831" y="1901725"/>
            <a:ext cx="3031331" cy="22359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type&quot;:&quot;gather*&quot;,&quot;backgroundColor&quot;:&quot;#FFFFFF&quot;,&quot;aid&quot;:null,&quot;font&quot;:{&quot;size&quot;:12,&quot;family&quot;:&quot;Arial&quot;,&quot;color&quot;:&quot;#000000&quot;},&quot;code&quot;:&quot;\\begin{gather*}\n{\\text{Example:}}\\\\\n{\\text{Let}\\;f\\left(x,y\\right)=e^{xy}}\\\\\n{\\pdf{f}{x}=ye^{xy},\\,\\pdf{f}{y}=xe^{xy}}\\\\\n{\\pdf{f}{y}\\pdf{f}{x}=e^{xy}+xye^{xy},\\,\\pdf{f}{x}\\pdf{f}{y}=e^{xy}+xye^{xy}}\\\\\n{\\pdf{f}{x}\\pdf{f}{x}=y^{2}e^{xy},\\,\\pdf{f}{y}\\pdf{f}{y}=x^{2}e^{xy}}\\\\\n{\\text{so,}}\\\\\n{H=\\begin{pmatrix}\n{y^{2}e^{xy}}&amp;{e^{xy}+xye^{xy}}\\\\\n{e^{xy}+xye^{xy}}&amp;{x^{2}e^{xy}}\\\\\n\\end{pmatrix}}\t\n\\end{gather*}&quot;,&quot;id&quot;:&quot;16&quot;,&quot;ts&quot;:1759976230168,&quot;cs&quot;:&quot;KAzQA94LjW+Eaq2LUdxZow==&quot;,&quot;size&quot;:{&quot;width&quot;:360,&quot;height&quot;:265}}" id="122" name="Google Shape;12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9500" y="1624025"/>
            <a:ext cx="3429000" cy="25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/>
          <p:nvPr>
            <p:ph idx="4294967295" type="title"/>
          </p:nvPr>
        </p:nvSpPr>
        <p:spPr>
          <a:xfrm>
            <a:off x="311700" y="445025"/>
            <a:ext cx="6865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Critical points for multivariate functions</a:t>
            </a:r>
            <a:endParaRPr/>
          </a:p>
        </p:txBody>
      </p:sp>
      <p:sp>
        <p:nvSpPr>
          <p:cNvPr id="128" name="Google Shape;128;p22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418875" y="1128425"/>
            <a:ext cx="73887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To find a critical point (local minimum/maximum) for a univariate function, we set the derivative to 0 and use the second derivative test to determine whether the critical point is a minimum or maximum. What’s the counterpart of this in higher dimensions? 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id&quot;:&quot;15&quot;,&quot;font&quot;:{&quot;color&quot;:&quot;#000000&quot;,&quot;size&quot;:10,&quot;family&quot;:&quot;Arial&quot;},&quot;backgroundColor&quot;:&quot;#FFFFFF&quot;,&quot;aid&quot;:null,&quot;type&quot;:&quot;gather*&quot;,&quot;code&quot;:&quot;\\begin{gather*}\n{f\\left(x_{0}+h\\right)=f\\left(x_{0}\\right)+\\nabla f\\left(x_{0}\\right)^{T}h+h^{T}H\\left(x_{0}\\right)h+R\\left(x_{0},h\\right)}\\\\\n{\\text{Here,}\\;x_{0},\\,h,\\,\\nabla f\\,\\text{etc}\\;\\text{are}\\;N\\times1\\,\\text{vectors}}\\\\\n{\\text{As}\\;\\text{in}\\;\\text{one}\\;\\text{dimension,}\\;\\nabla f\\left(x_{0}\\right)=0\\,\\text{at}\\;\\text{a}\\;\\text{critica}\\text{l}\\;\\text{point.}\\;\\text{}}\\\\\n{H\\,\\text{is}\\;\\text{the}\\;\\text{Hessian}\\;\\text{matrix}\\;\\text{(}N\\times N\\text{),}\\;\\text{the}\\;\\text{equivalent}\\;\\text{of}\\;\\text{a}\\;\\text{second}\\;\\text{derivative}\\;\\text{}}\\\\\n{\\text{in}\\;\\text{higher}\\;\\text{dimensions.}\\;\\text{}}\\\\\n{\\text{At}\\;\\text{a}\\;\\text{critical}\\;\\text{point,}\\;\\text{}}\\\\\n{f\\left(x_{0}+h\\right)=f\\left(x_{0}\\right)+h^{T}H\\left(x_{0}\\right)h+R\\left(x_{0},h\\right)}\\\\\n{\\text{In}\\;\\text{a}\\;\\text{small}\\;\\text{enough}\\;\\text{neighborhood}\\;\\text{of}\\;x_{0\\,}\\left(\\text{small}\\;h\\right),}\\\\\n{\\text{if}\\;H\\,\\text{is}\\;\\text{positive}\\;\\text{definite}\\;\\text{(all}\\;\\text{eigenvalues}\\;\\text{positive),}\\;\\text{then}\\;h^{T}H\\left(x_{0}\\right)h&gt;0,\\,f\\left(x_{0}+h\\right)&gt;f\\left(x_{0}\\right)\\,\\text{and}\\;x_{0}\\text{}}\\\\\n{\\text{is}\\;\\text{local}\\;\\text{minimum}}\\\\\n{\\text{if}\\;H\\,\\text{is}\\;\\text{negative}\\;\\text{definite}\\;\\text{(all}\\;\\text{eigenvalues}\\;\\text{negative)}\\text{,}\\;\\text{then}\\;h^{T}H\\left(x_{0}\\right)h&lt;0,\\,f\\left(x_{0}+h\\right)&lt;f\\left(x_{0}\\right)\\,\\text{and}\\;x_{0}\\text{}}\\\\\n{\\text{is}\\;\\text{local}\\;\\text{maximum}}\\\\\n{\\text{if}\\;H\\,\\text{is}\\;\\text{indefinite}\\;\\text{(some}\\;\\text{eigenvalues}\\;\\text{positive,}\\;\\text{others}\\;\\text{negative),}\\;h^{T}H\\left(x_{0}\\right)h\\;\\text{can}\\;\\text{take}\\;\\text{both}\\;\\text{signs,}\\;\\text{and}\\;f\\left(x_{0}\\right)\\,\\text{is}\\;\\text{a}\\;\\text{saddle}\\;\\text{point}}\\\\\n{\\text{i.e.,}\\;f\\left(x_{0}+h\\right)\\,\\text{is}\\;\\text{larger}\\;\\text{in}\\;\\text{some}\\;\\text{directions}\\;\\text{and}\\;\\text{smaller}\\;\\text{in}\\;\\text{others}}\\\\\n{}\t\n\\end{gather*}&quot;,&quot;backgroundColorModified&quot;:false,&quot;ts&quot;:1761614345672,&quot;cs&quot;:&quot;Z2jO3NtcBpk8KFiWAF4HHQ==&quot;,&quot;size&quot;:{&quot;width&quot;:813,&quot;height&quot;:292.5}}" id="130" name="Google Shape;13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759" y="2134765"/>
            <a:ext cx="7743825" cy="2786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 txBox="1"/>
          <p:nvPr>
            <p:ph idx="4294967295" type="title"/>
          </p:nvPr>
        </p:nvSpPr>
        <p:spPr>
          <a:xfrm>
            <a:off x="311700" y="445025"/>
            <a:ext cx="6865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Derivative Test in 2D..</a:t>
            </a:r>
            <a:endParaRPr/>
          </a:p>
        </p:txBody>
      </p:sp>
      <p:sp>
        <p:nvSpPr>
          <p:cNvPr id="136" name="Google Shape;136;p23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7" name="Google Shape;137;p23"/>
          <p:cNvSpPr txBox="1"/>
          <p:nvPr/>
        </p:nvSpPr>
        <p:spPr>
          <a:xfrm>
            <a:off x="418875" y="1128425"/>
            <a:ext cx="738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In 2D,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font&quot;:{&quot;size&quot;:11,&quot;color&quot;:&quot;#000000&quot;,&quot;family&quot;:&quot;Arial&quot;},&quot;id&quot;:&quot;15&quot;,&quot;backgroundColor&quot;:&quot;#FFFFFF&quot;,&quot;aid&quot;:null,&quot;backgroundColorModified&quot;:false,&quot;type&quot;:&quot;lalign*&quot;,&quot;code&quot;:&quot;\\begin{lalign*}\n&amp;{\\text{if}\\;f\\left(x\\right)=\\begin{pmatrix}\n{x}\\\\\n{y}\\\\\n\\end{pmatrix}}\\\\\n&amp;{\\text{Denoting}\\;\\pdf{f}{y}\\pdf{f}{x}\\to f_{yx},\\,\\pdf{f}{x}\\pdf{f}{x}\\to f_{xx}\\,etc}\\\\\n&amp;{\\text{And}\\,\\frac{\\dd ^{2}f}{dx^{2}}=H=\\begin{pmatrix}\n{f_{xx}}&amp;{f_{xy}}\\\\\n{f_{yx}}&amp;{f_{yy}}\\\\\n\\end{pmatrix}}\\\\\n&amp;{\\text{Let}\\;D_{xy\\,}=f_{xx}f_{yy}-f_{xy}f_{yx}}\\\\\n&amp;{\\text{if}\\;D_{xy}&gt;0\\,\\text{and}\\;f_{xx}&gt;0,\\,\\text{local}\\;\\text{minimum}}\\\\\n&amp;{\\text{if}\\;D_{xy}&gt;0\\,\\text{and}\\;f_{xx}&lt;0,\\,\\text{local}\\;\\text{maximum}}\\\\\n&amp;{\\text{if}\\;D_{xy}&lt;0,\\,\\text{saddle}\\;\\text{point}}\\\\\n&amp;{\\text{if}\\;D_{xy}=0,\\,\\text{inconclusive}}\t\n\\end{lalign*}&quot;,&quot;ts&quot;:1761614215153,&quot;cs&quot;:&quot;rtV5Dma8PBgM8/sR7wAl/g==&quot;,&quot;size&quot;:{&quot;width&quot;:316.49999999999994,&quot;height&quot;:249.75}}" id="138" name="Google Shape;13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704" y="1771849"/>
            <a:ext cx="3014662" cy="23788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code&quot;:&quot;\\begin{gather*}\n{\\text{Example:}}\\\\\n{\\text{Let}\\;f\\left(x,y\\right)=x^{2}+y^{2}}\\\\\n{\\pdf{f}{x}=2x,\\,\\pdf{f}{y}=2y}\\\\\n{\\pdf{f}{y}\\pdf{f}{x}=0,\\,\\pdf{f}{x}\\pdf{f}{y}=0}\\\\\n{\\pdf{f}{x}\\pdf{f}{x}=2,\\,\\pdf{f}{y}\\pdf{f}{y}=2}\\\\\n{\\text{so,}}\\\\\n{H=\\begin{pmatrix}\n{2}&amp;{0}\\\\\n{0}&amp;{2}\\\\\n\\end{pmatrix}}\\\\\n{D=4,\\,f_{xx}&gt;0..\\,\\left(0,0\\right)\\,\\text{is}\\;\\text{local}\\;\\text{(also}\\;\\text{global)}\\;\\text{miminum}}\\\\\n{\\text{Let}\\;f\\left(x,y\\right)=x^{2}-y^{2}}\\\\\n{H=\\begin{pmatrix}\n{2}&amp;{0}\\\\\n{0}&amp;{-2}\\\\\n\\end{pmatrix},\\,D=-4..\\,\\left(0,0\\right)\\,\\text{is}\\;\\text{a}\\;\\text{saddle}\\;\\text{point}}\t\n\\end{gather*}&quot;,&quot;backgroundColor&quot;:&quot;#FFFFFF&quot;,&quot;type&quot;:&quot;gather*&quot;,&quot;backgroundColorModified&quot;:false,&quot;font&quot;:{&quot;size&quot;:12,&quot;color&quot;:&quot;#000000&quot;,&quot;family&quot;:&quot;Arial&quot;},&quot;id&quot;:&quot;16&quot;,&quot;ts&quot;:1759977025984,&quot;cs&quot;:&quot;wKlhEdU55JcnYfI6XlLb+w==&quot;,&quot;size&quot;:{&quot;width&quot;:427,&quot;height&quot;:367.3333333333333}}" id="139" name="Google Shape;13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5438" y="1166300"/>
            <a:ext cx="4067175" cy="34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Derivatives: Chain Rule</a:t>
            </a:r>
            <a:endParaRPr/>
          </a:p>
        </p:txBody>
      </p:sp>
      <p:sp>
        <p:nvSpPr>
          <p:cNvPr id="145" name="Google Shape;145;p24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6" name="Google Shape;146;p24"/>
          <p:cNvSpPr txBox="1"/>
          <p:nvPr/>
        </p:nvSpPr>
        <p:spPr>
          <a:xfrm>
            <a:off x="174475" y="3039113"/>
            <a:ext cx="71379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    We can generalize this to multiple dimensions as follows:</a:t>
            </a:r>
            <a:endParaRPr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982725" y="3977275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</a:t>
            </a:r>
            <a:endParaRPr/>
          </a:p>
        </p:txBody>
      </p:sp>
      <p:sp>
        <p:nvSpPr>
          <p:cNvPr id="148" name="Google Shape;148;p24"/>
          <p:cNvSpPr/>
          <p:nvPr/>
        </p:nvSpPr>
        <p:spPr>
          <a:xfrm>
            <a:off x="1880925" y="3572450"/>
            <a:ext cx="542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f(x)</a:t>
            </a:r>
            <a:endParaRPr/>
          </a:p>
        </p:txBody>
      </p:sp>
      <p:sp>
        <p:nvSpPr>
          <p:cNvPr id="149" name="Google Shape;149;p24"/>
          <p:cNvSpPr/>
          <p:nvPr/>
        </p:nvSpPr>
        <p:spPr>
          <a:xfrm>
            <a:off x="1880925" y="4384925"/>
            <a:ext cx="542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g(x)</a:t>
            </a:r>
            <a:endParaRPr/>
          </a:p>
        </p:txBody>
      </p:sp>
      <p:sp>
        <p:nvSpPr>
          <p:cNvPr id="150" name="Google Shape;150;p24"/>
          <p:cNvSpPr/>
          <p:nvPr/>
        </p:nvSpPr>
        <p:spPr>
          <a:xfrm>
            <a:off x="2976300" y="3943075"/>
            <a:ext cx="12384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h(f(x), g(x))</a:t>
            </a:r>
            <a:endParaRPr/>
          </a:p>
        </p:txBody>
      </p:sp>
      <p:sp>
        <p:nvSpPr>
          <p:cNvPr id="151" name="Google Shape;151;p24"/>
          <p:cNvSpPr/>
          <p:nvPr/>
        </p:nvSpPr>
        <p:spPr>
          <a:xfrm>
            <a:off x="4684125" y="3943075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</a:t>
            </a:r>
            <a:endParaRPr/>
          </a:p>
        </p:txBody>
      </p:sp>
      <p:cxnSp>
        <p:nvCxnSpPr>
          <p:cNvPr id="152" name="Google Shape;152;p24"/>
          <p:cNvCxnSpPr>
            <a:stCxn id="147" idx="3"/>
            <a:endCxn id="148" idx="1"/>
          </p:cNvCxnSpPr>
          <p:nvPr/>
        </p:nvCxnSpPr>
        <p:spPr>
          <a:xfrm flipH="1" rot="10800000">
            <a:off x="1419825" y="3744025"/>
            <a:ext cx="461100" cy="40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3" name="Google Shape;153;p24"/>
          <p:cNvCxnSpPr>
            <a:stCxn id="147" idx="3"/>
            <a:endCxn id="149" idx="1"/>
          </p:cNvCxnSpPr>
          <p:nvPr/>
        </p:nvCxnSpPr>
        <p:spPr>
          <a:xfrm>
            <a:off x="1419825" y="4148725"/>
            <a:ext cx="461100" cy="40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4" name="Google Shape;154;p24"/>
          <p:cNvCxnSpPr>
            <a:stCxn id="148" idx="3"/>
          </p:cNvCxnSpPr>
          <p:nvPr/>
        </p:nvCxnSpPr>
        <p:spPr>
          <a:xfrm>
            <a:off x="2423025" y="3743900"/>
            <a:ext cx="553200" cy="36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5" name="Google Shape;155;p24"/>
          <p:cNvCxnSpPr>
            <a:stCxn id="149" idx="3"/>
            <a:endCxn id="150" idx="1"/>
          </p:cNvCxnSpPr>
          <p:nvPr/>
        </p:nvCxnSpPr>
        <p:spPr>
          <a:xfrm flipH="1" rot="10800000">
            <a:off x="2423025" y="4114475"/>
            <a:ext cx="553200" cy="441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6" name="Google Shape;156;p24"/>
          <p:cNvCxnSpPr>
            <a:stCxn id="150" idx="3"/>
            <a:endCxn id="151" idx="1"/>
          </p:cNvCxnSpPr>
          <p:nvPr/>
        </p:nvCxnSpPr>
        <p:spPr>
          <a:xfrm>
            <a:off x="4214700" y="4114525"/>
            <a:ext cx="46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$$\\pdf{h}{f}$$&quot;,&quot;font&quot;:{&quot;family&quot;:&quot;Arial&quot;,&quot;size&quot;:14,&quot;color&quot;:&quot;#000000&quot;},&quot;backgroundColorModified&quot;:false,&quot;backgroundColor&quot;:&quot;#EEEEEE&quot;,&quot;aid&quot;:null,&quot;type&quot;:&quot;$$&quot;,&quot;id&quot;:&quot;8&quot;,&quot;ts&quot;:1759676254594,&quot;cs&quot;:&quot;ORmG5BsYHePJNC5t1yPhjA==&quot;,&quot;size&quot;:{&quot;width&quot;:29.666666666666668,&quot;height&quot;:50}}" id="157" name="Google Shape;15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6175" y="3393425"/>
            <a:ext cx="240122" cy="404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font&quot;:{&quot;color&quot;:&quot;#000000&quot;,&quot;size&quot;:14,&quot;family&quot;:&quot;Arial&quot;},&quot;backgroundColorModified&quot;:false,&quot;backgroundColor&quot;:&quot;#FFFFFF&quot;,&quot;type&quot;:&quot;$$&quot;,&quot;code&quot;:&quot;$$\\pdf{h}{g}$$&quot;,&quot;id&quot;:&quot;9&quot;,&quot;ts&quot;:1759676276679,&quot;cs&quot;:&quot;EjUf1W/u9vfVIoywd6dHiQ==&quot;,&quot;size&quot;:{&quot;width&quot;:29.666666666666668,&quot;height&quot;:50}}" id="158" name="Google Shape;15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81475" y="4405525"/>
            <a:ext cx="240125" cy="4047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10&quot;,&quot;font&quot;:{&quot;size&quot;:14,&quot;color&quot;:&quot;#000000&quot;,&quot;family&quot;:&quot;Arial&quot;},&quot;type&quot;:&quot;$$&quot;,&quot;code&quot;:&quot;$$\\diff{f}{x}$$&quot;,&quot;backgroundColorModified&quot;:false,&quot;backgroundColor&quot;:&quot;#FFFFFF&quot;,&quot;ts&quot;:1759676328967,&quot;cs&quot;:&quot;uXDGP/K8g8GdIRDV2NTuuA==&quot;,&quot;size&quot;:{&quot;width&quot;:29.333333333333332,&quot;height&quot;:45.5}}" id="159" name="Google Shape;159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99538" y="3464026"/>
            <a:ext cx="240125" cy="3724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aid&quot;:null,&quot;backgroundColorModified&quot;:false,&quot;backgroundColor&quot;:&quot;#FFFFFF&quot;,&quot;code&quot;:&quot;$$\\diff{g}{x}$$&quot;,&quot;font&quot;:{&quot;color&quot;:&quot;#000000&quot;,&quot;size&quot;:18,&quot;family&quot;:&quot;Arial&quot;},&quot;id&quot;:&quot;11&quot;,&quot;ts&quot;:1759676375776,&quot;cs&quot;:&quot;AvAEUwZie6D8hX1WI6IPRg==&quot;,&quot;size&quot;:{&quot;width&quot;:37.666666666666664,&quot;height&quot;:58.333333333333336}}" id="160" name="Google Shape;160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28400" y="4460950"/>
            <a:ext cx="279400" cy="43270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1" name="Google Shape;161;p24"/>
          <p:cNvCxnSpPr/>
          <p:nvPr/>
        </p:nvCxnSpPr>
        <p:spPr>
          <a:xfrm flipH="1">
            <a:off x="1420150" y="3660875"/>
            <a:ext cx="449100" cy="39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62" name="Google Shape;162;p24"/>
          <p:cNvCxnSpPr/>
          <p:nvPr/>
        </p:nvCxnSpPr>
        <p:spPr>
          <a:xfrm rot="10800000">
            <a:off x="1431650" y="4237425"/>
            <a:ext cx="447900" cy="40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63" name="Google Shape;163;p24"/>
          <p:cNvCxnSpPr/>
          <p:nvPr/>
        </p:nvCxnSpPr>
        <p:spPr>
          <a:xfrm rot="10800000">
            <a:off x="2420200" y="3650675"/>
            <a:ext cx="545700" cy="36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64" name="Google Shape;164;p24"/>
          <p:cNvCxnSpPr/>
          <p:nvPr/>
        </p:nvCxnSpPr>
        <p:spPr>
          <a:xfrm flipH="1">
            <a:off x="2430450" y="4206625"/>
            <a:ext cx="540600" cy="442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65" name="Google Shape;165;p24"/>
          <p:cNvCxnSpPr/>
          <p:nvPr/>
        </p:nvCxnSpPr>
        <p:spPr>
          <a:xfrm>
            <a:off x="5775250" y="3938888"/>
            <a:ext cx="363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sp>
        <p:nvSpPr>
          <p:cNvPr id="166" name="Google Shape;166;p24"/>
          <p:cNvSpPr txBox="1"/>
          <p:nvPr/>
        </p:nvSpPr>
        <p:spPr>
          <a:xfrm>
            <a:off x="5998733" y="3734150"/>
            <a:ext cx="1744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    Backward pass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167" name="Google Shape;167;p24"/>
          <p:cNvCxnSpPr/>
          <p:nvPr/>
        </p:nvCxnSpPr>
        <p:spPr>
          <a:xfrm>
            <a:off x="5775250" y="4274813"/>
            <a:ext cx="36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8" name="Google Shape;168;p24"/>
          <p:cNvSpPr txBox="1"/>
          <p:nvPr/>
        </p:nvSpPr>
        <p:spPr>
          <a:xfrm>
            <a:off x="6030183" y="4082375"/>
            <a:ext cx="1744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    Forward Pass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backgroundColor&quot;:&quot;#FFFFFF&quot;,&quot;aid&quot;:null,&quot;code&quot;:&quot;\\begin{lalign*}\n&amp;{\\text{Recall}\\;\\text{chain}\\;\\text{rule}\\;\\text{in}\\;\\text{one}\\;\\text{dimension:}}\\\\\n&amp;{h\\left(x\\right)=f\\left(g\\left(x\\right)\\right)}\\\\\n&amp;{\\diff{h}{x}=\\diff{g}{x}\\diff{f}{g},\\,eg.,\\,h\\left(x\\right)=\\sin\\left(\\log_{}\\left(x\\right)\\right),\\,h^{\\prime}\\left(x\\right)=\\cos\\left(\\log_{}\\left(x\\right)\\right)/x}\\\\\n&amp;{\\text{This}\\;\\text{can}\\;\\text{be}\\;\\text{thought}\\;\\text{of}\\;\\text{a}\\text{s}\\;\\text{a}\\;\\text{graph}}\\\\\n&amp;{x\\to g\\left(x\\right)\\to f\\left(g\\right)\\to h}\\\\\n&amp;{g=g\\left(x\\right)=log\\left(x\\right)}\\\\\n&amp;{h=f\\left(g\\right)=\\sin\\left(g\\right)}\t\n\\end{lalign*}&quot;,&quot;font&quot;:{&quot;color&quot;:&quot;#000000&quot;,&quot;size&quot;:12,&quot;family&quot;:&quot;Arial&quot;},&quot;type&quot;:&quot;lalign*&quot;,&quot;id&quot;:&quot;18&quot;,&quot;backgroundColorModified&quot;:false,&quot;ts&quot;:1761614725797,&quot;cs&quot;:&quot;9DbGuKsuLQ7eh8YevQBNKQ==&quot;,&quot;size&quot;:{&quot;width&quot;:518.5,&quot;height&quot;:188}}" id="169" name="Google Shape;169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2175" y="1138375"/>
            <a:ext cx="4938713" cy="179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Derivatives: Chain Rule</a:t>
            </a:r>
            <a:endParaRPr/>
          </a:p>
        </p:txBody>
      </p:sp>
      <p:sp>
        <p:nvSpPr>
          <p:cNvPr id="175" name="Google Shape;175;p25"/>
          <p:cNvSpPr txBox="1"/>
          <p:nvPr/>
        </p:nvSpPr>
        <p:spPr>
          <a:xfrm>
            <a:off x="369775" y="116282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lalign*}\n&amp;{\\text{In}\\;\\text{the}\\;\\text{below,}\\;\\text{we'll}\\;\\text{refer}\\;\\text{to}\\;\\text{h(x),}\\;\\text{g(x),}\\;\\text{f(x)}\\;\\text{as}\\;h,g,f\\,\\text{respectively}}\\\\\n&amp;{\\text{Example}\\;\\text{1:}}\\\\\n&amp;{h=g+f}\\\\\n&amp;{h_{g}:=\\pdf{h}{g}=1\\,\\text{:=}\\;\\text{means}\\;\\text{\&quot;defined}\\;\\text{as\&quot;}}\\\\\n&amp;{h_{f}:=\\pdf{h}{f}=1}\\\\\n&amp;{\\text{Example}\\;\\text{2:}}\\\\\n&amp;{h=g\\times f}\\\\\n&amp;{h_{g}=f}\\\\\n&amp;{h_{f}=g}\\\\\n&amp;{\\text{Eg.,}\\;h\\left(x\\right)=\\sin\\left(x\\right)\\cos\\left(x\\right)}\\\\\n&amp;{f\\left(x\\right)=\\sin\\left(x\\right),\\,g\\left(x\\right)=\\cos\\left(x\\right)}\\\\\n&amp;{h_{x}=f\\left(x\\right)g_{x}\\left(x\\right)+g\\left(x\\right)f_{x}\\left(x\\right)=-\\sin \\left(x\\right)\\sin\\left(x\\right)+\\cos\\left(x\\right)\\cos\\left(x\\right)}\t\n\\end{lalign*}&quot;,&quot;id&quot;:&quot;6&quot;,&quot;backgroundColor&quot;:&quot;#FFFFFF&quot;,&quot;type&quot;:&quot;lalign*&quot;,&quot;aid&quot;:null,&quot;font&quot;:{&quot;color&quot;:&quot;#000000&quot;,&quot;family&quot;:&quot;Arial&quot;,&quot;size&quot;:12},&quot;backgroundColorModified&quot;:false,&quot;ts&quot;:1759684194328,&quot;cs&quot;:&quot;1Oe8TIPI+zPMuJirAbWNYw==&quot;,&quot;size&quot;:{&quot;width&quot;:518,&quot;height&quot;:337}}" id="176" name="Google Shape;17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206" y="1162813"/>
            <a:ext cx="4933950" cy="320992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5"/>
          <p:cNvSpPr/>
          <p:nvPr/>
        </p:nvSpPr>
        <p:spPr>
          <a:xfrm>
            <a:off x="3976827" y="2699200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</a:t>
            </a:r>
            <a:endParaRPr/>
          </a:p>
        </p:txBody>
      </p:sp>
      <p:sp>
        <p:nvSpPr>
          <p:cNvPr id="178" name="Google Shape;178;p25"/>
          <p:cNvSpPr/>
          <p:nvPr/>
        </p:nvSpPr>
        <p:spPr>
          <a:xfrm>
            <a:off x="4875027" y="2294375"/>
            <a:ext cx="542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sin(x)</a:t>
            </a:r>
            <a:endParaRPr sz="900"/>
          </a:p>
        </p:txBody>
      </p:sp>
      <p:sp>
        <p:nvSpPr>
          <p:cNvPr id="179" name="Google Shape;179;p25"/>
          <p:cNvSpPr/>
          <p:nvPr/>
        </p:nvSpPr>
        <p:spPr>
          <a:xfrm>
            <a:off x="4875027" y="3106850"/>
            <a:ext cx="542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cos(x)</a:t>
            </a:r>
            <a:endParaRPr sz="1000"/>
          </a:p>
        </p:txBody>
      </p:sp>
      <p:sp>
        <p:nvSpPr>
          <p:cNvPr id="180" name="Google Shape;180;p25"/>
          <p:cNvSpPr/>
          <p:nvPr/>
        </p:nvSpPr>
        <p:spPr>
          <a:xfrm>
            <a:off x="5970402" y="2665000"/>
            <a:ext cx="12384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sin(x)cos(x)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7678227" y="2665000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</a:t>
            </a:r>
            <a:endParaRPr/>
          </a:p>
        </p:txBody>
      </p:sp>
      <p:cxnSp>
        <p:nvCxnSpPr>
          <p:cNvPr id="182" name="Google Shape;182;p25"/>
          <p:cNvCxnSpPr>
            <a:stCxn id="177" idx="3"/>
            <a:endCxn id="178" idx="1"/>
          </p:cNvCxnSpPr>
          <p:nvPr/>
        </p:nvCxnSpPr>
        <p:spPr>
          <a:xfrm flipH="1" rot="10800000">
            <a:off x="4413927" y="2465950"/>
            <a:ext cx="461100" cy="40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3" name="Google Shape;183;p25"/>
          <p:cNvCxnSpPr>
            <a:stCxn id="177" idx="3"/>
            <a:endCxn id="179" idx="1"/>
          </p:cNvCxnSpPr>
          <p:nvPr/>
        </p:nvCxnSpPr>
        <p:spPr>
          <a:xfrm>
            <a:off x="4413927" y="2870650"/>
            <a:ext cx="461100" cy="40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4" name="Google Shape;184;p25"/>
          <p:cNvCxnSpPr>
            <a:stCxn id="178" idx="3"/>
          </p:cNvCxnSpPr>
          <p:nvPr/>
        </p:nvCxnSpPr>
        <p:spPr>
          <a:xfrm>
            <a:off x="5417127" y="2465825"/>
            <a:ext cx="553200" cy="36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5" name="Google Shape;185;p25"/>
          <p:cNvCxnSpPr>
            <a:stCxn id="179" idx="3"/>
            <a:endCxn id="180" idx="1"/>
          </p:cNvCxnSpPr>
          <p:nvPr/>
        </p:nvCxnSpPr>
        <p:spPr>
          <a:xfrm flipH="1" rot="10800000">
            <a:off x="5417127" y="2836400"/>
            <a:ext cx="553200" cy="441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6" name="Google Shape;186;p25"/>
          <p:cNvCxnSpPr>
            <a:stCxn id="180" idx="3"/>
            <a:endCxn id="181" idx="1"/>
          </p:cNvCxnSpPr>
          <p:nvPr/>
        </p:nvCxnSpPr>
        <p:spPr>
          <a:xfrm>
            <a:off x="7208802" y="2836450"/>
            <a:ext cx="46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backgroundColor&quot;:&quot;#EEEEEE&quot;,&quot;type&quot;:&quot;$$&quot;,&quot;id&quot;:&quot;8&quot;,&quot;aid&quot;:null,&quot;font&quot;:{&quot;size&quot;:11.5,&quot;color&quot;:&quot;#000000&quot;,&quot;family&quot;:&quot;Arial&quot;},&quot;code&quot;:&quot;$$\\pdf{h}{f}=\\cos\\left(x\\right)$$&quot;,&quot;backgroundColorModified&quot;:false,&quot;ts&quot;:1761615243316,&quot;cs&quot;:&quot;d/7Cd3npP0Hpq7IkVjoQgA==&quot;,&quot;size&quot;:{&quot;width&quot;:100.16666666666659,&quot;height&quot;:41.166666666666664}}" id="187" name="Google Shape;18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08527" y="2173007"/>
            <a:ext cx="954087" cy="3921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9&quot;,&quot;backgroundColorModified&quot;:false,&quot;font&quot;:{&quot;size&quot;:11.5,&quot;color&quot;:&quot;#000000&quot;,&quot;family&quot;:&quot;Arial&quot;},&quot;backgroundColor&quot;:&quot;#FFFFFF&quot;,&quot;code&quot;:&quot;$$\\pdf{h}{g}=\\sin\\left(x\\right)$$&quot;,&quot;type&quot;:&quot;$$&quot;,&quot;aid&quot;:null,&quot;ts&quot;:1761615271934,&quot;cs&quot;:&quot;cBuzeI3KomEq0J+5izLk4A==&quot;,&quot;size&quot;:{&quot;width&quot;:98.16666666666659,&quot;height&quot;:41.166666666666664}}" id="188" name="Google Shape;188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75577" y="3279454"/>
            <a:ext cx="935037" cy="3921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10&quot;,&quot;font&quot;:{&quot;size&quot;:14,&quot;color&quot;:&quot;#000000&quot;,&quot;family&quot;:&quot;Arial&quot;},&quot;type&quot;:&quot;$$&quot;,&quot;code&quot;:&quot;$$\\diff{f}{x}$$&quot;,&quot;backgroundColorModified&quot;:false,&quot;backgroundColor&quot;:&quot;#FFFFFF&quot;,&quot;ts&quot;:1759676328967,&quot;cs&quot;:&quot;uXDGP/K8g8GdIRDV2NTuuA==&quot;,&quot;size&quot;:{&quot;width&quot;:29.333333333333332,&quot;height&quot;:45.5}}" id="189" name="Google Shape;18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93640" y="2185951"/>
            <a:ext cx="240125" cy="3724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aid&quot;:null,&quot;backgroundColorModified&quot;:false,&quot;backgroundColor&quot;:&quot;#FFFFFF&quot;,&quot;code&quot;:&quot;$$\\diff{g}{x}$$&quot;,&quot;font&quot;:{&quot;color&quot;:&quot;#000000&quot;,&quot;size&quot;:18,&quot;family&quot;:&quot;Arial&quot;},&quot;id&quot;:&quot;11&quot;,&quot;ts&quot;:1759676375776,&quot;cs&quot;:&quot;AvAEUwZie6D8hX1WI6IPRg==&quot;,&quot;size&quot;:{&quot;width&quot;:37.666666666666664,&quot;height&quot;:58.333333333333336}}" id="190" name="Google Shape;190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22502" y="3182875"/>
            <a:ext cx="279400" cy="43270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1" name="Google Shape;191;p25"/>
          <p:cNvCxnSpPr/>
          <p:nvPr/>
        </p:nvCxnSpPr>
        <p:spPr>
          <a:xfrm flipH="1">
            <a:off x="4414252" y="2382800"/>
            <a:ext cx="449100" cy="39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92" name="Google Shape;192;p25"/>
          <p:cNvCxnSpPr/>
          <p:nvPr/>
        </p:nvCxnSpPr>
        <p:spPr>
          <a:xfrm rot="10800000">
            <a:off x="4425752" y="2959350"/>
            <a:ext cx="447900" cy="40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93" name="Google Shape;193;p25"/>
          <p:cNvCxnSpPr/>
          <p:nvPr/>
        </p:nvCxnSpPr>
        <p:spPr>
          <a:xfrm rot="10800000">
            <a:off x="5414302" y="2372600"/>
            <a:ext cx="545700" cy="36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94" name="Google Shape;194;p25"/>
          <p:cNvCxnSpPr/>
          <p:nvPr/>
        </p:nvCxnSpPr>
        <p:spPr>
          <a:xfrm flipH="1">
            <a:off x="5424552" y="2928550"/>
            <a:ext cx="540600" cy="442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6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Derivatives: Chain Rule</a:t>
            </a:r>
            <a:endParaRPr/>
          </a:p>
        </p:txBody>
      </p:sp>
      <p:sp>
        <p:nvSpPr>
          <p:cNvPr id="200" name="Google Shape;200;p26"/>
          <p:cNvSpPr txBox="1"/>
          <p:nvPr/>
        </p:nvSpPr>
        <p:spPr>
          <a:xfrm>
            <a:off x="936739" y="1004075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1" name="Google Shape;201;p26"/>
          <p:cNvSpPr txBox="1"/>
          <p:nvPr/>
        </p:nvSpPr>
        <p:spPr>
          <a:xfrm>
            <a:off x="361514" y="904350"/>
            <a:ext cx="7137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More complicated example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202" name="Google Shape;202;p26"/>
          <p:cNvSpPr/>
          <p:nvPr/>
        </p:nvSpPr>
        <p:spPr>
          <a:xfrm>
            <a:off x="1157914" y="1791825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</a:t>
            </a:r>
            <a:endParaRPr/>
          </a:p>
        </p:txBody>
      </p:sp>
      <p:sp>
        <p:nvSpPr>
          <p:cNvPr id="203" name="Google Shape;203;p26"/>
          <p:cNvSpPr/>
          <p:nvPr/>
        </p:nvSpPr>
        <p:spPr>
          <a:xfrm>
            <a:off x="2056114" y="1387000"/>
            <a:ext cx="7728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f1=x^2</a:t>
            </a:r>
            <a:endParaRPr/>
          </a:p>
        </p:txBody>
      </p:sp>
      <p:sp>
        <p:nvSpPr>
          <p:cNvPr id="204" name="Google Shape;204;p26"/>
          <p:cNvSpPr/>
          <p:nvPr/>
        </p:nvSpPr>
        <p:spPr>
          <a:xfrm>
            <a:off x="2056114" y="2199475"/>
            <a:ext cx="7728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g1=1/x</a:t>
            </a:r>
            <a:endParaRPr/>
          </a:p>
        </p:txBody>
      </p:sp>
      <p:sp>
        <p:nvSpPr>
          <p:cNvPr id="205" name="Google Shape;205;p26"/>
          <p:cNvSpPr/>
          <p:nvPr/>
        </p:nvSpPr>
        <p:spPr>
          <a:xfrm>
            <a:off x="4350639" y="2199475"/>
            <a:ext cx="10452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g2=log(g1)</a:t>
            </a:r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6053714" y="1869025"/>
            <a:ext cx="9162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h=f3/g2</a:t>
            </a:r>
            <a:endParaRPr/>
          </a:p>
        </p:txBody>
      </p:sp>
      <p:cxnSp>
        <p:nvCxnSpPr>
          <p:cNvPr id="207" name="Google Shape;207;p26"/>
          <p:cNvCxnSpPr>
            <a:stCxn id="202" idx="3"/>
            <a:endCxn id="203" idx="1"/>
          </p:cNvCxnSpPr>
          <p:nvPr/>
        </p:nvCxnSpPr>
        <p:spPr>
          <a:xfrm flipH="1" rot="10800000">
            <a:off x="1595014" y="1558575"/>
            <a:ext cx="461100" cy="40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8" name="Google Shape;208;p26"/>
          <p:cNvCxnSpPr>
            <a:stCxn id="202" idx="3"/>
            <a:endCxn id="204" idx="1"/>
          </p:cNvCxnSpPr>
          <p:nvPr/>
        </p:nvCxnSpPr>
        <p:spPr>
          <a:xfrm>
            <a:off x="1595014" y="1963275"/>
            <a:ext cx="461100" cy="40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9" name="Google Shape;209;p26"/>
          <p:cNvCxnSpPr>
            <a:stCxn id="203" idx="3"/>
            <a:endCxn id="210" idx="1"/>
          </p:cNvCxnSpPr>
          <p:nvPr/>
        </p:nvCxnSpPr>
        <p:spPr>
          <a:xfrm>
            <a:off x="2828914" y="1558450"/>
            <a:ext cx="475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1" name="Google Shape;211;p26"/>
          <p:cNvCxnSpPr>
            <a:stCxn id="204" idx="3"/>
            <a:endCxn id="205" idx="1"/>
          </p:cNvCxnSpPr>
          <p:nvPr/>
        </p:nvCxnSpPr>
        <p:spPr>
          <a:xfrm>
            <a:off x="2828914" y="2370925"/>
            <a:ext cx="1521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2" name="Google Shape;212;p26"/>
          <p:cNvCxnSpPr>
            <a:stCxn id="205" idx="3"/>
            <a:endCxn id="206" idx="1"/>
          </p:cNvCxnSpPr>
          <p:nvPr/>
        </p:nvCxnSpPr>
        <p:spPr>
          <a:xfrm flipH="1" rot="10800000">
            <a:off x="5395839" y="2040625"/>
            <a:ext cx="657900" cy="33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0" name="Google Shape;210;p26"/>
          <p:cNvSpPr/>
          <p:nvPr/>
        </p:nvSpPr>
        <p:spPr>
          <a:xfrm>
            <a:off x="3304639" y="1387000"/>
            <a:ext cx="7728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f2=(+)</a:t>
            </a:r>
            <a:endParaRPr/>
          </a:p>
        </p:txBody>
      </p:sp>
      <p:sp>
        <p:nvSpPr>
          <p:cNvPr id="213" name="Google Shape;213;p26"/>
          <p:cNvSpPr/>
          <p:nvPr/>
        </p:nvSpPr>
        <p:spPr>
          <a:xfrm>
            <a:off x="4401164" y="1387000"/>
            <a:ext cx="9675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f3=sin(f2)</a:t>
            </a:r>
            <a:endParaRPr/>
          </a:p>
        </p:txBody>
      </p:sp>
      <p:cxnSp>
        <p:nvCxnSpPr>
          <p:cNvPr id="214" name="Google Shape;214;p26"/>
          <p:cNvCxnSpPr>
            <a:stCxn id="210" idx="3"/>
            <a:endCxn id="213" idx="1"/>
          </p:cNvCxnSpPr>
          <p:nvPr/>
        </p:nvCxnSpPr>
        <p:spPr>
          <a:xfrm>
            <a:off x="4077439" y="1558450"/>
            <a:ext cx="323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5" name="Google Shape;215;p26"/>
          <p:cNvCxnSpPr>
            <a:stCxn id="213" idx="3"/>
            <a:endCxn id="206" idx="1"/>
          </p:cNvCxnSpPr>
          <p:nvPr/>
        </p:nvCxnSpPr>
        <p:spPr>
          <a:xfrm>
            <a:off x="5368664" y="1558450"/>
            <a:ext cx="685200" cy="48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6" name="Google Shape;216;p26"/>
          <p:cNvCxnSpPr>
            <a:stCxn id="204" idx="3"/>
            <a:endCxn id="210" idx="1"/>
          </p:cNvCxnSpPr>
          <p:nvPr/>
        </p:nvCxnSpPr>
        <p:spPr>
          <a:xfrm flipH="1" rot="10800000">
            <a:off x="2828914" y="1558525"/>
            <a:ext cx="475800" cy="81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7" name="Google Shape;217;p26"/>
          <p:cNvCxnSpPr>
            <a:stCxn id="206" idx="3"/>
            <a:endCxn id="218" idx="1"/>
          </p:cNvCxnSpPr>
          <p:nvPr/>
        </p:nvCxnSpPr>
        <p:spPr>
          <a:xfrm>
            <a:off x="6969914" y="2040475"/>
            <a:ext cx="52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8" name="Google Shape;218;p26"/>
          <p:cNvSpPr/>
          <p:nvPr/>
        </p:nvSpPr>
        <p:spPr>
          <a:xfrm>
            <a:off x="7499512" y="1869025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</a:t>
            </a:r>
            <a:endParaRPr/>
          </a:p>
        </p:txBody>
      </p:sp>
      <p:sp>
        <p:nvSpPr>
          <p:cNvPr id="219" name="Google Shape;219;p26"/>
          <p:cNvSpPr txBox="1"/>
          <p:nvPr/>
        </p:nvSpPr>
        <p:spPr>
          <a:xfrm>
            <a:off x="2568626" y="3183400"/>
            <a:ext cx="5021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This is the interesting part! </a:t>
            </a:r>
            <a:r>
              <a:rPr lang="en" sz="1300">
                <a:solidFill>
                  <a:schemeClr val="dk2"/>
                </a:solidFill>
              </a:rPr>
              <a:t>g</a:t>
            </a:r>
            <a:r>
              <a:rPr lang="en" sz="1300">
                <a:solidFill>
                  <a:schemeClr val="dk2"/>
                </a:solidFill>
              </a:rPr>
              <a:t>1 gets gradients from f2 and g2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220" name="Google Shape;220;p26"/>
          <p:cNvCxnSpPr/>
          <p:nvPr/>
        </p:nvCxnSpPr>
        <p:spPr>
          <a:xfrm flipH="1">
            <a:off x="1557389" y="3452600"/>
            <a:ext cx="1051800" cy="578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1" name="Google Shape;221;p26"/>
          <p:cNvSpPr txBox="1"/>
          <p:nvPr/>
        </p:nvSpPr>
        <p:spPr>
          <a:xfrm>
            <a:off x="4401150" y="4752075"/>
            <a:ext cx="2780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See: chain_rule</a:t>
            </a:r>
            <a:r>
              <a:rPr lang="en" sz="1200">
                <a:solidFill>
                  <a:schemeClr val="dk2"/>
                </a:solidFill>
              </a:rPr>
              <a:t>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descr="{&quot;font&quot;:{&quot;color&quot;:&quot;#000000&quot;,&quot;size&quot;:8,&quot;family&quot;:&quot;Arial&quot;},&quot;id&quot;:&quot;19&quot;,&quot;backgroundColor&quot;:&quot;#FFFFFF&quot;,&quot;aid&quot;:null,&quot;backgroundColorModified&quot;:false,&quot;code&quot;:&quot;\\begin{lalign*}\n&amp;{h\\,=\\,\\frac{\\sin \\left(x^{2}+1/x\\right)}{\\log_{}\\left(1/x\\right)}}\\\\\n&amp;{\\diff{h}{g_{2}}=-\\frac{f_{3}}{g_{2}^{2}},\\diff{h}{f_{3}}=\\frac{1}{g_{2}}}\\\\\n&amp;{\\diff{f_{3}}{f_{2}}=\\cos\\left(f_{2}\\right),\\,\\diff{g_{2}}{g_{1}}=1/g_{1}}\\\\\n&amp;{\\diff{h}{f_{2}}=\\diff{h}{f_{3}}\\diff{f_{3}}{f_{2}}=\\frac{\\cos\\left(f_{2}\\right)}{g_{2}}}\\\\\n&amp;{\\diff{f2}{g1}=1,\\,\\diff{f2}{f1}=1}\\\\\n&amp;{\\diff{h}{g_{1}}=\\diff{h}{f_{2}}\\diff{f_{2}}{g_{1}}+\\diff{h}{g_{2}}\\diff{g_{2}}{g_{1}}=\\frac{\\cos\\left(f_{2}\\right)}{g_{2}}-\\frac{f_{3}}{g_{2}^{2}g_{1}}}\\\\\n&amp;{\\diff{h}{f_{1}}=\\diff{h}{f_{2}}\\diff{f_{2}}{f_{1}}=\\frac{\\cos\\left(f_{2}\\right)}{g_{2}}}\\\\\n&amp;{\\diff{h}{x}=\\diff{h}{f_{1}}\\diff{f_{1}}{x}+\\diff{h}{g_{1}}\\diff{g_{1}}{x}=\\frac{\\cos\\left(f_{2}\\right)}{g_{2}}2x-\\frac{1}{x^{2}}\\left(\\frac{\\cos\\left(f_{2}\\right)}{g_{2}}-\\frac{f_{3}}{g_{2}^{2}g_{1}}\\right)}\t\n\\end{lalign*}&quot;,&quot;type&quot;:&quot;lalign*&quot;,&quot;ts&quot;:1761616207505,&quot;cs&quot;:&quot;N1TgU7MpPUxesRV/e4JKjw==&quot;,&quot;size&quot;:{&quot;width&quot;:362.6666666666667,&quot;height&quot;:275}}" id="222" name="Google Shape;22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375" y="2504125"/>
            <a:ext cx="3454400" cy="261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7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Derivatives: Chain Rule</a:t>
            </a:r>
            <a:endParaRPr/>
          </a:p>
        </p:txBody>
      </p:sp>
      <p:sp>
        <p:nvSpPr>
          <p:cNvPr id="228" name="Google Shape;228;p27"/>
          <p:cNvSpPr txBox="1"/>
          <p:nvPr/>
        </p:nvSpPr>
        <p:spPr>
          <a:xfrm>
            <a:off x="1604770" y="2508191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9" name="Google Shape;229;p27"/>
          <p:cNvSpPr txBox="1"/>
          <p:nvPr/>
        </p:nvSpPr>
        <p:spPr>
          <a:xfrm>
            <a:off x="385025" y="1037588"/>
            <a:ext cx="71379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Multivariate case</a:t>
            </a:r>
            <a:endParaRPr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230" name="Google Shape;230;p27"/>
          <p:cNvSpPr/>
          <p:nvPr/>
        </p:nvSpPr>
        <p:spPr>
          <a:xfrm>
            <a:off x="2337020" y="2980866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</a:t>
            </a: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3326645" y="2980866"/>
            <a:ext cx="542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f(x)</a:t>
            </a:r>
            <a:endParaRPr/>
          </a:p>
        </p:txBody>
      </p:sp>
      <p:sp>
        <p:nvSpPr>
          <p:cNvPr id="232" name="Google Shape;232;p27"/>
          <p:cNvSpPr/>
          <p:nvPr/>
        </p:nvSpPr>
        <p:spPr>
          <a:xfrm>
            <a:off x="3238270" y="3793341"/>
            <a:ext cx="7188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g(x,y)</a:t>
            </a:r>
            <a:endParaRPr/>
          </a:p>
        </p:txBody>
      </p:sp>
      <p:sp>
        <p:nvSpPr>
          <p:cNvPr id="233" name="Google Shape;233;p27"/>
          <p:cNvSpPr/>
          <p:nvPr/>
        </p:nvSpPr>
        <p:spPr>
          <a:xfrm>
            <a:off x="4422020" y="3351491"/>
            <a:ext cx="12384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h(f(x), g(x,y))</a:t>
            </a:r>
            <a:endParaRPr/>
          </a:p>
        </p:txBody>
      </p:sp>
      <p:sp>
        <p:nvSpPr>
          <p:cNvPr id="234" name="Google Shape;234;p27"/>
          <p:cNvSpPr/>
          <p:nvPr/>
        </p:nvSpPr>
        <p:spPr>
          <a:xfrm>
            <a:off x="6129845" y="3351491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</a:t>
            </a:r>
            <a:endParaRPr/>
          </a:p>
        </p:txBody>
      </p:sp>
      <p:cxnSp>
        <p:nvCxnSpPr>
          <p:cNvPr id="235" name="Google Shape;235;p27"/>
          <p:cNvCxnSpPr>
            <a:stCxn id="230" idx="3"/>
            <a:endCxn id="231" idx="1"/>
          </p:cNvCxnSpPr>
          <p:nvPr/>
        </p:nvCxnSpPr>
        <p:spPr>
          <a:xfrm>
            <a:off x="2774120" y="3152316"/>
            <a:ext cx="552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6" name="Google Shape;236;p27"/>
          <p:cNvCxnSpPr>
            <a:stCxn id="230" idx="3"/>
            <a:endCxn id="232" idx="1"/>
          </p:cNvCxnSpPr>
          <p:nvPr/>
        </p:nvCxnSpPr>
        <p:spPr>
          <a:xfrm>
            <a:off x="2774120" y="3152316"/>
            <a:ext cx="464100" cy="81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7" name="Google Shape;237;p27"/>
          <p:cNvCxnSpPr>
            <a:stCxn id="231" idx="3"/>
          </p:cNvCxnSpPr>
          <p:nvPr/>
        </p:nvCxnSpPr>
        <p:spPr>
          <a:xfrm>
            <a:off x="3868745" y="3152316"/>
            <a:ext cx="553200" cy="36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8" name="Google Shape;238;p27"/>
          <p:cNvCxnSpPr>
            <a:stCxn id="232" idx="3"/>
            <a:endCxn id="233" idx="1"/>
          </p:cNvCxnSpPr>
          <p:nvPr/>
        </p:nvCxnSpPr>
        <p:spPr>
          <a:xfrm flipH="1" rot="10800000">
            <a:off x="3957070" y="3522891"/>
            <a:ext cx="465000" cy="441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9" name="Google Shape;239;p27"/>
          <p:cNvCxnSpPr>
            <a:stCxn id="233" idx="3"/>
            <a:endCxn id="234" idx="1"/>
          </p:cNvCxnSpPr>
          <p:nvPr/>
        </p:nvCxnSpPr>
        <p:spPr>
          <a:xfrm>
            <a:off x="5660420" y="3522941"/>
            <a:ext cx="46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aid&quot;:null,&quot;font&quot;:{&quot;family&quot;:&quot;Arial&quot;,&quot;size&quot;:11.5,&quot;color&quot;:&quot;#000000&quot;},&quot;id&quot;:&quot;9&quot;,&quot;type&quot;:&quot;$$&quot;,&quot;backgroundColor&quot;:&quot;#FFFFFF&quot;,&quot;code&quot;:&quot;$$\\pdf{h}{y}=\\pdf{h}{g}\\pdf{g}{y}$$&quot;,&quot;backgroundColorModified&quot;:false,&quot;ts&quot;:1759687964827,&quot;cs&quot;:&quot;Qc8PJV17GmA9R5BlOgzUXQ==&quot;,&quot;size&quot;:{&quot;width&quot;:103.66666666666667,&quot;height&quot;:41.166666666666664}}" id="240" name="Google Shape;24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0795" y="3768729"/>
            <a:ext cx="987425" cy="3921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code&quot;:&quot;$$\\pdf{g}{y}$$&quot;,&quot;id&quot;:&quot;11&quot;,&quot;backgroundColorModified&quot;:false,&quot;font&quot;:{&quot;family&quot;:&quot;Arial&quot;,&quot;size&quot;:10,&quot;color&quot;:&quot;#000000&quot;},&quot;type&quot;:&quot;$$&quot;,&quot;aid&quot;:null,&quot;ts&quot;:1759688055217,&quot;cs&quot;:&quot;7d3QjHgfedczDp+7xAJdCQ==&quot;,&quot;size&quot;:{&quot;width&quot;:19.91999999999999,&quot;height&quot;:36}}" id="241" name="Google Shape;24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1323" y="4066812"/>
            <a:ext cx="18973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7"/>
          <p:cNvSpPr/>
          <p:nvPr/>
        </p:nvSpPr>
        <p:spPr>
          <a:xfrm>
            <a:off x="2337020" y="3793341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</a:t>
            </a:r>
            <a:endParaRPr/>
          </a:p>
        </p:txBody>
      </p:sp>
      <p:cxnSp>
        <p:nvCxnSpPr>
          <p:cNvPr id="243" name="Google Shape;243;p27"/>
          <p:cNvCxnSpPr>
            <a:stCxn id="242" idx="3"/>
            <a:endCxn id="232" idx="1"/>
          </p:cNvCxnSpPr>
          <p:nvPr/>
        </p:nvCxnSpPr>
        <p:spPr>
          <a:xfrm>
            <a:off x="2774120" y="3964791"/>
            <a:ext cx="464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font&quot;:{&quot;size&quot;:11.5,&quot;family&quot;:&quot;Arial&quot;,&quot;color&quot;:&quot;#000000&quot;},&quot;backgroundColorModified&quot;:false,&quot;backgroundColor&quot;:&quot;#FFFFFF&quot;,&quot;id&quot;:&quot;9&quot;,&quot;code&quot;:&quot;$$\\pdf{h}{g}$$&quot;,&quot;type&quot;:&quot;$$&quot;,&quot;aid&quot;:null,&quot;ts&quot;:1759687993613,&quot;cs&quot;:&quot;dCXzNT7L6Cjy9szm1NfC2Q==&quot;,&quot;size&quot;:{&quot;width&quot;:24.333333333333332,&quot;height&quot;:41.166666666666664}}" id="244" name="Google Shape;24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90295" y="3768729"/>
            <a:ext cx="231775" cy="3921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$$\\pdf{h}{f}$$&quot;,&quot;aid&quot;:null,&quot;backgroundColor&quot;:&quot;#FFFFFF&quot;,&quot;backgroundColorModified&quot;:false,&quot;id&quot;:&quot;9&quot;,&quot;type&quot;:&quot;$$&quot;,&quot;font&quot;:{&quot;family&quot;:&quot;Arial&quot;,&quot;size&quot;:11.5,&quot;color&quot;:&quot;#000000&quot;},&quot;ts&quot;:1759688077455,&quot;cs&quot;:&quot;Ru/TbM+nOZyykFFW/A2RKQ==&quot;,&quot;size&quot;:{&quot;width&quot;:24.333333333333332,&quot;height&quot;:41.166666666666664}}" id="245" name="Google Shape;245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08345" y="2900604"/>
            <a:ext cx="231775" cy="3921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family&quot;:&quot;Arial&quot;,&quot;color&quot;:&quot;#000000&quot;,&quot;size&quot;:10},&quot;code&quot;:&quot;$$\\pdf{h}{g}\\pdf{g}{x}$$&quot;,&quot;backgroundColorModified&quot;:false,&quot;type&quot;:&quot;$$&quot;,&quot;aid&quot;:null,&quot;backgroundColor&quot;:&quot;#FFFFFF&quot;,&quot;id&quot;:&quot;9&quot;,&quot;ts&quot;:1759688173091,&quot;cs&quot;:&quot;Pm59d0r0uGzPNNWgCgxrqQ==&quot;,&quot;size&quot;:{&quot;width&quot;:46.05521679790025,&quot;height&quot;:36.00002309711285}}" id="246" name="Google Shape;246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46793" y="3348766"/>
            <a:ext cx="438676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$$\\pdf{h}{f}\\pdf{f}{x}$$&quot;,&quot;aid&quot;:null,&quot;backgroundColor&quot;:&quot;#FFFFFF&quot;,&quot;type&quot;:&quot;$$&quot;,&quot;font&quot;:{&quot;color&quot;:&quot;#000000&quot;,&quot;family&quot;:&quot;Arial&quot;,&quot;size&quot;:10},&quot;id&quot;:&quot;9&quot;,&quot;backgroundColorModified&quot;:false,&quot;ts&quot;:1759688199442,&quot;cs&quot;:&quot;iRyEckkOyXXlYqZQXm8qvQ==&quot;,&quot;size&quot;:{&quot;width&quot;:46.00000000000002,&quot;height&quot;:35.83333333333335}}" id="247" name="Google Shape;247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831305" y="2747880"/>
            <a:ext cx="438150" cy="3413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code&quot;:&quot;$$\\pdf{h}{x}=\\pdf{h}{g}\\pdf{g}{x}+\\pdf{h}{f}\\pdf{f}{x}$$&quot;,&quot;aid&quot;:null,&quot;type&quot;:&quot;$$&quot;,&quot;id&quot;:&quot;9&quot;,&quot;font&quot;:{&quot;family&quot;:&quot;Arial&quot;,&quot;size&quot;:11.5,&quot;color&quot;:&quot;#000000&quot;},&quot;backgroundColor&quot;:&quot;#FFFFFF&quot;,&quot;ts&quot;:1759688245069,&quot;cs&quot;:&quot;UjOpRCzbC4wKd4lYYnBDoQ==&quot;,&quot;size&quot;:{&quot;width&quot;:184,&quot;height&quot;:41.166666666666664}}" id="248" name="Google Shape;248;p2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25620" y="2928688"/>
            <a:ext cx="1752600" cy="3921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17&quot;,&quot;backgroundColor&quot;:&quot;#FFFFFF&quot;,&quot;font&quot;:{&quot;family&quot;:&quot;Arial&quot;,&quot;color&quot;:&quot;#000000&quot;,&quot;size&quot;:12},&quot;type&quot;:&quot;gather*&quot;,&quot;aid&quot;:null,&quot;backgroundColorModified&quot;:false,&quot;code&quot;:&quot;\\begin{gather*}\n{\\text{Previously,}\\;y\\,=h\\left(x\\right)\\,\\text{was}\\;\\text{univariate..}\\;\\text{Now}\\;\\text{it}\\;\\text{is}\\;\\text{multivariate}}\\\\\n{y=h\\left(x,y\\right).\\,\\text{Denoting}\\;\\text{the}\\;\\text{vector}\\;\\left[x,y\\right]\\,\\text{as}\\;\\boldsymbol{v}}\\\\\n{\\diff{h}{\\boldsymbol{v}}=\\begin{bmatrix}\n{\\pdf{h}{x}}&amp;{\\pdf{h}{y}}\\\\\n\\end{bmatrix}^{T}}\t\n\\end{gather*}&quot;,&quot;ts&quot;:1760193375282,&quot;cs&quot;:&quot;5xVyaFs5xYessSsTMjKriQ==&quot;,&quot;size&quot;:{&quot;width&quot;:488,&quot;height&quot;:87.66666666666667}}" id="249" name="Google Shape;249;p2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60975" y="1415275"/>
            <a:ext cx="4648200" cy="8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case</a:t>
            </a:r>
            <a:endParaRPr/>
          </a:p>
        </p:txBody>
      </p:sp>
      <p:pic>
        <p:nvPicPr>
          <p:cNvPr descr="{&quot;type&quot;:&quot;lalign*&quot;,&quot;backgroundColor&quot;:&quot;#FFFFFF&quot;,&quot;code&quot;:&quot;\\begin{lalign*}\n&amp;{\\text{Let}\\;\\boldsymbol{x}\\,\\text{and}\\;\\boldsymbol{a}\\,\\text{be}\\;N\\times1\\,\\text{vectors}}\\\\\n&amp;{y=a^{T}x=a_{1}x_{1}+a_{2}x_{2}\\cdots a_{n}x_{n}}\\\\\n&amp;{\\pdf{y}{x_{i}}=a_{i}\\,\\therefore\\pdf{y}{\\boldsymbol{x}}=\\boldsymbol{a\\,}\\,N\\times1\\,\\text{vector}}\t\n\\end{lalign*}&quot;,&quot;backgroundColorModified&quot;:false,&quot;id&quot;:&quot;14&quot;,&quot;aid&quot;:null,&quot;font&quot;:{&quot;family&quot;:&quot;Arial&quot;,&quot;color&quot;:&quot;#000000&quot;,&quot;size&quot;:12},&quot;ts&quot;:1759690899809,&quot;cs&quot;:&quot;NAwmycti0QMIwDAha7kl9Q==&quot;,&quot;size&quot;:{&quot;width&quot;:279.5,&quot;height&quot;:92.5}}" id="255" name="Google Shape;25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450" y="946450"/>
            <a:ext cx="3175050" cy="105077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8"/>
          <p:cNvSpPr txBox="1"/>
          <p:nvPr/>
        </p:nvSpPr>
        <p:spPr>
          <a:xfrm>
            <a:off x="463975" y="46271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See: verify_partial_derivatives.py</a:t>
            </a:r>
            <a:endParaRPr/>
          </a:p>
        </p:txBody>
      </p:sp>
      <p:sp>
        <p:nvSpPr>
          <p:cNvPr id="257" name="Google Shape;257;p28"/>
          <p:cNvSpPr txBox="1"/>
          <p:nvPr/>
        </p:nvSpPr>
        <p:spPr>
          <a:xfrm>
            <a:off x="832795" y="2301616"/>
            <a:ext cx="6747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58" name="Google Shape;258;p28"/>
          <p:cNvSpPr/>
          <p:nvPr/>
        </p:nvSpPr>
        <p:spPr>
          <a:xfrm>
            <a:off x="1565045" y="2774291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x1</a:t>
            </a:r>
            <a:endParaRPr/>
          </a:p>
        </p:txBody>
      </p:sp>
      <p:sp>
        <p:nvSpPr>
          <p:cNvPr id="259" name="Google Shape;259;p28"/>
          <p:cNvSpPr/>
          <p:nvPr/>
        </p:nvSpPr>
        <p:spPr>
          <a:xfrm>
            <a:off x="2554750" y="2763050"/>
            <a:ext cx="1403100" cy="365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f(x1)=a1 x1</a:t>
            </a:r>
            <a:endParaRPr/>
          </a:p>
        </p:txBody>
      </p:sp>
      <p:sp>
        <p:nvSpPr>
          <p:cNvPr id="260" name="Google Shape;260;p28"/>
          <p:cNvSpPr/>
          <p:nvPr/>
        </p:nvSpPr>
        <p:spPr>
          <a:xfrm>
            <a:off x="5139629" y="3271875"/>
            <a:ext cx="23736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h=f(x1)+f(x2)... f(xn)</a:t>
            </a:r>
            <a:endParaRPr/>
          </a:p>
        </p:txBody>
      </p:sp>
      <p:sp>
        <p:nvSpPr>
          <p:cNvPr id="261" name="Google Shape;261;p28"/>
          <p:cNvSpPr/>
          <p:nvPr/>
        </p:nvSpPr>
        <p:spPr>
          <a:xfrm>
            <a:off x="7750245" y="3260641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</a:t>
            </a:r>
            <a:endParaRPr/>
          </a:p>
        </p:txBody>
      </p:sp>
      <p:cxnSp>
        <p:nvCxnSpPr>
          <p:cNvPr id="262" name="Google Shape;262;p28"/>
          <p:cNvCxnSpPr>
            <a:stCxn id="258" idx="3"/>
            <a:endCxn id="259" idx="1"/>
          </p:cNvCxnSpPr>
          <p:nvPr/>
        </p:nvCxnSpPr>
        <p:spPr>
          <a:xfrm>
            <a:off x="2002145" y="2945741"/>
            <a:ext cx="552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3" name="Google Shape;263;p28"/>
          <p:cNvCxnSpPr>
            <a:stCxn id="259" idx="3"/>
            <a:endCxn id="260" idx="1"/>
          </p:cNvCxnSpPr>
          <p:nvPr/>
        </p:nvCxnSpPr>
        <p:spPr>
          <a:xfrm>
            <a:off x="3957850" y="2945750"/>
            <a:ext cx="1181700" cy="49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4" name="Google Shape;264;p28"/>
          <p:cNvCxnSpPr>
            <a:stCxn id="265" idx="3"/>
            <a:endCxn id="260" idx="1"/>
          </p:cNvCxnSpPr>
          <p:nvPr/>
        </p:nvCxnSpPr>
        <p:spPr>
          <a:xfrm flipH="1" rot="10800000">
            <a:off x="3957850" y="3443225"/>
            <a:ext cx="1181700" cy="525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6" name="Google Shape;266;p28"/>
          <p:cNvCxnSpPr>
            <a:stCxn id="260" idx="3"/>
            <a:endCxn id="261" idx="1"/>
          </p:cNvCxnSpPr>
          <p:nvPr/>
        </p:nvCxnSpPr>
        <p:spPr>
          <a:xfrm flipH="1" rot="10800000">
            <a:off x="7513229" y="3432225"/>
            <a:ext cx="237000" cy="11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7" name="Google Shape;267;p28"/>
          <p:cNvSpPr/>
          <p:nvPr/>
        </p:nvSpPr>
        <p:spPr>
          <a:xfrm>
            <a:off x="1565050" y="3834872"/>
            <a:ext cx="437100" cy="266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xn</a:t>
            </a:r>
            <a:endParaRPr/>
          </a:p>
        </p:txBody>
      </p:sp>
      <p:cxnSp>
        <p:nvCxnSpPr>
          <p:cNvPr id="268" name="Google Shape;268;p28"/>
          <p:cNvCxnSpPr>
            <a:stCxn id="267" idx="3"/>
            <a:endCxn id="265" idx="1"/>
          </p:cNvCxnSpPr>
          <p:nvPr/>
        </p:nvCxnSpPr>
        <p:spPr>
          <a:xfrm>
            <a:off x="2002150" y="3967922"/>
            <a:ext cx="552600" cy="1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9" name="Google Shape;269;p28"/>
          <p:cNvSpPr/>
          <p:nvPr/>
        </p:nvSpPr>
        <p:spPr>
          <a:xfrm>
            <a:off x="1565045" y="3266254"/>
            <a:ext cx="437100" cy="342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x2</a:t>
            </a:r>
            <a:endParaRPr/>
          </a:p>
        </p:txBody>
      </p:sp>
      <p:sp>
        <p:nvSpPr>
          <p:cNvPr id="270" name="Google Shape;270;p28"/>
          <p:cNvSpPr/>
          <p:nvPr/>
        </p:nvSpPr>
        <p:spPr>
          <a:xfrm>
            <a:off x="2554750" y="3260625"/>
            <a:ext cx="1403100" cy="365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f(x2)=a2 x2</a:t>
            </a:r>
            <a:endParaRPr/>
          </a:p>
        </p:txBody>
      </p:sp>
      <p:cxnSp>
        <p:nvCxnSpPr>
          <p:cNvPr id="271" name="Google Shape;271;p28"/>
          <p:cNvCxnSpPr/>
          <p:nvPr/>
        </p:nvCxnSpPr>
        <p:spPr>
          <a:xfrm>
            <a:off x="2002145" y="3432091"/>
            <a:ext cx="552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5" name="Google Shape;265;p28"/>
          <p:cNvSpPr/>
          <p:nvPr/>
        </p:nvSpPr>
        <p:spPr>
          <a:xfrm>
            <a:off x="2554750" y="3786425"/>
            <a:ext cx="1403100" cy="365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f(xn)=an xn</a:t>
            </a:r>
            <a:endParaRPr/>
          </a:p>
        </p:txBody>
      </p:sp>
      <p:cxnSp>
        <p:nvCxnSpPr>
          <p:cNvPr id="272" name="Google Shape;272;p28"/>
          <p:cNvCxnSpPr>
            <a:stCxn id="270" idx="3"/>
            <a:endCxn id="260" idx="1"/>
          </p:cNvCxnSpPr>
          <p:nvPr/>
        </p:nvCxnSpPr>
        <p:spPr>
          <a:xfrm>
            <a:off x="3957850" y="3443325"/>
            <a:ext cx="1181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font&quot;:{&quot;size&quot;:11.5,&quot;color&quot;:&quot;#000000&quot;,&quot;family&quot;:&quot;Arial&quot;},&quot;aid&quot;:null,&quot;code&quot;:&quot;$$\\pdf{h}{f\\left(x_{1}\\right)}=1$$&quot;,&quot;backgroundColorModified&quot;:false,&quot;backgroundColor&quot;:&quot;#FFFFFF&quot;,&quot;type&quot;:&quot;$$&quot;,&quot;id&quot;:&quot;9&quot;,&quot;ts&quot;:1761617173849,&quot;cs&quot;:&quot;j+0vt0Ky4OmK0SKrWwe3lg==&quot;,&quot;size&quot;:{&quot;width&quot;:92.83333333333333,&quot;height&quot;:42.33333333333329}}" id="273" name="Google Shape;27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83695" y="2744139"/>
            <a:ext cx="884238" cy="403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9&quot;,&quot;aid&quot;:null,&quot;backgroundColorModified&quot;:false,&quot;type&quot;:&quot;$$&quot;,&quot;backgroundColor&quot;:&quot;#FFFFFF&quot;,&quot;code&quot;:&quot;$$\\pdf{f}{x_{1}}=a_{1}$$&quot;,&quot;font&quot;:{&quot;color&quot;:&quot;#000000&quot;,&quot;size&quot;:11.5,&quot;family&quot;:&quot;Arial&quot;},&quot;ts&quot;:1761617216249,&quot;cs&quot;:&quot;q4GQG1MAMPzns3J1joLHuw==&quot;,&quot;size&quot;:{&quot;width&quot;:73.66666666666667,&quot;height&quot;:40.166666666666664}}" id="274" name="Google Shape;274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74502" y="2427301"/>
            <a:ext cx="701675" cy="382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Let’s come back to the optimization problem</a:t>
            </a:r>
            <a:endParaRPr/>
          </a:p>
        </p:txBody>
      </p:sp>
      <p:pic>
        <p:nvPicPr>
          <p:cNvPr descr="{&quot;backgroundColorModified&quot;:false,&quot;id&quot;:&quot;9&quot;,&quot;backgroundColor&quot;:&quot;#FFFFFF&quot;,&quot;aid&quot;:null,&quot;font&quot;:{&quot;family&quot;:&quot;Arial&quot;,&quot;size&quot;:16,&quot;color&quot;:&quot;#595959&quot;},&quot;type&quot;:&quot;lalign*&quot;,&quot;code&quot;:&quot;\\begin{lalign*}\n&amp;{\\text{If}\\;y=f\\left(x\\right),\\;}\\\\\n&amp;{\\text{find}\\;f\\,\\text{that}\\;\\text{minimizes}\\;\\text{L(y)}}\t\n\\end{lalign*}&quot;,&quot;ts&quot;:1753561656433,&quot;cs&quot;:&quot;yTReRyOOxMTbp80idXCI2Q==&quot;,&quot;size&quot;:{&quot;width&quot;:281.25,&quot;height&quot;:57.75000000000002}}" id="280" name="Google Shape;28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484" y="988025"/>
            <a:ext cx="2678906" cy="5500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size&quot;:24,&quot;family&quot;:&quot;Arial&quot;,&quot;color&quot;:&quot;#000000&quot;},&quot;aid&quot;:null,&quot;backgroundColorModified&quot;:false,&quot;code&quot;:&quot;\\begin{lalign*}\n&amp;{\\text{Let's}\\;\\text{consider}\\;\\text{a}\\;\\text{simple}\\;\\text{function}\\;\\text{}}\\\\\n&amp;{y=ax+b}\\\\\n&amp;{\\text{Here,}\\;a\\;\\text{and}\\;b\\,\\text{are}\\;\\text{the}\\;\\text{function}\\;\\text{parameters}}\\\\\n&amp;{x\\,\\text{is}\\;\\text{the}\\;\\text{indepedent}\\;\\text{variable}}\\\\\n&amp;{y\\,\\text{is}\\;\\text{the}\\;\\text{dependent}\\;\\text{variable}}\\\\\n&amp;{\\text{There}\\;\\text{are}\\;\\text{two}\\;\\text{types}\\;\\text{of}\\;\\text{problems}\\;\\text{we}\\;\\text{can}\\;\\text{pose}}\\\\\n&amp;{1.\\,\\text{Solve}\\;\\text{for}\\;x:\\,\\text{For}\\;\\text{a}\\;\\text{given}\\;\\text{y,}\\;a\\,\\text{and}\\;b,\\,\\text{find}\\;x}\\\\\n&amp;{2.\\,\\text{Given}\\;\\text{some}\\;x\\,\\text{and}\\;y,\\,\\text{find}\\;a\\,\\text{and}\\;b}\t\n\\end{lalign*}&quot;,&quot;backgroundColor&quot;:&quot;#FFFFFF&quot;,&quot;id&quot;:&quot;12&quot;,&quot;type&quot;:&quot;lalign*&quot;,&quot;ts&quot;:1753756039838,&quot;cs&quot;:&quot;unEBo9Ze5PUYjDHHVFcaEw==&quot;,&quot;size&quot;:{&quot;width&quot;:725.5,&quot;height&quot;:376}}" id="281" name="Google Shape;28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975" y="1736375"/>
            <a:ext cx="5161925" cy="2675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Let’s come back to the optimization problem</a:t>
            </a:r>
            <a:endParaRPr/>
          </a:p>
        </p:txBody>
      </p:sp>
      <p:sp>
        <p:nvSpPr>
          <p:cNvPr id="287" name="Google Shape;287;p30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Optimization deals with problem 2. 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88" name="Google Shape;288;p30"/>
          <p:cNvSpPr txBox="1"/>
          <p:nvPr/>
        </p:nvSpPr>
        <p:spPr>
          <a:xfrm>
            <a:off x="367400" y="1382625"/>
            <a:ext cx="5932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Let’s consider an example 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type&quot;:&quot;lalign*&quot;,&quot;font&quot;:{&quot;color&quot;:&quot;#000000&quot;,&quot;family&quot;:&quot;Arial&quot;,&quot;size&quot;:13.5},&quot;backgroundColorModified&quot;:false,&quot;code&quot;:&quot;\\begin{lalign*}\n&amp;{y=ax+b}\\\\\n&amp;{\\text{say}\\;y=1,\\,x\\,=2}\\\\\n&amp;{\\text{There}\\;\\text{are}\\;\\text{infinite}\\;\\text{number}\\;\\text{of}\\;\\text{solutions}\\;\\text{for}\\;a\\,\\text{and}\\;b}\\\\\n&amp;{\\text{Now}\\;\\text{if}\\;\\text{I}\\;\\text{add}\\;\\text{another}\\;\\text{point,}}\\\\\n&amp;{y\\,=\\,0,\\,x\\,=\\,0}\\\\\n&amp;{\\text{Now}\\;\\text{there}\\;\\text{is}\\;\\text{a}\\;\\text{unique}\\;\\text{solution}\\;\\text{for}\\;a\\,\\text{and}\\;b}\\\\\n&amp;{}\t\n\\end{lalign*}&quot;,&quot;backgroundColor&quot;:&quot;#FFFFFF&quot;,&quot;aid&quot;:null,&quot;id&quot;:&quot;14&quot;,&quot;ts&quot;:1753756745327,&quot;cs&quot;:&quot;L72IIKDiUzu/CwZa4fgLbg==&quot;,&quot;size&quot;:{&quot;width&quot;:461.74019212598427,&quot;height&quot;:161.93959685039368}}" id="289" name="Google Shape;28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300" y="1940625"/>
            <a:ext cx="4398075" cy="1542475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0"/>
          <p:cNvSpPr txBox="1"/>
          <p:nvPr/>
        </p:nvSpPr>
        <p:spPr>
          <a:xfrm>
            <a:off x="309975" y="3592425"/>
            <a:ext cx="5932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What if there are several points? Now, the best we can do is to find </a:t>
            </a:r>
            <a:r>
              <a:rPr i="1" lang="en" sz="1800">
                <a:solidFill>
                  <a:schemeClr val="dk2"/>
                </a:solidFill>
              </a:rPr>
              <a:t>a </a:t>
            </a:r>
            <a:r>
              <a:rPr lang="en" sz="1800">
                <a:solidFill>
                  <a:schemeClr val="dk2"/>
                </a:solidFill>
              </a:rPr>
              <a:t>and </a:t>
            </a:r>
            <a:r>
              <a:rPr i="1" lang="en" sz="1800">
                <a:solidFill>
                  <a:schemeClr val="dk2"/>
                </a:solidFill>
              </a:rPr>
              <a:t>b </a:t>
            </a:r>
            <a:r>
              <a:rPr lang="en" sz="1800">
                <a:solidFill>
                  <a:schemeClr val="dk2"/>
                </a:solidFill>
              </a:rPr>
              <a:t>that minimize some distance metric between the points and the line defined by </a:t>
            </a:r>
            <a:r>
              <a:rPr i="1" lang="en" sz="1800">
                <a:solidFill>
                  <a:schemeClr val="dk2"/>
                </a:solidFill>
              </a:rPr>
              <a:t>a </a:t>
            </a:r>
            <a:r>
              <a:rPr lang="en" sz="1800">
                <a:solidFill>
                  <a:schemeClr val="dk2"/>
                </a:solidFill>
              </a:rPr>
              <a:t>and </a:t>
            </a:r>
            <a:r>
              <a:rPr i="1" lang="en" sz="1800">
                <a:solidFill>
                  <a:schemeClr val="dk2"/>
                </a:solidFill>
              </a:rPr>
              <a:t>b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Example</a:t>
            </a:r>
            <a:endParaRPr/>
          </a:p>
        </p:txBody>
      </p:sp>
      <p:sp>
        <p:nvSpPr>
          <p:cNvPr id="296" name="Google Shape;296;p31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97" name="Google Shape;297;p31"/>
          <p:cNvSpPr txBox="1"/>
          <p:nvPr/>
        </p:nvSpPr>
        <p:spPr>
          <a:xfrm>
            <a:off x="381450" y="759275"/>
            <a:ext cx="3307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Let’s now use derivatives to solve a common optimization problem.. Linear regression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id="298" name="Google Shape;29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0000" y="200800"/>
            <a:ext cx="3672850" cy="4898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500" y="1712000"/>
            <a:ext cx="4095201" cy="3028384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1"/>
          <p:cNvSpPr txBox="1"/>
          <p:nvPr/>
        </p:nvSpPr>
        <p:spPr>
          <a:xfrm>
            <a:off x="579775" y="474037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Code: linear_regression.py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backgroundColor&quot;:&quot;#FFFFFF&quot;,&quot;aid&quot;:null,&quot;code&quot;:&quot;\\begin{lalign*}\n&amp;{y=\\left(ax+b\\right)^{n}}\\\\\n&amp;{\\frac{dy}{dx}=na\\left(ax+b\\right)^{n-1}}\t\n\\end{lalign*}&quot;,&quot;type&quot;:&quot;lalign*&quot;,&quot;font&quot;:{&quot;size&quot;:11,&quot;color&quot;:&quot;#000000&quot;,&quot;family&quot;:&quot;Arial&quot;},&quot;id&quot;:&quot;24&quot;,&quot;ts&quot;:1754743931563,&quot;cs&quot;:&quot;MCli5abPHyp2ixxnvyrq/Q==&quot;,&quot;size&quot;:{&quot;width&quot;:151.66666666666666,&quot;height&quot;:58.666666666666664}}" id="301" name="Google Shape;301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95275" y="1852075"/>
            <a:ext cx="1444625" cy="5588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2" name="Google Shape;302;p31"/>
          <p:cNvCxnSpPr/>
          <p:nvPr/>
        </p:nvCxnSpPr>
        <p:spPr>
          <a:xfrm flipH="1">
            <a:off x="6857900" y="2094350"/>
            <a:ext cx="446700" cy="20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 txBox="1"/>
          <p:nvPr>
            <p:ph idx="4294967295" type="title"/>
          </p:nvPr>
        </p:nvSpPr>
        <p:spPr>
          <a:xfrm>
            <a:off x="259350" y="-61976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308" name="Google Shape;308;p32"/>
          <p:cNvSpPr txBox="1"/>
          <p:nvPr/>
        </p:nvSpPr>
        <p:spPr>
          <a:xfrm>
            <a:off x="381450" y="587161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09" name="Google Shape;309;p32"/>
          <p:cNvSpPr txBox="1"/>
          <p:nvPr/>
        </p:nvSpPr>
        <p:spPr>
          <a:xfrm>
            <a:off x="367400" y="682099"/>
            <a:ext cx="5932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AutoNum type="arabicPeriod"/>
            </a:pPr>
            <a:r>
              <a:rPr lang="en" sz="1500">
                <a:solidFill>
                  <a:schemeClr val="dk2"/>
                </a:solidFill>
              </a:rPr>
              <a:t>Following slide 15, and verify_partial_derivates.py, calculate following derivatives and verify numerically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descr="{&quot;aid&quot;:null,&quot;code&quot;:&quot;\\begin{lalign*}\n&amp;{f=x^{2},\\,g=\\exp\\left(x\\right),\\,h=fg}\\\\\n&amp;{\\text{Calculate}\\;h_{x}=\\diff{h}{x}}\\\\\n&amp;{f=x^{2},\\,g=xy+1,h=f/g\\,}\\\\\n&amp;{\\text{Calculate}\\;h_{x},\\,h_{y}}\t\n\\end{lalign*}&quot;,&quot;backgroundColorModified&quot;:false,&quot;type&quot;:&quot;lalign*&quot;,&quot;id&quot;:&quot;13&quot;,&quot;font&quot;:{&quot;family&quot;:&quot;Arial&quot;,&quot;size&quot;:12,&quot;color&quot;:&quot;#000000&quot;},&quot;backgroundColor&quot;:&quot;#FFFFFF&quot;,&quot;ts&quot;:1759690112382,&quot;cs&quot;:&quot;uNh7qRnTKuF30vt9nBVOQg==&quot;,&quot;size&quot;:{&quot;width&quot;:224,&quot;height&quot;:118}}" id="310" name="Google Shape;31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3425" y="1328599"/>
            <a:ext cx="2133600" cy="112395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32"/>
          <p:cNvSpPr txBox="1"/>
          <p:nvPr/>
        </p:nvSpPr>
        <p:spPr>
          <a:xfrm>
            <a:off x="381450" y="2571750"/>
            <a:ext cx="7276200" cy="26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>
                <a:solidFill>
                  <a:schemeClr val="dk2"/>
                </a:solidFill>
              </a:rPr>
              <a:t>All problems in Exercises section 1.4 of </a:t>
            </a:r>
            <a:r>
              <a:rPr lang="en" sz="1500" u="sng">
                <a:solidFill>
                  <a:schemeClr val="hlink"/>
                </a:solidFill>
                <a:hlinkClick r:id="rId4"/>
              </a:rPr>
              <a:t>Matrix Calculus</a:t>
            </a: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AutoNum type="arabicPeriod"/>
            </a:pPr>
            <a:r>
              <a:rPr lang="en" sz="1500">
                <a:solidFill>
                  <a:schemeClr val="dk2"/>
                </a:solidFill>
              </a:rPr>
              <a:t>Run part 2 of verify_partial_derivatives.py. Make sure you can follow the code and see how it implements the math in Slide 14</a:t>
            </a:r>
            <a:endParaRPr sz="1500">
              <a:solidFill>
                <a:schemeClr val="dk2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AutoNum type="arabicPeriod"/>
            </a:pPr>
            <a:r>
              <a:rPr lang="en">
                <a:solidFill>
                  <a:schemeClr val="dk2"/>
                </a:solidFill>
              </a:rPr>
              <a:t>Following linear_regression.py, generate points along y=xsin(x) and fit a line. What do you observe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</a:pPr>
            <a:r>
              <a:rPr lang="en">
                <a:solidFill>
                  <a:schemeClr val="dk2"/>
                </a:solidFill>
              </a:rPr>
              <a:t>For some reason, we want the intercept </a:t>
            </a:r>
            <a:r>
              <a:rPr i="1" lang="en">
                <a:solidFill>
                  <a:schemeClr val="dk2"/>
                </a:solidFill>
              </a:rPr>
              <a:t>b</a:t>
            </a:r>
            <a:r>
              <a:rPr lang="en">
                <a:solidFill>
                  <a:schemeClr val="dk2"/>
                </a:solidFill>
              </a:rPr>
              <a:t> to remain small. How would add this constraint to the regression problem? Solve for optimal values of a and b with this constraint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. 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