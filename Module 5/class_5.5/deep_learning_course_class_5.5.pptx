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29b9b3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29b9b3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60221d6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60221d6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8454b56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8454b56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60221d6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60221d6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60221d62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60221d62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60221d62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60221d62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60221d62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60221d62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60221d62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60221d62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60221d62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60221d62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60221d62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60221d62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60221d62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60221d62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60221d62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60221d62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60221d62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60221d62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60221d62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60221d62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08454b5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08454b5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8454b56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08454b5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08454b56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08454b56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08454b56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08454b56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08454b56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08454b56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08454b56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08454b56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08454b56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08454b56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xiv.org/abs/1508.07909" TargetMode="External"/><Relationship Id="rId4" Type="http://schemas.openxmlformats.org/officeDocument/2006/relationships/hyperlink" Target="https://huggingface.co/docs/transformers/en/tokenizer_summary" TargetMode="External"/><Relationship Id="rId5" Type="http://schemas.openxmlformats.org/officeDocument/2006/relationships/hyperlink" Target="https://arxiv.org/abs/2104.09864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Architectures: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5"/>
              <a:t>Tokenization Schemes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5.5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Tokenization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Position embeddings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Absolute position embeddings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Rotary Positional Embeddings (RoPE)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Pre-read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BPE Tokenization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Hugginsface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tokenization tutorial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Positional Encoding: Attention is all you need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RoPE: </a:t>
            </a:r>
            <a:r>
              <a:rPr lang="en" sz="1400" u="sng">
                <a:solidFill>
                  <a:schemeClr val="hlink"/>
                </a:solidFill>
                <a:hlinkClick r:id="rId5"/>
              </a:rPr>
              <a:t>RoFormer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tokenization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needs to be mapped to IDs, which are used to look up embeddings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language has: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Huge vocabularies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Misspellings, rare words, names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Morphology (play/played/playing)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r>
              <a:rPr lang="en"/>
              <a:t> map text to sequence of IDs that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Expressive enough to represent (play/played/playing are related to each 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Compact enough (fixed vocab)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handle unknown words, misspellings etc.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technique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Split on whitespace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Build vocab of top N words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Map each word to integer 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Text: "</a:t>
            </a:r>
            <a:r>
              <a:rPr lang="en" sz="1500">
                <a:solidFill>
                  <a:srgbClr val="188038"/>
                </a:solidFill>
              </a:rPr>
              <a:t>the food was unbelievably good</a:t>
            </a:r>
            <a:r>
              <a:rPr lang="en" sz="1500"/>
              <a:t>"</a:t>
            </a:r>
            <a:br>
              <a:rPr lang="en" sz="1500"/>
            </a:br>
            <a:r>
              <a:rPr lang="en" sz="1500"/>
              <a:t>Tokens: [</a:t>
            </a:r>
            <a:r>
              <a:rPr lang="en" sz="1500">
                <a:solidFill>
                  <a:srgbClr val="188038"/>
                </a:solidFill>
              </a:rPr>
              <a:t>"the","food","was","unbelievably","good"</a:t>
            </a:r>
            <a:r>
              <a:rPr lang="en" sz="1500"/>
              <a:t>]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If “</a:t>
            </a:r>
            <a:r>
              <a:rPr lang="en" sz="1500">
                <a:solidFill>
                  <a:srgbClr val="188038"/>
                </a:solidFill>
              </a:rPr>
              <a:t>unbelievably</a:t>
            </a:r>
            <a:r>
              <a:rPr lang="en" sz="1500"/>
              <a:t>” not in vocab → &lt;UNK&gt;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Problem: Either very large vocab or too many UNKs</a:t>
            </a:r>
            <a:endParaRPr sz="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Subwords: open vocabulary fix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23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Instead of storing every word, store </a:t>
            </a:r>
            <a:r>
              <a:rPr b="1" lang="en" sz="1200"/>
              <a:t>pieces</a:t>
            </a:r>
            <a:r>
              <a:rPr lang="en" sz="1200"/>
              <a:t> that can compose words.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Advantages:</a:t>
            </a:r>
            <a:endParaRPr sz="1200"/>
          </a:p>
          <a:p>
            <a:pPr indent="-2603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lang="en" sz="1200"/>
              <a:t>can represent any new word by breaking it into pieces</a:t>
            </a:r>
            <a:br>
              <a:rPr lang="en" sz="1200"/>
            </a:br>
            <a:endParaRPr sz="1200"/>
          </a:p>
          <a:p>
            <a:pPr indent="-2603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lang="en" sz="1200"/>
              <a:t>handles morphology naturally</a:t>
            </a:r>
            <a:br>
              <a:rPr lang="en" sz="1200"/>
            </a:br>
            <a:endParaRPr sz="1200"/>
          </a:p>
          <a:p>
            <a:pPr indent="-2603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lang="en" sz="1200"/>
              <a:t>smaller vocab than word-level</a:t>
            </a:r>
            <a:br>
              <a:rPr lang="en" sz="1200"/>
            </a:br>
            <a:endParaRPr sz="1200"/>
          </a:p>
          <a:p>
            <a:pPr indent="-2603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lang="en" sz="1200"/>
              <a:t>fewer &lt;UNK&gt;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507900" y="3139675"/>
            <a:ext cx="24102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Eg.,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play = play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played = play + ed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playing = play + ing</a:t>
            </a:r>
            <a:endParaRPr sz="1100"/>
          </a:p>
        </p:txBody>
      </p:sp>
      <p:sp>
        <p:nvSpPr>
          <p:cNvPr id="81" name="Google Shape;81;p17"/>
          <p:cNvSpPr txBox="1"/>
          <p:nvPr/>
        </p:nvSpPr>
        <p:spPr>
          <a:xfrm>
            <a:off x="2557950" y="3512875"/>
            <a:ext cx="2387100" cy="1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learn</a:t>
            </a:r>
            <a:r>
              <a:rPr lang="en" sz="1500">
                <a:solidFill>
                  <a:schemeClr val="dk2"/>
                </a:solidFill>
              </a:rPr>
              <a:t> = learn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learned = learn + ed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learning = learn + ing</a:t>
            </a:r>
            <a:endParaRPr sz="1100"/>
          </a:p>
        </p:txBody>
      </p:sp>
      <p:sp>
        <p:nvSpPr>
          <p:cNvPr id="82" name="Google Shape;82;p17"/>
          <p:cNvSpPr txBox="1"/>
          <p:nvPr/>
        </p:nvSpPr>
        <p:spPr>
          <a:xfrm>
            <a:off x="4852725" y="3458275"/>
            <a:ext cx="33705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Total number of tokens = 4 (play, learn, ed, ing)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Without subwords: 6 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Byte Pair Encoding (BPE)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How do we learn these subwords?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BPE is an algorithm:</a:t>
            </a:r>
            <a:endParaRPr sz="12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/>
              <a:t>Start with a sequence of symbols (could be characters, bytes, or initial word pieces).</a:t>
            </a:r>
            <a:br>
              <a:rPr lang="en" sz="1200"/>
            </a:br>
            <a:endParaRPr sz="12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/>
              <a:t>Repeatedly merge the most frequent adjacent pair into a new symbol.</a:t>
            </a:r>
            <a:br>
              <a:rPr lang="en" sz="1200"/>
            </a:br>
            <a:endParaRPr sz="12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/>
              <a:t>Keep merging, until desired vocabulary size is reached.</a:t>
            </a:r>
            <a:br>
              <a:rPr lang="en" sz="1200"/>
            </a:b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So BPE answers: “Given a corpus and base symbols, how do we learn a set of frequent chunks?”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BPE: Example	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3201900" cy="33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Toy corpus: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Corpus words (with counts):</a:t>
            </a:r>
            <a:endParaRPr sz="12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rgbClr val="188038"/>
                </a:solidFill>
              </a:rPr>
              <a:t>low</a:t>
            </a:r>
            <a:r>
              <a:rPr lang="en" sz="1200"/>
              <a:t> × 5</a:t>
            </a:r>
            <a:br>
              <a:rPr lang="en" sz="1200"/>
            </a:br>
            <a:endParaRPr sz="12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rgbClr val="188038"/>
                </a:solidFill>
              </a:rPr>
              <a:t>lower</a:t>
            </a:r>
            <a:r>
              <a:rPr lang="en" sz="1200"/>
              <a:t> × 2</a:t>
            </a:r>
            <a:br>
              <a:rPr lang="en" sz="1200"/>
            </a:br>
            <a:endParaRPr sz="12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rgbClr val="188038"/>
                </a:solidFill>
              </a:rPr>
              <a:t>newest</a:t>
            </a:r>
            <a:r>
              <a:rPr lang="en" sz="1200"/>
              <a:t> × 6</a:t>
            </a:r>
            <a:br>
              <a:rPr lang="en" sz="1200"/>
            </a:br>
            <a:endParaRPr sz="12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rgbClr val="188038"/>
                </a:solidFill>
              </a:rPr>
              <a:t>widest</a:t>
            </a:r>
            <a:r>
              <a:rPr lang="en" sz="1200"/>
              <a:t> × 3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BPE is usually trained on words split into characters + an </a:t>
            </a:r>
            <a:r>
              <a:rPr b="1" lang="en" sz="1200"/>
              <a:t>end-of-word marker</a:t>
            </a:r>
            <a:r>
              <a:rPr lang="en" sz="1200"/>
              <a:t> &lt;/w&gt; so merges don’t cross word boundaries.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98325" y="921625"/>
            <a:ext cx="3849000" cy="4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So the initial tokenization is: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l o w &lt;/w&gt;</a:t>
            </a:r>
            <a:r>
              <a:rPr lang="en" sz="1100">
                <a:solidFill>
                  <a:schemeClr val="dk1"/>
                </a:solidFill>
              </a:rPr>
              <a:t> × 5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l o w e r &lt;/w&gt;</a:t>
            </a:r>
            <a:r>
              <a:rPr lang="en" sz="1100">
                <a:solidFill>
                  <a:schemeClr val="dk1"/>
                </a:solidFill>
              </a:rPr>
              <a:t> × 2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n e w e s t &lt;/w&gt;</a:t>
            </a:r>
            <a:r>
              <a:rPr lang="en" sz="1100">
                <a:solidFill>
                  <a:schemeClr val="dk1"/>
                </a:solidFill>
              </a:rPr>
              <a:t> × 6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w i d e s t &lt;/w&gt;</a:t>
            </a:r>
            <a:r>
              <a:rPr lang="en" sz="1100">
                <a:solidFill>
                  <a:schemeClr val="dk1"/>
                </a:solidFill>
              </a:rPr>
              <a:t> × 3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Now we repeatedly:</a:t>
            </a:r>
            <a:endParaRPr sz="12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2"/>
                </a:solidFill>
              </a:rPr>
              <a:t>count adjacent symbol pairs across the corpus (weighted by counts),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2"/>
                </a:solidFill>
              </a:rPr>
              <a:t>merge the most frequent pair into a new symbol,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200">
                <a:solidFill>
                  <a:schemeClr val="dk2"/>
                </a:solidFill>
              </a:rPr>
              <a:t>update the corpus, and repeat.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BPE: Example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List the adjacent pairs in each word (multiply by word count).</a:t>
            </a:r>
            <a:endParaRPr sz="12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 o w &lt;/w&gt;</a:t>
            </a:r>
            <a:r>
              <a:rPr b="1" lang="en" sz="1300">
                <a:solidFill>
                  <a:schemeClr val="dk1"/>
                </a:solidFill>
              </a:rPr>
              <a:t> × 5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Pairs: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(l,o)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(o,w)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(w,&lt;/w&gt;)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200"/>
              <a:t>each contributes </a:t>
            </a:r>
            <a:r>
              <a:rPr b="1" lang="en" sz="1200"/>
              <a:t>5</a:t>
            </a:r>
            <a:endParaRPr b="1" sz="12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 o w e r &lt;/w&gt;</a:t>
            </a:r>
            <a:r>
              <a:rPr b="1" lang="en" sz="1300">
                <a:solidFill>
                  <a:schemeClr val="dk1"/>
                </a:solidFill>
              </a:rPr>
              <a:t> ×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Pairs: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(l,o)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(o,w)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(w,e)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(e,r)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(r,&lt;/w&gt;)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200"/>
              <a:t>each contributes </a:t>
            </a:r>
            <a:r>
              <a:rPr b="1" lang="en" sz="1200"/>
              <a:t>2</a:t>
            </a:r>
            <a:endParaRPr b="1" sz="12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e w e s t &lt;/w&gt;</a:t>
            </a:r>
            <a:r>
              <a:rPr b="1" lang="en" sz="1300">
                <a:solidFill>
                  <a:schemeClr val="dk1"/>
                </a:solidFill>
              </a:rPr>
              <a:t> × 6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Pairs: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(n,e)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(e,w)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(w,e)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(e,s)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(s,t)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(t,&lt;/w&gt;)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200"/>
              <a:t>each contributes </a:t>
            </a:r>
            <a:r>
              <a:rPr b="1" lang="en" sz="1200"/>
              <a:t>6</a:t>
            </a:r>
            <a:endParaRPr b="1" sz="12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 i d e s t &lt;/w&gt;</a:t>
            </a:r>
            <a:r>
              <a:rPr b="1" lang="en" sz="1300">
                <a:solidFill>
                  <a:schemeClr val="dk1"/>
                </a:solidFill>
              </a:rPr>
              <a:t> ×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Pairs: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(w,i)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(i,d)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(d,e)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(e,s)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(s,t)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(t,&lt;/w&gt;)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200"/>
              <a:t>each contributes </a:t>
            </a:r>
            <a:r>
              <a:rPr b="1" lang="en" sz="1200"/>
              <a:t>3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BPE: Example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Now sum the big ones: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(e,s)</a:t>
            </a:r>
            <a:r>
              <a:rPr lang="en" sz="1100">
                <a:solidFill>
                  <a:schemeClr val="dk1"/>
                </a:solidFill>
              </a:rPr>
              <a:t> = 6 + 3 = </a:t>
            </a:r>
            <a:r>
              <a:rPr b="1" lang="en" sz="1100">
                <a:solidFill>
                  <a:schemeClr val="dk1"/>
                </a:solidFill>
              </a:rPr>
              <a:t>9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(s,t)</a:t>
            </a:r>
            <a:r>
              <a:rPr lang="en" sz="1100">
                <a:solidFill>
                  <a:schemeClr val="dk1"/>
                </a:solidFill>
              </a:rPr>
              <a:t> = 6 + 3 = </a:t>
            </a:r>
            <a:r>
              <a:rPr b="1" lang="en" sz="1100">
                <a:solidFill>
                  <a:schemeClr val="dk1"/>
                </a:solidFill>
              </a:rPr>
              <a:t>9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(t,&lt;/w&gt;)</a:t>
            </a:r>
            <a:r>
              <a:rPr lang="en" sz="1100">
                <a:solidFill>
                  <a:schemeClr val="dk1"/>
                </a:solidFill>
              </a:rPr>
              <a:t> = 6 + 3 = </a:t>
            </a:r>
            <a:r>
              <a:rPr b="1" lang="en" sz="1100">
                <a:solidFill>
                  <a:schemeClr val="dk1"/>
                </a:solidFill>
              </a:rPr>
              <a:t>9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(l,o)</a:t>
            </a:r>
            <a:r>
              <a:rPr lang="en" sz="1100">
                <a:solidFill>
                  <a:schemeClr val="dk1"/>
                </a:solidFill>
              </a:rPr>
              <a:t> = 5 + 2 = </a:t>
            </a:r>
            <a:r>
              <a:rPr b="1" lang="en" sz="1100">
                <a:solidFill>
                  <a:schemeClr val="dk1"/>
                </a:solidFill>
              </a:rPr>
              <a:t>7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(o,w)</a:t>
            </a:r>
            <a:r>
              <a:rPr lang="en" sz="1100">
                <a:solidFill>
                  <a:schemeClr val="dk1"/>
                </a:solidFill>
              </a:rPr>
              <a:t> = 5 + 2 = </a:t>
            </a:r>
            <a:r>
              <a:rPr b="1" lang="en" sz="1100">
                <a:solidFill>
                  <a:schemeClr val="dk1"/>
                </a:solidFill>
              </a:rPr>
              <a:t>7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(w,e)</a:t>
            </a:r>
            <a:r>
              <a:rPr lang="en" sz="1100">
                <a:solidFill>
                  <a:schemeClr val="dk1"/>
                </a:solidFill>
              </a:rPr>
              <a:t> = 2 + 6 = </a:t>
            </a:r>
            <a:r>
              <a:rPr b="1" lang="en" sz="1100">
                <a:solidFill>
                  <a:schemeClr val="dk1"/>
                </a:solidFill>
              </a:rPr>
              <a:t>8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Most frequent pairs are tied at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9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(e,s)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(s,t)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(t,&lt;/w&gt;)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Pick one (ties are arbitrary). Let’s merge: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(e,s)→(es)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BPE: Example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Iteration 1 merge: </a:t>
            </a:r>
            <a:r>
              <a:rPr b="1"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 s</a:t>
            </a:r>
            <a:r>
              <a:rPr b="1" lang="en" sz="1700">
                <a:solidFill>
                  <a:schemeClr val="dk1"/>
                </a:solidFill>
              </a:rPr>
              <a:t> → </a:t>
            </a:r>
            <a:r>
              <a:rPr b="1"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</a:t>
            </a:r>
            <a:endParaRPr b="1"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Update corpus: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 o w &lt;/w&gt;</a:t>
            </a:r>
            <a:r>
              <a:rPr lang="en" sz="1100">
                <a:solidFill>
                  <a:schemeClr val="dk1"/>
                </a:solidFill>
              </a:rPr>
              <a:t> × 5 </a:t>
            </a:r>
            <a:r>
              <a:rPr lang="en" sz="1200"/>
              <a:t>(unchanged)</a:t>
            </a:r>
            <a:br>
              <a:rPr lang="en" sz="1200"/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 o w e r &lt;/w&gt;</a:t>
            </a:r>
            <a:r>
              <a:rPr lang="en" sz="1100">
                <a:solidFill>
                  <a:schemeClr val="dk1"/>
                </a:solidFill>
              </a:rPr>
              <a:t> × 2 </a:t>
            </a:r>
            <a:r>
              <a:rPr lang="en" sz="1200"/>
              <a:t>(unchanged)</a:t>
            </a:r>
            <a:br>
              <a:rPr lang="en" sz="1200"/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e w es t &lt;/w&gt;</a:t>
            </a:r>
            <a:r>
              <a:rPr lang="en" sz="1100">
                <a:solidFill>
                  <a:schemeClr val="dk1"/>
                </a:solidFill>
              </a:rPr>
              <a:t> × 6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 i d es t &lt;/w&gt;</a:t>
            </a:r>
            <a:r>
              <a:rPr lang="en" sz="1100">
                <a:solidFill>
                  <a:schemeClr val="dk1"/>
                </a:solidFill>
              </a:rPr>
              <a:t> × 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BPE: Example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3280500" cy="3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8122"/>
              <a:buFont typeface="Arial"/>
              <a:buNone/>
            </a:pPr>
            <a:r>
              <a:rPr b="1" lang="en" sz="1614"/>
              <a:t>Iteration 2: count pairs again (focus on changed parts)</a:t>
            </a:r>
            <a:endParaRPr b="1" sz="211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/>
              <a:t>Recompute important pairs: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/>
              <a:t>From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e w es t &lt;/w&gt;</a:t>
            </a:r>
            <a:r>
              <a:rPr lang="en" sz="1100">
                <a:solidFill>
                  <a:schemeClr val="dk1"/>
                </a:solidFill>
              </a:rPr>
              <a:t> × 6: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(n,e)</a:t>
            </a:r>
            <a:r>
              <a:rPr lang="en" sz="1100">
                <a:solidFill>
                  <a:schemeClr val="dk1"/>
                </a:solidFill>
              </a:rPr>
              <a:t> +6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(e,w)</a:t>
            </a:r>
            <a:r>
              <a:rPr lang="en" sz="1100">
                <a:solidFill>
                  <a:schemeClr val="dk1"/>
                </a:solidFill>
              </a:rPr>
              <a:t> +6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(w,es)</a:t>
            </a:r>
            <a:r>
              <a:rPr lang="en" sz="1100">
                <a:solidFill>
                  <a:schemeClr val="dk1"/>
                </a:solidFill>
              </a:rPr>
              <a:t> +6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(es,t)</a:t>
            </a:r>
            <a:r>
              <a:rPr lang="en" sz="1100">
                <a:solidFill>
                  <a:schemeClr val="dk1"/>
                </a:solidFill>
              </a:rPr>
              <a:t> +6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(t,&lt;/w&gt;)</a:t>
            </a:r>
            <a:r>
              <a:rPr lang="en" sz="1100">
                <a:solidFill>
                  <a:schemeClr val="dk1"/>
                </a:solidFill>
              </a:rPr>
              <a:t> +6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/>
              <a:t>From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 i d es t &lt;/w&gt;</a:t>
            </a:r>
            <a:r>
              <a:rPr lang="en" sz="1100">
                <a:solidFill>
                  <a:schemeClr val="dk1"/>
                </a:solidFill>
              </a:rPr>
              <a:t> × 3:</a:t>
            </a: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(w,i)</a:t>
            </a:r>
            <a:r>
              <a:rPr lang="en" sz="1100">
                <a:solidFill>
                  <a:schemeClr val="dk1"/>
                </a:solidFill>
              </a:rPr>
              <a:t> +3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(i,d)</a:t>
            </a:r>
            <a:r>
              <a:rPr lang="en" sz="1100">
                <a:solidFill>
                  <a:schemeClr val="dk1"/>
                </a:solidFill>
              </a:rPr>
              <a:t> +3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(d,es)</a:t>
            </a:r>
            <a:r>
              <a:rPr lang="en" sz="1100">
                <a:solidFill>
                  <a:schemeClr val="dk1"/>
                </a:solidFill>
              </a:rPr>
              <a:t> +3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(es,t)</a:t>
            </a:r>
            <a:r>
              <a:rPr lang="en" sz="1100">
                <a:solidFill>
                  <a:schemeClr val="dk1"/>
                </a:solidFill>
              </a:rPr>
              <a:t> +3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(t,&lt;/w&gt;)</a:t>
            </a:r>
            <a:r>
              <a:rPr lang="en" sz="1100">
                <a:solidFill>
                  <a:schemeClr val="dk1"/>
                </a:solidFill>
              </a:rPr>
              <a:t> +3</a:t>
            </a:r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3328950" y="350900"/>
            <a:ext cx="30000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Also still have: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(l,o)</a:t>
            </a:r>
            <a:r>
              <a:rPr lang="en" sz="1100">
                <a:solidFill>
                  <a:schemeClr val="dk1"/>
                </a:solidFill>
              </a:rPr>
              <a:t> +7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(o,w)</a:t>
            </a:r>
            <a:r>
              <a:rPr lang="en" sz="1100">
                <a:solidFill>
                  <a:schemeClr val="dk1"/>
                </a:solidFill>
              </a:rPr>
              <a:t> +7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(w,&lt;/w&gt;)</a:t>
            </a:r>
            <a:r>
              <a:rPr lang="en" sz="1100">
                <a:solidFill>
                  <a:schemeClr val="dk1"/>
                </a:solidFill>
              </a:rPr>
              <a:t> +5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(w,e)</a:t>
            </a:r>
            <a:r>
              <a:rPr lang="en" sz="1100">
                <a:solidFill>
                  <a:schemeClr val="dk1"/>
                </a:solidFill>
              </a:rPr>
              <a:t> +2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etc.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Now totals: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(es,t)</a:t>
            </a:r>
            <a:r>
              <a:rPr lang="en" sz="1100">
                <a:solidFill>
                  <a:schemeClr val="dk1"/>
                </a:solidFill>
              </a:rPr>
              <a:t> = 6 + 3 = </a:t>
            </a:r>
            <a:r>
              <a:rPr b="1" lang="en" sz="1100">
                <a:solidFill>
                  <a:schemeClr val="dk1"/>
                </a:solidFill>
              </a:rPr>
              <a:t>9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(t,&lt;/w&gt;)</a:t>
            </a:r>
            <a:r>
              <a:rPr lang="en" sz="1100">
                <a:solidFill>
                  <a:schemeClr val="dk1"/>
                </a:solidFill>
              </a:rPr>
              <a:t> = 6 + 3 = </a:t>
            </a:r>
            <a:r>
              <a:rPr b="1" lang="en" sz="1100">
                <a:solidFill>
                  <a:schemeClr val="dk1"/>
                </a:solidFill>
              </a:rPr>
              <a:t>9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(w,es)</a:t>
            </a:r>
            <a:r>
              <a:rPr lang="en" sz="1100">
                <a:solidFill>
                  <a:schemeClr val="dk1"/>
                </a:solidFill>
              </a:rPr>
              <a:t> = </a:t>
            </a:r>
            <a:r>
              <a:rPr b="1" lang="en" sz="1100">
                <a:solidFill>
                  <a:schemeClr val="dk1"/>
                </a:solidFill>
              </a:rPr>
              <a:t>6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(l,o)</a:t>
            </a:r>
            <a:r>
              <a:rPr lang="en" sz="1100">
                <a:solidFill>
                  <a:schemeClr val="dk1"/>
                </a:solidFill>
              </a:rPr>
              <a:t> = </a:t>
            </a:r>
            <a:r>
              <a:rPr b="1" lang="en" sz="1100">
                <a:solidFill>
                  <a:schemeClr val="dk1"/>
                </a:solidFill>
              </a:rPr>
              <a:t>7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(o,w)</a:t>
            </a:r>
            <a:r>
              <a:rPr lang="en" sz="1100">
                <a:solidFill>
                  <a:schemeClr val="dk1"/>
                </a:solidFill>
              </a:rPr>
              <a:t> = </a:t>
            </a:r>
            <a:r>
              <a:rPr b="1" lang="en" sz="1100">
                <a:solidFill>
                  <a:schemeClr val="dk1"/>
                </a:solidFill>
              </a:rPr>
              <a:t>7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5812975" y="1205075"/>
            <a:ext cx="30000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Pick one of the top ties again. Merge: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(es,t)→(est)</a:t>
            </a:r>
            <a:endParaRPr/>
          </a:p>
        </p:txBody>
      </p:sp>
      <p:sp>
        <p:nvSpPr>
          <p:cNvPr id="122" name="Google Shape;122;p23"/>
          <p:cNvSpPr txBox="1"/>
          <p:nvPr/>
        </p:nvSpPr>
        <p:spPr>
          <a:xfrm>
            <a:off x="5785275" y="2677950"/>
            <a:ext cx="3000000" cy="20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Iteration 2 merge:</a:t>
            </a:r>
            <a:r>
              <a:rPr b="1"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 t</a:t>
            </a:r>
            <a:r>
              <a:rPr b="1" lang="en" sz="1700">
                <a:solidFill>
                  <a:schemeClr val="dk1"/>
                </a:solidFill>
              </a:rPr>
              <a:t> → </a:t>
            </a:r>
            <a:r>
              <a:rPr b="1"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est</a:t>
            </a:r>
            <a:endParaRPr b="1"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Update corpus:</a:t>
            </a:r>
            <a:endParaRPr sz="12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 e w est &lt;/w&gt;</a:t>
            </a:r>
            <a:r>
              <a:rPr lang="en" sz="1100">
                <a:solidFill>
                  <a:schemeClr val="dk1"/>
                </a:solidFill>
              </a:rPr>
              <a:t> × 6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 i d est &lt;/w&gt;</a:t>
            </a:r>
            <a:r>
              <a:rPr lang="en" sz="1100">
                <a:solidFill>
                  <a:schemeClr val="dk1"/>
                </a:solidFill>
              </a:rPr>
              <a:t> × 3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2"/>
                </a:solidFill>
              </a:rPr>
              <a:t>Other words unchanged.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BPE: Results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255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920"/>
              <a:t>merge    1: ('e', '&lt;/w&gt;')  count=34111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920"/>
              <a:t>merge    2: ('s', '&lt;/w&gt;')  count=23379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920"/>
              <a:t>merge    3: ('t', 'h')  count=19805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920"/>
              <a:t>merge    4: ('n', '&lt;/w&gt;')  count=16858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920"/>
              <a:t>merge    5: ('d', '&lt;/w&gt;')  count=15010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920"/>
              <a:t>merge    6: ('e', 'r')  count=14565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920"/>
              <a:t>merge    7: ('t', '&lt;/w&gt;')  count=12407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920"/>
              <a:t>merge    8: ('i', 'n')  count=11630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920"/>
              <a:t>merge    9: ('a', 'n')  count=11336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920"/>
              <a:t>merge   10: ('th', 'e&lt;/w&gt;')  count=10256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920"/>
              <a:t>merge   11: ('o', '&lt;/w&gt;')  count=9719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920"/>
              <a:t>merge   12: ('y', '&lt;/w&gt;')  count=9502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920"/>
          </a:p>
        </p:txBody>
      </p:sp>
      <p:sp>
        <p:nvSpPr>
          <p:cNvPr id="129" name="Google Shape;129;p24"/>
          <p:cNvSpPr txBox="1"/>
          <p:nvPr/>
        </p:nvSpPr>
        <p:spPr>
          <a:xfrm>
            <a:off x="3296650" y="445025"/>
            <a:ext cx="4220100" cy="4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merge   13: ('a', 'l')  count=9253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merge   14: ('o', 'n')  count=8409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merge   15: ('t', 'i')  count=8342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merge   16: ('o', 'r')  count=8200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merge   17: ('a', 'r')  count=7827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merge   18: ('r', 'e')  count=6947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merge   19: ('f', '&lt;/w&gt;')  count=6515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merge   20: ('e', 'n')  count=6269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merge   50: ('i', 'l')  count=2501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merge  100: ('p', 'ro')  count=1167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merge  150: ('h', 'is&lt;/w&gt;')  count=783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merge  200: ('at', 'ed&lt;/w&gt;')  count=513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122400" y="1090750"/>
            <a:ext cx="335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900"/>
              <a:t>TEXT: attention contextualizes embeddings (200 merges)</a:t>
            </a:r>
            <a:endParaRPr b="1" sz="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900"/>
              <a:t>TOKENS:</a:t>
            </a:r>
            <a:endParaRPr sz="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900"/>
              <a:t>  attention            -&gt; ['at', 't', 'en', 'tion']</a:t>
            </a:r>
            <a:endParaRPr sz="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900"/>
              <a:t>  contextualizes       -&gt; ['con', 't', 'ex', 't', 'u', 'al', 'i', 'z', 'es']</a:t>
            </a:r>
            <a:endParaRPr sz="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900"/>
              <a:t>  embeddings           -&gt; ['em', 'be', 'd', 'd', 'in', 'g', 's']</a:t>
            </a:r>
            <a:endParaRPr sz="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900"/>
              <a:t>TEXT: tokenization and transformers</a:t>
            </a:r>
            <a:endParaRPr sz="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900"/>
              <a:t>TOKENS:</a:t>
            </a:r>
            <a:endParaRPr sz="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900"/>
              <a:t>  tokenization         -&gt; ['t', 'o', 'k', 'en', 'i', 'z', 'ation']</a:t>
            </a:r>
            <a:endParaRPr sz="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900"/>
              <a:t>  and                  -&gt; ['and']</a:t>
            </a:r>
            <a:endParaRPr sz="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900"/>
              <a:t>  transformers         -&gt; ['tr', 'an', 's', 'for', 'm', 'ers']</a:t>
            </a:r>
            <a:endParaRPr sz="9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855"/>
          </a:p>
        </p:txBody>
      </p:sp>
      <p:sp>
        <p:nvSpPr>
          <p:cNvPr id="136" name="Google Shape;136;p25"/>
          <p:cNvSpPr txBox="1"/>
          <p:nvPr/>
        </p:nvSpPr>
        <p:spPr>
          <a:xfrm>
            <a:off x="311700" y="4515700"/>
            <a:ext cx="265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After 200 merges (stripping out the &lt;/w&gt; markers)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3670500" y="1090750"/>
            <a:ext cx="3000000" cy="3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</a:rPr>
              <a:t>TEXT: attention contextualizes embeddings (2000 merges)</a:t>
            </a:r>
            <a:endParaRPr b="1"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TOKENS: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  attention            -&gt; ['at', 'ten', 'tion']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  contextualizes       -&gt; ['cont', 'ex', 'tu', 'al', 'iz', 'es']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  embeddings           -&gt; ['em', 'be', 'd', 'd', 'ings']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TEXT: tokenization and transformers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TOKENS: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  tokenization         -&gt; ['to', 'k', 'en', 'ization']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  and                  -&gt; ['and']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  transformers         -&gt; ['trans', 'form', </a:t>
            </a:r>
            <a:r>
              <a:rPr lang="en" sz="1000">
                <a:solidFill>
                  <a:schemeClr val="dk2"/>
                </a:solidFill>
              </a:rPr>
              <a:t>'</a:t>
            </a:r>
            <a:r>
              <a:rPr lang="en" sz="900">
                <a:solidFill>
                  <a:schemeClr val="dk2"/>
                </a:solidFill>
              </a:rPr>
              <a:t>ers']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3670500" y="4500250"/>
            <a:ext cx="2493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After 2000 merges</a:t>
            </a:r>
            <a:r>
              <a:rPr lang="en" sz="1500">
                <a:solidFill>
                  <a:schemeClr val="dk2"/>
                </a:solidFill>
              </a:rPr>
              <a:t> </a:t>
            </a:r>
            <a:r>
              <a:rPr lang="en" sz="1100">
                <a:solidFill>
                  <a:schemeClr val="dk2"/>
                </a:solidFill>
              </a:rPr>
              <a:t>(stripping out the &lt;/w&gt; markers)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6570175" y="1090750"/>
            <a:ext cx="2493300" cy="2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</a:rPr>
              <a:t>TEXT:   attention contextualizes embeddings (GPT2 encoder)</a:t>
            </a:r>
            <a:endParaRPr b="1"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TOKENS: 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attention -&gt; ['att', 'ention']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contextualizes -&gt; ['contextual', 'izes']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embeddings -&gt;  ['embed', 'd', 'ings']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TEXT:   tokenization and transformers</a:t>
            </a:r>
            <a:endParaRPr sz="9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TOKENS: ['token', 'ization', 'Ġand', 'Ġtransform', 'ers']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6694850" y="3789250"/>
            <a:ext cx="251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GPT2 encoder. Ġ indicates “there is a space before this token”, so acts as a </a:t>
            </a:r>
            <a:r>
              <a:rPr lang="en" sz="1000">
                <a:solidFill>
                  <a:schemeClr val="dk2"/>
                </a:solidFill>
              </a:rPr>
              <a:t>beginning</a:t>
            </a:r>
            <a:r>
              <a:rPr lang="en" sz="1000">
                <a:solidFill>
                  <a:schemeClr val="dk2"/>
                </a:solidFill>
              </a:rPr>
              <a:t> of a word marker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Allows us to separate ‘and’ between two words from ‘brand’, or ‘wand’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41" name="Google Shape;141;p25"/>
          <p:cNvCxnSpPr/>
          <p:nvPr/>
        </p:nvCxnSpPr>
        <p:spPr>
          <a:xfrm>
            <a:off x="3472100" y="1140425"/>
            <a:ext cx="0" cy="39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5"/>
          <p:cNvCxnSpPr/>
          <p:nvPr/>
        </p:nvCxnSpPr>
        <p:spPr>
          <a:xfrm>
            <a:off x="6514825" y="1151350"/>
            <a:ext cx="0" cy="39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encodings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We need to tell the model the position of tokens in a sentence, otherwise the model will just treat the tokens as a bag of unordered tokens.. 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600"/>
              <a:t>man bites dog</a:t>
            </a:r>
            <a:r>
              <a:rPr lang="en" sz="1600"/>
              <a:t> and </a:t>
            </a:r>
            <a:r>
              <a:rPr i="1" lang="en" sz="1600"/>
              <a:t>dog bites man </a:t>
            </a:r>
            <a:r>
              <a:rPr lang="en" sz="1600"/>
              <a:t>will be identical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Simplest approach:</a:t>
            </a:r>
            <a:r>
              <a:rPr lang="en" sz="1600"/>
              <a:t> Just learn a position embedding. Create a randomly initialized embedding table of size </a:t>
            </a:r>
            <a:r>
              <a:rPr i="1" lang="en" sz="1600"/>
              <a:t>Lmax, d, </a:t>
            </a:r>
            <a:r>
              <a:rPr lang="en" sz="1600"/>
              <a:t>where Lmax is the maximum sentence length and d is the </a:t>
            </a:r>
            <a:r>
              <a:rPr lang="en" sz="1600"/>
              <a:t>embedding</a:t>
            </a:r>
            <a:r>
              <a:rPr lang="en" sz="1600"/>
              <a:t> dimension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Then embedding at position t = e_t + p_t, where e_t is the token embedding and p_t is the learnt position embedding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This works ok, but can’t deal with sequence lengths beyond what’s found in the data..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We can do better by </a:t>
            </a:r>
            <a:r>
              <a:rPr lang="en" sz="1600"/>
              <a:t>explicitly</a:t>
            </a:r>
            <a:r>
              <a:rPr lang="en" sz="1600"/>
              <a:t> coding position information into an embedding vector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 sinusoidal position embeddings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8520600" cy="13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Instead of learning each position separately, can we encode the position with a deterministic mathematical pattern? This also simplifies the learning task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Use sinusoids of different </a:t>
            </a:r>
            <a:r>
              <a:rPr lang="en" sz="1500"/>
              <a:t>frequencies</a:t>
            </a:r>
            <a:endParaRPr sz="1500"/>
          </a:p>
        </p:txBody>
      </p:sp>
      <p:pic>
        <p:nvPicPr>
          <p:cNvPr descr="{&quot;font&quot;:{&quot;family&quot;:&quot;Arial&quot;,&quot;size&quot;:18,&quot;color&quot;:&quot;#595959&quot;},&quot;type&quot;:&quot;lalign*&quot;,&quot;aid&quot;:null,&quot;id&quot;:&quot;1&quot;,&quot;backgroundColor&quot;:&quot;#FFFFFF&quot;,&quot;code&quot;:&quot;\\begin{lalign*}\n&amp;{PE\\left(pos,\\,2i\\right)=\\sin\\left(\\frac{pos}{10000^{2i/d}}\\right)}\\\\\n&amp;{PE\\left(pos,\\,2i+1\\right)=cos\\left(\\frac{pos}{10000^{2i/d}}\\right)}\t\n\\end{lalign*}&quot;,&quot;backgroundColorModified&quot;:false,&quot;ts&quot;:1773886129427,&quot;cs&quot;:&quot;G0hQE4QFt5DYK/dLxst9Kg==&quot;,&quot;size&quot;:{&quot;width&quot;:438.3333333333333,&quot;height&quot;:143.66666666666666}}"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275" y="1995350"/>
            <a:ext cx="3517250" cy="11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2777775"/>
            <a:ext cx="6041400" cy="18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each position is a vector of waves.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 dimensions change </a:t>
            </a:r>
            <a:r>
              <a:rPr b="1" lang="en"/>
              <a:t>slowly</a:t>
            </a:r>
            <a:r>
              <a:rPr lang="en"/>
              <a:t>, others change </a:t>
            </a:r>
            <a:r>
              <a:rPr b="1" lang="en"/>
              <a:t>rapidly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model can learn to interpret these embeddings to learn where a token is in a sentence, and the relative distance between two tokens..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Because sin(a-b) = sin(a)cos(b) - sin(b)cos(a)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Fixed sinusoidal position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Why use different frequencies in different coordinates? Because sin/cos repeat, and different positions could map to the same value. 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Different frequencies help the model identify position over many scales. 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Example: d = 4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PE(pos, 0) = sin(pos), PE(pos, 1) = cos(pos)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PE(pos, 2) = sin(pos/100), PE(pos, 3) = cos(pos/100)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The </a:t>
            </a:r>
            <a:r>
              <a:rPr b="1" lang="en" sz="1700"/>
              <a:t>fast pair</a:t>
            </a:r>
            <a:r>
              <a:rPr lang="en" sz="1700"/>
              <a:t> (0, 1) repeat every 2pi. So positions that differ ~6 positions will have very similar first two coordinates.. But not the second two coordinates!</a:t>
            </a:r>
            <a:endParaRPr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Fixed sinusoidal position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PE(0) = [sin(0), cos(0), sin(0), cos(0)] = [0, 1, 0, 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PE(1) = [0.84, 0.54, 0.01, 0.9995]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PE(2) = [0.91, -0.42, 0.02, 0.9998]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we only had the first pair, coordinates would cycle and repeat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we only had last two, nearby positions would look too similar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Rotary</a:t>
            </a:r>
            <a:r>
              <a:rPr lang="en"/>
              <a:t> Positional Embeddings (RoPE)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Ultimately, token embeddings are projected via Q/K/V matrices and multiplied to produce attention scores..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we really want is attention scores to reflect the </a:t>
            </a:r>
            <a:r>
              <a:rPr i="1" lang="en"/>
              <a:t>relative </a:t>
            </a:r>
            <a:r>
              <a:rPr lang="en"/>
              <a:t>position between two tokens.. Rather than the absolute position of each of those tokens in the sentence.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So, instead of addition a position encoding to each token embedding, can we rotate the Q/K vectors by an amount that depends on their position, such that the dot product depends on the relative position difference? That’s the main idea behind RoPE..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Rotary Positional Embeddings (RoPE)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 token </a:t>
            </a:r>
            <a:r>
              <a:rPr i="1" lang="en"/>
              <a:t>tm</a:t>
            </a:r>
            <a:r>
              <a:rPr lang="en"/>
              <a:t> and </a:t>
            </a:r>
            <a:r>
              <a:rPr i="1" lang="en"/>
              <a:t>tn</a:t>
            </a:r>
            <a:r>
              <a:rPr lang="en"/>
              <a:t> at positions </a:t>
            </a:r>
            <a:r>
              <a:rPr i="1" lang="en"/>
              <a:t>m</a:t>
            </a:r>
            <a:r>
              <a:rPr lang="en"/>
              <a:t>, </a:t>
            </a:r>
            <a:r>
              <a:rPr i="1" lang="en"/>
              <a:t>n</a:t>
            </a:r>
            <a:r>
              <a:rPr lang="en"/>
              <a:t>, calculate Q/K projections </a:t>
            </a:r>
            <a:r>
              <a:rPr i="1" lang="en"/>
              <a:t>qm</a:t>
            </a:r>
            <a:r>
              <a:rPr lang="en"/>
              <a:t>, </a:t>
            </a:r>
            <a:r>
              <a:rPr i="1" lang="en"/>
              <a:t>kn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a pair of coordinates </a:t>
            </a:r>
            <a:r>
              <a:rPr i="1" lang="en"/>
              <a:t>x1</a:t>
            </a:r>
            <a:r>
              <a:rPr lang="en"/>
              <a:t>, </a:t>
            </a:r>
            <a:r>
              <a:rPr i="1" lang="en"/>
              <a:t>x2</a:t>
            </a:r>
            <a:r>
              <a:rPr lang="en"/>
              <a:t> from </a:t>
            </a:r>
            <a:r>
              <a:rPr i="1" lang="en"/>
              <a:t>qm</a:t>
            </a:r>
            <a:r>
              <a:rPr lang="en"/>
              <a:t>, rotate by an angle </a:t>
            </a:r>
            <a:r>
              <a:rPr i="1" lang="en"/>
              <a:t>theta</a:t>
            </a:r>
            <a:r>
              <a:rPr lang="en"/>
              <a:t> that depends on </a:t>
            </a:r>
            <a:r>
              <a:rPr i="1" lang="en"/>
              <a:t>m </a:t>
            </a:r>
            <a:r>
              <a:rPr lang="en"/>
              <a:t>and the coordinates. Similarly, take coordinates </a:t>
            </a:r>
            <a:r>
              <a:rPr i="1" lang="en"/>
              <a:t>y1</a:t>
            </a:r>
            <a:r>
              <a:rPr lang="en"/>
              <a:t>, </a:t>
            </a:r>
            <a:r>
              <a:rPr i="1" lang="en"/>
              <a:t>y2</a:t>
            </a:r>
            <a:r>
              <a:rPr lang="en"/>
              <a:t> from </a:t>
            </a:r>
            <a:r>
              <a:rPr i="1" lang="en"/>
              <a:t>kn</a:t>
            </a:r>
            <a:r>
              <a:rPr lang="en"/>
              <a:t>, rotate by an angle </a:t>
            </a:r>
            <a:r>
              <a:rPr i="1" lang="en"/>
              <a:t>alpha</a:t>
            </a:r>
            <a:r>
              <a:rPr lang="en"/>
              <a:t> that depends on </a:t>
            </a:r>
            <a:r>
              <a:rPr i="1" lang="en"/>
              <a:t>n </a:t>
            </a:r>
            <a:r>
              <a:rPr lang="en"/>
              <a:t>and the coordinates.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Key idea</a:t>
            </a:r>
            <a:r>
              <a:rPr lang="en"/>
              <a:t>: The dot product depends on the difference between theta and alpha.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Rotary Positional Embeddings (RoPE)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type&quot;:&quot;gather*&quot;,&quot;code&quot;:&quot;\\begin{gather*}\n{\\text{Let's}\\;\\text{split}\\;q_{m\\,}\\text{into}\\;\\text{2D}\\;\\text{pairs}}\\\\\n{q_{m}:\\,\\left[\\left(q_{0},\\,q_{1}\\right),\\,\\left(q_{2},\\,q_{3}\\right),\\,\\left(q_{4},\\,q_{5}\\right)..\\left(\\theta_{2i},\\,\\theta_{2i+1}\\right)\\right]}\\\\\n{\\text{Rotate}\\;\\text{each}\\;\\text{pair}\\;\\text{by}\\;\\text{an}\\;\\text{angle}\\;\\theta_{i}\\left(m\\right)}\\\\\n{\\text{Note}\\;\\text{that}\\;\\text{the}\\;\\text{rotation}\\;\\text{angle}\\;\\text{depends}\\;\\text{on}\\;\\text{both}\\;\\text{coordinate}\\;i\\,\\text{and}\\;\\text{position}\\;\\text{m}}\\\\\n{\\begin{bmatrix}\n{q_{2i}^{\\prime}}\\\\\n{q_{2i+1}^{\\prime}}\\\\\n\\end{bmatrix}=\\begin{bmatrix}\n{\\cos\\left(\\theta_{i}\\left(m\\right)\\right)}&amp;{-\\sin\\left(\\theta_{i}\\left(m\\right)\\right)}\\\\\n{\\sin\\left(\\theta_{i}\\left(m\\right)\\right)}&amp;{\\cos\\left(\\theta_{i}\\left(m\\right)\\right)}\\\\\n\\end{bmatrix}\\begin{bmatrix}\n{q_{2i}}\\\\\n{q_{2i+1}}\\\\\n\\end{bmatrix}}\\\\\n{\\text{Similarly,}\\;\\text{for}\\;k_{n}}\\\\\n{\\begin{bmatrix}\n{k_{2i}^{\\prime}}\\\\\n{k_{2i+1}^{\\prime}}\\\\\n\\end{bmatrix}=\\begin{bmatrix}\n{\\cos\\left(\\theta_{i}\\left(n\\right)\\right)}&amp;{-\\sin\\left(\\theta_{i}\\left(n\\right)\\right)}\\\\\n{\\sin\\left(\\theta_{i}\\left(n\\right)\\right)}&amp;{\\cos\\left(\\theta_{i}\\left(n\\right)\\right)}\\\\\n\\end{bmatrix}\\begin{bmatrix}\n{k_{2i}}\\\\\n{k_{2i+1}}\\\\\n\\end{bmatrix}}\\\\\n{}\\\\\n{}\t\n\\end{gather*}&quot;,&quot;font&quot;:{&quot;color&quot;:&quot;#000000&quot;,&quot;family&quot;:&quot;Arial&quot;,&quot;size&quot;:12},&quot;aid&quot;:null,&quot;backgroundColorModified&quot;:false,&quot;id&quot;:&quot;2&quot;,&quot;backgroundColor&quot;:&quot;#FFFFFF&quot;,&quot;ts&quot;:1773967482172,&quot;cs&quot;:&quot;7XZ/JDEkhB+Lqg4I5tE2kA==&quot;,&quot;size&quot;:{&quot;width&quot;:594.5,&quot;height&quot;:220.5}}" id="186" name="Google Shape;1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550" y="1140425"/>
            <a:ext cx="5662613" cy="2100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\\begin{gather*}\n{\\text{Verify}\\;\\text{that}}\\\\\n{\\begin{bmatrix}\n{q_{2i}^{\\prime}}\\\\\n{q_{2i+1}^{\\prime}}\\\\\n\\end{bmatrix}.\\begin{bmatrix}\n{k_{2i}^{\\prime}}\\\\\n{k_{2i+1}^{\\prime}}\\\\\n\\end{bmatrix}=\\left(q_{2i}k_{2i}+q_{2i+1}k_{2i+1}\\right)\\cos\\left(\\theta_{m}-\\theta_{n}\\right)}\\\\\n{+\\left(q_{2i}k_{2i+1}+q_{2i+1}k_{2i}\\right)sin\\left(\\theta_{m}-\\theta_{n}\\right)}\\\\\n{}\\\\\n{}\t\n\\end{gather*}&quot;,&quot;backgroundColorModified&quot;:false,&quot;type&quot;:&quot;gather*&quot;,&quot;aid&quot;:null,&quot;font&quot;:{&quot;color&quot;:&quot;#000000&quot;,&quot;family&quot;:&quot;Arial&quot;,&quot;size&quot;:12},&quot;id&quot;:&quot;2&quot;,&quot;backgroundColor&quot;:&quot;#FFFFFF&quot;,&quot;ts&quot;:1773967805152,&quot;cs&quot;:&quot;/X9zNYLMirVMSno6pXAPBA==&quot;,&quot;size&quot;:{&quot;width&quot;:412.6666666666667,&quot;height&quot;:95.00000000000004}}" id="187" name="Google Shape;18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5763" y="3745811"/>
            <a:ext cx="393065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 txBox="1"/>
          <p:nvPr/>
        </p:nvSpPr>
        <p:spPr>
          <a:xfrm>
            <a:off x="5937650" y="3162750"/>
            <a:ext cx="294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Notice that the dot product (and therefore attention score) depends on the </a:t>
            </a:r>
            <a:r>
              <a:rPr lang="en" sz="1800">
                <a:solidFill>
                  <a:schemeClr val="dk2"/>
                </a:solidFill>
              </a:rPr>
              <a:t>difference</a:t>
            </a:r>
            <a:r>
              <a:rPr lang="en" sz="1800">
                <a:solidFill>
                  <a:schemeClr val="dk2"/>
                </a:solidFill>
              </a:rPr>
              <a:t> in the angle!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Rotary Positional Embeddings (RoPE)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</a:t>
            </a:r>
            <a:r>
              <a:rPr lang="en"/>
              <a:t> theta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code&quot;:&quot;\\begin{gather*}\n{\\theta_{i}\\left(m\\right)=m\\times100000^{-2i/d}}\\\\\n{\\text{So}\\;\\theta\\,\\text{depends}\\;\\text{both}\\;\\text{on}\\;\\text{position}\\;m\\;\\text{and}\\;\\text{coordinate}\\;i}\t\n\\end{gather*}&quot;,&quot;backgroundColor&quot;:&quot;#FFFFFF&quot;,&quot;type&quot;:&quot;gather*&quot;,&quot;font&quot;:{&quot;family&quot;:&quot;Arial&quot;,&quot;color&quot;:&quot;#595959&quot;,&quot;size&quot;:18},&quot;id&quot;:&quot;3&quot;,&quot;backgroundColorModified&quot;:false,&quot;aid&quot;:null,&quot;ts&quot;:1773969393083,&quot;cs&quot;:&quot;926CuxVhO6VPoaeGMEfqCQ==&quot;,&quot;size&quot;:{&quot;width&quot;:598,&quot;height&quot;:69}}"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625" y="1708350"/>
            <a:ext cx="56959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3"/>
          <p:cNvSpPr txBox="1"/>
          <p:nvPr/>
        </p:nvSpPr>
        <p:spPr>
          <a:xfrm>
            <a:off x="379625" y="2571750"/>
            <a:ext cx="82776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Because of the dependence on coordinate i, different coordinates use different frequencies and aliasing due to periodicity of sin/cos is prevented.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Recall: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Absolute positional embeddings </a:t>
            </a:r>
            <a:r>
              <a:rPr i="1" lang="en" sz="1500">
                <a:solidFill>
                  <a:schemeClr val="dk2"/>
                </a:solidFill>
              </a:rPr>
              <a:t>add </a:t>
            </a:r>
            <a:r>
              <a:rPr lang="en" sz="1500">
                <a:solidFill>
                  <a:schemeClr val="dk2"/>
                </a:solidFill>
              </a:rPr>
              <a:t>positional embeddings. The model needs to learn how to calculate relative positions by itself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RoPE </a:t>
            </a:r>
            <a:r>
              <a:rPr i="1" lang="en" sz="1500">
                <a:solidFill>
                  <a:schemeClr val="dk2"/>
                </a:solidFill>
              </a:rPr>
              <a:t>rotates</a:t>
            </a:r>
            <a:r>
              <a:rPr lang="en" sz="1500">
                <a:solidFill>
                  <a:schemeClr val="dk2"/>
                </a:solidFill>
              </a:rPr>
              <a:t> the K/Q projections by position dependent angles such that the dot product between query and key vectors depends on the position difference.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