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Mon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italic.fntdata"/><Relationship Id="rId25" Type="http://schemas.openxmlformats.org/officeDocument/2006/relationships/font" Target="fonts/RobotoMono-bold.fntdata"/><Relationship Id="rId27"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229b9b3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229b9b3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887823e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887823e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42b73806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42b73806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5cb80699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5cb80699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42b73806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42b73806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41961b8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41961b8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41961b84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941961b84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41961b84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41961b84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41961b84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941961b84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42b73806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42b73806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42b73806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42b73806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942b73806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942b73806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42b73806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42b73806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42b73806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942b73806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43fdd8e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43fdd8e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57f86a12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957f86a12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57f4c9d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57f4c9d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957f86a122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957f86a12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arxiv.org/abs/1502.03167" TargetMode="External"/><Relationship Id="rId4" Type="http://schemas.openxmlformats.org/officeDocument/2006/relationships/hyperlink" Target="https://arxiv.org/abs/1607.06450" TargetMode="External"/><Relationship Id="rId5" Type="http://schemas.openxmlformats.org/officeDocument/2006/relationships/hyperlink" Target="https://arxiv.org/abs/1910.07467" TargetMode="External"/><Relationship Id="rId6" Type="http://schemas.openxmlformats.org/officeDocument/2006/relationships/hyperlink" Target="https://arxiv.org/abs/1512.03385" TargetMode="External"/><Relationship Id="rId7" Type="http://schemas.openxmlformats.org/officeDocument/2006/relationships/hyperlink" Target="https://wandb.ai/authors/tfaugmentation/reports/Modern-Data-Augmentation-Techniques-for-Computer-Vision--VmlldzoxNzU3NTU?" TargetMode="External"/><Relationship Id="rId8" Type="http://schemas.openxmlformats.org/officeDocument/2006/relationships/hyperlink" Target="https://docs.pytorch.org/tutorials/recipes/recipes/amp_recipe.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Neural Architectures:</a:t>
            </a:r>
            <a:endParaRPr/>
          </a:p>
          <a:p>
            <a:pPr indent="0" lvl="0" marL="0" rtl="0" algn="ctr">
              <a:spcBef>
                <a:spcPts val="0"/>
              </a:spcBef>
              <a:spcAft>
                <a:spcPts val="0"/>
              </a:spcAft>
              <a:buNone/>
            </a:pPr>
            <a:r>
              <a:rPr lang="en" sz="2755"/>
              <a:t>Normalization techniques and skip connections</a:t>
            </a:r>
            <a:endParaRPr sz="2755"/>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Introduction to Deep Learning: Class 5.2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 and Pre-read</a:t>
            </a:r>
            <a:endParaRPr/>
          </a:p>
        </p:txBody>
      </p:sp>
      <p:sp>
        <p:nvSpPr>
          <p:cNvPr id="61" name="Google Shape;61;p14"/>
          <p:cNvSpPr txBox="1"/>
          <p:nvPr>
            <p:ph idx="1" type="body"/>
          </p:nvPr>
        </p:nvSpPr>
        <p:spPr>
          <a:xfrm>
            <a:off x="311700" y="1152475"/>
            <a:ext cx="5205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t>Agenda:</a:t>
            </a:r>
            <a:endParaRPr sz="1300"/>
          </a:p>
          <a:p>
            <a:pPr indent="-311150" lvl="0" marL="457200" rtl="0" algn="l">
              <a:spcBef>
                <a:spcPts val="1200"/>
              </a:spcBef>
              <a:spcAft>
                <a:spcPts val="0"/>
              </a:spcAft>
              <a:buSzPts val="1300"/>
              <a:buChar char="-"/>
            </a:pPr>
            <a:r>
              <a:rPr lang="en" sz="1300" u="sng">
                <a:solidFill>
                  <a:schemeClr val="hlink"/>
                </a:solidFill>
                <a:hlinkClick r:id="rId3"/>
              </a:rPr>
              <a:t>Batch</a:t>
            </a:r>
            <a:r>
              <a:rPr lang="en" sz="1300"/>
              <a:t> and </a:t>
            </a:r>
            <a:r>
              <a:rPr lang="en" sz="1300" u="sng">
                <a:solidFill>
                  <a:schemeClr val="hlink"/>
                </a:solidFill>
                <a:hlinkClick r:id="rId4"/>
              </a:rPr>
              <a:t>layer</a:t>
            </a:r>
            <a:r>
              <a:rPr lang="en" sz="1300"/>
              <a:t> normalization</a:t>
            </a:r>
            <a:endParaRPr sz="1300"/>
          </a:p>
          <a:p>
            <a:pPr indent="-311150" lvl="0" marL="457200" rtl="0" algn="l">
              <a:spcBef>
                <a:spcPts val="0"/>
              </a:spcBef>
              <a:spcAft>
                <a:spcPts val="0"/>
              </a:spcAft>
              <a:buSzPts val="1300"/>
              <a:buChar char="-"/>
            </a:pPr>
            <a:r>
              <a:rPr lang="en" sz="1300" u="sng">
                <a:solidFill>
                  <a:schemeClr val="hlink"/>
                </a:solidFill>
                <a:hlinkClick r:id="rId5"/>
              </a:rPr>
              <a:t>RMSNorm</a:t>
            </a:r>
            <a:endParaRPr sz="1300"/>
          </a:p>
          <a:p>
            <a:pPr indent="-311150" lvl="0" marL="457200" rtl="0" algn="l">
              <a:spcBef>
                <a:spcPts val="0"/>
              </a:spcBef>
              <a:spcAft>
                <a:spcPts val="0"/>
              </a:spcAft>
              <a:buSzPts val="1300"/>
              <a:buChar char="-"/>
            </a:pPr>
            <a:r>
              <a:rPr lang="en" sz="1300"/>
              <a:t>Backprop math through batch/layer norm layers</a:t>
            </a:r>
            <a:endParaRPr sz="1300"/>
          </a:p>
          <a:p>
            <a:pPr indent="-311150" lvl="0" marL="457200" rtl="0" algn="l">
              <a:spcBef>
                <a:spcPts val="0"/>
              </a:spcBef>
              <a:spcAft>
                <a:spcPts val="0"/>
              </a:spcAft>
              <a:buSzPts val="1300"/>
              <a:buChar char="-"/>
            </a:pPr>
            <a:r>
              <a:rPr lang="en" sz="1300" u="sng">
                <a:solidFill>
                  <a:schemeClr val="hlink"/>
                </a:solidFill>
                <a:hlinkClick r:id="rId6"/>
              </a:rPr>
              <a:t>Residual learning</a:t>
            </a:r>
            <a:r>
              <a:rPr lang="en" sz="1300"/>
              <a:t> and Resnets</a:t>
            </a:r>
            <a:endParaRPr sz="1300"/>
          </a:p>
          <a:p>
            <a:pPr indent="-311150" lvl="0" marL="457200" rtl="0" algn="l">
              <a:spcBef>
                <a:spcPts val="0"/>
              </a:spcBef>
              <a:spcAft>
                <a:spcPts val="0"/>
              </a:spcAft>
              <a:buSzPts val="1300"/>
              <a:buChar char="-"/>
            </a:pPr>
            <a:r>
              <a:rPr lang="en" sz="1300" u="sng">
                <a:solidFill>
                  <a:schemeClr val="hlink"/>
                </a:solidFill>
                <a:hlinkClick r:id="rId7"/>
              </a:rPr>
              <a:t>Data augmentation techniques</a:t>
            </a:r>
            <a:r>
              <a:rPr lang="en" sz="1300"/>
              <a:t> in computer vision</a:t>
            </a:r>
            <a:endParaRPr sz="1300"/>
          </a:p>
          <a:p>
            <a:pPr indent="-311150" lvl="0" marL="457200" rtl="0" algn="l">
              <a:spcBef>
                <a:spcPts val="0"/>
              </a:spcBef>
              <a:spcAft>
                <a:spcPts val="0"/>
              </a:spcAft>
              <a:buSzPts val="1300"/>
              <a:buChar char="-"/>
            </a:pPr>
            <a:r>
              <a:rPr lang="en" sz="1300"/>
              <a:t>Training a Resnet on Cifar 10 with/out Batch norm and Residual connections</a:t>
            </a:r>
            <a:endParaRPr sz="1300"/>
          </a:p>
          <a:p>
            <a:pPr indent="-311150" lvl="0" marL="457200" rtl="0" algn="l">
              <a:spcBef>
                <a:spcPts val="0"/>
              </a:spcBef>
              <a:spcAft>
                <a:spcPts val="0"/>
              </a:spcAft>
              <a:buSzPts val="1300"/>
              <a:buChar char="-"/>
            </a:pPr>
            <a:r>
              <a:rPr lang="en" sz="1300" u="sng">
                <a:solidFill>
                  <a:schemeClr val="hlink"/>
                </a:solidFill>
                <a:hlinkClick r:id="rId8"/>
              </a:rPr>
              <a:t>Forward and backward pass in low precision</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Batch and Layer normalization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Normalization layers help optimization (make training easier/faster/more stable). </a:t>
            </a:r>
            <a:endParaRPr/>
          </a:p>
          <a:p>
            <a:pPr indent="0" lvl="0" marL="0" rtl="0" algn="l">
              <a:spcBef>
                <a:spcPts val="1200"/>
              </a:spcBef>
              <a:spcAft>
                <a:spcPts val="0"/>
              </a:spcAft>
              <a:buNone/>
            </a:pPr>
            <a:r>
              <a:rPr lang="en"/>
              <a:t>During training, the distribution of activations inside a network can drift. This can cause saturated non-linearities (tiny gradients), sensitivity to learning rate, slow and unstable convergence. </a:t>
            </a:r>
            <a:endParaRPr/>
          </a:p>
          <a:p>
            <a:pPr indent="0" lvl="0" marL="0" rtl="0" algn="l">
              <a:spcBef>
                <a:spcPts val="1200"/>
              </a:spcBef>
              <a:spcAft>
                <a:spcPts val="0"/>
              </a:spcAft>
              <a:buNone/>
            </a:pPr>
            <a:r>
              <a:rPr lang="en"/>
              <a:t>By keeping activations roughly zero-mean/unit-variance, normalization reduces exploding/vanishing behavior and makes learning less sensitive to scale.</a:t>
            </a:r>
            <a:endParaRPr/>
          </a:p>
          <a:p>
            <a:pPr indent="0" lvl="0" marL="0" rtl="0" algn="l">
              <a:spcBef>
                <a:spcPts val="1200"/>
              </a:spcBef>
              <a:spcAft>
                <a:spcPts val="1200"/>
              </a:spcAft>
              <a:buNone/>
            </a:pPr>
            <a:r>
              <a:rPr lang="en"/>
              <a:t>With learnable lambda and beta, the model can still represent what it needs.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GPT 20b OSS Model</a:t>
            </a:r>
            <a:endParaRPr/>
          </a:p>
        </p:txBody>
      </p:sp>
      <p:pic>
        <p:nvPicPr>
          <p:cNvPr id="73" name="Google Shape;73;p16"/>
          <p:cNvPicPr preferRelativeResize="0"/>
          <p:nvPr/>
        </p:nvPicPr>
        <p:blipFill>
          <a:blip r:embed="rId3">
            <a:alphaModFix/>
          </a:blip>
          <a:stretch>
            <a:fillRect/>
          </a:stretch>
        </p:blipFill>
        <p:spPr>
          <a:xfrm>
            <a:off x="152400" y="1170125"/>
            <a:ext cx="4006201" cy="3820974"/>
          </a:xfrm>
          <a:prstGeom prst="rect">
            <a:avLst/>
          </a:prstGeom>
          <a:noFill/>
          <a:ln>
            <a:noFill/>
          </a:ln>
        </p:spPr>
      </p:pic>
      <p:sp>
        <p:nvSpPr>
          <p:cNvPr id="74" name="Google Shape;74;p16"/>
          <p:cNvSpPr txBox="1"/>
          <p:nvPr/>
        </p:nvSpPr>
        <p:spPr>
          <a:xfrm>
            <a:off x="1255875" y="2682550"/>
            <a:ext cx="720300" cy="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75" name="Google Shape;75;p16"/>
          <p:cNvSpPr/>
          <p:nvPr/>
        </p:nvSpPr>
        <p:spPr>
          <a:xfrm>
            <a:off x="1209700" y="2641000"/>
            <a:ext cx="766500" cy="2817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6"/>
          <p:cNvSpPr/>
          <p:nvPr/>
        </p:nvSpPr>
        <p:spPr>
          <a:xfrm>
            <a:off x="1209700" y="3435175"/>
            <a:ext cx="766500" cy="2817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Batch and Layer normalization</a:t>
            </a:r>
            <a:endParaRPr/>
          </a:p>
        </p:txBody>
      </p:sp>
      <p:pic>
        <p:nvPicPr>
          <p:cNvPr descr="{&quot;backgroundColorModified&quot;:false,&quot;type&quot;:&quot;gather*&quot;,&quot;backgroundColor&quot;:&quot;#FFFFFF&quot;,&quot;font&quot;:{&quot;color&quot;:&quot;#595959&quot;,&quot;size&quot;:11,&quot;family&quot;:&quot;Arial&quot;},&quot;id&quot;:&quot;8&quot;,&quot;code&quot;:&quot;\\begin{gather*}\n{\\text{Let}\\;\\text{the}\\;\\text{activations}\\;x\\,\\text{be}\\;\\text{a}\\;\\text{tensor:}}\\\\\n{MLP:B\\times D\\,\\left(\\text{batch,}\\;\\text{features}\\right)}\\\\\n{CNN:\\,\\,B\\times C\\times H\\times W\\,\\left(\\text{batch,}\\;\\text{channel,}\\;\\text{height,}\\;\\text{width}\\right)}\\\\\n{\\text{Transformer:}\\;B\\times T\\times H\\,\\left(\\text{batch,}\\;\\text{tokens,}\\;\\text{hidden}\\right)}\\\\\n{\\text{Normalize:}}\\\\\n{\\text{Norm(}x\\text{)=}\\lambda\\frac{x-\\mu}{{\\sqrt[]{\\sigma^{2}+\\epsilon}}}+\\beta}\\\\\n{\\lambda,\\,\\beta\\,\\text{are}\\;\\text{learned}\\;\\text{parameters}}\\\\\n{\\text{The}\\;\\text{statistics}\\;\\mu\\,\\text{and}\\;\\sigma\\,\\text{are}\\;\\text{calculated}\\;\\text{over}\\;\\text{different}\\;\\text{dimensions}\\;\\text{in}\\;\\text{}}\\\\\n{\\text{batch}\\;\\text{vs.}\\;\\text{layer}\\;\\text{normalization}}\t\n\\end{gather*}&quot;,&quot;aid&quot;:null,&quot;ts&quot;:1771804922083,&quot;cs&quot;:&quot;eA/5/pYizsvcq+RUJ903Sw==&quot;,&quot;size&quot;:{&quot;width&quot;:497.5513078740158,&quot;height&quot;:225.6955419947507}}" id="82" name="Google Shape;82;p17"/>
          <p:cNvPicPr preferRelativeResize="0"/>
          <p:nvPr/>
        </p:nvPicPr>
        <p:blipFill>
          <a:blip r:embed="rId3">
            <a:alphaModFix/>
          </a:blip>
          <a:stretch>
            <a:fillRect/>
          </a:stretch>
        </p:blipFill>
        <p:spPr>
          <a:xfrm>
            <a:off x="483145" y="1334225"/>
            <a:ext cx="4739176" cy="2149750"/>
          </a:xfrm>
          <a:prstGeom prst="rect">
            <a:avLst/>
          </a:prstGeom>
          <a:noFill/>
          <a:ln>
            <a:noFill/>
          </a:ln>
        </p:spPr>
      </p:pic>
      <p:sp>
        <p:nvSpPr>
          <p:cNvPr id="83" name="Google Shape;83;p17"/>
          <p:cNvSpPr/>
          <p:nvPr/>
        </p:nvSpPr>
        <p:spPr>
          <a:xfrm>
            <a:off x="796500" y="3727700"/>
            <a:ext cx="2891400" cy="129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7"/>
          <p:cNvSpPr/>
          <p:nvPr/>
        </p:nvSpPr>
        <p:spPr>
          <a:xfrm>
            <a:off x="1011575" y="3958675"/>
            <a:ext cx="1003500" cy="828300"/>
          </a:xfrm>
          <a:prstGeom prst="roundRect">
            <a:avLst>
              <a:gd fmla="val 16667" name="adj"/>
            </a:avLst>
          </a:prstGeom>
          <a:solidFill>
            <a:srgbClr val="9FC5E8"/>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Linear</a:t>
            </a:r>
            <a:endParaRPr/>
          </a:p>
        </p:txBody>
      </p:sp>
      <p:sp>
        <p:nvSpPr>
          <p:cNvPr id="85" name="Google Shape;85;p17"/>
          <p:cNvSpPr/>
          <p:nvPr/>
        </p:nvSpPr>
        <p:spPr>
          <a:xfrm>
            <a:off x="2414500" y="3958675"/>
            <a:ext cx="1050300" cy="828300"/>
          </a:xfrm>
          <a:prstGeom prst="roundRect">
            <a:avLst>
              <a:gd fmla="val 16667" name="adj"/>
            </a:avLst>
          </a:prstGeom>
          <a:solidFill>
            <a:srgbClr val="9FC5E8"/>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Activation</a:t>
            </a:r>
            <a:endParaRPr/>
          </a:p>
        </p:txBody>
      </p:sp>
      <p:sp>
        <p:nvSpPr>
          <p:cNvPr id="86" name="Google Shape;86;p17"/>
          <p:cNvSpPr/>
          <p:nvPr/>
        </p:nvSpPr>
        <p:spPr>
          <a:xfrm>
            <a:off x="4581000" y="3727700"/>
            <a:ext cx="3870000" cy="129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p:nvPr/>
        </p:nvSpPr>
        <p:spPr>
          <a:xfrm>
            <a:off x="4843977" y="3958675"/>
            <a:ext cx="1003500" cy="828300"/>
          </a:xfrm>
          <a:prstGeom prst="roundRect">
            <a:avLst>
              <a:gd fmla="val 16667" name="adj"/>
            </a:avLst>
          </a:prstGeom>
          <a:solidFill>
            <a:srgbClr val="9FC5E8"/>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Linear</a:t>
            </a:r>
            <a:endParaRPr/>
          </a:p>
        </p:txBody>
      </p:sp>
      <p:sp>
        <p:nvSpPr>
          <p:cNvPr id="88" name="Google Shape;88;p17"/>
          <p:cNvSpPr/>
          <p:nvPr/>
        </p:nvSpPr>
        <p:spPr>
          <a:xfrm>
            <a:off x="7104899" y="3958675"/>
            <a:ext cx="1185000" cy="828300"/>
          </a:xfrm>
          <a:prstGeom prst="roundRect">
            <a:avLst>
              <a:gd fmla="val 16667" name="adj"/>
            </a:avLst>
          </a:prstGeom>
          <a:solidFill>
            <a:srgbClr val="9FC5E8"/>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Activation</a:t>
            </a:r>
            <a:endParaRPr/>
          </a:p>
        </p:txBody>
      </p:sp>
      <p:sp>
        <p:nvSpPr>
          <p:cNvPr id="89" name="Google Shape;89;p17"/>
          <p:cNvSpPr/>
          <p:nvPr/>
        </p:nvSpPr>
        <p:spPr>
          <a:xfrm>
            <a:off x="6106275" y="3958675"/>
            <a:ext cx="739800" cy="828300"/>
          </a:xfrm>
          <a:prstGeom prst="roundRect">
            <a:avLst>
              <a:gd fmla="val 16667" name="adj"/>
            </a:avLst>
          </a:prstGeom>
          <a:solidFill>
            <a:srgbClr val="9FC5E8"/>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Norm</a:t>
            </a:r>
            <a:endParaRPr/>
          </a:p>
        </p:txBody>
      </p:sp>
      <p:cxnSp>
        <p:nvCxnSpPr>
          <p:cNvPr id="90" name="Google Shape;90;p17"/>
          <p:cNvCxnSpPr>
            <a:stCxn id="84" idx="3"/>
            <a:endCxn id="85" idx="1"/>
          </p:cNvCxnSpPr>
          <p:nvPr/>
        </p:nvCxnSpPr>
        <p:spPr>
          <a:xfrm>
            <a:off x="2015075" y="4372825"/>
            <a:ext cx="399300" cy="0"/>
          </a:xfrm>
          <a:prstGeom prst="straightConnector1">
            <a:avLst/>
          </a:prstGeom>
          <a:noFill/>
          <a:ln cap="flat" cmpd="sng" w="9525">
            <a:solidFill>
              <a:schemeClr val="dk2"/>
            </a:solidFill>
            <a:prstDash val="solid"/>
            <a:round/>
            <a:headEnd len="med" w="med" type="none"/>
            <a:tailEnd len="med" w="med" type="triangle"/>
          </a:ln>
        </p:spPr>
      </p:cxnSp>
      <p:cxnSp>
        <p:nvCxnSpPr>
          <p:cNvPr id="91" name="Google Shape;91;p17"/>
          <p:cNvCxnSpPr>
            <a:endCxn id="89" idx="1"/>
          </p:cNvCxnSpPr>
          <p:nvPr/>
        </p:nvCxnSpPr>
        <p:spPr>
          <a:xfrm>
            <a:off x="5847375" y="4372825"/>
            <a:ext cx="258900" cy="0"/>
          </a:xfrm>
          <a:prstGeom prst="straightConnector1">
            <a:avLst/>
          </a:prstGeom>
          <a:noFill/>
          <a:ln cap="flat" cmpd="sng" w="9525">
            <a:solidFill>
              <a:schemeClr val="dk2"/>
            </a:solidFill>
            <a:prstDash val="solid"/>
            <a:round/>
            <a:headEnd len="med" w="med" type="none"/>
            <a:tailEnd len="med" w="med" type="triangle"/>
          </a:ln>
        </p:spPr>
      </p:cxnSp>
      <p:cxnSp>
        <p:nvCxnSpPr>
          <p:cNvPr id="92" name="Google Shape;92;p17"/>
          <p:cNvCxnSpPr/>
          <p:nvPr/>
        </p:nvCxnSpPr>
        <p:spPr>
          <a:xfrm>
            <a:off x="6846075" y="4372825"/>
            <a:ext cx="258900" cy="0"/>
          </a:xfrm>
          <a:prstGeom prst="straightConnector1">
            <a:avLst/>
          </a:prstGeom>
          <a:noFill/>
          <a:ln cap="flat" cmpd="sng" w="9525">
            <a:solidFill>
              <a:schemeClr val="dk2"/>
            </a:solidFill>
            <a:prstDash val="solid"/>
            <a:round/>
            <a:headEnd len="med" w="med" type="none"/>
            <a:tailEnd len="med" w="med" type="triangle"/>
          </a:ln>
        </p:spPr>
      </p:cxnSp>
      <p:sp>
        <p:nvSpPr>
          <p:cNvPr id="93" name="Google Shape;93;p17"/>
          <p:cNvSpPr/>
          <p:nvPr/>
        </p:nvSpPr>
        <p:spPr>
          <a:xfrm>
            <a:off x="3847175" y="4197650"/>
            <a:ext cx="558000" cy="326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Batch Normalization</a:t>
            </a:r>
            <a:endParaRPr/>
          </a:p>
        </p:txBody>
      </p:sp>
      <p:pic>
        <p:nvPicPr>
          <p:cNvPr descr="{&quot;code&quot;:&quot;\\begin{gather*}\n{\\text{We}\\;\\text{hav}\\text{e}\\;\\text{a}\\;\\text{batch}\\;\\text{(size}\\;\\text{B)}\\;\\text{of}\\;\\text{D}\\;\\text{dimensional}\\;\\text{features}\\;\\text{}\\;\\text{}}\\\\\n{\\text{Define}\\;\\text{feature}\\;\\text{vector}\\;\\text{for}\\;\\text{feature}\\;\\text{d}\\;\\text{(B}\\;\\text{dim}\\;\\text{vector}\\;\\text{across}\\;\\text{the}\\;\\text{batch)}}\\\\\n{x_{d}:\\,\\left[x_{1d},\\,x_{2d},\\,...\\,x_{Bd}\\right]}\\\\\n{\\text{We}\\;\\text{calculate}\\;\\text{batch}\\;\\text{statistics}\\;\\text{independently}\\;\\text{along}\\;\\text{each}\\;\\text{dimension}}\\\\\n{\\mu_{d}=\\frac{1}{B}\\sum_{i=1}^{B}x_{id}}\\\\\n{\\sigma_{d}^{2}=\\frac{1}{B}\\sum_{i=1}^{B}\\left(x_{id}-\\mu_{d}\\right)^{2}}\\\\\n{s_{d}={\\sqrt[]{\\sigma_{d}^{2}+\\epsilon}}}\\\\\n{\\text{Then}\\;\\text{the}\\;\\text{normalized}\\;\\text{feature}\\;\\text{vector}\\;\\text{is:}}\\\\\n{y_{d}=\\lambda_{d}\\frac{x_{d}-\\mu_{d}}{s_{d}}+\\beta_{d}}\\\\\n{\\text{Here}\\;\\lambda _{d}\\,\\text{and}\\;\\beta_{d}\\,\\text{are}\\;\\text{per}\\;\\text{feature}\\;\\text{learnable}\\;\\text{parameters}.\\,\\,}\\\\\n{x_{d}\\,\\text{is}\\;\\text{a}\\;\\text{vector}\\;\\text{along}\\;\\text{the}\\;\\text{batch}\\;\\text{dimension}\\;\\text{and}\\;\\mu_{d}\\,\\text{and}\\;s_{d}\\,\\text{are}\\;\\text{scalars}}\\\\\n{\\text{For}\\;\\text{the}\\;\\text{full}\\;\\text{batch}\\;\\text{of}\\;\\text{features,}\\;\\mu,\\,\\sigma^{2},\\,\\lambda,\\,\\beta\\,\\text{are}\\;\\text{D}\\;\\text{dimensional}\\;\\text{vectors.}\\;\\text{}}\\\\\n{\\text{We'll}\\;\\text{consider}\\;\\text{a}\\;\\text{single}\\;\\text{dimension}\\;\\text{of}\\;\\text{the}\\;\\text{features},\\,\\text{which}\\;\\text{is}\\;\\text{a}\\;\\text{vector}\\;\\text{along}\\;\\text{the}\\;\\text{batch}\\;\\text{dimension}}\t\n\\end{gather*}&quot;,&quot;backgroundColorModified&quot;:false,&quot;aid&quot;:null,&quot;id&quot;:&quot;3&quot;,&quot;type&quot;:&quot;gather*&quot;,&quot;backgroundColor&quot;:&quot;#FFFFFF&quot;,&quot;font&quot;:{&quot;family&quot;:&quot;Arial&quot;,&quot;color&quot;:&quot;#000000&quot;,&quot;size&quot;:9},&quot;ts&quot;:1771786872801,&quot;cs&quot;:&quot;Y5cfXNsmWVQT2CcqRqdAZA==&quot;,&quot;size&quot;:{&quot;width&quot;:578.8713086614174,&quot;height&quot;:324.7428430446194}}" id="99" name="Google Shape;99;p18"/>
          <p:cNvPicPr preferRelativeResize="0"/>
          <p:nvPr/>
        </p:nvPicPr>
        <p:blipFill>
          <a:blip r:embed="rId3">
            <a:alphaModFix/>
          </a:blip>
          <a:stretch>
            <a:fillRect/>
          </a:stretch>
        </p:blipFill>
        <p:spPr>
          <a:xfrm>
            <a:off x="470075" y="1100849"/>
            <a:ext cx="5513749" cy="3093176"/>
          </a:xfrm>
          <a:prstGeom prst="rect">
            <a:avLst/>
          </a:prstGeom>
          <a:noFill/>
          <a:ln>
            <a:noFill/>
          </a:ln>
        </p:spPr>
      </p:pic>
      <p:pic>
        <p:nvPicPr>
          <p:cNvPr descr="{&quot;type&quot;:&quot;gather*&quot;,&quot;aid&quot;:null,&quot;id&quot;:&quot;9&quot;,&quot;backgroundColor&quot;:&quot;#FFFFFF&quot;,&quot;code&quot;:&quot;\\begin{gather*}\n{\\text{For}\\;\\text{CNN,}\\;\\text{we}\\;\\text{average}\\;\\text{over}\\;\\text{B,}\\;\\text{H,}\\;\\text{W}}\\\\\n{\\mu_{c}=\\frac{1}{BHW}\\sum_{b,h,w}^{}x_{b,h,w}}\t\n\\end{gather*}&quot;,&quot;font&quot;:{&quot;color&quot;:&quot;#000000&quot;,&quot;family&quot;:&quot;Arial&quot;,&quot;size&quot;:9},&quot;backgroundColorModified&quot;:false,&quot;ts&quot;:1771787168096,&quot;cs&quot;:&quot;EIo/+XcvpKdlvV4PO8sDFw==&quot;,&quot;size&quot;:{&quot;width&quot;:216,&quot;height&quot;:54.333333333333336}}" id="100" name="Google Shape;100;p18"/>
          <p:cNvPicPr preferRelativeResize="0"/>
          <p:nvPr/>
        </p:nvPicPr>
        <p:blipFill>
          <a:blip r:embed="rId4">
            <a:alphaModFix/>
          </a:blip>
          <a:stretch>
            <a:fillRect/>
          </a:stretch>
        </p:blipFill>
        <p:spPr>
          <a:xfrm>
            <a:off x="5983825" y="1017725"/>
            <a:ext cx="2057400" cy="517525"/>
          </a:xfrm>
          <a:prstGeom prst="rect">
            <a:avLst/>
          </a:prstGeom>
          <a:noFill/>
          <a:ln>
            <a:noFill/>
          </a:ln>
        </p:spPr>
      </p:pic>
      <p:sp>
        <p:nvSpPr>
          <p:cNvPr id="101" name="Google Shape;101;p18"/>
          <p:cNvSpPr txBox="1"/>
          <p:nvPr/>
        </p:nvSpPr>
        <p:spPr>
          <a:xfrm>
            <a:off x="5575600" y="1911650"/>
            <a:ext cx="33054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During inference, we typically don’t have a batch.. So we use running averages for mu and sigma calculated during training. These are saved along the model parameters</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Batch normalization: Calculating gradients</a:t>
            </a:r>
            <a:endParaRPr/>
          </a:p>
        </p:txBody>
      </p:sp>
      <p:pic>
        <p:nvPicPr>
          <p:cNvPr descr="{&quot;font&quot;:{&quot;color&quot;:&quot;#000000&quot;,&quot;size&quot;:8,&quot;family&quot;:&quot;Arial&quot;},&quot;type&quot;:&quot;gather*&quot;,&quot;backgroundColorModified&quot;:false,&quot;backgroundColor&quot;:&quot;#FFFFFF&quot;,&quot;aid&quot;:null,&quot;id&quot;:&quot;5&quot;,&quot;code&quot;:&quot;\\begin{gather*}\n{\\text{We}\\;\\text{need}\\;\\text{to}\\;\\text{calculate}\\;\\text{gradient}\\;\\text{of}\\;\\text{the}\\;\\text{loss}\\;\\text{L}\\;\\text{wrt}\\;\\lambda,\\,\\beta\\,\\text{and}\\;x\\text{}}\\\\\n{\\text{In}\\;\\text{the}\\;\\text{batch}\\;\\text{normalization}\\;\\text{transformation,}\\;\\text{the}\\;\\text{feature}\\;\\text{dimensions}\\;\\text{don't}\\;\\text{interact}\\;\\text{with}\\;\\text{each}\\;\\text{other}}\\\\\n{\\text{as}\\;\\text{the}\\;\\text{statistics}\\;\\text{are}\\;\\text{calculated}\\;\\text{across}\\;\\text{the}\\;\\text{batch.}\\;\\text{So}\\;\\text{it}\\;\\text{is}\\;\\text{suficient}\\;\\text{to}\\;\\text{consider}\\;\\text{any}\\;\\text{component}\\;\\text{of}\\;x}\\\\\n{\\text{Let's}\\;\\text{this}\\;\\text{component}\\;\\text{by}\\;\\text{d.}\\;\\text{}}\\\\\n{x_{i}:i^{th\\,}\\text{batch}\\;\\text{element}\\;\\text{of}\\;\\text{the}\\;d^{th}\\,\\text{feature}}\\\\\n{\\mu,\\,\\sigma:\\,\\text{Batch}\\;\\text{statistics}\\;\\text{for}\\;\\text{the}\\;d^{th}\\,\\text{feature,}\\;\\text{dropping}\\;\\text{the}\\;\\text{subscript}\\;\\text{d}\\;\\text{for}\\;\\text{convenience}}\\\\\n{\\lambda,\\,\\beta:\\,\\text{Learnable}\\;\\text{params}\\;\\text{for}\\;\\text{the}\\;d^{th}\\,\\text{feature,}\\;\\text{dropping}\\;\\text{the}\\;\\text{subscript}\\;\\text{d}\\;\\text{for}\\;\\text{convenience}}\\\\\n{\\text{Assume}\\;\\text{upstream}\\;\\text{gradient}\\;\\text{from}\\;\\text{loss}\\;\\text{L}\\;\\text{is}}\\\\\n{g_{i}\\::=\\pdf{L}{y_{i}},\\,i:\\,i^{th}\\,\\text{batch}\\;\\text{element}\\;\\text{of}\\;\\text{the}\\;d^{th}\\,\\text{feature}}\\\\\n{\\text{Let's}\\;\\text{first}\\;\\text{calculate}\\;\\pdf{L}{\\lambda}\\,\\text{and}\\;\\pdf{L}{\\beta}}\\\\\n{\\text{Since}\\;\\text{L}\\;\\text{depends}\\;\\text{on}\\;\\lambda\\,\\text{and}\\;\\beta\\text{through}\\;\\text{all}\\;\\text{the}\\;y_{i},\\,i:\\left[1,2,...,B\\right]}\\\\\n{\\pdf{L}{\\lambda}=\\sum_{i=1}^{B}\\pdf{L}{y_{i}}\\pdf{y_{i}}{\\lambda}}\\\\\n{\\text{Since}}\\\\\n{y_{i}=\\lambda\\frac{x_{i}-\\mu}{s}+\\beta}\\\\\n{\\pdf{y_{i}}{\\lambda}=\\frac{x_{i}-\\mu}{s}\\,\\text{and}\\;\\pdf{y_{i}}{\\beta}=1}\\\\\n{\\text{So}}\\\\\n{\\pdf{L}{\\lambda}=\\sum_{i=1}^{B}g_{i}\\frac{x_{i}-\\mu}{s}\\,\\text{and}\\;\\pdf{L}{\\beta}=\\sum_{i=1}^{B}g_{i}}\t\n\\end{gather*}&quot;,&quot;ts&quot;:1771701061330,&quot;cs&quot;:&quot;0WX8vCcrBrv39x9bcvytow==&quot;,&quot;size&quot;:{&quot;width&quot;:524,&quot;height&quot;:385.5}}" id="107" name="Google Shape;107;p19"/>
          <p:cNvPicPr preferRelativeResize="0"/>
          <p:nvPr/>
        </p:nvPicPr>
        <p:blipFill>
          <a:blip r:embed="rId3">
            <a:alphaModFix/>
          </a:blip>
          <a:stretch>
            <a:fillRect/>
          </a:stretch>
        </p:blipFill>
        <p:spPr>
          <a:xfrm>
            <a:off x="705175" y="1205050"/>
            <a:ext cx="4991100" cy="36718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Batch normalization: Calculating gradients</a:t>
            </a:r>
            <a:endParaRPr/>
          </a:p>
          <a:p>
            <a:pPr indent="0" lvl="0" marL="0" rtl="0" algn="l">
              <a:spcBef>
                <a:spcPts val="0"/>
              </a:spcBef>
              <a:spcAft>
                <a:spcPts val="0"/>
              </a:spcAft>
              <a:buNone/>
            </a:pPr>
            <a:r>
              <a:t/>
            </a:r>
            <a:endParaRPr/>
          </a:p>
        </p:txBody>
      </p:sp>
      <p:pic>
        <p:nvPicPr>
          <p:cNvPr descr="{&quot;id&quot;:&quot;4&quot;,&quot;backgroundColorModified&quot;:false,&quot;type&quot;:&quot;gather*&quot;,&quot;font&quot;:{&quot;family&quot;:&quot;Arial&quot;,&quot;size&quot;:12,&quot;color&quot;:&quot;#000000&quot;},&quot;code&quot;:&quot;\\begin{gather*}\n{\\text{Now}\\;\\text{let's}\\;\\text{calculate}\\;\\text{gradient}\\;\\text{of}\\;\\text{L}\\;\\text{wrt}\\;x_{i}}\\\\\n{\\text{As}\\;\\text{before,}\\;x_{i\\,}\\text{affects}\\;\\text{L}\\;\\text{through}\\;\\text{all}\\;\\text{the}\\;y_{j}}\\\\\n{\\pdf{L}{x_{i}}=\\sum_{j=1}^{B}g_{j}\\pdf{y_{j}}{x_{i}}}\\\\\n{\\text{By}\\;\\text{definition,}}\\\\\n{y_{i}=\\lambda\\frac{x_{i}-\\mu}{s}+\\beta}\\\\\n{\\text{Notice}\\;\\text{that}\\;\\text{because}\\;\\mu=f\\left(x_{i}\\right)\\,\\text{and}\\;s=g\\left(x_{i},\\,\\mu\\right)\\text{,}\\;}\\\\\n{\\text{All}\\;y_{j}\\,\\text{are}\\;\\text{affected}\\;\\text{by}\\;x_{i}\\,,\\,j:1:B}\\\\\n{\\text{From}\\;\\text{chain}\\;\\text{rule:}}\\\\\n{\\pdf{y_{j}}{x_{i}}=\\lambda\\left[\\frac{\\left(\\pdf{x_{j}}{x_{i}}-\\pdf{\\mu}{x_{i}}\\right)-\\pdf{s}{x_{i}}}{s^{2}}\\right]}\t\n\\end{gather*}&quot;,&quot;aid&quot;:null,&quot;backgroundColor&quot;:&quot;#FFFFFF&quot;,&quot;ts&quot;:1772801431345,&quot;cs&quot;:&quot;ekzdWxPFiHXOSot4P2xN8g==&quot;,&quot;size&quot;:{&quot;width&quot;:389.3333333333333,&quot;height&quot;:328.3333333333333}}" id="113" name="Google Shape;113;p20"/>
          <p:cNvPicPr preferRelativeResize="0"/>
          <p:nvPr/>
        </p:nvPicPr>
        <p:blipFill>
          <a:blip r:embed="rId3">
            <a:alphaModFix/>
          </a:blip>
          <a:stretch>
            <a:fillRect/>
          </a:stretch>
        </p:blipFill>
        <p:spPr>
          <a:xfrm>
            <a:off x="364944" y="1297501"/>
            <a:ext cx="3708400" cy="3127375"/>
          </a:xfrm>
          <a:prstGeom prst="rect">
            <a:avLst/>
          </a:prstGeom>
          <a:noFill/>
          <a:ln>
            <a:noFill/>
          </a:ln>
        </p:spPr>
      </p:pic>
      <p:sp>
        <p:nvSpPr>
          <p:cNvPr id="114" name="Google Shape;114;p20"/>
          <p:cNvSpPr txBox="1"/>
          <p:nvPr/>
        </p:nvSpPr>
        <p:spPr>
          <a:xfrm>
            <a:off x="50800" y="47649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derivative_mu_std.py</a:t>
            </a:r>
            <a:endParaRPr sz="1000">
              <a:solidFill>
                <a:srgbClr val="BCBEC4"/>
              </a:solidFill>
              <a:highlight>
                <a:srgbClr val="1E1F22"/>
              </a:highlight>
            </a:endParaRPr>
          </a:p>
        </p:txBody>
      </p:sp>
      <p:pic>
        <p:nvPicPr>
          <p:cNvPr descr="{&quot;type&quot;:&quot;gather*&quot;,&quot;font&quot;:{&quot;family&quot;:&quot;Arial&quot;,&quot;size&quot;:12,&quot;color&quot;:&quot;#000000&quot;},&quot;backgroundColor&quot;:&quot;#FFFFFF&quot;,&quot;backgroundColorModified&quot;:false,&quot;aid&quot;:null,&quot;id&quot;:&quot;4&quot;,&quot;code&quot;:&quot;\\begin{gather*}\n{\\text{Now}\\;\\text{let's}\\;\\text{calculate}\\;\\text{gradient}\\;\\text{of}\\;\\mu\\,\\text{and}\\;s\\;\\text{wrt}\\;x_{i}}\\\\\n{\\mu=1/B\\sum_{i=1}^{B}x_{i},\\,\\text{so}\\;\\pdf{\\mu}{x_{i}}=1/B}\\\\\n{s=\\left(\\sum_{i=1}^{B}\\frac{\\left(x_{i}-\\mu\\right)^{2}}{B}+\\epsilon\\right)^{1/2}}\\\\\n{\\pdf{s}{x_{i}}=\\frac{1}{2s}\\left(2/B\\sum_{j=1}^{B}\\left(x_{j}-\\mu\\right)\\pdf{\\left(x_{j}-\\mu\\right)}{x_{i}}\\right)}\\\\\n{\\text{split}\\;\\text{the}\\;\\text{sum}\\;\\text{into}\\;\\text{j=i}\\;\\text{and}\\;j\\neq i}\\\\\n{\\pdf{s}{x_{i}}=\\frac{1}{Bs}\\left(\\sum_{j=1,\\,j\\neq i}^{B}\\frac{\\left(x_{j}-\\mu\\right)}{B}+\\left(x_{i}-\\mu\\right)\\left(1-1/B\\right)\\right)}\\\\\n{=\\frac{1}{Bs}\\left(\\sum_{j=1,\\,j\\neq i}^{B}\\frac{-\\left(x_{j}-\\mu\\right)}{B}+\\left(x_{i}-\\mu\\right)\\left(1-1/B\\right)\\right)}\\\\\n{\\text{With}\\;\\text{some}\\;\\text{algebra,}\\;\\text{this}\\;\\text{simplifies}\\;\\text{to:}}\\\\\n{\\frac{\\left(x_{i}-\\mu\\right)}{Bs}}\t\n\\end{gather*}&quot;,&quot;ts&quot;:1772801397837,&quot;cs&quot;:&quot;SIXnbxpQHytwJncDEG43xg==&quot;,&quot;size&quot;:{&quot;width&quot;:415,&quot;height&quot;:433.3333333333333}}" id="115" name="Google Shape;115;p20"/>
          <p:cNvPicPr preferRelativeResize="0"/>
          <p:nvPr/>
        </p:nvPicPr>
        <p:blipFill>
          <a:blip r:embed="rId4">
            <a:alphaModFix/>
          </a:blip>
          <a:stretch>
            <a:fillRect/>
          </a:stretch>
        </p:blipFill>
        <p:spPr>
          <a:xfrm>
            <a:off x="4985150" y="1017725"/>
            <a:ext cx="3819725" cy="3988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Batch normalization: Calculating gradients</a:t>
            </a:r>
            <a:endParaRPr/>
          </a:p>
          <a:p>
            <a:pPr indent="0" lvl="0" marL="0" rtl="0" algn="l">
              <a:spcBef>
                <a:spcPts val="0"/>
              </a:spcBef>
              <a:spcAft>
                <a:spcPts val="0"/>
              </a:spcAft>
              <a:buNone/>
            </a:pPr>
            <a:r>
              <a:t/>
            </a:r>
            <a:endParaRPr/>
          </a:p>
        </p:txBody>
      </p:sp>
      <p:pic>
        <p:nvPicPr>
          <p:cNvPr descr="{&quot;id&quot;:&quot;4&quot;,&quot;backgroundColor&quot;:&quot;#FFFFFF&quot;,&quot;backgroundColorModified&quot;:false,&quot;font&quot;:{&quot;color&quot;:&quot;#000000&quot;,&quot;family&quot;:&quot;Arial&quot;,&quot;size&quot;:10},&quot;aid&quot;:null,&quot;type&quot;:&quot;gather*&quot;,&quot;code&quot;:&quot;\\begin{gather*}\n{\\pdf{L}{x_{i}}=\\sum_{j=1}^{B}\\pdf{L}{y_{j}}\\pdf{y_{j}}{x_{i}}}\\\\\n{\\text{Let}\\;g_{j}=\\pdf{L}{y_{j}}}\\\\\n{\\pdf{L}{x_{i}}=\\frac{\\lambda}{Bs}\\left(g_{i}\\left(B-1\\right)-\\frac{\\left(x_{i}-1\\right)\\left(x_{i}-1\\right)g_{i}}{s^{2}}+\\sum_{j\\neq i}^{}g_{j}\\left(-1-\\frac{\\left(x_{i}-\\mu\\right)\\left(x_{j}-\\mu\\right)}{s^{2}}\\right)\\right)\\left[\\right]}\\\\\n{=\\frac{\\lambda}{Bs}\\left(g_{i}B-g_{i}-\\sum_{j\\neq i}^{}g_{j}\\,-\\frac{1}{s^{2}}\\sum_{j=i}^{B}\\left(x_{i}-\\mu\\right)\\left(x_{j}-\\mu\\right)g_{j}\\right)}\\\\\n{\\frac{\\lambda}{Bs}\\left(g_{i}B-\\sum_{j=1}^{B}g_{j}\\,-\\frac{1}{s^{2}}\\sum_{j=1}^{B}\\left(x_{i}-\\mu\\right)\\left(x_{j}-\\mu\\right)g_{j}\\right)}\t\n\\end{gather*}&quot;,&quot;ts&quot;:1771782609005,&quot;cs&quot;:&quot;X8cnPLiHrILWkar7BAOWJQ==&quot;,&quot;size&quot;:{&quot;width&quot;:565.5000000000001,&quot;height&quot;:247}}" id="121" name="Google Shape;121;p21"/>
          <p:cNvPicPr preferRelativeResize="0"/>
          <p:nvPr/>
        </p:nvPicPr>
        <p:blipFill>
          <a:blip r:embed="rId3">
            <a:alphaModFix/>
          </a:blip>
          <a:stretch>
            <a:fillRect/>
          </a:stretch>
        </p:blipFill>
        <p:spPr>
          <a:xfrm>
            <a:off x="3658323" y="1135227"/>
            <a:ext cx="5386388" cy="2352675"/>
          </a:xfrm>
          <a:prstGeom prst="rect">
            <a:avLst/>
          </a:prstGeom>
          <a:noFill/>
          <a:ln>
            <a:noFill/>
          </a:ln>
        </p:spPr>
      </p:pic>
      <p:pic>
        <p:nvPicPr>
          <p:cNvPr descr="{&quot;id&quot;:&quot;4&quot;,&quot;aid&quot;:null,&quot;code&quot;:&quot;\\begin{gather*}\n{\\text{Let's}\\;\\text{now}\\;\\text{plug}\\;\\text{these}\\;\\text{results}\\;\\text{into}\\;\\text{expression}\\;\\text{for}\\;\\text{}\\pdf{y_{j}}{x_{i}}}\\\\\n{\\text{Let'}\\text{s}\\;\\text{partition}\\;\\text{the}\\;\\text{j's}\\;\\text{into}\\;\\text{j=i}\\;\\text{and}\\;j\\neq i}\\\\\n{\\text{When}\\;\\text{j=i}}\\\\\n{\\pdf{y_{i}}{x_{i}}=\\lambda\\left[\\frac{s\\pdf{\\left(x_{i}-\\mu\\right)}{x_{i}}-\\left(x_{i}-\\mu\\right)\\pdf{s}{x_{i}}}{s^{2}}\\right]}\\\\\n{=\\lambda\\left[\\frac{s\\left(1-1/B\\right)-\\frac{\\left(x_{i}-\\mu\\right)^{2}}{Bs}}{s^{2}}\\right]}\\\\\n{=\\lambda\\left[\\frac{1}{s}-\\frac{1}{Bs}-\\frac{\\left(x_{i}-\\mu\\right)^{2}}{Bs^{3}}\\right]}\\\\\n{\\text{When}\\;j\\neq i,}\\\\\n{\\pdf{y_{j}}{x_{i}}=\\lambda\\left[\\frac{s\\pdf{\\left(x_{j}-\\mu\\right)}{x_{i}}-\\left(x_{j}-\\mu\\right)\\pdf{s}{x_{i}}}{s^{2}}\\right]}\\\\\n{\\text{Which}\\;\\text{simplifies}\\;\\text{to:}}\\\\\n{\\pdf{y_{j}}{x_{i}}=\\lambda\\left[-\\frac{1}{Bs}-\\frac{\\left(x_{j}-\\mu\\right)\\left(x_{i}-\\mu\\right)}{Bs^{3}}\\right]}\t\n\\end{gather*}&quot;,&quot;type&quot;:&quot;gather*&quot;,&quot;backgroundColorModified&quot;:false,&quot;backgroundColor&quot;:&quot;#FFFFFF&quot;,&quot;font&quot;:{&quot;size&quot;:10,&quot;color&quot;:&quot;#000000&quot;,&quot;family&quot;:&quot;Arial&quot;},&quot;ts&quot;:1772801525145,&quot;cs&quot;:&quot;YUes0iwh6gk43fAF3ygmuQ==&quot;,&quot;size&quot;:{&quot;width&quot;:348.6666666666667,&quot;height&quot;:389.3333333333333}}" id="122" name="Google Shape;122;p21"/>
          <p:cNvPicPr preferRelativeResize="0"/>
          <p:nvPr/>
        </p:nvPicPr>
        <p:blipFill>
          <a:blip r:embed="rId4">
            <a:alphaModFix/>
          </a:blip>
          <a:stretch>
            <a:fillRect/>
          </a:stretch>
        </p:blipFill>
        <p:spPr>
          <a:xfrm>
            <a:off x="311698" y="1113088"/>
            <a:ext cx="3321050" cy="3708400"/>
          </a:xfrm>
          <a:prstGeom prst="rect">
            <a:avLst/>
          </a:prstGeom>
          <a:noFill/>
          <a:ln>
            <a:noFill/>
          </a:ln>
        </p:spPr>
      </p:pic>
      <p:pic>
        <p:nvPicPr>
          <p:cNvPr descr="{&quot;code&quot;:&quot;\\begin{gather*}\n{\\text{This}\\;\\text{is}\\;\\text{the}\\;\\text{gradient}\\;\\text{of}\\;\\text{the}\\;\\text{loss}\\;\\text{against}\\;\\text{feature}\\;\\text{d.}\\;}\\\\\n{\\text{The}\\;\\text{result}\\;\\text{can}\\;\\text{be}\\;\\text{easily}\\;\\text{extended}\\;\\text{across}\\;\\text{all}\\;\\text{dimensions}}\t\n\\end{gather*}&quot;,&quot;font&quot;:{&quot;size&quot;:10,&quot;family&quot;:&quot;Arial&quot;,&quot;color&quot;:&quot;#000000&quot;},&quot;aid&quot;:null,&quot;backgroundColorModified&quot;:false,&quot;backgroundColor&quot;:&quot;#FFFFFF&quot;,&quot;type&quot;:&quot;gather*&quot;,&quot;id&quot;:&quot;6&quot;,&quot;ts&quot;:1771782580326,&quot;cs&quot;:&quot;WTrmQoD3p0AiAJ8UuCAfTg==&quot;,&quot;size&quot;:{&quot;width&quot;:370,&quot;height&quot;:34.666666666666664}}" id="123" name="Google Shape;123;p21"/>
          <p:cNvPicPr preferRelativeResize="0"/>
          <p:nvPr/>
        </p:nvPicPr>
        <p:blipFill>
          <a:blip r:embed="rId5">
            <a:alphaModFix/>
          </a:blip>
          <a:stretch>
            <a:fillRect/>
          </a:stretch>
        </p:blipFill>
        <p:spPr>
          <a:xfrm>
            <a:off x="4376988" y="3899850"/>
            <a:ext cx="3524250" cy="330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Batch normalization: Calculating gradients</a:t>
            </a:r>
            <a:endParaRPr/>
          </a:p>
          <a:p>
            <a:pPr indent="0" lvl="0" marL="0" rtl="0" algn="l">
              <a:spcBef>
                <a:spcPts val="0"/>
              </a:spcBef>
              <a:spcAft>
                <a:spcPts val="0"/>
              </a:spcAft>
              <a:buNone/>
            </a:pPr>
            <a:r>
              <a:t/>
            </a:r>
            <a:endParaRPr/>
          </a:p>
        </p:txBody>
      </p:sp>
      <p:pic>
        <p:nvPicPr>
          <p:cNvPr descr="{&quot;type&quot;:&quot;gather*&quot;,&quot;code&quot;:&quot;\\begin{gather*}\n{\\pdf{L}{x_{i}}=\\frac{\\lambda}{Bs}\\left(g_{i}B-\\sum_{j=1}^{B}g_{j}\\,-\\frac{1}{s^{2}}\\sum_{j=1}^{B}\\left(x_{i}-\\mu\\right)\\left(x_{j}-\\mu\\right)g_{j}\\right)}\\\\\n{\\text{Define:}}\\\\\n{\\hat{x_{i}}=\\frac{x_{i}-\\mu}{s},\\,\\hat{g}_{i}=g_{i}\\lambda ,\\,S_{1}=\\sum_{j=1}^{B}\\hat{g_{j}},\\,S_{2}=\\sum_{j=1}^{B}\\hat{x}_{j}\\hat{g_{j}}}\\\\\n{\\pdf{L}{x_{i}}=\\frac{1}{Bs}\\left(\\hat{g_{i}}B-S_{1}\\,-\\hat{x_{i}}S_{2}\\right)}\t\n\\end{gather*}&quot;,&quot;backgroundColorModified&quot;:false,&quot;font&quot;:{&quot;size&quot;:10,&quot;color&quot;:&quot;#000000&quot;,&quot;family&quot;:&quot;Arial&quot;},&quot;backgroundColor&quot;:&quot;#FFFFFF&quot;,&quot;id&quot;:&quot;4&quot;,&quot;aid&quot;:null,&quot;ts&quot;:1771850130071,&quot;cs&quot;:&quot;V8qI+O0+2d/ZTpcwMgzhOg==&quot;,&quot;size&quot;:{&quot;width&quot;:375,&quot;height&quot;:161}}" id="129" name="Google Shape;129;p22"/>
          <p:cNvPicPr preferRelativeResize="0"/>
          <p:nvPr/>
        </p:nvPicPr>
        <p:blipFill>
          <a:blip r:embed="rId3">
            <a:alphaModFix/>
          </a:blip>
          <a:stretch>
            <a:fillRect/>
          </a:stretch>
        </p:blipFill>
        <p:spPr>
          <a:xfrm>
            <a:off x="530673" y="1346911"/>
            <a:ext cx="3571875" cy="1533525"/>
          </a:xfrm>
          <a:prstGeom prst="rect">
            <a:avLst/>
          </a:prstGeom>
          <a:noFill/>
          <a:ln>
            <a:noFill/>
          </a:ln>
        </p:spPr>
      </p:pic>
      <p:sp>
        <p:nvSpPr>
          <p:cNvPr id="130" name="Google Shape;130;p22"/>
          <p:cNvSpPr txBox="1"/>
          <p:nvPr/>
        </p:nvSpPr>
        <p:spPr>
          <a:xfrm>
            <a:off x="46175" y="47556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batch_norm_derivatives.py</a:t>
            </a:r>
            <a:endParaRPr sz="1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Normalization	</a:t>
            </a:r>
            <a:endParaRPr/>
          </a:p>
        </p:txBody>
      </p:sp>
      <p:sp>
        <p:nvSpPr>
          <p:cNvPr id="136" name="Google Shape;136;p23"/>
          <p:cNvSpPr txBox="1"/>
          <p:nvPr>
            <p:ph idx="1" type="body"/>
          </p:nvPr>
        </p:nvSpPr>
        <p:spPr>
          <a:xfrm>
            <a:off x="311700" y="1152475"/>
            <a:ext cx="8520600" cy="990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In layer normalization, we normalize across features of each input. This works well across any batch size and is the default in Transformer models. Same computation during training and inference, no need to save any running stats</a:t>
            </a:r>
            <a:endParaRPr/>
          </a:p>
        </p:txBody>
      </p:sp>
      <p:pic>
        <p:nvPicPr>
          <p:cNvPr descr="{&quot;id&quot;:&quot;7&quot;,&quot;backgroundColorModified&quot;:false,&quot;font&quot;:{&quot;color&quot;:&quot;#000000&quot;,&quot;family&quot;:&quot;Arial&quot;,&quot;size&quot;:12},&quot;code&quot;:&quot;\\begin{gather*}\n{\\text{For}\\;\\text{eac}\\text{h}\\;\\text{sample}\\;x_{b}\\,\\text{(a}\\;\\text{D}\\;\\text{dimensional}\\;\\text{vector)}\\;\\text{in}\\;\\text{a}\\;\\text{batch}\\;\\text{of}\\;\\text{size}\\;\\text{B,}\\text{}}\\\\\n{\\mu_{b}=\\frac{1}{D}\\sum_{i=1}^{D}x_{bi}}\\\\\n{\\sigma_{b}^{2}=\\frac{1}{D}\\sum_{i=1}^{D}\\left(x_{bi}-\\mu_{b}\\right)^{2}}\\\\\n{s_{b}={\\sqrt[]{\\sigma_{b}^{2}+\\epsilon}}}\\\\\n{\\text{Normalized}\\;\\text{coordinates:}}\\\\\n{y_{bi}=\\lambda_{i}\\frac{x_{bi}-\\mu_{b}}{s_{b}}+\\beta_{i}}\t\n\\end{gather*}&quot;,&quot;type&quot;:&quot;gather*&quot;,&quot;backgroundColor&quot;:&quot;#FFFFFF&quot;,&quot;aid&quot;:null,&quot;ts&quot;:1771800474498,&quot;cs&quot;:&quot;uImiBUdoYJgCBCQOjjM4ug==&quot;,&quot;size&quot;:{&quot;width&quot;:524.5,&quot;height&quot;:252}}" id="137" name="Google Shape;137;p23"/>
          <p:cNvPicPr preferRelativeResize="0"/>
          <p:nvPr/>
        </p:nvPicPr>
        <p:blipFill>
          <a:blip r:embed="rId3">
            <a:alphaModFix/>
          </a:blip>
          <a:stretch>
            <a:fillRect/>
          </a:stretch>
        </p:blipFill>
        <p:spPr>
          <a:xfrm>
            <a:off x="311704" y="2400825"/>
            <a:ext cx="4995863" cy="2400300"/>
          </a:xfrm>
          <a:prstGeom prst="rect">
            <a:avLst/>
          </a:prstGeom>
          <a:noFill/>
          <a:ln>
            <a:noFill/>
          </a:ln>
        </p:spPr>
      </p:pic>
      <p:pic>
        <p:nvPicPr>
          <p:cNvPr descr="{&quot;code&quot;:&quot;\\begin{gather*}\n{\\text{In}\\;\\text{transformers,}\\;\\text{layer}\\;\\text{normalization}\\;\\text{is}\\;\\text{applied}\\;\\text{per}\\;\\text{token}}\\\\\n{\\text{across}\\;\\text{the}\\;\\text{hidden}\\;\\text{dimension}}\\\\\n{X:\\,B\\times T\\times D}\\\\\n{\\mu,\\,\\sigma\\,\\text{are}\\;\\text{computed}\\;\\text{for}\\;\\text{each}\\;\\text{(b,}\\;\\text{t)}\\;\\text{across}\\;\\text{D}}\\\\\n{\\lambda,\\,\\beta\\,\\text{are}\\;\\text{dimension}\\;\\text{(D,)}\\;\\text{and}\\;\\text{broadcast}\\;\\text{across}\\;\\text{B,}\\;\\text{T}}\\\\\n{\\text{}\\text{Thus,}\\;\\text{for}\\;\\text{a}\\;\\text{hidden}\\;\\text{state}\\;\\text{of}\\;\\text{dimension}\\;\\text{D,}\\;\\text{LN}\\;\\text{adds}}\\\\\n{2D\\,\\text{learnable}\\;\\text{parameters}}\t\n\\end{gather*}&quot;,&quot;font&quot;:{&quot;color&quot;:&quot;#000000&quot;,&quot;family&quot;:&quot;Arial&quot;,&quot;size&quot;:12},&quot;backgroundColorModified&quot;:false,&quot;type&quot;:&quot;gather*&quot;,&quot;aid&quot;:null,&quot;id&quot;:&quot;10&quot;,&quot;backgroundColor&quot;:&quot;#FFFFFF&quot;,&quot;ts&quot;:1771801188976,&quot;cs&quot;:&quot;ZIrzPw+Vj53NM2EWCC5ytg==&quot;,&quot;size&quot;:{&quot;width&quot;:458,&quot;height&quot;:163.66666666666666}}" id="138" name="Google Shape;138;p23"/>
          <p:cNvPicPr preferRelativeResize="0"/>
          <p:nvPr/>
        </p:nvPicPr>
        <p:blipFill>
          <a:blip r:embed="rId4">
            <a:alphaModFix/>
          </a:blip>
          <a:stretch>
            <a:fillRect/>
          </a:stretch>
        </p:blipFill>
        <p:spPr>
          <a:xfrm>
            <a:off x="4823275" y="2877225"/>
            <a:ext cx="4362450" cy="1558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 normalization: Gradients</a:t>
            </a:r>
            <a:endParaRPr/>
          </a:p>
        </p:txBody>
      </p:sp>
      <p:pic>
        <p:nvPicPr>
          <p:cNvPr descr="{&quot;type&quot;:&quot;gather*&quot;,&quot;font&quot;:{&quot;family&quot;:&quot;Arial&quot;,&quot;size&quot;:12,&quot;color&quot;:&quot;#000000&quot;},&quot;code&quot;:&quot;\\begin{gather*}\n{\\text{Let}\\;X\\,\\in B\\times D\\,\\left(\\text{MLP}\\right)}\\\\\n{\\text{and}\\;x_{i}\\,\\text{represent}\\;\\text{the}\\;i^{th}\\,\\text{coordinate}\\;\\text{of}\\;\\text{the}\\;b^{th}\\,\\text{batch}\\;\\text{element}}\\\\\n{\\mu\\;\\text{and}\\;\\sigma^{2}\\,\\text{are}\\;\\text{the}\\;\\text{LN}\\;\\text{stats}\\;\\text{of}\\;\\text{the}\\;b^{th}\\,\\text{batch}\\;\\text{element}\\;}\\\\\n{\\text{Then}\\;\\text{the}\\;\\text{normalized}\\;\\text{coordinate}\\;\\text{is:}}\\\\\n{\\hat{x_{i}}=\\frac{x_{i}-\\mu}{s},\\,s={\\sqrt[]{\\sigma^{2}+\\epsilon}}}\\\\\n{\\text{After}\\;\\text{rescaling}\\;\\text{by}\\;\\lambda,\\,\\beta}\\\\\n{y_{i}=\\lambda_{i}\\hat{x_{i}}+\\beta_{i}}\\\\\n{\\;\\lambda_{i}\\,\\text{and}\\;\\beta_{i}\\,\\text{are}\\;\\text{shared}\\;\\text{across}\\;\\text{all}\\;\\text{batch}\\;\\text{elements,}\\;\\text{and}\\;\\text{hence}\\text{}}\\\\\n{\\text{affect}\\;\\text{the}\\;\\text{loss}\\;\\text{through}\\;\\text{batch}\\;\\text{elements.}\\;\\text{The}\\;\\text{gradient}\\;\\text{of}\\;\\text{loss}\\;\\text{wrt}\\;\\lambda_{i}\\,\\text{and}\\;\\beta_{i}\\,}\\\\\n{\\text{is}\\;\\text{therefore}\\;\\text{identical}\\;\\text{to}\\;\\text{BN}}\\\\\n{\\pdf{L}{\\lambda_{i}}=\\sum_{j=1}^{B}\\pdf{L}{y_{ji}}\\hat{x}_{ji},\\,\\pdf{L}{\\beta_{i}}=\\sum_{j=1}^{B}\\pdf{L}{y_{ji}}}\\\\\n{\\text{For}\\;\\text{transformers,}\\;X:\\,B\\times T\\times D,\\,\\text{and}\\;\\lambda\\,\\text{and}\\;\\beta\\,\\text{are}\\;\\text{shared}\\;\\text{across}\\;B\\,\\text{and}\\;T\\,\\text{dimensions,}}\\\\\n{\\text{so}\\;\\text{the}\\;\\text{expression}\\;\\text{for}\\;\\text{the}\\text{ir}\\;\\text{gradients}\\;\\text{involves}\\;\\text{sum}\\;\\text{over}\\;T\\,\\text{as}\\;\\text{well}}\\\\\n{\\text{While}\\;\\text{calculating}\\;\\pdf{L}{x_{i}},\\,\\text{the}\\;\\text{sums}\\;\\text{are}\\;\\text{over}\\;\\text{feature}\\;\\text{dimension}}\\\\\n{}\\\\\n{}\t\n\\end{gather*}&quot;,&quot;backgroundColorModified&quot;:false,&quot;backgroundColor&quot;:&quot;#FFFFFF&quot;,&quot;aid&quot;:null,&quot;id&quot;:&quot;11&quot;,&quot;ts&quot;:1771848830894,&quot;cs&quot;:&quot;rgVT6KUaUBBINI67b5utkQ==&quot;,&quot;size&quot;:{&quot;width&quot;:688.5,&quot;height&quot;:423}}" id="144" name="Google Shape;144;p24"/>
          <p:cNvPicPr preferRelativeResize="0"/>
          <p:nvPr/>
        </p:nvPicPr>
        <p:blipFill>
          <a:blip r:embed="rId3">
            <a:alphaModFix/>
          </a:blip>
          <a:stretch>
            <a:fillRect/>
          </a:stretch>
        </p:blipFill>
        <p:spPr>
          <a:xfrm>
            <a:off x="426900" y="1166650"/>
            <a:ext cx="5958599" cy="36608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Residual Learning (skip connections)</a:t>
            </a:r>
            <a:endParaRPr/>
          </a:p>
        </p:txBody>
      </p:sp>
      <p:sp>
        <p:nvSpPr>
          <p:cNvPr id="150" name="Google Shape;150;p25"/>
          <p:cNvSpPr txBox="1"/>
          <p:nvPr>
            <p:ph idx="1" type="body"/>
          </p:nvPr>
        </p:nvSpPr>
        <p:spPr>
          <a:xfrm>
            <a:off x="311700" y="1152475"/>
            <a:ext cx="8520600" cy="3801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Core idea: Instead of asking a layer to learn a full transformation H(x), residual learning asks it to learn a correction to the input</a:t>
            </a:r>
            <a:endParaRPr/>
          </a:p>
          <a:p>
            <a:pPr indent="0" lvl="0" marL="0" rtl="0" algn="l">
              <a:spcBef>
                <a:spcPts val="1200"/>
              </a:spcBef>
              <a:spcAft>
                <a:spcPts val="0"/>
              </a:spcAft>
              <a:buNone/>
            </a:pPr>
            <a:r>
              <a:rPr lang="en"/>
              <a:t>				</a:t>
            </a:r>
            <a:r>
              <a:rPr lang="en"/>
              <a:t>y</a:t>
            </a:r>
            <a:r>
              <a:rPr lang="en"/>
              <a:t> = x + F(x)</a:t>
            </a:r>
            <a:endParaRPr/>
          </a:p>
          <a:p>
            <a:pPr indent="0" lvl="0" marL="0" rtl="0" algn="l">
              <a:spcBef>
                <a:spcPts val="1200"/>
              </a:spcBef>
              <a:spcAft>
                <a:spcPts val="0"/>
              </a:spcAft>
              <a:buNone/>
            </a:pPr>
            <a:r>
              <a:rPr lang="en"/>
              <a:t>x</a:t>
            </a:r>
            <a:r>
              <a:rPr lang="en"/>
              <a:t>: The input</a:t>
            </a:r>
            <a:br>
              <a:rPr lang="en"/>
            </a:br>
            <a:r>
              <a:rPr lang="en"/>
              <a:t>F(x): Output of some stack of layers (Conv + Norm + Relu in CNN, Attention + MLP in Transformers..)</a:t>
            </a:r>
            <a:endParaRPr/>
          </a:p>
          <a:p>
            <a:pPr indent="0" lvl="0" marL="0" rtl="0" algn="l">
              <a:spcBef>
                <a:spcPts val="1200"/>
              </a:spcBef>
              <a:spcAft>
                <a:spcPts val="0"/>
              </a:spcAft>
              <a:buNone/>
            </a:pPr>
            <a:r>
              <a:rPr lang="en"/>
              <a:t>If F(x) = 0, the layers becomes the identity map y = x. That makes it easier for deep layers to not break learning. </a:t>
            </a:r>
            <a:endParaRPr/>
          </a:p>
          <a:p>
            <a:pPr indent="0" lvl="0" marL="0" rtl="0" algn="l">
              <a:spcBef>
                <a:spcPts val="1200"/>
              </a:spcBef>
              <a:spcAft>
                <a:spcPts val="0"/>
              </a:spcAft>
              <a:buNone/>
            </a:pPr>
            <a:r>
              <a:rPr lang="en"/>
              <a:t>Intuition: Layers of a neural network learn different representations of the input. Many useful transformations are “small edits” to a representation, rather than totally different </a:t>
            </a:r>
            <a:r>
              <a:rPr lang="en"/>
              <a:t>representation</a:t>
            </a:r>
            <a:r>
              <a:rPr lang="en"/>
              <a:t> every layer. With residual learning, the model can start near identity and gradually refine. </a:t>
            </a:r>
            <a:endParaRPr/>
          </a:p>
          <a:p>
            <a:pPr indent="0" lvl="0" marL="0" rtl="0" algn="l">
              <a:spcBef>
                <a:spcPts val="1200"/>
              </a:spcBef>
              <a:spcAft>
                <a:spcPts val="1200"/>
              </a:spcAft>
              <a:buNone/>
            </a:pPr>
            <a:r>
              <a:rPr lang="en"/>
              <a:t>Residual learning allows a layer to “do nothing”, if needed.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Residual Learning: Better gradient flow</a:t>
            </a:r>
            <a:endParaRPr/>
          </a:p>
        </p:txBody>
      </p:sp>
      <p:sp>
        <p:nvSpPr>
          <p:cNvPr id="156" name="Google Shape;156;p26"/>
          <p:cNvSpPr txBox="1"/>
          <p:nvPr>
            <p:ph idx="1" type="body"/>
          </p:nvPr>
        </p:nvSpPr>
        <p:spPr>
          <a:xfrm>
            <a:off x="311700" y="1152475"/>
            <a:ext cx="8520600" cy="982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Residual learning results in better gradient flow and reduces </a:t>
            </a:r>
            <a:r>
              <a:rPr lang="en"/>
              <a:t>vanishing/exploding gradients</a:t>
            </a:r>
            <a:r>
              <a:rPr lang="en"/>
              <a:t> </a:t>
            </a:r>
            <a:endParaRPr/>
          </a:p>
        </p:txBody>
      </p:sp>
      <p:pic>
        <p:nvPicPr>
          <p:cNvPr descr="{&quot;backgroundColorModified&quot;:false,&quot;id&quot;:&quot;12&quot;,&quot;font&quot;:{&quot;color&quot;:&quot;#595959&quot;,&quot;family&quot;:&quot;Arial&quot;,&quot;size&quot;:16.5},&quot;type&quot;:&quot;gather*&quot;,&quot;code&quot;:&quot;\\begin{gather*}\n{\\text{Let}\\;\\text{a}\\;\\text{block}\\;\\text{be}}\\\\\n{y=x+F\\left(x\\right)}\\\\\n{\\text{For}\\;\\text{a}\\;\\text{loss}\\;\\text{L,}}\\\\\n{\\pdf{L}{x}=\\pdf{L}{y}+\\pdf{L}{y}\\pdf{F}{x}}\\\\\n{=\\,\\pdf{L}{y}\\left(I\\,+\\pdf{F}{x}\\,\\right)}\\\\\n{\\text{So}\\;\\text{even}\\;\\text{if}\\;\\text{the}\\,\\text{gradient}\\;\\text{through}\\;\\text{the}\\;\\text{layer}\\;\\pdf{F}{x}\\,\\text{becomes}\\;\\text{small}\\;\\text{or}\\;\\text{unstable,}}\\\\\n{\\text{the}\\;\\text{full}\\;\\text{gradient}\\;\\text{has}\\;\\text{a}\\;\\text{direct}\\;\\text{path}\\;\\text{via}\\;\\text{the}\\;\\text{skip}\\;\\text{connection}\\;\\text{term.}}\t\n\\end{gather*}&quot;,&quot;aid&quot;:null,&quot;backgroundColor&quot;:&quot;#FFFFFF&quot;,&quot;ts&quot;:1771857863497,&quot;cs&quot;:&quot;8EqzERljDWE0R2gf0l1Xrw==&quot;,&quot;size&quot;:{&quot;width&quot;:806.1312976377952,&quot;height&quot;:323.92388871391074}}" id="157" name="Google Shape;157;p26"/>
          <p:cNvPicPr preferRelativeResize="0"/>
          <p:nvPr/>
        </p:nvPicPr>
        <p:blipFill>
          <a:blip r:embed="rId3">
            <a:alphaModFix/>
          </a:blip>
          <a:stretch>
            <a:fillRect/>
          </a:stretch>
        </p:blipFill>
        <p:spPr>
          <a:xfrm>
            <a:off x="1059375" y="1962550"/>
            <a:ext cx="5995624" cy="2409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patterns</a:t>
            </a:r>
            <a:endParaRPr/>
          </a:p>
        </p:txBody>
      </p:sp>
      <p:sp>
        <p:nvSpPr>
          <p:cNvPr id="163" name="Google Shape;163;p27"/>
          <p:cNvSpPr/>
          <p:nvPr/>
        </p:nvSpPr>
        <p:spPr>
          <a:xfrm>
            <a:off x="1043525" y="2567125"/>
            <a:ext cx="882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Conv1</a:t>
            </a:r>
            <a:endParaRPr/>
          </a:p>
        </p:txBody>
      </p:sp>
      <p:sp>
        <p:nvSpPr>
          <p:cNvPr id="164" name="Google Shape;164;p27"/>
          <p:cNvSpPr/>
          <p:nvPr/>
        </p:nvSpPr>
        <p:spPr>
          <a:xfrm>
            <a:off x="2327125" y="2567125"/>
            <a:ext cx="951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Batch Norm</a:t>
            </a:r>
            <a:endParaRPr/>
          </a:p>
        </p:txBody>
      </p:sp>
      <p:sp>
        <p:nvSpPr>
          <p:cNvPr id="165" name="Google Shape;165;p27"/>
          <p:cNvSpPr/>
          <p:nvPr/>
        </p:nvSpPr>
        <p:spPr>
          <a:xfrm>
            <a:off x="3569175" y="2567125"/>
            <a:ext cx="951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Non</a:t>
            </a:r>
            <a:endParaRPr/>
          </a:p>
          <a:p>
            <a:pPr indent="0" lvl="0" marL="0" rtl="0" algn="ctr">
              <a:spcBef>
                <a:spcPts val="0"/>
              </a:spcBef>
              <a:spcAft>
                <a:spcPts val="0"/>
              </a:spcAft>
              <a:buNone/>
            </a:pPr>
            <a:r>
              <a:rPr lang="en"/>
              <a:t>Linearity</a:t>
            </a:r>
            <a:endParaRPr/>
          </a:p>
        </p:txBody>
      </p:sp>
      <p:sp>
        <p:nvSpPr>
          <p:cNvPr id="166" name="Google Shape;166;p27"/>
          <p:cNvSpPr/>
          <p:nvPr/>
        </p:nvSpPr>
        <p:spPr>
          <a:xfrm>
            <a:off x="4861975" y="2567125"/>
            <a:ext cx="951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Conv2</a:t>
            </a:r>
            <a:endParaRPr/>
          </a:p>
        </p:txBody>
      </p:sp>
      <p:cxnSp>
        <p:nvCxnSpPr>
          <p:cNvPr id="167" name="Google Shape;167;p27"/>
          <p:cNvCxnSpPr>
            <a:stCxn id="163" idx="3"/>
            <a:endCxn id="164" idx="1"/>
          </p:cNvCxnSpPr>
          <p:nvPr/>
        </p:nvCxnSpPr>
        <p:spPr>
          <a:xfrm>
            <a:off x="1925525" y="2864875"/>
            <a:ext cx="401700" cy="0"/>
          </a:xfrm>
          <a:prstGeom prst="straightConnector1">
            <a:avLst/>
          </a:prstGeom>
          <a:noFill/>
          <a:ln cap="flat" cmpd="sng" w="9525">
            <a:solidFill>
              <a:schemeClr val="dk2"/>
            </a:solidFill>
            <a:prstDash val="solid"/>
            <a:round/>
            <a:headEnd len="med" w="med" type="none"/>
            <a:tailEnd len="med" w="med" type="triangle"/>
          </a:ln>
        </p:spPr>
      </p:cxnSp>
      <p:cxnSp>
        <p:nvCxnSpPr>
          <p:cNvPr id="168" name="Google Shape;168;p27"/>
          <p:cNvCxnSpPr>
            <a:stCxn id="164" idx="3"/>
            <a:endCxn id="165" idx="1"/>
          </p:cNvCxnSpPr>
          <p:nvPr/>
        </p:nvCxnSpPr>
        <p:spPr>
          <a:xfrm>
            <a:off x="3278125" y="2864875"/>
            <a:ext cx="291000" cy="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27"/>
          <p:cNvCxnSpPr>
            <a:stCxn id="165" idx="3"/>
            <a:endCxn id="166" idx="1"/>
          </p:cNvCxnSpPr>
          <p:nvPr/>
        </p:nvCxnSpPr>
        <p:spPr>
          <a:xfrm>
            <a:off x="4520175" y="2864875"/>
            <a:ext cx="341700" cy="0"/>
          </a:xfrm>
          <a:prstGeom prst="straightConnector1">
            <a:avLst/>
          </a:prstGeom>
          <a:noFill/>
          <a:ln cap="flat" cmpd="sng" w="9525">
            <a:solidFill>
              <a:schemeClr val="dk2"/>
            </a:solidFill>
            <a:prstDash val="solid"/>
            <a:round/>
            <a:headEnd len="med" w="med" type="none"/>
            <a:tailEnd len="med" w="med" type="triangle"/>
          </a:ln>
        </p:spPr>
      </p:cxnSp>
      <p:sp>
        <p:nvSpPr>
          <p:cNvPr id="170" name="Google Shape;170;p27"/>
          <p:cNvSpPr txBox="1"/>
          <p:nvPr/>
        </p:nvSpPr>
        <p:spPr>
          <a:xfrm>
            <a:off x="364800" y="2634025"/>
            <a:ext cx="34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x</a:t>
            </a:r>
            <a:endParaRPr sz="1800">
              <a:solidFill>
                <a:schemeClr val="dk2"/>
              </a:solidFill>
            </a:endParaRPr>
          </a:p>
        </p:txBody>
      </p:sp>
      <p:cxnSp>
        <p:nvCxnSpPr>
          <p:cNvPr id="171" name="Google Shape;171;p27"/>
          <p:cNvCxnSpPr>
            <a:stCxn id="170" idx="3"/>
            <a:endCxn id="163" idx="1"/>
          </p:cNvCxnSpPr>
          <p:nvPr/>
        </p:nvCxnSpPr>
        <p:spPr>
          <a:xfrm>
            <a:off x="706500" y="2864875"/>
            <a:ext cx="336900" cy="0"/>
          </a:xfrm>
          <a:prstGeom prst="straightConnector1">
            <a:avLst/>
          </a:prstGeom>
          <a:noFill/>
          <a:ln cap="flat" cmpd="sng" w="9525">
            <a:solidFill>
              <a:schemeClr val="dk2"/>
            </a:solidFill>
            <a:prstDash val="solid"/>
            <a:round/>
            <a:headEnd len="med" w="med" type="none"/>
            <a:tailEnd len="med" w="med" type="triangle"/>
          </a:ln>
        </p:spPr>
      </p:cxnSp>
      <p:sp>
        <p:nvSpPr>
          <p:cNvPr id="172" name="Google Shape;172;p27"/>
          <p:cNvSpPr/>
          <p:nvPr/>
        </p:nvSpPr>
        <p:spPr>
          <a:xfrm>
            <a:off x="7447575" y="2740225"/>
            <a:ext cx="254100" cy="2493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3" name="Google Shape;173;p27"/>
          <p:cNvCxnSpPr/>
          <p:nvPr/>
        </p:nvCxnSpPr>
        <p:spPr>
          <a:xfrm>
            <a:off x="5812975" y="2864875"/>
            <a:ext cx="341700" cy="0"/>
          </a:xfrm>
          <a:prstGeom prst="straightConnector1">
            <a:avLst/>
          </a:prstGeom>
          <a:noFill/>
          <a:ln cap="flat" cmpd="sng" w="9525">
            <a:solidFill>
              <a:schemeClr val="dk2"/>
            </a:solidFill>
            <a:prstDash val="solid"/>
            <a:round/>
            <a:headEnd len="med" w="med" type="none"/>
            <a:tailEnd len="med" w="med" type="triangle"/>
          </a:ln>
        </p:spPr>
      </p:cxnSp>
      <p:cxnSp>
        <p:nvCxnSpPr>
          <p:cNvPr id="174" name="Google Shape;174;p27"/>
          <p:cNvCxnSpPr>
            <a:endCxn id="175" idx="1"/>
          </p:cNvCxnSpPr>
          <p:nvPr/>
        </p:nvCxnSpPr>
        <p:spPr>
          <a:xfrm flipH="1" rot="10800000">
            <a:off x="849675" y="2066150"/>
            <a:ext cx="2719500" cy="796500"/>
          </a:xfrm>
          <a:prstGeom prst="bentConnector3">
            <a:avLst>
              <a:gd fmla="val 167" name="adj1"/>
            </a:avLst>
          </a:prstGeom>
          <a:noFill/>
          <a:ln cap="flat" cmpd="sng" w="9525">
            <a:solidFill>
              <a:schemeClr val="dk2"/>
            </a:solidFill>
            <a:prstDash val="solid"/>
            <a:round/>
            <a:headEnd len="med" w="med" type="none"/>
            <a:tailEnd len="med" w="med" type="triangle"/>
          </a:ln>
        </p:spPr>
      </p:cxnSp>
      <p:sp>
        <p:nvSpPr>
          <p:cNvPr id="176" name="Google Shape;176;p27"/>
          <p:cNvSpPr/>
          <p:nvPr/>
        </p:nvSpPr>
        <p:spPr>
          <a:xfrm>
            <a:off x="1043525" y="4016950"/>
            <a:ext cx="882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Layer</a:t>
            </a:r>
            <a:endParaRPr/>
          </a:p>
          <a:p>
            <a:pPr indent="0" lvl="0" marL="0" rtl="0" algn="ctr">
              <a:spcBef>
                <a:spcPts val="0"/>
              </a:spcBef>
              <a:spcAft>
                <a:spcPts val="0"/>
              </a:spcAft>
              <a:buNone/>
            </a:pPr>
            <a:r>
              <a:rPr lang="en"/>
              <a:t>Norm</a:t>
            </a:r>
            <a:endParaRPr/>
          </a:p>
        </p:txBody>
      </p:sp>
      <p:sp>
        <p:nvSpPr>
          <p:cNvPr id="177" name="Google Shape;177;p27"/>
          <p:cNvSpPr/>
          <p:nvPr/>
        </p:nvSpPr>
        <p:spPr>
          <a:xfrm>
            <a:off x="2327125" y="4016950"/>
            <a:ext cx="951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Attn</a:t>
            </a:r>
            <a:endParaRPr/>
          </a:p>
        </p:txBody>
      </p:sp>
      <p:sp>
        <p:nvSpPr>
          <p:cNvPr id="178" name="Google Shape;178;p27"/>
          <p:cNvSpPr/>
          <p:nvPr/>
        </p:nvSpPr>
        <p:spPr>
          <a:xfrm>
            <a:off x="3952475" y="4016950"/>
            <a:ext cx="951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Layer Norm</a:t>
            </a:r>
            <a:endParaRPr/>
          </a:p>
        </p:txBody>
      </p:sp>
      <p:sp>
        <p:nvSpPr>
          <p:cNvPr id="179" name="Google Shape;179;p27"/>
          <p:cNvSpPr/>
          <p:nvPr/>
        </p:nvSpPr>
        <p:spPr>
          <a:xfrm>
            <a:off x="5351625" y="4016950"/>
            <a:ext cx="951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MLP</a:t>
            </a:r>
            <a:endParaRPr/>
          </a:p>
        </p:txBody>
      </p:sp>
      <p:cxnSp>
        <p:nvCxnSpPr>
          <p:cNvPr id="180" name="Google Shape;180;p27"/>
          <p:cNvCxnSpPr>
            <a:stCxn id="176" idx="3"/>
            <a:endCxn id="177" idx="1"/>
          </p:cNvCxnSpPr>
          <p:nvPr/>
        </p:nvCxnSpPr>
        <p:spPr>
          <a:xfrm>
            <a:off x="1925525" y="4314700"/>
            <a:ext cx="401700" cy="0"/>
          </a:xfrm>
          <a:prstGeom prst="straightConnector1">
            <a:avLst/>
          </a:prstGeom>
          <a:noFill/>
          <a:ln cap="flat" cmpd="sng" w="9525">
            <a:solidFill>
              <a:schemeClr val="dk2"/>
            </a:solidFill>
            <a:prstDash val="solid"/>
            <a:round/>
            <a:headEnd len="med" w="med" type="none"/>
            <a:tailEnd len="med" w="med" type="triangle"/>
          </a:ln>
        </p:spPr>
      </p:cxnSp>
      <p:cxnSp>
        <p:nvCxnSpPr>
          <p:cNvPr id="181" name="Google Shape;181;p27"/>
          <p:cNvCxnSpPr>
            <a:stCxn id="177" idx="3"/>
          </p:cNvCxnSpPr>
          <p:nvPr/>
        </p:nvCxnSpPr>
        <p:spPr>
          <a:xfrm flipH="1" rot="10800000">
            <a:off x="3278125" y="4312300"/>
            <a:ext cx="194100" cy="2400"/>
          </a:xfrm>
          <a:prstGeom prst="straightConnector1">
            <a:avLst/>
          </a:prstGeom>
          <a:noFill/>
          <a:ln cap="flat" cmpd="sng" w="9525">
            <a:solidFill>
              <a:schemeClr val="dk2"/>
            </a:solidFill>
            <a:prstDash val="solid"/>
            <a:round/>
            <a:headEnd len="med" w="med" type="none"/>
            <a:tailEnd len="med" w="med" type="triangle"/>
          </a:ln>
        </p:spPr>
      </p:cxnSp>
      <p:cxnSp>
        <p:nvCxnSpPr>
          <p:cNvPr id="182" name="Google Shape;182;p27"/>
          <p:cNvCxnSpPr>
            <a:stCxn id="178" idx="3"/>
            <a:endCxn id="179" idx="1"/>
          </p:cNvCxnSpPr>
          <p:nvPr/>
        </p:nvCxnSpPr>
        <p:spPr>
          <a:xfrm>
            <a:off x="4903475" y="4314700"/>
            <a:ext cx="448200" cy="0"/>
          </a:xfrm>
          <a:prstGeom prst="straightConnector1">
            <a:avLst/>
          </a:prstGeom>
          <a:noFill/>
          <a:ln cap="flat" cmpd="sng" w="9525">
            <a:solidFill>
              <a:schemeClr val="dk2"/>
            </a:solidFill>
            <a:prstDash val="solid"/>
            <a:round/>
            <a:headEnd len="med" w="med" type="none"/>
            <a:tailEnd len="med" w="med" type="triangle"/>
          </a:ln>
        </p:spPr>
      </p:cxnSp>
      <p:sp>
        <p:nvSpPr>
          <p:cNvPr id="183" name="Google Shape;183;p27"/>
          <p:cNvSpPr txBox="1"/>
          <p:nvPr/>
        </p:nvSpPr>
        <p:spPr>
          <a:xfrm>
            <a:off x="364800" y="4083850"/>
            <a:ext cx="34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x</a:t>
            </a:r>
            <a:endParaRPr sz="1800">
              <a:solidFill>
                <a:schemeClr val="dk2"/>
              </a:solidFill>
            </a:endParaRPr>
          </a:p>
        </p:txBody>
      </p:sp>
      <p:cxnSp>
        <p:nvCxnSpPr>
          <p:cNvPr id="184" name="Google Shape;184;p27"/>
          <p:cNvCxnSpPr>
            <a:stCxn id="183" idx="3"/>
            <a:endCxn id="176" idx="1"/>
          </p:cNvCxnSpPr>
          <p:nvPr/>
        </p:nvCxnSpPr>
        <p:spPr>
          <a:xfrm>
            <a:off x="706500" y="4314700"/>
            <a:ext cx="336900" cy="0"/>
          </a:xfrm>
          <a:prstGeom prst="straightConnector1">
            <a:avLst/>
          </a:prstGeom>
          <a:noFill/>
          <a:ln cap="flat" cmpd="sng" w="9525">
            <a:solidFill>
              <a:schemeClr val="dk2"/>
            </a:solidFill>
            <a:prstDash val="solid"/>
            <a:round/>
            <a:headEnd len="med" w="med" type="none"/>
            <a:tailEnd len="med" w="med" type="triangle"/>
          </a:ln>
        </p:spPr>
      </p:cxnSp>
      <p:sp>
        <p:nvSpPr>
          <p:cNvPr id="185" name="Google Shape;185;p27"/>
          <p:cNvSpPr/>
          <p:nvPr/>
        </p:nvSpPr>
        <p:spPr>
          <a:xfrm>
            <a:off x="6667175" y="4188850"/>
            <a:ext cx="254100" cy="2493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6" name="Google Shape;186;p27"/>
          <p:cNvCxnSpPr>
            <a:stCxn id="179" idx="3"/>
          </p:cNvCxnSpPr>
          <p:nvPr/>
        </p:nvCxnSpPr>
        <p:spPr>
          <a:xfrm flipH="1" rot="10800000">
            <a:off x="6302625" y="4313500"/>
            <a:ext cx="364500" cy="1200"/>
          </a:xfrm>
          <a:prstGeom prst="straightConnector1">
            <a:avLst/>
          </a:prstGeom>
          <a:noFill/>
          <a:ln cap="flat" cmpd="sng" w="9525">
            <a:solidFill>
              <a:schemeClr val="dk2"/>
            </a:solidFill>
            <a:prstDash val="solid"/>
            <a:round/>
            <a:headEnd len="med" w="med" type="none"/>
            <a:tailEnd len="med" w="med" type="triangle"/>
          </a:ln>
        </p:spPr>
      </p:cxnSp>
      <p:cxnSp>
        <p:nvCxnSpPr>
          <p:cNvPr id="187" name="Google Shape;187;p27"/>
          <p:cNvCxnSpPr>
            <a:endCxn id="188" idx="0"/>
          </p:cNvCxnSpPr>
          <p:nvPr/>
        </p:nvCxnSpPr>
        <p:spPr>
          <a:xfrm flipH="1" rot="10800000">
            <a:off x="817075" y="4190050"/>
            <a:ext cx="2782200" cy="122400"/>
          </a:xfrm>
          <a:prstGeom prst="bentConnector4">
            <a:avLst>
              <a:gd fmla="val 5" name="adj1"/>
              <a:gd fmla="val 396119" name="adj2"/>
            </a:avLst>
          </a:prstGeom>
          <a:noFill/>
          <a:ln cap="flat" cmpd="sng" w="9525">
            <a:solidFill>
              <a:schemeClr val="dk2"/>
            </a:solidFill>
            <a:prstDash val="solid"/>
            <a:round/>
            <a:headEnd len="med" w="med" type="none"/>
            <a:tailEnd len="med" w="med" type="triangle"/>
          </a:ln>
        </p:spPr>
      </p:cxnSp>
      <p:sp>
        <p:nvSpPr>
          <p:cNvPr id="188" name="Google Shape;188;p27"/>
          <p:cNvSpPr/>
          <p:nvPr/>
        </p:nvSpPr>
        <p:spPr>
          <a:xfrm>
            <a:off x="3472225" y="4190050"/>
            <a:ext cx="254100" cy="2493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9" name="Google Shape;189;p27"/>
          <p:cNvCxnSpPr>
            <a:stCxn id="188" idx="6"/>
            <a:endCxn id="178" idx="1"/>
          </p:cNvCxnSpPr>
          <p:nvPr/>
        </p:nvCxnSpPr>
        <p:spPr>
          <a:xfrm>
            <a:off x="3726325" y="4314700"/>
            <a:ext cx="226200" cy="0"/>
          </a:xfrm>
          <a:prstGeom prst="straightConnector1">
            <a:avLst/>
          </a:prstGeom>
          <a:noFill/>
          <a:ln cap="flat" cmpd="sng" w="9525">
            <a:solidFill>
              <a:schemeClr val="dk2"/>
            </a:solidFill>
            <a:prstDash val="solid"/>
            <a:round/>
            <a:headEnd len="med" w="med" type="none"/>
            <a:tailEnd len="med" w="med" type="triangle"/>
          </a:ln>
        </p:spPr>
      </p:cxnSp>
      <p:cxnSp>
        <p:nvCxnSpPr>
          <p:cNvPr id="190" name="Google Shape;190;p27"/>
          <p:cNvCxnSpPr>
            <a:stCxn id="188" idx="6"/>
            <a:endCxn id="185" idx="0"/>
          </p:cNvCxnSpPr>
          <p:nvPr/>
        </p:nvCxnSpPr>
        <p:spPr>
          <a:xfrm flipH="1" rot="10800000">
            <a:off x="3726325" y="4189000"/>
            <a:ext cx="3067800" cy="125700"/>
          </a:xfrm>
          <a:prstGeom prst="bentConnector4">
            <a:avLst>
              <a:gd fmla="val 3001" name="adj1"/>
              <a:gd fmla="val 394849" name="adj2"/>
            </a:avLst>
          </a:prstGeom>
          <a:noFill/>
          <a:ln cap="flat" cmpd="sng" w="9525">
            <a:solidFill>
              <a:schemeClr val="dk2"/>
            </a:solidFill>
            <a:prstDash val="solid"/>
            <a:round/>
            <a:headEnd len="med" w="med" type="none"/>
            <a:tailEnd len="med" w="med" type="triangle"/>
          </a:ln>
        </p:spPr>
      </p:cxnSp>
      <p:sp>
        <p:nvSpPr>
          <p:cNvPr id="191" name="Google Shape;191;p27"/>
          <p:cNvSpPr/>
          <p:nvPr/>
        </p:nvSpPr>
        <p:spPr>
          <a:xfrm>
            <a:off x="6154775" y="2567125"/>
            <a:ext cx="951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Batch Norm</a:t>
            </a:r>
            <a:endParaRPr/>
          </a:p>
        </p:txBody>
      </p:sp>
      <p:cxnSp>
        <p:nvCxnSpPr>
          <p:cNvPr id="192" name="Google Shape;192;p27"/>
          <p:cNvCxnSpPr>
            <a:stCxn id="191" idx="3"/>
            <a:endCxn id="172" idx="2"/>
          </p:cNvCxnSpPr>
          <p:nvPr/>
        </p:nvCxnSpPr>
        <p:spPr>
          <a:xfrm>
            <a:off x="7105775" y="2864875"/>
            <a:ext cx="341700" cy="0"/>
          </a:xfrm>
          <a:prstGeom prst="straightConnector1">
            <a:avLst/>
          </a:prstGeom>
          <a:noFill/>
          <a:ln cap="flat" cmpd="sng" w="9525">
            <a:solidFill>
              <a:schemeClr val="dk2"/>
            </a:solidFill>
            <a:prstDash val="solid"/>
            <a:round/>
            <a:headEnd len="med" w="med" type="none"/>
            <a:tailEnd len="med" w="med" type="triangle"/>
          </a:ln>
        </p:spPr>
      </p:cxnSp>
      <p:sp>
        <p:nvSpPr>
          <p:cNvPr id="175" name="Google Shape;175;p27"/>
          <p:cNvSpPr/>
          <p:nvPr/>
        </p:nvSpPr>
        <p:spPr>
          <a:xfrm>
            <a:off x="3569175" y="1768400"/>
            <a:ext cx="951000" cy="59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1D conv</a:t>
            </a:r>
            <a:endParaRPr/>
          </a:p>
        </p:txBody>
      </p:sp>
      <p:cxnSp>
        <p:nvCxnSpPr>
          <p:cNvPr id="193" name="Google Shape;193;p27"/>
          <p:cNvCxnSpPr>
            <a:stCxn id="175" idx="3"/>
            <a:endCxn id="172" idx="0"/>
          </p:cNvCxnSpPr>
          <p:nvPr/>
        </p:nvCxnSpPr>
        <p:spPr>
          <a:xfrm>
            <a:off x="4520175" y="2066150"/>
            <a:ext cx="3054600" cy="674100"/>
          </a:xfrm>
          <a:prstGeom prst="bentConnector2">
            <a:avLst/>
          </a:prstGeom>
          <a:noFill/>
          <a:ln cap="flat" cmpd="sng" w="9525">
            <a:solidFill>
              <a:schemeClr val="dk2"/>
            </a:solidFill>
            <a:prstDash val="solid"/>
            <a:round/>
            <a:headEnd len="med" w="med" type="none"/>
            <a:tailEnd len="med" w="med" type="triangle"/>
          </a:ln>
        </p:spPr>
      </p:cxnSp>
      <p:sp>
        <p:nvSpPr>
          <p:cNvPr id="194" name="Google Shape;194;p27"/>
          <p:cNvSpPr txBox="1"/>
          <p:nvPr/>
        </p:nvSpPr>
        <p:spPr>
          <a:xfrm>
            <a:off x="2779550" y="1214300"/>
            <a:ext cx="2659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Shortcut with 1D conv, if spatial dimension change</a:t>
            </a:r>
            <a:endParaRPr sz="12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8"/>
          <p:cNvSpPr txBox="1"/>
          <p:nvPr>
            <p:ph type="title"/>
          </p:nvPr>
        </p:nvSpPr>
        <p:spPr>
          <a:xfrm>
            <a:off x="311700" y="445025"/>
            <a:ext cx="4767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Plain CNN vs Batch Norm + Skip Connections</a:t>
            </a:r>
            <a:endParaRPr sz="2020"/>
          </a:p>
        </p:txBody>
      </p:sp>
      <p:sp>
        <p:nvSpPr>
          <p:cNvPr id="200" name="Google Shape;200;p28"/>
          <p:cNvSpPr txBox="1"/>
          <p:nvPr/>
        </p:nvSpPr>
        <p:spPr>
          <a:xfrm>
            <a:off x="346275" y="1223550"/>
            <a:ext cx="4649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PlainCNN:</a:t>
            </a:r>
            <a:r>
              <a:rPr lang="en"/>
              <a:t> params=2734090 best_test_acc=0.802 last_test_acc=0.802</a:t>
            </a:r>
            <a:endParaRPr/>
          </a:p>
          <a:p>
            <a:pPr indent="0" lvl="0" marL="0" rtl="0" algn="l">
              <a:spcBef>
                <a:spcPts val="0"/>
              </a:spcBef>
              <a:spcAft>
                <a:spcPts val="0"/>
              </a:spcAft>
              <a:buNone/>
            </a:pPr>
            <a:r>
              <a:rPr b="1" lang="en"/>
              <a:t>ResNet + Batch Norm :</a:t>
            </a:r>
            <a:r>
              <a:rPr lang="en"/>
              <a:t> params=2777674 best_test_acc=0.884 last_test_acc=0.883</a:t>
            </a:r>
            <a:endParaRPr/>
          </a:p>
        </p:txBody>
      </p:sp>
      <p:pic>
        <p:nvPicPr>
          <p:cNvPr id="201" name="Google Shape;201;p28"/>
          <p:cNvPicPr preferRelativeResize="0"/>
          <p:nvPr/>
        </p:nvPicPr>
        <p:blipFill>
          <a:blip r:embed="rId3">
            <a:alphaModFix/>
          </a:blip>
          <a:stretch>
            <a:fillRect/>
          </a:stretch>
        </p:blipFill>
        <p:spPr>
          <a:xfrm>
            <a:off x="4746400" y="2453950"/>
            <a:ext cx="3432150" cy="2574125"/>
          </a:xfrm>
          <a:prstGeom prst="rect">
            <a:avLst/>
          </a:prstGeom>
          <a:noFill/>
          <a:ln>
            <a:noFill/>
          </a:ln>
        </p:spPr>
      </p:pic>
      <p:pic>
        <p:nvPicPr>
          <p:cNvPr id="202" name="Google Shape;202;p28"/>
          <p:cNvPicPr preferRelativeResize="0"/>
          <p:nvPr/>
        </p:nvPicPr>
        <p:blipFill>
          <a:blip r:embed="rId4">
            <a:alphaModFix/>
          </a:blip>
          <a:stretch>
            <a:fillRect/>
          </a:stretch>
        </p:blipFill>
        <p:spPr>
          <a:xfrm>
            <a:off x="578575" y="2418850"/>
            <a:ext cx="3405034" cy="2553775"/>
          </a:xfrm>
          <a:prstGeom prst="rect">
            <a:avLst/>
          </a:prstGeom>
          <a:noFill/>
          <a:ln>
            <a:noFill/>
          </a:ln>
        </p:spPr>
      </p:pic>
      <p:pic>
        <p:nvPicPr>
          <p:cNvPr id="203" name="Google Shape;203;p28"/>
          <p:cNvPicPr preferRelativeResize="0"/>
          <p:nvPr/>
        </p:nvPicPr>
        <p:blipFill>
          <a:blip r:embed="rId5">
            <a:alphaModFix/>
          </a:blip>
          <a:stretch>
            <a:fillRect/>
          </a:stretch>
        </p:blipFill>
        <p:spPr>
          <a:xfrm>
            <a:off x="4889550" y="52550"/>
            <a:ext cx="3241275" cy="2430950"/>
          </a:xfrm>
          <a:prstGeom prst="rect">
            <a:avLst/>
          </a:prstGeom>
          <a:noFill/>
          <a:ln>
            <a:noFill/>
          </a:ln>
        </p:spPr>
      </p:pic>
      <p:sp>
        <p:nvSpPr>
          <p:cNvPr id="204" name="Google Shape;204;p28"/>
          <p:cNvSpPr txBox="1"/>
          <p:nvPr/>
        </p:nvSpPr>
        <p:spPr>
          <a:xfrm>
            <a:off x="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cifar10_cnn_vs_resnet_bn.py.py</a:t>
            </a:r>
            <a:endParaRPr sz="10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tricks..</a:t>
            </a:r>
            <a:endParaRPr/>
          </a:p>
        </p:txBody>
      </p:sp>
      <p:sp>
        <p:nvSpPr>
          <p:cNvPr id="210" name="Google Shape;21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 augmentation</a:t>
            </a:r>
            <a:endParaRPr/>
          </a:p>
          <a:p>
            <a:pPr indent="-342900" lvl="0" marL="457200" rtl="0" algn="l">
              <a:spcBef>
                <a:spcPts val="0"/>
              </a:spcBef>
              <a:spcAft>
                <a:spcPts val="0"/>
              </a:spcAft>
              <a:buSzPts val="1800"/>
              <a:buChar char="-"/>
            </a:pPr>
            <a:r>
              <a:rPr lang="en"/>
              <a:t>Setting up a convolutional network with downsampling points (using striding) accompanied by increase in channels</a:t>
            </a:r>
            <a:endParaRPr/>
          </a:p>
          <a:p>
            <a:pPr indent="-342900" lvl="0" marL="457200" rtl="0" algn="l">
              <a:spcBef>
                <a:spcPts val="0"/>
              </a:spcBef>
              <a:spcAft>
                <a:spcPts val="0"/>
              </a:spcAft>
              <a:buSzPts val="1800"/>
              <a:buChar char="-"/>
            </a:pPr>
            <a:r>
              <a:rPr lang="en"/>
              <a:t>In the </a:t>
            </a:r>
            <a:r>
              <a:rPr lang="en"/>
              <a:t>batch</a:t>
            </a:r>
            <a:r>
              <a:rPr lang="en"/>
              <a:t> normalization + residual connection implementation, using the concept of blocks. Each block has several convolutional layers. First convolutional layer halves the spatial dimension and doubles the number of channels.</a:t>
            </a:r>
            <a:endParaRPr/>
          </a:p>
          <a:p>
            <a:pPr indent="-342900" lvl="0" marL="457200" rtl="0" algn="l">
              <a:spcBef>
                <a:spcPts val="0"/>
              </a:spcBef>
              <a:spcAft>
                <a:spcPts val="0"/>
              </a:spcAft>
              <a:buSzPts val="1800"/>
              <a:buChar char="-"/>
            </a:pPr>
            <a:r>
              <a:rPr lang="en"/>
              <a:t>In the </a:t>
            </a:r>
            <a:r>
              <a:rPr lang="en"/>
              <a:t>residual</a:t>
            </a:r>
            <a:r>
              <a:rPr lang="en"/>
              <a:t> connection, add a 1d conv if spatial dimension change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lower precision data types in the </a:t>
            </a:r>
            <a:r>
              <a:rPr lang="en"/>
              <a:t>training</a:t>
            </a:r>
            <a:r>
              <a:rPr lang="en"/>
              <a:t> loop</a:t>
            </a:r>
            <a:endParaRPr/>
          </a:p>
        </p:txBody>
      </p:sp>
      <p:sp>
        <p:nvSpPr>
          <p:cNvPr id="216" name="Google Shape;216;p30"/>
          <p:cNvSpPr txBox="1"/>
          <p:nvPr/>
        </p:nvSpPr>
        <p:spPr>
          <a:xfrm>
            <a:off x="5454900" y="1156275"/>
            <a:ext cx="3585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A</a:t>
            </a:r>
            <a:r>
              <a:rPr lang="en" sz="900">
                <a:solidFill>
                  <a:schemeClr val="dk1"/>
                </a:solidFill>
              </a:rPr>
              <a:t>ffects </a:t>
            </a:r>
            <a:r>
              <a:rPr b="1" lang="en" sz="900">
                <a:solidFill>
                  <a:schemeClr val="dk1"/>
                </a:solidFill>
              </a:rPr>
              <a:t>ops executed inside the context</a:t>
            </a:r>
            <a:r>
              <a:rPr lang="en" sz="900">
                <a:solidFill>
                  <a:schemeClr val="dk1"/>
                </a:solidFill>
              </a:rPr>
              <a:t> by choosing a “fast” dtype for each op (fp16/bf16 for many GEMMs/convs, fp32 for numerically sensitive ops like some reductions/softmax parts, etc.)</a:t>
            </a:r>
            <a:endParaRPr sz="1200"/>
          </a:p>
        </p:txBody>
      </p:sp>
      <p:sp>
        <p:nvSpPr>
          <p:cNvPr id="217" name="Google Shape;217;p30"/>
          <p:cNvSpPr txBox="1"/>
          <p:nvPr/>
        </p:nvSpPr>
        <p:spPr>
          <a:xfrm>
            <a:off x="5557800" y="1978100"/>
            <a:ext cx="3379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If we computed gradients also in a lower dtype (eg., fp16), small gradients might underflow to 0. So, we scale up the loss and then calculate the gradients. This way gradient flow is preserved. Also, gradients often sum many contributions. In low precision, when you add a tiny number to a running total, the tiny increment can get rounded away. </a:t>
            </a:r>
            <a:endParaRPr sz="1300"/>
          </a:p>
        </p:txBody>
      </p:sp>
      <p:sp>
        <p:nvSpPr>
          <p:cNvPr id="218" name="Google Shape;218;p30"/>
          <p:cNvSpPr txBox="1"/>
          <p:nvPr/>
        </p:nvSpPr>
        <p:spPr>
          <a:xfrm>
            <a:off x="97975" y="1177700"/>
            <a:ext cx="2916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Once the gradients have been calculated, we scale them back to the original scale. Generally gradients are represented in full precision at this step, so underflow isn’t an issue </a:t>
            </a:r>
            <a:endParaRPr sz="1300"/>
          </a:p>
        </p:txBody>
      </p:sp>
      <p:sp>
        <p:nvSpPr>
          <p:cNvPr id="219" name="Google Shape;219;p30"/>
          <p:cNvSpPr txBox="1"/>
          <p:nvPr/>
        </p:nvSpPr>
        <p:spPr>
          <a:xfrm>
            <a:off x="235500" y="39452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checks if any grads are inf/nan. If yes, it </a:t>
            </a:r>
            <a:r>
              <a:rPr b="1" lang="en" sz="900">
                <a:solidFill>
                  <a:schemeClr val="dk1"/>
                </a:solidFill>
              </a:rPr>
              <a:t>skips</a:t>
            </a:r>
            <a:r>
              <a:rPr lang="en" sz="900">
                <a:solidFill>
                  <a:schemeClr val="dk1"/>
                </a:solidFill>
              </a:rPr>
              <a:t> </a:t>
            </a:r>
            <a:r>
              <a:rPr lang="en" sz="900">
                <a:solidFill>
                  <a:schemeClr val="dk1"/>
                </a:solidFill>
              </a:rPr>
              <a:t>optimizer.step().</a:t>
            </a:r>
            <a:endParaRPr sz="900">
              <a:solidFill>
                <a:schemeClr val="dk1"/>
              </a:solidFill>
            </a:endParaRPr>
          </a:p>
        </p:txBody>
      </p:sp>
      <p:sp>
        <p:nvSpPr>
          <p:cNvPr id="220" name="Google Shape;220;p30"/>
          <p:cNvSpPr txBox="1"/>
          <p:nvPr/>
        </p:nvSpPr>
        <p:spPr>
          <a:xfrm>
            <a:off x="3323700" y="4200575"/>
            <a:ext cx="2496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A</a:t>
            </a:r>
            <a:r>
              <a:rPr lang="en" sz="1000">
                <a:solidFill>
                  <a:schemeClr val="dk1"/>
                </a:solidFill>
              </a:rPr>
              <a:t>djusts </a:t>
            </a:r>
            <a:r>
              <a:rPr lang="en" sz="1000">
                <a:solidFill>
                  <a:srgbClr val="188038"/>
                </a:solidFill>
                <a:latin typeface="Roboto Mono"/>
                <a:ea typeface="Roboto Mono"/>
                <a:cs typeface="Roboto Mono"/>
                <a:sym typeface="Roboto Mono"/>
              </a:rPr>
              <a:t>S</a:t>
            </a:r>
            <a:r>
              <a:rPr lang="en" sz="1000">
                <a:solidFill>
                  <a:schemeClr val="dk1"/>
                </a:solidFill>
              </a:rPr>
              <a:t> (down if overflow happened; up slowly if things are stable)</a:t>
            </a:r>
            <a:endParaRPr sz="1300"/>
          </a:p>
        </p:txBody>
      </p:sp>
      <p:sp>
        <p:nvSpPr>
          <p:cNvPr id="221" name="Google Shape;221;p30"/>
          <p:cNvSpPr txBox="1"/>
          <p:nvPr/>
        </p:nvSpPr>
        <p:spPr>
          <a:xfrm>
            <a:off x="0" y="2220850"/>
            <a:ext cx="23964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It looks at </a:t>
            </a:r>
            <a:r>
              <a:rPr b="1" lang="en" sz="900">
                <a:solidFill>
                  <a:schemeClr val="dk1"/>
                </a:solidFill>
              </a:rPr>
              <a:t>all gradients together</a:t>
            </a:r>
            <a:r>
              <a:rPr lang="en" sz="900">
                <a:solidFill>
                  <a:schemeClr val="dk1"/>
                </a:solidFill>
              </a:rPr>
              <a:t> (over all parameters), computes a </a:t>
            </a:r>
            <a:r>
              <a:rPr b="1" lang="en" sz="900">
                <a:solidFill>
                  <a:schemeClr val="dk1"/>
                </a:solidFill>
              </a:rPr>
              <a:t>global norm</a:t>
            </a:r>
            <a:r>
              <a:rPr lang="en" sz="900">
                <a:solidFill>
                  <a:schemeClr val="dk1"/>
                </a:solidFill>
              </a:rPr>
              <a:t> (usually L2), and if that norm is bigger than your threshold </a:t>
            </a:r>
            <a:r>
              <a:rPr lang="en" sz="900">
                <a:solidFill>
                  <a:srgbClr val="188038"/>
                </a:solidFill>
                <a:latin typeface="Roboto Mono"/>
                <a:ea typeface="Roboto Mono"/>
                <a:cs typeface="Roboto Mono"/>
                <a:sym typeface="Roboto Mono"/>
              </a:rPr>
              <a:t>grad_clip</a:t>
            </a:r>
            <a:r>
              <a:rPr lang="en" sz="900">
                <a:solidFill>
                  <a:schemeClr val="dk1"/>
                </a:solidFill>
              </a:rPr>
              <a:t>, it multiplies </a:t>
            </a:r>
            <a:r>
              <a:rPr lang="en" sz="900">
                <a:solidFill>
                  <a:schemeClr val="dk1"/>
                </a:solidFill>
              </a:rPr>
              <a:t>every gradient tensor</a:t>
            </a:r>
            <a:r>
              <a:rPr lang="en" sz="900">
                <a:solidFill>
                  <a:schemeClr val="dk1"/>
                </a:solidFill>
              </a:rPr>
              <a:t> by the same factor so the global norm becomes </a:t>
            </a:r>
            <a:r>
              <a:rPr lang="en" sz="900">
                <a:solidFill>
                  <a:srgbClr val="188038"/>
                </a:solidFill>
                <a:latin typeface="Roboto Mono"/>
                <a:ea typeface="Roboto Mono"/>
                <a:cs typeface="Roboto Mono"/>
                <a:sym typeface="Roboto Mono"/>
              </a:rPr>
              <a:t>grad_clip.</a:t>
            </a:r>
            <a:r>
              <a:rPr lang="en" sz="900">
                <a:solidFill>
                  <a:schemeClr val="dk1"/>
                </a:solidFill>
              </a:rPr>
              <a:t>It prevents large parameter updates due to gradient spikes. </a:t>
            </a:r>
            <a:r>
              <a:rPr lang="en" sz="1200">
                <a:solidFill>
                  <a:schemeClr val="dk1"/>
                </a:solidFill>
              </a:rPr>
              <a:t> </a:t>
            </a:r>
            <a:endParaRPr sz="1500"/>
          </a:p>
        </p:txBody>
      </p:sp>
      <p:pic>
        <p:nvPicPr>
          <p:cNvPr id="222" name="Google Shape;222;p30"/>
          <p:cNvPicPr preferRelativeResize="0"/>
          <p:nvPr/>
        </p:nvPicPr>
        <p:blipFill>
          <a:blip r:embed="rId3">
            <a:alphaModFix/>
          </a:blip>
          <a:stretch>
            <a:fillRect/>
          </a:stretch>
        </p:blipFill>
        <p:spPr>
          <a:xfrm>
            <a:off x="2651272" y="1830947"/>
            <a:ext cx="2833025" cy="1872700"/>
          </a:xfrm>
          <a:prstGeom prst="rect">
            <a:avLst/>
          </a:prstGeom>
          <a:noFill/>
          <a:ln>
            <a:noFill/>
          </a:ln>
        </p:spPr>
      </p:pic>
      <p:cxnSp>
        <p:nvCxnSpPr>
          <p:cNvPr id="223" name="Google Shape;223;p30"/>
          <p:cNvCxnSpPr>
            <a:stCxn id="216" idx="1"/>
          </p:cNvCxnSpPr>
          <p:nvPr/>
        </p:nvCxnSpPr>
        <p:spPr>
          <a:xfrm flipH="1">
            <a:off x="4903500" y="1456425"/>
            <a:ext cx="551400" cy="413400"/>
          </a:xfrm>
          <a:prstGeom prst="straightConnector1">
            <a:avLst/>
          </a:prstGeom>
          <a:noFill/>
          <a:ln cap="flat" cmpd="sng" w="9525">
            <a:solidFill>
              <a:schemeClr val="dk2"/>
            </a:solidFill>
            <a:prstDash val="solid"/>
            <a:round/>
            <a:headEnd len="med" w="med" type="none"/>
            <a:tailEnd len="med" w="med" type="triangle"/>
          </a:ln>
        </p:spPr>
      </p:cxnSp>
      <p:cxnSp>
        <p:nvCxnSpPr>
          <p:cNvPr id="224" name="Google Shape;224;p30"/>
          <p:cNvCxnSpPr/>
          <p:nvPr/>
        </p:nvCxnSpPr>
        <p:spPr>
          <a:xfrm flipH="1">
            <a:off x="4492350" y="2273675"/>
            <a:ext cx="1093800" cy="252000"/>
          </a:xfrm>
          <a:prstGeom prst="straightConnector1">
            <a:avLst/>
          </a:prstGeom>
          <a:noFill/>
          <a:ln cap="flat" cmpd="sng" w="9525">
            <a:solidFill>
              <a:schemeClr val="dk2"/>
            </a:solidFill>
            <a:prstDash val="solid"/>
            <a:round/>
            <a:headEnd len="med" w="med" type="none"/>
            <a:tailEnd len="med" w="med" type="triangle"/>
          </a:ln>
        </p:spPr>
      </p:cxnSp>
      <p:cxnSp>
        <p:nvCxnSpPr>
          <p:cNvPr id="225" name="Google Shape;225;p30"/>
          <p:cNvCxnSpPr/>
          <p:nvPr/>
        </p:nvCxnSpPr>
        <p:spPr>
          <a:xfrm>
            <a:off x="2308025" y="1830950"/>
            <a:ext cx="739200" cy="953100"/>
          </a:xfrm>
          <a:prstGeom prst="straightConnector1">
            <a:avLst/>
          </a:prstGeom>
          <a:noFill/>
          <a:ln cap="flat" cmpd="sng" w="9525">
            <a:solidFill>
              <a:schemeClr val="dk2"/>
            </a:solidFill>
            <a:prstDash val="solid"/>
            <a:round/>
            <a:headEnd len="med" w="med" type="none"/>
            <a:tailEnd len="med" w="med" type="triangle"/>
          </a:ln>
        </p:spPr>
      </p:cxnSp>
      <p:cxnSp>
        <p:nvCxnSpPr>
          <p:cNvPr id="226" name="Google Shape;226;p30"/>
          <p:cNvCxnSpPr/>
          <p:nvPr/>
        </p:nvCxnSpPr>
        <p:spPr>
          <a:xfrm flipH="1" rot="10800000">
            <a:off x="2276250" y="3024225"/>
            <a:ext cx="401700" cy="23100"/>
          </a:xfrm>
          <a:prstGeom prst="straightConnector1">
            <a:avLst/>
          </a:prstGeom>
          <a:noFill/>
          <a:ln cap="flat" cmpd="sng" w="9525">
            <a:solidFill>
              <a:schemeClr val="dk2"/>
            </a:solidFill>
            <a:prstDash val="solid"/>
            <a:round/>
            <a:headEnd len="med" w="med" type="none"/>
            <a:tailEnd len="med" w="med" type="triangle"/>
          </a:ln>
        </p:spPr>
      </p:cxnSp>
      <p:cxnSp>
        <p:nvCxnSpPr>
          <p:cNvPr id="227" name="Google Shape;227;p30"/>
          <p:cNvCxnSpPr/>
          <p:nvPr/>
        </p:nvCxnSpPr>
        <p:spPr>
          <a:xfrm flipH="1" rot="10800000">
            <a:off x="1906325" y="3472125"/>
            <a:ext cx="780900" cy="496200"/>
          </a:xfrm>
          <a:prstGeom prst="straightConnector1">
            <a:avLst/>
          </a:prstGeom>
          <a:noFill/>
          <a:ln cap="flat" cmpd="sng" w="9525">
            <a:solidFill>
              <a:schemeClr val="dk2"/>
            </a:solidFill>
            <a:prstDash val="solid"/>
            <a:round/>
            <a:headEnd len="med" w="med" type="none"/>
            <a:tailEnd len="med" w="med" type="triangle"/>
          </a:ln>
        </p:spPr>
      </p:cxnSp>
      <p:cxnSp>
        <p:nvCxnSpPr>
          <p:cNvPr id="228" name="Google Shape;228;p30"/>
          <p:cNvCxnSpPr/>
          <p:nvPr/>
        </p:nvCxnSpPr>
        <p:spPr>
          <a:xfrm rot="10800000">
            <a:off x="3287550" y="3675250"/>
            <a:ext cx="451800" cy="505500"/>
          </a:xfrm>
          <a:prstGeom prst="straightConnector1">
            <a:avLst/>
          </a:prstGeom>
          <a:noFill/>
          <a:ln cap="flat" cmpd="sng" w="9525">
            <a:solidFill>
              <a:schemeClr val="dk2"/>
            </a:solidFill>
            <a:prstDash val="solid"/>
            <a:round/>
            <a:headEnd len="med" w="med" type="none"/>
            <a:tailEnd len="med" w="med" type="triangle"/>
          </a:ln>
        </p:spPr>
      </p:cxnSp>
      <p:sp>
        <p:nvSpPr>
          <p:cNvPr id="229" name="Google Shape;229;p30"/>
          <p:cNvSpPr txBox="1"/>
          <p:nvPr/>
        </p:nvSpPr>
        <p:spPr>
          <a:xfrm>
            <a:off x="5937600" y="360125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Default precision:</a:t>
            </a:r>
            <a:endParaRPr b="1" sz="1000"/>
          </a:p>
          <a:p>
            <a:pPr indent="0" lvl="0" marL="0" rtl="0" algn="l">
              <a:spcBef>
                <a:spcPts val="0"/>
              </a:spcBef>
              <a:spcAft>
                <a:spcPts val="0"/>
              </a:spcAft>
              <a:buNone/>
            </a:pPr>
            <a:r>
              <a:rPr lang="en" sz="1000"/>
              <a:t>Total execution time = 2.549 sec</a:t>
            </a:r>
            <a:endParaRPr sz="1000"/>
          </a:p>
          <a:p>
            <a:pPr indent="0" lvl="0" marL="0" rtl="0" algn="l">
              <a:spcBef>
                <a:spcPts val="0"/>
              </a:spcBef>
              <a:spcAft>
                <a:spcPts val="0"/>
              </a:spcAft>
              <a:buNone/>
            </a:pPr>
            <a:r>
              <a:rPr lang="en" sz="1000"/>
              <a:t>Max memory used by tensors = 2.78 GB</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b="1" lang="en" sz="1000"/>
              <a:t>Mixed precision:</a:t>
            </a:r>
            <a:endParaRPr b="1" sz="1000"/>
          </a:p>
          <a:p>
            <a:pPr indent="0" lvl="0" marL="0" rtl="0" algn="l">
              <a:spcBef>
                <a:spcPts val="0"/>
              </a:spcBef>
              <a:spcAft>
                <a:spcPts val="0"/>
              </a:spcAft>
              <a:buNone/>
            </a:pPr>
            <a:r>
              <a:rPr lang="en" sz="1000"/>
              <a:t>Total execution time = 1.354 sec</a:t>
            </a:r>
            <a:endParaRPr sz="1000"/>
          </a:p>
          <a:p>
            <a:pPr indent="0" lvl="0" marL="0" rtl="0" algn="l">
              <a:spcBef>
                <a:spcPts val="0"/>
              </a:spcBef>
              <a:spcAft>
                <a:spcPts val="0"/>
              </a:spcAft>
              <a:buNone/>
            </a:pPr>
            <a:r>
              <a:rPr lang="en" sz="1000"/>
              <a:t>Max memory used by tensors = 2.76 GB</a:t>
            </a:r>
            <a:endParaRPr sz="1000"/>
          </a:p>
        </p:txBody>
      </p:sp>
      <p:sp>
        <p:nvSpPr>
          <p:cNvPr id="230" name="Google Shape;230;p30"/>
          <p:cNvSpPr txBox="1"/>
          <p:nvPr/>
        </p:nvSpPr>
        <p:spPr>
          <a:xfrm>
            <a:off x="56425" y="47233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full_vs_mixed_precision_timing.py</a:t>
            </a:r>
            <a:endParaRPr sz="1000">
              <a:solidFill>
                <a:srgbClr val="BCBEC4"/>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