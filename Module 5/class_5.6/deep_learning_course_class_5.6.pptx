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C7AB69-32D0-4E43-AA6A-C73308EDF23E}">
  <a:tblStyle styleId="{D7C7AB69-32D0-4E43-AA6A-C73308EDF2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29b9b3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29b9b3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0fca4b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0fca4b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0fca4b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0fca4b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0fca4b1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0fca4b1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0fca4b1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40fca4b1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0fca4b1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0fca4b1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0fca4b1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0fca4b1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0fca4b1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0fca4b1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40fca4b1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40fca4b1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0fca4b1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40fca4b1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0fca4b1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40fca4b1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6f637be96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6f637be9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f637be96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6f637be9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6f637be96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6f637be9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e059728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e059728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4e05972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4e05972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1810.0480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Architectures: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Transformers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5.6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and Pre-read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Transformer architecture 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Generating representations: sequence classification, token classification, retrieval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Generating new tokens: </a:t>
            </a:r>
            <a:r>
              <a:rPr lang="en"/>
              <a:t>summarization</a:t>
            </a:r>
            <a:r>
              <a:rPr lang="en"/>
              <a:t>, language translation..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BERT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BERT variants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Roberta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mpNet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Recall.. Transformer architecture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13405"/>
          <a:stretch/>
        </p:blipFill>
        <p:spPr>
          <a:xfrm>
            <a:off x="3652225" y="918250"/>
            <a:ext cx="1736600" cy="25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118500" y="4672550"/>
            <a:ext cx="26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1774363" y="4716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{D7C7AB69-32D0-4E43-AA6A-C73308EDF23E}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25"/>
                <a:gridCol w="470125"/>
                <a:gridCol w="470125"/>
                <a:gridCol w="470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" name="Google Shape;70;p15"/>
          <p:cNvGraphicFramePr/>
          <p:nvPr/>
        </p:nvGraphicFramePr>
        <p:xfrm>
          <a:off x="1774363" y="4120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{D7C7AB69-32D0-4E43-AA6A-C73308EDF23E}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0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1" name="Google Shape;71;p15"/>
          <p:cNvGraphicFramePr/>
          <p:nvPr/>
        </p:nvGraphicFramePr>
        <p:xfrm>
          <a:off x="1774413" y="3508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{D7C7AB69-32D0-4E43-AA6A-C73308EDF23E}</a:tableStyleId>
              </a:tblPr>
              <a:tblGrid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504925"/>
                <a:gridCol w="470100"/>
                <a:gridCol w="470100"/>
                <a:gridCol w="470100"/>
                <a:gridCol w="470100"/>
              </a:tblGrid>
              <a:tr h="40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e1+p1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e2+p2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e3+p3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e4+p4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e5+p5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e6+p6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e7+p7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e8+p8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e_pad+p10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e_pad+p11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e_pad+p12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5531350" y="1906900"/>
            <a:ext cx="50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7625" y="4595600"/>
            <a:ext cx="189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Tokenization + padding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7625" y="4125688"/>
            <a:ext cx="189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Pad mask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7625" y="3414000"/>
            <a:ext cx="189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Token + position embeddings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we do with Transformers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use the transformer architecture to solve various problems?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We’ll focus on text based problems.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Classification</a:t>
            </a:r>
            <a:r>
              <a:rPr lang="en"/>
              <a:t>: </a:t>
            </a:r>
            <a:r>
              <a:rPr lang="en"/>
              <a:t>tweet sentiment analysis, intent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Per-token</a:t>
            </a:r>
            <a:r>
              <a:rPr lang="en"/>
              <a:t> labeling: 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Seq-to-seq</a:t>
            </a:r>
            <a:r>
              <a:rPr lang="en"/>
              <a:t>: eg., language translation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Generation</a:t>
            </a:r>
            <a:r>
              <a:rPr lang="en"/>
              <a:t>: sentence completion, question answering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Representation</a:t>
            </a:r>
            <a:r>
              <a:rPr lang="en"/>
              <a:t>: embedding generation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changes as we go from one task to the other?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Input </a:t>
            </a:r>
            <a:r>
              <a:rPr b="1" lang="en"/>
              <a:t>representation:</a:t>
            </a:r>
            <a:r>
              <a:rPr lang="en"/>
              <a:t> tokens for text, patches for images..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Attention masking:</a:t>
            </a:r>
            <a:r>
              <a:rPr lang="en"/>
              <a:t> bidirectional, causal, local attention..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Training objective:</a:t>
            </a:r>
            <a:r>
              <a:rPr lang="en"/>
              <a:t> masked-token prediction, next-token prediction, contrastive loss, reconstruction, class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Output head:</a:t>
            </a:r>
            <a:r>
              <a:rPr lang="en"/>
              <a:t> classifier head, token classifier, language modeling head, embedding projection..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main transformer families	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Encoder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Decoder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Encoder-Decoder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Encoders: 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for representation learning and understanding. Typical uses: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sequence classification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token classification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sentence embeddings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retrieval encoders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masked language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BERT: Bidirectional Encoder Representations from Transformers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30175" y="1420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1- Pre-training: Self-supervised training using Masked Language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2- Task specific training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BERT: Pre-training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idea: Hide some words (replace by a special MASK token), and ask the model to predict those words. In doing so, the model learns the syntax of the language, making specialized tasks such as sentiment classification easier.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ground truth necessary, as the identity of the MASK token is known in advance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loss is x-entropy loss over the vocabulary. Model outputs vocab logits for each token. For each masked token, we calculate x-entropy loss against the known value of the masked token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BERT: Pre-training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51918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architectural modifications are needed? </a:t>
            </a: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558650" y="2946150"/>
            <a:ext cx="13851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Block</a:t>
            </a:r>
            <a:endParaRPr/>
          </a:p>
        </p:txBody>
      </p:sp>
      <p:sp>
        <p:nvSpPr>
          <p:cNvPr id="119" name="Google Shape;119;p22"/>
          <p:cNvSpPr txBox="1"/>
          <p:nvPr/>
        </p:nvSpPr>
        <p:spPr>
          <a:xfrm>
            <a:off x="884175" y="3846100"/>
            <a:ext cx="99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B, T, 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851850" y="2059275"/>
            <a:ext cx="99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Output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B, T, 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2121600" y="3077700"/>
            <a:ext cx="99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1188850" y="3670950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1188850" y="2669250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2948150" y="2006662"/>
            <a:ext cx="5293500" cy="17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is in the embedding space. We need to map it to the vocab space. A trainable FC layer of size (D, V) is added. The output of the FC layer is used to calculate x-entropy loss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BERT paper also uses Next Sentence Prediction (NSP) loss, but most successors of BERT don’t use it.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BERT: Classification	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362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For classification, we need to map BERT output to a vector of class probabilities. We could take the average of the output token embeddings.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What is instead done is to prepend a special token [CLS] (short for classification) to the input. The output embedding for this sentence is then projected into the class probability space by multiplying with a learnable classification head matrix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During post-training, we can freeze the weights of the transformer backbone and only train the classification head, or train the entire network</a:t>
            </a:r>
            <a:endParaRPr sz="1400"/>
          </a:p>
        </p:txBody>
      </p:sp>
      <p:sp>
        <p:nvSpPr>
          <p:cNvPr id="131" name="Google Shape;131;p23"/>
          <p:cNvSpPr/>
          <p:nvPr/>
        </p:nvSpPr>
        <p:spPr>
          <a:xfrm>
            <a:off x="5418977" y="3232425"/>
            <a:ext cx="13851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Block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5162748" y="4280125"/>
            <a:ext cx="217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CLS + input tokens + SEP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4950550" y="2521000"/>
            <a:ext cx="781800" cy="5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CLS_e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(1, D)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6981927" y="3363975"/>
            <a:ext cx="99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6049177" y="39572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6049177" y="29555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5878450" y="2521000"/>
            <a:ext cx="2312400" cy="36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Embeddings for input tokens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5666775" y="2521000"/>
            <a:ext cx="32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+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4648900" y="1666250"/>
            <a:ext cx="1385100" cy="66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Head (D, C)</a:t>
            </a: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4648900" y="944100"/>
            <a:ext cx="13851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X-entropy loss</a:t>
            </a:r>
            <a:endParaRPr/>
          </a:p>
        </p:txBody>
      </p:sp>
      <p:cxnSp>
        <p:nvCxnSpPr>
          <p:cNvPr id="141" name="Google Shape;141;p23"/>
          <p:cNvCxnSpPr>
            <a:stCxn id="133" idx="0"/>
            <a:endCxn id="139" idx="2"/>
          </p:cNvCxnSpPr>
          <p:nvPr/>
        </p:nvCxnSpPr>
        <p:spPr>
          <a:xfrm rot="10800000">
            <a:off x="5341450" y="2326900"/>
            <a:ext cx="0" cy="1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3"/>
          <p:cNvCxnSpPr>
            <a:stCxn id="139" idx="0"/>
            <a:endCxn id="140" idx="2"/>
          </p:cNvCxnSpPr>
          <p:nvPr/>
        </p:nvCxnSpPr>
        <p:spPr>
          <a:xfrm rot="10800000">
            <a:off x="5341450" y="1472150"/>
            <a:ext cx="0" cy="19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3"/>
          <p:cNvSpPr txBox="1"/>
          <p:nvPr/>
        </p:nvSpPr>
        <p:spPr>
          <a:xfrm>
            <a:off x="6506375" y="931050"/>
            <a:ext cx="68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True Class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44" name="Google Shape;144;p23"/>
          <p:cNvCxnSpPr>
            <a:stCxn id="143" idx="1"/>
            <a:endCxn id="140" idx="3"/>
          </p:cNvCxnSpPr>
          <p:nvPr/>
        </p:nvCxnSpPr>
        <p:spPr>
          <a:xfrm rot="10800000">
            <a:off x="6033875" y="1208100"/>
            <a:ext cx="47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3"/>
          <p:cNvSpPr txBox="1"/>
          <p:nvPr/>
        </p:nvSpPr>
        <p:spPr>
          <a:xfrm>
            <a:off x="6634199" y="1666250"/>
            <a:ext cx="19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C: Number of classes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Decoder-only (Generative) models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1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Key idea: Given some text, predict what follows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Input: the, quick, brown, fox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One plausible output: jumps, over, the.. </a:t>
            </a:r>
            <a:endParaRPr sz="1600"/>
          </a:p>
        </p:txBody>
      </p:sp>
      <p:pic>
        <p:nvPicPr>
          <p:cNvPr descr="{&quot;code&quot;:&quot;\\begin{gather*}\n{\\text{Bayes}\\;\\text{rule}}\\\\\n{P\\left(x_{1},\\,x_{2}\\right)=P\\left(x_{2}|x_{1}\\right)P\\left(x_{1}\\right)}\\\\\n{P\\left(x_{1},x_{2},x_{3}...x_{n}\\right)=}\\\\\n{P\\left(x_{n}|x_{n-1}...x_{1}\\right)P\\left(x_{n-1}|x_{n-2}...x_{1}\\right)\\,...P\\left(x_{2}|x_{1}\\right)P\\left(x_{1}\\right)}\\\\\n{\\text{If}\\;\\text{the}\\;\\text{input}\\;\\text{tokens}\\;\\text{are}\\;x_{1}...x_{M},\\,\\text{and}\\;\\text{output}\\;\\text{tokens:}\\;y_{1}...y_{T}\\text{}}\\\\\n{\\text{Then:}}\\\\\n{P\\left(y_{1}...y_{T}|x_{1}...x_{M}\\right)=P\\left(y_{1}|x_{1}...x_{M}\\right)P\\left(y_{2}|y_{1,}x_{1}...x_{M}\\right)...p\\left(y_{T}|y_{T-1}...y_{1},x_{1}...x_{M}\\right)}\t\n\\end{gather*}&quot;,&quot;aid&quot;:null,&quot;type&quot;:&quot;gather*&quot;,&quot;font&quot;:{&quot;family&quot;:&quot;Arial&quot;,&quot;size&quot;:14.5,&quot;color&quot;:&quot;#595959&quot;},&quot;id&quot;:&quot;1&quot;,&quot;backgroundColorModified&quot;:false,&quot;backgroundColor&quot;:&quot;#FFFFFF&quot;,&quot;ts&quot;:1775784172784,&quot;cs&quot;:&quot;w77MoLgL/yjlSogZQnt1ag==&quot;,&quot;size&quot;:{&quot;width&quot;:846.7507170603675,&quot;height&quot;:200.37534278215222}}"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50" y="2525425"/>
            <a:ext cx="8065301" cy="19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446250" y="4463775"/>
            <a:ext cx="8457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Predicted tokens</a:t>
            </a:r>
            <a:endParaRPr sz="1400"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1402325" y="4463775"/>
            <a:ext cx="8457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Input </a:t>
            </a:r>
            <a:r>
              <a:rPr lang="en" sz="1400"/>
              <a:t>tokens</a:t>
            </a:r>
            <a:endParaRPr sz="1400"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2864400" y="4519550"/>
            <a:ext cx="8457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Predict first output token</a:t>
            </a:r>
            <a:endParaRPr sz="1400"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165750" y="4474850"/>
            <a:ext cx="16029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Add the predicted token to the input context and predict the second token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Decoder-only (Generative) models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8520600" cy="19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Key idea: The model needs to learn to assign higher probabilities to more plausible input sequences 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P(model, needs, to, learn) &gt; P(needs, learns, model, to)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Like BERT, the training signal is inherent in the token sequence. How do we utilize this in a generative context? </a:t>
            </a:r>
            <a:endParaRPr sz="1500"/>
          </a:p>
        </p:txBody>
      </p:sp>
      <p:pic>
        <p:nvPicPr>
          <p:cNvPr descr="{&quot;type&quot;:&quot;gather*&quot;,&quot;backgroundColor&quot;:&quot;#FFFFFF&quot;,&quot;id&quot;:&quot;2&quot;,&quot;backgroundColorModified&quot;:false,&quot;code&quot;:&quot;\\begin{gather*}\n{P\\left(y_{1},\\,y_{2},\\,y_{3},\\,y_{4}\\right)=P\\left(\\giventhat{y_{4}}{y_{3},y_{2},y_{1}}\\right)P\\left(\\giventhat{y_{3}}{y_{2},y_{1}}\\right)P\\left(\\giventhat{y_{2}}{y_{1}}\\right)P\\left(y_{1}\\right)}\\\\\n{\\log_{}P\\left(y_{1},\\,y_{2},\\,y_{3},\\,y_{4}\\right)=\\log_{}P\\left(\\giventhat{y_{4}}{y_{3},y_{2},y_{1}}\\right)+\\log_{}P\\left(\\giventhat{y_{3}}{y_{2},y_{1}}\\right)+\\log_{}P\\left(\\giventhat{y_{2}}{y_{1}}\\right)+\\log_{}P\\left(y_{1}\\right)}\t\n\\end{gather*}&quot;,&quot;font&quot;:{&quot;color&quot;:&quot;#000000&quot;,&quot;family&quot;:&quot;Arial&quot;,&quot;size&quot;:12},&quot;aid&quot;:null,&quot;ts&quot;:1775821950711,&quot;cs&quot;:&quot;yLTGIMf/rFnCZCzF3pXQZw==&quot;,&quot;size&quot;:{&quot;width&quot;:732,&quot;height&quot;:43.5}}"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200" y="2897960"/>
            <a:ext cx="697230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/>
        </p:nvSpPr>
        <p:spPr>
          <a:xfrm>
            <a:off x="1476400" y="3780250"/>
            <a:ext cx="606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do this, each token must only see the tokens before it.. This is implemented using a causal attention mask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Attention Mask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42218" cy="39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4694625" y="18752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T0 only sees the keys corresponding to T0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4694625" y="2224125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T1 only sees the keys corresponding to T0, T1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694625" y="2571750"/>
            <a:ext cx="42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T2 only sees the keys corresponding to T0, T1, T2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 Architecture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257652" y="2738325"/>
            <a:ext cx="1385100" cy="72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Block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316948" y="3792000"/>
            <a:ext cx="217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nput tokens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887852" y="34631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887852" y="2461425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2015098" y="1305700"/>
            <a:ext cx="217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</a:t>
            </a:r>
            <a:r>
              <a:rPr lang="en" sz="1600">
                <a:solidFill>
                  <a:schemeClr val="dk2"/>
                </a:solidFill>
              </a:rPr>
              <a:t> tokens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4588875" y="3609800"/>
            <a:ext cx="349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&lt;BOS&gt;, Hello, how, are, you, &lt;EOS&gt;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5081550" y="43362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Hello, how, are, you</a:t>
            </a:r>
            <a:endParaRPr sz="1300"/>
          </a:p>
        </p:txBody>
      </p:sp>
      <p:sp>
        <p:nvSpPr>
          <p:cNvPr id="186" name="Google Shape;186;p27"/>
          <p:cNvSpPr/>
          <p:nvPr/>
        </p:nvSpPr>
        <p:spPr>
          <a:xfrm>
            <a:off x="6118800" y="4025300"/>
            <a:ext cx="363000" cy="354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3455250" y="2844922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6470900" y="2843800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</a:t>
            </a:r>
            <a:r>
              <a:rPr lang="en" sz="1300">
                <a:solidFill>
                  <a:srgbClr val="FF0000"/>
                </a:solidFill>
              </a:rPr>
              <a:t>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89" name="Google Shape;189;p27"/>
          <p:cNvCxnSpPr>
            <a:stCxn id="184" idx="0"/>
            <a:endCxn id="187" idx="2"/>
          </p:cNvCxnSpPr>
          <p:nvPr/>
        </p:nvCxnSpPr>
        <p:spPr>
          <a:xfrm flipH="1" rot="5400000">
            <a:off x="5315325" y="2589950"/>
            <a:ext cx="380100" cy="16596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27"/>
          <p:cNvCxnSpPr>
            <a:stCxn id="184" idx="0"/>
            <a:endCxn id="188" idx="2"/>
          </p:cNvCxnSpPr>
          <p:nvPr/>
        </p:nvCxnSpPr>
        <p:spPr>
          <a:xfrm rot="-5400000">
            <a:off x="6829275" y="2734700"/>
            <a:ext cx="381000" cy="1369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7"/>
          <p:cNvSpPr/>
          <p:nvPr/>
        </p:nvSpPr>
        <p:spPr>
          <a:xfrm>
            <a:off x="4588875" y="3662750"/>
            <a:ext cx="2560800" cy="30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7"/>
          <p:cNvSpPr/>
          <p:nvPr/>
        </p:nvSpPr>
        <p:spPr>
          <a:xfrm>
            <a:off x="5360400" y="3662750"/>
            <a:ext cx="2560800" cy="309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4297199" y="2393050"/>
            <a:ext cx="7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Input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6959250" y="2393050"/>
            <a:ext cx="88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4519412" y="1765313"/>
            <a:ext cx="244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</a:rPr>
              <a:t>&lt;BOS&gt;, Hello, how, are, you</a:t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4751937" y="1283088"/>
            <a:ext cx="246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</a:rPr>
              <a:t>Hello, how, are, you, &lt;EOS&gt;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197" name="Google Shape;197;p27"/>
          <p:cNvCxnSpPr/>
          <p:nvPr/>
        </p:nvCxnSpPr>
        <p:spPr>
          <a:xfrm rot="10800000">
            <a:off x="500451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7"/>
          <p:cNvCxnSpPr/>
          <p:nvPr/>
        </p:nvCxnSpPr>
        <p:spPr>
          <a:xfrm rot="10800000">
            <a:off x="54877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7"/>
          <p:cNvCxnSpPr/>
          <p:nvPr/>
        </p:nvCxnSpPr>
        <p:spPr>
          <a:xfrm rot="10800000">
            <a:off x="581533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7"/>
          <p:cNvCxnSpPr/>
          <p:nvPr/>
        </p:nvCxnSpPr>
        <p:spPr>
          <a:xfrm rot="10800000">
            <a:off x="6118788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7"/>
          <p:cNvCxnSpPr/>
          <p:nvPr/>
        </p:nvCxnSpPr>
        <p:spPr>
          <a:xfrm rot="10800000">
            <a:off x="6502263" y="1595563"/>
            <a:ext cx="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7"/>
          <p:cNvSpPr txBox="1"/>
          <p:nvPr/>
        </p:nvSpPr>
        <p:spPr>
          <a:xfrm>
            <a:off x="1715350" y="2783425"/>
            <a:ext cx="1815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Causal Attention Mask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203" name="Google Shape;203;p27"/>
          <p:cNvCxnSpPr/>
          <p:nvPr/>
        </p:nvCxnSpPr>
        <p:spPr>
          <a:xfrm rot="10800000">
            <a:off x="1715625" y="3075975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7"/>
          <p:cNvSpPr txBox="1"/>
          <p:nvPr/>
        </p:nvSpPr>
        <p:spPr>
          <a:xfrm>
            <a:off x="7149675" y="1383200"/>
            <a:ext cx="174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Predicting end of a sentence is very important!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370750" y="4337950"/>
            <a:ext cx="399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Tokenization, embedding lookup, positional embeddings remain unchanged</a:t>
            </a:r>
            <a:endParaRPr sz="1100"/>
          </a:p>
        </p:txBody>
      </p:sp>
      <p:sp>
        <p:nvSpPr>
          <p:cNvPr id="206" name="Google Shape;206;p27"/>
          <p:cNvSpPr/>
          <p:nvPr/>
        </p:nvSpPr>
        <p:spPr>
          <a:xfrm>
            <a:off x="299250" y="1283100"/>
            <a:ext cx="1385100" cy="52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X-entropy loss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299249" y="2059163"/>
            <a:ext cx="142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Target logits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08" name="Google Shape;208;p27"/>
          <p:cNvSpPr/>
          <p:nvPr/>
        </p:nvSpPr>
        <p:spPr>
          <a:xfrm>
            <a:off x="867102" y="1845200"/>
            <a:ext cx="207900" cy="276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" name="Google Shape;209;p27"/>
          <p:cNvCxnSpPr/>
          <p:nvPr/>
        </p:nvCxnSpPr>
        <p:spPr>
          <a:xfrm rot="10800000">
            <a:off x="1715625" y="1537550"/>
            <a:ext cx="3144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Decoder-only models</a:t>
            </a:r>
            <a:endParaRPr/>
          </a:p>
        </p:txBody>
      </p:sp>
      <p:graphicFrame>
        <p:nvGraphicFramePr>
          <p:cNvPr id="215" name="Google Shape;215;p2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{D7C7AB69-32D0-4E43-AA6A-C73308EDF23E}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Encoder-only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Decoder-only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Attention mask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Full--each token can see all tokens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Causal--each token can only see tokens before it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Loss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Masked language modeling 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Next token prediction loss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Token and position embeddings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Transformer block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Same (except attention block)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Same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(except attention block)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