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61CC802C-7944-48C8-B220-CE1D888F6A8D}">
  <a:tblStyle styleId="{61CC802C-7944-48C8-B220-CE1D888F6A8D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5.xml"/><Relationship Id="rId10" Type="http://schemas.openxmlformats.org/officeDocument/2006/relationships/slide" Target="slides/slide4.xml"/><Relationship Id="rId13" Type="http://schemas.openxmlformats.org/officeDocument/2006/relationships/slide" Target="slides/slide7.xml"/><Relationship Id="rId12" Type="http://schemas.openxmlformats.org/officeDocument/2006/relationships/slide" Target="slides/slide6.xml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9" Type="http://schemas.openxmlformats.org/officeDocument/2006/relationships/slide" Target="slides/slide3.xml"/><Relationship Id="rId15" Type="http://schemas.openxmlformats.org/officeDocument/2006/relationships/slide" Target="slides/slide9.xml"/><Relationship Id="rId14" Type="http://schemas.openxmlformats.org/officeDocument/2006/relationships/slide" Target="slides/slide8.xml"/><Relationship Id="rId17" Type="http://schemas.openxmlformats.org/officeDocument/2006/relationships/slide" Target="slides/slide11.xml"/><Relationship Id="rId16" Type="http://schemas.openxmlformats.org/officeDocument/2006/relationships/slide" Target="slides/slide10.xml"/><Relationship Id="rId5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g39229b9b30a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g39229b9b30a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g3d40fca4b17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" name="Google Shape;58;g3d40fca4b17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g3d40fca4b17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" name="Google Shape;64;g3d40fca4b17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3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g3d40fca4b17_0_1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5" name="Google Shape;75;g3d40fca4b17_0_1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9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g3d40fca4b17_0_2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" name="Google Shape;81;g3d40fca4b17_0_2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3d40fca4b17_0_2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3d40fca4b17_0_2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g3d40fca4b17_0_3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3" name="Google Shape;93;g3d40fca4b17_0_3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g3d40fca4b17_0_3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" name="Google Shape;99;g3d40fca4b17_0_3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g3d40fca4b17_0_4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5" name="Google Shape;105;g3d40fca4b17_0_4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g3d40fca4b17_0_4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1" name="Google Shape;111;g3d40fca4b17_0_4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g3d40fca4b17_0_6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4" name="Google Shape;124;g3d40fca4b17_0_6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Relationship Id="rId3" Type="http://schemas.openxmlformats.org/officeDocument/2006/relationships/hyperlink" Target="https://arxiv.org/abs/1810.04805" TargetMode="Externa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Neural Architectures: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2756"/>
              <a:t>Transformers</a:t>
            </a:r>
            <a:endParaRPr/>
          </a:p>
        </p:txBody>
      </p:sp>
      <p:sp>
        <p:nvSpPr>
          <p:cNvPr id="55" name="Google Shape;55;p13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Introduction to Deep Learning: Class 5.6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Agenda and Pre-read</a:t>
            </a:r>
            <a:endParaRPr/>
          </a:p>
        </p:txBody>
      </p:sp>
      <p:sp>
        <p:nvSpPr>
          <p:cNvPr id="61" name="Google Shape;61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Agenda: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Transformer architecture applications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-"/>
            </a:pPr>
            <a:r>
              <a:rPr lang="en"/>
              <a:t>Generating representations: sequence classification, token classification, retrieval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-"/>
            </a:pPr>
            <a:r>
              <a:rPr lang="en"/>
              <a:t>Generating new tokens: </a:t>
            </a:r>
            <a:r>
              <a:rPr lang="en"/>
              <a:t>summarization</a:t>
            </a:r>
            <a:r>
              <a:rPr lang="en"/>
              <a:t>, language translation..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Pre-read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-"/>
            </a:pPr>
            <a:r>
              <a:rPr lang="en" u="sng">
                <a:solidFill>
                  <a:schemeClr val="hlink"/>
                </a:solidFill>
                <a:hlinkClick r:id="rId3"/>
              </a:rPr>
              <a:t>BERT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BERT variants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-"/>
            </a:pPr>
            <a:r>
              <a:rPr lang="en"/>
              <a:t>Roberta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-"/>
            </a:pPr>
            <a:r>
              <a:rPr lang="en"/>
              <a:t>mpNet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Recall.. Transformer architecture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13405"/>
          <a:stretch/>
        </p:blipFill>
        <p:spPr>
          <a:xfrm>
            <a:off x="3652225" y="918250"/>
            <a:ext cx="1736600" cy="2590225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4118500" y="4672550"/>
            <a:ext cx="26595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2"/>
              </a:solidFill>
            </a:endParaRPr>
          </a:p>
        </p:txBody>
      </p:sp>
      <p:graphicFrame>
        <p:nvGraphicFramePr>
          <p:cNvPr id="69" name="Google Shape;69;p15"/>
          <p:cNvGraphicFramePr/>
          <p:nvPr/>
        </p:nvGraphicFramePr>
        <p:xfrm>
          <a:off x="1774363" y="4716416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{61CC802C-7944-48C8-B220-CE1D888F6A8D}</a:tableStyleId>
              </a:tblPr>
              <a:tblGrid>
                <a:gridCol w="504925"/>
                <a:gridCol w="504925"/>
                <a:gridCol w="504925"/>
                <a:gridCol w="504925"/>
                <a:gridCol w="504925"/>
                <a:gridCol w="504925"/>
                <a:gridCol w="504925"/>
                <a:gridCol w="504925"/>
                <a:gridCol w="470125"/>
                <a:gridCol w="470125"/>
                <a:gridCol w="470125"/>
                <a:gridCol w="470125"/>
              </a:tblGrid>
              <a:tr h="381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t1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t2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t3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t4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t5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t6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t7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t8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/>
                        <a:t>pad</a:t>
                      </a:r>
                      <a:endParaRPr sz="1200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/>
                        <a:t>pad</a:t>
                      </a:r>
                      <a:endParaRPr sz="1100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/>
                        <a:t>pad</a:t>
                      </a:r>
                      <a:endParaRPr sz="1100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/>
                        <a:t>pad</a:t>
                      </a:r>
                      <a:endParaRPr sz="1100"/>
                    </a:p>
                  </a:txBody>
                  <a:tcPr marT="91425" marB="91425" marR="91425" marL="91425"/>
                </a:tc>
              </a:tr>
            </a:tbl>
          </a:graphicData>
        </a:graphic>
      </p:graphicFrame>
      <p:graphicFrame>
        <p:nvGraphicFramePr>
          <p:cNvPr id="70" name="Google Shape;70;p15"/>
          <p:cNvGraphicFramePr/>
          <p:nvPr/>
        </p:nvGraphicFramePr>
        <p:xfrm>
          <a:off x="1774363" y="4120054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{61CC802C-7944-48C8-B220-CE1D888F6A8D}</a:tableStyleId>
              </a:tblPr>
              <a:tblGrid>
                <a:gridCol w="504925"/>
                <a:gridCol w="504925"/>
                <a:gridCol w="504925"/>
                <a:gridCol w="504925"/>
                <a:gridCol w="504925"/>
                <a:gridCol w="504925"/>
                <a:gridCol w="504925"/>
                <a:gridCol w="504925"/>
                <a:gridCol w="470100"/>
                <a:gridCol w="470100"/>
                <a:gridCol w="470100"/>
                <a:gridCol w="470100"/>
              </a:tblGrid>
              <a:tr h="381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1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1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1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1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1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1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1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1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0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500"/>
                        <a:t>0</a:t>
                      </a:r>
                      <a:endParaRPr sz="1500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500"/>
                        <a:t>0</a:t>
                      </a:r>
                      <a:endParaRPr sz="1500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500"/>
                        <a:t>0</a:t>
                      </a:r>
                      <a:endParaRPr sz="1500"/>
                    </a:p>
                  </a:txBody>
                  <a:tcPr marT="91425" marB="91425" marR="91425" marL="91425"/>
                </a:tc>
              </a:tr>
            </a:tbl>
          </a:graphicData>
        </a:graphic>
      </p:graphicFrame>
      <p:graphicFrame>
        <p:nvGraphicFramePr>
          <p:cNvPr id="71" name="Google Shape;71;p15"/>
          <p:cNvGraphicFramePr/>
          <p:nvPr/>
        </p:nvGraphicFramePr>
        <p:xfrm>
          <a:off x="1774413" y="3508479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{61CC802C-7944-48C8-B220-CE1D888F6A8D}</a:tableStyleId>
              </a:tblPr>
              <a:tblGrid>
                <a:gridCol w="504925"/>
                <a:gridCol w="504925"/>
                <a:gridCol w="504925"/>
                <a:gridCol w="504925"/>
                <a:gridCol w="504925"/>
                <a:gridCol w="504925"/>
                <a:gridCol w="504925"/>
                <a:gridCol w="504925"/>
                <a:gridCol w="470100"/>
                <a:gridCol w="470100"/>
                <a:gridCol w="470100"/>
                <a:gridCol w="470100"/>
              </a:tblGrid>
              <a:tr h="4002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/>
                        <a:t>e1+p1</a:t>
                      </a:r>
                      <a:endParaRPr sz="900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/>
                        <a:t>e2+p2</a:t>
                      </a:r>
                      <a:endParaRPr sz="900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/>
                        <a:t>e3+p3</a:t>
                      </a:r>
                      <a:endParaRPr sz="900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/>
                        <a:t>e4+p4</a:t>
                      </a:r>
                      <a:endParaRPr sz="900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/>
                        <a:t>e5+p5</a:t>
                      </a:r>
                      <a:endParaRPr sz="900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/>
                        <a:t>e6+p6</a:t>
                      </a:r>
                      <a:endParaRPr sz="900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/>
                        <a:t>e7+p7</a:t>
                      </a:r>
                      <a:endParaRPr sz="900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/>
                        <a:t>e8+p8</a:t>
                      </a:r>
                      <a:endParaRPr sz="900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/>
                        <a:t>e_pad+p9</a:t>
                      </a:r>
                      <a:endParaRPr sz="800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/>
                        <a:t>e_pad+p10</a:t>
                      </a:r>
                      <a:endParaRPr sz="800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000000"/>
                          </a:solidFill>
                        </a:rPr>
                        <a:t>e_pad+p11</a:t>
                      </a:r>
                      <a:endParaRPr sz="1000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000000"/>
                          </a:solidFill>
                        </a:rPr>
                        <a:t>e_pad+p12</a:t>
                      </a:r>
                      <a:endParaRPr sz="1000"/>
                    </a:p>
                  </a:txBody>
                  <a:tcPr marT="91425" marB="91425" marR="91425" marL="91425"/>
                </a:tc>
              </a:tr>
            </a:tbl>
          </a:graphicData>
        </a:graphic>
      </p:graphicFrame>
      <p:sp>
        <p:nvSpPr>
          <p:cNvPr id="72" name="Google Shape;72;p15"/>
          <p:cNvSpPr txBox="1"/>
          <p:nvPr/>
        </p:nvSpPr>
        <p:spPr>
          <a:xfrm>
            <a:off x="5531350" y="1906900"/>
            <a:ext cx="5079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xN</a:t>
            </a:r>
            <a:endParaRPr sz="18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6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p1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8" name="Google Shape;78;p16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How do we use the transformer architecture to solve various problems?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We’ll focus on text based problems.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-"/>
            </a:pPr>
            <a:r>
              <a:rPr b="1" lang="en"/>
              <a:t>Classification</a:t>
            </a:r>
            <a:r>
              <a:rPr lang="en"/>
              <a:t>: </a:t>
            </a:r>
            <a:r>
              <a:rPr lang="en"/>
              <a:t>tweet sentiment analysis, intent detection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b="1" lang="en"/>
              <a:t>Per-token</a:t>
            </a:r>
            <a:r>
              <a:rPr lang="en"/>
              <a:t> labeling: NER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b="1" lang="en"/>
              <a:t>Seq-to-seq</a:t>
            </a:r>
            <a:r>
              <a:rPr lang="en"/>
              <a:t>: eg., language translation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b="1" lang="en"/>
              <a:t>Generation</a:t>
            </a:r>
            <a:r>
              <a:rPr lang="en"/>
              <a:t>: sentence completion, question answering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b="1" lang="en"/>
              <a:t>Representation</a:t>
            </a:r>
            <a:r>
              <a:rPr lang="en"/>
              <a:t>: embedding generation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2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17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What changes as we go from one task to the other?</a:t>
            </a:r>
            <a:endParaRPr/>
          </a:p>
        </p:txBody>
      </p:sp>
      <p:sp>
        <p:nvSpPr>
          <p:cNvPr id="84" name="Google Shape;84;p17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b="1" lang="en"/>
              <a:t>Input </a:t>
            </a:r>
            <a:r>
              <a:rPr b="1" lang="en"/>
              <a:t>representation:</a:t>
            </a:r>
            <a:r>
              <a:rPr lang="en"/>
              <a:t> tokens for text, patches for images..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b="1" lang="en"/>
              <a:t>Attention masking:</a:t>
            </a:r>
            <a:r>
              <a:rPr lang="en"/>
              <a:t> bidirectional, causal, local attention..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b="1" lang="en"/>
              <a:t>Training objective:</a:t>
            </a:r>
            <a:r>
              <a:rPr lang="en"/>
              <a:t> masked-token prediction, next-token prediction, contrastive loss, reconstruction, class prediction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b="1" lang="en"/>
              <a:t>Output head:</a:t>
            </a:r>
            <a:r>
              <a:rPr lang="en"/>
              <a:t> classifier head, token classifier, language modeling head, embedding projection..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18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Three main transformer families	</a:t>
            </a:r>
            <a:endParaRPr/>
          </a:p>
        </p:txBody>
      </p:sp>
      <p:sp>
        <p:nvSpPr>
          <p:cNvPr id="90" name="Google Shape;90;p18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Encoder only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Decoder only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Encoder-Decoder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9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Encoders: </a:t>
            </a:r>
            <a:endParaRPr/>
          </a:p>
        </p:txBody>
      </p:sp>
      <p:sp>
        <p:nvSpPr>
          <p:cNvPr id="96" name="Google Shape;96;p19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lnSpcReduction="2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Used for representation learning and understanding. Typical uses: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sequence classification</a:t>
            </a:r>
            <a:br>
              <a:rPr lang="en"/>
            </a:b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token classification</a:t>
            </a:r>
            <a:br>
              <a:rPr lang="en"/>
            </a:b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sentence embeddings</a:t>
            </a:r>
            <a:br>
              <a:rPr lang="en"/>
            </a:b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retrieval encoders</a:t>
            </a:r>
            <a:br>
              <a:rPr lang="en"/>
            </a:b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masked language modeling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BERT: Bidirectional Encoder Representations from Transformers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30175" y="14202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Two steps: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1- Pre-training: Self-supervised training using Masked Language Modeling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"/>
              <a:t>2- Task specific training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BERT: Pre-training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Key idea: Hide some words (replace by a special MASK token), and ask the model to predict those words. In doing so, the model learns the syntax of the language, making specialized tasks such as sentiment classification easier.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No ground truth necessary, as the identity of the MASK token is known in advance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The loss is x-entropy loss over the vocabulary. Model outputs vocab logits for each token. For each masked token, we calculate x-entropy loss against the known value of the masked token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BERT: Pre-training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1152475"/>
            <a:ext cx="5191800" cy="657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en"/>
              <a:t>What architectural modifications are needed? </a:t>
            </a:r>
            <a:endParaRPr/>
          </a:p>
        </p:txBody>
      </p:sp>
      <p:sp>
        <p:nvSpPr>
          <p:cNvPr id="115" name="Google Shape;115;p22"/>
          <p:cNvSpPr/>
          <p:nvPr/>
        </p:nvSpPr>
        <p:spPr>
          <a:xfrm>
            <a:off x="558650" y="2946150"/>
            <a:ext cx="1385100" cy="724800"/>
          </a:xfrm>
          <a:prstGeom prst="roundRect">
            <a:avLst>
              <a:gd fmla="val 16667" name="adj"/>
            </a:avLst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Transformer Block</a:t>
            </a:r>
            <a:endParaRPr/>
          </a:p>
        </p:txBody>
      </p:sp>
      <p:sp>
        <p:nvSpPr>
          <p:cNvPr id="116" name="Google Shape;116;p22"/>
          <p:cNvSpPr txBox="1"/>
          <p:nvPr/>
        </p:nvSpPr>
        <p:spPr>
          <a:xfrm>
            <a:off x="884175" y="3846100"/>
            <a:ext cx="992700" cy="738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Input</a:t>
            </a:r>
            <a:endParaRPr sz="18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B, T, D</a:t>
            </a:r>
            <a:endParaRPr sz="1800">
              <a:solidFill>
                <a:schemeClr val="dk2"/>
              </a:solidFill>
            </a:endParaRPr>
          </a:p>
        </p:txBody>
      </p:sp>
      <p:sp>
        <p:nvSpPr>
          <p:cNvPr id="117" name="Google Shape;117;p22"/>
          <p:cNvSpPr txBox="1"/>
          <p:nvPr/>
        </p:nvSpPr>
        <p:spPr>
          <a:xfrm>
            <a:off x="851850" y="2059275"/>
            <a:ext cx="992700" cy="738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Output</a:t>
            </a:r>
            <a:endParaRPr sz="18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B, T, D</a:t>
            </a:r>
            <a:endParaRPr sz="1800">
              <a:solidFill>
                <a:schemeClr val="dk2"/>
              </a:solidFill>
            </a:endParaRPr>
          </a:p>
        </p:txBody>
      </p:sp>
      <p:sp>
        <p:nvSpPr>
          <p:cNvPr id="118" name="Google Shape;118;p22"/>
          <p:cNvSpPr txBox="1"/>
          <p:nvPr/>
        </p:nvSpPr>
        <p:spPr>
          <a:xfrm>
            <a:off x="2121600" y="3077700"/>
            <a:ext cx="9927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xN</a:t>
            </a:r>
            <a:endParaRPr sz="1800">
              <a:solidFill>
                <a:schemeClr val="dk2"/>
              </a:solidFill>
            </a:endParaRPr>
          </a:p>
        </p:txBody>
      </p:sp>
      <p:sp>
        <p:nvSpPr>
          <p:cNvPr id="119" name="Google Shape;119;p22"/>
          <p:cNvSpPr/>
          <p:nvPr/>
        </p:nvSpPr>
        <p:spPr>
          <a:xfrm>
            <a:off x="1188850" y="3670950"/>
            <a:ext cx="207900" cy="276900"/>
          </a:xfrm>
          <a:prstGeom prst="upArrow">
            <a:avLst>
              <a:gd fmla="val 50000" name="adj1"/>
              <a:gd fmla="val 50000" name="adj2"/>
            </a:avLst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0" name="Google Shape;120;p22"/>
          <p:cNvSpPr/>
          <p:nvPr/>
        </p:nvSpPr>
        <p:spPr>
          <a:xfrm>
            <a:off x="1188850" y="2669250"/>
            <a:ext cx="207900" cy="276900"/>
          </a:xfrm>
          <a:prstGeom prst="upArrow">
            <a:avLst>
              <a:gd fmla="val 50000" name="adj1"/>
              <a:gd fmla="val 50000" name="adj2"/>
            </a:avLst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22"/>
          <p:cNvSpPr txBox="1"/>
          <p:nvPr>
            <p:ph idx="1" type="body"/>
          </p:nvPr>
        </p:nvSpPr>
        <p:spPr>
          <a:xfrm>
            <a:off x="2948150" y="2006662"/>
            <a:ext cx="5293500" cy="1728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85000" lnSpcReduction="2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Output is in the embedding space. We need to map it to the vocab space. A trainable FC layer of size (D, V) is added. The output of the FC layer is used to calculate x-entropy loss 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"/>
              <a:t>The BERT paper also uses Next Sentence Prediction (NSP) loss, but most successors of BERT don’t use it. </a:t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BERT: Classification	</a:t>
            </a:r>
            <a:endParaRPr/>
          </a:p>
        </p:txBody>
      </p:sp>
      <p:sp>
        <p:nvSpPr>
          <p:cNvPr id="127" name="Google Shape;127;p23"/>
          <p:cNvSpPr txBox="1"/>
          <p:nvPr>
            <p:ph idx="1" type="body"/>
          </p:nvPr>
        </p:nvSpPr>
        <p:spPr>
          <a:xfrm>
            <a:off x="311700" y="1152475"/>
            <a:ext cx="36267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lnSpcReduction="2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/>
              <a:t>For classification, we need to map BERT output to a vector of class probabilities. We could take the average of the output token embeddings. </a:t>
            </a:r>
            <a:endParaRPr sz="1400"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400"/>
              <a:t>What is instead done is to prepend a special token [CLS] (short for classification) to the input. The output embedding for this sentence is then projected into the class probability space by multiplying with a learnable classification head matrix </a:t>
            </a:r>
            <a:endParaRPr sz="1400"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" sz="1400"/>
              <a:t>During post-training, we can freeze the weights of the transformer backbone and only train the classification head, or train the entire network</a:t>
            </a:r>
            <a:endParaRPr sz="1400"/>
          </a:p>
        </p:txBody>
      </p:sp>
      <p:sp>
        <p:nvSpPr>
          <p:cNvPr id="128" name="Google Shape;128;p23"/>
          <p:cNvSpPr/>
          <p:nvPr/>
        </p:nvSpPr>
        <p:spPr>
          <a:xfrm>
            <a:off x="5418977" y="3232425"/>
            <a:ext cx="1385100" cy="724800"/>
          </a:xfrm>
          <a:prstGeom prst="roundRect">
            <a:avLst>
              <a:gd fmla="val 16667" name="adj"/>
            </a:avLst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Transformer Block</a:t>
            </a:r>
            <a:endParaRPr/>
          </a:p>
        </p:txBody>
      </p:sp>
      <p:sp>
        <p:nvSpPr>
          <p:cNvPr id="129" name="Google Shape;129;p23"/>
          <p:cNvSpPr txBox="1"/>
          <p:nvPr/>
        </p:nvSpPr>
        <p:spPr>
          <a:xfrm>
            <a:off x="5162748" y="4280125"/>
            <a:ext cx="21786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CLS + input tokens</a:t>
            </a:r>
            <a:endParaRPr sz="1800">
              <a:solidFill>
                <a:schemeClr val="dk2"/>
              </a:solidFill>
            </a:endParaRPr>
          </a:p>
        </p:txBody>
      </p:sp>
      <p:sp>
        <p:nvSpPr>
          <p:cNvPr id="130" name="Google Shape;130;p23"/>
          <p:cNvSpPr txBox="1"/>
          <p:nvPr/>
        </p:nvSpPr>
        <p:spPr>
          <a:xfrm>
            <a:off x="4950550" y="2521000"/>
            <a:ext cx="781800" cy="554100"/>
          </a:xfrm>
          <a:prstGeom prst="rect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2"/>
                </a:solidFill>
              </a:rPr>
              <a:t>CLS_e</a:t>
            </a:r>
            <a:endParaRPr sz="12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2"/>
                </a:solidFill>
              </a:rPr>
              <a:t>(1, D)</a:t>
            </a:r>
            <a:endParaRPr sz="1200">
              <a:solidFill>
                <a:schemeClr val="dk2"/>
              </a:solidFill>
            </a:endParaRPr>
          </a:p>
        </p:txBody>
      </p:sp>
      <p:sp>
        <p:nvSpPr>
          <p:cNvPr id="131" name="Google Shape;131;p23"/>
          <p:cNvSpPr txBox="1"/>
          <p:nvPr/>
        </p:nvSpPr>
        <p:spPr>
          <a:xfrm>
            <a:off x="6981927" y="3363975"/>
            <a:ext cx="9927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xN</a:t>
            </a:r>
            <a:endParaRPr sz="1800">
              <a:solidFill>
                <a:schemeClr val="dk2"/>
              </a:solidFill>
            </a:endParaRPr>
          </a:p>
        </p:txBody>
      </p:sp>
      <p:sp>
        <p:nvSpPr>
          <p:cNvPr id="132" name="Google Shape;132;p23"/>
          <p:cNvSpPr/>
          <p:nvPr/>
        </p:nvSpPr>
        <p:spPr>
          <a:xfrm>
            <a:off x="6049177" y="3957225"/>
            <a:ext cx="207900" cy="276900"/>
          </a:xfrm>
          <a:prstGeom prst="upArrow">
            <a:avLst>
              <a:gd fmla="val 50000" name="adj1"/>
              <a:gd fmla="val 50000" name="adj2"/>
            </a:avLst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3" name="Google Shape;133;p23"/>
          <p:cNvSpPr/>
          <p:nvPr/>
        </p:nvSpPr>
        <p:spPr>
          <a:xfrm>
            <a:off x="6049177" y="2955525"/>
            <a:ext cx="207900" cy="276900"/>
          </a:xfrm>
          <a:prstGeom prst="upArrow">
            <a:avLst>
              <a:gd fmla="val 50000" name="adj1"/>
              <a:gd fmla="val 50000" name="adj2"/>
            </a:avLst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4" name="Google Shape;134;p23"/>
          <p:cNvSpPr txBox="1"/>
          <p:nvPr/>
        </p:nvSpPr>
        <p:spPr>
          <a:xfrm>
            <a:off x="5878450" y="2521000"/>
            <a:ext cx="2312400" cy="369300"/>
          </a:xfrm>
          <a:prstGeom prst="rect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2"/>
                </a:solidFill>
              </a:rPr>
              <a:t>Embeddings for input tokens</a:t>
            </a:r>
            <a:endParaRPr sz="1000">
              <a:solidFill>
                <a:schemeClr val="dk2"/>
              </a:solidFill>
            </a:endParaRPr>
          </a:p>
        </p:txBody>
      </p:sp>
      <p:sp>
        <p:nvSpPr>
          <p:cNvPr id="135" name="Google Shape;135;p23"/>
          <p:cNvSpPr txBox="1"/>
          <p:nvPr/>
        </p:nvSpPr>
        <p:spPr>
          <a:xfrm>
            <a:off x="5666775" y="2521000"/>
            <a:ext cx="3270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2"/>
                </a:solidFill>
              </a:rPr>
              <a:t>+</a:t>
            </a:r>
            <a:endParaRPr sz="1000">
              <a:solidFill>
                <a:schemeClr val="dk2"/>
              </a:solidFill>
            </a:endParaRPr>
          </a:p>
        </p:txBody>
      </p:sp>
      <p:sp>
        <p:nvSpPr>
          <p:cNvPr id="136" name="Google Shape;136;p23"/>
          <p:cNvSpPr/>
          <p:nvPr/>
        </p:nvSpPr>
        <p:spPr>
          <a:xfrm>
            <a:off x="4648900" y="1666250"/>
            <a:ext cx="1385100" cy="660600"/>
          </a:xfrm>
          <a:prstGeom prst="roundRect">
            <a:avLst>
              <a:gd fmla="val 16667" name="adj"/>
            </a:avLst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Classification Head (D, C)</a:t>
            </a:r>
            <a:endParaRPr/>
          </a:p>
        </p:txBody>
      </p:sp>
      <p:sp>
        <p:nvSpPr>
          <p:cNvPr id="137" name="Google Shape;137;p23"/>
          <p:cNvSpPr/>
          <p:nvPr/>
        </p:nvSpPr>
        <p:spPr>
          <a:xfrm>
            <a:off x="4648900" y="944100"/>
            <a:ext cx="1385100" cy="528000"/>
          </a:xfrm>
          <a:prstGeom prst="roundRect">
            <a:avLst>
              <a:gd fmla="val 16667" name="adj"/>
            </a:avLst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X-entropy loss</a:t>
            </a:r>
            <a:endParaRPr/>
          </a:p>
        </p:txBody>
      </p:sp>
      <p:cxnSp>
        <p:nvCxnSpPr>
          <p:cNvPr id="138" name="Google Shape;138;p23"/>
          <p:cNvCxnSpPr>
            <a:stCxn id="130" idx="0"/>
            <a:endCxn id="136" idx="2"/>
          </p:cNvCxnSpPr>
          <p:nvPr/>
        </p:nvCxnSpPr>
        <p:spPr>
          <a:xfrm rot="10800000">
            <a:off x="5341450" y="2326900"/>
            <a:ext cx="0" cy="1941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139" name="Google Shape;139;p23"/>
          <p:cNvCxnSpPr>
            <a:stCxn id="136" idx="0"/>
            <a:endCxn id="137" idx="2"/>
          </p:cNvCxnSpPr>
          <p:nvPr/>
        </p:nvCxnSpPr>
        <p:spPr>
          <a:xfrm rot="10800000">
            <a:off x="5341450" y="1472150"/>
            <a:ext cx="0" cy="1941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140" name="Google Shape;140;p23"/>
          <p:cNvSpPr txBox="1"/>
          <p:nvPr/>
        </p:nvSpPr>
        <p:spPr>
          <a:xfrm>
            <a:off x="6506375" y="931050"/>
            <a:ext cx="687300" cy="554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2"/>
                </a:solidFill>
              </a:rPr>
              <a:t>True Class</a:t>
            </a:r>
            <a:endParaRPr sz="1200">
              <a:solidFill>
                <a:schemeClr val="dk2"/>
              </a:solidFill>
            </a:endParaRPr>
          </a:p>
        </p:txBody>
      </p:sp>
      <p:cxnSp>
        <p:nvCxnSpPr>
          <p:cNvPr id="141" name="Google Shape;141;p23"/>
          <p:cNvCxnSpPr>
            <a:stCxn id="140" idx="1"/>
            <a:endCxn id="137" idx="3"/>
          </p:cNvCxnSpPr>
          <p:nvPr/>
        </p:nvCxnSpPr>
        <p:spPr>
          <a:xfrm rot="10800000">
            <a:off x="6033875" y="1208100"/>
            <a:ext cx="472500" cy="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142" name="Google Shape;142;p23"/>
          <p:cNvSpPr txBox="1"/>
          <p:nvPr/>
        </p:nvSpPr>
        <p:spPr>
          <a:xfrm>
            <a:off x="6634199" y="1666250"/>
            <a:ext cx="19986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2"/>
                </a:solidFill>
              </a:rPr>
              <a:t>C: Number of classes</a:t>
            </a:r>
            <a:endParaRPr sz="12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