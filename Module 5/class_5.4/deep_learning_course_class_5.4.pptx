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5143500" cx="9144000"/>
  <p:notesSz cx="6858000" cy="9144000"/>
  <p:embeddedFontLst>
    <p:embeddedFont>
      <p:font typeface="Robot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2E5028-35EF-4173-ACD8-1EDCF5F48ACF}">
  <a:tblStyle styleId="{CC2E5028-35EF-4173-ACD8-1EDCF5F48AC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bold.fntdata"/><Relationship Id="rId25" Type="http://schemas.openxmlformats.org/officeDocument/2006/relationships/font" Target="fonts/Roboto-regular.fntdata"/><Relationship Id="rId28" Type="http://schemas.openxmlformats.org/officeDocument/2006/relationships/font" Target="fonts/Roboto-boldItalic.fntdata"/><Relationship Id="rId27" Type="http://schemas.openxmlformats.org/officeDocument/2006/relationships/font" Target="fonts/Robot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229b9b30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229b9b30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887823e2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887823e2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887823e2c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887823e2c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cc2793e2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cc2793e2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887823e2c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887823e2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c2793e28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cc2793e28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87823e2c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87823e2c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cc2793e28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cc2793e28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c2793e28e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c2793e28e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95e088851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95e088851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e005015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e005015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e668ce59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e668ce59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ce668ce59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ce668ce59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ce668ce59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ce668ce59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e005015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e005015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ce0050154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ce0050154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5e0888514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95e0888514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ce00501541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ce00501541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Neural Architectures: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55"/>
              <a:t>Transformers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Learning: Class 5.4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We’ll motivate transformers through text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MLPs are designed for fixed length vectors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Text is variable length, and position matters.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“Dog bites man” vs “man bites dog”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Transformers: Main idea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How do I represent a sentence as a fixed length embedding?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/>
              <a:t>Could</a:t>
            </a:r>
            <a:r>
              <a:rPr lang="en" sz="1200"/>
              <a:t> take avg/max of each embedding dimension across tokens..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/>
              <a:t>But this gives equal weight to each token.. When the importance of each token depends on the question you are trying to answer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/>
              <a:t>Eg., “The food was great but the service was terrible”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/>
              <a:t>Question: How was the food? Need to understand attribute “great” is bound to food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/>
              <a:t>Question: How was the service? </a:t>
            </a:r>
            <a:r>
              <a:rPr lang="en" sz="1200"/>
              <a:t>Need to understand attribute “terrible” is bound to service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/>
              <a:t>A flat embedding representation that collapses the token embeddings into a single embedding vector would fail at this task</a:t>
            </a:r>
            <a:endParaRPr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713925" y="4700816"/>
            <a:ext cx="5362800" cy="6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i="1" lang="en"/>
              <a:t>food</a:t>
            </a:r>
            <a:r>
              <a:rPr lang="en"/>
              <a:t> food was great but service was bad</a:t>
            </a:r>
            <a:endParaRPr/>
          </a:p>
        </p:txBody>
      </p:sp>
      <p:graphicFrame>
        <p:nvGraphicFramePr>
          <p:cNvPr id="73" name="Google Shape;73;p16"/>
          <p:cNvGraphicFramePr/>
          <p:nvPr/>
        </p:nvGraphicFramePr>
        <p:xfrm>
          <a:off x="435413" y="436551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25"/>
                <a:gridCol w="470125"/>
                <a:gridCol w="470125"/>
                <a:gridCol w="4701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pad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pad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pad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pad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6"/>
          <p:cNvGraphicFramePr/>
          <p:nvPr/>
        </p:nvGraphicFramePr>
        <p:xfrm>
          <a:off x="435413" y="383919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00"/>
                <a:gridCol w="470100"/>
                <a:gridCol w="470100"/>
                <a:gridCol w="4701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6"/>
          <p:cNvGraphicFramePr/>
          <p:nvPr/>
        </p:nvGraphicFramePr>
        <p:xfrm>
          <a:off x="435413" y="328565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00"/>
                <a:gridCol w="470100"/>
                <a:gridCol w="470100"/>
                <a:gridCol w="4701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e_pad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e_pad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e_pad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e_pad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6" name="Google Shape;76;p16"/>
          <p:cNvGraphicFramePr/>
          <p:nvPr/>
        </p:nvGraphicFramePr>
        <p:xfrm>
          <a:off x="2385488" y="269292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20196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Averaged embedding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7" name="Google Shape;77;p16"/>
          <p:cNvGraphicFramePr/>
          <p:nvPr/>
        </p:nvGraphicFramePr>
        <p:xfrm>
          <a:off x="2385538" y="21002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20196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Fully Connected Layer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8" name="Google Shape;78;p16"/>
          <p:cNvGraphicFramePr/>
          <p:nvPr/>
        </p:nvGraphicFramePr>
        <p:xfrm>
          <a:off x="2919363" y="148375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865350"/>
              </a:tblGrid>
              <a:tr h="3038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Label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sp>
        <p:nvSpPr>
          <p:cNvPr id="79" name="Google Shape;79;p16"/>
          <p:cNvSpPr txBox="1"/>
          <p:nvPr>
            <p:ph type="title"/>
          </p:nvPr>
        </p:nvSpPr>
        <p:spPr>
          <a:xfrm>
            <a:off x="274750" y="2557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Sentiment classification based on sentence embeddings</a:t>
            </a:r>
            <a:endParaRPr/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2919363" y="8895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8653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Loss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81" name="Google Shape;81;p16"/>
          <p:cNvCxnSpPr/>
          <p:nvPr/>
        </p:nvCxnSpPr>
        <p:spPr>
          <a:xfrm rot="10800000">
            <a:off x="3352050" y="3070326"/>
            <a:ext cx="0" cy="22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2" name="Google Shape;82;p16"/>
          <p:cNvCxnSpPr/>
          <p:nvPr/>
        </p:nvCxnSpPr>
        <p:spPr>
          <a:xfrm rot="10800000">
            <a:off x="3352050" y="2503401"/>
            <a:ext cx="0" cy="22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3" name="Google Shape;83;p16"/>
          <p:cNvCxnSpPr/>
          <p:nvPr/>
        </p:nvCxnSpPr>
        <p:spPr>
          <a:xfrm rot="10800000">
            <a:off x="3352050" y="1878501"/>
            <a:ext cx="0" cy="22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4" name="Google Shape;84;p16"/>
          <p:cNvCxnSpPr/>
          <p:nvPr/>
        </p:nvCxnSpPr>
        <p:spPr>
          <a:xfrm rot="10800000">
            <a:off x="3352050" y="1255239"/>
            <a:ext cx="0" cy="22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5" name="Google Shape;85;p16"/>
          <p:cNvSpPr txBox="1"/>
          <p:nvPr/>
        </p:nvSpPr>
        <p:spPr>
          <a:xfrm>
            <a:off x="6937200" y="3249600"/>
            <a:ext cx="2114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Trainable embeddings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6623100" y="2613975"/>
            <a:ext cx="2520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2"/>
                </a:solidFill>
              </a:rPr>
              <a:t>Average token embeddings to produce a sentence embedding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158850" y="3785938"/>
            <a:ext cx="1500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Attention mask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244250" y="4363513"/>
            <a:ext cx="1500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Tokenization</a:t>
            </a:r>
            <a:endParaRPr b="1">
              <a:solidFill>
                <a:schemeClr val="dk2"/>
              </a:solidFill>
            </a:endParaRPr>
          </a:p>
        </p:txBody>
      </p:sp>
      <p:graphicFrame>
        <p:nvGraphicFramePr>
          <p:cNvPr id="89" name="Google Shape;89;p16"/>
          <p:cNvGraphicFramePr/>
          <p:nvPr/>
        </p:nvGraphicFramePr>
        <p:xfrm>
          <a:off x="1245288" y="8895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1389800"/>
              </a:tblGrid>
              <a:tr h="3038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Groundtruth</a:t>
                      </a:r>
                      <a:endParaRPr/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cxnSp>
        <p:nvCxnSpPr>
          <p:cNvPr id="90" name="Google Shape;90;p16"/>
          <p:cNvCxnSpPr/>
          <p:nvPr/>
        </p:nvCxnSpPr>
        <p:spPr>
          <a:xfrm>
            <a:off x="2622550" y="1080400"/>
            <a:ext cx="291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1" name="Google Shape;91;p16"/>
          <p:cNvSpPr txBox="1"/>
          <p:nvPr/>
        </p:nvSpPr>
        <p:spPr>
          <a:xfrm>
            <a:off x="4707300" y="851550"/>
            <a:ext cx="4344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A classifier based average embedding can do no better than 75%!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Because it can never do better than 50% on sentences where food and service sentiments </a:t>
            </a:r>
            <a:r>
              <a:rPr i="1" lang="en" sz="1200">
                <a:solidFill>
                  <a:schemeClr val="dk2"/>
                </a:solidFill>
              </a:rPr>
              <a:t>disagree</a:t>
            </a:r>
            <a:endParaRPr i="1"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We need </a:t>
            </a:r>
            <a:r>
              <a:rPr i="1" lang="en" sz="1200">
                <a:solidFill>
                  <a:schemeClr val="dk2"/>
                </a:solidFill>
              </a:rPr>
              <a:t>contextualized </a:t>
            </a:r>
            <a:r>
              <a:rPr lang="en" sz="1200">
                <a:solidFill>
                  <a:schemeClr val="dk2"/>
                </a:solidFill>
              </a:rPr>
              <a:t>embeddings that are aware of token bindings.. i.e., bad refers to service, great refers to food..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7343575" y="2113650"/>
            <a:ext cx="91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2"/>
                </a:solidFill>
              </a:rPr>
              <a:t>Classifier</a:t>
            </a:r>
            <a:endParaRPr b="1"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Attention</a:t>
            </a:r>
            <a:endParaRPr/>
          </a:p>
        </p:txBody>
      </p:sp>
      <p:sp>
        <p:nvSpPr>
          <p:cNvPr id="98" name="Google Shape;98;p17"/>
          <p:cNvSpPr txBox="1"/>
          <p:nvPr>
            <p:ph idx="1" type="body"/>
          </p:nvPr>
        </p:nvSpPr>
        <p:spPr>
          <a:xfrm>
            <a:off x="676450" y="1550100"/>
            <a:ext cx="6807900" cy="24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/>
              <a:t>Query</a:t>
            </a:r>
            <a:r>
              <a:rPr lang="en" sz="1300"/>
              <a:t> is the token for which we are trying to determine relevant tokens. Query is the token for which we are trying to define “what should this token look at?”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/>
              <a:t>Eg: “food was great but the service was terrible”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/>
              <a:t>For query = sentiment, tokens </a:t>
            </a:r>
            <a:r>
              <a:rPr i="1" lang="en" sz="1300"/>
              <a:t>great</a:t>
            </a:r>
            <a:r>
              <a:rPr lang="en" sz="1300"/>
              <a:t> and </a:t>
            </a:r>
            <a:r>
              <a:rPr i="1" lang="en" sz="1300"/>
              <a:t>terrible</a:t>
            </a:r>
            <a:r>
              <a:rPr lang="en" sz="1300"/>
              <a:t> should be important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/>
              <a:t>Query can come from another sentence, eg., in the context of language translation, or from the same sentence--”which tokens do I care about”? 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300"/>
              <a:t>Attention: </a:t>
            </a:r>
            <a:r>
              <a:rPr i="1" lang="en" sz="1300"/>
              <a:t>Given a query q, which tokens in the sequence are relevant, and what information should we extract from them?</a:t>
            </a:r>
            <a:endParaRPr i="1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Attention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8"/>
          <p:cNvSpPr txBox="1"/>
          <p:nvPr>
            <p:ph idx="1" type="body"/>
          </p:nvPr>
        </p:nvSpPr>
        <p:spPr>
          <a:xfrm>
            <a:off x="311700" y="1152475"/>
            <a:ext cx="8520600" cy="6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Importance scores:</a:t>
            </a:r>
            <a:r>
              <a:rPr lang="en"/>
              <a:t> coefficients alpha that reflect the importance of each token to the query token. </a:t>
            </a:r>
            <a:endParaRPr/>
          </a:p>
        </p:txBody>
      </p:sp>
      <p:pic>
        <p:nvPicPr>
          <p:cNvPr descr="{&quot;backgroundColorModified&quot;:false,&quot;backgroundColor&quot;:&quot;#FFFFFF&quot;,&quot;id&quot;:&quot;1&quot;,&quot;type&quot;:&quot;gather*&quot;,&quot;aid&quot;:null,&quot;code&quot;:&quot;\\begin{gather*}\n{\\text{h=}\\sum_{i=1}^{L}\\alpha_{i}x_{i}}\\\\\n{\\sum_{i=1}^{L}\\alpha_{i}=1,\\,\\alpha_{i}\\geq0}\\\\\n{\\text{We}\\;\\text{need}\\;\\text{a}\\;\\text{scoring}\\;\\text{function}\\;\\text{that}\\;\\text{says}\\;\\text{how}\\;\\text{relevant}\\;\\text{each}\\,\\text{sentence}\\;\\text{token}\\;\\text{is}\\,\\text{to}\\;\\text{the}\\;\\text{query}\\;\\text{token.}}\\\\\n{\\text{The}\\;\\text{scoring}\\;\\text{function}\\;\\text{outputs}\\;\\text{scores}\\;s_{i},\\,\\text{which}\\;\\text{can}\\;\\text{be}\\;\\text{converted}\\;\\text{into}\\;\\alpha_{i}}\\\\\n{\\text{by}\\;\\text{applying}\\;\\text{softmax}}\\\\\n{\\alpha_{i}=\\frac{\\exp\\left(s_{i}\\right)}{\\sum_{j=1}^{L}\\exp\\left(s_{j}\\right)}}\\\\\n{\\text{How}\\;\\text{do}\\;\\text{we}\\;\\text{get}\\;\\text{the}\\;\\text{scores}\\;s_{j}?}\t\n\\end{gather*}&quot;,&quot;font&quot;:{&quot;size&quot;:12,&quot;family&quot;:&quot;Arial&quot;,&quot;color&quot;:&quot;#000000&quot;},&quot;ts&quot;:1772542398191,&quot;cs&quot;:&quot;EG0dtWiFJAEmulB11fdplw==&quot;,&quot;size&quot;:{&quot;width&quot;:748,&quot;height&quot;:272.99999999999994}}" id="105" name="Google Shape;10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5998" y="1823847"/>
            <a:ext cx="7124700" cy="26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Attention</a:t>
            </a:r>
            <a:endParaRPr/>
          </a:p>
        </p:txBody>
      </p:sp>
      <p:sp>
        <p:nvSpPr>
          <p:cNvPr id="111" name="Google Shape;111;p19"/>
          <p:cNvSpPr txBox="1"/>
          <p:nvPr>
            <p:ph idx="1" type="body"/>
          </p:nvPr>
        </p:nvSpPr>
        <p:spPr>
          <a:xfrm>
            <a:off x="311700" y="1152475"/>
            <a:ext cx="2749200" cy="133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Rather than using pure embeddings we need to learn mappings Wq, Wk, Wv to:</a:t>
            </a:r>
            <a:endParaRPr/>
          </a:p>
          <a:p>
            <a:pPr indent="-282892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Form queries (what to look for)</a:t>
            </a:r>
            <a:endParaRPr/>
          </a:p>
          <a:p>
            <a:pPr indent="-28289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Form keys (how to match, advertise relevance)</a:t>
            </a:r>
            <a:endParaRPr/>
          </a:p>
          <a:p>
            <a:pPr indent="-28289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Form values (what information to extract from those tokens)</a:t>
            </a:r>
            <a:endParaRPr/>
          </a:p>
        </p:txBody>
      </p:sp>
      <p:pic>
        <p:nvPicPr>
          <p:cNvPr descr="{&quot;backgroundColor&quot;:&quot;#FFFFFF&quot;,&quot;type&quot;:&quot;gather*&quot;,&quot;code&quot;:&quot;\\begin{gather*}\n{1.\\,\\text{Map}\\;\\text{query}\\;\\text{token}\\;\\text{embedding}\\;\\text{to}\\;\\text{a}\\;\\text{query}\\;\\text{vector}}\\\\\n{q=W_{Q}u}\\\\\n{\\text{2.}\\;\\text{Map}\\;\\text{sentence}\\;\\text{tokens}\\;\\text{to}\\;\\text{key}\\;\\text{and}\\;\\text{value}\\;\\text{vectors}}\\\\\n{k_{i}=W_{K}x_{i}}\\\\\n{v_{i}=W_{V}x_{i}}\\\\\n{3.\\,\\text{Calculate}\\;\\text{match}\\;\\text{scores,}\\;\\text{i.e.,}\\;\\text{how}\\;\\text{relevant}\\;\\text{is}\\;\\text{each}\\;\\text{token}\\;\\text{to}\\;\\text{the}\\;\\text{query?}}\\\\\n{s_{i}=q^{T}k_{i}}\\\\\n{\\text{4.}\\;\\text{Apply}\\;\\text{softmax}\\,\\text{to}\\;\\text{normalize}\\,\\text{scores}}\\\\\n{\\alpha_{i}=\\frac{\\exp\\left(s_{i}\\right)}{\\sum_{j=1}^{L}\\exp\\left(s_{j}\\right)},\\,L:\\text{number}\\;\\text{of}\\;\\text{tokens}}\\\\\n{\\text{Take}\\;\\text{linear}\\;\\text{combination}\\;\\text{of}\\;\\text{the}\\;\\text{values.}\\;\\text{}}\\\\\n{h=v_{i}\\alpha_{i}}\\\\\n{\\text{This}\\;\\text{is}\\;\\text{the}\\;\\text{contribution}\\;\\text{of}\\;\\text{all}\\;\\text{the}\\;\\text{tokens}\\;\\text{to}\\;\\text{the}\\;\\text{query}\\;\\text{u}}\t\n\\end{gather*}&quot;,&quot;backgroundColorModified&quot;:false,&quot;aid&quot;:null,&quot;id&quot;:&quot;2&quot;,&quot;font&quot;:{&quot;family&quot;:&quot;Arial&quot;,&quot;color&quot;:&quot;#000000&quot;,&quot;size&quot;:14},&quot;ts&quot;:1771421645638,&quot;cs&quot;:&quot;uH8d5+4RFeiVg5K9fYmlEA==&quot;,&quot;size&quot;:{&quot;width&quot;:672.5,&quot;height&quot;:377}}" id="112" name="Google Shape;11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8524" y="1286250"/>
            <a:ext cx="6405563" cy="35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Self-Attention</a:t>
            </a:r>
            <a:endParaRPr/>
          </a:p>
        </p:txBody>
      </p:sp>
      <p:pic>
        <p:nvPicPr>
          <p:cNvPr descr="{&quot;id&quot;:&quot;2&quot;,&quot;font&quot;:{&quot;size&quot;:14,&quot;color&quot;:&quot;#000000&quot;,&quot;family&quot;:&quot;Arial&quot;},&quot;backgroundColorModified&quot;:false,&quot;type&quot;:&quot;gather*&quot;,&quot;backgroundColor&quot;:&quot;#FFFFFF&quot;,&quot;code&quot;:&quot;\\begin{gather*}\n{\\text{For}\\;\\text{an}\\;\\text{entire}\\;\\text{sequence}\\;\\text{X}\\in\\,\\Re^{t\\,\\times d}}\\\\\n{Q=XW_{Q},\\,K=XW_{K},\\,V=XW_{V}}\\\\\n{W_{Q},\\,W_{K}\\,\\text{are}\\;\\text{d}\\times d_{k}\\,\\text{matrices},\\,W_{V}\\,\\text{is}\\;d\\times d_{v}\\,\\text{matrix}}\\\\\n{\\text{Attn(}Q,K\\text{)=Softmax(}\\frac{QK^{T}}{{\\sqrt[]{d_{k}}}}\\text{)}}\\\\\n{\\text{division}\\;\\text{by}\\;{\\sqrt[]{d_{k}\\,}}\\,\\text{normalizes}\\;\\text{the}\\;\\text{dot}\\;\\text{product}}\\\\\n{\\text{The}\\;\\text{attention}\\;\\text{matrix}\\;\\text{(}t\\times t\\text{)}\\;\\text{encodes}\\;\\text{relevance}\\;\\text{o}\\text{f}\\;\\text{each}}\\\\\n{\\text{token}\\;\\text{in}\\;\\text{the}\\;\\text{sentence}\\;\\text{to}\\;\\text{all}\\;\\text{other}\\;\\text{tokens,}\\;\\text{including}\\;\\text{itself}}\\\\\n{\\text{Now}\\;\\text{I}\\;\\text{can}\\;\\text{obtain}\\;\\text{contextualized}\\;\\text{embedding}\\;\\text{for}\\;\\text{each}\\;\\text{token}}\\\\\n{E\\,=\\,Attn\\left(Q,K\\right)V}\\\\\n{E\\,\\text{is}\\;t\\times d_{v}\\,\\text{matrix}}\t\n\\end{gather*}&quot;,&quot;aid&quot;:null,&quot;ts&quot;:1772991734831,&quot;cs&quot;:&quot;VzxKXxqJ/qT+Fw9NPDcKkA==&quot;,&quot;size&quot;:{&quot;width&quot;:556,&quot;height&quot;:321.5}}" id="118" name="Google Shape;11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1359" y="1299270"/>
            <a:ext cx="5295900" cy="30622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Encoding position</a:t>
            </a:r>
            <a:endParaRPr/>
          </a:p>
        </p:txBody>
      </p:sp>
      <p:sp>
        <p:nvSpPr>
          <p:cNvPr id="124" name="Google Shape;124;p21"/>
          <p:cNvSpPr txBox="1"/>
          <p:nvPr/>
        </p:nvSpPr>
        <p:spPr>
          <a:xfrm>
            <a:off x="410925" y="1098875"/>
            <a:ext cx="80478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The attention mechanism by itself has no way of knowing </a:t>
            </a:r>
            <a:r>
              <a:rPr i="1" lang="en" sz="1200">
                <a:solidFill>
                  <a:schemeClr val="dk2"/>
                </a:solidFill>
              </a:rPr>
              <a:t>where</a:t>
            </a:r>
            <a:r>
              <a:rPr lang="en" sz="1200">
                <a:solidFill>
                  <a:schemeClr val="dk2"/>
                </a:solidFill>
              </a:rPr>
              <a:t> a token appears in a sentence.. It treats all tokens the same, regardless of position.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But position matters!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Eg., “The food was great but the service was terrible”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Question: How was the food? Need to understand attribute “great” is bound to food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Here “great” is associated with food because it appears near food. If I swapped “terrible” and “great”, then “great” becomes associated with service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So, we need to add a position embedding. These can be:</a:t>
            </a:r>
            <a:endParaRPr sz="1200">
              <a:solidFill>
                <a:schemeClr val="dk2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Char char="-"/>
            </a:pPr>
            <a:r>
              <a:rPr lang="en" sz="1200">
                <a:solidFill>
                  <a:schemeClr val="dk2"/>
                </a:solidFill>
              </a:rPr>
              <a:t>Learnable (as in our example)</a:t>
            </a:r>
            <a:endParaRPr sz="1200">
              <a:solidFill>
                <a:schemeClr val="dk2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-"/>
            </a:pPr>
            <a:r>
              <a:rPr lang="en" sz="1200">
                <a:solidFill>
                  <a:schemeClr val="dk2"/>
                </a:solidFill>
              </a:rPr>
              <a:t>Absolute position embeddings</a:t>
            </a:r>
            <a:endParaRPr sz="1200">
              <a:solidFill>
                <a:schemeClr val="dk2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-"/>
            </a:pPr>
            <a:r>
              <a:rPr lang="en" sz="1200">
                <a:solidFill>
                  <a:schemeClr val="dk2"/>
                </a:solidFill>
              </a:rPr>
              <a:t>Relative position embeddings (ROPE: the standard now) 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0200" y="742600"/>
            <a:ext cx="3234850" cy="250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>
            <p:ph idx="1" type="body"/>
          </p:nvPr>
        </p:nvSpPr>
        <p:spPr>
          <a:xfrm>
            <a:off x="713925" y="4700816"/>
            <a:ext cx="5362800" cy="6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i="1" lang="en"/>
              <a:t>food</a:t>
            </a:r>
            <a:r>
              <a:rPr lang="en"/>
              <a:t> food was great but service was bad</a:t>
            </a:r>
            <a:endParaRPr/>
          </a:p>
        </p:txBody>
      </p:sp>
      <p:graphicFrame>
        <p:nvGraphicFramePr>
          <p:cNvPr id="131" name="Google Shape;131;p22"/>
          <p:cNvGraphicFramePr/>
          <p:nvPr/>
        </p:nvGraphicFramePr>
        <p:xfrm>
          <a:off x="435413" y="436551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25"/>
                <a:gridCol w="470125"/>
                <a:gridCol w="470125"/>
                <a:gridCol w="4701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pad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pad</a:t>
                      </a:r>
                      <a:endParaRPr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pad</a:t>
                      </a:r>
                      <a:endParaRPr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pad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132" name="Google Shape;132;p22"/>
          <p:cNvGraphicFramePr/>
          <p:nvPr/>
        </p:nvGraphicFramePr>
        <p:xfrm>
          <a:off x="435413" y="383919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00"/>
                <a:gridCol w="470100"/>
                <a:gridCol w="470100"/>
                <a:gridCol w="4701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0</a:t>
                      </a:r>
                      <a:endParaRPr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0</a:t>
                      </a:r>
                      <a:endParaRPr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0</a:t>
                      </a:r>
                      <a:endParaRPr sz="15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133" name="Google Shape;133;p22"/>
          <p:cNvGraphicFramePr/>
          <p:nvPr/>
        </p:nvGraphicFramePr>
        <p:xfrm>
          <a:off x="435463" y="312712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00"/>
                <a:gridCol w="470100"/>
                <a:gridCol w="470100"/>
                <a:gridCol w="4701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e1+p1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e2+p2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e3+p3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e4+p4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e5+p5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e6+p6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e7+p7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e8+p8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e_pad+p9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e_pad+p10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e_pad+p11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e_pad+p12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34" name="Google Shape;134;p22"/>
          <p:cNvSpPr txBox="1"/>
          <p:nvPr>
            <p:ph type="title"/>
          </p:nvPr>
        </p:nvSpPr>
        <p:spPr>
          <a:xfrm>
            <a:off x="274750" y="2557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Sentiment classification using Attention</a:t>
            </a:r>
            <a:endParaRPr/>
          </a:p>
        </p:txBody>
      </p:sp>
      <p:sp>
        <p:nvSpPr>
          <p:cNvPr id="135" name="Google Shape;135;p22"/>
          <p:cNvSpPr txBox="1"/>
          <p:nvPr/>
        </p:nvSpPr>
        <p:spPr>
          <a:xfrm>
            <a:off x="6937200" y="3249600"/>
            <a:ext cx="2114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Trainable token + position embeddings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7153950" y="3844813"/>
            <a:ext cx="1500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Attention mask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7244250" y="4363513"/>
            <a:ext cx="1500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Tokenization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1445275" y="2678675"/>
            <a:ext cx="73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1, T, D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39" name="Google Shape;139;p22"/>
          <p:cNvSpPr txBox="1"/>
          <p:nvPr/>
        </p:nvSpPr>
        <p:spPr>
          <a:xfrm>
            <a:off x="66775" y="977788"/>
            <a:ext cx="2114700" cy="17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Attention Block</a:t>
            </a:r>
            <a:endParaRPr b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Outputs contextualized embeddings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2"/>
                </a:solidFill>
              </a:rPr>
              <a:t>Feed Forward: </a:t>
            </a:r>
            <a:r>
              <a:rPr lang="en" sz="900">
                <a:solidFill>
                  <a:schemeClr val="dk2"/>
                </a:solidFill>
              </a:rPr>
              <a:t>Mixes info across embedding (channel) dimension</a:t>
            </a:r>
            <a:endParaRPr sz="90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2"/>
                </a:solidFill>
              </a:rPr>
              <a:t>Skip Connection: </a:t>
            </a:r>
            <a:r>
              <a:rPr lang="en" sz="900">
                <a:solidFill>
                  <a:schemeClr val="dk2"/>
                </a:solidFill>
              </a:rPr>
              <a:t>Stable optimization, don’t destroy previous </a:t>
            </a:r>
            <a:r>
              <a:rPr lang="en" sz="900">
                <a:solidFill>
                  <a:schemeClr val="dk2"/>
                </a:solidFill>
              </a:rPr>
              <a:t>representation</a:t>
            </a:r>
            <a:r>
              <a:rPr lang="en" sz="900">
                <a:solidFill>
                  <a:schemeClr val="dk2"/>
                </a:solidFill>
              </a:rPr>
              <a:t> </a:t>
            </a:r>
            <a:endParaRPr sz="90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2"/>
                </a:solidFill>
              </a:rPr>
              <a:t>LayerNorm:</a:t>
            </a:r>
            <a:r>
              <a:rPr lang="en" sz="900">
                <a:solidFill>
                  <a:schemeClr val="dk2"/>
                </a:solidFill>
              </a:rPr>
              <a:t> Keeps </a:t>
            </a:r>
            <a:r>
              <a:rPr lang="en" sz="900">
                <a:solidFill>
                  <a:schemeClr val="dk2"/>
                </a:solidFill>
              </a:rPr>
              <a:t>activations</a:t>
            </a:r>
            <a:r>
              <a:rPr lang="en" sz="900">
                <a:solidFill>
                  <a:schemeClr val="dk2"/>
                </a:solidFill>
              </a:rPr>
              <a:t> well-scaled, learning stable</a:t>
            </a:r>
            <a:endParaRPr sz="900">
              <a:solidFill>
                <a:schemeClr val="dk2"/>
              </a:solidFill>
            </a:endParaRPr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49950" y="757400"/>
            <a:ext cx="3319115" cy="19938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Attention masking</a:t>
            </a:r>
            <a:endParaRPr/>
          </a:p>
        </p:txBody>
      </p:sp>
      <p:sp>
        <p:nvSpPr>
          <p:cNvPr id="146" name="Google Shape;146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Sentences in a </a:t>
            </a:r>
            <a:r>
              <a:rPr lang="en"/>
              <a:t>batch</a:t>
            </a:r>
            <a:r>
              <a:rPr lang="en"/>
              <a:t> can be of different lengths. Accounting for varying sentence lengths would preclude batch matrix multiplications.. To address this, sentences in a batch are filled with padding tokens to make them the same length. But, we don’t want the padding tokens to contribute to the attention scores..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Attention masking</a:t>
            </a:r>
            <a:endParaRPr/>
          </a:p>
        </p:txBody>
      </p:sp>
      <p:pic>
        <p:nvPicPr>
          <p:cNvPr id="152" name="Google Shape;15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000" y="1461850"/>
            <a:ext cx="4463426" cy="162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9525" y="3190725"/>
            <a:ext cx="6533224" cy="19527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4" name="Google Shape;154;p24"/>
          <p:cNvGraphicFramePr/>
          <p:nvPr/>
        </p:nvGraphicFramePr>
        <p:xfrm>
          <a:off x="688000" y="10416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382850"/>
                <a:gridCol w="382850"/>
                <a:gridCol w="382850"/>
                <a:gridCol w="382850"/>
                <a:gridCol w="389750"/>
                <a:gridCol w="382850"/>
                <a:gridCol w="382850"/>
                <a:gridCol w="382850"/>
                <a:gridCol w="382850"/>
                <a:gridCol w="382850"/>
                <a:gridCol w="382850"/>
              </a:tblGrid>
              <a:tr h="363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food</a:t>
                      </a:r>
                      <a:endParaRPr sz="700"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food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was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/>
                        <a:t>great</a:t>
                      </a:r>
                      <a:endParaRPr sz="6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but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the 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service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was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/>
                        <a:t>bad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700">
                          <a:solidFill>
                            <a:schemeClr val="dk1"/>
                          </a:solidFill>
                        </a:rPr>
                        <a:t>pad</a:t>
                      </a:r>
                      <a:endParaRPr sz="7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dk1"/>
                          </a:solidFill>
                        </a:rPr>
                        <a:t>pad</a:t>
                      </a:r>
                      <a:endParaRPr sz="7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155" name="Google Shape;155;p24"/>
          <p:cNvGraphicFramePr/>
          <p:nvPr/>
        </p:nvGraphicFramePr>
        <p:xfrm>
          <a:off x="103225" y="1516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{CC2E5028-35EF-4173-ACD8-1EDCF5F48ACF}</a:tableStyleId>
              </a:tblPr>
              <a:tblGrid>
                <a:gridCol w="516750"/>
              </a:tblGrid>
              <a:tr h="1134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food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food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was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bad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but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the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service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was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bad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pad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pad</a:t>
                      </a:r>
                      <a:endParaRPr sz="800"/>
                    </a:p>
                  </a:txBody>
                  <a:tcPr marT="0" marB="0" marR="91425" marL="91425"/>
                </a:tc>
              </a:tr>
              <a:tr h="1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pad</a:t>
                      </a:r>
                      <a:endParaRPr sz="800"/>
                    </a:p>
                  </a:txBody>
                  <a:tcPr marT="0" marB="0" marR="91425" marL="91425"/>
                </a:tc>
              </a:tr>
            </a:tbl>
          </a:graphicData>
        </a:graphic>
      </p:graphicFrame>
      <p:sp>
        <p:nvSpPr>
          <p:cNvPr id="156" name="Google Shape;156;p24"/>
          <p:cNvSpPr txBox="1"/>
          <p:nvPr/>
        </p:nvSpPr>
        <p:spPr>
          <a:xfrm>
            <a:off x="5324175" y="1149925"/>
            <a:ext cx="3706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Each row is attention values for the row token. We want to ignore the contribution of the pad tokens in the softmax. We do this by adding a large negative number for the padding tokens. This puts negative probability on those tokens after softmax</a:t>
            </a:r>
            <a:endParaRPr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But why not ignore the padding tokens rows too? 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Attention masking</a:t>
            </a:r>
            <a:endParaRPr/>
          </a:p>
        </p:txBody>
      </p:sp>
      <p:sp>
        <p:nvSpPr>
          <p:cNvPr id="162" name="Google Shape;162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/>
              <a:t>Why don’t we remove rows for pad tokens? That’s just wasted computation!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3333"/>
              <a:buFont typeface="Arial"/>
              <a:buNone/>
            </a:pPr>
            <a:r>
              <a:rPr lang="en" sz="1500"/>
              <a:t>Rows correspond to </a:t>
            </a:r>
            <a:r>
              <a:rPr b="1" lang="en" sz="1500"/>
              <a:t>queries</a:t>
            </a:r>
            <a:r>
              <a:rPr lang="en" sz="1500"/>
              <a:t>: “what does token i attend to?”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/>
              <a:t>Padding tokens don’t matter, but deleting rows would change shapes per example (ragged tensors), which breaks vectorized kernels, simple batching on GPUs..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/>
              <a:t>After attention, the FFN is applied independently to each token position: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/>
              <a:t>	FFN(X)[i] = MLP(X[i])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/>
              <a:t>So FFN (and residual connections) does not mix tokens, only features. That means if padding token representations become garbage, they won’t contaminate real tokens through the FFN.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/>
              <a:t>The only place tokens mix is attention, and there we use the “add a large negative number” trick to remove pad tokens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3333"/>
              <a:buFont typeface="Arial"/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Broadcasting</a:t>
            </a:r>
            <a:endParaRPr/>
          </a:p>
        </p:txBody>
      </p:sp>
      <p:pic>
        <p:nvPicPr>
          <p:cNvPr id="168" name="Google Shape;16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3125" y="1171700"/>
            <a:ext cx="5648624" cy="209237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6"/>
          <p:cNvSpPr txBox="1"/>
          <p:nvPr/>
        </p:nvSpPr>
        <p:spPr>
          <a:xfrm>
            <a:off x="403125" y="3446225"/>
            <a:ext cx="71973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Scores:</a:t>
            </a:r>
            <a:r>
              <a:rPr lang="en" sz="1800">
                <a:solidFill>
                  <a:schemeClr val="dk2"/>
                </a:solidFill>
              </a:rPr>
              <a:t> B, L, L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Attention mask:</a:t>
            </a:r>
            <a:r>
              <a:rPr lang="en" sz="1800">
                <a:solidFill>
                  <a:schemeClr val="dk2"/>
                </a:solidFill>
              </a:rPr>
              <a:t> B, L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To </a:t>
            </a:r>
            <a:r>
              <a:rPr lang="en" sz="1800">
                <a:solidFill>
                  <a:schemeClr val="dk2"/>
                </a:solidFill>
              </a:rPr>
              <a:t>apply attention mask to all rows of scores, we add a singleton dimension, and then broadcast across all dimensions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7"/>
          <p:cNvSpPr txBox="1"/>
          <p:nvPr/>
        </p:nvSpPr>
        <p:spPr>
          <a:xfrm>
            <a:off x="369350" y="1269725"/>
            <a:ext cx="63717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epoch 08 | mean: loss=0.3511 acc=0.768 | attn+ctx: loss=0.0000 acc=1.000</a:t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epoch 09 | mean: loss=0.3507 acc=0.744 | attn+ctx: loss=0.0000 acc=1.000</a:t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epoch 10 | mean: loss=0.3503 acc=0.744 | attn+ctx: loss=0.0000 acc=1.000</a:t>
            </a:r>
            <a:endParaRPr sz="1100"/>
          </a:p>
        </p:txBody>
      </p:sp>
      <p:sp>
        <p:nvSpPr>
          <p:cNvPr id="176" name="Google Shape;176;p27"/>
          <p:cNvSpPr txBox="1"/>
          <p:nvPr/>
        </p:nvSpPr>
        <p:spPr>
          <a:xfrm>
            <a:off x="311700" y="2770275"/>
            <a:ext cx="83916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 </a:t>
            </a:r>
            <a:r>
              <a:rPr b="1" lang="en" sz="1000"/>
              <a:t>query_aspect:</a:t>
            </a:r>
            <a:r>
              <a:rPr lang="en" sz="1000"/>
              <a:t> food label: 0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 </a:t>
            </a:r>
            <a:r>
              <a:rPr b="1" lang="en" sz="1000"/>
              <a:t>tokens:</a:t>
            </a:r>
            <a:r>
              <a:rPr lang="en" sz="1000"/>
              <a:t> </a:t>
            </a:r>
            <a:r>
              <a:rPr i="1" lang="en" sz="1000"/>
              <a:t>the food was bad the service was good</a:t>
            </a:r>
            <a:endParaRPr i="1"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 encoder self-attn ('good' token attends to...):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food:0.01  the:0.12  food:0.03  was:0.04  bad:0.14  the:0.06  service:0.12  was:0.06  good:0.42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 encoder self-attn ('bad' token attends to...):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food:0.98  the:0.00  food:0.01  was:0.00  bad:0.00  the:0.00  service:0.00  was:0.00  good:0.00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 pooling attn (where we read out from):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food:0.00  the:0.00  food:0.00  was:0.00  bad:1.00  the:0.00  service:0.00  was:0.00  good:0.00</a:t>
            </a:r>
            <a:endParaRPr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Learnt Position Embeddings</a:t>
            </a:r>
            <a:endParaRPr/>
          </a:p>
        </p:txBody>
      </p:sp>
      <p:pic>
        <p:nvPicPr>
          <p:cNvPr id="182" name="Google Shape;18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5225" y="2828000"/>
            <a:ext cx="2936501" cy="2202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900" y="2710250"/>
            <a:ext cx="3185850" cy="2389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36975" y="877275"/>
            <a:ext cx="3093450" cy="23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Multi-headed Attention</a:t>
            </a:r>
            <a:endParaRPr/>
          </a:p>
        </p:txBody>
      </p:sp>
      <p:pic>
        <p:nvPicPr>
          <p:cNvPr descr="{&quot;font&quot;:{&quot;size&quot;:9.5,&quot;color&quot;:&quot;#000000&quot;,&quot;family&quot;:&quot;Arial&quot;},&quot;type&quot;:&quot;gather*&quot;,&quot;code&quot;:&quot;\\begin{gather*}\n{\\text{Input}\\;X:\\,T\\times D}\\\\\n{\\text{For}\\;\\text{head}\\;i\\in\\left\\{1,\\,2\\,\\dots,\\,h\\right\\}:}\\\\\n{W_{K}^{i},W_{Q}^{i}:\\,D\\times D_{k}}\\\\\n{W_{V}^{i}:D\\times D_{v}}\\\\\n{\\text{Compute}\\;\\text{each}\\;\\text{head}}\\\\\n{Q_{i}=XW_{Q}^{i}\\,\\to T\\times D_{k}}\\\\\n{K_{i}=XW_{K}^{i}\\,\\to T\\times D_{k}}\\\\\n{V_{i}=XW_{V}^{i}\\,\\to T\\times D_{v}}\\\\\n{A_{i}=Soft\\max\\left(\\frac{Q_{i}K_{i}^{T}}{{\\sqrt[]{D_{k}}}}\\right)\\to T\\times T}\\\\\n{H_{i}=A_{i}V_{i}\\to T\\times D_{v}}\\\\\n{\\text{Concatenate}\\;H_{i}\\,\\text{along}\\;\\text{the}\\;\\text{feature}\\;\\text{dimensions}}\\\\\n{H=concat\\left(H_{1},\\,H_{2}\\cdots H_{h}\\right)\\to T\\times hD_{v}}\\\\\n{\\text{Generally}\\;D_{v}\\,\\text{is}\\;\\text{chosen}\\;\\text{such}\\;\\text{that}\\;D_{v}h=D.\\,\\text{So}\\;\\text{the}\\;\\text{number}\\;\\text{of}\\;\\text{parameters}\\;\\text{in}\\;\\text{MHA}\\;\\text{is}\\;\\text{the}\\;\\text{same}\\;\\text{as}\\;\\text{single}\\;\\text{headed}\\;\\text{attention}}\t\n\\end{gather*}&quot;,&quot;aid&quot;:null,&quot;id&quot;:&quot;1&quot;,&quot;backgroundColor&quot;:&quot;#FFFFFF&quot;,&quot;backgroundColorModified&quot;:false,&quot;ts&quot;:1773016656004,&quot;cs&quot;:&quot;/tn/WgT7LMD4N0i3gCYtqQ==&quot;,&quot;size&quot;:{&quot;width&quot;:797.1495312335957,&quot;height&quot;:300.6719262467192}}" id="190" name="Google Shape;19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1075" y="1389400"/>
            <a:ext cx="7592849" cy="2863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9"/>
          <p:cNvSpPr txBox="1"/>
          <p:nvPr/>
        </p:nvSpPr>
        <p:spPr>
          <a:xfrm>
            <a:off x="265475" y="1337175"/>
            <a:ext cx="3362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A0A0A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Instead of one single attention mechanism, Multi-Headed Attention (MHA) uses multiple parallel "heads" to independently compute attention scores, allowing the model to capture diverse, nuanced, and parallel relationships. </a:t>
            </a:r>
            <a:endParaRPr sz="1200">
              <a:solidFill>
                <a:srgbClr val="0A0A0A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Multi-headed Attention</a:t>
            </a:r>
            <a:endParaRPr/>
          </a:p>
        </p:txBody>
      </p:sp>
      <p:pic>
        <p:nvPicPr>
          <p:cNvPr descr="{&quot;code&quot;:&quot;\\begin{gather*}\n{\\text{Implementations}\\;\\text{use}\\;\\text{a}\\;\\text{packed}\\;\\text{matrix,}\\;\\text{then}\\;\\text{reshape}\\;\\text{and}\\;\\text{split}.\\,\\text{This}\\;\\text{takes}\\;\\text{better}\\;\\text{advantage}\\;\\text{of}\\;\\text{parallel}\\;\\text{hardware}}\\\\\n{\\text{Input}\\;X:\\,T\\times D}\\\\\n{W_{K},W_{Q}:\\,D\\times hD_{k}}\\\\\n{W_{V}:D\\times hD_{v}}\\\\\n{\\text{Compute}\\;Q,\\,K,\\,V\\,\\text{projections}\\;\\text{(a}\\;\\text{single}\\;\\text{multiplication)}}\\\\\n{Q=XW_{Q}\\,\\to T\\times hD_{k}}\\\\\n{K=XW_{K}\\,\\to T\\times hD_{k}}\\\\\n{V=XW_{V}\\,\\to T\\times hD_{v}}\\\\\n{\\text{Reshape,}\\;\\text{transpose}}\\\\\n{T\\times hD_{k}\\to h\\times T\\times D_{k},\\,T\\times hD_{v}\\to h\\times T\\times D_{v}}\\\\\n{\\text{Per}\\;\\text{head}\\;\\text{attention}\\;\\text{scores}\\;\\text{(single}\\;\\text{matmul),}\\;\\text{transpos}\\text{e}\\;\\text{over}\\;\\text{last}\\;\\text{2}\\;\\text{dim}\\;\\text{(T,}\\;\\text{Dk}\\text{)}}\\\\\n{A=Soft\\max\\left(\\frac{QK^{T}}{{\\sqrt[]{D_{k}}}}\\right)\\to h\\times T\\times T}\\\\\n{\\text{Attention}\\;\\text{weighted}\\;\\text{sum}}\\\\\n{H=AV\\to h\\times T\\times D_{v}}\\\\\n{\\text{Transpose}\\;\\text{and}\\;\\text{reshape}}\\\\\n{h\\times T\\times D_{v}\\to T\\times h\\times D_{v}\\to T\\times hD_{v}}\t\n\\end{gather*}&quot;,&quot;aid&quot;:null,&quot;backgroundColor&quot;:&quot;#FFFFFF&quot;,&quot;font&quot;:{&quot;size&quot;:9.5,&quot;family&quot;:&quot;Arial&quot;,&quot;color&quot;:&quot;#000000&quot;},&quot;backgroundColorModified&quot;:false,&quot;type&quot;:&quot;gather*&quot;,&quot;id&quot;:&quot;1&quot;,&quot;ts&quot;:1773059249285,&quot;cs&quot;:&quot;asQllyFpuDyptHnBFqOd6A==&quot;,&quot;size&quot;:{&quot;width&quot;:714,&quot;height&quot;:327}}" id="197" name="Google Shape;19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4606" y="1458225"/>
            <a:ext cx="6800850" cy="311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30"/>
          <p:cNvSpPr txBox="1"/>
          <p:nvPr/>
        </p:nvSpPr>
        <p:spPr>
          <a:xfrm>
            <a:off x="6145150" y="560450"/>
            <a:ext cx="2158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Ignoring the batch dimension here..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9" name="Google Shape;199;p30"/>
          <p:cNvSpPr txBox="1"/>
          <p:nvPr/>
        </p:nvSpPr>
        <p:spPr>
          <a:xfrm>
            <a:off x="6462600" y="2138525"/>
            <a:ext cx="2369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Attention mask: (1,T)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We’ll broadcast over h, T dimensions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00" name="Google Shape;200;p30"/>
          <p:cNvCxnSpPr/>
          <p:nvPr/>
        </p:nvCxnSpPr>
        <p:spPr>
          <a:xfrm flipH="1">
            <a:off x="5943700" y="3072575"/>
            <a:ext cx="855300" cy="511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