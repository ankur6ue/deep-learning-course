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568ACB4-8944-42FA-BDF8-B63914A0C3B0}">
  <a:tblStyle styleId="{F568ACB4-8944-42FA-BDF8-B63914A0C3B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9229b9b3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9229b9b3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887823e2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887823e2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c2793e2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c2793e2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c887823e2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c887823e2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cc2793e28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cc2793e28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887823e2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c887823e2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c2793e28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c2793e28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f40d6704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f40d670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c2793e28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c2793e28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5e088851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5e088851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e0050154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ce0050154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e668ce59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e668ce59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e668ce59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e668ce59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e668ce59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e668ce59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ce0050154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ce0050154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e0050154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ce0050154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95e088851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95e088851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f40d6704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f40d6704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e0050154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e0050154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ff53665b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ff53665b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f40d6704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cf40d6704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Neural Architectures:</a:t>
            </a:r>
            <a:endParaRPr/>
          </a:p>
          <a:p>
            <a:pPr indent="0" lvl="0" marL="0" rtl="0" algn="ctr">
              <a:spcBef>
                <a:spcPts val="0"/>
              </a:spcBef>
              <a:spcAft>
                <a:spcPts val="0"/>
              </a:spcAft>
              <a:buNone/>
            </a:pPr>
            <a:r>
              <a:rPr lang="en" sz="2755"/>
              <a:t>Transformers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Introduction to Deep Learning: Class 5.4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Transformers: Main idea</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200"/>
              <a:t>How do I represent a sentence as a fixed length embedding?</a:t>
            </a:r>
            <a:endParaRPr sz="1200"/>
          </a:p>
          <a:p>
            <a:pPr indent="0" lvl="0" marL="0" rtl="0" algn="l">
              <a:spcBef>
                <a:spcPts val="1200"/>
              </a:spcBef>
              <a:spcAft>
                <a:spcPts val="0"/>
              </a:spcAft>
              <a:buNone/>
            </a:pPr>
            <a:r>
              <a:rPr lang="en" sz="1200"/>
              <a:t>Could</a:t>
            </a:r>
            <a:r>
              <a:rPr lang="en" sz="1200"/>
              <a:t> take avg/max of each embedding dimension across tokens..</a:t>
            </a:r>
            <a:endParaRPr sz="1200"/>
          </a:p>
          <a:p>
            <a:pPr indent="0" lvl="0" marL="0" rtl="0" algn="l">
              <a:spcBef>
                <a:spcPts val="1200"/>
              </a:spcBef>
              <a:spcAft>
                <a:spcPts val="0"/>
              </a:spcAft>
              <a:buNone/>
            </a:pPr>
            <a:r>
              <a:rPr lang="en" sz="1200"/>
              <a:t>But this gives equal weight to each token.. When the importance of each token depends on the question you are trying to answer</a:t>
            </a:r>
            <a:endParaRPr sz="1200"/>
          </a:p>
          <a:p>
            <a:pPr indent="0" lvl="0" marL="0" rtl="0" algn="l">
              <a:spcBef>
                <a:spcPts val="1200"/>
              </a:spcBef>
              <a:spcAft>
                <a:spcPts val="0"/>
              </a:spcAft>
              <a:buNone/>
            </a:pPr>
            <a:r>
              <a:rPr lang="en" sz="1200"/>
              <a:t>Eg., “The food was great but the service was terrible”</a:t>
            </a:r>
            <a:endParaRPr sz="1200"/>
          </a:p>
          <a:p>
            <a:pPr indent="0" lvl="0" marL="0" rtl="0" algn="l">
              <a:spcBef>
                <a:spcPts val="1200"/>
              </a:spcBef>
              <a:spcAft>
                <a:spcPts val="0"/>
              </a:spcAft>
              <a:buNone/>
            </a:pPr>
            <a:r>
              <a:rPr lang="en" sz="1200"/>
              <a:t>Question: How was the food? Need to understand attribute “great” is bound to food</a:t>
            </a:r>
            <a:endParaRPr sz="1200"/>
          </a:p>
          <a:p>
            <a:pPr indent="0" lvl="0" marL="0" rtl="0" algn="l">
              <a:spcBef>
                <a:spcPts val="1200"/>
              </a:spcBef>
              <a:spcAft>
                <a:spcPts val="0"/>
              </a:spcAft>
              <a:buNone/>
            </a:pPr>
            <a:r>
              <a:rPr lang="en" sz="1200"/>
              <a:t>Question: How was the service? </a:t>
            </a:r>
            <a:r>
              <a:rPr lang="en" sz="1200"/>
              <a:t>Need to understand attribute “terrible” is bound to service</a:t>
            </a:r>
            <a:endParaRPr sz="1200"/>
          </a:p>
          <a:p>
            <a:pPr indent="0" lvl="0" marL="0" rtl="0" algn="l">
              <a:spcBef>
                <a:spcPts val="1200"/>
              </a:spcBef>
              <a:spcAft>
                <a:spcPts val="1200"/>
              </a:spcAft>
              <a:buNone/>
            </a:pPr>
            <a:r>
              <a:rPr lang="en" sz="1200"/>
              <a:t>A flat embedding representation that collapses the token embeddings into a single embedding vector would fail at this task</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idx="1" type="body"/>
          </p:nvPr>
        </p:nvSpPr>
        <p:spPr>
          <a:xfrm>
            <a:off x="713925" y="4700816"/>
            <a:ext cx="5362800" cy="689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i="1" lang="en"/>
              <a:t>food</a:t>
            </a:r>
            <a:r>
              <a:rPr lang="en"/>
              <a:t> food was great but service was bad</a:t>
            </a:r>
            <a:endParaRPr/>
          </a:p>
        </p:txBody>
      </p:sp>
      <p:graphicFrame>
        <p:nvGraphicFramePr>
          <p:cNvPr id="67" name="Google Shape;67;p15"/>
          <p:cNvGraphicFramePr/>
          <p:nvPr/>
        </p:nvGraphicFramePr>
        <p:xfrm>
          <a:off x="435413" y="4365516"/>
          <a:ext cx="3000000" cy="3000000"/>
        </p:xfrm>
        <a:graphic>
          <a:graphicData uri="http://schemas.openxmlformats.org/drawingml/2006/table">
            <a:tbl>
              <a:tblPr>
                <a:noFill/>
                <a:tableStyleId>{F568ACB4-8944-42FA-BDF8-B63914A0C3B0}</a:tableStyleId>
              </a:tblPr>
              <a:tblGrid>
                <a:gridCol w="504925"/>
                <a:gridCol w="504925"/>
                <a:gridCol w="504925"/>
                <a:gridCol w="504925"/>
                <a:gridCol w="504925"/>
                <a:gridCol w="504925"/>
                <a:gridCol w="504925"/>
                <a:gridCol w="504925"/>
                <a:gridCol w="470125"/>
                <a:gridCol w="470125"/>
                <a:gridCol w="470125"/>
                <a:gridCol w="470125"/>
              </a:tblGrid>
              <a:tr h="381000">
                <a:tc>
                  <a:txBody>
                    <a:bodyPr/>
                    <a:lstStyle/>
                    <a:p>
                      <a:pPr indent="0" lvl="0" marL="0" rtl="0" algn="l">
                        <a:spcBef>
                          <a:spcPts val="0"/>
                        </a:spcBef>
                        <a:spcAft>
                          <a:spcPts val="0"/>
                        </a:spcAft>
                        <a:buNone/>
                      </a:pPr>
                      <a:r>
                        <a:rPr lang="en"/>
                        <a:t>t1</a:t>
                      </a:r>
                      <a:endParaRPr/>
                    </a:p>
                  </a:txBody>
                  <a:tcPr marT="91425" marB="91425" marR="91425" marL="91425"/>
                </a:tc>
                <a:tc>
                  <a:txBody>
                    <a:bodyPr/>
                    <a:lstStyle/>
                    <a:p>
                      <a:pPr indent="0" lvl="0" marL="0" rtl="0" algn="l">
                        <a:spcBef>
                          <a:spcPts val="0"/>
                        </a:spcBef>
                        <a:spcAft>
                          <a:spcPts val="0"/>
                        </a:spcAft>
                        <a:buNone/>
                      </a:pPr>
                      <a:r>
                        <a:rPr lang="en"/>
                        <a:t>t2</a:t>
                      </a:r>
                      <a:endParaRPr/>
                    </a:p>
                  </a:txBody>
                  <a:tcPr marT="91425" marB="91425" marR="91425" marL="91425"/>
                </a:tc>
                <a:tc>
                  <a:txBody>
                    <a:bodyPr/>
                    <a:lstStyle/>
                    <a:p>
                      <a:pPr indent="0" lvl="0" marL="0" rtl="0" algn="l">
                        <a:spcBef>
                          <a:spcPts val="0"/>
                        </a:spcBef>
                        <a:spcAft>
                          <a:spcPts val="0"/>
                        </a:spcAft>
                        <a:buNone/>
                      </a:pPr>
                      <a:r>
                        <a:rPr lang="en"/>
                        <a:t>t3</a:t>
                      </a:r>
                      <a:endParaRPr/>
                    </a:p>
                  </a:txBody>
                  <a:tcPr marT="91425" marB="91425" marR="91425" marL="91425"/>
                </a:tc>
                <a:tc>
                  <a:txBody>
                    <a:bodyPr/>
                    <a:lstStyle/>
                    <a:p>
                      <a:pPr indent="0" lvl="0" marL="0" rtl="0" algn="l">
                        <a:spcBef>
                          <a:spcPts val="0"/>
                        </a:spcBef>
                        <a:spcAft>
                          <a:spcPts val="0"/>
                        </a:spcAft>
                        <a:buNone/>
                      </a:pPr>
                      <a:r>
                        <a:rPr lang="en"/>
                        <a:t>t4</a:t>
                      </a:r>
                      <a:endParaRPr/>
                    </a:p>
                  </a:txBody>
                  <a:tcPr marT="91425" marB="91425" marR="91425" marL="91425"/>
                </a:tc>
                <a:tc>
                  <a:txBody>
                    <a:bodyPr/>
                    <a:lstStyle/>
                    <a:p>
                      <a:pPr indent="0" lvl="0" marL="0" rtl="0" algn="l">
                        <a:spcBef>
                          <a:spcPts val="0"/>
                        </a:spcBef>
                        <a:spcAft>
                          <a:spcPts val="0"/>
                        </a:spcAft>
                        <a:buNone/>
                      </a:pPr>
                      <a:r>
                        <a:rPr lang="en"/>
                        <a:t>t5</a:t>
                      </a:r>
                      <a:endParaRPr/>
                    </a:p>
                  </a:txBody>
                  <a:tcPr marT="91425" marB="91425" marR="91425" marL="91425"/>
                </a:tc>
                <a:tc>
                  <a:txBody>
                    <a:bodyPr/>
                    <a:lstStyle/>
                    <a:p>
                      <a:pPr indent="0" lvl="0" marL="0" rtl="0" algn="l">
                        <a:spcBef>
                          <a:spcPts val="0"/>
                        </a:spcBef>
                        <a:spcAft>
                          <a:spcPts val="0"/>
                        </a:spcAft>
                        <a:buNone/>
                      </a:pPr>
                      <a:r>
                        <a:rPr lang="en"/>
                        <a:t>t6</a:t>
                      </a:r>
                      <a:endParaRPr/>
                    </a:p>
                  </a:txBody>
                  <a:tcPr marT="91425" marB="91425" marR="91425" marL="91425"/>
                </a:tc>
                <a:tc>
                  <a:txBody>
                    <a:bodyPr/>
                    <a:lstStyle/>
                    <a:p>
                      <a:pPr indent="0" lvl="0" marL="0" rtl="0" algn="l">
                        <a:spcBef>
                          <a:spcPts val="0"/>
                        </a:spcBef>
                        <a:spcAft>
                          <a:spcPts val="0"/>
                        </a:spcAft>
                        <a:buNone/>
                      </a:pPr>
                      <a:r>
                        <a:rPr lang="en"/>
                        <a:t>t7</a:t>
                      </a:r>
                      <a:endParaRPr/>
                    </a:p>
                  </a:txBody>
                  <a:tcPr marT="91425" marB="91425" marR="91425" marL="91425"/>
                </a:tc>
                <a:tc>
                  <a:txBody>
                    <a:bodyPr/>
                    <a:lstStyle/>
                    <a:p>
                      <a:pPr indent="0" lvl="0" marL="0" rtl="0" algn="l">
                        <a:spcBef>
                          <a:spcPts val="0"/>
                        </a:spcBef>
                        <a:spcAft>
                          <a:spcPts val="0"/>
                        </a:spcAft>
                        <a:buNone/>
                      </a:pPr>
                      <a:r>
                        <a:rPr lang="en"/>
                        <a:t>t8</a:t>
                      </a:r>
                      <a:endParaRPr/>
                    </a:p>
                  </a:txBody>
                  <a:tcPr marT="91425" marB="91425" marR="91425" marL="91425"/>
                </a:tc>
                <a:tc>
                  <a:txBody>
                    <a:bodyPr/>
                    <a:lstStyle/>
                    <a:p>
                      <a:pPr indent="0" lvl="0" marL="0" rtl="0" algn="l">
                        <a:spcBef>
                          <a:spcPts val="0"/>
                        </a:spcBef>
                        <a:spcAft>
                          <a:spcPts val="0"/>
                        </a:spcAft>
                        <a:buNone/>
                      </a:pPr>
                      <a:r>
                        <a:rPr lang="en" sz="1200"/>
                        <a:t>pad</a:t>
                      </a:r>
                      <a:endParaRPr sz="1200"/>
                    </a:p>
                  </a:txBody>
                  <a:tcPr marT="91425" marB="91425" marR="91425" marL="91425"/>
                </a:tc>
                <a:tc>
                  <a:txBody>
                    <a:bodyPr/>
                    <a:lstStyle/>
                    <a:p>
                      <a:pPr indent="0" lvl="0" marL="0" rtl="0" algn="l">
                        <a:spcBef>
                          <a:spcPts val="0"/>
                        </a:spcBef>
                        <a:spcAft>
                          <a:spcPts val="0"/>
                        </a:spcAft>
                        <a:buNone/>
                      </a:pPr>
                      <a:r>
                        <a:rPr lang="en" sz="1000"/>
                        <a:t>pad</a:t>
                      </a:r>
                      <a:endParaRPr sz="1000"/>
                    </a:p>
                  </a:txBody>
                  <a:tcPr marT="91425" marB="91425" marR="91425" marL="91425"/>
                </a:tc>
                <a:tc>
                  <a:txBody>
                    <a:bodyPr/>
                    <a:lstStyle/>
                    <a:p>
                      <a:pPr indent="0" lvl="0" marL="0" rtl="0" algn="l">
                        <a:spcBef>
                          <a:spcPts val="0"/>
                        </a:spcBef>
                        <a:spcAft>
                          <a:spcPts val="0"/>
                        </a:spcAft>
                        <a:buNone/>
                      </a:pPr>
                      <a:r>
                        <a:rPr lang="en" sz="1000"/>
                        <a:t>pad</a:t>
                      </a:r>
                      <a:endParaRPr sz="1000"/>
                    </a:p>
                  </a:txBody>
                  <a:tcPr marT="91425" marB="91425" marR="91425" marL="91425"/>
                </a:tc>
                <a:tc>
                  <a:txBody>
                    <a:bodyPr/>
                    <a:lstStyle/>
                    <a:p>
                      <a:pPr indent="0" lvl="0" marL="0" rtl="0" algn="l">
                        <a:spcBef>
                          <a:spcPts val="0"/>
                        </a:spcBef>
                        <a:spcAft>
                          <a:spcPts val="0"/>
                        </a:spcAft>
                        <a:buNone/>
                      </a:pPr>
                      <a:r>
                        <a:rPr lang="en" sz="1000"/>
                        <a:t>pad</a:t>
                      </a:r>
                      <a:endParaRPr sz="1000"/>
                    </a:p>
                  </a:txBody>
                  <a:tcPr marT="91425" marB="91425" marR="91425" marL="91425"/>
                </a:tc>
              </a:tr>
            </a:tbl>
          </a:graphicData>
        </a:graphic>
      </p:graphicFrame>
      <p:graphicFrame>
        <p:nvGraphicFramePr>
          <p:cNvPr id="68" name="Google Shape;68;p15"/>
          <p:cNvGraphicFramePr/>
          <p:nvPr/>
        </p:nvGraphicFramePr>
        <p:xfrm>
          <a:off x="435413" y="3839191"/>
          <a:ext cx="3000000" cy="3000000"/>
        </p:xfrm>
        <a:graphic>
          <a:graphicData uri="http://schemas.openxmlformats.org/drawingml/2006/table">
            <a:tbl>
              <a:tblPr>
                <a:noFill/>
                <a:tableStyleId>{F568ACB4-8944-42FA-BDF8-B63914A0C3B0}</a:tableStyleId>
              </a:tblPr>
              <a:tblGrid>
                <a:gridCol w="504925"/>
                <a:gridCol w="504925"/>
                <a:gridCol w="504925"/>
                <a:gridCol w="504925"/>
                <a:gridCol w="504925"/>
                <a:gridCol w="504925"/>
                <a:gridCol w="504925"/>
                <a:gridCol w="504925"/>
                <a:gridCol w="470100"/>
                <a:gridCol w="470100"/>
                <a:gridCol w="470100"/>
                <a:gridCol w="470100"/>
              </a:tblGrid>
              <a:tr h="381000">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sz="1000"/>
                        <a:t>0</a:t>
                      </a:r>
                      <a:endParaRPr sz="1000"/>
                    </a:p>
                  </a:txBody>
                  <a:tcPr marT="91425" marB="91425" marR="91425" marL="91425"/>
                </a:tc>
                <a:tc>
                  <a:txBody>
                    <a:bodyPr/>
                    <a:lstStyle/>
                    <a:p>
                      <a:pPr indent="0" lvl="0" marL="0" rtl="0" algn="l">
                        <a:spcBef>
                          <a:spcPts val="0"/>
                        </a:spcBef>
                        <a:spcAft>
                          <a:spcPts val="0"/>
                        </a:spcAft>
                        <a:buNone/>
                      </a:pPr>
                      <a:r>
                        <a:rPr lang="en" sz="1000"/>
                        <a:t>0</a:t>
                      </a:r>
                      <a:endParaRPr sz="1000"/>
                    </a:p>
                  </a:txBody>
                  <a:tcPr marT="91425" marB="91425" marR="91425" marL="91425"/>
                </a:tc>
                <a:tc>
                  <a:txBody>
                    <a:bodyPr/>
                    <a:lstStyle/>
                    <a:p>
                      <a:pPr indent="0" lvl="0" marL="0" rtl="0" algn="l">
                        <a:spcBef>
                          <a:spcPts val="0"/>
                        </a:spcBef>
                        <a:spcAft>
                          <a:spcPts val="0"/>
                        </a:spcAft>
                        <a:buNone/>
                      </a:pPr>
                      <a:r>
                        <a:rPr lang="en" sz="1000"/>
                        <a:t>0</a:t>
                      </a:r>
                      <a:endParaRPr sz="1000"/>
                    </a:p>
                  </a:txBody>
                  <a:tcPr marT="91425" marB="91425" marR="91425" marL="91425"/>
                </a:tc>
              </a:tr>
            </a:tbl>
          </a:graphicData>
        </a:graphic>
      </p:graphicFrame>
      <p:graphicFrame>
        <p:nvGraphicFramePr>
          <p:cNvPr id="69" name="Google Shape;69;p15"/>
          <p:cNvGraphicFramePr/>
          <p:nvPr/>
        </p:nvGraphicFramePr>
        <p:xfrm>
          <a:off x="435413" y="3285654"/>
          <a:ext cx="3000000" cy="3000000"/>
        </p:xfrm>
        <a:graphic>
          <a:graphicData uri="http://schemas.openxmlformats.org/drawingml/2006/table">
            <a:tbl>
              <a:tblPr>
                <a:noFill/>
                <a:tableStyleId>{F568ACB4-8944-42FA-BDF8-B63914A0C3B0}</a:tableStyleId>
              </a:tblPr>
              <a:tblGrid>
                <a:gridCol w="504925"/>
                <a:gridCol w="504925"/>
                <a:gridCol w="504925"/>
                <a:gridCol w="504925"/>
                <a:gridCol w="504925"/>
                <a:gridCol w="504925"/>
                <a:gridCol w="504925"/>
                <a:gridCol w="504925"/>
                <a:gridCol w="470100"/>
                <a:gridCol w="470100"/>
                <a:gridCol w="470100"/>
                <a:gridCol w="470100"/>
              </a:tblGrid>
              <a:tr h="381000">
                <a:tc>
                  <a:txBody>
                    <a:bodyPr/>
                    <a:lstStyle/>
                    <a:p>
                      <a:pPr indent="0" lvl="0" marL="0" rtl="0" algn="l">
                        <a:spcBef>
                          <a:spcPts val="0"/>
                        </a:spcBef>
                        <a:spcAft>
                          <a:spcPts val="0"/>
                        </a:spcAft>
                        <a:buNone/>
                      </a:pPr>
                      <a:r>
                        <a:rPr lang="en"/>
                        <a:t>e1</a:t>
                      </a:r>
                      <a:endParaRPr/>
                    </a:p>
                  </a:txBody>
                  <a:tcPr marT="91425" marB="91425" marR="91425" marL="91425"/>
                </a:tc>
                <a:tc>
                  <a:txBody>
                    <a:bodyPr/>
                    <a:lstStyle/>
                    <a:p>
                      <a:pPr indent="0" lvl="0" marL="0" rtl="0" algn="l">
                        <a:spcBef>
                          <a:spcPts val="0"/>
                        </a:spcBef>
                        <a:spcAft>
                          <a:spcPts val="0"/>
                        </a:spcAft>
                        <a:buNone/>
                      </a:pPr>
                      <a:r>
                        <a:rPr lang="en"/>
                        <a:t>e2</a:t>
                      </a:r>
                      <a:endParaRPr/>
                    </a:p>
                  </a:txBody>
                  <a:tcPr marT="91425" marB="91425" marR="91425" marL="91425"/>
                </a:tc>
                <a:tc>
                  <a:txBody>
                    <a:bodyPr/>
                    <a:lstStyle/>
                    <a:p>
                      <a:pPr indent="0" lvl="0" marL="0" rtl="0" algn="l">
                        <a:spcBef>
                          <a:spcPts val="0"/>
                        </a:spcBef>
                        <a:spcAft>
                          <a:spcPts val="0"/>
                        </a:spcAft>
                        <a:buNone/>
                      </a:pPr>
                      <a:r>
                        <a:rPr lang="en"/>
                        <a:t>e3</a:t>
                      </a:r>
                      <a:endParaRPr/>
                    </a:p>
                  </a:txBody>
                  <a:tcPr marT="91425" marB="91425" marR="91425" marL="91425"/>
                </a:tc>
                <a:tc>
                  <a:txBody>
                    <a:bodyPr/>
                    <a:lstStyle/>
                    <a:p>
                      <a:pPr indent="0" lvl="0" marL="0" rtl="0" algn="l">
                        <a:spcBef>
                          <a:spcPts val="0"/>
                        </a:spcBef>
                        <a:spcAft>
                          <a:spcPts val="0"/>
                        </a:spcAft>
                        <a:buNone/>
                      </a:pPr>
                      <a:r>
                        <a:rPr lang="en"/>
                        <a:t>e4</a:t>
                      </a:r>
                      <a:endParaRPr/>
                    </a:p>
                  </a:txBody>
                  <a:tcPr marT="91425" marB="91425" marR="91425" marL="91425"/>
                </a:tc>
                <a:tc>
                  <a:txBody>
                    <a:bodyPr/>
                    <a:lstStyle/>
                    <a:p>
                      <a:pPr indent="0" lvl="0" marL="0" rtl="0" algn="l">
                        <a:spcBef>
                          <a:spcPts val="0"/>
                        </a:spcBef>
                        <a:spcAft>
                          <a:spcPts val="0"/>
                        </a:spcAft>
                        <a:buNone/>
                      </a:pPr>
                      <a:r>
                        <a:rPr lang="en"/>
                        <a:t>e5</a:t>
                      </a:r>
                      <a:endParaRPr/>
                    </a:p>
                  </a:txBody>
                  <a:tcPr marT="91425" marB="91425" marR="91425" marL="91425"/>
                </a:tc>
                <a:tc>
                  <a:txBody>
                    <a:bodyPr/>
                    <a:lstStyle/>
                    <a:p>
                      <a:pPr indent="0" lvl="0" marL="0" rtl="0" algn="l">
                        <a:spcBef>
                          <a:spcPts val="0"/>
                        </a:spcBef>
                        <a:spcAft>
                          <a:spcPts val="0"/>
                        </a:spcAft>
                        <a:buNone/>
                      </a:pPr>
                      <a:r>
                        <a:rPr lang="en"/>
                        <a:t>e6</a:t>
                      </a:r>
                      <a:endParaRPr/>
                    </a:p>
                  </a:txBody>
                  <a:tcPr marT="91425" marB="91425" marR="91425" marL="91425"/>
                </a:tc>
                <a:tc>
                  <a:txBody>
                    <a:bodyPr/>
                    <a:lstStyle/>
                    <a:p>
                      <a:pPr indent="0" lvl="0" marL="0" rtl="0" algn="l">
                        <a:spcBef>
                          <a:spcPts val="0"/>
                        </a:spcBef>
                        <a:spcAft>
                          <a:spcPts val="0"/>
                        </a:spcAft>
                        <a:buNone/>
                      </a:pPr>
                      <a:r>
                        <a:rPr lang="en"/>
                        <a:t>e7</a:t>
                      </a:r>
                      <a:endParaRPr/>
                    </a:p>
                  </a:txBody>
                  <a:tcPr marT="91425" marB="91425" marR="91425" marL="91425"/>
                </a:tc>
                <a:tc>
                  <a:txBody>
                    <a:bodyPr/>
                    <a:lstStyle/>
                    <a:p>
                      <a:pPr indent="0" lvl="0" marL="0" rtl="0" algn="l">
                        <a:spcBef>
                          <a:spcPts val="0"/>
                        </a:spcBef>
                        <a:spcAft>
                          <a:spcPts val="0"/>
                        </a:spcAft>
                        <a:buNone/>
                      </a:pPr>
                      <a:r>
                        <a:rPr lang="en"/>
                        <a:t>e8</a:t>
                      </a:r>
                      <a:endParaRPr/>
                    </a:p>
                  </a:txBody>
                  <a:tcPr marT="91425" marB="91425" marR="91425" marL="91425"/>
                </a:tc>
                <a:tc>
                  <a:txBody>
                    <a:bodyPr/>
                    <a:lstStyle/>
                    <a:p>
                      <a:pPr indent="0" lvl="0" marL="0" rtl="0" algn="l">
                        <a:spcBef>
                          <a:spcPts val="0"/>
                        </a:spcBef>
                        <a:spcAft>
                          <a:spcPts val="0"/>
                        </a:spcAft>
                        <a:buNone/>
                      </a:pPr>
                      <a:r>
                        <a:rPr lang="en" sz="800"/>
                        <a:t>e_pad</a:t>
                      </a:r>
                      <a:endParaRPr sz="800"/>
                    </a:p>
                  </a:txBody>
                  <a:tcPr marT="91425" marB="91425" marR="91425" marL="91425"/>
                </a:tc>
                <a:tc>
                  <a:txBody>
                    <a:bodyPr/>
                    <a:lstStyle/>
                    <a:p>
                      <a:pPr indent="0" lvl="0" marL="0" rtl="0" algn="l">
                        <a:spcBef>
                          <a:spcPts val="0"/>
                        </a:spcBef>
                        <a:spcAft>
                          <a:spcPts val="0"/>
                        </a:spcAft>
                        <a:buNone/>
                      </a:pPr>
                      <a:r>
                        <a:rPr lang="en" sz="800"/>
                        <a:t>e_pad</a:t>
                      </a:r>
                      <a:endParaRPr sz="800"/>
                    </a:p>
                  </a:txBody>
                  <a:tcPr marT="91425" marB="91425" marR="91425" marL="91425"/>
                </a:tc>
                <a:tc>
                  <a:txBody>
                    <a:bodyPr/>
                    <a:lstStyle/>
                    <a:p>
                      <a:pPr indent="0" lvl="0" marL="0" rtl="0" algn="l">
                        <a:spcBef>
                          <a:spcPts val="0"/>
                        </a:spcBef>
                        <a:spcAft>
                          <a:spcPts val="0"/>
                        </a:spcAft>
                        <a:buNone/>
                      </a:pPr>
                      <a:r>
                        <a:rPr lang="en" sz="800">
                          <a:solidFill>
                            <a:schemeClr val="dk1"/>
                          </a:solidFill>
                        </a:rPr>
                        <a:t>e_pad</a:t>
                      </a:r>
                      <a:endParaRPr sz="1000"/>
                    </a:p>
                  </a:txBody>
                  <a:tcPr marT="91425" marB="91425" marR="91425" marL="91425"/>
                </a:tc>
                <a:tc>
                  <a:txBody>
                    <a:bodyPr/>
                    <a:lstStyle/>
                    <a:p>
                      <a:pPr indent="0" lvl="0" marL="0" rtl="0" algn="l">
                        <a:spcBef>
                          <a:spcPts val="0"/>
                        </a:spcBef>
                        <a:spcAft>
                          <a:spcPts val="0"/>
                        </a:spcAft>
                        <a:buNone/>
                      </a:pPr>
                      <a:r>
                        <a:rPr lang="en" sz="800">
                          <a:solidFill>
                            <a:schemeClr val="dk1"/>
                          </a:solidFill>
                        </a:rPr>
                        <a:t>e_pad</a:t>
                      </a:r>
                      <a:endParaRPr sz="1000"/>
                    </a:p>
                  </a:txBody>
                  <a:tcPr marT="91425" marB="91425" marR="91425" marL="91425"/>
                </a:tc>
              </a:tr>
            </a:tbl>
          </a:graphicData>
        </a:graphic>
      </p:graphicFrame>
      <p:graphicFrame>
        <p:nvGraphicFramePr>
          <p:cNvPr id="70" name="Google Shape;70;p15"/>
          <p:cNvGraphicFramePr/>
          <p:nvPr/>
        </p:nvGraphicFramePr>
        <p:xfrm>
          <a:off x="2385488" y="2692929"/>
          <a:ext cx="3000000" cy="3000000"/>
        </p:xfrm>
        <a:graphic>
          <a:graphicData uri="http://schemas.openxmlformats.org/drawingml/2006/table">
            <a:tbl>
              <a:tblPr>
                <a:noFill/>
                <a:tableStyleId>{F568ACB4-8944-42FA-BDF8-B63914A0C3B0}</a:tableStyleId>
              </a:tblPr>
              <a:tblGrid>
                <a:gridCol w="2019650"/>
              </a:tblGrid>
              <a:tr h="381000">
                <a:tc>
                  <a:txBody>
                    <a:bodyPr/>
                    <a:lstStyle/>
                    <a:p>
                      <a:pPr indent="0" lvl="0" marL="0" rtl="0" algn="l">
                        <a:spcBef>
                          <a:spcPts val="0"/>
                        </a:spcBef>
                        <a:spcAft>
                          <a:spcPts val="0"/>
                        </a:spcAft>
                        <a:buNone/>
                      </a:pPr>
                      <a:r>
                        <a:rPr lang="en"/>
                        <a:t>Averaged embedding</a:t>
                      </a:r>
                      <a:endParaRPr/>
                    </a:p>
                  </a:txBody>
                  <a:tcPr marT="91425" marB="91425" marR="91425" marL="91425"/>
                </a:tc>
              </a:tr>
            </a:tbl>
          </a:graphicData>
        </a:graphic>
      </p:graphicFrame>
      <p:graphicFrame>
        <p:nvGraphicFramePr>
          <p:cNvPr id="71" name="Google Shape;71;p15"/>
          <p:cNvGraphicFramePr/>
          <p:nvPr/>
        </p:nvGraphicFramePr>
        <p:xfrm>
          <a:off x="2385538" y="2100204"/>
          <a:ext cx="3000000" cy="3000000"/>
        </p:xfrm>
        <a:graphic>
          <a:graphicData uri="http://schemas.openxmlformats.org/drawingml/2006/table">
            <a:tbl>
              <a:tblPr>
                <a:noFill/>
                <a:tableStyleId>{F568ACB4-8944-42FA-BDF8-B63914A0C3B0}</a:tableStyleId>
              </a:tblPr>
              <a:tblGrid>
                <a:gridCol w="2019650"/>
              </a:tblGrid>
              <a:tr h="381000">
                <a:tc>
                  <a:txBody>
                    <a:bodyPr/>
                    <a:lstStyle/>
                    <a:p>
                      <a:pPr indent="0" lvl="0" marL="0" rtl="0" algn="l">
                        <a:spcBef>
                          <a:spcPts val="0"/>
                        </a:spcBef>
                        <a:spcAft>
                          <a:spcPts val="0"/>
                        </a:spcAft>
                        <a:buNone/>
                      </a:pPr>
                      <a:r>
                        <a:rPr lang="en"/>
                        <a:t>Fully Connected Layer</a:t>
                      </a:r>
                      <a:endParaRPr/>
                    </a:p>
                  </a:txBody>
                  <a:tcPr marT="91425" marB="91425" marR="91425" marL="91425"/>
                </a:tc>
              </a:tr>
            </a:tbl>
          </a:graphicData>
        </a:graphic>
      </p:graphicFrame>
      <p:graphicFrame>
        <p:nvGraphicFramePr>
          <p:cNvPr id="72" name="Google Shape;72;p15"/>
          <p:cNvGraphicFramePr/>
          <p:nvPr/>
        </p:nvGraphicFramePr>
        <p:xfrm>
          <a:off x="2919363" y="1483754"/>
          <a:ext cx="3000000" cy="3000000"/>
        </p:xfrm>
        <a:graphic>
          <a:graphicData uri="http://schemas.openxmlformats.org/drawingml/2006/table">
            <a:tbl>
              <a:tblPr>
                <a:noFill/>
                <a:tableStyleId>{F568ACB4-8944-42FA-BDF8-B63914A0C3B0}</a:tableStyleId>
              </a:tblPr>
              <a:tblGrid>
                <a:gridCol w="865350"/>
              </a:tblGrid>
              <a:tr h="303850">
                <a:tc>
                  <a:txBody>
                    <a:bodyPr/>
                    <a:lstStyle/>
                    <a:p>
                      <a:pPr indent="0" lvl="0" marL="0" rtl="0" algn="ctr">
                        <a:spcBef>
                          <a:spcPts val="0"/>
                        </a:spcBef>
                        <a:spcAft>
                          <a:spcPts val="0"/>
                        </a:spcAft>
                        <a:buNone/>
                      </a:pPr>
                      <a:r>
                        <a:rPr lang="en"/>
                        <a:t>Label</a:t>
                      </a:r>
                      <a:endParaRPr/>
                    </a:p>
                  </a:txBody>
                  <a:tcPr marT="91425" marB="91425" marR="91425" marL="91425" anchor="ctr"/>
                </a:tc>
              </a:tr>
            </a:tbl>
          </a:graphicData>
        </a:graphic>
      </p:graphicFrame>
      <p:sp>
        <p:nvSpPr>
          <p:cNvPr id="73" name="Google Shape;73;p15"/>
          <p:cNvSpPr txBox="1"/>
          <p:nvPr>
            <p:ph type="title"/>
          </p:nvPr>
        </p:nvSpPr>
        <p:spPr>
          <a:xfrm>
            <a:off x="274750" y="255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Sentiment classification based on sentence embeddings</a:t>
            </a:r>
            <a:endParaRPr/>
          </a:p>
        </p:txBody>
      </p:sp>
      <p:graphicFrame>
        <p:nvGraphicFramePr>
          <p:cNvPr id="74" name="Google Shape;74;p15"/>
          <p:cNvGraphicFramePr/>
          <p:nvPr/>
        </p:nvGraphicFramePr>
        <p:xfrm>
          <a:off x="2919363" y="889579"/>
          <a:ext cx="3000000" cy="3000000"/>
        </p:xfrm>
        <a:graphic>
          <a:graphicData uri="http://schemas.openxmlformats.org/drawingml/2006/table">
            <a:tbl>
              <a:tblPr>
                <a:noFill/>
                <a:tableStyleId>{F568ACB4-8944-42FA-BDF8-B63914A0C3B0}</a:tableStyleId>
              </a:tblPr>
              <a:tblGrid>
                <a:gridCol w="865350"/>
              </a:tblGrid>
              <a:tr h="381000">
                <a:tc>
                  <a:txBody>
                    <a:bodyPr/>
                    <a:lstStyle/>
                    <a:p>
                      <a:pPr indent="0" lvl="0" marL="0" rtl="0" algn="ctr">
                        <a:spcBef>
                          <a:spcPts val="0"/>
                        </a:spcBef>
                        <a:spcAft>
                          <a:spcPts val="0"/>
                        </a:spcAft>
                        <a:buNone/>
                      </a:pPr>
                      <a:r>
                        <a:rPr lang="en"/>
                        <a:t>Loss</a:t>
                      </a:r>
                      <a:endParaRPr/>
                    </a:p>
                  </a:txBody>
                  <a:tcPr marT="91425" marB="91425" marR="91425" marL="91425"/>
                </a:tc>
              </a:tr>
            </a:tbl>
          </a:graphicData>
        </a:graphic>
      </p:graphicFrame>
      <p:cxnSp>
        <p:nvCxnSpPr>
          <p:cNvPr id="75" name="Google Shape;75;p15"/>
          <p:cNvCxnSpPr/>
          <p:nvPr/>
        </p:nvCxnSpPr>
        <p:spPr>
          <a:xfrm rot="10800000">
            <a:off x="3352050" y="3070326"/>
            <a:ext cx="0" cy="221700"/>
          </a:xfrm>
          <a:prstGeom prst="straightConnector1">
            <a:avLst/>
          </a:prstGeom>
          <a:noFill/>
          <a:ln cap="flat" cmpd="sng" w="9525">
            <a:solidFill>
              <a:schemeClr val="dk2"/>
            </a:solidFill>
            <a:prstDash val="solid"/>
            <a:round/>
            <a:headEnd len="med" w="med" type="none"/>
            <a:tailEnd len="med" w="med" type="triangle"/>
          </a:ln>
        </p:spPr>
      </p:cxnSp>
      <p:cxnSp>
        <p:nvCxnSpPr>
          <p:cNvPr id="76" name="Google Shape;76;p15"/>
          <p:cNvCxnSpPr/>
          <p:nvPr/>
        </p:nvCxnSpPr>
        <p:spPr>
          <a:xfrm rot="10800000">
            <a:off x="3352050" y="2503401"/>
            <a:ext cx="0" cy="221700"/>
          </a:xfrm>
          <a:prstGeom prst="straightConnector1">
            <a:avLst/>
          </a:prstGeom>
          <a:noFill/>
          <a:ln cap="flat" cmpd="sng" w="9525">
            <a:solidFill>
              <a:schemeClr val="dk2"/>
            </a:solidFill>
            <a:prstDash val="solid"/>
            <a:round/>
            <a:headEnd len="med" w="med" type="none"/>
            <a:tailEnd len="med" w="med" type="triangle"/>
          </a:ln>
        </p:spPr>
      </p:cxnSp>
      <p:cxnSp>
        <p:nvCxnSpPr>
          <p:cNvPr id="77" name="Google Shape;77;p15"/>
          <p:cNvCxnSpPr/>
          <p:nvPr/>
        </p:nvCxnSpPr>
        <p:spPr>
          <a:xfrm rot="10800000">
            <a:off x="3352050" y="1878501"/>
            <a:ext cx="0" cy="221700"/>
          </a:xfrm>
          <a:prstGeom prst="straightConnector1">
            <a:avLst/>
          </a:prstGeom>
          <a:noFill/>
          <a:ln cap="flat" cmpd="sng" w="9525">
            <a:solidFill>
              <a:schemeClr val="dk2"/>
            </a:solidFill>
            <a:prstDash val="solid"/>
            <a:round/>
            <a:headEnd len="med" w="med" type="none"/>
            <a:tailEnd len="med" w="med" type="triangle"/>
          </a:ln>
        </p:spPr>
      </p:cxnSp>
      <p:cxnSp>
        <p:nvCxnSpPr>
          <p:cNvPr id="78" name="Google Shape;78;p15"/>
          <p:cNvCxnSpPr/>
          <p:nvPr/>
        </p:nvCxnSpPr>
        <p:spPr>
          <a:xfrm rot="10800000">
            <a:off x="3352050" y="1255239"/>
            <a:ext cx="0" cy="221700"/>
          </a:xfrm>
          <a:prstGeom prst="straightConnector1">
            <a:avLst/>
          </a:prstGeom>
          <a:noFill/>
          <a:ln cap="flat" cmpd="sng" w="9525">
            <a:solidFill>
              <a:schemeClr val="dk2"/>
            </a:solidFill>
            <a:prstDash val="solid"/>
            <a:round/>
            <a:headEnd len="med" w="med" type="none"/>
            <a:tailEnd len="med" w="med" type="triangle"/>
          </a:ln>
        </p:spPr>
      </p:cxnSp>
      <p:sp>
        <p:nvSpPr>
          <p:cNvPr id="79" name="Google Shape;79;p15"/>
          <p:cNvSpPr txBox="1"/>
          <p:nvPr/>
        </p:nvSpPr>
        <p:spPr>
          <a:xfrm>
            <a:off x="6937200" y="3249600"/>
            <a:ext cx="211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Trainable embeddings</a:t>
            </a:r>
            <a:endParaRPr b="1">
              <a:solidFill>
                <a:schemeClr val="dk2"/>
              </a:solidFill>
            </a:endParaRPr>
          </a:p>
        </p:txBody>
      </p:sp>
      <p:sp>
        <p:nvSpPr>
          <p:cNvPr id="80" name="Google Shape;80;p15"/>
          <p:cNvSpPr txBox="1"/>
          <p:nvPr/>
        </p:nvSpPr>
        <p:spPr>
          <a:xfrm>
            <a:off x="6623100" y="2613975"/>
            <a:ext cx="2520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Average token embeddings to produce a sentence embedding</a:t>
            </a:r>
            <a:endParaRPr b="1" sz="1200">
              <a:solidFill>
                <a:schemeClr val="dk2"/>
              </a:solidFill>
            </a:endParaRPr>
          </a:p>
        </p:txBody>
      </p:sp>
      <p:sp>
        <p:nvSpPr>
          <p:cNvPr id="81" name="Google Shape;81;p15"/>
          <p:cNvSpPr txBox="1"/>
          <p:nvPr/>
        </p:nvSpPr>
        <p:spPr>
          <a:xfrm>
            <a:off x="7158850" y="3785938"/>
            <a:ext cx="150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Attention mask</a:t>
            </a:r>
            <a:endParaRPr b="1">
              <a:solidFill>
                <a:schemeClr val="dk2"/>
              </a:solidFill>
            </a:endParaRPr>
          </a:p>
        </p:txBody>
      </p:sp>
      <p:sp>
        <p:nvSpPr>
          <p:cNvPr id="82" name="Google Shape;82;p15"/>
          <p:cNvSpPr txBox="1"/>
          <p:nvPr/>
        </p:nvSpPr>
        <p:spPr>
          <a:xfrm>
            <a:off x="7244250" y="4363513"/>
            <a:ext cx="150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Tokenization</a:t>
            </a:r>
            <a:endParaRPr b="1">
              <a:solidFill>
                <a:schemeClr val="dk2"/>
              </a:solidFill>
            </a:endParaRPr>
          </a:p>
        </p:txBody>
      </p:sp>
      <p:graphicFrame>
        <p:nvGraphicFramePr>
          <p:cNvPr id="83" name="Google Shape;83;p15"/>
          <p:cNvGraphicFramePr/>
          <p:nvPr/>
        </p:nvGraphicFramePr>
        <p:xfrm>
          <a:off x="1245288" y="889579"/>
          <a:ext cx="3000000" cy="3000000"/>
        </p:xfrm>
        <a:graphic>
          <a:graphicData uri="http://schemas.openxmlformats.org/drawingml/2006/table">
            <a:tbl>
              <a:tblPr>
                <a:noFill/>
                <a:tableStyleId>{F568ACB4-8944-42FA-BDF8-B63914A0C3B0}</a:tableStyleId>
              </a:tblPr>
              <a:tblGrid>
                <a:gridCol w="1389800"/>
              </a:tblGrid>
              <a:tr h="303850">
                <a:tc>
                  <a:txBody>
                    <a:bodyPr/>
                    <a:lstStyle/>
                    <a:p>
                      <a:pPr indent="0" lvl="0" marL="0" rtl="0" algn="ctr">
                        <a:spcBef>
                          <a:spcPts val="0"/>
                        </a:spcBef>
                        <a:spcAft>
                          <a:spcPts val="0"/>
                        </a:spcAft>
                        <a:buNone/>
                      </a:pPr>
                      <a:r>
                        <a:rPr lang="en"/>
                        <a:t>Groundtruth</a:t>
                      </a:r>
                      <a:endParaRPr/>
                    </a:p>
                  </a:txBody>
                  <a:tcPr marT="91425" marB="91425" marR="91425" marL="91425" anchor="ctr"/>
                </a:tc>
              </a:tr>
            </a:tbl>
          </a:graphicData>
        </a:graphic>
      </p:graphicFrame>
      <p:cxnSp>
        <p:nvCxnSpPr>
          <p:cNvPr id="84" name="Google Shape;84;p15"/>
          <p:cNvCxnSpPr/>
          <p:nvPr/>
        </p:nvCxnSpPr>
        <p:spPr>
          <a:xfrm>
            <a:off x="2622550" y="1080400"/>
            <a:ext cx="291000" cy="0"/>
          </a:xfrm>
          <a:prstGeom prst="straightConnector1">
            <a:avLst/>
          </a:prstGeom>
          <a:noFill/>
          <a:ln cap="flat" cmpd="sng" w="9525">
            <a:solidFill>
              <a:schemeClr val="dk2"/>
            </a:solidFill>
            <a:prstDash val="solid"/>
            <a:round/>
            <a:headEnd len="med" w="med" type="none"/>
            <a:tailEnd len="med" w="med" type="triangle"/>
          </a:ln>
        </p:spPr>
      </p:cxnSp>
      <p:sp>
        <p:nvSpPr>
          <p:cNvPr id="85" name="Google Shape;85;p15"/>
          <p:cNvSpPr txBox="1"/>
          <p:nvPr/>
        </p:nvSpPr>
        <p:spPr>
          <a:xfrm>
            <a:off x="4707300" y="851550"/>
            <a:ext cx="43446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A classifier based average embedding can do no better than 75%!</a:t>
            </a:r>
            <a:endParaRPr sz="1200">
              <a:solidFill>
                <a:schemeClr val="dk2"/>
              </a:solidFill>
            </a:endParaRPr>
          </a:p>
          <a:p>
            <a:pPr indent="0" lvl="0" marL="0" rtl="0" algn="l">
              <a:spcBef>
                <a:spcPts val="0"/>
              </a:spcBef>
              <a:spcAft>
                <a:spcPts val="0"/>
              </a:spcAft>
              <a:buNone/>
            </a:pPr>
            <a:r>
              <a:rPr lang="en" sz="1200">
                <a:solidFill>
                  <a:schemeClr val="dk2"/>
                </a:solidFill>
              </a:rPr>
              <a:t>Because it can never do better than 50% on sentences where food and service sentiments </a:t>
            </a:r>
            <a:r>
              <a:rPr i="1" lang="en" sz="1200">
                <a:solidFill>
                  <a:schemeClr val="dk2"/>
                </a:solidFill>
              </a:rPr>
              <a:t>disagree</a:t>
            </a:r>
            <a:endParaRPr i="1" sz="1200">
              <a:solidFill>
                <a:schemeClr val="dk2"/>
              </a:solidFill>
            </a:endParaRPr>
          </a:p>
          <a:p>
            <a:pPr indent="0" lvl="0" marL="0" rtl="0" algn="l">
              <a:spcBef>
                <a:spcPts val="0"/>
              </a:spcBef>
              <a:spcAft>
                <a:spcPts val="0"/>
              </a:spcAft>
              <a:buNone/>
            </a:pPr>
            <a:r>
              <a:rPr lang="en" sz="1200">
                <a:solidFill>
                  <a:schemeClr val="dk2"/>
                </a:solidFill>
              </a:rPr>
              <a:t>We need </a:t>
            </a:r>
            <a:r>
              <a:rPr i="1" lang="en" sz="1200">
                <a:solidFill>
                  <a:schemeClr val="dk2"/>
                </a:solidFill>
              </a:rPr>
              <a:t>contextualized </a:t>
            </a:r>
            <a:r>
              <a:rPr lang="en" sz="1200">
                <a:solidFill>
                  <a:schemeClr val="dk2"/>
                </a:solidFill>
              </a:rPr>
              <a:t>embeddings that are aware of token bindings.. i.e., bad refers to service, great refers to food..</a:t>
            </a:r>
            <a:endParaRPr sz="1200">
              <a:solidFill>
                <a:schemeClr val="dk2"/>
              </a:solidFill>
            </a:endParaRPr>
          </a:p>
        </p:txBody>
      </p:sp>
      <p:sp>
        <p:nvSpPr>
          <p:cNvPr id="86" name="Google Shape;86;p15"/>
          <p:cNvSpPr txBox="1"/>
          <p:nvPr/>
        </p:nvSpPr>
        <p:spPr>
          <a:xfrm>
            <a:off x="7343575" y="2113650"/>
            <a:ext cx="912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2"/>
                </a:solidFill>
              </a:rPr>
              <a:t>Classifier</a:t>
            </a:r>
            <a:endParaRPr b="1" sz="12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Attention</a:t>
            </a:r>
            <a:endParaRPr/>
          </a:p>
        </p:txBody>
      </p:sp>
      <p:sp>
        <p:nvSpPr>
          <p:cNvPr id="92" name="Google Shape;92;p16"/>
          <p:cNvSpPr txBox="1"/>
          <p:nvPr>
            <p:ph idx="1" type="body"/>
          </p:nvPr>
        </p:nvSpPr>
        <p:spPr>
          <a:xfrm>
            <a:off x="676450" y="1550100"/>
            <a:ext cx="6807900" cy="2477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b="1" lang="en" sz="1300"/>
              <a:t>Query</a:t>
            </a:r>
            <a:r>
              <a:rPr lang="en" sz="1300"/>
              <a:t> is the token for which we are trying to determine relevant tokens. Query is the token for which we are trying to define “what should this token look at, in the current context?”</a:t>
            </a:r>
            <a:endParaRPr sz="1300"/>
          </a:p>
          <a:p>
            <a:pPr indent="0" lvl="0" marL="0" rtl="0" algn="l">
              <a:spcBef>
                <a:spcPts val="1200"/>
              </a:spcBef>
              <a:spcAft>
                <a:spcPts val="0"/>
              </a:spcAft>
              <a:buNone/>
            </a:pPr>
            <a:r>
              <a:rPr lang="en" sz="1300"/>
              <a:t>Eg: “food was great but the service was terrible”</a:t>
            </a:r>
            <a:endParaRPr sz="1300"/>
          </a:p>
          <a:p>
            <a:pPr indent="0" lvl="0" marL="0" rtl="0" algn="l">
              <a:spcBef>
                <a:spcPts val="1200"/>
              </a:spcBef>
              <a:spcAft>
                <a:spcPts val="0"/>
              </a:spcAft>
              <a:buNone/>
            </a:pPr>
            <a:r>
              <a:rPr lang="en" sz="1300"/>
              <a:t>For query = sentiment, tokens </a:t>
            </a:r>
            <a:r>
              <a:rPr i="1" lang="en" sz="1300"/>
              <a:t>great</a:t>
            </a:r>
            <a:r>
              <a:rPr lang="en" sz="1300"/>
              <a:t> and </a:t>
            </a:r>
            <a:r>
              <a:rPr i="1" lang="en" sz="1300"/>
              <a:t>terrible</a:t>
            </a:r>
            <a:r>
              <a:rPr lang="en" sz="1300"/>
              <a:t> should be important</a:t>
            </a:r>
            <a:endParaRPr sz="1300"/>
          </a:p>
          <a:p>
            <a:pPr indent="0" lvl="0" marL="0" rtl="0" algn="l">
              <a:spcBef>
                <a:spcPts val="1200"/>
              </a:spcBef>
              <a:spcAft>
                <a:spcPts val="0"/>
              </a:spcAft>
              <a:buNone/>
            </a:pPr>
            <a:r>
              <a:rPr lang="en" sz="1300"/>
              <a:t>Query can come from another sentence, eg., in the context of language translation, or from the same sentence--”which tokens do I care about”? </a:t>
            </a:r>
            <a:endParaRPr sz="1300"/>
          </a:p>
          <a:p>
            <a:pPr indent="0" lvl="0" marL="0" rtl="0" algn="l">
              <a:spcBef>
                <a:spcPts val="1200"/>
              </a:spcBef>
              <a:spcAft>
                <a:spcPts val="1200"/>
              </a:spcAft>
              <a:buNone/>
            </a:pPr>
            <a:r>
              <a:rPr b="1" lang="en" sz="1300"/>
              <a:t>Attention: </a:t>
            </a:r>
            <a:r>
              <a:rPr i="1" lang="en" sz="1300"/>
              <a:t>Given a query q, which tokens in the sequence are relevant, and what information should we extract from them?</a:t>
            </a:r>
            <a:endParaRPr i="1" sz="1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Attention</a:t>
            </a:r>
            <a:endParaRPr/>
          </a:p>
          <a:p>
            <a:pPr indent="0" lvl="0" marL="0" rtl="0" algn="l">
              <a:spcBef>
                <a:spcPts val="0"/>
              </a:spcBef>
              <a:spcAft>
                <a:spcPts val="0"/>
              </a:spcAft>
              <a:buNone/>
            </a:pPr>
            <a:r>
              <a:t/>
            </a:r>
            <a:endParaRPr/>
          </a:p>
        </p:txBody>
      </p:sp>
      <p:sp>
        <p:nvSpPr>
          <p:cNvPr id="98" name="Google Shape;98;p17"/>
          <p:cNvSpPr txBox="1"/>
          <p:nvPr>
            <p:ph idx="1" type="body"/>
          </p:nvPr>
        </p:nvSpPr>
        <p:spPr>
          <a:xfrm>
            <a:off x="311700" y="1152475"/>
            <a:ext cx="8520600" cy="639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1200"/>
              </a:spcAft>
              <a:buNone/>
            </a:pPr>
            <a:r>
              <a:rPr b="1" lang="en"/>
              <a:t>Importance scores:</a:t>
            </a:r>
            <a:r>
              <a:rPr lang="en"/>
              <a:t> coefficients alpha that reflect the importance of each token to the query token. </a:t>
            </a:r>
            <a:endParaRPr/>
          </a:p>
        </p:txBody>
      </p:sp>
      <p:pic>
        <p:nvPicPr>
          <p:cNvPr descr="{&quot;backgroundColorModified&quot;:false,&quot;backgroundColor&quot;:&quot;#FFFFFF&quot;,&quot;id&quot;:&quot;1&quot;,&quot;type&quot;:&quot;gather*&quot;,&quot;aid&quot;:null,&quot;code&quot;:&quot;\\begin{gather*}\n{\\text{h=}\\sum_{i=1}^{L}\\alpha_{i}x_{i}}\\\\\n{\\sum_{i=1}^{L}\\alpha_{i}=1,\\,\\alpha_{i}\\geq0}\\\\\n{\\text{We}\\;\\text{need}\\;\\text{a}\\;\\text{scoring}\\;\\text{function}\\;\\text{that}\\;\\text{says}\\;\\text{how}\\;\\text{relevant}\\;\\text{each}\\,\\text{sentence}\\;\\text{token}\\;\\text{is}\\,\\text{to}\\;\\text{the}\\;\\text{query}\\;\\text{token.}}\\\\\n{\\text{The}\\;\\text{scoring}\\;\\text{function}\\;\\text{outputs}\\;\\text{scores}\\;s_{i},\\,\\text{which}\\;\\text{can}\\;\\text{be}\\;\\text{converted}\\;\\text{into}\\;\\alpha_{i}}\\\\\n{\\text{by}\\;\\text{applying}\\;\\text{softmax}}\\\\\n{\\alpha_{i}=\\frac{\\exp\\left(s_{i}\\right)}{\\sum_{j=1}^{L}\\exp\\left(s_{j}\\right)}}\\\\\n{\\text{How}\\;\\text{do}\\;\\text{we}\\;\\text{get}\\;\\text{the}\\;\\text{scores}\\;s_{j}?}\t\n\\end{gather*}&quot;,&quot;font&quot;:{&quot;size&quot;:12,&quot;family&quot;:&quot;Arial&quot;,&quot;color&quot;:&quot;#000000&quot;},&quot;ts&quot;:1772542398191,&quot;cs&quot;:&quot;EG0dtWiFJAEmulB11fdplw==&quot;,&quot;size&quot;:{&quot;width&quot;:748,&quot;height&quot;:272.99999999999994}}" id="99" name="Google Shape;99;p17"/>
          <p:cNvPicPr preferRelativeResize="0"/>
          <p:nvPr/>
        </p:nvPicPr>
        <p:blipFill>
          <a:blip r:embed="rId3">
            <a:alphaModFix/>
          </a:blip>
          <a:stretch>
            <a:fillRect/>
          </a:stretch>
        </p:blipFill>
        <p:spPr>
          <a:xfrm>
            <a:off x="865998" y="1823847"/>
            <a:ext cx="7124700" cy="2600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Attention</a:t>
            </a:r>
            <a:endParaRPr/>
          </a:p>
        </p:txBody>
      </p:sp>
      <p:sp>
        <p:nvSpPr>
          <p:cNvPr id="105" name="Google Shape;105;p18"/>
          <p:cNvSpPr txBox="1"/>
          <p:nvPr>
            <p:ph idx="1" type="body"/>
          </p:nvPr>
        </p:nvSpPr>
        <p:spPr>
          <a:xfrm>
            <a:off x="311700" y="1152475"/>
            <a:ext cx="2749200" cy="1331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523"/>
              <a:buNone/>
            </a:pPr>
            <a:r>
              <a:rPr lang="en" sz="955"/>
              <a:t>Rather than using pure embeddings we need to learn mappings Wq, Wk, Wv to:</a:t>
            </a:r>
            <a:endParaRPr sz="955"/>
          </a:p>
          <a:p>
            <a:pPr indent="-289242" lvl="0" marL="457200" rtl="0" algn="l">
              <a:lnSpc>
                <a:spcPct val="105000"/>
              </a:lnSpc>
              <a:spcBef>
                <a:spcPts val="1200"/>
              </a:spcBef>
              <a:spcAft>
                <a:spcPts val="0"/>
              </a:spcAft>
              <a:buSzPts val="955"/>
              <a:buAutoNum type="arabicPeriod"/>
            </a:pPr>
            <a:r>
              <a:rPr lang="en" sz="955"/>
              <a:t>Form </a:t>
            </a:r>
            <a:r>
              <a:rPr i="1" lang="en" sz="955"/>
              <a:t>queries</a:t>
            </a:r>
            <a:r>
              <a:rPr lang="en" sz="955"/>
              <a:t> (what to look for)</a:t>
            </a:r>
            <a:endParaRPr sz="955"/>
          </a:p>
          <a:p>
            <a:pPr indent="-289242" lvl="0" marL="457200" rtl="0" algn="l">
              <a:lnSpc>
                <a:spcPct val="105000"/>
              </a:lnSpc>
              <a:spcBef>
                <a:spcPts val="0"/>
              </a:spcBef>
              <a:spcAft>
                <a:spcPts val="0"/>
              </a:spcAft>
              <a:buSzPts val="955"/>
              <a:buAutoNum type="arabicPeriod"/>
            </a:pPr>
            <a:r>
              <a:rPr lang="en" sz="955"/>
              <a:t>Form </a:t>
            </a:r>
            <a:r>
              <a:rPr i="1" lang="en" sz="955"/>
              <a:t>keys</a:t>
            </a:r>
            <a:r>
              <a:rPr lang="en" sz="955"/>
              <a:t> (how to match, advertise relevance)</a:t>
            </a:r>
            <a:endParaRPr sz="955"/>
          </a:p>
          <a:p>
            <a:pPr indent="-289242" lvl="0" marL="457200" rtl="0" algn="l">
              <a:lnSpc>
                <a:spcPct val="105000"/>
              </a:lnSpc>
              <a:spcBef>
                <a:spcPts val="0"/>
              </a:spcBef>
              <a:spcAft>
                <a:spcPts val="0"/>
              </a:spcAft>
              <a:buSzPts val="955"/>
              <a:buAutoNum type="arabicPeriod"/>
            </a:pPr>
            <a:r>
              <a:rPr lang="en" sz="955"/>
              <a:t>Form </a:t>
            </a:r>
            <a:r>
              <a:rPr i="1" lang="en" sz="955"/>
              <a:t>values</a:t>
            </a:r>
            <a:r>
              <a:rPr lang="en" sz="955"/>
              <a:t> (what information to extract from those tokens)</a:t>
            </a:r>
            <a:endParaRPr sz="955"/>
          </a:p>
        </p:txBody>
      </p:sp>
      <p:pic>
        <p:nvPicPr>
          <p:cNvPr descr="{&quot;backgroundColor&quot;:&quot;#FFFFFF&quot;,&quot;type&quot;:&quot;gather*&quot;,&quot;code&quot;:&quot;\\begin{gather*}\n{1.\\,\\text{Map}\\;\\text{query}\\;\\text{token}\\;\\text{embedding}\\;\\text{to}\\;\\text{a}\\;\\text{query}\\;\\text{vector}}\\\\\n{q=W_{Q}u}\\\\\n{\\text{2.}\\;\\text{Map}\\;\\text{sentence}\\;\\text{tokens}\\;\\text{to}\\;\\text{key}\\;\\text{and}\\;\\text{value}\\;\\text{vectors}}\\\\\n{k_{i}=W_{K}x_{i}}\\\\\n{v_{i}=W_{V}x_{i}}\\\\\n{3.\\,\\text{Calculate}\\;\\text{match}\\;\\text{scores,}\\;\\text{i.e.,}\\;\\text{how}\\;\\text{relevant}\\;\\text{is}\\;\\text{each}\\;\\text{token}\\;\\text{to}\\;\\text{the}\\;\\text{query?}}\\\\\n{s_{i}=q^{T}k_{i}}\\\\\n{\\text{4.}\\;\\text{Apply}\\;\\text{softmax}\\,\\text{to}\\;\\text{normalize}\\,\\text{scores}}\\\\\n{\\alpha_{i}=\\frac{\\exp\\left(s_{i}\\right)}{\\sum_{j=1}^{L}\\exp\\left(s_{j}\\right)},\\,L:\\text{number}\\;\\text{of}\\;\\text{tokens}}\\\\\n{\\text{Take}\\;\\text{linear}\\;\\text{combination}\\;\\text{of}\\;\\text{the}\\;\\text{values.}\\;\\text{}}\\\\\n{h=v_{i}\\alpha_{i}}\\\\\n{\\text{This}\\;\\text{is}\\;\\text{the}\\;\\text{contribution}\\;\\text{of}\\;\\text{all}\\;\\text{the}\\;\\text{tokens}\\;\\text{to}\\;\\text{the}\\;\\text{query}\\;\\text{u}}\t\n\\end{gather*}&quot;,&quot;backgroundColorModified&quot;:false,&quot;aid&quot;:null,&quot;id&quot;:&quot;2&quot;,&quot;font&quot;:{&quot;family&quot;:&quot;Arial&quot;,&quot;color&quot;:&quot;#000000&quot;,&quot;size&quot;:14},&quot;ts&quot;:1771421645638,&quot;cs&quot;:&quot;uH8d5+4RFeiVg5K9fYmlEA==&quot;,&quot;size&quot;:{&quot;width&quot;:672.5,&quot;height&quot;:377}}" id="106" name="Google Shape;106;p18"/>
          <p:cNvPicPr preferRelativeResize="0"/>
          <p:nvPr/>
        </p:nvPicPr>
        <p:blipFill>
          <a:blip r:embed="rId3">
            <a:alphaModFix/>
          </a:blip>
          <a:stretch>
            <a:fillRect/>
          </a:stretch>
        </p:blipFill>
        <p:spPr>
          <a:xfrm>
            <a:off x="2968524" y="1286250"/>
            <a:ext cx="6405563" cy="3590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Self-Attention</a:t>
            </a:r>
            <a:endParaRPr/>
          </a:p>
        </p:txBody>
      </p:sp>
      <p:pic>
        <p:nvPicPr>
          <p:cNvPr descr="{&quot;id&quot;:&quot;2&quot;,&quot;font&quot;:{&quot;size&quot;:14,&quot;color&quot;:&quot;#000000&quot;,&quot;family&quot;:&quot;Arial&quot;},&quot;backgroundColorModified&quot;:false,&quot;type&quot;:&quot;gather*&quot;,&quot;backgroundColor&quot;:&quot;#FFFFFF&quot;,&quot;code&quot;:&quot;\\begin{gather*}\n{\\text{For}\\;\\text{an}\\;\\text{entire}\\;\\text{sequence}\\;\\text{X}\\in\\,\\Re^{t\\,\\times d}}\\\\\n{Q=XW_{Q},\\,K=XW_{K},\\,V=XW_{V}}\\\\\n{W_{Q},\\,W_{K}\\,\\text{are}\\;\\text{d}\\times d_{k}\\,\\text{matrices},\\,W_{V}\\,\\text{is}\\;d\\times d_{v}\\,\\text{matrix}}\\\\\n{\\text{Attn(}Q,K\\text{)=Softmax(}\\frac{QK^{T}}{{\\sqrt[]{d_{k}}}}\\text{)}}\\\\\n{\\text{division}\\;\\text{by}\\;{\\sqrt[]{d_{k}\\,}}\\,\\text{normalizes}\\;\\text{the}\\;\\text{dot}\\;\\text{product}}\\\\\n{\\text{The}\\;\\text{attention}\\;\\text{matrix}\\;\\text{(}t\\times t\\text{)}\\;\\text{encodes}\\;\\text{relevance}\\;\\text{o}\\text{f}\\;\\text{each}}\\\\\n{\\text{token}\\;\\text{in}\\;\\text{the}\\;\\text{sentence}\\;\\text{to}\\;\\text{all}\\;\\text{other}\\;\\text{tokens,}\\;\\text{including}\\;\\text{itself}}\\\\\n{\\text{Now}\\;\\text{I}\\;\\text{can}\\;\\text{obtain}\\;\\text{contextualized}\\;\\text{embedding}\\;\\text{for}\\;\\text{each}\\;\\text{token}}\\\\\n{E\\,=\\,Attn\\left(Q,K\\right)V}\\\\\n{E\\,\\text{is}\\;t\\times d_{v}\\,\\text{matrix}}\t\n\\end{gather*}&quot;,&quot;aid&quot;:null,&quot;ts&quot;:1772991734831,&quot;cs&quot;:&quot;VzxKXxqJ/qT+Fw9NPDcKkA==&quot;,&quot;size&quot;:{&quot;width&quot;:556,&quot;height&quot;:321.5}}" id="112" name="Google Shape;112;p19"/>
          <p:cNvPicPr preferRelativeResize="0"/>
          <p:nvPr/>
        </p:nvPicPr>
        <p:blipFill>
          <a:blip r:embed="rId3">
            <a:alphaModFix/>
          </a:blip>
          <a:stretch>
            <a:fillRect/>
          </a:stretch>
        </p:blipFill>
        <p:spPr>
          <a:xfrm>
            <a:off x="1021359" y="1299270"/>
            <a:ext cx="5295900" cy="306228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Self Attention</a:t>
            </a:r>
            <a:endParaRPr/>
          </a:p>
        </p:txBody>
      </p:sp>
      <p:pic>
        <p:nvPicPr>
          <p:cNvPr id="118" name="Google Shape;118;p20"/>
          <p:cNvPicPr preferRelativeResize="0"/>
          <p:nvPr/>
        </p:nvPicPr>
        <p:blipFill>
          <a:blip r:embed="rId3">
            <a:alphaModFix/>
          </a:blip>
          <a:stretch>
            <a:fillRect/>
          </a:stretch>
        </p:blipFill>
        <p:spPr>
          <a:xfrm>
            <a:off x="152400" y="1170125"/>
            <a:ext cx="6286120" cy="3820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Encoding position</a:t>
            </a:r>
            <a:endParaRPr/>
          </a:p>
        </p:txBody>
      </p:sp>
      <p:sp>
        <p:nvSpPr>
          <p:cNvPr id="124" name="Google Shape;124;p21"/>
          <p:cNvSpPr txBox="1"/>
          <p:nvPr/>
        </p:nvSpPr>
        <p:spPr>
          <a:xfrm>
            <a:off x="410925" y="1098875"/>
            <a:ext cx="8047800" cy="341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2"/>
                </a:solidFill>
              </a:rPr>
              <a:t>The attention mechanism by itself has no way of knowing </a:t>
            </a:r>
            <a:r>
              <a:rPr i="1" lang="en" sz="1200">
                <a:solidFill>
                  <a:schemeClr val="dk2"/>
                </a:solidFill>
              </a:rPr>
              <a:t>where</a:t>
            </a:r>
            <a:r>
              <a:rPr lang="en" sz="1200">
                <a:solidFill>
                  <a:schemeClr val="dk2"/>
                </a:solidFill>
              </a:rPr>
              <a:t> a token appears in a sentence.. It treats all tokens the same, regardless of position.</a:t>
            </a:r>
            <a:endParaRPr sz="1200">
              <a:solidFill>
                <a:schemeClr val="dk2"/>
              </a:solidFill>
            </a:endParaRPr>
          </a:p>
          <a:p>
            <a:pPr indent="0" lvl="0" marL="0" rtl="0" algn="l">
              <a:lnSpc>
                <a:spcPct val="115000"/>
              </a:lnSpc>
              <a:spcBef>
                <a:spcPts val="1200"/>
              </a:spcBef>
              <a:spcAft>
                <a:spcPts val="0"/>
              </a:spcAft>
              <a:buNone/>
            </a:pPr>
            <a:r>
              <a:rPr lang="en" sz="1200">
                <a:solidFill>
                  <a:schemeClr val="dk2"/>
                </a:solidFill>
              </a:rPr>
              <a:t>But position matters!</a:t>
            </a:r>
            <a:endParaRPr sz="1200">
              <a:solidFill>
                <a:schemeClr val="dk2"/>
              </a:solidFill>
            </a:endParaRPr>
          </a:p>
          <a:p>
            <a:pPr indent="0" lvl="0" marL="0" rtl="0" algn="l">
              <a:lnSpc>
                <a:spcPct val="115000"/>
              </a:lnSpc>
              <a:spcBef>
                <a:spcPts val="1200"/>
              </a:spcBef>
              <a:spcAft>
                <a:spcPts val="0"/>
              </a:spcAft>
              <a:buNone/>
            </a:pPr>
            <a:r>
              <a:rPr lang="en" sz="1200">
                <a:solidFill>
                  <a:schemeClr val="dk2"/>
                </a:solidFill>
              </a:rPr>
              <a:t>Eg., “The food was great but the service was terrible”</a:t>
            </a:r>
            <a:endParaRPr sz="1200">
              <a:solidFill>
                <a:schemeClr val="dk2"/>
              </a:solidFill>
            </a:endParaRPr>
          </a:p>
          <a:p>
            <a:pPr indent="0" lvl="0" marL="0" rtl="0" algn="l">
              <a:lnSpc>
                <a:spcPct val="115000"/>
              </a:lnSpc>
              <a:spcBef>
                <a:spcPts val="1200"/>
              </a:spcBef>
              <a:spcAft>
                <a:spcPts val="0"/>
              </a:spcAft>
              <a:buNone/>
            </a:pPr>
            <a:r>
              <a:rPr lang="en" sz="1200">
                <a:solidFill>
                  <a:schemeClr val="dk2"/>
                </a:solidFill>
              </a:rPr>
              <a:t>Question: How was the food? Need to understand attribute “great” is bound to food</a:t>
            </a:r>
            <a:endParaRPr sz="1200">
              <a:solidFill>
                <a:schemeClr val="dk2"/>
              </a:solidFill>
            </a:endParaRPr>
          </a:p>
          <a:p>
            <a:pPr indent="0" lvl="0" marL="0" rtl="0" algn="l">
              <a:lnSpc>
                <a:spcPct val="115000"/>
              </a:lnSpc>
              <a:spcBef>
                <a:spcPts val="1200"/>
              </a:spcBef>
              <a:spcAft>
                <a:spcPts val="0"/>
              </a:spcAft>
              <a:buNone/>
            </a:pPr>
            <a:r>
              <a:rPr lang="en" sz="1200">
                <a:solidFill>
                  <a:schemeClr val="dk2"/>
                </a:solidFill>
              </a:rPr>
              <a:t>Here “great” is associated with food because it appears near food. If I swapped “terrible” and “great”, then “great” becomes associated with service</a:t>
            </a:r>
            <a:endParaRPr sz="1200">
              <a:solidFill>
                <a:schemeClr val="dk2"/>
              </a:solidFill>
            </a:endParaRPr>
          </a:p>
          <a:p>
            <a:pPr indent="0" lvl="0" marL="0" rtl="0" algn="l">
              <a:lnSpc>
                <a:spcPct val="115000"/>
              </a:lnSpc>
              <a:spcBef>
                <a:spcPts val="1200"/>
              </a:spcBef>
              <a:spcAft>
                <a:spcPts val="0"/>
              </a:spcAft>
              <a:buNone/>
            </a:pPr>
            <a:r>
              <a:rPr lang="en" sz="1200">
                <a:solidFill>
                  <a:schemeClr val="dk2"/>
                </a:solidFill>
              </a:rPr>
              <a:t>So, we need to add a position embedding. These can be:</a:t>
            </a:r>
            <a:endParaRPr sz="1200">
              <a:solidFill>
                <a:schemeClr val="dk2"/>
              </a:solidFill>
            </a:endParaRPr>
          </a:p>
          <a:p>
            <a:pPr indent="-304800" lvl="0" marL="457200" rtl="0" algn="l">
              <a:lnSpc>
                <a:spcPct val="115000"/>
              </a:lnSpc>
              <a:spcBef>
                <a:spcPts val="1200"/>
              </a:spcBef>
              <a:spcAft>
                <a:spcPts val="0"/>
              </a:spcAft>
              <a:buClr>
                <a:schemeClr val="dk2"/>
              </a:buClr>
              <a:buSzPts val="1200"/>
              <a:buChar char="-"/>
            </a:pPr>
            <a:r>
              <a:rPr lang="en" sz="1200">
                <a:solidFill>
                  <a:schemeClr val="dk2"/>
                </a:solidFill>
              </a:rPr>
              <a:t>Learnable (as in our example)</a:t>
            </a:r>
            <a:endParaRPr sz="1200">
              <a:solidFill>
                <a:schemeClr val="dk2"/>
              </a:solidFill>
            </a:endParaRPr>
          </a:p>
          <a:p>
            <a:pPr indent="-304800" lvl="0" marL="457200" rtl="0" algn="l">
              <a:lnSpc>
                <a:spcPct val="115000"/>
              </a:lnSpc>
              <a:spcBef>
                <a:spcPts val="0"/>
              </a:spcBef>
              <a:spcAft>
                <a:spcPts val="0"/>
              </a:spcAft>
              <a:buClr>
                <a:schemeClr val="dk2"/>
              </a:buClr>
              <a:buSzPts val="1200"/>
              <a:buChar char="-"/>
            </a:pPr>
            <a:r>
              <a:rPr lang="en" sz="1200">
                <a:solidFill>
                  <a:schemeClr val="dk2"/>
                </a:solidFill>
              </a:rPr>
              <a:t>Absolute position embeddings</a:t>
            </a:r>
            <a:endParaRPr sz="1200">
              <a:solidFill>
                <a:schemeClr val="dk2"/>
              </a:solidFill>
            </a:endParaRPr>
          </a:p>
          <a:p>
            <a:pPr indent="-304800" lvl="0" marL="457200" rtl="0" algn="l">
              <a:lnSpc>
                <a:spcPct val="115000"/>
              </a:lnSpc>
              <a:spcBef>
                <a:spcPts val="0"/>
              </a:spcBef>
              <a:spcAft>
                <a:spcPts val="0"/>
              </a:spcAft>
              <a:buClr>
                <a:schemeClr val="dk2"/>
              </a:buClr>
              <a:buSzPts val="1200"/>
              <a:buChar char="-"/>
            </a:pPr>
            <a:r>
              <a:rPr lang="en" sz="1200">
                <a:solidFill>
                  <a:schemeClr val="dk2"/>
                </a:solidFill>
              </a:rPr>
              <a:t>Relative position embeddings (ROPE: the standard now) </a:t>
            </a:r>
            <a:endParaRPr sz="12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2"/>
          <p:cNvPicPr preferRelativeResize="0"/>
          <p:nvPr/>
        </p:nvPicPr>
        <p:blipFill>
          <a:blip r:embed="rId3">
            <a:alphaModFix/>
          </a:blip>
          <a:stretch>
            <a:fillRect/>
          </a:stretch>
        </p:blipFill>
        <p:spPr>
          <a:xfrm>
            <a:off x="2716575" y="415770"/>
            <a:ext cx="2992099" cy="2741801"/>
          </a:xfrm>
          <a:prstGeom prst="rect">
            <a:avLst/>
          </a:prstGeom>
          <a:noFill/>
          <a:ln>
            <a:noFill/>
          </a:ln>
        </p:spPr>
      </p:pic>
      <p:sp>
        <p:nvSpPr>
          <p:cNvPr id="130" name="Google Shape;130;p22"/>
          <p:cNvSpPr txBox="1"/>
          <p:nvPr>
            <p:ph idx="1" type="body"/>
          </p:nvPr>
        </p:nvSpPr>
        <p:spPr>
          <a:xfrm>
            <a:off x="713925" y="4700816"/>
            <a:ext cx="5362800" cy="689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i="1" lang="en"/>
              <a:t>food</a:t>
            </a:r>
            <a:r>
              <a:rPr lang="en"/>
              <a:t> food was great but service was bad</a:t>
            </a:r>
            <a:endParaRPr/>
          </a:p>
        </p:txBody>
      </p:sp>
      <p:graphicFrame>
        <p:nvGraphicFramePr>
          <p:cNvPr id="131" name="Google Shape;131;p22"/>
          <p:cNvGraphicFramePr/>
          <p:nvPr/>
        </p:nvGraphicFramePr>
        <p:xfrm>
          <a:off x="435413" y="4365516"/>
          <a:ext cx="3000000" cy="3000000"/>
        </p:xfrm>
        <a:graphic>
          <a:graphicData uri="http://schemas.openxmlformats.org/drawingml/2006/table">
            <a:tbl>
              <a:tblPr>
                <a:noFill/>
                <a:tableStyleId>{F568ACB4-8944-42FA-BDF8-B63914A0C3B0}</a:tableStyleId>
              </a:tblPr>
              <a:tblGrid>
                <a:gridCol w="504925"/>
                <a:gridCol w="504925"/>
                <a:gridCol w="504925"/>
                <a:gridCol w="504925"/>
                <a:gridCol w="504925"/>
                <a:gridCol w="504925"/>
                <a:gridCol w="504925"/>
                <a:gridCol w="504925"/>
                <a:gridCol w="470125"/>
                <a:gridCol w="470125"/>
                <a:gridCol w="470125"/>
                <a:gridCol w="470125"/>
              </a:tblGrid>
              <a:tr h="381000">
                <a:tc>
                  <a:txBody>
                    <a:bodyPr/>
                    <a:lstStyle/>
                    <a:p>
                      <a:pPr indent="0" lvl="0" marL="0" rtl="0" algn="l">
                        <a:spcBef>
                          <a:spcPts val="0"/>
                        </a:spcBef>
                        <a:spcAft>
                          <a:spcPts val="0"/>
                        </a:spcAft>
                        <a:buNone/>
                      </a:pPr>
                      <a:r>
                        <a:rPr lang="en"/>
                        <a:t>t1</a:t>
                      </a:r>
                      <a:endParaRPr/>
                    </a:p>
                  </a:txBody>
                  <a:tcPr marT="91425" marB="91425" marR="91425" marL="91425"/>
                </a:tc>
                <a:tc>
                  <a:txBody>
                    <a:bodyPr/>
                    <a:lstStyle/>
                    <a:p>
                      <a:pPr indent="0" lvl="0" marL="0" rtl="0" algn="l">
                        <a:spcBef>
                          <a:spcPts val="0"/>
                        </a:spcBef>
                        <a:spcAft>
                          <a:spcPts val="0"/>
                        </a:spcAft>
                        <a:buNone/>
                      </a:pPr>
                      <a:r>
                        <a:rPr lang="en"/>
                        <a:t>t2</a:t>
                      </a:r>
                      <a:endParaRPr/>
                    </a:p>
                  </a:txBody>
                  <a:tcPr marT="91425" marB="91425" marR="91425" marL="91425"/>
                </a:tc>
                <a:tc>
                  <a:txBody>
                    <a:bodyPr/>
                    <a:lstStyle/>
                    <a:p>
                      <a:pPr indent="0" lvl="0" marL="0" rtl="0" algn="l">
                        <a:spcBef>
                          <a:spcPts val="0"/>
                        </a:spcBef>
                        <a:spcAft>
                          <a:spcPts val="0"/>
                        </a:spcAft>
                        <a:buNone/>
                      </a:pPr>
                      <a:r>
                        <a:rPr lang="en"/>
                        <a:t>t3</a:t>
                      </a:r>
                      <a:endParaRPr/>
                    </a:p>
                  </a:txBody>
                  <a:tcPr marT="91425" marB="91425" marR="91425" marL="91425"/>
                </a:tc>
                <a:tc>
                  <a:txBody>
                    <a:bodyPr/>
                    <a:lstStyle/>
                    <a:p>
                      <a:pPr indent="0" lvl="0" marL="0" rtl="0" algn="l">
                        <a:spcBef>
                          <a:spcPts val="0"/>
                        </a:spcBef>
                        <a:spcAft>
                          <a:spcPts val="0"/>
                        </a:spcAft>
                        <a:buNone/>
                      </a:pPr>
                      <a:r>
                        <a:rPr lang="en"/>
                        <a:t>t4</a:t>
                      </a:r>
                      <a:endParaRPr/>
                    </a:p>
                  </a:txBody>
                  <a:tcPr marT="91425" marB="91425" marR="91425" marL="91425"/>
                </a:tc>
                <a:tc>
                  <a:txBody>
                    <a:bodyPr/>
                    <a:lstStyle/>
                    <a:p>
                      <a:pPr indent="0" lvl="0" marL="0" rtl="0" algn="l">
                        <a:spcBef>
                          <a:spcPts val="0"/>
                        </a:spcBef>
                        <a:spcAft>
                          <a:spcPts val="0"/>
                        </a:spcAft>
                        <a:buNone/>
                      </a:pPr>
                      <a:r>
                        <a:rPr lang="en"/>
                        <a:t>t5</a:t>
                      </a:r>
                      <a:endParaRPr/>
                    </a:p>
                  </a:txBody>
                  <a:tcPr marT="91425" marB="91425" marR="91425" marL="91425"/>
                </a:tc>
                <a:tc>
                  <a:txBody>
                    <a:bodyPr/>
                    <a:lstStyle/>
                    <a:p>
                      <a:pPr indent="0" lvl="0" marL="0" rtl="0" algn="l">
                        <a:spcBef>
                          <a:spcPts val="0"/>
                        </a:spcBef>
                        <a:spcAft>
                          <a:spcPts val="0"/>
                        </a:spcAft>
                        <a:buNone/>
                      </a:pPr>
                      <a:r>
                        <a:rPr lang="en"/>
                        <a:t>t6</a:t>
                      </a:r>
                      <a:endParaRPr/>
                    </a:p>
                  </a:txBody>
                  <a:tcPr marT="91425" marB="91425" marR="91425" marL="91425"/>
                </a:tc>
                <a:tc>
                  <a:txBody>
                    <a:bodyPr/>
                    <a:lstStyle/>
                    <a:p>
                      <a:pPr indent="0" lvl="0" marL="0" rtl="0" algn="l">
                        <a:spcBef>
                          <a:spcPts val="0"/>
                        </a:spcBef>
                        <a:spcAft>
                          <a:spcPts val="0"/>
                        </a:spcAft>
                        <a:buNone/>
                      </a:pPr>
                      <a:r>
                        <a:rPr lang="en"/>
                        <a:t>t7</a:t>
                      </a:r>
                      <a:endParaRPr/>
                    </a:p>
                  </a:txBody>
                  <a:tcPr marT="91425" marB="91425" marR="91425" marL="91425"/>
                </a:tc>
                <a:tc>
                  <a:txBody>
                    <a:bodyPr/>
                    <a:lstStyle/>
                    <a:p>
                      <a:pPr indent="0" lvl="0" marL="0" rtl="0" algn="l">
                        <a:spcBef>
                          <a:spcPts val="0"/>
                        </a:spcBef>
                        <a:spcAft>
                          <a:spcPts val="0"/>
                        </a:spcAft>
                        <a:buNone/>
                      </a:pPr>
                      <a:r>
                        <a:rPr lang="en"/>
                        <a:t>t8</a:t>
                      </a:r>
                      <a:endParaRPr/>
                    </a:p>
                  </a:txBody>
                  <a:tcPr marT="91425" marB="91425" marR="91425" marL="91425"/>
                </a:tc>
                <a:tc>
                  <a:txBody>
                    <a:bodyPr/>
                    <a:lstStyle/>
                    <a:p>
                      <a:pPr indent="0" lvl="0" marL="0" rtl="0" algn="l">
                        <a:spcBef>
                          <a:spcPts val="0"/>
                        </a:spcBef>
                        <a:spcAft>
                          <a:spcPts val="0"/>
                        </a:spcAft>
                        <a:buNone/>
                      </a:pPr>
                      <a:r>
                        <a:rPr lang="en" sz="1200"/>
                        <a:t>pad</a:t>
                      </a:r>
                      <a:endParaRPr sz="1200"/>
                    </a:p>
                  </a:txBody>
                  <a:tcPr marT="91425" marB="91425" marR="91425" marL="91425"/>
                </a:tc>
                <a:tc>
                  <a:txBody>
                    <a:bodyPr/>
                    <a:lstStyle/>
                    <a:p>
                      <a:pPr indent="0" lvl="0" marL="0" rtl="0" algn="l">
                        <a:spcBef>
                          <a:spcPts val="0"/>
                        </a:spcBef>
                        <a:spcAft>
                          <a:spcPts val="0"/>
                        </a:spcAft>
                        <a:buNone/>
                      </a:pPr>
                      <a:r>
                        <a:rPr lang="en" sz="1100"/>
                        <a:t>pad</a:t>
                      </a:r>
                      <a:endParaRPr sz="1100"/>
                    </a:p>
                  </a:txBody>
                  <a:tcPr marT="91425" marB="91425" marR="91425" marL="91425"/>
                </a:tc>
                <a:tc>
                  <a:txBody>
                    <a:bodyPr/>
                    <a:lstStyle/>
                    <a:p>
                      <a:pPr indent="0" lvl="0" marL="0" rtl="0" algn="l">
                        <a:spcBef>
                          <a:spcPts val="0"/>
                        </a:spcBef>
                        <a:spcAft>
                          <a:spcPts val="0"/>
                        </a:spcAft>
                        <a:buNone/>
                      </a:pPr>
                      <a:r>
                        <a:rPr lang="en" sz="1100"/>
                        <a:t>pad</a:t>
                      </a:r>
                      <a:endParaRPr sz="1100"/>
                    </a:p>
                  </a:txBody>
                  <a:tcPr marT="91425" marB="91425" marR="91425" marL="91425"/>
                </a:tc>
                <a:tc>
                  <a:txBody>
                    <a:bodyPr/>
                    <a:lstStyle/>
                    <a:p>
                      <a:pPr indent="0" lvl="0" marL="0" rtl="0" algn="l">
                        <a:spcBef>
                          <a:spcPts val="0"/>
                        </a:spcBef>
                        <a:spcAft>
                          <a:spcPts val="0"/>
                        </a:spcAft>
                        <a:buNone/>
                      </a:pPr>
                      <a:r>
                        <a:rPr lang="en" sz="1100"/>
                        <a:t>pad</a:t>
                      </a:r>
                      <a:endParaRPr sz="1100"/>
                    </a:p>
                  </a:txBody>
                  <a:tcPr marT="91425" marB="91425" marR="91425" marL="91425"/>
                </a:tc>
              </a:tr>
            </a:tbl>
          </a:graphicData>
        </a:graphic>
      </p:graphicFrame>
      <p:graphicFrame>
        <p:nvGraphicFramePr>
          <p:cNvPr id="132" name="Google Shape;132;p22"/>
          <p:cNvGraphicFramePr/>
          <p:nvPr/>
        </p:nvGraphicFramePr>
        <p:xfrm>
          <a:off x="435413" y="3839191"/>
          <a:ext cx="3000000" cy="3000000"/>
        </p:xfrm>
        <a:graphic>
          <a:graphicData uri="http://schemas.openxmlformats.org/drawingml/2006/table">
            <a:tbl>
              <a:tblPr>
                <a:noFill/>
                <a:tableStyleId>{F568ACB4-8944-42FA-BDF8-B63914A0C3B0}</a:tableStyleId>
              </a:tblPr>
              <a:tblGrid>
                <a:gridCol w="504925"/>
                <a:gridCol w="504925"/>
                <a:gridCol w="504925"/>
                <a:gridCol w="504925"/>
                <a:gridCol w="504925"/>
                <a:gridCol w="504925"/>
                <a:gridCol w="504925"/>
                <a:gridCol w="504925"/>
                <a:gridCol w="470100"/>
                <a:gridCol w="470100"/>
                <a:gridCol w="470100"/>
                <a:gridCol w="470100"/>
              </a:tblGrid>
              <a:tr h="381000">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sz="1500"/>
                        <a:t>0</a:t>
                      </a:r>
                      <a:endParaRPr sz="1500"/>
                    </a:p>
                  </a:txBody>
                  <a:tcPr marT="91425" marB="91425" marR="91425" marL="91425"/>
                </a:tc>
                <a:tc>
                  <a:txBody>
                    <a:bodyPr/>
                    <a:lstStyle/>
                    <a:p>
                      <a:pPr indent="0" lvl="0" marL="0" rtl="0" algn="l">
                        <a:spcBef>
                          <a:spcPts val="0"/>
                        </a:spcBef>
                        <a:spcAft>
                          <a:spcPts val="0"/>
                        </a:spcAft>
                        <a:buNone/>
                      </a:pPr>
                      <a:r>
                        <a:rPr lang="en" sz="1500"/>
                        <a:t>0</a:t>
                      </a:r>
                      <a:endParaRPr sz="1500"/>
                    </a:p>
                  </a:txBody>
                  <a:tcPr marT="91425" marB="91425" marR="91425" marL="91425"/>
                </a:tc>
                <a:tc>
                  <a:txBody>
                    <a:bodyPr/>
                    <a:lstStyle/>
                    <a:p>
                      <a:pPr indent="0" lvl="0" marL="0" rtl="0" algn="l">
                        <a:spcBef>
                          <a:spcPts val="0"/>
                        </a:spcBef>
                        <a:spcAft>
                          <a:spcPts val="0"/>
                        </a:spcAft>
                        <a:buNone/>
                      </a:pPr>
                      <a:r>
                        <a:rPr lang="en" sz="1500"/>
                        <a:t>0</a:t>
                      </a:r>
                      <a:endParaRPr sz="1500"/>
                    </a:p>
                  </a:txBody>
                  <a:tcPr marT="91425" marB="91425" marR="91425" marL="91425"/>
                </a:tc>
              </a:tr>
            </a:tbl>
          </a:graphicData>
        </a:graphic>
      </p:graphicFrame>
      <p:graphicFrame>
        <p:nvGraphicFramePr>
          <p:cNvPr id="133" name="Google Shape;133;p22"/>
          <p:cNvGraphicFramePr/>
          <p:nvPr/>
        </p:nvGraphicFramePr>
        <p:xfrm>
          <a:off x="435463" y="3127129"/>
          <a:ext cx="3000000" cy="3000000"/>
        </p:xfrm>
        <a:graphic>
          <a:graphicData uri="http://schemas.openxmlformats.org/drawingml/2006/table">
            <a:tbl>
              <a:tblPr>
                <a:noFill/>
                <a:tableStyleId>{F568ACB4-8944-42FA-BDF8-B63914A0C3B0}</a:tableStyleId>
              </a:tblPr>
              <a:tblGrid>
                <a:gridCol w="504925"/>
                <a:gridCol w="504925"/>
                <a:gridCol w="504925"/>
                <a:gridCol w="504925"/>
                <a:gridCol w="504925"/>
                <a:gridCol w="504925"/>
                <a:gridCol w="504925"/>
                <a:gridCol w="504925"/>
                <a:gridCol w="470100"/>
                <a:gridCol w="470100"/>
                <a:gridCol w="470100"/>
                <a:gridCol w="470100"/>
              </a:tblGrid>
              <a:tr h="381000">
                <a:tc>
                  <a:txBody>
                    <a:bodyPr/>
                    <a:lstStyle/>
                    <a:p>
                      <a:pPr indent="0" lvl="0" marL="0" rtl="0" algn="l">
                        <a:spcBef>
                          <a:spcPts val="0"/>
                        </a:spcBef>
                        <a:spcAft>
                          <a:spcPts val="0"/>
                        </a:spcAft>
                        <a:buNone/>
                      </a:pPr>
                      <a:r>
                        <a:rPr lang="en"/>
                        <a:t>e1+p1</a:t>
                      </a:r>
                      <a:endParaRPr/>
                    </a:p>
                  </a:txBody>
                  <a:tcPr marT="91425" marB="91425" marR="91425" marL="91425"/>
                </a:tc>
                <a:tc>
                  <a:txBody>
                    <a:bodyPr/>
                    <a:lstStyle/>
                    <a:p>
                      <a:pPr indent="0" lvl="0" marL="0" rtl="0" algn="l">
                        <a:spcBef>
                          <a:spcPts val="0"/>
                        </a:spcBef>
                        <a:spcAft>
                          <a:spcPts val="0"/>
                        </a:spcAft>
                        <a:buNone/>
                      </a:pPr>
                      <a:r>
                        <a:rPr lang="en"/>
                        <a:t>e2+p2</a:t>
                      </a:r>
                      <a:endParaRPr/>
                    </a:p>
                  </a:txBody>
                  <a:tcPr marT="91425" marB="91425" marR="91425" marL="91425"/>
                </a:tc>
                <a:tc>
                  <a:txBody>
                    <a:bodyPr/>
                    <a:lstStyle/>
                    <a:p>
                      <a:pPr indent="0" lvl="0" marL="0" rtl="0" algn="l">
                        <a:spcBef>
                          <a:spcPts val="0"/>
                        </a:spcBef>
                        <a:spcAft>
                          <a:spcPts val="0"/>
                        </a:spcAft>
                        <a:buNone/>
                      </a:pPr>
                      <a:r>
                        <a:rPr lang="en"/>
                        <a:t>e3+p3</a:t>
                      </a:r>
                      <a:endParaRPr/>
                    </a:p>
                  </a:txBody>
                  <a:tcPr marT="91425" marB="91425" marR="91425" marL="91425"/>
                </a:tc>
                <a:tc>
                  <a:txBody>
                    <a:bodyPr/>
                    <a:lstStyle/>
                    <a:p>
                      <a:pPr indent="0" lvl="0" marL="0" rtl="0" algn="l">
                        <a:spcBef>
                          <a:spcPts val="0"/>
                        </a:spcBef>
                        <a:spcAft>
                          <a:spcPts val="0"/>
                        </a:spcAft>
                        <a:buNone/>
                      </a:pPr>
                      <a:r>
                        <a:rPr lang="en"/>
                        <a:t>e4+p4</a:t>
                      </a:r>
                      <a:endParaRPr/>
                    </a:p>
                  </a:txBody>
                  <a:tcPr marT="91425" marB="91425" marR="91425" marL="91425"/>
                </a:tc>
                <a:tc>
                  <a:txBody>
                    <a:bodyPr/>
                    <a:lstStyle/>
                    <a:p>
                      <a:pPr indent="0" lvl="0" marL="0" rtl="0" algn="l">
                        <a:spcBef>
                          <a:spcPts val="0"/>
                        </a:spcBef>
                        <a:spcAft>
                          <a:spcPts val="0"/>
                        </a:spcAft>
                        <a:buNone/>
                      </a:pPr>
                      <a:r>
                        <a:rPr lang="en"/>
                        <a:t>e5+p5</a:t>
                      </a:r>
                      <a:endParaRPr/>
                    </a:p>
                  </a:txBody>
                  <a:tcPr marT="91425" marB="91425" marR="91425" marL="91425"/>
                </a:tc>
                <a:tc>
                  <a:txBody>
                    <a:bodyPr/>
                    <a:lstStyle/>
                    <a:p>
                      <a:pPr indent="0" lvl="0" marL="0" rtl="0" algn="l">
                        <a:spcBef>
                          <a:spcPts val="0"/>
                        </a:spcBef>
                        <a:spcAft>
                          <a:spcPts val="0"/>
                        </a:spcAft>
                        <a:buNone/>
                      </a:pPr>
                      <a:r>
                        <a:rPr lang="en"/>
                        <a:t>e6+p6</a:t>
                      </a:r>
                      <a:endParaRPr/>
                    </a:p>
                  </a:txBody>
                  <a:tcPr marT="91425" marB="91425" marR="91425" marL="91425"/>
                </a:tc>
                <a:tc>
                  <a:txBody>
                    <a:bodyPr/>
                    <a:lstStyle/>
                    <a:p>
                      <a:pPr indent="0" lvl="0" marL="0" rtl="0" algn="l">
                        <a:spcBef>
                          <a:spcPts val="0"/>
                        </a:spcBef>
                        <a:spcAft>
                          <a:spcPts val="0"/>
                        </a:spcAft>
                        <a:buNone/>
                      </a:pPr>
                      <a:r>
                        <a:rPr lang="en"/>
                        <a:t>e7+p7</a:t>
                      </a:r>
                      <a:endParaRPr/>
                    </a:p>
                  </a:txBody>
                  <a:tcPr marT="91425" marB="91425" marR="91425" marL="91425"/>
                </a:tc>
                <a:tc>
                  <a:txBody>
                    <a:bodyPr/>
                    <a:lstStyle/>
                    <a:p>
                      <a:pPr indent="0" lvl="0" marL="0" rtl="0" algn="l">
                        <a:spcBef>
                          <a:spcPts val="0"/>
                        </a:spcBef>
                        <a:spcAft>
                          <a:spcPts val="0"/>
                        </a:spcAft>
                        <a:buNone/>
                      </a:pPr>
                      <a:r>
                        <a:rPr lang="en"/>
                        <a:t>e8+p8</a:t>
                      </a:r>
                      <a:endParaRPr/>
                    </a:p>
                  </a:txBody>
                  <a:tcPr marT="91425" marB="91425" marR="91425" marL="91425"/>
                </a:tc>
                <a:tc>
                  <a:txBody>
                    <a:bodyPr/>
                    <a:lstStyle/>
                    <a:p>
                      <a:pPr indent="0" lvl="0" marL="0" rtl="0" algn="l">
                        <a:spcBef>
                          <a:spcPts val="0"/>
                        </a:spcBef>
                        <a:spcAft>
                          <a:spcPts val="0"/>
                        </a:spcAft>
                        <a:buNone/>
                      </a:pPr>
                      <a:r>
                        <a:rPr lang="en" sz="800"/>
                        <a:t>e_pad+p9</a:t>
                      </a:r>
                      <a:endParaRPr sz="800"/>
                    </a:p>
                  </a:txBody>
                  <a:tcPr marT="91425" marB="91425" marR="91425" marL="91425"/>
                </a:tc>
                <a:tc>
                  <a:txBody>
                    <a:bodyPr/>
                    <a:lstStyle/>
                    <a:p>
                      <a:pPr indent="0" lvl="0" marL="0" rtl="0" algn="l">
                        <a:spcBef>
                          <a:spcPts val="0"/>
                        </a:spcBef>
                        <a:spcAft>
                          <a:spcPts val="0"/>
                        </a:spcAft>
                        <a:buNone/>
                      </a:pPr>
                      <a:r>
                        <a:rPr lang="en" sz="800"/>
                        <a:t>e_pad+p10</a:t>
                      </a:r>
                      <a:endParaRPr sz="800"/>
                    </a:p>
                  </a:txBody>
                  <a:tcPr marT="91425" marB="91425" marR="91425" marL="91425"/>
                </a:tc>
                <a:tc>
                  <a:txBody>
                    <a:bodyPr/>
                    <a:lstStyle/>
                    <a:p>
                      <a:pPr indent="0" lvl="0" marL="0" rtl="0" algn="l">
                        <a:spcBef>
                          <a:spcPts val="0"/>
                        </a:spcBef>
                        <a:spcAft>
                          <a:spcPts val="0"/>
                        </a:spcAft>
                        <a:buNone/>
                      </a:pPr>
                      <a:r>
                        <a:rPr lang="en" sz="800">
                          <a:solidFill>
                            <a:schemeClr val="dk1"/>
                          </a:solidFill>
                        </a:rPr>
                        <a:t>e_pad+p11</a:t>
                      </a:r>
                      <a:endParaRPr sz="1000"/>
                    </a:p>
                  </a:txBody>
                  <a:tcPr marT="91425" marB="91425" marR="91425" marL="91425"/>
                </a:tc>
                <a:tc>
                  <a:txBody>
                    <a:bodyPr/>
                    <a:lstStyle/>
                    <a:p>
                      <a:pPr indent="0" lvl="0" marL="0" rtl="0" algn="l">
                        <a:spcBef>
                          <a:spcPts val="0"/>
                        </a:spcBef>
                        <a:spcAft>
                          <a:spcPts val="0"/>
                        </a:spcAft>
                        <a:buNone/>
                      </a:pPr>
                      <a:r>
                        <a:rPr lang="en" sz="800">
                          <a:solidFill>
                            <a:schemeClr val="dk1"/>
                          </a:solidFill>
                        </a:rPr>
                        <a:t>e_pad+p12</a:t>
                      </a:r>
                      <a:endParaRPr sz="1000"/>
                    </a:p>
                  </a:txBody>
                  <a:tcPr marT="91425" marB="91425" marR="91425" marL="91425"/>
                </a:tc>
              </a:tr>
            </a:tbl>
          </a:graphicData>
        </a:graphic>
      </p:graphicFrame>
      <p:sp>
        <p:nvSpPr>
          <p:cNvPr id="134" name="Google Shape;134;p22"/>
          <p:cNvSpPr txBox="1"/>
          <p:nvPr>
            <p:ph type="title"/>
          </p:nvPr>
        </p:nvSpPr>
        <p:spPr>
          <a:xfrm>
            <a:off x="133950" y="20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Sentiment classification using Attention</a:t>
            </a:r>
            <a:endParaRPr/>
          </a:p>
        </p:txBody>
      </p:sp>
      <p:sp>
        <p:nvSpPr>
          <p:cNvPr id="135" name="Google Shape;135;p22"/>
          <p:cNvSpPr txBox="1"/>
          <p:nvPr/>
        </p:nvSpPr>
        <p:spPr>
          <a:xfrm>
            <a:off x="6937200" y="3249600"/>
            <a:ext cx="2114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Trainable token + position embeddings</a:t>
            </a:r>
            <a:endParaRPr b="1">
              <a:solidFill>
                <a:schemeClr val="dk2"/>
              </a:solidFill>
            </a:endParaRPr>
          </a:p>
        </p:txBody>
      </p:sp>
      <p:sp>
        <p:nvSpPr>
          <p:cNvPr id="136" name="Google Shape;136;p22"/>
          <p:cNvSpPr txBox="1"/>
          <p:nvPr/>
        </p:nvSpPr>
        <p:spPr>
          <a:xfrm>
            <a:off x="7153950" y="3844813"/>
            <a:ext cx="150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Attention mask</a:t>
            </a:r>
            <a:endParaRPr b="1">
              <a:solidFill>
                <a:schemeClr val="dk2"/>
              </a:solidFill>
            </a:endParaRPr>
          </a:p>
        </p:txBody>
      </p:sp>
      <p:sp>
        <p:nvSpPr>
          <p:cNvPr id="137" name="Google Shape;137;p22"/>
          <p:cNvSpPr txBox="1"/>
          <p:nvPr/>
        </p:nvSpPr>
        <p:spPr>
          <a:xfrm>
            <a:off x="7244250" y="4363513"/>
            <a:ext cx="150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2"/>
                </a:solidFill>
              </a:rPr>
              <a:t>Tokenization</a:t>
            </a:r>
            <a:endParaRPr b="1">
              <a:solidFill>
                <a:schemeClr val="dk2"/>
              </a:solidFill>
            </a:endParaRPr>
          </a:p>
        </p:txBody>
      </p:sp>
      <p:sp>
        <p:nvSpPr>
          <p:cNvPr id="138" name="Google Shape;138;p22"/>
          <p:cNvSpPr txBox="1"/>
          <p:nvPr/>
        </p:nvSpPr>
        <p:spPr>
          <a:xfrm>
            <a:off x="1445275" y="2678675"/>
            <a:ext cx="736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1, T, D</a:t>
            </a:r>
            <a:endParaRPr sz="1200">
              <a:solidFill>
                <a:schemeClr val="dk2"/>
              </a:solidFill>
            </a:endParaRPr>
          </a:p>
        </p:txBody>
      </p:sp>
      <p:sp>
        <p:nvSpPr>
          <p:cNvPr id="139" name="Google Shape;139;p22"/>
          <p:cNvSpPr txBox="1"/>
          <p:nvPr/>
        </p:nvSpPr>
        <p:spPr>
          <a:xfrm>
            <a:off x="601875" y="884625"/>
            <a:ext cx="2114700" cy="173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2"/>
                </a:solidFill>
              </a:rPr>
              <a:t>Attention Block</a:t>
            </a:r>
            <a:endParaRPr b="1">
              <a:solidFill>
                <a:schemeClr val="dk2"/>
              </a:solidFill>
            </a:endParaRPr>
          </a:p>
          <a:p>
            <a:pPr indent="0" lvl="0" marL="0" rtl="0" algn="ctr">
              <a:spcBef>
                <a:spcPts val="0"/>
              </a:spcBef>
              <a:spcAft>
                <a:spcPts val="0"/>
              </a:spcAft>
              <a:buNone/>
            </a:pPr>
            <a:r>
              <a:rPr lang="en" sz="1200">
                <a:solidFill>
                  <a:schemeClr val="dk2"/>
                </a:solidFill>
              </a:rPr>
              <a:t>Outputs contextualized embeddings</a:t>
            </a:r>
            <a:endParaRPr sz="1200">
              <a:solidFill>
                <a:schemeClr val="dk2"/>
              </a:solidFill>
            </a:endParaRPr>
          </a:p>
          <a:p>
            <a:pPr indent="0" lvl="0" marL="0" rtl="0" algn="ctr">
              <a:spcBef>
                <a:spcPts val="0"/>
              </a:spcBef>
              <a:spcAft>
                <a:spcPts val="0"/>
              </a:spcAft>
              <a:buNone/>
            </a:pPr>
            <a:r>
              <a:rPr b="1" lang="en" sz="900">
                <a:solidFill>
                  <a:schemeClr val="dk2"/>
                </a:solidFill>
              </a:rPr>
              <a:t>Feed Forward: </a:t>
            </a:r>
            <a:r>
              <a:rPr lang="en" sz="900">
                <a:solidFill>
                  <a:schemeClr val="dk2"/>
                </a:solidFill>
              </a:rPr>
              <a:t>Mixes info across embedding (channel) dimension</a:t>
            </a:r>
            <a:endParaRPr sz="900">
              <a:solidFill>
                <a:schemeClr val="dk2"/>
              </a:solidFill>
            </a:endParaRPr>
          </a:p>
          <a:p>
            <a:pPr indent="0" lvl="0" marL="0" rtl="0" algn="ctr">
              <a:spcBef>
                <a:spcPts val="0"/>
              </a:spcBef>
              <a:spcAft>
                <a:spcPts val="0"/>
              </a:spcAft>
              <a:buNone/>
            </a:pPr>
            <a:r>
              <a:rPr b="1" lang="en" sz="900">
                <a:solidFill>
                  <a:schemeClr val="dk2"/>
                </a:solidFill>
              </a:rPr>
              <a:t>Skip Connection: </a:t>
            </a:r>
            <a:r>
              <a:rPr lang="en" sz="900">
                <a:solidFill>
                  <a:schemeClr val="dk2"/>
                </a:solidFill>
              </a:rPr>
              <a:t>Stable optimization, don’t destroy previous </a:t>
            </a:r>
            <a:r>
              <a:rPr lang="en" sz="900">
                <a:solidFill>
                  <a:schemeClr val="dk2"/>
                </a:solidFill>
              </a:rPr>
              <a:t>representation</a:t>
            </a:r>
            <a:r>
              <a:rPr lang="en" sz="900">
                <a:solidFill>
                  <a:schemeClr val="dk2"/>
                </a:solidFill>
              </a:rPr>
              <a:t> </a:t>
            </a:r>
            <a:endParaRPr sz="900">
              <a:solidFill>
                <a:schemeClr val="dk2"/>
              </a:solidFill>
            </a:endParaRPr>
          </a:p>
          <a:p>
            <a:pPr indent="0" lvl="0" marL="0" rtl="0" algn="ctr">
              <a:spcBef>
                <a:spcPts val="0"/>
              </a:spcBef>
              <a:spcAft>
                <a:spcPts val="0"/>
              </a:spcAft>
              <a:buNone/>
            </a:pPr>
            <a:r>
              <a:rPr b="1" lang="en" sz="900">
                <a:solidFill>
                  <a:schemeClr val="dk2"/>
                </a:solidFill>
              </a:rPr>
              <a:t>LayerNorm:</a:t>
            </a:r>
            <a:r>
              <a:rPr lang="en" sz="900">
                <a:solidFill>
                  <a:schemeClr val="dk2"/>
                </a:solidFill>
              </a:rPr>
              <a:t> Keeps </a:t>
            </a:r>
            <a:r>
              <a:rPr lang="en" sz="900">
                <a:solidFill>
                  <a:schemeClr val="dk2"/>
                </a:solidFill>
              </a:rPr>
              <a:t>activations</a:t>
            </a:r>
            <a:r>
              <a:rPr lang="en" sz="900">
                <a:solidFill>
                  <a:schemeClr val="dk2"/>
                </a:solidFill>
              </a:rPr>
              <a:t> well-scaled, learning stable</a:t>
            </a:r>
            <a:endParaRPr sz="900">
              <a:solidFill>
                <a:schemeClr val="dk2"/>
              </a:solidFill>
            </a:endParaRPr>
          </a:p>
        </p:txBody>
      </p:sp>
      <p:sp>
        <p:nvSpPr>
          <p:cNvPr id="140" name="Google Shape;140;p22"/>
          <p:cNvSpPr/>
          <p:nvPr/>
        </p:nvSpPr>
        <p:spPr>
          <a:xfrm>
            <a:off x="2751900" y="480175"/>
            <a:ext cx="1883700" cy="2601600"/>
          </a:xfrm>
          <a:prstGeom prst="rect">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1" name="Google Shape;141;p22"/>
          <p:cNvPicPr preferRelativeResize="0"/>
          <p:nvPr/>
        </p:nvPicPr>
        <p:blipFill>
          <a:blip r:embed="rId4">
            <a:alphaModFix/>
          </a:blip>
          <a:stretch>
            <a:fillRect/>
          </a:stretch>
        </p:blipFill>
        <p:spPr>
          <a:xfrm>
            <a:off x="6290449" y="639650"/>
            <a:ext cx="3089409" cy="222935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Attention masking</a:t>
            </a:r>
            <a:endParaRPr/>
          </a:p>
        </p:txBody>
      </p:sp>
      <p:sp>
        <p:nvSpPr>
          <p:cNvPr id="147" name="Google Shape;14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Sentences in a </a:t>
            </a:r>
            <a:r>
              <a:rPr lang="en"/>
              <a:t>batch</a:t>
            </a:r>
            <a:r>
              <a:rPr lang="en"/>
              <a:t> can be of different lengths. Accounting for varying sentence lengths would preclude batch matrix multiplications.. To address this, sentences in a batch are filled with padding tokens to make them the same length. But, we don’t want the padding tokens to contribute to the attention scores..</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Attention masking</a:t>
            </a:r>
            <a:endParaRPr/>
          </a:p>
        </p:txBody>
      </p:sp>
      <p:pic>
        <p:nvPicPr>
          <p:cNvPr id="153" name="Google Shape;153;p24"/>
          <p:cNvPicPr preferRelativeResize="0"/>
          <p:nvPr/>
        </p:nvPicPr>
        <p:blipFill>
          <a:blip r:embed="rId3">
            <a:alphaModFix/>
          </a:blip>
          <a:stretch>
            <a:fillRect/>
          </a:stretch>
        </p:blipFill>
        <p:spPr>
          <a:xfrm>
            <a:off x="688000" y="1461850"/>
            <a:ext cx="4463426" cy="1620575"/>
          </a:xfrm>
          <a:prstGeom prst="rect">
            <a:avLst/>
          </a:prstGeom>
          <a:noFill/>
          <a:ln>
            <a:noFill/>
          </a:ln>
        </p:spPr>
      </p:pic>
      <p:pic>
        <p:nvPicPr>
          <p:cNvPr id="154" name="Google Shape;154;p24"/>
          <p:cNvPicPr preferRelativeResize="0"/>
          <p:nvPr/>
        </p:nvPicPr>
        <p:blipFill>
          <a:blip r:embed="rId4">
            <a:alphaModFix/>
          </a:blip>
          <a:stretch>
            <a:fillRect/>
          </a:stretch>
        </p:blipFill>
        <p:spPr>
          <a:xfrm>
            <a:off x="669525" y="3190725"/>
            <a:ext cx="6533224" cy="1952775"/>
          </a:xfrm>
          <a:prstGeom prst="rect">
            <a:avLst/>
          </a:prstGeom>
          <a:noFill/>
          <a:ln>
            <a:noFill/>
          </a:ln>
        </p:spPr>
      </p:pic>
      <p:graphicFrame>
        <p:nvGraphicFramePr>
          <p:cNvPr id="155" name="Google Shape;155;p24"/>
          <p:cNvGraphicFramePr/>
          <p:nvPr/>
        </p:nvGraphicFramePr>
        <p:xfrm>
          <a:off x="688000" y="1041688"/>
          <a:ext cx="3000000" cy="3000000"/>
        </p:xfrm>
        <a:graphic>
          <a:graphicData uri="http://schemas.openxmlformats.org/drawingml/2006/table">
            <a:tbl>
              <a:tblPr>
                <a:noFill/>
                <a:tableStyleId>{F568ACB4-8944-42FA-BDF8-B63914A0C3B0}</a:tableStyleId>
              </a:tblPr>
              <a:tblGrid>
                <a:gridCol w="382850"/>
                <a:gridCol w="382850"/>
                <a:gridCol w="382850"/>
                <a:gridCol w="382850"/>
                <a:gridCol w="389750"/>
                <a:gridCol w="382850"/>
                <a:gridCol w="382850"/>
                <a:gridCol w="382850"/>
                <a:gridCol w="382850"/>
                <a:gridCol w="382850"/>
                <a:gridCol w="382850"/>
              </a:tblGrid>
              <a:tr h="363900">
                <a:tc>
                  <a:txBody>
                    <a:bodyPr/>
                    <a:lstStyle/>
                    <a:p>
                      <a:pPr indent="0" lvl="0" marL="0" rtl="0" algn="l">
                        <a:spcBef>
                          <a:spcPts val="0"/>
                        </a:spcBef>
                        <a:spcAft>
                          <a:spcPts val="0"/>
                        </a:spcAft>
                        <a:buNone/>
                      </a:pPr>
                      <a:r>
                        <a:rPr lang="en" sz="700"/>
                        <a:t>food</a:t>
                      </a:r>
                      <a:endParaRPr sz="700"/>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 sz="700"/>
                        <a:t>food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t>was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600"/>
                        <a:t>great</a:t>
                      </a:r>
                      <a:endParaRPr sz="6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t>but</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t>the </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t>service</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t>was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t>bad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700">
                          <a:solidFill>
                            <a:schemeClr val="dk1"/>
                          </a:solidFill>
                        </a:rPr>
                        <a:t>pad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solidFill>
                            <a:schemeClr val="dk1"/>
                          </a:solidFill>
                        </a:rPr>
                        <a:t>pad</a:t>
                      </a:r>
                      <a:endParaRPr sz="7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156" name="Google Shape;156;p24"/>
          <p:cNvGraphicFramePr/>
          <p:nvPr/>
        </p:nvGraphicFramePr>
        <p:xfrm>
          <a:off x="103225" y="1516725"/>
          <a:ext cx="3000000" cy="3000000"/>
        </p:xfrm>
        <a:graphic>
          <a:graphicData uri="http://schemas.openxmlformats.org/drawingml/2006/table">
            <a:tbl>
              <a:tblPr>
                <a:noFill/>
                <a:tableStyleId>{F568ACB4-8944-42FA-BDF8-B63914A0C3B0}</a:tableStyleId>
              </a:tblPr>
              <a:tblGrid>
                <a:gridCol w="516750"/>
              </a:tblGrid>
              <a:tr h="113425">
                <a:tc>
                  <a:txBody>
                    <a:bodyPr/>
                    <a:lstStyle/>
                    <a:p>
                      <a:pPr indent="0" lvl="0" marL="0" rtl="0" algn="l">
                        <a:spcBef>
                          <a:spcPts val="0"/>
                        </a:spcBef>
                        <a:spcAft>
                          <a:spcPts val="0"/>
                        </a:spcAft>
                        <a:buNone/>
                      </a:pPr>
                      <a:r>
                        <a:rPr lang="en" sz="800"/>
                        <a:t>food</a:t>
                      </a:r>
                      <a:endParaRPr sz="800"/>
                    </a:p>
                  </a:txBody>
                  <a:tcPr marT="0" marB="0" marR="91425" marL="91425"/>
                </a:tc>
              </a:tr>
              <a:tr h="133350">
                <a:tc>
                  <a:txBody>
                    <a:bodyPr/>
                    <a:lstStyle/>
                    <a:p>
                      <a:pPr indent="0" lvl="0" marL="0" rtl="0" algn="l">
                        <a:spcBef>
                          <a:spcPts val="0"/>
                        </a:spcBef>
                        <a:spcAft>
                          <a:spcPts val="0"/>
                        </a:spcAft>
                        <a:buNone/>
                      </a:pPr>
                      <a:r>
                        <a:rPr lang="en" sz="800"/>
                        <a:t>food</a:t>
                      </a:r>
                      <a:endParaRPr sz="800"/>
                    </a:p>
                  </a:txBody>
                  <a:tcPr marT="0" marB="0" marR="91425" marL="91425"/>
                </a:tc>
              </a:tr>
              <a:tr h="133350">
                <a:tc>
                  <a:txBody>
                    <a:bodyPr/>
                    <a:lstStyle/>
                    <a:p>
                      <a:pPr indent="0" lvl="0" marL="0" rtl="0" algn="l">
                        <a:spcBef>
                          <a:spcPts val="0"/>
                        </a:spcBef>
                        <a:spcAft>
                          <a:spcPts val="0"/>
                        </a:spcAft>
                        <a:buNone/>
                      </a:pPr>
                      <a:r>
                        <a:rPr lang="en" sz="800"/>
                        <a:t>was</a:t>
                      </a:r>
                      <a:endParaRPr sz="800"/>
                    </a:p>
                  </a:txBody>
                  <a:tcPr marT="0" marB="0" marR="91425" marL="91425"/>
                </a:tc>
              </a:tr>
              <a:tr h="133350">
                <a:tc>
                  <a:txBody>
                    <a:bodyPr/>
                    <a:lstStyle/>
                    <a:p>
                      <a:pPr indent="0" lvl="0" marL="0" rtl="0" algn="l">
                        <a:spcBef>
                          <a:spcPts val="0"/>
                        </a:spcBef>
                        <a:spcAft>
                          <a:spcPts val="0"/>
                        </a:spcAft>
                        <a:buNone/>
                      </a:pPr>
                      <a:r>
                        <a:rPr lang="en" sz="800"/>
                        <a:t>bad</a:t>
                      </a:r>
                      <a:endParaRPr sz="800"/>
                    </a:p>
                  </a:txBody>
                  <a:tcPr marT="0" marB="0" marR="91425" marL="91425"/>
                </a:tc>
              </a:tr>
              <a:tr h="133350">
                <a:tc>
                  <a:txBody>
                    <a:bodyPr/>
                    <a:lstStyle/>
                    <a:p>
                      <a:pPr indent="0" lvl="0" marL="0" rtl="0" algn="l">
                        <a:spcBef>
                          <a:spcPts val="0"/>
                        </a:spcBef>
                        <a:spcAft>
                          <a:spcPts val="0"/>
                        </a:spcAft>
                        <a:buNone/>
                      </a:pPr>
                      <a:r>
                        <a:rPr lang="en" sz="800"/>
                        <a:t>but</a:t>
                      </a:r>
                      <a:endParaRPr sz="800"/>
                    </a:p>
                  </a:txBody>
                  <a:tcPr marT="0" marB="0" marR="91425" marL="91425"/>
                </a:tc>
              </a:tr>
              <a:tr h="133350">
                <a:tc>
                  <a:txBody>
                    <a:bodyPr/>
                    <a:lstStyle/>
                    <a:p>
                      <a:pPr indent="0" lvl="0" marL="0" rtl="0" algn="l">
                        <a:spcBef>
                          <a:spcPts val="0"/>
                        </a:spcBef>
                        <a:spcAft>
                          <a:spcPts val="0"/>
                        </a:spcAft>
                        <a:buNone/>
                      </a:pPr>
                      <a:r>
                        <a:rPr lang="en" sz="800"/>
                        <a:t>the</a:t>
                      </a:r>
                      <a:endParaRPr sz="800"/>
                    </a:p>
                  </a:txBody>
                  <a:tcPr marT="0" marB="0" marR="91425" marL="91425"/>
                </a:tc>
              </a:tr>
              <a:tr h="133350">
                <a:tc>
                  <a:txBody>
                    <a:bodyPr/>
                    <a:lstStyle/>
                    <a:p>
                      <a:pPr indent="0" lvl="0" marL="0" rtl="0" algn="l">
                        <a:spcBef>
                          <a:spcPts val="0"/>
                        </a:spcBef>
                        <a:spcAft>
                          <a:spcPts val="0"/>
                        </a:spcAft>
                        <a:buNone/>
                      </a:pPr>
                      <a:r>
                        <a:rPr lang="en" sz="800"/>
                        <a:t>service</a:t>
                      </a:r>
                      <a:endParaRPr sz="800"/>
                    </a:p>
                  </a:txBody>
                  <a:tcPr marT="0" marB="0" marR="91425" marL="91425"/>
                </a:tc>
              </a:tr>
              <a:tr h="133350">
                <a:tc>
                  <a:txBody>
                    <a:bodyPr/>
                    <a:lstStyle/>
                    <a:p>
                      <a:pPr indent="0" lvl="0" marL="0" rtl="0" algn="l">
                        <a:spcBef>
                          <a:spcPts val="0"/>
                        </a:spcBef>
                        <a:spcAft>
                          <a:spcPts val="0"/>
                        </a:spcAft>
                        <a:buNone/>
                      </a:pPr>
                      <a:r>
                        <a:rPr lang="en" sz="800"/>
                        <a:t>was</a:t>
                      </a:r>
                      <a:endParaRPr sz="800"/>
                    </a:p>
                  </a:txBody>
                  <a:tcPr marT="0" marB="0" marR="91425" marL="91425"/>
                </a:tc>
              </a:tr>
              <a:tr h="133350">
                <a:tc>
                  <a:txBody>
                    <a:bodyPr/>
                    <a:lstStyle/>
                    <a:p>
                      <a:pPr indent="0" lvl="0" marL="0" rtl="0" algn="l">
                        <a:spcBef>
                          <a:spcPts val="0"/>
                        </a:spcBef>
                        <a:spcAft>
                          <a:spcPts val="0"/>
                        </a:spcAft>
                        <a:buNone/>
                      </a:pPr>
                      <a:r>
                        <a:rPr lang="en" sz="800"/>
                        <a:t>bad</a:t>
                      </a:r>
                      <a:endParaRPr sz="800"/>
                    </a:p>
                  </a:txBody>
                  <a:tcPr marT="0" marB="0" marR="91425" marL="91425"/>
                </a:tc>
              </a:tr>
              <a:tr h="133350">
                <a:tc>
                  <a:txBody>
                    <a:bodyPr/>
                    <a:lstStyle/>
                    <a:p>
                      <a:pPr indent="0" lvl="0" marL="0" rtl="0" algn="l">
                        <a:spcBef>
                          <a:spcPts val="0"/>
                        </a:spcBef>
                        <a:spcAft>
                          <a:spcPts val="0"/>
                        </a:spcAft>
                        <a:buNone/>
                      </a:pPr>
                      <a:r>
                        <a:rPr lang="en" sz="800"/>
                        <a:t>pad</a:t>
                      </a:r>
                      <a:endParaRPr sz="800"/>
                    </a:p>
                  </a:txBody>
                  <a:tcPr marT="0" marB="0" marR="91425" marL="91425"/>
                </a:tc>
              </a:tr>
              <a:tr h="133350">
                <a:tc>
                  <a:txBody>
                    <a:bodyPr/>
                    <a:lstStyle/>
                    <a:p>
                      <a:pPr indent="0" lvl="0" marL="0" rtl="0" algn="l">
                        <a:spcBef>
                          <a:spcPts val="0"/>
                        </a:spcBef>
                        <a:spcAft>
                          <a:spcPts val="0"/>
                        </a:spcAft>
                        <a:buNone/>
                      </a:pPr>
                      <a:r>
                        <a:rPr lang="en" sz="800"/>
                        <a:t>pad</a:t>
                      </a:r>
                      <a:endParaRPr sz="800"/>
                    </a:p>
                  </a:txBody>
                  <a:tcPr marT="0" marB="0" marR="91425" marL="91425"/>
                </a:tc>
              </a:tr>
              <a:tr h="133350">
                <a:tc>
                  <a:txBody>
                    <a:bodyPr/>
                    <a:lstStyle/>
                    <a:p>
                      <a:pPr indent="0" lvl="0" marL="0" rtl="0" algn="l">
                        <a:spcBef>
                          <a:spcPts val="0"/>
                        </a:spcBef>
                        <a:spcAft>
                          <a:spcPts val="0"/>
                        </a:spcAft>
                        <a:buNone/>
                      </a:pPr>
                      <a:r>
                        <a:rPr lang="en" sz="800"/>
                        <a:t>pad</a:t>
                      </a:r>
                      <a:endParaRPr sz="800"/>
                    </a:p>
                  </a:txBody>
                  <a:tcPr marT="0" marB="0" marR="91425" marL="91425"/>
                </a:tc>
              </a:tr>
            </a:tbl>
          </a:graphicData>
        </a:graphic>
      </p:graphicFrame>
      <p:sp>
        <p:nvSpPr>
          <p:cNvPr id="157" name="Google Shape;157;p24"/>
          <p:cNvSpPr txBox="1"/>
          <p:nvPr/>
        </p:nvSpPr>
        <p:spPr>
          <a:xfrm>
            <a:off x="5324175" y="1149925"/>
            <a:ext cx="3706800" cy="1985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2"/>
                </a:solidFill>
              </a:rPr>
              <a:t>Each row is attention values for the row token. We want to ignore the contribution of the pad tokens in the softmax. We do this by adding a large negative number for the padding tokens. This puts negative probability on those tokens after softmax</a:t>
            </a:r>
            <a:endParaRPr sz="1300">
              <a:solidFill>
                <a:schemeClr val="dk2"/>
              </a:solidFill>
            </a:endParaRPr>
          </a:p>
          <a:p>
            <a:pPr indent="0" lvl="0" marL="0" rtl="0" algn="l">
              <a:spcBef>
                <a:spcPts val="0"/>
              </a:spcBef>
              <a:spcAft>
                <a:spcPts val="0"/>
              </a:spcAft>
              <a:buNone/>
            </a:pPr>
            <a:r>
              <a:t/>
            </a:r>
            <a:endParaRPr sz="1300">
              <a:solidFill>
                <a:schemeClr val="dk2"/>
              </a:solidFill>
            </a:endParaRPr>
          </a:p>
          <a:p>
            <a:pPr indent="0" lvl="0" marL="0" rtl="0" algn="l">
              <a:spcBef>
                <a:spcPts val="0"/>
              </a:spcBef>
              <a:spcAft>
                <a:spcPts val="0"/>
              </a:spcAft>
              <a:buNone/>
            </a:pPr>
            <a:r>
              <a:rPr lang="en" sz="1300">
                <a:solidFill>
                  <a:schemeClr val="dk2"/>
                </a:solidFill>
              </a:rPr>
              <a:t>But why not ignore the padding tokens rows too? </a:t>
            </a:r>
            <a:endParaRPr sz="13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Attention masking</a:t>
            </a:r>
            <a:endParaRPr/>
          </a:p>
        </p:txBody>
      </p:sp>
      <p:sp>
        <p:nvSpPr>
          <p:cNvPr id="163" name="Google Shape;163;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1200"/>
              </a:spcBef>
              <a:spcAft>
                <a:spcPts val="0"/>
              </a:spcAft>
              <a:buNone/>
            </a:pPr>
            <a:r>
              <a:rPr lang="en" sz="1500"/>
              <a:t>Why don’t we remove rows for pad tokens? That’s just wasted computation! </a:t>
            </a:r>
            <a:endParaRPr sz="1500"/>
          </a:p>
          <a:p>
            <a:pPr indent="0" lvl="0" marL="0" rtl="0" algn="l">
              <a:spcBef>
                <a:spcPts val="1200"/>
              </a:spcBef>
              <a:spcAft>
                <a:spcPts val="0"/>
              </a:spcAft>
              <a:buClr>
                <a:schemeClr val="dk1"/>
              </a:buClr>
              <a:buSzPct val="73333"/>
              <a:buFont typeface="Arial"/>
              <a:buNone/>
            </a:pPr>
            <a:r>
              <a:rPr lang="en" sz="1500"/>
              <a:t>Rows correspond to </a:t>
            </a:r>
            <a:r>
              <a:rPr b="1" lang="en" sz="1500"/>
              <a:t>queries</a:t>
            </a:r>
            <a:r>
              <a:rPr lang="en" sz="1500"/>
              <a:t>: “what does token i attend to?”</a:t>
            </a:r>
            <a:endParaRPr sz="1500"/>
          </a:p>
          <a:p>
            <a:pPr indent="0" lvl="0" marL="0" rtl="0" algn="l">
              <a:spcBef>
                <a:spcPts val="1200"/>
              </a:spcBef>
              <a:spcAft>
                <a:spcPts val="0"/>
              </a:spcAft>
              <a:buNone/>
            </a:pPr>
            <a:r>
              <a:rPr lang="en" sz="1500"/>
              <a:t>Padding tokens don’t matter, but deleting rows would change shapes per example (ragged tensors), which breaks vectorized kernels, simple batching on GPUs..</a:t>
            </a:r>
            <a:endParaRPr sz="1500"/>
          </a:p>
          <a:p>
            <a:pPr indent="0" lvl="0" marL="0" rtl="0" algn="l">
              <a:spcBef>
                <a:spcPts val="1200"/>
              </a:spcBef>
              <a:spcAft>
                <a:spcPts val="0"/>
              </a:spcAft>
              <a:buNone/>
            </a:pPr>
            <a:r>
              <a:rPr lang="en" sz="1500"/>
              <a:t>After attention, the FFN is applied independently to each token position:</a:t>
            </a:r>
            <a:endParaRPr sz="1500"/>
          </a:p>
          <a:p>
            <a:pPr indent="0" lvl="0" marL="0" rtl="0" algn="l">
              <a:spcBef>
                <a:spcPts val="1200"/>
              </a:spcBef>
              <a:spcAft>
                <a:spcPts val="0"/>
              </a:spcAft>
              <a:buNone/>
            </a:pPr>
            <a:r>
              <a:rPr lang="en" sz="1500"/>
              <a:t>	FFN(X)[i] = MLP(X[i])</a:t>
            </a:r>
            <a:endParaRPr sz="1500"/>
          </a:p>
          <a:p>
            <a:pPr indent="0" lvl="0" marL="0" rtl="0" algn="l">
              <a:spcBef>
                <a:spcPts val="1200"/>
              </a:spcBef>
              <a:spcAft>
                <a:spcPts val="0"/>
              </a:spcAft>
              <a:buNone/>
            </a:pPr>
            <a:r>
              <a:rPr lang="en" sz="1500"/>
              <a:t>So FFN (and residual connections) does not mix tokens, only features. That means if padding token representations become garbage, they won’t contaminate real tokens through the FFN.</a:t>
            </a:r>
            <a:endParaRPr sz="1500"/>
          </a:p>
          <a:p>
            <a:pPr indent="0" lvl="0" marL="0" rtl="0" algn="l">
              <a:spcBef>
                <a:spcPts val="1200"/>
              </a:spcBef>
              <a:spcAft>
                <a:spcPts val="0"/>
              </a:spcAft>
              <a:buNone/>
            </a:pPr>
            <a:r>
              <a:rPr lang="en" sz="1500"/>
              <a:t>The only place tokens mix is attention, and there we use the “add a large negative number” trick to remove pad tokens</a:t>
            </a:r>
            <a:endParaRPr sz="1500"/>
          </a:p>
          <a:p>
            <a:pPr indent="0" lvl="0" marL="0" rtl="0" algn="l">
              <a:spcBef>
                <a:spcPts val="1200"/>
              </a:spcBef>
              <a:spcAft>
                <a:spcPts val="0"/>
              </a:spcAft>
              <a:buNone/>
            </a:pPr>
            <a:r>
              <a:t/>
            </a:r>
            <a:endParaRPr sz="1500"/>
          </a:p>
          <a:p>
            <a:pPr indent="0" lvl="0" marL="0" rtl="0" algn="l">
              <a:spcBef>
                <a:spcPts val="1200"/>
              </a:spcBef>
              <a:spcAft>
                <a:spcPts val="0"/>
              </a:spcAft>
              <a:buClr>
                <a:schemeClr val="dk1"/>
              </a:buClr>
              <a:buSzPct val="73333"/>
              <a:buFont typeface="Arial"/>
              <a:buNone/>
            </a:pPr>
            <a:r>
              <a:t/>
            </a:r>
            <a:endParaRPr sz="1500"/>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Broadcasting</a:t>
            </a:r>
            <a:endParaRPr/>
          </a:p>
        </p:txBody>
      </p:sp>
      <p:pic>
        <p:nvPicPr>
          <p:cNvPr id="169" name="Google Shape;169;p26"/>
          <p:cNvPicPr preferRelativeResize="0"/>
          <p:nvPr/>
        </p:nvPicPr>
        <p:blipFill>
          <a:blip r:embed="rId3">
            <a:alphaModFix/>
          </a:blip>
          <a:stretch>
            <a:fillRect/>
          </a:stretch>
        </p:blipFill>
        <p:spPr>
          <a:xfrm>
            <a:off x="403125" y="1171700"/>
            <a:ext cx="5648624" cy="2092375"/>
          </a:xfrm>
          <a:prstGeom prst="rect">
            <a:avLst/>
          </a:prstGeom>
          <a:noFill/>
          <a:ln>
            <a:noFill/>
          </a:ln>
        </p:spPr>
      </p:pic>
      <p:sp>
        <p:nvSpPr>
          <p:cNvPr id="170" name="Google Shape;170;p26"/>
          <p:cNvSpPr txBox="1"/>
          <p:nvPr/>
        </p:nvSpPr>
        <p:spPr>
          <a:xfrm>
            <a:off x="403125" y="3446225"/>
            <a:ext cx="71973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Scores:</a:t>
            </a:r>
            <a:r>
              <a:rPr lang="en" sz="1800">
                <a:solidFill>
                  <a:schemeClr val="dk2"/>
                </a:solidFill>
              </a:rPr>
              <a:t> B, L, L</a:t>
            </a:r>
            <a:endParaRPr sz="1800">
              <a:solidFill>
                <a:schemeClr val="dk2"/>
              </a:solidFill>
            </a:endParaRPr>
          </a:p>
          <a:p>
            <a:pPr indent="0" lvl="0" marL="0" rtl="0" algn="l">
              <a:spcBef>
                <a:spcPts val="0"/>
              </a:spcBef>
              <a:spcAft>
                <a:spcPts val="0"/>
              </a:spcAft>
              <a:buNone/>
            </a:pPr>
            <a:r>
              <a:rPr b="1" lang="en" sz="1800">
                <a:solidFill>
                  <a:schemeClr val="dk2"/>
                </a:solidFill>
              </a:rPr>
              <a:t>Attention mask:</a:t>
            </a:r>
            <a:r>
              <a:rPr lang="en" sz="1800">
                <a:solidFill>
                  <a:schemeClr val="dk2"/>
                </a:solidFill>
              </a:rPr>
              <a:t> B, L</a:t>
            </a:r>
            <a:endParaRPr sz="1800">
              <a:solidFill>
                <a:schemeClr val="dk2"/>
              </a:solidFill>
            </a:endParaRPr>
          </a:p>
          <a:p>
            <a:pPr indent="0" lvl="0" marL="0" rtl="0" algn="l">
              <a:spcBef>
                <a:spcPts val="0"/>
              </a:spcBef>
              <a:spcAft>
                <a:spcPts val="0"/>
              </a:spcAft>
              <a:buNone/>
            </a:pPr>
            <a:r>
              <a:rPr lang="en" sz="1800">
                <a:solidFill>
                  <a:schemeClr val="dk2"/>
                </a:solidFill>
              </a:rPr>
              <a:t>To </a:t>
            </a:r>
            <a:r>
              <a:rPr lang="en" sz="1800">
                <a:solidFill>
                  <a:schemeClr val="dk2"/>
                </a:solidFill>
              </a:rPr>
              <a:t>apply attention mask to all rows of scores, we add a singleton dimension, and then broadcast across all dimensions</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Self-Attention + Query Attention classifier: Results</a:t>
            </a:r>
            <a:endParaRPr/>
          </a:p>
        </p:txBody>
      </p:sp>
      <p:sp>
        <p:nvSpPr>
          <p:cNvPr id="176" name="Google Shape;176;p27"/>
          <p:cNvSpPr txBox="1"/>
          <p:nvPr/>
        </p:nvSpPr>
        <p:spPr>
          <a:xfrm>
            <a:off x="311700" y="1671400"/>
            <a:ext cx="6371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epoch 08 | mean: loss=0.3511 acc=0.768 | attn+ctx: loss=0.0000 acc=1.000</a:t>
            </a:r>
            <a:endParaRPr sz="1100"/>
          </a:p>
          <a:p>
            <a:pPr indent="0" lvl="0" marL="0" rtl="0" algn="l">
              <a:spcBef>
                <a:spcPts val="0"/>
              </a:spcBef>
              <a:spcAft>
                <a:spcPts val="0"/>
              </a:spcAft>
              <a:buNone/>
            </a:pPr>
            <a:r>
              <a:rPr lang="en" sz="1100"/>
              <a:t>epoch 09 | mean: loss=0.3507 acc=0.744 | attn+ctx: loss=0.0000 acc=1.000</a:t>
            </a:r>
            <a:endParaRPr sz="1100"/>
          </a:p>
          <a:p>
            <a:pPr indent="0" lvl="0" marL="0" rtl="0" algn="l">
              <a:spcBef>
                <a:spcPts val="0"/>
              </a:spcBef>
              <a:spcAft>
                <a:spcPts val="0"/>
              </a:spcAft>
              <a:buNone/>
            </a:pPr>
            <a:r>
              <a:rPr lang="en" sz="1100"/>
              <a:t>epoch 10 | mean: loss=0.3503 acc=0.744 | attn+ctx: loss=0.0000 acc=1.000</a:t>
            </a:r>
            <a:endParaRPr sz="1100"/>
          </a:p>
        </p:txBody>
      </p:sp>
      <p:sp>
        <p:nvSpPr>
          <p:cNvPr id="177" name="Google Shape;177;p27"/>
          <p:cNvSpPr txBox="1"/>
          <p:nvPr/>
        </p:nvSpPr>
        <p:spPr>
          <a:xfrm>
            <a:off x="406300" y="2733350"/>
            <a:ext cx="6561000" cy="243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t>Inference Example:</a:t>
            </a:r>
            <a:endParaRPr sz="1300"/>
          </a:p>
          <a:p>
            <a:pPr indent="0" lvl="0" marL="0" rtl="0" algn="l">
              <a:spcBef>
                <a:spcPts val="0"/>
              </a:spcBef>
              <a:spcAft>
                <a:spcPts val="0"/>
              </a:spcAft>
              <a:buClr>
                <a:schemeClr val="dk1"/>
              </a:buClr>
              <a:buSzPts val="1100"/>
              <a:buFont typeface="Arial"/>
              <a:buNone/>
            </a:pPr>
            <a:r>
              <a:t/>
            </a:r>
            <a:endParaRPr sz="1300"/>
          </a:p>
          <a:p>
            <a:pPr indent="0" lvl="0" marL="0" rtl="0" algn="l">
              <a:spcBef>
                <a:spcPts val="0"/>
              </a:spcBef>
              <a:spcAft>
                <a:spcPts val="0"/>
              </a:spcAft>
              <a:buClr>
                <a:schemeClr val="dk1"/>
              </a:buClr>
              <a:buSzPts val="1100"/>
              <a:buFont typeface="Arial"/>
              <a:buNone/>
            </a:pPr>
            <a:r>
              <a:rPr lang="en" sz="1000"/>
              <a:t> </a:t>
            </a:r>
            <a:r>
              <a:rPr b="1" lang="en" sz="1000"/>
              <a:t>query_aspect:</a:t>
            </a:r>
            <a:r>
              <a:rPr lang="en" sz="1000"/>
              <a:t> food label: 0</a:t>
            </a:r>
            <a:endParaRPr sz="1000"/>
          </a:p>
          <a:p>
            <a:pPr indent="0" lvl="0" marL="0" rtl="0" algn="l">
              <a:spcBef>
                <a:spcPts val="0"/>
              </a:spcBef>
              <a:spcAft>
                <a:spcPts val="0"/>
              </a:spcAft>
              <a:buNone/>
            </a:pPr>
            <a:r>
              <a:rPr lang="en" sz="1000"/>
              <a:t> </a:t>
            </a:r>
            <a:r>
              <a:rPr b="1" lang="en" sz="1000"/>
              <a:t>tokens:</a:t>
            </a:r>
            <a:r>
              <a:rPr lang="en" sz="1000"/>
              <a:t> </a:t>
            </a:r>
            <a:r>
              <a:rPr i="1" lang="en" sz="1000"/>
              <a:t>the food was bad the service was good</a:t>
            </a:r>
            <a:endParaRPr i="1" sz="1000"/>
          </a:p>
          <a:p>
            <a:pPr indent="0" lvl="0" marL="0" rtl="0" algn="l">
              <a:spcBef>
                <a:spcPts val="0"/>
              </a:spcBef>
              <a:spcAft>
                <a:spcPts val="0"/>
              </a:spcAft>
              <a:buClr>
                <a:schemeClr val="dk1"/>
              </a:buClr>
              <a:buSzPts val="1100"/>
              <a:buFont typeface="Arial"/>
              <a:buNone/>
            </a:pPr>
            <a:r>
              <a:t/>
            </a:r>
            <a:endParaRPr i="1" sz="1000"/>
          </a:p>
          <a:p>
            <a:pPr indent="0" lvl="0" marL="0" rtl="0" algn="l">
              <a:spcBef>
                <a:spcPts val="0"/>
              </a:spcBef>
              <a:spcAft>
                <a:spcPts val="0"/>
              </a:spcAft>
              <a:buClr>
                <a:schemeClr val="dk1"/>
              </a:buClr>
              <a:buSzPts val="1100"/>
              <a:buFont typeface="Arial"/>
              <a:buNone/>
            </a:pPr>
            <a:r>
              <a:rPr lang="en" sz="1000"/>
              <a:t> encoder self-attn ('good' token attends to...):</a:t>
            </a:r>
            <a:endParaRPr sz="1000"/>
          </a:p>
          <a:p>
            <a:pPr indent="0" lvl="0" marL="0" rtl="0" algn="l">
              <a:spcBef>
                <a:spcPts val="0"/>
              </a:spcBef>
              <a:spcAft>
                <a:spcPts val="0"/>
              </a:spcAft>
              <a:buNone/>
            </a:pPr>
            <a:r>
              <a:rPr lang="en" sz="1000"/>
              <a:t>food:0.00  the:0.02  food:0.01  was:0.16  bad:0.07  the:0.02  service:0.02  was:0.26  good:0.44</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rPr lang="en" sz="1000"/>
              <a:t> encoder self-attn ('bad' token attends to...):</a:t>
            </a:r>
            <a:endParaRPr sz="1000"/>
          </a:p>
          <a:p>
            <a:pPr indent="0" lvl="0" marL="0" rtl="0" algn="l">
              <a:spcBef>
                <a:spcPts val="0"/>
              </a:spcBef>
              <a:spcAft>
                <a:spcPts val="0"/>
              </a:spcAft>
              <a:buNone/>
            </a:pPr>
            <a:r>
              <a:rPr lang="en" sz="1000"/>
              <a:t>food:0.91  the:0.01  food:0.06  was:0.00  bad:0.00  the:0.01  service:0.00  was:0.00  good:0.00</a:t>
            </a:r>
            <a:endParaRPr sz="1000"/>
          </a:p>
          <a:p>
            <a:pPr indent="0" lvl="0" marL="0" rtl="0" algn="l">
              <a:spcBef>
                <a:spcPts val="0"/>
              </a:spcBef>
              <a:spcAft>
                <a:spcPts val="0"/>
              </a:spcAft>
              <a:buClr>
                <a:schemeClr val="dk1"/>
              </a:buClr>
              <a:buSzPts val="1100"/>
              <a:buFont typeface="Arial"/>
              <a:buNone/>
            </a:pPr>
            <a:r>
              <a:t/>
            </a:r>
            <a:endParaRPr sz="1000"/>
          </a:p>
          <a:p>
            <a:pPr indent="0" lvl="0" marL="0" rtl="0" algn="l">
              <a:spcBef>
                <a:spcPts val="0"/>
              </a:spcBef>
              <a:spcAft>
                <a:spcPts val="0"/>
              </a:spcAft>
              <a:buClr>
                <a:schemeClr val="dk1"/>
              </a:buClr>
              <a:buSzPts val="1100"/>
              <a:buFont typeface="Arial"/>
              <a:buNone/>
            </a:pPr>
            <a:r>
              <a:rPr lang="en" sz="1000"/>
              <a:t> pooling attn (where we read out from):</a:t>
            </a:r>
            <a:endParaRPr sz="1000"/>
          </a:p>
          <a:p>
            <a:pPr indent="0" lvl="0" marL="0" rtl="0" algn="l">
              <a:spcBef>
                <a:spcPts val="0"/>
              </a:spcBef>
              <a:spcAft>
                <a:spcPts val="0"/>
              </a:spcAft>
              <a:buClr>
                <a:schemeClr val="dk1"/>
              </a:buClr>
              <a:buSzPts val="1100"/>
              <a:buFont typeface="Arial"/>
              <a:buNone/>
            </a:pPr>
            <a:r>
              <a:rPr lang="en" sz="1000"/>
              <a:t>food:0.00  the:0.00  food:0.00  was:0.00  bad:0.99  the:0.00  service:0.00  was:0.00  good:0.00</a:t>
            </a:r>
            <a:endParaRPr sz="1000"/>
          </a:p>
          <a:p>
            <a:pPr indent="0" lvl="0" marL="0" rtl="0" algn="l">
              <a:spcBef>
                <a:spcPts val="0"/>
              </a:spcBef>
              <a:spcAft>
                <a:spcPts val="0"/>
              </a:spcAft>
              <a:buNone/>
            </a:pPr>
            <a:r>
              <a:t/>
            </a:r>
            <a:endParaRPr sz="1000"/>
          </a:p>
        </p:txBody>
      </p:sp>
      <p:sp>
        <p:nvSpPr>
          <p:cNvPr id="178" name="Google Shape;178;p27"/>
          <p:cNvSpPr txBox="1"/>
          <p:nvPr/>
        </p:nvSpPr>
        <p:spPr>
          <a:xfrm>
            <a:off x="406300" y="1237400"/>
            <a:ext cx="460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Classification accuracy on test data for a few epochs</a:t>
            </a:r>
            <a:endParaRPr>
              <a:solidFill>
                <a:schemeClr val="dk2"/>
              </a:solidFill>
            </a:endParaRPr>
          </a:p>
        </p:txBody>
      </p:sp>
      <p:sp>
        <p:nvSpPr>
          <p:cNvPr id="179" name="Google Shape;179;p27"/>
          <p:cNvSpPr txBox="1"/>
          <p:nvPr/>
        </p:nvSpPr>
        <p:spPr>
          <a:xfrm>
            <a:off x="6205600" y="46494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000">
                <a:solidFill>
                  <a:srgbClr val="BCBEC4"/>
                </a:solidFill>
              </a:rPr>
              <a:t>attention_binding_demo_v2.py</a:t>
            </a:r>
            <a:endParaRPr sz="1000">
              <a:solidFill>
                <a:srgbClr val="BCBEC4"/>
              </a:solidFill>
            </a:endParaRPr>
          </a:p>
          <a:p>
            <a:pPr indent="0" lvl="0" marL="0" rtl="0" algn="l">
              <a:spcBef>
                <a:spcPts val="0"/>
              </a:spcBef>
              <a:spcAft>
                <a:spcPts val="0"/>
              </a:spcAft>
              <a:buNone/>
            </a:pPr>
            <a:r>
              <a:t/>
            </a:r>
            <a:endParaRPr sz="1000">
              <a:solidFill>
                <a:srgbClr val="BCBEC4"/>
              </a:solidFill>
            </a:endParaRPr>
          </a:p>
        </p:txBody>
      </p:sp>
      <p:sp>
        <p:nvSpPr>
          <p:cNvPr id="180" name="Google Shape;180;p27"/>
          <p:cNvSpPr txBox="1"/>
          <p:nvPr/>
        </p:nvSpPr>
        <p:spPr>
          <a:xfrm>
            <a:off x="3993850" y="2664125"/>
            <a:ext cx="4608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Learnt Position Embeddings</a:t>
            </a:r>
            <a:endParaRPr/>
          </a:p>
        </p:txBody>
      </p:sp>
      <p:pic>
        <p:nvPicPr>
          <p:cNvPr id="186" name="Google Shape;186;p28"/>
          <p:cNvPicPr preferRelativeResize="0"/>
          <p:nvPr/>
        </p:nvPicPr>
        <p:blipFill>
          <a:blip r:embed="rId3">
            <a:alphaModFix/>
          </a:blip>
          <a:stretch>
            <a:fillRect/>
          </a:stretch>
        </p:blipFill>
        <p:spPr>
          <a:xfrm>
            <a:off x="3442100" y="1108100"/>
            <a:ext cx="2837226" cy="2127925"/>
          </a:xfrm>
          <a:prstGeom prst="rect">
            <a:avLst/>
          </a:prstGeom>
          <a:noFill/>
          <a:ln>
            <a:noFill/>
          </a:ln>
        </p:spPr>
      </p:pic>
      <p:pic>
        <p:nvPicPr>
          <p:cNvPr id="187" name="Google Shape;187;p28"/>
          <p:cNvPicPr preferRelativeResize="0"/>
          <p:nvPr/>
        </p:nvPicPr>
        <p:blipFill>
          <a:blip r:embed="rId4">
            <a:alphaModFix/>
          </a:blip>
          <a:stretch>
            <a:fillRect/>
          </a:stretch>
        </p:blipFill>
        <p:spPr>
          <a:xfrm>
            <a:off x="392450" y="1108100"/>
            <a:ext cx="3019626" cy="2264700"/>
          </a:xfrm>
          <a:prstGeom prst="rect">
            <a:avLst/>
          </a:prstGeom>
          <a:noFill/>
          <a:ln>
            <a:noFill/>
          </a:ln>
        </p:spPr>
      </p:pic>
      <p:pic>
        <p:nvPicPr>
          <p:cNvPr id="188" name="Google Shape;188;p28"/>
          <p:cNvPicPr preferRelativeResize="0"/>
          <p:nvPr/>
        </p:nvPicPr>
        <p:blipFill>
          <a:blip r:embed="rId5">
            <a:alphaModFix/>
          </a:blip>
          <a:stretch>
            <a:fillRect/>
          </a:stretch>
        </p:blipFill>
        <p:spPr>
          <a:xfrm>
            <a:off x="6153150" y="1054700"/>
            <a:ext cx="2837226" cy="2127912"/>
          </a:xfrm>
          <a:prstGeom prst="rect">
            <a:avLst/>
          </a:prstGeom>
          <a:noFill/>
          <a:ln>
            <a:noFill/>
          </a:ln>
        </p:spPr>
      </p:pic>
      <p:sp>
        <p:nvSpPr>
          <p:cNvPr id="189" name="Google Shape;189;p28"/>
          <p:cNvSpPr txBox="1"/>
          <p:nvPr/>
        </p:nvSpPr>
        <p:spPr>
          <a:xfrm>
            <a:off x="798775" y="3592150"/>
            <a:ext cx="74058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No visible change in the position embedding dot product heatmap, but the embeddings did change, with the movement higher for non-pad tokens.. </a:t>
            </a:r>
            <a:endParaRPr sz="1600">
              <a:solidFill>
                <a:schemeClr val="dk2"/>
              </a:solidFill>
            </a:endParaRPr>
          </a:p>
          <a:p>
            <a:pPr indent="0" lvl="0" marL="0" rtl="0" algn="l">
              <a:spcBef>
                <a:spcPts val="0"/>
              </a:spcBef>
              <a:spcAft>
                <a:spcPts val="0"/>
              </a:spcAft>
              <a:buNone/>
            </a:pPr>
            <a:r>
              <a:rPr lang="en" sz="1600">
                <a:solidFill>
                  <a:schemeClr val="dk2"/>
                </a:solidFill>
              </a:rPr>
              <a:t>The network learns just enough to do its job! No learning signal once accuracy reaches 100%..</a:t>
            </a:r>
            <a:endParaRPr sz="16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Multi-headed Attention</a:t>
            </a:r>
            <a:endParaRPr/>
          </a:p>
        </p:txBody>
      </p:sp>
      <p:sp>
        <p:nvSpPr>
          <p:cNvPr id="195" name="Google Shape;195;p29"/>
          <p:cNvSpPr txBox="1"/>
          <p:nvPr/>
        </p:nvSpPr>
        <p:spPr>
          <a:xfrm>
            <a:off x="403975" y="1017725"/>
            <a:ext cx="7980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A0A0A"/>
                </a:solidFill>
                <a:highlight>
                  <a:srgbClr val="FFFFFF"/>
                </a:highlight>
                <a:latin typeface="Roboto"/>
                <a:ea typeface="Roboto"/>
                <a:cs typeface="Roboto"/>
                <a:sym typeface="Roboto"/>
              </a:rPr>
              <a:t>Instead of one single attention mechanism, Multi-Headed Attention (MHA) uses multiple parallel "heads" to independently compute attention scores, allowing the model to capture diverse, nuanced, and parallel relationships. </a:t>
            </a:r>
            <a:endParaRPr sz="1200">
              <a:solidFill>
                <a:srgbClr val="0A0A0A"/>
              </a:solidFill>
              <a:highlight>
                <a:srgbClr val="FFFFFF"/>
              </a:highlight>
              <a:latin typeface="Roboto"/>
              <a:ea typeface="Roboto"/>
              <a:cs typeface="Roboto"/>
              <a:sym typeface="Roboto"/>
            </a:endParaRPr>
          </a:p>
        </p:txBody>
      </p:sp>
      <p:pic>
        <p:nvPicPr>
          <p:cNvPr id="196" name="Google Shape;196;p29"/>
          <p:cNvPicPr preferRelativeResize="0"/>
          <p:nvPr/>
        </p:nvPicPr>
        <p:blipFill>
          <a:blip r:embed="rId3">
            <a:alphaModFix/>
          </a:blip>
          <a:stretch>
            <a:fillRect/>
          </a:stretch>
        </p:blipFill>
        <p:spPr>
          <a:xfrm>
            <a:off x="1602224" y="1571825"/>
            <a:ext cx="5497174" cy="35921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Multi-headed Attention</a:t>
            </a:r>
            <a:endParaRPr/>
          </a:p>
          <a:p>
            <a:pPr indent="0" lvl="0" marL="0" rtl="0" algn="l">
              <a:spcBef>
                <a:spcPts val="0"/>
              </a:spcBef>
              <a:spcAft>
                <a:spcPts val="0"/>
              </a:spcAft>
              <a:buNone/>
            </a:pPr>
            <a:r>
              <a:t/>
            </a:r>
            <a:endParaRPr/>
          </a:p>
        </p:txBody>
      </p:sp>
      <p:pic>
        <p:nvPicPr>
          <p:cNvPr descr="{&quot;font&quot;:{&quot;size&quot;:9.5,&quot;color&quot;:&quot;#000000&quot;,&quot;family&quot;:&quot;Arial&quot;},&quot;type&quot;:&quot;gather*&quot;,&quot;code&quot;:&quot;\\begin{gather*}\n{\\text{Input}\\;X:\\,T\\times D}\\\\\n{\\text{For}\\;\\text{head}\\;i\\in\\left\\{1,\\,2\\,\\dots,\\,h\\right\\}:}\\\\\n{W_{K}^{i},W_{Q}^{i}:\\,D\\times D_{k}}\\\\\n{W_{V}^{i}:D\\times D_{v}}\\\\\n{\\text{Compute}\\;\\text{each}\\;\\text{head}}\\\\\n{Q_{i}=XW_{Q}^{i}\\,\\to T\\times D_{k}}\\\\\n{K_{i}=XW_{K}^{i}\\,\\to T\\times D_{k}}\\\\\n{V_{i}=XW_{V}^{i}\\,\\to T\\times D_{v}}\\\\\n{A_{i}=Soft\\max\\left(\\frac{Q_{i}K_{i}^{T}}{{\\sqrt[]{D_{k}}}}\\right)\\to T\\times T}\\\\\n{H_{i}=A_{i}V_{i}\\to T\\times D_{v}}\\\\\n{\\text{Concatenate}\\;H_{i}\\,\\text{along}\\;\\text{the}\\;\\text{feature}\\;\\text{dimensions}}\\\\\n{H=concat\\left(H_{1},\\,H_{2}\\cdots H_{h}\\right)\\to T\\times hD_{v}}\\\\\n{\\text{Generally}\\;D_{v}\\,\\text{is}\\;\\text{chosen}\\;\\text{such}\\;\\text{that}\\;D_{v}h=D.\\,\\text{So}\\;\\text{the}\\;\\text{number}\\;\\text{of}\\;\\text{parameters}\\;\\text{in}\\;\\text{MHA}\\;\\text{is}\\;\\text{the}\\;\\text{same}\\;\\text{as}\\;\\text{single}\\;\\text{headed}\\;\\text{attention}}\t\n\\end{gather*}&quot;,&quot;aid&quot;:null,&quot;id&quot;:&quot;1&quot;,&quot;backgroundColor&quot;:&quot;#FFFFFF&quot;,&quot;backgroundColorModified&quot;:false,&quot;ts&quot;:1773016656004,&quot;cs&quot;:&quot;/tn/WgT7LMD4N0i3gCYtqQ==&quot;,&quot;size&quot;:{&quot;width&quot;:797.1495312335957,&quot;height&quot;:300.6719262467192}}" id="202" name="Google Shape;202;p30"/>
          <p:cNvPicPr preferRelativeResize="0"/>
          <p:nvPr/>
        </p:nvPicPr>
        <p:blipFill>
          <a:blip r:embed="rId3">
            <a:alphaModFix/>
          </a:blip>
          <a:stretch>
            <a:fillRect/>
          </a:stretch>
        </p:blipFill>
        <p:spPr>
          <a:xfrm>
            <a:off x="521100" y="1389400"/>
            <a:ext cx="8422826" cy="3176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Multi-headed Attention</a:t>
            </a:r>
            <a:endParaRPr/>
          </a:p>
        </p:txBody>
      </p:sp>
      <p:pic>
        <p:nvPicPr>
          <p:cNvPr descr="{&quot;code&quot;:&quot;\\begin{gather*}\n{\\text{Implementations}\\;\\text{use}\\;\\text{a}\\;\\text{packed}\\;\\text{matrix,}\\;\\text{then}\\;\\text{reshape}\\;\\text{and}\\;\\text{split}.\\,\\text{This}\\;\\text{takes}\\;\\text{better}\\;\\text{advantage}\\;\\text{of}\\;\\text{parallel}\\;\\text{hardware}}\\\\\n{\\text{Input}\\;X:\\,T\\times D}\\\\\n{W_{K},W_{Q}:\\,D\\times hD_{k}}\\\\\n{W_{V}:D\\times hD_{v}}\\\\\n{\\text{Compute}\\;Q,\\,K,\\,V\\,\\text{projections}\\;\\text{(a}\\;\\text{single}\\;\\text{multiplication)}}\\\\\n{Q=XW_{Q}\\,\\to T\\times hD_{k}}\\\\\n{K=XW_{K}\\,\\to T\\times hD_{k}}\\\\\n{V=XW_{V}\\,\\to T\\times hD_{v}}\\\\\n{\\text{Reshape,}\\;\\text{transpose}}\\\\\n{T\\times hD_{k}\\to h\\times T\\times D_{k},\\,T\\times hD_{v}\\to h\\times T\\times D_{v}}\\\\\n{\\text{Per}\\;\\text{head}\\;\\text{attention}\\;\\text{scores}\\;\\text{(single}\\;\\text{matmul),}\\;\\text{transpos}\\text{e}\\;\\text{over}\\;\\text{last}\\;\\text{2}\\;\\text{dim}\\;\\text{(T,}\\;\\text{Dk}\\text{)}}\\\\\n{A=Soft\\max\\left(\\frac{QK^{T}}{{\\sqrt[]{D_{k}}}}\\right)\\to h\\times T\\times T}\\\\\n{\\text{Attention}\\;\\text{weighted}\\;\\text{sum}}\\\\\n{H=AV\\to h\\times T\\times D_{v}}\\\\\n{\\text{Transpose}\\;\\text{and}\\;\\text{reshape}}\\\\\n{h\\times T\\times D_{v}\\to T\\times h\\times D_{v}\\to T\\times hD_{v}}\t\n\\end{gather*}&quot;,&quot;aid&quot;:null,&quot;backgroundColor&quot;:&quot;#FFFFFF&quot;,&quot;font&quot;:{&quot;size&quot;:9.5,&quot;family&quot;:&quot;Arial&quot;,&quot;color&quot;:&quot;#000000&quot;},&quot;backgroundColorModified&quot;:false,&quot;type&quot;:&quot;gather*&quot;,&quot;id&quot;:&quot;1&quot;,&quot;ts&quot;:1773059249285,&quot;cs&quot;:&quot;asQllyFpuDyptHnBFqOd6A==&quot;,&quot;size&quot;:{&quot;width&quot;:714,&quot;height&quot;:327}}" id="208" name="Google Shape;208;p31"/>
          <p:cNvPicPr preferRelativeResize="0"/>
          <p:nvPr/>
        </p:nvPicPr>
        <p:blipFill>
          <a:blip r:embed="rId3">
            <a:alphaModFix/>
          </a:blip>
          <a:stretch>
            <a:fillRect/>
          </a:stretch>
        </p:blipFill>
        <p:spPr>
          <a:xfrm>
            <a:off x="1214606" y="1458225"/>
            <a:ext cx="6800850" cy="3114675"/>
          </a:xfrm>
          <a:prstGeom prst="rect">
            <a:avLst/>
          </a:prstGeom>
          <a:noFill/>
          <a:ln>
            <a:noFill/>
          </a:ln>
        </p:spPr>
      </p:pic>
      <p:sp>
        <p:nvSpPr>
          <p:cNvPr id="209" name="Google Shape;209;p31"/>
          <p:cNvSpPr txBox="1"/>
          <p:nvPr/>
        </p:nvSpPr>
        <p:spPr>
          <a:xfrm>
            <a:off x="6145150" y="560450"/>
            <a:ext cx="2158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Ignoring the batch dimension here..</a:t>
            </a:r>
            <a:endParaRPr sz="1800">
              <a:solidFill>
                <a:schemeClr val="dk2"/>
              </a:solidFill>
            </a:endParaRPr>
          </a:p>
        </p:txBody>
      </p:sp>
      <p:sp>
        <p:nvSpPr>
          <p:cNvPr id="210" name="Google Shape;210;p31"/>
          <p:cNvSpPr txBox="1"/>
          <p:nvPr/>
        </p:nvSpPr>
        <p:spPr>
          <a:xfrm>
            <a:off x="6462600" y="2138525"/>
            <a:ext cx="23697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Attention mask: (1,T)</a:t>
            </a:r>
            <a:endParaRPr sz="1800">
              <a:solidFill>
                <a:schemeClr val="dk2"/>
              </a:solidFill>
            </a:endParaRPr>
          </a:p>
          <a:p>
            <a:pPr indent="0" lvl="0" marL="0" rtl="0" algn="l">
              <a:spcBef>
                <a:spcPts val="0"/>
              </a:spcBef>
              <a:spcAft>
                <a:spcPts val="0"/>
              </a:spcAft>
              <a:buNone/>
            </a:pPr>
            <a:r>
              <a:rPr lang="en" sz="1800">
                <a:solidFill>
                  <a:schemeClr val="dk2"/>
                </a:solidFill>
              </a:rPr>
              <a:t>We’ll broadcast over h, T dimensions</a:t>
            </a:r>
            <a:endParaRPr sz="1800">
              <a:solidFill>
                <a:schemeClr val="dk2"/>
              </a:solidFill>
            </a:endParaRPr>
          </a:p>
        </p:txBody>
      </p:sp>
      <p:cxnSp>
        <p:nvCxnSpPr>
          <p:cNvPr id="211" name="Google Shape;211;p31"/>
          <p:cNvCxnSpPr/>
          <p:nvPr/>
        </p:nvCxnSpPr>
        <p:spPr>
          <a:xfrm flipH="1">
            <a:off x="5943700" y="3072575"/>
            <a:ext cx="855300" cy="511500"/>
          </a:xfrm>
          <a:prstGeom prst="straightConnector1">
            <a:avLst/>
          </a:prstGeom>
          <a:noFill/>
          <a:ln cap="flat" cmpd="sng" w="9525">
            <a:solidFill>
              <a:schemeClr val="dk2"/>
            </a:solidFill>
            <a:prstDash val="solid"/>
            <a:round/>
            <a:headEnd len="med" w="med" type="none"/>
            <a:tailEnd len="med" w="med" type="triangle"/>
          </a:ln>
        </p:spPr>
      </p:cxnSp>
      <p:pic>
        <p:nvPicPr>
          <p:cNvPr descr="{&quot;font&quot;:{&quot;family&quot;:&quot;Arial&quot;,&quot;color&quot;:&quot;#000000&quot;,&quot;size&quot;:12},&quot;type&quot;:&quot;gather*&quot;,&quot;id&quot;:&quot;3&quot;,&quot;aid&quot;:null,&quot;code&quot;:&quot;\\begin{gather*}\n{\\text{Generally}\\;\\text{we}\\;\\text{pick}\\;h\\;\\text{such}\\;\\text{that}}\\\\\n{hD_{k}=hD_{v}=D}\t\n\\end{gather*}&quot;,&quot;backgroundColor&quot;:&quot;#FFFFFF&quot;,&quot;backgroundColorModified&quot;:false,&quot;ts&quot;:1773501243004,&quot;cs&quot;:&quot;wW6F2VqkA0BNX1VYlW4q0w==&quot;,&quot;size&quot;:{&quot;width&quot;:240.79999999999995,&quot;height&quot;:40.800000000000004}}" id="212" name="Google Shape;212;p31"/>
          <p:cNvPicPr preferRelativeResize="0"/>
          <p:nvPr/>
        </p:nvPicPr>
        <p:blipFill>
          <a:blip r:embed="rId4">
            <a:alphaModFix/>
          </a:blip>
          <a:stretch>
            <a:fillRect/>
          </a:stretch>
        </p:blipFill>
        <p:spPr>
          <a:xfrm>
            <a:off x="278050" y="4012300"/>
            <a:ext cx="2293620" cy="38862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Multi-headed Attention</a:t>
            </a:r>
            <a:endParaRPr/>
          </a:p>
          <a:p>
            <a:pPr indent="0" lvl="0" marL="0" rtl="0" algn="l">
              <a:spcBef>
                <a:spcPts val="0"/>
              </a:spcBef>
              <a:spcAft>
                <a:spcPts val="0"/>
              </a:spcAft>
              <a:buNone/>
            </a:pPr>
            <a:r>
              <a:t/>
            </a:r>
            <a:endParaRPr/>
          </a:p>
        </p:txBody>
      </p:sp>
      <p:pic>
        <p:nvPicPr>
          <p:cNvPr descr="{&quot;id&quot;:&quot;2&quot;,&quot;aid&quot;:null,&quot;type&quot;:&quot;gather*&quot;,&quot;font&quot;:{&quot;color&quot;:&quot;#000000&quot;,&quot;size&quot;:12,&quot;family&quot;:&quot;Arial&quot;},&quot;backgroundColor&quot;:&quot;#FFFFFF&quot;,&quot;backgroundColorModified&quot;:false,&quot;code&quot;:&quot;\\begin{gather*}\n{\\text{We}\\;\\text{can}\\;\\text{optimize}\\;\\text{it}\\;\\text{even}\\;\\text{further}\\;\\text{b}\\text{y}\\;\\text{packing}\\;}\\\\\n{\\text{Q,}\\;\\text{K,}\\;\\text{V}\\;\\text{matrices}\\;\\text{into}\\;\\text{a}\\,\\text{single}\\;\\text{matrix}}\\\\\n{W_{QKV}=\\left[W_{Q},\\,W_{K},\\,W_{V}\\right]\\,:D\\times h\\left[2D_{k}+D_{v}\\right]}\\\\\n{\\text{Now}\\;\\text{I}\\;\\text{can}\\;\\text{calculate}\\;\\text{the}\\;\\text{projections}\\;\\text{in}\\;\\text{a}\\;}\\\\\n{\\text{single}\\;\\text{matmul,}\\;\\text{and}\\;\\text{then}\\;\\text{reshape}}\\\\\n{QKV=XW_{QKV}\\,:\\,T\\times h\\left[2D_{k}+D_{v}\\right]}\\\\\n{Q,K,V=Reshape\\left(QKV\\right)}\t\n\\end{gather*}&quot;,&quot;ts&quot;:1773500898560,&quot;cs&quot;:&quot;V8ugro0HNXCZ5YrA0/tAQg==&quot;,&quot;size&quot;:{&quot;width&quot;:359.3333333333333,&quot;height&quot;:166}}" id="218" name="Google Shape;218;p32"/>
          <p:cNvPicPr preferRelativeResize="0"/>
          <p:nvPr/>
        </p:nvPicPr>
        <p:blipFill>
          <a:blip r:embed="rId3">
            <a:alphaModFix/>
          </a:blip>
          <a:stretch>
            <a:fillRect/>
          </a:stretch>
        </p:blipFill>
        <p:spPr>
          <a:xfrm>
            <a:off x="333475" y="1334375"/>
            <a:ext cx="3422650" cy="1581150"/>
          </a:xfrm>
          <a:prstGeom prst="rect">
            <a:avLst/>
          </a:prstGeom>
          <a:noFill/>
          <a:ln>
            <a:noFill/>
          </a:ln>
        </p:spPr>
      </p:pic>
      <p:sp>
        <p:nvSpPr>
          <p:cNvPr id="219" name="Google Shape;219;p32"/>
          <p:cNvSpPr txBox="1"/>
          <p:nvPr/>
        </p:nvSpPr>
        <p:spPr>
          <a:xfrm>
            <a:off x="4529425" y="494050"/>
            <a:ext cx="46404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t>B, T, h, D = 64, 256, 8, 512, RTX 5090 GPU </a:t>
            </a:r>
            <a:endParaRPr b="1" sz="1200"/>
          </a:p>
          <a:p>
            <a:pPr indent="0" lvl="0" marL="0" rtl="0" algn="l">
              <a:spcBef>
                <a:spcPts val="0"/>
              </a:spcBef>
              <a:spcAft>
                <a:spcPts val="0"/>
              </a:spcAft>
              <a:buNone/>
            </a:pPr>
            <a:r>
              <a:rPr lang="en" sz="1200"/>
              <a:t>--- Projection-only timing ---</a:t>
            </a:r>
            <a:endParaRPr sz="1200"/>
          </a:p>
          <a:p>
            <a:pPr indent="0" lvl="0" marL="0" rtl="0" algn="l">
              <a:spcBef>
                <a:spcPts val="0"/>
              </a:spcBef>
              <a:spcAft>
                <a:spcPts val="0"/>
              </a:spcAft>
              <a:buNone/>
            </a:pPr>
            <a:r>
              <a:rPr lang="en" sz="1200"/>
              <a:t>non-packed (3*h matmuls)     0.5564 ms/iter  (200 iters)</a:t>
            </a:r>
            <a:endParaRPr sz="1200"/>
          </a:p>
          <a:p>
            <a:pPr indent="0" lvl="0" marL="0" rtl="0" algn="l">
              <a:spcBef>
                <a:spcPts val="0"/>
              </a:spcBef>
              <a:spcAft>
                <a:spcPts val="0"/>
              </a:spcAft>
              <a:buNone/>
            </a:pPr>
            <a:r>
              <a:rPr lang="en" sz="1200"/>
              <a:t>packed (3 matmuls)           0.2254 ms/iter  (200 iters)</a:t>
            </a:r>
            <a:endParaRPr sz="1200"/>
          </a:p>
          <a:p>
            <a:pPr indent="0" lvl="0" marL="0" rtl="0" algn="l">
              <a:spcBef>
                <a:spcPts val="0"/>
              </a:spcBef>
              <a:spcAft>
                <a:spcPts val="0"/>
              </a:spcAft>
              <a:buNone/>
            </a:pPr>
            <a:r>
              <a:rPr lang="en" sz="1200"/>
              <a:t>packed (1 matmul)            0.2111 ms/iter  (200 iters)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 Full attention timing ---</a:t>
            </a:r>
            <a:endParaRPr sz="1200"/>
          </a:p>
          <a:p>
            <a:pPr indent="0" lvl="0" marL="0" rtl="0" algn="l">
              <a:spcBef>
                <a:spcPts val="0"/>
              </a:spcBef>
              <a:spcAft>
                <a:spcPts val="0"/>
              </a:spcAft>
              <a:buNone/>
            </a:pPr>
            <a:r>
              <a:rPr lang="en" sz="1200"/>
              <a:t>full: non-packed proj        1.0561 ms/iter  (200 iters)</a:t>
            </a:r>
            <a:endParaRPr sz="1200"/>
          </a:p>
          <a:p>
            <a:pPr indent="0" lvl="0" marL="0" rtl="0" algn="l">
              <a:spcBef>
                <a:spcPts val="0"/>
              </a:spcBef>
              <a:spcAft>
                <a:spcPts val="0"/>
              </a:spcAft>
              <a:buNone/>
            </a:pPr>
            <a:r>
              <a:rPr lang="en" sz="1200"/>
              <a:t>full: packed QKV proj        0.7035 ms/iter  (200 iters)</a:t>
            </a:r>
            <a:endParaRPr sz="1200"/>
          </a:p>
        </p:txBody>
      </p:sp>
      <p:sp>
        <p:nvSpPr>
          <p:cNvPr id="220" name="Google Shape;220;p32"/>
          <p:cNvSpPr txBox="1"/>
          <p:nvPr/>
        </p:nvSpPr>
        <p:spPr>
          <a:xfrm>
            <a:off x="4529425" y="2571750"/>
            <a:ext cx="48435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B, T, h, D = 64, 512, 8, 512, RTX 5090 GPU </a:t>
            </a:r>
            <a:endParaRPr b="1" sz="1200"/>
          </a:p>
          <a:p>
            <a:pPr indent="0" lvl="0" marL="0" rtl="0" algn="l">
              <a:spcBef>
                <a:spcPts val="0"/>
              </a:spcBef>
              <a:spcAft>
                <a:spcPts val="0"/>
              </a:spcAft>
              <a:buNone/>
            </a:pPr>
            <a:r>
              <a:rPr lang="en" sz="1200"/>
              <a:t>--- Projection-only timing ---</a:t>
            </a:r>
            <a:endParaRPr sz="1200"/>
          </a:p>
          <a:p>
            <a:pPr indent="0" lvl="0" marL="0" rtl="0" algn="l">
              <a:spcBef>
                <a:spcPts val="0"/>
              </a:spcBef>
              <a:spcAft>
                <a:spcPts val="0"/>
              </a:spcAft>
              <a:buNone/>
            </a:pPr>
            <a:r>
              <a:rPr lang="en" sz="1200"/>
              <a:t>non-packed (3*h matmuls)     1.3381 ms/iter  (200 iters)</a:t>
            </a:r>
            <a:endParaRPr sz="1200"/>
          </a:p>
          <a:p>
            <a:pPr indent="0" lvl="0" marL="0" rtl="0" algn="l">
              <a:spcBef>
                <a:spcPts val="0"/>
              </a:spcBef>
              <a:spcAft>
                <a:spcPts val="0"/>
              </a:spcAft>
              <a:buNone/>
            </a:pPr>
            <a:r>
              <a:rPr lang="en" sz="1200"/>
              <a:t>packed (3 matmuls)           0.5558 ms/iter  (200 iters)</a:t>
            </a:r>
            <a:endParaRPr sz="1200"/>
          </a:p>
          <a:p>
            <a:pPr indent="0" lvl="0" marL="0" rtl="0" algn="l">
              <a:spcBef>
                <a:spcPts val="0"/>
              </a:spcBef>
              <a:spcAft>
                <a:spcPts val="0"/>
              </a:spcAft>
              <a:buNone/>
            </a:pPr>
            <a:r>
              <a:rPr lang="en" sz="1200"/>
              <a:t>packed (1 matmul)            0.4643 ms/iter  (200 iters)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 Full attention timing ---</a:t>
            </a:r>
            <a:endParaRPr sz="1200"/>
          </a:p>
          <a:p>
            <a:pPr indent="0" lvl="0" marL="0" rtl="0" algn="l">
              <a:spcBef>
                <a:spcPts val="0"/>
              </a:spcBef>
              <a:spcAft>
                <a:spcPts val="0"/>
              </a:spcAft>
              <a:buNone/>
            </a:pPr>
            <a:r>
              <a:rPr lang="en" sz="1200"/>
              <a:t>full: non-packed proj        3.3791 ms/iter  (200 iters)</a:t>
            </a:r>
            <a:endParaRPr sz="1200"/>
          </a:p>
          <a:p>
            <a:pPr indent="0" lvl="0" marL="0" rtl="0" algn="l">
              <a:spcBef>
                <a:spcPts val="0"/>
              </a:spcBef>
              <a:spcAft>
                <a:spcPts val="0"/>
              </a:spcAft>
              <a:buNone/>
            </a:pPr>
            <a:r>
              <a:rPr lang="en" sz="1200"/>
              <a:t>full: packed QKV proj        2.5052 ms/iter  (200 iters)</a:t>
            </a:r>
            <a:endParaRPr sz="1200"/>
          </a:p>
        </p:txBody>
      </p:sp>
      <p:sp>
        <p:nvSpPr>
          <p:cNvPr id="221" name="Google Shape;221;p32"/>
          <p:cNvSpPr txBox="1"/>
          <p:nvPr/>
        </p:nvSpPr>
        <p:spPr>
          <a:xfrm>
            <a:off x="1362100" y="4594125"/>
            <a:ext cx="4843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Because attention calculation is O(T^2), it starts to dominate as sequence length increases.. Projection calculation is O(T)..</a:t>
            </a:r>
            <a:endParaRPr b="1" sz="1200"/>
          </a:p>
        </p:txBody>
      </p:sp>
      <p:sp>
        <p:nvSpPr>
          <p:cNvPr id="222" name="Google Shape;222;p32"/>
          <p:cNvSpPr txBox="1"/>
          <p:nvPr/>
        </p:nvSpPr>
        <p:spPr>
          <a:xfrm>
            <a:off x="6205600" y="464945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BCBEC4"/>
                </a:solidFill>
              </a:rPr>
              <a:t>packed_vs_nonpacked_timing.py</a:t>
            </a:r>
            <a:endParaRPr sz="1000">
              <a:solidFill>
                <a:srgbClr val="BCBEC4"/>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What’s next..</a:t>
            </a:r>
            <a:endParaRPr/>
          </a:p>
        </p:txBody>
      </p:sp>
      <p:sp>
        <p:nvSpPr>
          <p:cNvPr id="228" name="Google Shape;228;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Token encodings</a:t>
            </a:r>
            <a:endParaRPr/>
          </a:p>
          <a:p>
            <a:pPr indent="-342900" lvl="0" marL="457200" rtl="0" algn="l">
              <a:spcBef>
                <a:spcPts val="0"/>
              </a:spcBef>
              <a:spcAft>
                <a:spcPts val="0"/>
              </a:spcAft>
              <a:buSzPts val="1800"/>
              <a:buChar char="-"/>
            </a:pPr>
            <a:r>
              <a:rPr lang="en"/>
              <a:t>Position encodings</a:t>
            </a:r>
            <a:endParaRPr/>
          </a:p>
          <a:p>
            <a:pPr indent="-342900" lvl="0" marL="457200" rtl="0" algn="l">
              <a:spcBef>
                <a:spcPts val="0"/>
              </a:spcBef>
              <a:spcAft>
                <a:spcPts val="0"/>
              </a:spcAft>
              <a:buSzPts val="1800"/>
              <a:buChar char="-"/>
            </a:pPr>
            <a:r>
              <a:rPr lang="en"/>
              <a:t>Transformer-based architectures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