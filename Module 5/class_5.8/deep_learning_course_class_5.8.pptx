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818586-E6B7-4E91-84AF-FB748F43AFE1}">
  <a:tblStyle styleId="{3B818586-E6B7-4E91-84AF-FB748F43AF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8d5a660c5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8d5a660c5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d5a660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d5a660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d5a660c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d5a660c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8d5a660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8d5a660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8d5a660c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8d5a660c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8d5a660c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8d5a660c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8d5a660c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8d5a660c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8d5a660c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8d5a660c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8d5a660c5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8d5a660c5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8d5a660c5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8d5a660c5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8d5a660c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8d5a660c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8d5a660c5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8d5a660c5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8d5a660c5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8d5a660c5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8d5a660c5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8d5a660c5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8d5a660c5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8d5a660c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8d5a660c5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8d5a660c5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8d5a660c5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8d5a660c5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a6157980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a6157980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a6157980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a6157980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a615798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a615798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a615798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a615798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a6157980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a6157980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a6157980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a6157980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a6157980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a6157980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a6157980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a6157980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a6157980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9a6157980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a6157980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9a6157980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a6157980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a6157980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a6157980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9a6157980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a6157980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9a6157980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a6157980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a6157980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a6157980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9a6157980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a6157980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9a6157980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a6157980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9a6157980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a6157980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a6157980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Architectures: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6"/>
              <a:t>Transformers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5.7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Recap transformer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Decoding techniques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KV-caching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575" y="415770"/>
            <a:ext cx="2992099" cy="27418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360175" y="4685700"/>
            <a:ext cx="21147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Input Sentence</a:t>
            </a: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435413" y="4365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470125"/>
                <a:gridCol w="470125"/>
                <a:gridCol w="470125"/>
                <a:gridCol w="470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9" name="Google Shape;69;p15"/>
          <p:cNvGraphicFramePr/>
          <p:nvPr/>
        </p:nvGraphicFramePr>
        <p:xfrm>
          <a:off x="435413" y="37691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470100"/>
                <a:gridCol w="470100"/>
                <a:gridCol w="470100"/>
                <a:gridCol w="47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0" name="Google Shape;70;p15"/>
          <p:cNvGraphicFramePr/>
          <p:nvPr/>
        </p:nvGraphicFramePr>
        <p:xfrm>
          <a:off x="435463" y="3157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470100"/>
                <a:gridCol w="470100"/>
                <a:gridCol w="470100"/>
                <a:gridCol w="4701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e1+p1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e2+p2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e3+p3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e4+p4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e5+p5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e6+p6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e7+p7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e8+p8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e_pad+p9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e_pad+p10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e_pad+p11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e_pad+p12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1" name="Google Shape;71;p15"/>
          <p:cNvSpPr txBox="1"/>
          <p:nvPr>
            <p:ph type="title"/>
          </p:nvPr>
        </p:nvSpPr>
        <p:spPr>
          <a:xfrm>
            <a:off x="133950" y="20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Recap: Transformer Architecture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6907425" y="3063113"/>
            <a:ext cx="211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Trainable token + position embeddings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051825" y="3774763"/>
            <a:ext cx="150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Attention mask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184675" y="4285488"/>
            <a:ext cx="150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Tokenization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445275" y="2678675"/>
            <a:ext cx="73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1, T, D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95250" y="884625"/>
            <a:ext cx="26214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Attention Block</a:t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Outputs contextualized embeddings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Feed Forward: </a:t>
            </a:r>
            <a:r>
              <a:rPr lang="en" sz="1200">
                <a:solidFill>
                  <a:schemeClr val="dk2"/>
                </a:solidFill>
              </a:rPr>
              <a:t>Mixes info across embedding (channel) dimension with non-linearities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Skip Connection: </a:t>
            </a:r>
            <a:r>
              <a:rPr lang="en" sz="1200">
                <a:solidFill>
                  <a:schemeClr val="dk2"/>
                </a:solidFill>
              </a:rPr>
              <a:t>Stable optimization, don’t destroy previous representation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LayerNorm:</a:t>
            </a:r>
            <a:r>
              <a:rPr lang="en" sz="1200">
                <a:solidFill>
                  <a:schemeClr val="dk2"/>
                </a:solidFill>
              </a:rPr>
              <a:t> Keeps activations well-scaled, learning stable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751900" y="480175"/>
            <a:ext cx="1883700" cy="260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499" y="592975"/>
            <a:ext cx="3089409" cy="222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Summary</a:t>
            </a:r>
            <a:endParaRPr/>
          </a:p>
        </p:txBody>
      </p:sp>
      <p:pic>
        <p:nvPicPr>
          <p:cNvPr descr="{&quot;aid&quot;:null,&quot;id&quot;:&quot;1&quot;,&quot;font&quot;:{&quot;size&quot;:12,&quot;family&quot;:&quot;Arial&quot;,&quot;color&quot;:&quot;#000000&quot;},&quot;backgroundColor&quot;:&quot;#FFFFFF&quot;,&quot;backgroundColorModified&quot;:false,&quot;type&quot;:&quot;gather*&quot;,&quot;code&quot;:&quot;\\begin{gather*}\n{\\text{Single}\\;\\text{Headed}\\;\\text{Attention}\\;\\text{Calculations}}\\\\\n{X:\\,T\\times D_{e}}\\\\\n{W_{Q},\\,W_{K}:\\,D_{e}\\times D_{k}}\\\\\n{W_{V}:\\,D_{e}\\times D_{v}}\\\\\n{W_{O}:\\,D_{v}\\times D_{e}}\\\\\n{\\boldsymbol{\\boldsymbol{\\underline{\\text{Step}\\;\\text{1:}\\;\\text{X,}\\;\\text{Q,}\\;\\text{K,}\\;\\text{V}\\;\\text{projections}}}}}\\\\\n{Q:\\,XW_{Q}:\\,T\\times D_{k},\\,K:\\,XW_{K}:\\,T\\times D_{k},\\,V:\\,XW_{V}:\\,T\\times D_{v}}\\\\\n{}\\\\\n{\\underline{\\text{Step}\\;\\text{2:}\\;\\text{Attention}\\;\\text{scores}\\;\\text{+}\\;\\text{normalization}}}\\\\\n{\\text{Raw}\\;\\text{attention}\\;\\text{scores}\\;\\text{(with}\\;\\text{masking):}}\\\\\n{A_{raw}=QK^{T}:\\,T\\times T}\\\\\n{\\text{Normalize}}\\\\\n{A=\\text{Softmax(}\\frac{A_{raw}}{{\\sqrt[]{d_{k}}}}\\text{)}}\t\n\\end{gather*}&quot;,&quot;ts&quot;:1776946476569,&quot;cs&quot;:&quot;WF3JUhaXBg+gje4RKqPNXQ==&quot;,&quot;size&quot;:{&quot;width&quot;:498.5,&quot;height&quot;:352}}"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96" y="1273975"/>
            <a:ext cx="4748213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gather*&quot;,&quot;backgroundColorModified&quot;:false,&quot;id&quot;:&quot;2&quot;,&quot;backgroundColor&quot;:&quot;#FFFFFF&quot;,&quot;font&quot;:{&quot;family&quot;:&quot;Arial&quot;,&quot;size&quot;:14,&quot;color&quot;:&quot;#000000&quot;},&quot;aid&quot;:null,&quot;code&quot;:&quot;\\begin{gather*}\n{\\underline{\\text{Step}\\;\\text{3:}\\;\\text{Value}\\;\\text{projection}}}\\\\\n{O=AV:\\,T\\times D_{v}}\\\\\n{}\\\\\n{\\underline{\\text{Step}\\;\\text{4:}\\;\\text{Output}\\;\\text{projection}}}\\\\\n{Y=OW_{o}=T\\times D_{e}}\t\n\\end{gather*}&quot;,&quot;ts&quot;:1775923498729,&quot;cs&quot;:&quot;p25N5Vtcc4aHz1LwQLZjWQ==&quot;,&quot;size&quot;:{&quot;width&quot;:244.40000000000006,&quot;height&quot;:144.8}}"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1537" y="1345875"/>
            <a:ext cx="2327910" cy="1379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Decoder-only (Generative) models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19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Key idea: The model needs to learn to assign higher probabilities to more plausible input sequences 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P(model, needs, to, learn) &gt; P(needs, learns, model, to)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Like BERT, the training signal is inherent in the token sequence. How do we utilize this in a generative context? </a:t>
            </a:r>
            <a:endParaRPr sz="1500"/>
          </a:p>
        </p:txBody>
      </p:sp>
      <p:pic>
        <p:nvPicPr>
          <p:cNvPr descr="{&quot;type&quot;:&quot;gather*&quot;,&quot;backgroundColor&quot;:&quot;#FFFFFF&quot;,&quot;id&quot;:&quot;2&quot;,&quot;backgroundColorModified&quot;:false,&quot;code&quot;:&quot;\\begin{gather*}\n{P\\left(y_{1},\\,y_{2},\\,y_{3},\\,y_{4}\\right)=P\\left(\\giventhat{y_{4}}{y_{3},y_{2},y_{1}}\\right)P\\left(\\giventhat{y_{3}}{y_{2},y_{1}}\\right)P\\left(\\giventhat{y_{2}}{y_{1}}\\right)P\\left(y_{1}\\right)}\\\\\n{\\log_{}P\\left(y_{1},\\,y_{2},\\,y_{3},\\,y_{4}\\right)=\\log_{}P\\left(\\giventhat{y_{4}}{y_{3},y_{2},y_{1}}\\right)+\\log_{}P\\left(\\giventhat{y_{3}}{y_{2},y_{1}}\\right)+\\log_{}P\\left(\\giventhat{y_{2}}{y_{1}}\\right)+\\log_{}P\\left(y_{1}\\right)}\t\n\\end{gather*}&quot;,&quot;font&quot;:{&quot;color&quot;:&quot;#000000&quot;,&quot;family&quot;:&quot;Arial&quot;,&quot;size&quot;:12},&quot;aid&quot;:null,&quot;ts&quot;:1775821950711,&quot;cs&quot;:&quot;yLTGIMf/rFnCZCzF3pXQZw==&quot;,&quot;size&quot;:{&quot;width&quot;:732,&quot;height&quot;:43.5}}"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200" y="2897960"/>
            <a:ext cx="6972300" cy="4143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1476400" y="3780250"/>
            <a:ext cx="606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do this, each token must only see the tokens before it.. This is implemented using a causal attention mask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Attention Mask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42218" cy="39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4694625" y="1875250"/>
            <a:ext cx="42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T0 only sees the keys corresponding to T0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694625" y="2224125"/>
            <a:ext cx="42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T1 only sees the keys corresponding to T0, T1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694625" y="2571750"/>
            <a:ext cx="42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T2 only sees the keys corresponding to T0, T1, T2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Model: Training</a:t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257652" y="2738325"/>
            <a:ext cx="13851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Block</a:t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316948" y="3792000"/>
            <a:ext cx="21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Input tokens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887852" y="3463125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887852" y="2461425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2015098" y="1305700"/>
            <a:ext cx="217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Target tokens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4588875" y="3609800"/>
            <a:ext cx="349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&lt;BOS&gt;, Hello, how, are, you, &lt;EOS&gt;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5081550" y="43362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Hello, how, are, you</a:t>
            </a:r>
            <a:endParaRPr sz="1300"/>
          </a:p>
        </p:txBody>
      </p:sp>
      <p:sp>
        <p:nvSpPr>
          <p:cNvPr id="115" name="Google Shape;115;p19"/>
          <p:cNvSpPr/>
          <p:nvPr/>
        </p:nvSpPr>
        <p:spPr>
          <a:xfrm>
            <a:off x="6118800" y="4025300"/>
            <a:ext cx="363000" cy="354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3455250" y="2844922"/>
            <a:ext cx="244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</a:rPr>
              <a:t>&lt;BOS&gt;, Hello, how, are, you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6470900" y="2843800"/>
            <a:ext cx="246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</a:rPr>
              <a:t>Hello, how, are, you, &lt;EOS&gt;</a:t>
            </a:r>
            <a:endParaRPr sz="1300">
              <a:solidFill>
                <a:srgbClr val="FF0000"/>
              </a:solidFill>
            </a:endParaRPr>
          </a:p>
        </p:txBody>
      </p:sp>
      <p:cxnSp>
        <p:nvCxnSpPr>
          <p:cNvPr id="118" name="Google Shape;118;p19"/>
          <p:cNvCxnSpPr>
            <a:stCxn id="113" idx="0"/>
            <a:endCxn id="116" idx="2"/>
          </p:cNvCxnSpPr>
          <p:nvPr/>
        </p:nvCxnSpPr>
        <p:spPr>
          <a:xfrm flipH="1" rot="5400000">
            <a:off x="5315325" y="2589950"/>
            <a:ext cx="380100" cy="1659600"/>
          </a:xfrm>
          <a:prstGeom prst="bentConnector3">
            <a:avLst>
              <a:gd fmla="val 499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" name="Google Shape;119;p19"/>
          <p:cNvCxnSpPr>
            <a:stCxn id="113" idx="0"/>
            <a:endCxn id="117" idx="2"/>
          </p:cNvCxnSpPr>
          <p:nvPr/>
        </p:nvCxnSpPr>
        <p:spPr>
          <a:xfrm rot="-5400000">
            <a:off x="6829275" y="2734700"/>
            <a:ext cx="381000" cy="1369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" name="Google Shape;120;p19"/>
          <p:cNvSpPr/>
          <p:nvPr/>
        </p:nvSpPr>
        <p:spPr>
          <a:xfrm>
            <a:off x="4588875" y="3662750"/>
            <a:ext cx="2560800" cy="309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5360400" y="3662750"/>
            <a:ext cx="2560800" cy="30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4297199" y="2393050"/>
            <a:ext cx="7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Input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6959250" y="2393050"/>
            <a:ext cx="8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Target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519412" y="1765313"/>
            <a:ext cx="244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</a:rPr>
              <a:t>&lt;BOS&gt;, Hello, how, are, you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751937" y="1283088"/>
            <a:ext cx="246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</a:rPr>
              <a:t>Hello, how, are, you, &lt;EOS&gt;</a:t>
            </a:r>
            <a:endParaRPr sz="1300">
              <a:solidFill>
                <a:srgbClr val="FF0000"/>
              </a:solidFill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 rot="10800000">
            <a:off x="5004513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9"/>
          <p:cNvCxnSpPr/>
          <p:nvPr/>
        </p:nvCxnSpPr>
        <p:spPr>
          <a:xfrm rot="10800000">
            <a:off x="5487763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9"/>
          <p:cNvCxnSpPr/>
          <p:nvPr/>
        </p:nvCxnSpPr>
        <p:spPr>
          <a:xfrm rot="10800000">
            <a:off x="5815338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9"/>
          <p:cNvCxnSpPr/>
          <p:nvPr/>
        </p:nvCxnSpPr>
        <p:spPr>
          <a:xfrm rot="10800000">
            <a:off x="6118788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9"/>
          <p:cNvCxnSpPr/>
          <p:nvPr/>
        </p:nvCxnSpPr>
        <p:spPr>
          <a:xfrm rot="10800000">
            <a:off x="6502263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19"/>
          <p:cNvSpPr txBox="1"/>
          <p:nvPr/>
        </p:nvSpPr>
        <p:spPr>
          <a:xfrm>
            <a:off x="1715350" y="2783425"/>
            <a:ext cx="181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Causal Attention Mask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32" name="Google Shape;132;p19"/>
          <p:cNvCxnSpPr/>
          <p:nvPr/>
        </p:nvCxnSpPr>
        <p:spPr>
          <a:xfrm rot="10800000">
            <a:off x="1715625" y="3075975"/>
            <a:ext cx="3144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9"/>
          <p:cNvSpPr txBox="1"/>
          <p:nvPr/>
        </p:nvSpPr>
        <p:spPr>
          <a:xfrm>
            <a:off x="7149675" y="1383200"/>
            <a:ext cx="174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Predicting end of a sentence is very important!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370750" y="4337950"/>
            <a:ext cx="399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Tokenization, embedding lookup, positional embeddings remain unchanged</a:t>
            </a:r>
            <a:endParaRPr sz="1100"/>
          </a:p>
        </p:txBody>
      </p:sp>
      <p:sp>
        <p:nvSpPr>
          <p:cNvPr id="135" name="Google Shape;135;p19"/>
          <p:cNvSpPr/>
          <p:nvPr/>
        </p:nvSpPr>
        <p:spPr>
          <a:xfrm>
            <a:off x="299250" y="1283100"/>
            <a:ext cx="13851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X-entropy loss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299249" y="2059163"/>
            <a:ext cx="142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Target logits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867102" y="1845200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19"/>
          <p:cNvCxnSpPr/>
          <p:nvPr/>
        </p:nvCxnSpPr>
        <p:spPr>
          <a:xfrm rot="10800000">
            <a:off x="1715625" y="1537550"/>
            <a:ext cx="3144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Model: Training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We are computing in parallel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P(Hello|Bos)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P(How|Bos, Hello)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P(Are|Bos, Hello, How)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P(You|Bos, Hello, How, Are)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P(EOS|Bos, Hello, How, Are, You)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And minimizing the negative of the sum of these probabilities</a:t>
            </a:r>
            <a:endParaRPr sz="1300"/>
          </a:p>
        </p:txBody>
      </p:sp>
      <p:sp>
        <p:nvSpPr>
          <p:cNvPr id="145" name="Google Shape;145;p20"/>
          <p:cNvSpPr txBox="1"/>
          <p:nvPr/>
        </p:nvSpPr>
        <p:spPr>
          <a:xfrm>
            <a:off x="351250" y="4048125"/>
            <a:ext cx="332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Training Signal: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weak / diffuse</a:t>
            </a:r>
            <a:r>
              <a:rPr lang="en" sz="1100">
                <a:solidFill>
                  <a:schemeClr val="dk1"/>
                </a:solidFill>
              </a:rPr>
              <a:t> for short ambiguous prefixes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stronger / sharper</a:t>
            </a:r>
            <a:r>
              <a:rPr lang="en" sz="1100">
                <a:solidFill>
                  <a:schemeClr val="dk1"/>
                </a:solidFill>
              </a:rPr>
              <a:t> for longer informative prefixes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Generative Model: Inference</a:t>
            </a:r>
            <a:endParaRPr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311700" y="1152475"/>
            <a:ext cx="85206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Key idea:</a:t>
            </a:r>
            <a:r>
              <a:rPr lang="en"/>
              <a:t> Autoregressively generate one token after the other</a:t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1185675" y="3726325"/>
            <a:ext cx="1226700" cy="5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559425" y="4564250"/>
            <a:ext cx="247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&lt;BOS&gt;, The, quick, brown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54" name="Google Shape;154;p21"/>
          <p:cNvCxnSpPr>
            <a:stCxn id="153" idx="0"/>
            <a:endCxn id="152" idx="2"/>
          </p:cNvCxnSpPr>
          <p:nvPr/>
        </p:nvCxnSpPr>
        <p:spPr>
          <a:xfrm rot="10800000">
            <a:off x="1799025" y="4309550"/>
            <a:ext cx="0" cy="2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1"/>
          <p:cNvCxnSpPr>
            <a:stCxn id="152" idx="0"/>
            <a:endCxn id="156" idx="2"/>
          </p:cNvCxnSpPr>
          <p:nvPr/>
        </p:nvCxnSpPr>
        <p:spPr>
          <a:xfrm rot="10800000">
            <a:off x="1799025" y="3546025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1"/>
          <p:cNvSpPr txBox="1"/>
          <p:nvPr/>
        </p:nvSpPr>
        <p:spPr>
          <a:xfrm>
            <a:off x="457875" y="2930488"/>
            <a:ext cx="26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Probability distribution over tokens: p(V)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57" name="Google Shape;157;p21"/>
          <p:cNvCxnSpPr>
            <a:stCxn id="156" idx="0"/>
            <a:endCxn id="158" idx="2"/>
          </p:cNvCxnSpPr>
          <p:nvPr/>
        </p:nvCxnSpPr>
        <p:spPr>
          <a:xfrm rot="10800000">
            <a:off x="1799025" y="2750188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1"/>
          <p:cNvSpPr/>
          <p:nvPr/>
        </p:nvSpPr>
        <p:spPr>
          <a:xfrm>
            <a:off x="4162875" y="3687425"/>
            <a:ext cx="1226700" cy="5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457875" y="2350063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Decoding: </a:t>
            </a:r>
            <a:r>
              <a:rPr lang="en">
                <a:solidFill>
                  <a:schemeClr val="dk2"/>
                </a:solidFill>
              </a:rPr>
              <a:t>Sample a token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60" name="Google Shape;160;p21"/>
          <p:cNvCxnSpPr>
            <a:stCxn id="158" idx="0"/>
            <a:endCxn id="161" idx="2"/>
          </p:cNvCxnSpPr>
          <p:nvPr/>
        </p:nvCxnSpPr>
        <p:spPr>
          <a:xfrm rot="10800000">
            <a:off x="1799025" y="2152663"/>
            <a:ext cx="0" cy="1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1"/>
          <p:cNvSpPr txBox="1"/>
          <p:nvPr/>
        </p:nvSpPr>
        <p:spPr>
          <a:xfrm>
            <a:off x="1166250" y="1752325"/>
            <a:ext cx="126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fox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3471875" y="4564250"/>
            <a:ext cx="278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&lt;BOS&gt;, The, quick, brown, </a:t>
            </a:r>
            <a:r>
              <a:rPr b="1" lang="en" sz="1300">
                <a:solidFill>
                  <a:schemeClr val="dk2"/>
                </a:solidFill>
              </a:rPr>
              <a:t>fox</a:t>
            </a:r>
            <a:endParaRPr b="1" sz="1300">
              <a:solidFill>
                <a:schemeClr val="dk2"/>
              </a:solidFill>
            </a:endParaRPr>
          </a:p>
        </p:txBody>
      </p:sp>
      <p:cxnSp>
        <p:nvCxnSpPr>
          <p:cNvPr id="163" name="Google Shape;163;p21"/>
          <p:cNvCxnSpPr>
            <a:stCxn id="161" idx="3"/>
            <a:endCxn id="162" idx="1"/>
          </p:cNvCxnSpPr>
          <p:nvPr/>
        </p:nvCxnSpPr>
        <p:spPr>
          <a:xfrm>
            <a:off x="2431650" y="1952425"/>
            <a:ext cx="1040100" cy="28044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4" name="Google Shape;164;p21"/>
          <p:cNvSpPr txBox="1"/>
          <p:nvPr/>
        </p:nvSpPr>
        <p:spPr>
          <a:xfrm>
            <a:off x="3435075" y="2930488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p(V)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65" name="Google Shape;165;p21"/>
          <p:cNvCxnSpPr>
            <a:stCxn id="164" idx="0"/>
            <a:endCxn id="166" idx="2"/>
          </p:cNvCxnSpPr>
          <p:nvPr/>
        </p:nvCxnSpPr>
        <p:spPr>
          <a:xfrm rot="10800000">
            <a:off x="4776225" y="2750188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1"/>
          <p:cNvSpPr txBox="1"/>
          <p:nvPr/>
        </p:nvSpPr>
        <p:spPr>
          <a:xfrm>
            <a:off x="3435075" y="2350063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Decoding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67" name="Google Shape;167;p21"/>
          <p:cNvCxnSpPr>
            <a:stCxn id="159" idx="0"/>
            <a:endCxn id="164" idx="2"/>
          </p:cNvCxnSpPr>
          <p:nvPr/>
        </p:nvCxnSpPr>
        <p:spPr>
          <a:xfrm rot="10800000">
            <a:off x="4776225" y="3330725"/>
            <a:ext cx="0" cy="35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4776234" y="2192763"/>
            <a:ext cx="0" cy="1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1"/>
          <p:cNvSpPr txBox="1"/>
          <p:nvPr/>
        </p:nvSpPr>
        <p:spPr>
          <a:xfrm>
            <a:off x="4143525" y="1764125"/>
            <a:ext cx="126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jumps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7050723" y="3687425"/>
            <a:ext cx="1226700" cy="5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6191723" y="4564250"/>
            <a:ext cx="3096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&lt;BOS&gt;, The, quick, brown, fox, jumps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6322923" y="2930488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p(V)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73" name="Google Shape;173;p21"/>
          <p:cNvCxnSpPr>
            <a:stCxn id="172" idx="0"/>
            <a:endCxn id="174" idx="2"/>
          </p:cNvCxnSpPr>
          <p:nvPr/>
        </p:nvCxnSpPr>
        <p:spPr>
          <a:xfrm rot="10800000">
            <a:off x="7664073" y="2750188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1"/>
          <p:cNvSpPr txBox="1"/>
          <p:nvPr/>
        </p:nvSpPr>
        <p:spPr>
          <a:xfrm>
            <a:off x="6322923" y="2350063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Decoding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75" name="Google Shape;175;p21"/>
          <p:cNvCxnSpPr>
            <a:stCxn id="170" idx="0"/>
            <a:endCxn id="172" idx="2"/>
          </p:cNvCxnSpPr>
          <p:nvPr/>
        </p:nvCxnSpPr>
        <p:spPr>
          <a:xfrm rot="10800000">
            <a:off x="7664073" y="3330725"/>
            <a:ext cx="0" cy="35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1"/>
          <p:cNvCxnSpPr/>
          <p:nvPr/>
        </p:nvCxnSpPr>
        <p:spPr>
          <a:xfrm rot="10800000">
            <a:off x="7664082" y="2192763"/>
            <a:ext cx="0" cy="1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1"/>
          <p:cNvSpPr txBox="1"/>
          <p:nvPr/>
        </p:nvSpPr>
        <p:spPr>
          <a:xfrm>
            <a:off x="6886725" y="1764125"/>
            <a:ext cx="126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over</a:t>
            </a:r>
            <a:endParaRPr b="1">
              <a:solidFill>
                <a:schemeClr val="dk2"/>
              </a:solidFill>
            </a:endParaRPr>
          </a:p>
        </p:txBody>
      </p:sp>
      <p:cxnSp>
        <p:nvCxnSpPr>
          <p:cNvPr id="178" name="Google Shape;178;p21"/>
          <p:cNvCxnSpPr/>
          <p:nvPr/>
        </p:nvCxnSpPr>
        <p:spPr>
          <a:xfrm rot="10800000">
            <a:off x="4776225" y="4309550"/>
            <a:ext cx="0" cy="2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1"/>
          <p:cNvCxnSpPr/>
          <p:nvPr/>
        </p:nvCxnSpPr>
        <p:spPr>
          <a:xfrm rot="10800000">
            <a:off x="7664073" y="4309550"/>
            <a:ext cx="0" cy="2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1"/>
          <p:cNvCxnSpPr/>
          <p:nvPr/>
        </p:nvCxnSpPr>
        <p:spPr>
          <a:xfrm>
            <a:off x="5218475" y="1977200"/>
            <a:ext cx="1040100" cy="2804400"/>
          </a:xfrm>
          <a:prstGeom prst="bentConnector3">
            <a:avLst>
              <a:gd fmla="val 692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Decoding techniques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Greedy decoding:</a:t>
            </a:r>
            <a:r>
              <a:rPr lang="en"/>
              <a:t> Pick most probably token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Deterministic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Temperature sampling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some degree of randomness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Adjusted by T. T&gt; 1: more randomness and vice versa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Top-k sampling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</a:t>
            </a:r>
            <a:r>
              <a:rPr lang="en"/>
              <a:t> the top K tokens by probability, renormalize and sample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keep the most </a:t>
            </a:r>
            <a:r>
              <a:rPr lang="en"/>
              <a:t>plausible</a:t>
            </a:r>
            <a:r>
              <a:rPr lang="en"/>
              <a:t>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Top-P </a:t>
            </a:r>
            <a:r>
              <a:rPr b="1" lang="en"/>
              <a:t>nucleus</a:t>
            </a:r>
            <a:r>
              <a:rPr b="1" lang="en"/>
              <a:t> sampling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smallest set of tokens </a:t>
            </a:r>
            <a:r>
              <a:rPr lang="en"/>
              <a:t>whose cumulative probability &gt; </a:t>
            </a:r>
            <a:r>
              <a:rPr i="1" lang="en"/>
              <a:t>p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Intuition: keep enough tokens to cover most of the probability mass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Repetition penalty: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Beam Search</a:t>
            </a:r>
            <a:endParaRPr b="1"/>
          </a:p>
        </p:txBody>
      </p:sp>
      <p:pic>
        <p:nvPicPr>
          <p:cNvPr descr="{&quot;backgroundColor&quot;:&quot;#FFFFFF&quot;,&quot;backgroundColorModified&quot;:false,&quot;type&quot;:&quot;$$&quot;,&quot;font&quot;:{&quot;family&quot;:&quot;Arial&quot;,&quot;color&quot;:&quot;#595959&quot;,&quot;size&quot;:18},&quot;id&quot;:&quot;1&quot;,&quot;aid&quot;:null,&quot;code&quot;:&quot;$$x_{t+1}=\\arg \\max_{i}P\\left(i|x_{\\leq i}\\right)$$&quot;,&quot;ts&quot;:1776987351080,&quot;cs&quot;:&quot;RvxOkR5gWiYFnl3aFgbCfQ==&quot;,&quot;size&quot;:{&quot;width&quot;:292.25,&quot;height&quot;:39.75}}"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325" y="1220375"/>
            <a:ext cx="2783681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595959&quot;,&quot;size&quot;:13},&quot;code&quot;:&quot;$$\\text{Sample}\\;\\text{from}\\;P_{i}:\\,\\exp\\left(\\frac{\\text{logit}_{i}}{T}\\right)$$&quot;,&quot;id&quot;:&quot;2&quot;,&quot;backgroundColor&quot;:&quot;#FFFFFF&quot;,&quot;aid&quot;:null,&quot;type&quot;:&quot;$$&quot;,&quot;backgroundColorModified&quot;:false,&quot;ts&quot;:1776987446769,&quot;cs&quot;:&quot;Vlro5hIgQammgZIoFANi4Q==&quot;,&quot;size&quot;:{&quot;width&quot;:276.39098188976374,&quot;height&quot;:49.78476430446196}}" id="188" name="Google Shape;18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1350" y="1671325"/>
            <a:ext cx="2632624" cy="47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&quot;,&quot;type&quot;:&quot;$$&quot;,&quot;backgroundColorModified&quot;:false,&quot;aid&quot;:null,&quot;backgroundColor&quot;:&quot;#FFFFFF&quot;,&quot;code&quot;:&quot;$$\\text{logit}_{i}=\\text{logit}_{i}-\\lambda \\,\\text{count(}i\\text{)}$$&quot;,&quot;font&quot;:{&quot;family&quot;:&quot;Arial&quot;,&quot;color&quot;:&quot;#595959&quot;,&quot;size&quot;:16},&quot;ts&quot;:1776987681008,&quot;cs&quot;:&quot;xTPStKbpQTH93ECU1aJ1Ug==&quot;,&quot;size&quot;:{&quot;width&quot;:285.46183937007874,&quot;height&quot;:25.35957270341207}}" id="189" name="Google Shape;18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2200" y="3751850"/>
            <a:ext cx="2719024" cy="24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$\\sum_{i\\in V_{p}}^{}P_{i}&gt;p$$&quot;,&quot;backgroundColor&quot;:&quot;#FFFFFF&quot;,&quot;font&quot;:{&quot;size&quot;:14,&quot;color&quot;:&quot;#595959&quot;,&quot;family&quot;:&quot;Arial&quot;},&quot;id&quot;:&quot;5&quot;,&quot;backgroundColorModified&quot;:false,&quot;type&quot;:&quot;$$&quot;,&quot;ts&quot;:1777031100700,&quot;cs&quot;:&quot;DWPKFaPF+so8eWX8cjp3JQ==&quot;,&quot;size&quot;:{&quot;width&quot;:96.33333333333333,&quot;height&quot;:49.5}}" id="190" name="Google Shape;19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7225" y="3116300"/>
            <a:ext cx="917575" cy="471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Beam Search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387175" y="1066575"/>
            <a:ext cx="38586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Problem with Greedy decoding techniques is that once you pick a suboptimal token, you are stuck with it, as all future tokens are conditioned on it.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Beam search:</a:t>
            </a:r>
            <a:r>
              <a:rPr lang="en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Keep B tokens at each generation step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Run B parallel generations and sample B best tokens from BV possibilities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Track which beam each token came from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Stop after predefined number of steps, or after most (say k) beams produce EOS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Trace back to pick the most likely completion, by summing log probs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97" name="Google Shape;19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875" y="795750"/>
            <a:ext cx="4593425" cy="268547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4406775" y="3755550"/>
            <a:ext cx="452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Pros:</a:t>
            </a:r>
            <a:r>
              <a:rPr lang="en" sz="1600">
                <a:solidFill>
                  <a:schemeClr val="dk2"/>
                </a:solidFill>
              </a:rPr>
              <a:t> Can lead to more diverse outcomes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Cons:</a:t>
            </a:r>
            <a:r>
              <a:rPr lang="en" sz="1600">
                <a:solidFill>
                  <a:schemeClr val="dk2"/>
                </a:solidFill>
              </a:rPr>
              <a:t> Computationally much more expensive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Less commonly used now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 Caching</a:t>
            </a:r>
            <a:endParaRPr/>
          </a:p>
        </p:txBody>
      </p:sp>
      <p:pic>
        <p:nvPicPr>
          <p:cNvPr descr="{&quot;aid&quot;:null,&quot;backgroundColorModified&quot;:false,&quot;code&quot;:&quot;\\begin{gather*}\n{\\text{At}\\;\\text{step}\\;\\text{t,}\\;\\text{we}\\;\\text{generate}\\;\\text{token}\\;x_{t},\\,\\text{which}\\;\\text{depends}\\;\\text{on}\\;x_{1},\\,x_{2}...\\,x_{t-1}}\\\\\n{\\text{At}\\;\\text{step}\\;\\text{t+1,}\\;\\text{we}\\;\\text{generate}\\;\\text{token}\\;x_{t+1},\\,\\text{which}\\;\\text{depends}\\;\\text{on}\\;x_{1},\\,x_{2}...\\,x_{t-1},\\,x_{t}}\\\\\n{\\text{Rather}\\;\\text{than}\\;\\text{do}\\;\\text{the}\\;\\text{entire}\\;\\text{calculation}\\;\\text{every}\\;\\text{time}\\;\\text{step,}\\;\\text{we}\\;\\text{can}\\;\\text{}}\\\\\n{\\text{reuse}\\;\\text{the}\\;\\text{calculations}\\;\\text{already}\\;\\text{performed}}\\\\\n{\\text{Specifically,}\\;\\text{we}\\;\\text{can}\\;\\text{reuse}\\;\\text{the}\\;\\text{KV}\\;\\text{vectors}\\;\\text{already}\\;\\text{calculated}\\;\\text{for}}\\\\\n{x_{i\\leq t},\\,\\text{and}\\;\\text{only}\\;\\text{calculate}\\;\\text{Q,}\\;\\text{K,}\\;\\text{V}\\;\\text{projections}\\;\\text{for}\\;x_{t}}\\\\\n{\\text{This}\\;\\text{is}\\;\\text{possible}\\;\\text{because}\\;\\text{because}\\;\\text{of}\\;\\text{the}\\;\\text{autoregressive}\\;\\text{decoding}}\\\\\n{\\text{token}\\;\\text{t}\\;\\text{can}\\;\\text{only}\\;\\text{attend}\\;\\text{to}\\;\\text{tokens}\\;\\text{\\{1,2...t\\}}}\\\\\n{\\text{So}\\;\\text{the}\\;\\text{hidden}\\;\\text{state}\\;\\text{at}\\;\\text{position}\\;\\text{t}}\\\\\n{h_{t}=f\\left(x_{1},\\,x_{2}...x_{t}\\right)}\\\\\n{\\text{is}\\;\\text{final}\\;\\text{once}\\;\\text{computed.}\\;\\text{Future}\\;\\text{tokens}\\;\\text{can't}\\;\\text{change}\\;\\text{it}}\t\n\\end{gather*}&quot;,&quot;type&quot;:&quot;gather*&quot;,&quot;id&quot;:&quot;4&quot;,&quot;backgroundColor&quot;:&quot;#FFFFFF&quot;,&quot;font&quot;:{&quot;size&quot;:12,&quot;family&quot;:&quot;Arial&quot;,&quot;color&quot;:&quot;#000000&quot;},&quot;ts&quot;:1776990253471,&quot;cs&quot;:&quot;uCjNOjnxjuGCcsHQF5MiHg==&quot;,&quot;size&quot;:{&quot;width&quot;:592,&quot;height&quot;:261.5}}"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275" y="1367775"/>
            <a:ext cx="5638800" cy="249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kv-caching</a:t>
            </a:r>
            <a:endParaRPr/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of the cache: [seq len, num layers, num heads, head dimension]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decoding </a:t>
            </a:r>
            <a:r>
              <a:rPr lang="en"/>
              <a:t>proceeds</a:t>
            </a:r>
            <a:r>
              <a:rPr lang="en"/>
              <a:t>, sequence length grows token by token, KV cache memory grows linearly, and is needed for the entire request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Now consider a real system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with different prefix lengths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with different number of generated tokens.. We don’t know apriory when generation would end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Fragmentation problem</a:t>
            </a:r>
            <a:endParaRPr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311700" y="1152475"/>
            <a:ext cx="8520600" cy="24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You allocate one big block per sequence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Request A: 2048 tokens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Request B: 512 tokens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Request C: 4096 tokens..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If I </a:t>
            </a:r>
            <a:r>
              <a:rPr lang="en" sz="1500"/>
              <a:t>reserve a block of 4K tokens, that wastes memory for A and B, but not enough for C. I’ll have to reallocate another bigger block, and copy the KV cache in the middle of decode!</a:t>
            </a:r>
            <a:endParaRPr sz="1500"/>
          </a:p>
        </p:txBody>
      </p:sp>
      <p:pic>
        <p:nvPicPr>
          <p:cNvPr id="217" name="Google Shape;21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593575"/>
            <a:ext cx="8009400" cy="13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Paged attention</a:t>
            </a:r>
            <a:endParaRPr/>
          </a:p>
        </p:txBody>
      </p:sp>
      <p:pic>
        <p:nvPicPr>
          <p:cNvPr id="223" name="Google Shape;22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525" y="1154325"/>
            <a:ext cx="6263624" cy="33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 txBox="1"/>
          <p:nvPr/>
        </p:nvSpPr>
        <p:spPr>
          <a:xfrm>
            <a:off x="311700" y="1258050"/>
            <a:ext cx="2450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Key idea:</a:t>
            </a:r>
            <a:r>
              <a:rPr lang="en" sz="1600">
                <a:solidFill>
                  <a:schemeClr val="dk2"/>
                </a:solidFill>
              </a:rPr>
              <a:t> Instead of each sequence owning its own contiguous memory block, it maintains a logical view of several small </a:t>
            </a:r>
            <a:r>
              <a:rPr lang="en" sz="1600">
                <a:solidFill>
                  <a:schemeClr val="dk2"/>
                </a:solidFill>
              </a:rPr>
              <a:t>physical</a:t>
            </a:r>
            <a:r>
              <a:rPr lang="en" sz="1600">
                <a:solidFill>
                  <a:schemeClr val="dk2"/>
                </a:solidFill>
              </a:rPr>
              <a:t> blocks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311700" y="445025"/>
            <a:ext cx="31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Paged attention</a:t>
            </a:r>
            <a:endParaRPr/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25" y="1323550"/>
            <a:ext cx="6590800" cy="35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 txBox="1"/>
          <p:nvPr/>
        </p:nvSpPr>
        <p:spPr>
          <a:xfrm>
            <a:off x="5479625" y="173175"/>
            <a:ext cx="3361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 need to guess seq len. Just allocate pages on-demand. When completion finishes, release pages back to the pool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Paged Attention: Memory Savings</a:t>
            </a:r>
            <a:endParaRPr/>
          </a:p>
        </p:txBody>
      </p:sp>
      <p:pic>
        <p:nvPicPr>
          <p:cNvPr id="237" name="Google Shape;2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275" y="1170125"/>
            <a:ext cx="571298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vLLM and FlashAttention</a:t>
            </a:r>
            <a:endParaRPr/>
          </a:p>
        </p:txBody>
      </p:sp>
      <p:sp>
        <p:nvSpPr>
          <p:cNvPr id="243" name="Google Shape;243;p30"/>
          <p:cNvSpPr/>
          <p:nvPr/>
        </p:nvSpPr>
        <p:spPr>
          <a:xfrm>
            <a:off x="5177575" y="507850"/>
            <a:ext cx="2369700" cy="63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User / Client </a:t>
            </a:r>
            <a:r>
              <a:rPr lang="en" sz="1100"/>
              <a:t>                                              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OpenAI-compatible API, Python API, batch/offline inference</a:t>
            </a:r>
            <a:endParaRPr sz="1100"/>
          </a:p>
        </p:txBody>
      </p:sp>
      <p:sp>
        <p:nvSpPr>
          <p:cNvPr id="244" name="Google Shape;244;p30"/>
          <p:cNvSpPr/>
          <p:nvPr/>
        </p:nvSpPr>
        <p:spPr>
          <a:xfrm>
            <a:off x="5177575" y="1481638"/>
            <a:ext cx="2369700" cy="63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vLLM serving/runtime layer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request intake, streaming outputs, cancellation, metrics </a:t>
            </a:r>
            <a:endParaRPr sz="1100"/>
          </a:p>
        </p:txBody>
      </p:sp>
      <p:sp>
        <p:nvSpPr>
          <p:cNvPr id="245" name="Google Shape;245;p30"/>
          <p:cNvSpPr/>
          <p:nvPr/>
        </p:nvSpPr>
        <p:spPr>
          <a:xfrm>
            <a:off x="4345825" y="2411988"/>
            <a:ext cx="4033200" cy="63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vLLM engine core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scheduler, continuous batching, KV-cache manager,prefix cache, block table, model execution coordination</a:t>
            </a:r>
            <a:endParaRPr sz="1100"/>
          </a:p>
        </p:txBody>
      </p:sp>
      <p:sp>
        <p:nvSpPr>
          <p:cNvPr id="246" name="Google Shape;246;p30"/>
          <p:cNvSpPr/>
          <p:nvPr/>
        </p:nvSpPr>
        <p:spPr>
          <a:xfrm>
            <a:off x="4538425" y="3385738"/>
            <a:ext cx="3648000" cy="63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GPU worker / model executor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runs transformer layers, handles TP/PP/DP/EP communication</a:t>
            </a:r>
            <a:endParaRPr sz="1100"/>
          </a:p>
        </p:txBody>
      </p:sp>
      <p:sp>
        <p:nvSpPr>
          <p:cNvPr id="247" name="Google Shape;247;p30"/>
          <p:cNvSpPr/>
          <p:nvPr/>
        </p:nvSpPr>
        <p:spPr>
          <a:xfrm>
            <a:off x="4538425" y="4444375"/>
            <a:ext cx="3648000" cy="63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Per-layer kernels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attention kernels, GEMM kernels, MoE kernels, norm kernels, quantization kernels, sampling kernels </a:t>
            </a:r>
            <a:endParaRPr sz="1100"/>
          </a:p>
        </p:txBody>
      </p:sp>
      <p:cxnSp>
        <p:nvCxnSpPr>
          <p:cNvPr id="248" name="Google Shape;248;p30"/>
          <p:cNvCxnSpPr>
            <a:stCxn id="243" idx="2"/>
            <a:endCxn id="244" idx="0"/>
          </p:cNvCxnSpPr>
          <p:nvPr/>
        </p:nvCxnSpPr>
        <p:spPr>
          <a:xfrm>
            <a:off x="6362425" y="1145950"/>
            <a:ext cx="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30"/>
          <p:cNvCxnSpPr>
            <a:stCxn id="244" idx="2"/>
            <a:endCxn id="245" idx="0"/>
          </p:cNvCxnSpPr>
          <p:nvPr/>
        </p:nvCxnSpPr>
        <p:spPr>
          <a:xfrm>
            <a:off x="6362425" y="2119738"/>
            <a:ext cx="0" cy="29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30"/>
          <p:cNvCxnSpPr>
            <a:stCxn id="245" idx="2"/>
            <a:endCxn id="246" idx="0"/>
          </p:cNvCxnSpPr>
          <p:nvPr/>
        </p:nvCxnSpPr>
        <p:spPr>
          <a:xfrm>
            <a:off x="6362425" y="3050088"/>
            <a:ext cx="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30"/>
          <p:cNvCxnSpPr>
            <a:stCxn id="246" idx="2"/>
            <a:endCxn id="247" idx="0"/>
          </p:cNvCxnSpPr>
          <p:nvPr/>
        </p:nvCxnSpPr>
        <p:spPr>
          <a:xfrm>
            <a:off x="6362425" y="4023838"/>
            <a:ext cx="0" cy="42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30"/>
          <p:cNvCxnSpPr/>
          <p:nvPr/>
        </p:nvCxnSpPr>
        <p:spPr>
          <a:xfrm rot="10800000">
            <a:off x="6313475" y="4221925"/>
            <a:ext cx="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type="title"/>
          </p:nvPr>
        </p:nvSpPr>
        <p:spPr>
          <a:xfrm>
            <a:off x="311700" y="445025"/>
            <a:ext cx="415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vLLM and FlashAttention</a:t>
            </a:r>
            <a:endParaRPr/>
          </a:p>
        </p:txBody>
      </p:sp>
      <p:sp>
        <p:nvSpPr>
          <p:cNvPr id="258" name="Google Shape;258;p31"/>
          <p:cNvSpPr txBox="1"/>
          <p:nvPr/>
        </p:nvSpPr>
        <p:spPr>
          <a:xfrm>
            <a:off x="5102550" y="4514463"/>
            <a:ext cx="24504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Input token embedding lookup, position embeddings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31"/>
          <p:cNvSpPr txBox="1"/>
          <p:nvPr/>
        </p:nvSpPr>
        <p:spPr>
          <a:xfrm>
            <a:off x="5102550" y="3880663"/>
            <a:ext cx="24504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For each transformer layer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5102550" y="3246863"/>
            <a:ext cx="24504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RMS/LayerNorm kernel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4879200" y="2630588"/>
            <a:ext cx="28971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QKV Projection: matmul kernel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4913250" y="1995950"/>
            <a:ext cx="28290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Attention: FlashAttention kernel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4913250" y="1331650"/>
            <a:ext cx="28290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Output Projection: matmul kernel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4913250" y="744450"/>
            <a:ext cx="28290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MLP: matmul kernel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4913250" y="183677"/>
            <a:ext cx="28290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Sampling kernel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66" name="Google Shape;266;p31"/>
          <p:cNvCxnSpPr>
            <a:stCxn id="258" idx="0"/>
            <a:endCxn id="259" idx="2"/>
          </p:cNvCxnSpPr>
          <p:nvPr/>
        </p:nvCxnSpPr>
        <p:spPr>
          <a:xfrm rot="10800000">
            <a:off x="6327750" y="4280763"/>
            <a:ext cx="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31"/>
          <p:cNvCxnSpPr>
            <a:stCxn id="259" idx="0"/>
            <a:endCxn id="260" idx="2"/>
          </p:cNvCxnSpPr>
          <p:nvPr/>
        </p:nvCxnSpPr>
        <p:spPr>
          <a:xfrm rot="10800000">
            <a:off x="6327750" y="3646963"/>
            <a:ext cx="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31"/>
          <p:cNvCxnSpPr/>
          <p:nvPr/>
        </p:nvCxnSpPr>
        <p:spPr>
          <a:xfrm rot="10800000">
            <a:off x="6327750" y="3021725"/>
            <a:ext cx="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31"/>
          <p:cNvCxnSpPr/>
          <p:nvPr/>
        </p:nvCxnSpPr>
        <p:spPr>
          <a:xfrm rot="10800000">
            <a:off x="6327750" y="2396513"/>
            <a:ext cx="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31"/>
          <p:cNvCxnSpPr>
            <a:stCxn id="262" idx="0"/>
            <a:endCxn id="263" idx="2"/>
          </p:cNvCxnSpPr>
          <p:nvPr/>
        </p:nvCxnSpPr>
        <p:spPr>
          <a:xfrm rot="10800000">
            <a:off x="6327750" y="1731950"/>
            <a:ext cx="0" cy="26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31"/>
          <p:cNvCxnSpPr>
            <a:stCxn id="263" idx="0"/>
            <a:endCxn id="264" idx="2"/>
          </p:cNvCxnSpPr>
          <p:nvPr/>
        </p:nvCxnSpPr>
        <p:spPr>
          <a:xfrm rot="10800000">
            <a:off x="6327750" y="1144750"/>
            <a:ext cx="0" cy="1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31"/>
          <p:cNvCxnSpPr>
            <a:stCxn id="264" idx="0"/>
            <a:endCxn id="265" idx="2"/>
          </p:cNvCxnSpPr>
          <p:nvPr/>
        </p:nvCxnSpPr>
        <p:spPr>
          <a:xfrm rot="10800000">
            <a:off x="6327750" y="583950"/>
            <a:ext cx="0" cy="16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1"/>
          <p:cNvCxnSpPr>
            <a:stCxn id="264" idx="3"/>
            <a:endCxn id="259" idx="3"/>
          </p:cNvCxnSpPr>
          <p:nvPr/>
        </p:nvCxnSpPr>
        <p:spPr>
          <a:xfrm flipH="1">
            <a:off x="7552950" y="944550"/>
            <a:ext cx="189300" cy="3136200"/>
          </a:xfrm>
          <a:prstGeom prst="bentConnector3">
            <a:avLst>
              <a:gd fmla="val -1257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Intensity</a:t>
            </a:r>
            <a:endParaRPr/>
          </a:p>
        </p:txBody>
      </p:sp>
      <p:sp>
        <p:nvSpPr>
          <p:cNvPr id="279" name="Google Shape;27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Arithmetic Intensity (AI):</a:t>
            </a:r>
            <a:r>
              <a:rPr lang="en"/>
              <a:t> How much computation we do per unit of data moved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 = FLOPs/Bytes moved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High AI: Lot of math per unit data moved, compute bound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</a:t>
            </a:r>
            <a:r>
              <a:rPr lang="en"/>
              <a:t> AI: Little math per unit data moved, memory bandwidth-bound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Examples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x + 1: just one calculation for 1 R/W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Matrix Multiplication: High AI (each row/col is used to calculate several elements of the output matrix)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FlashAttention	</a:t>
            </a:r>
            <a:endParaRPr/>
          </a:p>
        </p:txBody>
      </p:sp>
      <p:pic>
        <p:nvPicPr>
          <p:cNvPr descr="{&quot;font&quot;:{&quot;family&quot;:&quot;Arial&quot;,&quot;color&quot;:&quot;#595959&quot;,&quot;size&quot;:14},&quot;type&quot;:&quot;gather*&quot;,&quot;aid&quot;:null,&quot;code&quot;:&quot;\\begin{gather*}\n{\\text{Recall}\\;\\text{Softmax}\\;\\text{Operation}}\\\\\n{\\text{For}\\;\\text{one}\\;\\text{attention}\\;\\text{head,}\\;\\text{sequence}\\;\\text{length}\\;N,\\,\\text{head}\\;\\text{dimension}\\;d}\\\\\n{Q,K,V\\,\\in\\Re^{N\\times d}}\\\\\n{\\,\\text{Scaled}\\;\\text{dot}\\;\\text{product}\\;\\text{attention}\\;\\text{}}\\\\\n{S=\\frac{QK^{T}}{{\\sqrt[]{d}}}\\,\\left(N\\times N\\right)}\\\\\n{P=\\text{Softmax(S)}\\,\\left(N\\times N\\right)}\\\\\n{O=PV\\,\\left(N\\times d\\right)}\\\\\n{\\text{Complexity:}\\;\\text{O(}N^{2}d\\text{)}}\t\n\\end{gather*}&quot;,&quot;id&quot;:&quot;6&quot;,&quot;backgroundColorModified&quot;:false,&quot;backgroundColor&quot;:&quot;#FFFFFF&quot;,&quot;ts&quot;:1777509873589,&quot;cs&quot;:&quot;2Ora+RpX7XL7wlInz9Iwlw==&quot;,&quot;size&quot;:{&quot;width&quot;:583.9266908136483,&quot;height&quot;:261.1679343832021}}" id="285" name="Google Shape;2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4625"/>
            <a:ext cx="5561902" cy="248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GPU Architecture</a:t>
            </a:r>
            <a:endParaRPr/>
          </a:p>
        </p:txBody>
      </p:sp>
      <p:pic>
        <p:nvPicPr>
          <p:cNvPr id="291" name="Google Shape;2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800" y="970175"/>
            <a:ext cx="6670200" cy="367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4"/>
          <p:cNvSpPr txBox="1"/>
          <p:nvPr/>
        </p:nvSpPr>
        <p:spPr>
          <a:xfrm>
            <a:off x="59600" y="1338850"/>
            <a:ext cx="2450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Streaming</a:t>
            </a:r>
            <a:r>
              <a:rPr b="1" lang="en">
                <a:solidFill>
                  <a:schemeClr val="dk2"/>
                </a:solidFill>
              </a:rPr>
              <a:t> Microprocessors (SM): </a:t>
            </a:r>
            <a:r>
              <a:rPr lang="en">
                <a:solidFill>
                  <a:schemeClr val="dk2"/>
                </a:solidFill>
              </a:rPr>
              <a:t>Where </a:t>
            </a:r>
            <a:r>
              <a:rPr lang="en">
                <a:solidFill>
                  <a:schemeClr val="dk2"/>
                </a:solidFill>
              </a:rPr>
              <a:t>calculations</a:t>
            </a:r>
            <a:r>
              <a:rPr lang="en">
                <a:solidFill>
                  <a:schemeClr val="dk2"/>
                </a:solidFill>
              </a:rPr>
              <a:t> happen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SRAM:</a:t>
            </a:r>
            <a:r>
              <a:rPr lang="en">
                <a:solidFill>
                  <a:schemeClr val="dk2"/>
                </a:solidFill>
              </a:rPr>
              <a:t> Local data storage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DRAM: </a:t>
            </a:r>
            <a:r>
              <a:rPr lang="en">
                <a:solidFill>
                  <a:schemeClr val="dk2"/>
                </a:solidFill>
              </a:rPr>
              <a:t>Global memory, but data must be transferred to SRAM for compute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Attention: Naive Implementation</a:t>
            </a:r>
            <a:endParaRPr/>
          </a:p>
        </p:txBody>
      </p:sp>
      <p:sp>
        <p:nvSpPr>
          <p:cNvPr id="298" name="Google Shape;298;p35"/>
          <p:cNvSpPr txBox="1"/>
          <p:nvPr>
            <p:ph idx="1" type="body"/>
          </p:nvPr>
        </p:nvSpPr>
        <p:spPr>
          <a:xfrm>
            <a:off x="407650" y="2462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Problem 1: </a:t>
            </a:r>
            <a:r>
              <a:rPr lang="en" sz="1500"/>
              <a:t>The intermediate matrices can be huge.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Say N = 8192, then each attention matrix (fp16) = 8192*8192*2 bytes ~134 MB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This much data must be written back and forth for every attention head for every layer for every sequence in the batch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</a:endParaRPr>
          </a:p>
        </p:txBody>
      </p:sp>
      <p:pic>
        <p:nvPicPr>
          <p:cNvPr id="299" name="Google Shape;2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50" y="1229700"/>
            <a:ext cx="8048625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Attention: Naive Implementation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371275" y="2305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Problem 2:</a:t>
            </a:r>
            <a:r>
              <a:rPr lang="en" sz="1500"/>
              <a:t> Multiple kernel launches, which also precludes sharing data, as one kernel can’t access previous kernel’s SRAM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</p:txBody>
      </p:sp>
      <p:pic>
        <p:nvPicPr>
          <p:cNvPr id="306" name="Google Shape;3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50" y="1191400"/>
            <a:ext cx="7415441" cy="9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Tiling, Streaming and Kernel Fusion</a:t>
            </a:r>
            <a:endParaRPr/>
          </a:p>
        </p:txBody>
      </p:sp>
      <p:sp>
        <p:nvSpPr>
          <p:cNvPr id="312" name="Google Shape;31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Flash Attention</a:t>
            </a:r>
            <a:r>
              <a:rPr lang="en" sz="1500"/>
              <a:t> does two big things: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Do not make the GPU remember the whole attention matrix. Stream through it in tiles and accumulate the final answer.</a:t>
            </a:r>
            <a:br>
              <a:rPr lang="en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Fuse the various calculations in attention into a single kernel. This is called </a:t>
            </a:r>
            <a:r>
              <a:rPr i="1" lang="en" sz="1500"/>
              <a:t>kernel fusion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Tiled multiplication</a:t>
            </a:r>
            <a:endParaRPr/>
          </a:p>
        </p:txBody>
      </p:sp>
      <p:sp>
        <p:nvSpPr>
          <p:cNvPr id="318" name="Google Shape;31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Recall what we are doing in the attention operation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a query vector, we calculate the dot product against all the key vectors to get raw attention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normalize the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calculate a weighted average of the value vectors with the attention scores as the weights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Let’s say we didn’t have the normalization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Tiled multiplication</a:t>
            </a:r>
            <a:endParaRPr/>
          </a:p>
        </p:txBody>
      </p:sp>
      <p:graphicFrame>
        <p:nvGraphicFramePr>
          <p:cNvPr id="324" name="Google Shape;324;p39"/>
          <p:cNvGraphicFramePr/>
          <p:nvPr/>
        </p:nvGraphicFramePr>
        <p:xfrm>
          <a:off x="311700" y="161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6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5" name="Google Shape;325;p39"/>
          <p:cNvGraphicFramePr/>
          <p:nvPr/>
        </p:nvGraphicFramePr>
        <p:xfrm>
          <a:off x="27462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6" name="Google Shape;326;p39"/>
          <p:cNvGraphicFramePr/>
          <p:nvPr/>
        </p:nvGraphicFramePr>
        <p:xfrm>
          <a:off x="556355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7" name="Google Shape;327;p39"/>
          <p:cNvSpPr txBox="1"/>
          <p:nvPr/>
        </p:nvSpPr>
        <p:spPr>
          <a:xfrm>
            <a:off x="472300" y="2057850"/>
            <a:ext cx="166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Query vector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8" name="Google Shape;328;p39"/>
          <p:cNvSpPr txBox="1"/>
          <p:nvPr/>
        </p:nvSpPr>
        <p:spPr>
          <a:xfrm>
            <a:off x="2722075" y="1017725"/>
            <a:ext cx="242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 first two columns of the key matrix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29" name="Google Shape;329;p39"/>
          <p:cNvSpPr txBox="1"/>
          <p:nvPr/>
        </p:nvSpPr>
        <p:spPr>
          <a:xfrm>
            <a:off x="5501300" y="1017725"/>
            <a:ext cx="242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 first two columns of the value matrix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30" name="Google Shape;330;p39"/>
          <p:cNvSpPr txBox="1"/>
          <p:nvPr/>
        </p:nvSpPr>
        <p:spPr>
          <a:xfrm>
            <a:off x="334675" y="2888825"/>
            <a:ext cx="3430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Divide K, V matrices into blocks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Given a query vector,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Initialize output vector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every K, V block: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en" sz="1200">
                <a:solidFill>
                  <a:schemeClr val="dk2"/>
                </a:solidFill>
              </a:rPr>
              <a:t>Calculate dot product between query and K block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en" sz="1200">
                <a:solidFill>
                  <a:schemeClr val="dk2"/>
                </a:solidFill>
              </a:rPr>
              <a:t>Use the coefficients to calculate weighted average of V block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en" sz="1200">
                <a:solidFill>
                  <a:schemeClr val="dk2"/>
                </a:solidFill>
              </a:rPr>
              <a:t>Accumulate weighted average into the output vector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Write output vector back to HBM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4277600" y="3964400"/>
            <a:ext cx="34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Advantage: I’m reading less data each time (B*D for each block), the full matrix multiplcation vector doesn’t need to be materialized.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Tiled multiplication</a:t>
            </a:r>
            <a:endParaRPr/>
          </a:p>
        </p:txBody>
      </p:sp>
      <p:graphicFrame>
        <p:nvGraphicFramePr>
          <p:cNvPr id="337" name="Google Shape;337;p40"/>
          <p:cNvGraphicFramePr/>
          <p:nvPr/>
        </p:nvGraphicFramePr>
        <p:xfrm>
          <a:off x="2746200" y="155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38" name="Google Shape;338;p40"/>
          <p:cNvGraphicFramePr/>
          <p:nvPr/>
        </p:nvGraphicFramePr>
        <p:xfrm>
          <a:off x="5563550" y="155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9" name="Google Shape;339;p40"/>
          <p:cNvSpPr txBox="1"/>
          <p:nvPr/>
        </p:nvSpPr>
        <p:spPr>
          <a:xfrm>
            <a:off x="373475" y="3980850"/>
            <a:ext cx="166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Query matrix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2722075" y="949650"/>
            <a:ext cx="242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 first two columns of the key matrix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5501300" y="949650"/>
            <a:ext cx="242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 first two columns of the value matrix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42" name="Google Shape;342;p40"/>
          <p:cNvSpPr txBox="1"/>
          <p:nvPr/>
        </p:nvSpPr>
        <p:spPr>
          <a:xfrm>
            <a:off x="3641775" y="3513625"/>
            <a:ext cx="4585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Divide K, V matrices into blocks. The block size for K, V must be equal, query block size can be different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Given a query matrix,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Initialize output </a:t>
            </a:r>
            <a:r>
              <a:rPr i="1" lang="en" sz="1100">
                <a:solidFill>
                  <a:schemeClr val="dk2"/>
                </a:solidFill>
              </a:rPr>
              <a:t>matrix</a:t>
            </a:r>
            <a:endParaRPr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For every K, V block: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>
                <a:solidFill>
                  <a:schemeClr val="dk2"/>
                </a:solidFill>
              </a:rPr>
              <a:t>Calculate dot product between query and K block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>
                <a:solidFill>
                  <a:schemeClr val="dk2"/>
                </a:solidFill>
              </a:rPr>
              <a:t>Use the coefficients to calculate weighted average of V block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>
                <a:solidFill>
                  <a:schemeClr val="dk2"/>
                </a:solidFill>
              </a:rPr>
              <a:t>Accumulate weighted average into the output matrix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Write output vector back to HBM</a:t>
            </a:r>
            <a:endParaRPr sz="1100">
              <a:solidFill>
                <a:schemeClr val="dk2"/>
              </a:solidFill>
            </a:endParaRPr>
          </a:p>
        </p:txBody>
      </p:sp>
      <p:graphicFrame>
        <p:nvGraphicFramePr>
          <p:cNvPr id="343" name="Google Shape;343;p40"/>
          <p:cNvGraphicFramePr/>
          <p:nvPr/>
        </p:nvGraphicFramePr>
        <p:xfrm>
          <a:off x="56675" y="157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4" name="Google Shape;344;p40"/>
          <p:cNvSpPr txBox="1"/>
          <p:nvPr/>
        </p:nvSpPr>
        <p:spPr>
          <a:xfrm>
            <a:off x="32550" y="970175"/>
            <a:ext cx="242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 first three rows of the query matrix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45" name="Google Shape;345;p40"/>
          <p:cNvSpPr txBox="1"/>
          <p:nvPr/>
        </p:nvSpPr>
        <p:spPr>
          <a:xfrm>
            <a:off x="4058675" y="253275"/>
            <a:ext cx="408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idea can </a:t>
            </a:r>
            <a:r>
              <a:rPr lang="en" sz="1800">
                <a:solidFill>
                  <a:schemeClr val="dk2"/>
                </a:solidFill>
              </a:rPr>
              <a:t>easily be extended to multiple query rows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 txBox="1"/>
          <p:nvPr>
            <p:ph type="title"/>
          </p:nvPr>
        </p:nvSpPr>
        <p:spPr>
          <a:xfrm>
            <a:off x="243625" y="372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Tiled multiplication</a:t>
            </a:r>
            <a:endParaRPr/>
          </a:p>
        </p:txBody>
      </p:sp>
      <p:graphicFrame>
        <p:nvGraphicFramePr>
          <p:cNvPr id="351" name="Google Shape;351;p41"/>
          <p:cNvGraphicFramePr/>
          <p:nvPr/>
        </p:nvGraphicFramePr>
        <p:xfrm>
          <a:off x="3397100" y="83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2" name="Google Shape;352;p41"/>
          <p:cNvGraphicFramePr/>
          <p:nvPr/>
        </p:nvGraphicFramePr>
        <p:xfrm>
          <a:off x="6214450" y="83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3" name="Google Shape;353;p41"/>
          <p:cNvSpPr txBox="1"/>
          <p:nvPr/>
        </p:nvSpPr>
        <p:spPr>
          <a:xfrm>
            <a:off x="364975" y="4044650"/>
            <a:ext cx="166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Query matrix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4" name="Google Shape;354;p41"/>
          <p:cNvSpPr txBox="1"/>
          <p:nvPr/>
        </p:nvSpPr>
        <p:spPr>
          <a:xfrm>
            <a:off x="3372975" y="230675"/>
            <a:ext cx="242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keys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55" name="Google Shape;355;p41"/>
          <p:cNvSpPr txBox="1"/>
          <p:nvPr/>
        </p:nvSpPr>
        <p:spPr>
          <a:xfrm>
            <a:off x="6152200" y="230675"/>
            <a:ext cx="242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values</a:t>
            </a:r>
            <a:endParaRPr sz="1500">
              <a:solidFill>
                <a:schemeClr val="dk2"/>
              </a:solidFill>
            </a:endParaRPr>
          </a:p>
        </p:txBody>
      </p:sp>
      <p:graphicFrame>
        <p:nvGraphicFramePr>
          <p:cNvPr id="356" name="Google Shape;356;p41"/>
          <p:cNvGraphicFramePr/>
          <p:nvPr/>
        </p:nvGraphicFramePr>
        <p:xfrm>
          <a:off x="48175" y="164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7" name="Google Shape;357;p41"/>
          <p:cNvSpPr txBox="1"/>
          <p:nvPr/>
        </p:nvSpPr>
        <p:spPr>
          <a:xfrm>
            <a:off x="24050" y="1042500"/>
            <a:ext cx="242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 first three rows of the query matrix</a:t>
            </a:r>
            <a:endParaRPr sz="1500">
              <a:solidFill>
                <a:schemeClr val="dk2"/>
              </a:solidFill>
            </a:endParaRPr>
          </a:p>
        </p:txBody>
      </p:sp>
      <p:graphicFrame>
        <p:nvGraphicFramePr>
          <p:cNvPr id="358" name="Google Shape;358;p41"/>
          <p:cNvGraphicFramePr/>
          <p:nvPr/>
        </p:nvGraphicFramePr>
        <p:xfrm>
          <a:off x="3397100" y="314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9" name="Google Shape;359;p41"/>
          <p:cNvGraphicFramePr/>
          <p:nvPr/>
        </p:nvGraphicFramePr>
        <p:xfrm>
          <a:off x="6214450" y="314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{3B818586-E6B7-4E91-84AF-FB748F43AFE1}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sp>
        <p:nvSpPr>
          <p:cNvPr id="360" name="Google Shape;360;p41"/>
          <p:cNvSpPr txBox="1"/>
          <p:nvPr/>
        </p:nvSpPr>
        <p:spPr>
          <a:xfrm>
            <a:off x="4734500" y="372700"/>
            <a:ext cx="242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Iteration 2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61" name="Google Shape;361;p41"/>
          <p:cNvSpPr txBox="1"/>
          <p:nvPr/>
        </p:nvSpPr>
        <p:spPr>
          <a:xfrm>
            <a:off x="4734500" y="2787025"/>
            <a:ext cx="242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Iteration 3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Softmax</a:t>
            </a:r>
            <a:endParaRPr/>
          </a:p>
        </p:txBody>
      </p:sp>
      <p:pic>
        <p:nvPicPr>
          <p:cNvPr descr="{&quot;font&quot;:{&quot;family&quot;:&quot;Arial&quot;,&quot;color&quot;:&quot;#595959&quot;,&quot;size&quot;:15.5},&quot;backgroundColorModified&quot;:false,&quot;id&quot;:&quot;7&quot;,&quot;backgroundColor&quot;:&quot;#FFFFFF&quot;,&quot;type&quot;:&quot;gather*&quot;,&quot;aid&quot;:null,&quot;code&quot;:&quot;\\begin{gather*}\n{\\text{For}\\;\\text{every}\\;\\text{query,}\\;\\text{attention}\\;\\text{requires}}\\\\\n{O_{i}=\\sum_{j}^{}\\frac{\\exp\\left(S_{ij}\\right)}{\\sum_{k}^{}\\exp\\left(S_{ik}\\right)}V_{j}}\\\\\n{\\text{The}\\;\\text{denominator}\\;\\text{depends}\\;\\text{on}\\;\\text{all}\\;\\text{the}\\;\\text{keys..so}\\;\\text{how}\\;\\text{can}\\;\\text{we}\\;\\text{process}\\;\\text{blocks}\\;\\text{at}\\;\\text{a}\\;\\text{time?}\\;\\text{}}\t\n\\end{gather*}&quot;,&quot;ts&quot;:1777516993917,&quot;cs&quot;:&quot;8v5ojyxpcqqRw6jrcIW8RA==&quot;,&quot;size&quot;:{&quot;width&quot;:873.7846582677166,&quot;height&quot;:131.1994881889764}}" id="367" name="Google Shape;36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25" y="1142700"/>
            <a:ext cx="8322799" cy="124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\\begin{gather*}\n{\\text{First,}\\;\\text{a}\\;\\text{trick}\\;\\text{for}\\;\\text{numerical}\\;\\text{stability}}\\\\\n{O_{i}=\\sum_{j}^{}P_{ij}V_{j}}\\\\\n{P_{j}=\\frac{\\exp\\left(S_{ij}-m_{i}\\right)}{\\sum_{k}^{}\\left(\\exp\\left(S_{ik}\\right)-m_{i}\\right)}}\\\\\n{m_{i}=\\max_{k}\\left(S_{ik}\\right)\\text{}}\\\\\n{\\text{Subtracting}\\;\\text{the}\\;\\text{max}\\;\\text{and}\\;\\text{then}\\;\\text{exponentiating}\\;\\text{makes}\\;\\text{exponentials}\\;\\text{smaller}\\;\\text{and}\\;\\text{reduces}\\;\\text{overflow}}\t\n\\end{gather*}&quot;,&quot;type&quot;:&quot;gather*&quot;,&quot;backgroundColor&quot;:&quot;#FFFFFF&quot;,&quot;aid&quot;:null,&quot;font&quot;:{&quot;color&quot;:&quot;#595959&quot;,&quot;size&quot;:13.5,&quot;family&quot;:&quot;Arial&quot;},&quot;id&quot;:&quot;7&quot;,&quot;ts&quot;:1777548074963,&quot;cs&quot;:&quot;+nLeFuwj5QI9gs3u47Bkvw==&quot;,&quot;size&quot;:{&quot;width&quot;:869,&quot;height&quot;:206}}" id="368" name="Google Shape;36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550" y="2767147"/>
            <a:ext cx="8277225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Softmax</a:t>
            </a:r>
            <a:endParaRPr/>
          </a:p>
        </p:txBody>
      </p:sp>
      <p:pic>
        <p:nvPicPr>
          <p:cNvPr descr="{&quot;backgroundColorModified&quot;:false,&quot;code&quot;:&quot;\\begin{gather*}\n{\\text{First,}\\;\\text{a}\\;\\text{trick}\\;\\text{for}\\;\\text{numerical}\\;\\text{stability}}\\\\\n{O_{i}=\\sum_{j}^{}P_{ij}V_{j}}\\\\\n{P_{j}=\\frac{\\exp\\left(S_{ij}-m_{i}\\right)}{\\sum_{k}^{}\\left(\\exp\\left(S_{ik}\\right)-m_{i}\\right)}}\\\\\n{m_{i}=\\max_{k}\\left(S_{ik}\\right)\\text{}}\\\\\n{\\text{Subtracting}\\;\\text{the}\\;\\text{max}\\;\\text{and}\\;\\text{then}\\;\\text{exponentiating}\\;\\text{makes}\\;\\text{exponentials}\\;\\text{smaller}\\;\\text{and}\\;\\text{reduces}\\;\\text{overflow}}\t\n\\end{gather*}&quot;,&quot;type&quot;:&quot;gather*&quot;,&quot;backgroundColor&quot;:&quot;#FFFFFF&quot;,&quot;aid&quot;:null,&quot;font&quot;:{&quot;color&quot;:&quot;#595959&quot;,&quot;size&quot;:13.5,&quot;family&quot;:&quot;Arial&quot;},&quot;id&quot;:&quot;7&quot;,&quot;ts&quot;:1777548074963,&quot;cs&quot;:&quot;+nLeFuwj5QI9gs3u47Bkvw==&quot;,&quot;size&quot;:{&quot;width&quot;:869,&quot;height&quot;:206}}" id="374" name="Google Shape;37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75" y="1197272"/>
            <a:ext cx="8277225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3"/>
          <p:cNvSpPr txBox="1"/>
          <p:nvPr/>
        </p:nvSpPr>
        <p:spPr>
          <a:xfrm>
            <a:off x="242575" y="3606450"/>
            <a:ext cx="357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compute the denominator and the sum, we need all the keys!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solution: Online Softmax</a:t>
            </a:r>
            <a:endParaRPr/>
          </a:p>
        </p:txBody>
      </p:sp>
      <p:pic>
        <p:nvPicPr>
          <p:cNvPr descr="{&quot;type&quot;:&quot;gather*&quot;,&quot;backgroundColorModified&quot;:false,&quot;code&quot;:&quot;\\begin{gather*}\n{\\text{Maintain}\\;\\text{three}\\;\\text{running}\\;\\text{quantities:}}\\\\\n{m_{i}:\\,\\text{max}\\;\\text{score}\\;\\text{seen}\\;\\text{so}\\;\\text{far}}\\\\\n{l_{i}:\\,\\text{running}\\;\\text{softmax}\\;\\text{denominator,}\\;\\text{adjusted}\\;\\text{for}\\;\\text{current}\\;\\text{max}}\\\\\n{o_{i}:\\,\\text{running}\\;\\text{output}}\\\\\n{\\text{For}\\;\\text{a}\\;\\text{query}\\;i,\\,\\text{suppose}\\;\\text{after}\\;\\text{processing}\\;\\text{the}\\;\\text{previous}\\;\\text{block,}\\;\\text{we}\\;\\text{have}}\\\\\n{m_{old},l_{old},\\,o_{old}}\t\n\\end{gather*}&quot;,&quot;font&quot;:{&quot;family&quot;:&quot;Arial&quot;,&quot;size&quot;:18,&quot;color&quot;:&quot;#595959&quot;},&quot;aid&quot;:null,&quot;backgroundColor&quot;:&quot;#FFFFFF&quot;,&quot;id&quot;:&quot;8&quot;,&quot;ts&quot;:1777549510954,&quot;cs&quot;:&quot;c6JOJJ1QWubLUphLKc9pWg==&quot;,&quot;size&quot;:{&quot;width&quot;:813.5,&quot;height&quot;:208.5}}" id="381" name="Google Shape;3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25" y="2519874"/>
            <a:ext cx="6676525" cy="17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4"/>
          <p:cNvSpPr txBox="1"/>
          <p:nvPr/>
        </p:nvSpPr>
        <p:spPr>
          <a:xfrm>
            <a:off x="370175" y="1241025"/>
            <a:ext cx="757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Core idea:</a:t>
            </a:r>
            <a:r>
              <a:rPr lang="en" sz="1800">
                <a:solidFill>
                  <a:schemeClr val="dk2"/>
                </a:solidFill>
              </a:rPr>
              <a:t> Maintain running counters that are updated as K, V are streamed in, such that the final output is the same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The solution: Online Softmax</a:t>
            </a:r>
            <a:endParaRPr/>
          </a:p>
        </p:txBody>
      </p:sp>
      <p:pic>
        <p:nvPicPr>
          <p:cNvPr descr="{&quot;code&quot;:&quot;\\begin{gather*}\n{\\text{For}\\;\\text{a}\\;\\text{new}\\;\\text{KV}\\;\\text{block:}}\\\\\n{1.\\,\\text{calculate}\\;S_{ij}\\,\\text{and}\\;\\text{take}\\;\\text{max:}}\\\\\n{m_{block}=\\max_{j}\\left(S_{ij}\\right)}\\\\\n{\\text{New}\\;\\text{global}\\;\\text{max:}\\;\\text{}}\\\\\n{m_{new}=\\max\\left(m_{old},m_{block}\\right)}\\\\\n{}\\\\\n{2.\\,\\text{Calculate}\\,\\text{new}\\,\\text{running}\\;\\text{denominator}\\;\\text{adjusting}\\;\\text{for}\\;\\text{the}\\;\\text{new}\\;\\text{max}}\\\\\n{l_{new}=\\exp\\left(m_{old}-m_{new}\\right)l_{old}+\\sum_{j\\in \\text{block}}^{}\\exp\\left(S_{ij}-m_{new}\\right)}\\\\\n{3.\\,\\text{Similarly,}\\;\\text{rescale}\\;\\text{the}\\;\\text{output}\\;\\text{accumulator}}\\\\\n{o_{new}=\\exp\\left(m_{old}-m_{new}\\right)o_{old}+\\sum_{j\\in \\text{block}}^{}\\exp\\left(S_{ij}-m_{new}\\right)V_{j}}\\\\\n{\\text{After}\\;\\text{processing}\\;\\text{all}\\;\\text{the}\\;\\text{KV}\\;\\text{blocks},}\\\\\n{O_{i}=\\frac{o_{i}}{l_{i}}}\t\n\\end{gather*}&quot;,&quot;aid&quot;:null,&quot;font&quot;:{&quot;family&quot;:&quot;Arial&quot;,&quot;size&quot;:13.5,&quot;color&quot;:&quot;#595959&quot;},&quot;type&quot;:&quot;gather*&quot;,&quot;backgroundColorModified&quot;:false,&quot;id&quot;:&quot;8&quot;,&quot;backgroundColor&quot;:&quot;#FFFFFF&quot;,&quot;ts&quot;:1777599949551,&quot;cs&quot;:&quot;Yypy8s84lX7KKtEk7TCnkg==&quot;,&quot;size&quot;:{&quot;width&quot;:588,&quot;height&quot;:424.5}}" id="388" name="Google Shape;38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650" y="1063312"/>
            <a:ext cx="5600700" cy="404336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5"/>
          <p:cNvSpPr txBox="1"/>
          <p:nvPr/>
        </p:nvSpPr>
        <p:spPr>
          <a:xfrm>
            <a:off x="5126575" y="1036825"/>
            <a:ext cx="3573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Note:</a:t>
            </a:r>
            <a:r>
              <a:rPr lang="en" sz="1600">
                <a:solidFill>
                  <a:schemeClr val="dk2"/>
                </a:solidFill>
              </a:rPr>
              <a:t> the running averages can stay in SRAM, as KV blocks are streamed in to the same FlashAttention kernel. No new kernel launches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FlashAttention: Summary</a:t>
            </a:r>
            <a:endParaRPr/>
          </a:p>
        </p:txBody>
      </p:sp>
      <p:sp>
        <p:nvSpPr>
          <p:cNvPr id="395" name="Google Shape;39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attention is slow because: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Materializes N^2 intermediates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Repeatedly moves them through HBM between separate kernels. HBM may be large enough to store them, but the bandwidth cost of writing and rereading them is huge.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FlashAttention </a:t>
            </a:r>
            <a:r>
              <a:rPr b="1" lang="en"/>
              <a:t>fuses</a:t>
            </a:r>
            <a:r>
              <a:rPr lang="en"/>
              <a:t> the attention computation and uses </a:t>
            </a:r>
            <a:r>
              <a:rPr b="1" lang="en"/>
              <a:t>tiled online softmax</a:t>
            </a:r>
            <a:r>
              <a:rPr lang="en"/>
              <a:t> so each small score tile is created on-chip, consumed immediately, and never written to HBM.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vs Inference</a:t>
            </a:r>
            <a:endParaRPr/>
          </a:p>
        </p:txBody>
      </p:sp>
      <p:sp>
        <p:nvSpPr>
          <p:cNvPr id="401" name="Google Shape;40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Training</a:t>
            </a:r>
            <a:r>
              <a:rPr lang="en"/>
              <a:t> requires forward and backward pass, and avoiding the N,N attention matrix was a key enabler in making long-context training possible. Adapting the backprop math in the backward pass to FlashAttention is tricky!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b="1" lang="en"/>
              <a:t>Inference prefill</a:t>
            </a:r>
            <a:r>
              <a:rPr lang="en"/>
              <a:t>, we process the entire prompt at once, and FlashAttention is critical to lower TTFT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b="1" lang="en"/>
              <a:t>Inference decode</a:t>
            </a:r>
            <a:r>
              <a:rPr lang="en"/>
              <a:t>, we are calculating attention score of the current token wrt previous KV cache.. So the attention matrix is only 1,N and FlashAttention is less important.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Decode is dominated by reading KV </a:t>
            </a:r>
            <a:r>
              <a:rPr lang="en"/>
              <a:t>cache</a:t>
            </a:r>
            <a:r>
              <a:rPr lang="en"/>
              <a:t> from memory, so paged attention, kv cache layout become more important..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