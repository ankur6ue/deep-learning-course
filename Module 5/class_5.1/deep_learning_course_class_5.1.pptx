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22A7B2D-7E37-4577-AFCF-14A211495966}">
  <a:tblStyle styleId="{A22A7B2D-7E37-4577-AFCF-14A21149596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9229b9b30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9229b9b30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933804356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933804356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cb4049d293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cb4049d293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942a1e851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942a1e851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9338043568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9338043568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9338043568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9338043568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9338043568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9338043568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cb4049d293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cb4049d293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9338043568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9338043568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9338043568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9338043568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9338043568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9338043568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9338043568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9338043568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9338043568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9338043568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933dd63543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933dd63543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9338043568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9338043568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cb4049d293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cb4049d293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933dd63543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3933dd63543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933dd63543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933dd63543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933dd63543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3933dd63543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943c10116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3943c10116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943c101166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943c101166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cb4049d29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3cb4049d29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cb4049d293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3cb4049d293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cs231n.stanford.edu/slides/2025/lecture_5.pdf"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4.png"/><Relationship Id="rId4" Type="http://schemas.openxmlformats.org/officeDocument/2006/relationships/image" Target="../media/image21.png"/><Relationship Id="rId5" Type="http://schemas.openxmlformats.org/officeDocument/2006/relationships/image" Target="../media/image2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2.png"/><Relationship Id="rId4" Type="http://schemas.openxmlformats.org/officeDocument/2006/relationships/image" Target="../media/image17.png"/><Relationship Id="rId5" Type="http://schemas.openxmlformats.org/officeDocument/2006/relationships/image" Target="../media/image2.png"/><Relationship Id="rId6"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6.png"/><Relationship Id="rId4" Type="http://schemas.openxmlformats.org/officeDocument/2006/relationships/image" Target="../media/image5.png"/><Relationship Id="rId5" Type="http://schemas.openxmlformats.org/officeDocument/2006/relationships/image" Target="../media/image15.png"/><Relationship Id="rId6"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6.png"/><Relationship Id="rId5" Type="http://schemas.openxmlformats.org/officeDocument/2006/relationships/image" Target="../media/image4.png"/><Relationship Id="rId6" Type="http://schemas.openxmlformats.org/officeDocument/2006/relationships/image" Target="../media/image19.png"/><Relationship Id="rId7"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6.png"/><Relationship Id="rId5" Type="http://schemas.openxmlformats.org/officeDocument/2006/relationships/image" Target="../media/image4.png"/><Relationship Id="rId6"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3.png"/><Relationship Id="rId4" Type="http://schemas.openxmlformats.org/officeDocument/2006/relationships/image" Target="../media/image11.png"/><Relationship Id="rId5" Type="http://schemas.openxmlformats.org/officeDocument/2006/relationships/image" Target="../media/image10.png"/><Relationship Id="rId6" Type="http://schemas.openxmlformats.org/officeDocument/2006/relationships/image" Target="../media/image20.png"/><Relationship Id="rId7" Type="http://schemas.openxmlformats.org/officeDocument/2006/relationships/image" Target="../media/image2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0.png"/><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4.png"/><Relationship Id="rId4" Type="http://schemas.openxmlformats.org/officeDocument/2006/relationships/image" Target="../media/image2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31.png"/><Relationship Id="rId4"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Neural Architectures</a:t>
            </a:r>
            <a:endParaRPr b="1" sz="3122"/>
          </a:p>
          <a:p>
            <a:pPr indent="0" lvl="0" marL="0" rtl="0" algn="ctr">
              <a:spcBef>
                <a:spcPts val="0"/>
              </a:spcBef>
              <a:spcAft>
                <a:spcPts val="0"/>
              </a:spcAft>
              <a:buNone/>
            </a:pPr>
            <a:r>
              <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Introduction to Deep Learning: Class 5.1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Neural Network Architectures </a:t>
            </a:r>
            <a:endParaRPr/>
          </a:p>
        </p:txBody>
      </p:sp>
      <p:sp>
        <p:nvSpPr>
          <p:cNvPr id="61" name="Google Shape;61;p14"/>
          <p:cNvSpPr txBox="1"/>
          <p:nvPr>
            <p:ph idx="1" type="body"/>
          </p:nvPr>
        </p:nvSpPr>
        <p:spPr>
          <a:xfrm>
            <a:off x="274750" y="1217100"/>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Neural Architectures: </a:t>
            </a:r>
            <a:r>
              <a:rPr lang="en"/>
              <a:t>How do we organize neurons into layers and connect the layers into networks to take advantage of the natural structure in the training data</a:t>
            </a:r>
            <a:endParaRPr/>
          </a:p>
          <a:p>
            <a:pPr indent="-342900" lvl="0" marL="457200" rtl="0" algn="l">
              <a:spcBef>
                <a:spcPts val="1200"/>
              </a:spcBef>
              <a:spcAft>
                <a:spcPts val="0"/>
              </a:spcAft>
              <a:buSzPts val="1800"/>
              <a:buChar char="-"/>
            </a:pPr>
            <a:r>
              <a:rPr lang="en"/>
              <a:t>Images / grids → </a:t>
            </a:r>
            <a:r>
              <a:rPr b="1" lang="en"/>
              <a:t>CNN</a:t>
            </a:r>
            <a:r>
              <a:rPr lang="en"/>
              <a:t> / ResNet / U-Net</a:t>
            </a:r>
            <a:endParaRPr/>
          </a:p>
          <a:p>
            <a:pPr indent="-342900" lvl="0" marL="457200" rtl="0" algn="l">
              <a:spcBef>
                <a:spcPts val="0"/>
              </a:spcBef>
              <a:spcAft>
                <a:spcPts val="0"/>
              </a:spcAft>
              <a:buSzPts val="1800"/>
              <a:buChar char="-"/>
            </a:pPr>
            <a:r>
              <a:rPr lang="en"/>
              <a:t>Text / sequence transduction → Transformer encoder–decoder</a:t>
            </a:r>
            <a:endParaRPr/>
          </a:p>
          <a:p>
            <a:pPr indent="-342900" lvl="0" marL="457200" rtl="0" algn="l">
              <a:spcBef>
                <a:spcPts val="0"/>
              </a:spcBef>
              <a:spcAft>
                <a:spcPts val="0"/>
              </a:spcAft>
              <a:buSzPts val="1800"/>
              <a:buChar char="-"/>
            </a:pPr>
            <a:r>
              <a:rPr lang="en"/>
              <a:t>Relations / molecules / networks → GNN</a:t>
            </a:r>
            <a:endParaRPr/>
          </a:p>
          <a:p>
            <a:pPr indent="-342900" lvl="0" marL="457200" rtl="0" algn="l">
              <a:spcBef>
                <a:spcPts val="0"/>
              </a:spcBef>
              <a:spcAft>
                <a:spcPts val="0"/>
              </a:spcAft>
              <a:buSzPts val="1800"/>
              <a:buChar char="-"/>
            </a:pPr>
            <a:r>
              <a:rPr lang="en"/>
              <a:t>Variational Auto-Encoders: Learning features using self-supervision</a:t>
            </a:r>
            <a:endParaRPr/>
          </a:p>
          <a:p>
            <a:pPr indent="-342900" lvl="0" marL="457200" rtl="0" algn="l">
              <a:spcBef>
                <a:spcPts val="0"/>
              </a:spcBef>
              <a:spcAft>
                <a:spcPts val="0"/>
              </a:spcAft>
              <a:buSzPts val="1800"/>
              <a:buChar char="-"/>
            </a:pPr>
            <a:r>
              <a:rPr lang="en"/>
              <a:t>Generative models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Pre-read</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u="sng">
                <a:solidFill>
                  <a:schemeClr val="hlink"/>
                </a:solidFill>
                <a:hlinkClick r:id="rId3"/>
              </a:rPr>
              <a:t>Standford Uni lecture notes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Convolutional Neural Networks</a:t>
            </a:r>
            <a:endParaRPr/>
          </a:p>
        </p:txBody>
      </p:sp>
      <p:sp>
        <p:nvSpPr>
          <p:cNvPr id="73" name="Google Shape;73;p16"/>
          <p:cNvSpPr txBox="1"/>
          <p:nvPr>
            <p:ph idx="1" type="body"/>
          </p:nvPr>
        </p:nvSpPr>
        <p:spPr>
          <a:xfrm>
            <a:off x="311700" y="1068550"/>
            <a:ext cx="8054700" cy="537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Used extensively in visual understanding tasks</a:t>
            </a:r>
            <a:endParaRPr/>
          </a:p>
        </p:txBody>
      </p:sp>
      <p:pic>
        <p:nvPicPr>
          <p:cNvPr id="74" name="Google Shape;74;p16"/>
          <p:cNvPicPr preferRelativeResize="0"/>
          <p:nvPr/>
        </p:nvPicPr>
        <p:blipFill>
          <a:blip r:embed="rId3">
            <a:alphaModFix/>
          </a:blip>
          <a:stretch>
            <a:fillRect/>
          </a:stretch>
        </p:blipFill>
        <p:spPr>
          <a:xfrm>
            <a:off x="51513" y="2391770"/>
            <a:ext cx="1710625" cy="2702550"/>
          </a:xfrm>
          <a:prstGeom prst="rect">
            <a:avLst/>
          </a:prstGeom>
          <a:noFill/>
          <a:ln>
            <a:noFill/>
          </a:ln>
        </p:spPr>
      </p:pic>
      <p:sp>
        <p:nvSpPr>
          <p:cNvPr id="75" name="Google Shape;75;p16"/>
          <p:cNvSpPr txBox="1"/>
          <p:nvPr/>
        </p:nvSpPr>
        <p:spPr>
          <a:xfrm>
            <a:off x="-36962" y="1656675"/>
            <a:ext cx="2230200" cy="8958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b="1" lang="en">
                <a:solidFill>
                  <a:schemeClr val="dk2"/>
                </a:solidFill>
              </a:rPr>
              <a:t>Image classification</a:t>
            </a:r>
            <a:br>
              <a:rPr b="1" lang="en">
                <a:solidFill>
                  <a:schemeClr val="dk2"/>
                </a:solidFill>
              </a:rPr>
            </a:br>
            <a:r>
              <a:rPr lang="en">
                <a:solidFill>
                  <a:schemeClr val="dk2"/>
                </a:solidFill>
              </a:rPr>
              <a:t>What is in an image (not where)?</a:t>
            </a:r>
            <a:endParaRPr sz="1000"/>
          </a:p>
        </p:txBody>
      </p:sp>
      <p:pic>
        <p:nvPicPr>
          <p:cNvPr id="76" name="Google Shape;76;p16"/>
          <p:cNvPicPr preferRelativeResize="0"/>
          <p:nvPr/>
        </p:nvPicPr>
        <p:blipFill>
          <a:blip r:embed="rId4">
            <a:alphaModFix/>
          </a:blip>
          <a:stretch>
            <a:fillRect/>
          </a:stretch>
        </p:blipFill>
        <p:spPr>
          <a:xfrm>
            <a:off x="1916450" y="2526525"/>
            <a:ext cx="4056588" cy="2282150"/>
          </a:xfrm>
          <a:prstGeom prst="rect">
            <a:avLst/>
          </a:prstGeom>
          <a:noFill/>
          <a:ln>
            <a:noFill/>
          </a:ln>
        </p:spPr>
      </p:pic>
      <p:sp>
        <p:nvSpPr>
          <p:cNvPr id="77" name="Google Shape;77;p16"/>
          <p:cNvSpPr txBox="1"/>
          <p:nvPr/>
        </p:nvSpPr>
        <p:spPr>
          <a:xfrm>
            <a:off x="2488625" y="1528275"/>
            <a:ext cx="2759700" cy="895800"/>
          </a:xfrm>
          <a:prstGeom prst="rect">
            <a:avLst/>
          </a:prstGeom>
          <a:noFill/>
          <a:ln>
            <a:noFill/>
          </a:ln>
        </p:spPr>
        <p:txBody>
          <a:bodyPr anchorCtr="0" anchor="t" bIns="91425" lIns="91425" spcFirstLastPara="1" rIns="91425" wrap="square" tIns="91425">
            <a:spAutoFit/>
          </a:bodyPr>
          <a:lstStyle/>
          <a:p>
            <a:pPr indent="0" lvl="0" marL="457200" rtl="0" algn="ctr">
              <a:lnSpc>
                <a:spcPct val="115000"/>
              </a:lnSpc>
              <a:spcBef>
                <a:spcPts val="0"/>
              </a:spcBef>
              <a:spcAft>
                <a:spcPts val="1200"/>
              </a:spcAft>
              <a:buNone/>
            </a:pPr>
            <a:r>
              <a:rPr b="1" lang="en">
                <a:solidFill>
                  <a:schemeClr val="dk2"/>
                </a:solidFill>
              </a:rPr>
              <a:t>Object detection</a:t>
            </a:r>
            <a:br>
              <a:rPr b="1" lang="en">
                <a:solidFill>
                  <a:schemeClr val="dk2"/>
                </a:solidFill>
              </a:rPr>
            </a:br>
            <a:r>
              <a:rPr lang="en">
                <a:solidFill>
                  <a:schemeClr val="dk2"/>
                </a:solidFill>
              </a:rPr>
              <a:t>Which objects are in the image, and where?</a:t>
            </a:r>
            <a:endParaRPr sz="1000"/>
          </a:p>
        </p:txBody>
      </p:sp>
      <p:pic>
        <p:nvPicPr>
          <p:cNvPr id="78" name="Google Shape;78;p16"/>
          <p:cNvPicPr preferRelativeResize="0"/>
          <p:nvPr/>
        </p:nvPicPr>
        <p:blipFill>
          <a:blip r:embed="rId5">
            <a:alphaModFix/>
          </a:blip>
          <a:stretch>
            <a:fillRect/>
          </a:stretch>
        </p:blipFill>
        <p:spPr>
          <a:xfrm>
            <a:off x="6127375" y="2526525"/>
            <a:ext cx="3016624" cy="1502382"/>
          </a:xfrm>
          <a:prstGeom prst="rect">
            <a:avLst/>
          </a:prstGeom>
          <a:noFill/>
          <a:ln>
            <a:noFill/>
          </a:ln>
        </p:spPr>
      </p:pic>
      <p:sp>
        <p:nvSpPr>
          <p:cNvPr id="79" name="Google Shape;79;p16"/>
          <p:cNvSpPr txBox="1"/>
          <p:nvPr/>
        </p:nvSpPr>
        <p:spPr>
          <a:xfrm>
            <a:off x="5974825" y="1495975"/>
            <a:ext cx="3000000" cy="895800"/>
          </a:xfrm>
          <a:prstGeom prst="rect">
            <a:avLst/>
          </a:prstGeom>
          <a:noFill/>
          <a:ln>
            <a:noFill/>
          </a:ln>
        </p:spPr>
        <p:txBody>
          <a:bodyPr anchorCtr="0" anchor="t" bIns="91425" lIns="91425" spcFirstLastPara="1" rIns="91425" wrap="square" tIns="91425">
            <a:spAutoFit/>
          </a:bodyPr>
          <a:lstStyle/>
          <a:p>
            <a:pPr indent="0" lvl="0" marL="457200" rtl="0" algn="ctr">
              <a:lnSpc>
                <a:spcPct val="115000"/>
              </a:lnSpc>
              <a:spcBef>
                <a:spcPts val="0"/>
              </a:spcBef>
              <a:spcAft>
                <a:spcPts val="1200"/>
              </a:spcAft>
              <a:buNone/>
            </a:pPr>
            <a:r>
              <a:rPr b="1" lang="en">
                <a:solidFill>
                  <a:schemeClr val="dk2"/>
                </a:solidFill>
              </a:rPr>
              <a:t>Image segmentation </a:t>
            </a:r>
            <a:br>
              <a:rPr b="1" lang="en">
                <a:solidFill>
                  <a:schemeClr val="dk2"/>
                </a:solidFill>
              </a:rPr>
            </a:br>
            <a:r>
              <a:rPr lang="en">
                <a:solidFill>
                  <a:schemeClr val="dk2"/>
                </a:solidFill>
              </a:rPr>
              <a:t>Which object does each image pixel represent?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graphicFrame>
        <p:nvGraphicFramePr>
          <p:cNvPr id="84" name="Google Shape;84;p17"/>
          <p:cNvGraphicFramePr/>
          <p:nvPr/>
        </p:nvGraphicFramePr>
        <p:xfrm>
          <a:off x="5060198" y="2215350"/>
          <a:ext cx="3000000" cy="3000000"/>
        </p:xfrm>
        <a:graphic>
          <a:graphicData uri="http://schemas.openxmlformats.org/drawingml/2006/table">
            <a:tbl>
              <a:tblPr>
                <a:noFill/>
                <a:tableStyleId>{A22A7B2D-7E37-4577-AFCF-14A211495966}</a:tableStyleId>
              </a:tblPr>
              <a:tblGrid>
                <a:gridCol w="382850"/>
                <a:gridCol w="382850"/>
                <a:gridCol w="382850"/>
                <a:gridCol w="382850"/>
                <a:gridCol w="382850"/>
                <a:gridCol w="382850"/>
              </a:tblGrid>
              <a:tr h="324675">
                <a:tc>
                  <a:txBody>
                    <a:bodyPr/>
                    <a:lstStyle/>
                    <a:p>
                      <a:pPr indent="0" lvl="0" marL="0" rtl="0" algn="l">
                        <a:spcBef>
                          <a:spcPts val="0"/>
                        </a:spcBef>
                        <a:spcAft>
                          <a:spcPts val="0"/>
                        </a:spcAft>
                        <a:buNone/>
                      </a:pPr>
                      <a:r>
                        <a:rPr lang="en" sz="800"/>
                        <a:t>X00</a:t>
                      </a:r>
                      <a:endParaRPr sz="800"/>
                    </a:p>
                  </a:txBody>
                  <a:tcPr marT="91425" marB="91425" marR="91425" marL="91425">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X01</a:t>
                      </a:r>
                      <a:endParaRPr/>
                    </a:p>
                  </a:txBody>
                  <a:tcPr marT="91425" marB="91425" marR="91425" marL="91425"/>
                </a:tc>
                <a:tc>
                  <a:txBody>
                    <a:bodyPr/>
                    <a:lstStyle/>
                    <a:p>
                      <a:pPr indent="0" lvl="0" marL="0" rtl="0" algn="l">
                        <a:spcBef>
                          <a:spcPts val="0"/>
                        </a:spcBef>
                        <a:spcAft>
                          <a:spcPts val="0"/>
                        </a:spcAft>
                        <a:buNone/>
                      </a:pPr>
                      <a:r>
                        <a:rPr lang="en" sz="800">
                          <a:solidFill>
                            <a:schemeClr val="dk1"/>
                          </a:solidFill>
                        </a:rPr>
                        <a:t>X02</a:t>
                      </a:r>
                      <a:endParaRPr/>
                    </a:p>
                  </a:txBody>
                  <a:tcPr marT="91425" marB="91425" marR="91425" marL="91425"/>
                </a:tc>
                <a:tc>
                  <a:txBody>
                    <a:bodyPr/>
                    <a:lstStyle/>
                    <a:p>
                      <a:pPr indent="0" lvl="0" marL="0" rtl="0" algn="l">
                        <a:spcBef>
                          <a:spcPts val="0"/>
                        </a:spcBef>
                        <a:spcAft>
                          <a:spcPts val="0"/>
                        </a:spcAft>
                        <a:buNone/>
                      </a:pPr>
                      <a:r>
                        <a:rPr lang="en" sz="800">
                          <a:solidFill>
                            <a:schemeClr val="dk1"/>
                          </a:solidFill>
                        </a:rPr>
                        <a:t>X03</a:t>
                      </a:r>
                      <a:endParaRPr/>
                    </a:p>
                  </a:txBody>
                  <a:tcPr marT="91425" marB="91425" marR="91425" marL="91425"/>
                </a:tc>
                <a:tc>
                  <a:txBody>
                    <a:bodyPr/>
                    <a:lstStyle/>
                    <a:p>
                      <a:pPr indent="0" lvl="0" marL="0" rtl="0" algn="l">
                        <a:spcBef>
                          <a:spcPts val="0"/>
                        </a:spcBef>
                        <a:spcAft>
                          <a:spcPts val="0"/>
                        </a:spcAft>
                        <a:buNone/>
                      </a:pPr>
                      <a:r>
                        <a:rPr lang="en" sz="800">
                          <a:solidFill>
                            <a:schemeClr val="dk1"/>
                          </a:solidFill>
                        </a:rPr>
                        <a:t>X04</a:t>
                      </a:r>
                      <a:endParaRPr/>
                    </a:p>
                  </a:txBody>
                  <a:tcPr marT="91425" marB="91425" marR="91425" marL="91425"/>
                </a:tc>
                <a:tc>
                  <a:txBody>
                    <a:bodyPr/>
                    <a:lstStyle/>
                    <a:p>
                      <a:pPr indent="0" lvl="0" marL="0" rtl="0" algn="l">
                        <a:spcBef>
                          <a:spcPts val="0"/>
                        </a:spcBef>
                        <a:spcAft>
                          <a:spcPts val="0"/>
                        </a:spcAft>
                        <a:buNone/>
                      </a:pPr>
                      <a:r>
                        <a:rPr lang="en" sz="800">
                          <a:solidFill>
                            <a:schemeClr val="dk1"/>
                          </a:solidFill>
                        </a:rPr>
                        <a:t>X05</a:t>
                      </a:r>
                      <a:endParaRPr/>
                    </a:p>
                  </a:txBody>
                  <a:tcPr marT="91425" marB="91425" marR="91425" marL="91425"/>
                </a:tc>
              </a:tr>
              <a:tr h="295550">
                <a:tc>
                  <a:txBody>
                    <a:bodyPr/>
                    <a:lstStyle/>
                    <a:p>
                      <a:pPr indent="0" lvl="0" marL="0" rtl="0" algn="l">
                        <a:spcBef>
                          <a:spcPts val="0"/>
                        </a:spcBef>
                        <a:spcAft>
                          <a:spcPts val="0"/>
                        </a:spcAft>
                        <a:buNone/>
                      </a:pPr>
                      <a:r>
                        <a:rPr b="1" lang="en" sz="800">
                          <a:solidFill>
                            <a:schemeClr val="dk1"/>
                          </a:solidFill>
                        </a:rPr>
                        <a:t>X10</a:t>
                      </a:r>
                      <a:endParaRPr b="1"/>
                    </a:p>
                  </a:txBody>
                  <a:tcPr marT="91425" marB="91425" marR="91425" marL="91425">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FF0000"/>
                    </a:solidFill>
                  </a:tcPr>
                </a:tc>
                <a:tc>
                  <a:txBody>
                    <a:bodyPr/>
                    <a:lstStyle/>
                    <a:p>
                      <a:pPr indent="0" lvl="0" marL="0" rtl="0" algn="l">
                        <a:spcBef>
                          <a:spcPts val="0"/>
                        </a:spcBef>
                        <a:spcAft>
                          <a:spcPts val="0"/>
                        </a:spcAft>
                        <a:buNone/>
                      </a:pPr>
                      <a:r>
                        <a:rPr lang="en" sz="800">
                          <a:solidFill>
                            <a:schemeClr val="dk1"/>
                          </a:solidFill>
                        </a:rPr>
                        <a:t>X11</a:t>
                      </a:r>
                      <a:endParaRPr/>
                    </a:p>
                  </a:txBody>
                  <a:tcPr marT="91425" marB="91425" marR="91425" marL="91425">
                    <a:lnL cap="flat" cmpd="sng" w="9525">
                      <a:solidFill>
                        <a:srgbClr val="666666"/>
                      </a:solidFill>
                      <a:prstDash val="solid"/>
                      <a:round/>
                      <a:headEnd len="sm" w="sm" type="none"/>
                      <a:tailEnd len="sm" w="sm" type="none"/>
                    </a:lnL>
                    <a:lnB cap="flat" cmpd="sng" w="9525">
                      <a:solidFill>
                        <a:srgbClr val="9E9E9E"/>
                      </a:solidFill>
                      <a:prstDash val="solid"/>
                      <a:round/>
                      <a:headEnd len="sm" w="sm" type="none"/>
                      <a:tailEnd len="sm" w="sm" type="none"/>
                    </a:lnB>
                    <a:solidFill>
                      <a:srgbClr val="FF0000"/>
                    </a:solidFill>
                  </a:tcPr>
                </a:tc>
                <a:tc>
                  <a:txBody>
                    <a:bodyPr/>
                    <a:lstStyle/>
                    <a:p>
                      <a:pPr indent="0" lvl="0" marL="0" rtl="0" algn="l">
                        <a:spcBef>
                          <a:spcPts val="0"/>
                        </a:spcBef>
                        <a:spcAft>
                          <a:spcPts val="0"/>
                        </a:spcAft>
                        <a:buNone/>
                      </a:pPr>
                      <a:r>
                        <a:rPr lang="en" sz="800">
                          <a:solidFill>
                            <a:schemeClr val="dk1"/>
                          </a:solidFill>
                        </a:rPr>
                        <a:t>X12</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en" sz="800">
                          <a:solidFill>
                            <a:schemeClr val="dk1"/>
                          </a:solidFill>
                        </a:rPr>
                        <a:t>X15</a:t>
                      </a:r>
                      <a:endParaRPr/>
                    </a:p>
                  </a:txBody>
                  <a:tcPr marT="91425" marB="91425" marR="91425" marL="91425"/>
                </a:tc>
              </a:tr>
              <a:tr h="295550">
                <a:tc>
                  <a:txBody>
                    <a:bodyPr/>
                    <a:lstStyle/>
                    <a:p>
                      <a:pPr indent="0" lvl="0" marL="0" rtl="0" algn="l">
                        <a:spcBef>
                          <a:spcPts val="0"/>
                        </a:spcBef>
                        <a:spcAft>
                          <a:spcPts val="0"/>
                        </a:spcAft>
                        <a:buNone/>
                      </a:pPr>
                      <a:r>
                        <a:rPr lang="en" sz="800">
                          <a:solidFill>
                            <a:schemeClr val="dk1"/>
                          </a:solidFill>
                        </a:rPr>
                        <a:t>X20</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9E9E9E"/>
                      </a:solidFill>
                      <a:prstDash val="solid"/>
                      <a:round/>
                      <a:headEnd len="sm" w="sm" type="none"/>
                      <a:tailEnd len="sm" w="sm" type="none"/>
                    </a:lnB>
                    <a:solidFill>
                      <a:srgbClr val="FF0000"/>
                    </a:solidFill>
                  </a:tcPr>
                </a:tc>
                <a:tc>
                  <a:txBody>
                    <a:bodyPr/>
                    <a:lstStyle/>
                    <a:p>
                      <a:pPr indent="0" lvl="0" marL="0" rtl="0" algn="l">
                        <a:spcBef>
                          <a:spcPts val="0"/>
                        </a:spcBef>
                        <a:spcAft>
                          <a:spcPts val="0"/>
                        </a:spcAft>
                        <a:buNone/>
                      </a:pPr>
                      <a:r>
                        <a:rPr lang="en" sz="800">
                          <a:solidFill>
                            <a:schemeClr val="dk1"/>
                          </a:solidFill>
                        </a:rPr>
                        <a:t>X21</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0000"/>
                    </a:solidFill>
                  </a:tcPr>
                </a:tc>
                <a:tc>
                  <a:txBody>
                    <a:bodyPr/>
                    <a:lstStyle/>
                    <a:p>
                      <a:pPr indent="0" lvl="0" marL="0" rtl="0" algn="l">
                        <a:spcBef>
                          <a:spcPts val="0"/>
                        </a:spcBef>
                        <a:spcAft>
                          <a:spcPts val="0"/>
                        </a:spcAft>
                        <a:buNone/>
                      </a:pPr>
                      <a:r>
                        <a:rPr lang="en" sz="800">
                          <a:solidFill>
                            <a:schemeClr val="dk1"/>
                          </a:solidFill>
                        </a:rPr>
                        <a:t>X22</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295550">
                <a:tc>
                  <a:txBody>
                    <a:bodyPr/>
                    <a:lstStyle/>
                    <a:p>
                      <a:pPr indent="0" lvl="0" marL="0" rtl="0" algn="l">
                        <a:spcBef>
                          <a:spcPts val="0"/>
                        </a:spcBef>
                        <a:spcAft>
                          <a:spcPts val="0"/>
                        </a:spcAft>
                        <a:buNone/>
                      </a:pPr>
                      <a:r>
                        <a:t/>
                      </a:r>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t/>
                      </a:r>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t/>
                      </a:r>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29555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295550">
                <a:tc>
                  <a:txBody>
                    <a:bodyPr/>
                    <a:lstStyle/>
                    <a:p>
                      <a:pPr indent="0" lvl="0" marL="0" rtl="0" algn="l">
                        <a:spcBef>
                          <a:spcPts val="0"/>
                        </a:spcBef>
                        <a:spcAft>
                          <a:spcPts val="0"/>
                        </a:spcAft>
                        <a:buNone/>
                      </a:pPr>
                      <a:r>
                        <a:rPr lang="en" sz="800">
                          <a:solidFill>
                            <a:schemeClr val="dk1"/>
                          </a:solidFill>
                        </a:rPr>
                        <a:t>X50</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en" sz="800">
                          <a:solidFill>
                            <a:schemeClr val="dk1"/>
                          </a:solidFill>
                        </a:rPr>
                        <a:t>X55</a:t>
                      </a:r>
                      <a:endParaRPr/>
                    </a:p>
                  </a:txBody>
                  <a:tcPr marT="91425" marB="91425" marR="91425" marL="91425"/>
                </a:tc>
              </a:tr>
            </a:tbl>
          </a:graphicData>
        </a:graphic>
      </p:graphicFrame>
      <p:graphicFrame>
        <p:nvGraphicFramePr>
          <p:cNvPr id="85" name="Google Shape;85;p17"/>
          <p:cNvGraphicFramePr/>
          <p:nvPr/>
        </p:nvGraphicFramePr>
        <p:xfrm>
          <a:off x="1329498" y="2215350"/>
          <a:ext cx="3000000" cy="3000000"/>
        </p:xfrm>
        <a:graphic>
          <a:graphicData uri="http://schemas.openxmlformats.org/drawingml/2006/table">
            <a:tbl>
              <a:tblPr>
                <a:noFill/>
                <a:tableStyleId>{A22A7B2D-7E37-4577-AFCF-14A211495966}</a:tableStyleId>
              </a:tblPr>
              <a:tblGrid>
                <a:gridCol w="382850"/>
                <a:gridCol w="382850"/>
                <a:gridCol w="382850"/>
                <a:gridCol w="382850"/>
                <a:gridCol w="382850"/>
                <a:gridCol w="382850"/>
              </a:tblGrid>
              <a:tr h="324675">
                <a:tc>
                  <a:txBody>
                    <a:bodyPr/>
                    <a:lstStyle/>
                    <a:p>
                      <a:pPr indent="0" lvl="0" marL="0" rtl="0" algn="l">
                        <a:spcBef>
                          <a:spcPts val="0"/>
                        </a:spcBef>
                        <a:spcAft>
                          <a:spcPts val="0"/>
                        </a:spcAft>
                        <a:buNone/>
                      </a:pPr>
                      <a:r>
                        <a:rPr b="1" lang="en" sz="800"/>
                        <a:t>X00</a:t>
                      </a:r>
                      <a:endParaRPr b="1" sz="800"/>
                    </a:p>
                  </a:txBody>
                  <a:tcPr marT="91425" marB="91425" marR="91425" marL="91425">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FF0000"/>
                    </a:solidFill>
                  </a:tcPr>
                </a:tc>
                <a:tc>
                  <a:txBody>
                    <a:bodyPr/>
                    <a:lstStyle/>
                    <a:p>
                      <a:pPr indent="0" lvl="0" marL="0" rtl="0" algn="l">
                        <a:spcBef>
                          <a:spcPts val="0"/>
                        </a:spcBef>
                        <a:spcAft>
                          <a:spcPts val="0"/>
                        </a:spcAft>
                        <a:buNone/>
                      </a:pPr>
                      <a:r>
                        <a:rPr lang="en" sz="800">
                          <a:solidFill>
                            <a:schemeClr val="dk1"/>
                          </a:solidFill>
                        </a:rPr>
                        <a:t>X01</a:t>
                      </a:r>
                      <a:endParaRPr/>
                    </a:p>
                  </a:txBody>
                  <a:tcPr marT="91425" marB="91425" marR="91425" marL="91425">
                    <a:lnL cap="flat" cmpd="sng" w="9525">
                      <a:solidFill>
                        <a:srgbClr val="666666"/>
                      </a:solidFill>
                      <a:prstDash val="solid"/>
                      <a:round/>
                      <a:headEnd len="sm" w="sm" type="none"/>
                      <a:tailEnd len="sm" w="sm" type="none"/>
                    </a:lnL>
                    <a:solidFill>
                      <a:srgbClr val="FF0000"/>
                    </a:solidFill>
                  </a:tcPr>
                </a:tc>
                <a:tc>
                  <a:txBody>
                    <a:bodyPr/>
                    <a:lstStyle/>
                    <a:p>
                      <a:pPr indent="0" lvl="0" marL="0" rtl="0" algn="l">
                        <a:spcBef>
                          <a:spcPts val="0"/>
                        </a:spcBef>
                        <a:spcAft>
                          <a:spcPts val="0"/>
                        </a:spcAft>
                        <a:buClr>
                          <a:schemeClr val="dk1"/>
                        </a:buClr>
                        <a:buSzPts val="1100"/>
                        <a:buFont typeface="Arial"/>
                        <a:buNone/>
                      </a:pPr>
                      <a:r>
                        <a:rPr lang="en" sz="800">
                          <a:solidFill>
                            <a:schemeClr val="dk1"/>
                          </a:solidFill>
                        </a:rPr>
                        <a:t>X02</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800">
                          <a:solidFill>
                            <a:schemeClr val="dk1"/>
                          </a:solidFill>
                        </a:rPr>
                        <a:t>X03</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800">
                          <a:solidFill>
                            <a:schemeClr val="dk1"/>
                          </a:solidFill>
                        </a:rPr>
                        <a:t>X04</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800">
                          <a:solidFill>
                            <a:schemeClr val="dk1"/>
                          </a:solidFill>
                        </a:rPr>
                        <a:t>X05</a:t>
                      </a:r>
                      <a:endParaRPr/>
                    </a:p>
                  </a:txBody>
                  <a:tcPr marT="91425" marB="91425" marR="91425" marL="91425"/>
                </a:tc>
              </a:tr>
              <a:tr h="295550">
                <a:tc>
                  <a:txBody>
                    <a:bodyPr/>
                    <a:lstStyle/>
                    <a:p>
                      <a:pPr indent="0" lvl="0" marL="0" rtl="0" algn="l">
                        <a:spcBef>
                          <a:spcPts val="0"/>
                        </a:spcBef>
                        <a:spcAft>
                          <a:spcPts val="0"/>
                        </a:spcAft>
                        <a:buClr>
                          <a:schemeClr val="dk1"/>
                        </a:buClr>
                        <a:buSzPts val="1100"/>
                        <a:buFont typeface="Arial"/>
                        <a:buNone/>
                      </a:pPr>
                      <a:r>
                        <a:rPr lang="en" sz="800">
                          <a:solidFill>
                            <a:schemeClr val="dk1"/>
                          </a:solidFill>
                        </a:rPr>
                        <a:t>X10</a:t>
                      </a:r>
                      <a:endParaRPr/>
                    </a:p>
                  </a:txBody>
                  <a:tcPr marT="91425" marB="91425" marR="91425" marL="91425">
                    <a:lnT cap="flat" cmpd="sng" w="9525">
                      <a:solidFill>
                        <a:srgbClr val="666666"/>
                      </a:solidFill>
                      <a:prstDash val="solid"/>
                      <a:round/>
                      <a:headEnd len="sm" w="sm" type="none"/>
                      <a:tailEnd len="sm" w="sm" type="none"/>
                    </a:lnT>
                    <a:lnB cap="flat" cmpd="sng" w="9525">
                      <a:solidFill>
                        <a:srgbClr val="9E9E9E"/>
                      </a:solidFill>
                      <a:prstDash val="solid"/>
                      <a:round/>
                      <a:headEnd len="sm" w="sm" type="none"/>
                      <a:tailEnd len="sm" w="sm" type="none"/>
                    </a:lnB>
                    <a:solidFill>
                      <a:srgbClr val="FF0000"/>
                    </a:solidFill>
                  </a:tcPr>
                </a:tc>
                <a:tc>
                  <a:txBody>
                    <a:bodyPr/>
                    <a:lstStyle/>
                    <a:p>
                      <a:pPr indent="0" lvl="0" marL="0" rtl="0" algn="l">
                        <a:spcBef>
                          <a:spcPts val="0"/>
                        </a:spcBef>
                        <a:spcAft>
                          <a:spcPts val="0"/>
                        </a:spcAft>
                        <a:buClr>
                          <a:schemeClr val="dk1"/>
                        </a:buClr>
                        <a:buSzPts val="1100"/>
                        <a:buFont typeface="Arial"/>
                        <a:buNone/>
                      </a:pPr>
                      <a:r>
                        <a:rPr lang="en" sz="800">
                          <a:solidFill>
                            <a:schemeClr val="dk1"/>
                          </a:solidFill>
                        </a:rPr>
                        <a:t>X11</a:t>
                      </a:r>
                      <a:endParaRPr/>
                    </a:p>
                  </a:txBody>
                  <a:tcPr marT="91425" marB="91425" marR="91425" marL="91425">
                    <a:lnB cap="flat" cmpd="sng" w="9525">
                      <a:solidFill>
                        <a:srgbClr val="9E9E9E"/>
                      </a:solidFill>
                      <a:prstDash val="solid"/>
                      <a:round/>
                      <a:headEnd len="sm" w="sm" type="none"/>
                      <a:tailEnd len="sm" w="sm" type="none"/>
                    </a:lnB>
                    <a:solidFill>
                      <a:srgbClr val="FF0000"/>
                    </a:solidFill>
                  </a:tcPr>
                </a:tc>
                <a:tc>
                  <a:txBody>
                    <a:bodyPr/>
                    <a:lstStyle/>
                    <a:p>
                      <a:pPr indent="0" lvl="0" marL="0" rtl="0" algn="l">
                        <a:spcBef>
                          <a:spcPts val="0"/>
                        </a:spcBef>
                        <a:spcAft>
                          <a:spcPts val="0"/>
                        </a:spcAft>
                        <a:buClr>
                          <a:schemeClr val="dk1"/>
                        </a:buClr>
                        <a:buSzPts val="1100"/>
                        <a:buFont typeface="Arial"/>
                        <a:buNone/>
                      </a:pPr>
                      <a:r>
                        <a:rPr lang="en" sz="800">
                          <a:solidFill>
                            <a:schemeClr val="dk1"/>
                          </a:solidFill>
                        </a:rPr>
                        <a:t>X12</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800">
                          <a:solidFill>
                            <a:schemeClr val="dk1"/>
                          </a:solidFill>
                        </a:rPr>
                        <a:t>X15</a:t>
                      </a:r>
                      <a:endParaRPr/>
                    </a:p>
                  </a:txBody>
                  <a:tcPr marT="91425" marB="91425" marR="91425" marL="91425"/>
                </a:tc>
              </a:tr>
              <a:tr h="295550">
                <a:tc>
                  <a:txBody>
                    <a:bodyPr/>
                    <a:lstStyle/>
                    <a:p>
                      <a:pPr indent="0" lvl="0" marL="0" rtl="0" algn="l">
                        <a:spcBef>
                          <a:spcPts val="0"/>
                        </a:spcBef>
                        <a:spcAft>
                          <a:spcPts val="0"/>
                        </a:spcAft>
                        <a:buNone/>
                      </a:pPr>
                      <a:r>
                        <a:rPr lang="en" sz="800">
                          <a:solidFill>
                            <a:schemeClr val="dk1"/>
                          </a:solidFill>
                        </a:rPr>
                        <a:t>X20</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X21</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X22</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295550">
                <a:tc>
                  <a:txBody>
                    <a:bodyPr/>
                    <a:lstStyle/>
                    <a:p>
                      <a:pPr indent="0" lvl="0" marL="0" rtl="0" algn="l">
                        <a:spcBef>
                          <a:spcPts val="0"/>
                        </a:spcBef>
                        <a:spcAft>
                          <a:spcPts val="0"/>
                        </a:spcAft>
                        <a:buNone/>
                      </a:pPr>
                      <a:r>
                        <a:t/>
                      </a:r>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t/>
                      </a:r>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t/>
                      </a:r>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29555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295550">
                <a:tc>
                  <a:txBody>
                    <a:bodyPr/>
                    <a:lstStyle/>
                    <a:p>
                      <a:pPr indent="0" lvl="0" marL="0" rtl="0" algn="l">
                        <a:spcBef>
                          <a:spcPts val="0"/>
                        </a:spcBef>
                        <a:spcAft>
                          <a:spcPts val="0"/>
                        </a:spcAft>
                        <a:buClr>
                          <a:schemeClr val="dk1"/>
                        </a:buClr>
                        <a:buSzPts val="1100"/>
                        <a:buFont typeface="Arial"/>
                        <a:buNone/>
                      </a:pPr>
                      <a:r>
                        <a:rPr lang="en" sz="800">
                          <a:solidFill>
                            <a:schemeClr val="dk1"/>
                          </a:solidFill>
                        </a:rPr>
                        <a:t>X50</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800">
                          <a:solidFill>
                            <a:schemeClr val="dk1"/>
                          </a:solidFill>
                        </a:rPr>
                        <a:t>X55</a:t>
                      </a:r>
                      <a:endParaRPr/>
                    </a:p>
                  </a:txBody>
                  <a:tcPr marT="91425" marB="91425" marR="91425" marL="91425"/>
                </a:tc>
              </a:tr>
            </a:tbl>
          </a:graphicData>
        </a:graphic>
      </p:graphicFrame>
      <p:graphicFrame>
        <p:nvGraphicFramePr>
          <p:cNvPr id="86" name="Google Shape;86;p17"/>
          <p:cNvGraphicFramePr/>
          <p:nvPr/>
        </p:nvGraphicFramePr>
        <p:xfrm>
          <a:off x="176729" y="2215347"/>
          <a:ext cx="3000000" cy="3000000"/>
        </p:xfrm>
        <a:graphic>
          <a:graphicData uri="http://schemas.openxmlformats.org/drawingml/2006/table">
            <a:tbl>
              <a:tblPr>
                <a:noFill/>
                <a:tableStyleId>{A22A7B2D-7E37-4577-AFCF-14A211495966}</a:tableStyleId>
              </a:tblPr>
              <a:tblGrid>
                <a:gridCol w="382850"/>
                <a:gridCol w="382850"/>
              </a:tblGrid>
              <a:tr h="343050">
                <a:tc>
                  <a:txBody>
                    <a:bodyPr/>
                    <a:lstStyle/>
                    <a:p>
                      <a:pPr indent="0" lvl="0" marL="0" rtl="0" algn="l">
                        <a:spcBef>
                          <a:spcPts val="0"/>
                        </a:spcBef>
                        <a:spcAft>
                          <a:spcPts val="0"/>
                        </a:spcAft>
                        <a:buNone/>
                      </a:pPr>
                      <a:r>
                        <a:rPr lang="en" sz="800"/>
                        <a:t>k00</a:t>
                      </a:r>
                      <a:endParaRPr sz="800"/>
                    </a:p>
                  </a:txBody>
                  <a:tcPr marT="91425" marB="91425" marR="91425" marL="91425">
                    <a:lnL cap="flat" cmpd="sng" w="28575">
                      <a:solidFill>
                        <a:srgbClr val="FF0000"/>
                      </a:solidFill>
                      <a:prstDash val="solid"/>
                      <a:round/>
                      <a:headEnd len="sm" w="sm" type="none"/>
                      <a:tailEnd len="sm" w="sm" type="none"/>
                    </a:lnL>
                    <a:lnR cap="flat" cmpd="sng" w="2857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28575">
                      <a:solidFill>
                        <a:srgbClr val="FF0000"/>
                      </a:solidFill>
                      <a:prstDash val="solid"/>
                      <a:round/>
                      <a:headEnd len="sm" w="sm" type="none"/>
                      <a:tailEnd len="sm" w="sm" type="none"/>
                    </a:lnB>
                  </a:tcPr>
                </a:tc>
                <a:tc>
                  <a:txBody>
                    <a:bodyPr/>
                    <a:lstStyle/>
                    <a:p>
                      <a:pPr indent="0" lvl="0" marL="0" rtl="0" algn="l">
                        <a:spcBef>
                          <a:spcPts val="0"/>
                        </a:spcBef>
                        <a:spcAft>
                          <a:spcPts val="0"/>
                        </a:spcAft>
                        <a:buNone/>
                      </a:pPr>
                      <a:r>
                        <a:rPr lang="en" sz="800"/>
                        <a:t>k01</a:t>
                      </a:r>
                      <a:endParaRPr sz="800"/>
                    </a:p>
                  </a:txBody>
                  <a:tcPr marT="91425" marB="91425" marR="91425" marL="91425">
                    <a:lnL cap="flat" cmpd="sng" w="28575">
                      <a:solidFill>
                        <a:srgbClr val="FF0000"/>
                      </a:solidFill>
                      <a:prstDash val="solid"/>
                      <a:round/>
                      <a:headEnd len="sm" w="sm" type="none"/>
                      <a:tailEnd len="sm" w="sm" type="none"/>
                    </a:lnL>
                    <a:lnR cap="flat" cmpd="sng" w="2857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28575">
                      <a:solidFill>
                        <a:srgbClr val="FF0000"/>
                      </a:solidFill>
                      <a:prstDash val="solid"/>
                      <a:round/>
                      <a:headEnd len="sm" w="sm" type="none"/>
                      <a:tailEnd len="sm" w="sm" type="none"/>
                    </a:lnB>
                  </a:tcPr>
                </a:tc>
              </a:tr>
              <a:tr h="312275">
                <a:tc>
                  <a:txBody>
                    <a:bodyPr/>
                    <a:lstStyle/>
                    <a:p>
                      <a:pPr indent="0" lvl="0" marL="0" rtl="0" algn="l">
                        <a:spcBef>
                          <a:spcPts val="0"/>
                        </a:spcBef>
                        <a:spcAft>
                          <a:spcPts val="0"/>
                        </a:spcAft>
                        <a:buNone/>
                      </a:pPr>
                      <a:r>
                        <a:rPr lang="en" sz="800"/>
                        <a:t>k10</a:t>
                      </a:r>
                      <a:endParaRPr sz="800"/>
                    </a:p>
                  </a:txBody>
                  <a:tcPr marT="91425" marB="91425" marR="91425" marL="91425">
                    <a:lnL cap="flat" cmpd="sng" w="28575">
                      <a:solidFill>
                        <a:srgbClr val="FF0000"/>
                      </a:solidFill>
                      <a:prstDash val="solid"/>
                      <a:round/>
                      <a:headEnd len="sm" w="sm" type="none"/>
                      <a:tailEnd len="sm" w="sm" type="none"/>
                    </a:lnL>
                    <a:lnR cap="flat" cmpd="sng" w="2857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28575">
                      <a:solidFill>
                        <a:srgbClr val="FF0000"/>
                      </a:solidFill>
                      <a:prstDash val="solid"/>
                      <a:round/>
                      <a:headEnd len="sm" w="sm" type="none"/>
                      <a:tailEnd len="sm" w="sm" type="none"/>
                    </a:lnB>
                  </a:tcPr>
                </a:tc>
                <a:tc>
                  <a:txBody>
                    <a:bodyPr/>
                    <a:lstStyle/>
                    <a:p>
                      <a:pPr indent="0" lvl="0" marL="0" rtl="0" algn="l">
                        <a:spcBef>
                          <a:spcPts val="0"/>
                        </a:spcBef>
                        <a:spcAft>
                          <a:spcPts val="0"/>
                        </a:spcAft>
                        <a:buNone/>
                      </a:pPr>
                      <a:r>
                        <a:rPr lang="en" sz="800"/>
                        <a:t>k11</a:t>
                      </a:r>
                      <a:endParaRPr sz="800"/>
                    </a:p>
                  </a:txBody>
                  <a:tcPr marT="91425" marB="91425" marR="91425" marL="91425">
                    <a:lnL cap="flat" cmpd="sng" w="28575">
                      <a:solidFill>
                        <a:srgbClr val="FF0000"/>
                      </a:solidFill>
                      <a:prstDash val="solid"/>
                      <a:round/>
                      <a:headEnd len="sm" w="sm" type="none"/>
                      <a:tailEnd len="sm" w="sm" type="none"/>
                    </a:lnL>
                    <a:lnR cap="flat" cmpd="sng" w="2857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28575">
                      <a:solidFill>
                        <a:srgbClr val="FF0000"/>
                      </a:solidFill>
                      <a:prstDash val="solid"/>
                      <a:round/>
                      <a:headEnd len="sm" w="sm" type="none"/>
                      <a:tailEnd len="sm" w="sm" type="none"/>
                    </a:lnB>
                  </a:tcPr>
                </a:tc>
              </a:tr>
            </a:tbl>
          </a:graphicData>
        </a:graphic>
      </p:graphicFrame>
      <p:sp>
        <p:nvSpPr>
          <p:cNvPr id="87" name="Google Shape;87;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Convolutional Kernel</a:t>
            </a:r>
            <a:endParaRPr/>
          </a:p>
        </p:txBody>
      </p:sp>
      <p:pic>
        <p:nvPicPr>
          <p:cNvPr descr="{&quot;type&quot;:&quot;gather*&quot;,&quot;font&quot;:{&quot;size&quot;:10.5,&quot;family&quot;:&quot;Arial&quot;,&quot;color&quot;:&quot;#000000&quot;},&quot;code&quot;:&quot;\\begin{gather*}\n{\\text{Convolution}\\;\\text{Operation}\\;}\\\\\n{Y_{ij}=\\sum_{v=0}^{p}\\sum_{u=0}^{p}X_{ij}K_{uv}}\\\\\n{\\text{Note:}\\;\\text{This}\\;\\text{is}\\;\\text{actually}\\;\\text{cross-correlation}\\;\\text{operation.}\\;\\text{Convolution}\\;\\text{involves}\\;\\text{a}\\;\\text{kernel}\\;\\text{shift}}\\\\\n{\\text{However}\\;\\text{deep}\\;\\text{learning}\\;\\text{libraries}\\;\\text{implement}\\;\\text{cross-correlation,}\\;\\text{but}\\;\\text{call}\\;\\text{i}\\text{t}\\;\\text{convolution}}\t\n\\end{gather*}&quot;,&quot;backgroundColor&quot;:&quot;#FFFFFF&quot;,&quot;backgroundColorModified&quot;:false,&quot;id&quot;:&quot;1&quot;,&quot;aid&quot;:null,&quot;ts&quot;:1769886888618,&quot;cs&quot;:&quot;tGp5wIbNAaqdYMX/Dt3+8w==&quot;,&quot;size&quot;:{&quot;width&quot;:604.5746729658791,&quot;height&quot;:110.28083569553809}}" id="88" name="Google Shape;88;p17"/>
          <p:cNvPicPr preferRelativeResize="0"/>
          <p:nvPr/>
        </p:nvPicPr>
        <p:blipFill>
          <a:blip r:embed="rId3">
            <a:alphaModFix/>
          </a:blip>
          <a:stretch>
            <a:fillRect/>
          </a:stretch>
        </p:blipFill>
        <p:spPr>
          <a:xfrm>
            <a:off x="563350" y="1051075"/>
            <a:ext cx="5261975" cy="959850"/>
          </a:xfrm>
          <a:prstGeom prst="rect">
            <a:avLst/>
          </a:prstGeom>
          <a:noFill/>
          <a:ln>
            <a:noFill/>
          </a:ln>
        </p:spPr>
      </p:pic>
      <p:pic>
        <p:nvPicPr>
          <p:cNvPr descr="{&quot;backgroundColorModified&quot;:false,&quot;backgroundColor&quot;:&quot;#FFFFFF&quot;,&quot;id&quot;:&quot;1&quot;,&quot;code&quot;:&quot;\\begin{gather*}\n{Y_{00}=X_{00}K_{00}+X_{10}K_{10}+X_{01}K_{01}+X_{11}K_{11}}\t\n\\end{gather*}&quot;,&quot;type&quot;:&quot;gather*&quot;,&quot;aid&quot;:null,&quot;font&quot;:{&quot;size&quot;:10.5,&quot;color&quot;:&quot;#000000&quot;,&quot;family&quot;:&quot;Arial&quot;},&quot;ts&quot;:1769887374442,&quot;cs&quot;:&quot;aeWTlEqkgd7ISnP3LAEbIw==&quot;,&quot;size&quot;:{&quot;width&quot;:329.52489448818903,&quot;height&quot;:14.564308661417293}}" id="89" name="Google Shape;89;p17"/>
          <p:cNvPicPr preferRelativeResize="0"/>
          <p:nvPr/>
        </p:nvPicPr>
        <p:blipFill>
          <a:blip r:embed="rId4">
            <a:alphaModFix/>
          </a:blip>
          <a:stretch>
            <a:fillRect/>
          </a:stretch>
        </p:blipFill>
        <p:spPr>
          <a:xfrm>
            <a:off x="887273" y="4576599"/>
            <a:ext cx="3138725" cy="138725"/>
          </a:xfrm>
          <a:prstGeom prst="rect">
            <a:avLst/>
          </a:prstGeom>
          <a:noFill/>
          <a:ln>
            <a:noFill/>
          </a:ln>
        </p:spPr>
      </p:pic>
      <p:pic>
        <p:nvPicPr>
          <p:cNvPr descr="{&quot;backgroundColorModified&quot;:false,&quot;aid&quot;:null,&quot;backgroundColor&quot;:&quot;#FFFFFF&quot;,&quot;code&quot;:&quot;\\begin{gather*}\n{Y_{10}=X_{10}K_{00}+X_{11}K_{10}+X_{20}K_{01}+X_{21}K_{11}}\t\n\\end{gather*}&quot;,&quot;id&quot;:&quot;1&quot;,&quot;type&quot;:&quot;gather*&quot;,&quot;font&quot;:{&quot;color&quot;:&quot;#000000&quot;,&quot;family&quot;:&quot;Arial&quot;,&quot;size&quot;:10.5},&quot;ts&quot;:1769957961437,&quot;cs&quot;:&quot;mZJwLXvB8oBMq6qMfHQu8w==&quot;,&quot;size&quot;:{&quot;width&quot;:316.75000000000006,&quot;height&quot;:14.25}}" id="90" name="Google Shape;90;p17"/>
          <p:cNvPicPr preferRelativeResize="0"/>
          <p:nvPr/>
        </p:nvPicPr>
        <p:blipFill>
          <a:blip r:embed="rId5">
            <a:alphaModFix/>
          </a:blip>
          <a:stretch>
            <a:fillRect/>
          </a:stretch>
        </p:blipFill>
        <p:spPr>
          <a:xfrm>
            <a:off x="4640044" y="4578099"/>
            <a:ext cx="3017044" cy="135731"/>
          </a:xfrm>
          <a:prstGeom prst="rect">
            <a:avLst/>
          </a:prstGeom>
          <a:noFill/>
          <a:ln>
            <a:noFill/>
          </a:ln>
        </p:spPr>
      </p:pic>
      <p:sp>
        <p:nvSpPr>
          <p:cNvPr id="91" name="Google Shape;91;p17"/>
          <p:cNvSpPr/>
          <p:nvPr/>
        </p:nvSpPr>
        <p:spPr>
          <a:xfrm>
            <a:off x="3796171" y="3150275"/>
            <a:ext cx="907800" cy="1926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2" name="Google Shape;92;p17"/>
          <p:cNvSpPr txBox="1"/>
          <p:nvPr/>
        </p:nvSpPr>
        <p:spPr>
          <a:xfrm>
            <a:off x="3590373" y="2768575"/>
            <a:ext cx="13194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solidFill>
                  <a:schemeClr val="dk2"/>
                </a:solidFill>
              </a:rPr>
              <a:t>Move kernel by 1 unit (stride length = 1)</a:t>
            </a:r>
            <a:endParaRPr sz="900">
              <a:solidFill>
                <a:schemeClr val="dk2"/>
              </a:solidFill>
            </a:endParaRPr>
          </a:p>
        </p:txBody>
      </p:sp>
      <p:pic>
        <p:nvPicPr>
          <p:cNvPr descr="{&quot;backgroundColor&quot;:&quot;#FFFFFF&quot;,&quot;backgroundColorModified&quot;:false,&quot;aid&quot;:null,&quot;id&quot;:&quot;1&quot;,&quot;code&quot;:&quot;\\begin{gather*}\n{\\text{Correlation}}\\\\\n{Y_{00}=X_{00}K_{00}+X_{10}K_{10}+X_{01}K_{01}+X_{11}K_{11}}\\\\\n{\\text{Convolution}}\\\\\n{Y_{00}=X_{00}K_{11}+X_{10}K_{01}+X_{01}K_{10}+X_{11}K_{00}}\t\n\\end{gather*}&quot;,&quot;type&quot;:&quot;gather*&quot;,&quot;font&quot;:{&quot;color&quot;:&quot;#000000&quot;,&quot;family&quot;:&quot;Arial&quot;,&quot;size&quot;:10.5},&quot;ts&quot;:1772111705712,&quot;cs&quot;:&quot;rLvxh1ZS2ny7St+L4SIZ7A==&quot;,&quot;size&quot;:{&quot;width&quot;:317.25,&quot;height&quot;:78.5}}" id="93" name="Google Shape;93;p17"/>
          <p:cNvPicPr preferRelativeResize="0"/>
          <p:nvPr/>
        </p:nvPicPr>
        <p:blipFill>
          <a:blip r:embed="rId6">
            <a:alphaModFix/>
          </a:blip>
          <a:stretch>
            <a:fillRect/>
          </a:stretch>
        </p:blipFill>
        <p:spPr>
          <a:xfrm>
            <a:off x="5066516" y="756249"/>
            <a:ext cx="3021806" cy="747713"/>
          </a:xfrm>
          <a:prstGeom prst="rect">
            <a:avLst/>
          </a:prstGeom>
          <a:noFill/>
          <a:ln>
            <a:noFill/>
          </a:ln>
        </p:spPr>
      </p:pic>
      <p:sp>
        <p:nvSpPr>
          <p:cNvPr id="94" name="Google Shape;94;p17"/>
          <p:cNvSpPr txBox="1"/>
          <p:nvPr/>
        </p:nvSpPr>
        <p:spPr>
          <a:xfrm>
            <a:off x="0" y="3001263"/>
            <a:ext cx="1214100" cy="585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300">
                <a:solidFill>
                  <a:schemeClr val="dk2"/>
                </a:solidFill>
              </a:rPr>
              <a:t>Convolutional kernel</a:t>
            </a:r>
            <a:endParaRPr sz="1300">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graphicFrame>
        <p:nvGraphicFramePr>
          <p:cNvPr id="99" name="Google Shape;99;p18"/>
          <p:cNvGraphicFramePr/>
          <p:nvPr/>
        </p:nvGraphicFramePr>
        <p:xfrm>
          <a:off x="468243" y="1146278"/>
          <a:ext cx="3000000" cy="3000000"/>
        </p:xfrm>
        <a:graphic>
          <a:graphicData uri="http://schemas.openxmlformats.org/drawingml/2006/table">
            <a:tbl>
              <a:tblPr>
                <a:noFill/>
                <a:tableStyleId>{A22A7B2D-7E37-4577-AFCF-14A211495966}</a:tableStyleId>
              </a:tblPr>
              <a:tblGrid>
                <a:gridCol w="382850"/>
                <a:gridCol w="382850"/>
                <a:gridCol w="382850"/>
                <a:gridCol w="382850"/>
                <a:gridCol w="382850"/>
                <a:gridCol w="382850"/>
              </a:tblGrid>
              <a:tr h="324675">
                <a:tc>
                  <a:txBody>
                    <a:bodyPr/>
                    <a:lstStyle/>
                    <a:p>
                      <a:pPr indent="0" lvl="0" marL="0" rtl="0" algn="l">
                        <a:spcBef>
                          <a:spcPts val="0"/>
                        </a:spcBef>
                        <a:spcAft>
                          <a:spcPts val="0"/>
                        </a:spcAft>
                        <a:buNone/>
                      </a:pPr>
                      <a:r>
                        <a:rPr lang="en" sz="800"/>
                        <a:t>X00</a:t>
                      </a:r>
                      <a:endParaRPr sz="800"/>
                    </a:p>
                  </a:txBody>
                  <a:tcPr marT="91425" marB="91425" marR="91425" marL="91425">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X01</a:t>
                      </a:r>
                      <a:endParaRPr/>
                    </a:p>
                  </a:txBody>
                  <a:tcPr marT="91425" marB="91425" marR="91425" marL="91425">
                    <a:lnL cap="flat" cmpd="sng" w="9525">
                      <a:solidFill>
                        <a:srgbClr val="666666"/>
                      </a:solidFill>
                      <a:prstDash val="solid"/>
                      <a:round/>
                      <a:headEnd len="sm" w="sm" type="none"/>
                      <a:tailEnd len="sm" w="sm" type="none"/>
                    </a:lnL>
                  </a:tcPr>
                </a:tc>
                <a:tc>
                  <a:txBody>
                    <a:bodyPr/>
                    <a:lstStyle/>
                    <a:p>
                      <a:pPr indent="0" lvl="0" marL="0" rtl="0" algn="l">
                        <a:spcBef>
                          <a:spcPts val="0"/>
                        </a:spcBef>
                        <a:spcAft>
                          <a:spcPts val="0"/>
                        </a:spcAft>
                        <a:buNone/>
                      </a:pPr>
                      <a:r>
                        <a:rPr lang="en" sz="800">
                          <a:solidFill>
                            <a:schemeClr val="dk1"/>
                          </a:solidFill>
                        </a:rPr>
                        <a:t>X02</a:t>
                      </a:r>
                      <a:endParaRPr/>
                    </a:p>
                  </a:txBody>
                  <a:tcPr marT="91425" marB="91425" marR="91425" marL="91425"/>
                </a:tc>
                <a:tc>
                  <a:txBody>
                    <a:bodyPr/>
                    <a:lstStyle/>
                    <a:p>
                      <a:pPr indent="0" lvl="0" marL="0" rtl="0" algn="l">
                        <a:spcBef>
                          <a:spcPts val="0"/>
                        </a:spcBef>
                        <a:spcAft>
                          <a:spcPts val="0"/>
                        </a:spcAft>
                        <a:buNone/>
                      </a:pPr>
                      <a:r>
                        <a:rPr lang="en" sz="800">
                          <a:solidFill>
                            <a:schemeClr val="dk1"/>
                          </a:solidFill>
                        </a:rPr>
                        <a:t>X03</a:t>
                      </a:r>
                      <a:endParaRPr/>
                    </a:p>
                  </a:txBody>
                  <a:tcPr marT="91425" marB="91425" marR="91425" marL="91425"/>
                </a:tc>
                <a:tc>
                  <a:txBody>
                    <a:bodyPr/>
                    <a:lstStyle/>
                    <a:p>
                      <a:pPr indent="0" lvl="0" marL="0" rtl="0" algn="l">
                        <a:spcBef>
                          <a:spcPts val="0"/>
                        </a:spcBef>
                        <a:spcAft>
                          <a:spcPts val="0"/>
                        </a:spcAft>
                        <a:buNone/>
                      </a:pPr>
                      <a:r>
                        <a:rPr lang="en" sz="800">
                          <a:solidFill>
                            <a:schemeClr val="dk1"/>
                          </a:solidFill>
                        </a:rPr>
                        <a:t>X04</a:t>
                      </a:r>
                      <a:endParaRPr/>
                    </a:p>
                  </a:txBody>
                  <a:tcPr marT="91425" marB="91425" marR="91425" marL="91425"/>
                </a:tc>
                <a:tc>
                  <a:txBody>
                    <a:bodyPr/>
                    <a:lstStyle/>
                    <a:p>
                      <a:pPr indent="0" lvl="0" marL="0" rtl="0" algn="l">
                        <a:spcBef>
                          <a:spcPts val="0"/>
                        </a:spcBef>
                        <a:spcAft>
                          <a:spcPts val="0"/>
                        </a:spcAft>
                        <a:buNone/>
                      </a:pPr>
                      <a:r>
                        <a:rPr lang="en" sz="800">
                          <a:solidFill>
                            <a:schemeClr val="dk1"/>
                          </a:solidFill>
                        </a:rPr>
                        <a:t>X05</a:t>
                      </a:r>
                      <a:endParaRPr/>
                    </a:p>
                  </a:txBody>
                  <a:tcPr marT="91425" marB="91425" marR="91425" marL="91425"/>
                </a:tc>
              </a:tr>
              <a:tr h="295550">
                <a:tc>
                  <a:txBody>
                    <a:bodyPr/>
                    <a:lstStyle/>
                    <a:p>
                      <a:pPr indent="0" lvl="0" marL="0" rtl="0" algn="l">
                        <a:spcBef>
                          <a:spcPts val="0"/>
                        </a:spcBef>
                        <a:spcAft>
                          <a:spcPts val="0"/>
                        </a:spcAft>
                        <a:buNone/>
                      </a:pPr>
                      <a:r>
                        <a:rPr lang="en" sz="800">
                          <a:solidFill>
                            <a:schemeClr val="dk1"/>
                          </a:solidFill>
                        </a:rPr>
                        <a:t>X10</a:t>
                      </a:r>
                      <a:endParaRPr/>
                    </a:p>
                  </a:txBody>
                  <a:tcPr marT="91425" marB="91425" marR="91425" marL="91425">
                    <a:lnT cap="flat" cmpd="sng" w="9525">
                      <a:solidFill>
                        <a:srgbClr val="666666"/>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sz="800">
                          <a:solidFill>
                            <a:schemeClr val="dk1"/>
                          </a:solidFill>
                        </a:rPr>
                        <a:t>X11</a:t>
                      </a:r>
                      <a:endParaRPr b="1"/>
                    </a:p>
                  </a:txBody>
                  <a:tcPr marT="91425" marB="91425" marR="91425" marL="91425">
                    <a:lnB cap="flat" cmpd="sng" w="9525">
                      <a:solidFill>
                        <a:srgbClr val="9E9E9E"/>
                      </a:solidFill>
                      <a:prstDash val="solid"/>
                      <a:round/>
                      <a:headEnd len="sm" w="sm" type="none"/>
                      <a:tailEnd len="sm" w="sm" type="none"/>
                    </a:lnB>
                    <a:solidFill>
                      <a:srgbClr val="FF0000"/>
                    </a:solidFill>
                  </a:tcPr>
                </a:tc>
                <a:tc>
                  <a:txBody>
                    <a:bodyPr/>
                    <a:lstStyle/>
                    <a:p>
                      <a:pPr indent="0" lvl="0" marL="0" rtl="0" algn="l">
                        <a:spcBef>
                          <a:spcPts val="0"/>
                        </a:spcBef>
                        <a:spcAft>
                          <a:spcPts val="0"/>
                        </a:spcAft>
                        <a:buNone/>
                      </a:pPr>
                      <a:r>
                        <a:rPr lang="en" sz="800">
                          <a:solidFill>
                            <a:schemeClr val="dk1"/>
                          </a:solidFill>
                        </a:rPr>
                        <a:t>X12</a:t>
                      </a:r>
                      <a:endParaRPr/>
                    </a:p>
                  </a:txBody>
                  <a:tcPr marT="91425" marB="91425" marR="91425" marL="91425">
                    <a:lnB cap="flat" cmpd="sng" w="9525">
                      <a:solidFill>
                        <a:srgbClr val="9E9E9E"/>
                      </a:solidFill>
                      <a:prstDash val="solid"/>
                      <a:round/>
                      <a:headEnd len="sm" w="sm" type="none"/>
                      <a:tailEnd len="sm" w="sm" type="none"/>
                    </a:lnB>
                    <a:solidFill>
                      <a:srgbClr val="FF0000"/>
                    </a:solidFill>
                  </a:tcPr>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en" sz="800">
                          <a:solidFill>
                            <a:schemeClr val="dk1"/>
                          </a:solidFill>
                        </a:rPr>
                        <a:t>X15</a:t>
                      </a:r>
                      <a:endParaRPr/>
                    </a:p>
                  </a:txBody>
                  <a:tcPr marT="91425" marB="91425" marR="91425" marL="91425"/>
                </a:tc>
              </a:tr>
              <a:tr h="295550">
                <a:tc>
                  <a:txBody>
                    <a:bodyPr/>
                    <a:lstStyle/>
                    <a:p>
                      <a:pPr indent="0" lvl="0" marL="0" rtl="0" algn="l">
                        <a:spcBef>
                          <a:spcPts val="0"/>
                        </a:spcBef>
                        <a:spcAft>
                          <a:spcPts val="0"/>
                        </a:spcAft>
                        <a:buNone/>
                      </a:pPr>
                      <a:r>
                        <a:rPr lang="en" sz="800">
                          <a:solidFill>
                            <a:schemeClr val="dk1"/>
                          </a:solidFill>
                        </a:rPr>
                        <a:t>X20</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X21</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0000"/>
                    </a:solidFill>
                  </a:tcPr>
                </a:tc>
                <a:tc>
                  <a:txBody>
                    <a:bodyPr/>
                    <a:lstStyle/>
                    <a:p>
                      <a:pPr indent="0" lvl="0" marL="0" rtl="0" algn="l">
                        <a:spcBef>
                          <a:spcPts val="0"/>
                        </a:spcBef>
                        <a:spcAft>
                          <a:spcPts val="0"/>
                        </a:spcAft>
                        <a:buNone/>
                      </a:pPr>
                      <a:r>
                        <a:rPr lang="en" sz="800">
                          <a:solidFill>
                            <a:schemeClr val="dk1"/>
                          </a:solidFill>
                        </a:rPr>
                        <a:t>X22</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0000"/>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295550">
                <a:tc>
                  <a:txBody>
                    <a:bodyPr/>
                    <a:lstStyle/>
                    <a:p>
                      <a:pPr indent="0" lvl="0" marL="0" rtl="0" algn="l">
                        <a:spcBef>
                          <a:spcPts val="0"/>
                        </a:spcBef>
                        <a:spcAft>
                          <a:spcPts val="0"/>
                        </a:spcAft>
                        <a:buNone/>
                      </a:pPr>
                      <a:r>
                        <a:t/>
                      </a:r>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t/>
                      </a:r>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t/>
                      </a:r>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29555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295550">
                <a:tc>
                  <a:txBody>
                    <a:bodyPr/>
                    <a:lstStyle/>
                    <a:p>
                      <a:pPr indent="0" lvl="0" marL="0" rtl="0" algn="l">
                        <a:spcBef>
                          <a:spcPts val="0"/>
                        </a:spcBef>
                        <a:spcAft>
                          <a:spcPts val="0"/>
                        </a:spcAft>
                        <a:buNone/>
                      </a:pPr>
                      <a:r>
                        <a:rPr lang="en" sz="800">
                          <a:solidFill>
                            <a:schemeClr val="dk1"/>
                          </a:solidFill>
                        </a:rPr>
                        <a:t>X50</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en" sz="800">
                          <a:solidFill>
                            <a:schemeClr val="dk1"/>
                          </a:solidFill>
                        </a:rPr>
                        <a:t>X55</a:t>
                      </a:r>
                      <a:endParaRPr/>
                    </a:p>
                  </a:txBody>
                  <a:tcPr marT="91425" marB="91425" marR="91425" marL="91425"/>
                </a:tc>
              </a:tr>
            </a:tbl>
          </a:graphicData>
        </a:graphic>
      </p:graphicFrame>
      <p:sp>
        <p:nvSpPr>
          <p:cNvPr id="100" name="Google Shape;100;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Convolutional Kernel</a:t>
            </a:r>
            <a:endParaRPr/>
          </a:p>
        </p:txBody>
      </p:sp>
      <p:graphicFrame>
        <p:nvGraphicFramePr>
          <p:cNvPr id="101" name="Google Shape;101;p18"/>
          <p:cNvGraphicFramePr/>
          <p:nvPr/>
        </p:nvGraphicFramePr>
        <p:xfrm>
          <a:off x="3874550" y="1666544"/>
          <a:ext cx="3000000" cy="3000000"/>
        </p:xfrm>
        <a:graphic>
          <a:graphicData uri="http://schemas.openxmlformats.org/drawingml/2006/table">
            <a:tbl>
              <a:tblPr>
                <a:noFill/>
                <a:tableStyleId>{A22A7B2D-7E37-4577-AFCF-14A211495966}</a:tableStyleId>
              </a:tblPr>
              <a:tblGrid>
                <a:gridCol w="382850"/>
                <a:gridCol w="382850"/>
              </a:tblGrid>
              <a:tr h="285800">
                <a:tc>
                  <a:txBody>
                    <a:bodyPr/>
                    <a:lstStyle/>
                    <a:p>
                      <a:pPr indent="0" lvl="0" marL="0" rtl="0" algn="l">
                        <a:spcBef>
                          <a:spcPts val="0"/>
                        </a:spcBef>
                        <a:spcAft>
                          <a:spcPts val="0"/>
                        </a:spcAft>
                        <a:buNone/>
                      </a:pPr>
                      <a:r>
                        <a:rPr lang="en" sz="800"/>
                        <a:t>k00</a:t>
                      </a:r>
                      <a:endParaRPr sz="800"/>
                    </a:p>
                  </a:txBody>
                  <a:tcPr marT="91425" marB="91425" marR="91425" marL="91425">
                    <a:lnL cap="flat" cmpd="sng" w="28575">
                      <a:solidFill>
                        <a:srgbClr val="FF0000"/>
                      </a:solidFill>
                      <a:prstDash val="solid"/>
                      <a:round/>
                      <a:headEnd len="sm" w="sm" type="none"/>
                      <a:tailEnd len="sm" w="sm" type="none"/>
                    </a:lnL>
                    <a:lnR cap="flat" cmpd="sng" w="2857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28575">
                      <a:solidFill>
                        <a:srgbClr val="FF0000"/>
                      </a:solidFill>
                      <a:prstDash val="solid"/>
                      <a:round/>
                      <a:headEnd len="sm" w="sm" type="none"/>
                      <a:tailEnd len="sm" w="sm" type="none"/>
                    </a:lnB>
                  </a:tcPr>
                </a:tc>
                <a:tc>
                  <a:txBody>
                    <a:bodyPr/>
                    <a:lstStyle/>
                    <a:p>
                      <a:pPr indent="0" lvl="0" marL="0" rtl="0" algn="l">
                        <a:spcBef>
                          <a:spcPts val="0"/>
                        </a:spcBef>
                        <a:spcAft>
                          <a:spcPts val="0"/>
                        </a:spcAft>
                        <a:buNone/>
                      </a:pPr>
                      <a:r>
                        <a:rPr lang="en" sz="800"/>
                        <a:t>k01</a:t>
                      </a:r>
                      <a:endParaRPr sz="800"/>
                    </a:p>
                  </a:txBody>
                  <a:tcPr marT="91425" marB="91425" marR="91425" marL="91425">
                    <a:lnL cap="flat" cmpd="sng" w="28575">
                      <a:solidFill>
                        <a:srgbClr val="FF0000"/>
                      </a:solidFill>
                      <a:prstDash val="solid"/>
                      <a:round/>
                      <a:headEnd len="sm" w="sm" type="none"/>
                      <a:tailEnd len="sm" w="sm" type="none"/>
                    </a:lnL>
                    <a:lnR cap="flat" cmpd="sng" w="2857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28575">
                      <a:solidFill>
                        <a:srgbClr val="FF0000"/>
                      </a:solidFill>
                      <a:prstDash val="solid"/>
                      <a:round/>
                      <a:headEnd len="sm" w="sm" type="none"/>
                      <a:tailEnd len="sm" w="sm" type="none"/>
                    </a:lnB>
                  </a:tcPr>
                </a:tc>
              </a:tr>
              <a:tr h="329400">
                <a:tc>
                  <a:txBody>
                    <a:bodyPr/>
                    <a:lstStyle/>
                    <a:p>
                      <a:pPr indent="0" lvl="0" marL="0" rtl="0" algn="l">
                        <a:spcBef>
                          <a:spcPts val="0"/>
                        </a:spcBef>
                        <a:spcAft>
                          <a:spcPts val="0"/>
                        </a:spcAft>
                        <a:buNone/>
                      </a:pPr>
                      <a:r>
                        <a:rPr lang="en" sz="800"/>
                        <a:t>k10</a:t>
                      </a:r>
                      <a:endParaRPr sz="800"/>
                    </a:p>
                  </a:txBody>
                  <a:tcPr marT="91425" marB="91425" marR="91425" marL="91425">
                    <a:lnL cap="flat" cmpd="sng" w="28575">
                      <a:solidFill>
                        <a:srgbClr val="FF0000"/>
                      </a:solidFill>
                      <a:prstDash val="solid"/>
                      <a:round/>
                      <a:headEnd len="sm" w="sm" type="none"/>
                      <a:tailEnd len="sm" w="sm" type="none"/>
                    </a:lnL>
                    <a:lnR cap="flat" cmpd="sng" w="2857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28575">
                      <a:solidFill>
                        <a:srgbClr val="FF0000"/>
                      </a:solidFill>
                      <a:prstDash val="solid"/>
                      <a:round/>
                      <a:headEnd len="sm" w="sm" type="none"/>
                      <a:tailEnd len="sm" w="sm" type="none"/>
                    </a:lnB>
                  </a:tcPr>
                </a:tc>
                <a:tc>
                  <a:txBody>
                    <a:bodyPr/>
                    <a:lstStyle/>
                    <a:p>
                      <a:pPr indent="0" lvl="0" marL="0" rtl="0" algn="l">
                        <a:spcBef>
                          <a:spcPts val="0"/>
                        </a:spcBef>
                        <a:spcAft>
                          <a:spcPts val="0"/>
                        </a:spcAft>
                        <a:buNone/>
                      </a:pPr>
                      <a:r>
                        <a:rPr lang="en" sz="800"/>
                        <a:t>k11</a:t>
                      </a:r>
                      <a:endParaRPr sz="800"/>
                    </a:p>
                  </a:txBody>
                  <a:tcPr marT="91425" marB="91425" marR="91425" marL="91425">
                    <a:lnL cap="flat" cmpd="sng" w="28575">
                      <a:solidFill>
                        <a:srgbClr val="FF0000"/>
                      </a:solidFill>
                      <a:prstDash val="solid"/>
                      <a:round/>
                      <a:headEnd len="sm" w="sm" type="none"/>
                      <a:tailEnd len="sm" w="sm" type="none"/>
                    </a:lnL>
                    <a:lnR cap="flat" cmpd="sng" w="2857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28575">
                      <a:solidFill>
                        <a:srgbClr val="FF0000"/>
                      </a:solidFill>
                      <a:prstDash val="solid"/>
                      <a:round/>
                      <a:headEnd len="sm" w="sm" type="none"/>
                      <a:tailEnd len="sm" w="sm" type="none"/>
                    </a:lnB>
                  </a:tcPr>
                </a:tc>
              </a:tr>
            </a:tbl>
          </a:graphicData>
        </a:graphic>
      </p:graphicFrame>
      <p:pic>
        <p:nvPicPr>
          <p:cNvPr descr="{&quot;id&quot;:&quot;1&quot;,&quot;backgroundColor&quot;:&quot;#FFFFFF&quot;,&quot;aid&quot;:null,&quot;code&quot;:&quot;\\begin{gather*}\n{Y_{11}=X_{11}K_{00}+X_{12}K_{01}+X_{21}K_{10}+X_{22}K_{11}}\t\n\\end{gather*}&quot;,&quot;font&quot;:{&quot;size&quot;:10.5,&quot;color&quot;:&quot;#000000&quot;,&quot;family&quot;:&quot;Arial&quot;},&quot;backgroundColorModified&quot;:false,&quot;type&quot;:&quot;gather*&quot;,&quot;ts&quot;:1769958313605,&quot;cs&quot;:&quot;8m9EozAboFoZ5s74/XbkSA==&quot;,&quot;size&quot;:{&quot;width&quot;:316.75,&quot;height&quot;:14.25}}" id="102" name="Google Shape;102;p18"/>
          <p:cNvPicPr preferRelativeResize="0"/>
          <p:nvPr/>
        </p:nvPicPr>
        <p:blipFill>
          <a:blip r:embed="rId3">
            <a:alphaModFix/>
          </a:blip>
          <a:stretch>
            <a:fillRect/>
          </a:stretch>
        </p:blipFill>
        <p:spPr>
          <a:xfrm>
            <a:off x="154042" y="3535149"/>
            <a:ext cx="3017044" cy="135731"/>
          </a:xfrm>
          <a:prstGeom prst="rect">
            <a:avLst/>
          </a:prstGeom>
          <a:noFill/>
          <a:ln>
            <a:noFill/>
          </a:ln>
        </p:spPr>
      </p:pic>
      <p:sp>
        <p:nvSpPr>
          <p:cNvPr id="103" name="Google Shape;103;p18"/>
          <p:cNvSpPr txBox="1"/>
          <p:nvPr/>
        </p:nvSpPr>
        <p:spPr>
          <a:xfrm>
            <a:off x="3543150" y="2394225"/>
            <a:ext cx="21348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chemeClr val="dk2"/>
                </a:solidFill>
              </a:rPr>
              <a:t>Convolutional Kernel</a:t>
            </a:r>
            <a:endParaRPr sz="1000">
              <a:solidFill>
                <a:schemeClr val="dk2"/>
              </a:solidFill>
            </a:endParaRPr>
          </a:p>
          <a:p>
            <a:pPr indent="0" lvl="0" marL="0" rtl="0" algn="ctr">
              <a:spcBef>
                <a:spcPts val="0"/>
              </a:spcBef>
              <a:spcAft>
                <a:spcPts val="0"/>
              </a:spcAft>
              <a:buNone/>
            </a:pPr>
            <a:r>
              <a:rPr lang="en" sz="1000">
                <a:solidFill>
                  <a:schemeClr val="dk2"/>
                </a:solidFill>
              </a:rPr>
              <a:t>Width/Height: Kernel Width/Height = 2 here</a:t>
            </a:r>
            <a:endParaRPr sz="1000">
              <a:solidFill>
                <a:schemeClr val="dk2"/>
              </a:solidFill>
            </a:endParaRPr>
          </a:p>
        </p:txBody>
      </p:sp>
      <p:sp>
        <p:nvSpPr>
          <p:cNvPr id="104" name="Google Shape;104;p18"/>
          <p:cNvSpPr txBox="1"/>
          <p:nvPr/>
        </p:nvSpPr>
        <p:spPr>
          <a:xfrm>
            <a:off x="230850" y="3919950"/>
            <a:ext cx="6533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The </a:t>
            </a:r>
            <a:r>
              <a:rPr i="1" lang="en" sz="1800">
                <a:solidFill>
                  <a:schemeClr val="dk2"/>
                </a:solidFill>
              </a:rPr>
              <a:t>same </a:t>
            </a:r>
            <a:r>
              <a:rPr lang="en" sz="1800">
                <a:solidFill>
                  <a:schemeClr val="dk2"/>
                </a:solidFill>
              </a:rPr>
              <a:t>kernel is strided across the input feature map</a:t>
            </a:r>
            <a:endParaRPr sz="180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Convolutional Kernel</a:t>
            </a:r>
            <a:endParaRPr/>
          </a:p>
        </p:txBody>
      </p:sp>
      <p:graphicFrame>
        <p:nvGraphicFramePr>
          <p:cNvPr id="110" name="Google Shape;110;p19"/>
          <p:cNvGraphicFramePr/>
          <p:nvPr/>
        </p:nvGraphicFramePr>
        <p:xfrm>
          <a:off x="257244" y="1474254"/>
          <a:ext cx="3000000" cy="3000000"/>
        </p:xfrm>
        <a:graphic>
          <a:graphicData uri="http://schemas.openxmlformats.org/drawingml/2006/table">
            <a:tbl>
              <a:tblPr>
                <a:noFill/>
                <a:tableStyleId>{A22A7B2D-7E37-4577-AFCF-14A211495966}</a:tableStyleId>
              </a:tblPr>
              <a:tblGrid>
                <a:gridCol w="382850"/>
                <a:gridCol w="382850"/>
                <a:gridCol w="382850"/>
              </a:tblGrid>
              <a:tr h="285800">
                <a:tc>
                  <a:txBody>
                    <a:bodyPr/>
                    <a:lstStyle/>
                    <a:p>
                      <a:pPr indent="0" lvl="0" marL="0" rtl="0" algn="l">
                        <a:spcBef>
                          <a:spcPts val="0"/>
                        </a:spcBef>
                        <a:spcAft>
                          <a:spcPts val="0"/>
                        </a:spcAft>
                        <a:buNone/>
                      </a:pPr>
                      <a:r>
                        <a:t/>
                      </a:r>
                      <a:endParaRPr sz="800"/>
                    </a:p>
                  </a:txBody>
                  <a:tcPr marT="91425" marB="91425" marR="91425" marL="91425">
                    <a:lnL cap="flat" cmpd="sng" w="28575">
                      <a:solidFill>
                        <a:srgbClr val="FF0000"/>
                      </a:solidFill>
                      <a:prstDash val="solid"/>
                      <a:round/>
                      <a:headEnd len="sm" w="sm" type="none"/>
                      <a:tailEnd len="sm" w="sm" type="none"/>
                    </a:lnL>
                    <a:lnR cap="flat" cmpd="sng" w="2857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28575">
                      <a:solidFill>
                        <a:srgbClr val="FF0000"/>
                      </a:solidFill>
                      <a:prstDash val="solid"/>
                      <a:round/>
                      <a:headEnd len="sm" w="sm" type="none"/>
                      <a:tailEnd len="sm" w="sm" type="none"/>
                    </a:lnB>
                  </a:tcPr>
                </a:tc>
                <a:tc>
                  <a:txBody>
                    <a:bodyPr/>
                    <a:lstStyle/>
                    <a:p>
                      <a:pPr indent="0" lvl="0" marL="0" rtl="0" algn="l">
                        <a:spcBef>
                          <a:spcPts val="0"/>
                        </a:spcBef>
                        <a:spcAft>
                          <a:spcPts val="0"/>
                        </a:spcAft>
                        <a:buNone/>
                      </a:pPr>
                      <a:r>
                        <a:t/>
                      </a:r>
                      <a:endParaRPr sz="800"/>
                    </a:p>
                  </a:txBody>
                  <a:tcPr marT="91425" marB="91425" marR="91425" marL="91425">
                    <a:lnL cap="flat" cmpd="sng" w="28575">
                      <a:solidFill>
                        <a:srgbClr val="FF0000"/>
                      </a:solidFill>
                      <a:prstDash val="solid"/>
                      <a:round/>
                      <a:headEnd len="sm" w="sm" type="none"/>
                      <a:tailEnd len="sm" w="sm" type="none"/>
                    </a:lnL>
                    <a:lnR cap="flat" cmpd="sng" w="2857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28575">
                      <a:solidFill>
                        <a:srgbClr val="FF0000"/>
                      </a:solidFill>
                      <a:prstDash val="solid"/>
                      <a:round/>
                      <a:headEnd len="sm" w="sm" type="none"/>
                      <a:tailEnd len="sm" w="sm" type="none"/>
                    </a:lnB>
                  </a:tcPr>
                </a:tc>
                <a:tc>
                  <a:txBody>
                    <a:bodyPr/>
                    <a:lstStyle/>
                    <a:p>
                      <a:pPr indent="0" lvl="0" marL="0" rtl="0" algn="l">
                        <a:spcBef>
                          <a:spcPts val="0"/>
                        </a:spcBef>
                        <a:spcAft>
                          <a:spcPts val="0"/>
                        </a:spcAft>
                        <a:buNone/>
                      </a:pPr>
                      <a:r>
                        <a:t/>
                      </a:r>
                      <a:endParaRPr sz="800"/>
                    </a:p>
                  </a:txBody>
                  <a:tcPr marT="91425" marB="91425" marR="91425" marL="91425">
                    <a:lnL cap="flat" cmpd="sng" w="28575">
                      <a:solidFill>
                        <a:srgbClr val="FF0000"/>
                      </a:solidFill>
                      <a:prstDash val="solid"/>
                      <a:round/>
                      <a:headEnd len="sm" w="sm" type="none"/>
                      <a:tailEnd len="sm" w="sm" type="none"/>
                    </a:lnL>
                    <a:lnR cap="flat" cmpd="sng" w="2857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28575">
                      <a:solidFill>
                        <a:srgbClr val="FF0000"/>
                      </a:solidFill>
                      <a:prstDash val="solid"/>
                      <a:round/>
                      <a:headEnd len="sm" w="sm" type="none"/>
                      <a:tailEnd len="sm" w="sm" type="none"/>
                    </a:lnB>
                  </a:tcPr>
                </a:tc>
              </a:tr>
              <a:tr h="329400">
                <a:tc>
                  <a:txBody>
                    <a:bodyPr/>
                    <a:lstStyle/>
                    <a:p>
                      <a:pPr indent="0" lvl="0" marL="0" rtl="0" algn="l">
                        <a:spcBef>
                          <a:spcPts val="0"/>
                        </a:spcBef>
                        <a:spcAft>
                          <a:spcPts val="0"/>
                        </a:spcAft>
                        <a:buNone/>
                      </a:pPr>
                      <a:r>
                        <a:t/>
                      </a:r>
                      <a:endParaRPr sz="800"/>
                    </a:p>
                  </a:txBody>
                  <a:tcPr marT="91425" marB="91425" marR="91425" marL="91425">
                    <a:lnL cap="flat" cmpd="sng" w="28575">
                      <a:solidFill>
                        <a:srgbClr val="FF0000"/>
                      </a:solidFill>
                      <a:prstDash val="solid"/>
                      <a:round/>
                      <a:headEnd len="sm" w="sm" type="none"/>
                      <a:tailEnd len="sm" w="sm" type="none"/>
                    </a:lnL>
                    <a:lnR cap="flat" cmpd="sng" w="2857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28575">
                      <a:solidFill>
                        <a:srgbClr val="FF0000"/>
                      </a:solidFill>
                      <a:prstDash val="solid"/>
                      <a:round/>
                      <a:headEnd len="sm" w="sm" type="none"/>
                      <a:tailEnd len="sm" w="sm" type="none"/>
                    </a:lnB>
                  </a:tcPr>
                </a:tc>
                <a:tc>
                  <a:txBody>
                    <a:bodyPr/>
                    <a:lstStyle/>
                    <a:p>
                      <a:pPr indent="0" lvl="0" marL="0" rtl="0" algn="l">
                        <a:spcBef>
                          <a:spcPts val="0"/>
                        </a:spcBef>
                        <a:spcAft>
                          <a:spcPts val="0"/>
                        </a:spcAft>
                        <a:buNone/>
                      </a:pPr>
                      <a:r>
                        <a:t/>
                      </a:r>
                      <a:endParaRPr sz="800"/>
                    </a:p>
                  </a:txBody>
                  <a:tcPr marT="91425" marB="91425" marR="91425" marL="91425">
                    <a:lnL cap="flat" cmpd="sng" w="28575">
                      <a:solidFill>
                        <a:srgbClr val="FF0000"/>
                      </a:solidFill>
                      <a:prstDash val="solid"/>
                      <a:round/>
                      <a:headEnd len="sm" w="sm" type="none"/>
                      <a:tailEnd len="sm" w="sm" type="none"/>
                    </a:lnL>
                    <a:lnR cap="flat" cmpd="sng" w="2857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28575">
                      <a:solidFill>
                        <a:srgbClr val="FF0000"/>
                      </a:solidFill>
                      <a:prstDash val="solid"/>
                      <a:round/>
                      <a:headEnd len="sm" w="sm" type="none"/>
                      <a:tailEnd len="sm" w="sm" type="none"/>
                    </a:lnB>
                  </a:tcPr>
                </a:tc>
                <a:tc>
                  <a:txBody>
                    <a:bodyPr/>
                    <a:lstStyle/>
                    <a:p>
                      <a:pPr indent="0" lvl="0" marL="0" rtl="0" algn="l">
                        <a:spcBef>
                          <a:spcPts val="0"/>
                        </a:spcBef>
                        <a:spcAft>
                          <a:spcPts val="0"/>
                        </a:spcAft>
                        <a:buNone/>
                      </a:pPr>
                      <a:r>
                        <a:t/>
                      </a:r>
                      <a:endParaRPr sz="800"/>
                    </a:p>
                  </a:txBody>
                  <a:tcPr marT="91425" marB="91425" marR="91425" marL="91425">
                    <a:lnL cap="flat" cmpd="sng" w="28575">
                      <a:solidFill>
                        <a:srgbClr val="FF0000"/>
                      </a:solidFill>
                      <a:prstDash val="solid"/>
                      <a:round/>
                      <a:headEnd len="sm" w="sm" type="none"/>
                      <a:tailEnd len="sm" w="sm" type="none"/>
                    </a:lnL>
                    <a:lnR cap="flat" cmpd="sng" w="2857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28575">
                      <a:solidFill>
                        <a:srgbClr val="FF0000"/>
                      </a:solidFill>
                      <a:prstDash val="solid"/>
                      <a:round/>
                      <a:headEnd len="sm" w="sm" type="none"/>
                      <a:tailEnd len="sm" w="sm" type="none"/>
                    </a:lnB>
                  </a:tcPr>
                </a:tc>
              </a:tr>
              <a:tr h="329400">
                <a:tc>
                  <a:txBody>
                    <a:bodyPr/>
                    <a:lstStyle/>
                    <a:p>
                      <a:pPr indent="0" lvl="0" marL="0" rtl="0" algn="l">
                        <a:spcBef>
                          <a:spcPts val="0"/>
                        </a:spcBef>
                        <a:spcAft>
                          <a:spcPts val="0"/>
                        </a:spcAft>
                        <a:buNone/>
                      </a:pPr>
                      <a:r>
                        <a:t/>
                      </a:r>
                      <a:endParaRPr sz="800"/>
                    </a:p>
                  </a:txBody>
                  <a:tcPr marT="91425" marB="91425" marR="91425" marL="91425">
                    <a:lnL cap="flat" cmpd="sng" w="28575">
                      <a:solidFill>
                        <a:srgbClr val="FF0000"/>
                      </a:solidFill>
                      <a:prstDash val="solid"/>
                      <a:round/>
                      <a:headEnd len="sm" w="sm" type="none"/>
                      <a:tailEnd len="sm" w="sm" type="none"/>
                    </a:lnL>
                    <a:lnR cap="flat" cmpd="sng" w="2857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28575">
                      <a:solidFill>
                        <a:srgbClr val="FF0000"/>
                      </a:solidFill>
                      <a:prstDash val="solid"/>
                      <a:round/>
                      <a:headEnd len="sm" w="sm" type="none"/>
                      <a:tailEnd len="sm" w="sm" type="none"/>
                    </a:lnB>
                  </a:tcPr>
                </a:tc>
                <a:tc>
                  <a:txBody>
                    <a:bodyPr/>
                    <a:lstStyle/>
                    <a:p>
                      <a:pPr indent="0" lvl="0" marL="0" rtl="0" algn="l">
                        <a:spcBef>
                          <a:spcPts val="0"/>
                        </a:spcBef>
                        <a:spcAft>
                          <a:spcPts val="0"/>
                        </a:spcAft>
                        <a:buNone/>
                      </a:pPr>
                      <a:r>
                        <a:t/>
                      </a:r>
                      <a:endParaRPr sz="800"/>
                    </a:p>
                  </a:txBody>
                  <a:tcPr marT="91425" marB="91425" marR="91425" marL="91425">
                    <a:lnL cap="flat" cmpd="sng" w="28575">
                      <a:solidFill>
                        <a:srgbClr val="FF0000"/>
                      </a:solidFill>
                      <a:prstDash val="solid"/>
                      <a:round/>
                      <a:headEnd len="sm" w="sm" type="none"/>
                      <a:tailEnd len="sm" w="sm" type="none"/>
                    </a:lnL>
                    <a:lnR cap="flat" cmpd="sng" w="2857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28575">
                      <a:solidFill>
                        <a:srgbClr val="FF0000"/>
                      </a:solidFill>
                      <a:prstDash val="solid"/>
                      <a:round/>
                      <a:headEnd len="sm" w="sm" type="none"/>
                      <a:tailEnd len="sm" w="sm" type="none"/>
                    </a:lnB>
                  </a:tcPr>
                </a:tc>
                <a:tc>
                  <a:txBody>
                    <a:bodyPr/>
                    <a:lstStyle/>
                    <a:p>
                      <a:pPr indent="0" lvl="0" marL="0" rtl="0" algn="l">
                        <a:spcBef>
                          <a:spcPts val="0"/>
                        </a:spcBef>
                        <a:spcAft>
                          <a:spcPts val="0"/>
                        </a:spcAft>
                        <a:buNone/>
                      </a:pPr>
                      <a:r>
                        <a:t/>
                      </a:r>
                      <a:endParaRPr sz="800"/>
                    </a:p>
                  </a:txBody>
                  <a:tcPr marT="91425" marB="91425" marR="91425" marL="91425">
                    <a:lnL cap="flat" cmpd="sng" w="28575">
                      <a:solidFill>
                        <a:srgbClr val="FF0000"/>
                      </a:solidFill>
                      <a:prstDash val="solid"/>
                      <a:round/>
                      <a:headEnd len="sm" w="sm" type="none"/>
                      <a:tailEnd len="sm" w="sm" type="none"/>
                    </a:lnL>
                    <a:lnR cap="flat" cmpd="sng" w="2857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28575">
                      <a:solidFill>
                        <a:srgbClr val="FF0000"/>
                      </a:solidFill>
                      <a:prstDash val="solid"/>
                      <a:round/>
                      <a:headEnd len="sm" w="sm" type="none"/>
                      <a:tailEnd len="sm" w="sm" type="none"/>
                    </a:lnB>
                  </a:tcPr>
                </a:tc>
              </a:tr>
            </a:tbl>
          </a:graphicData>
        </a:graphic>
      </p:graphicFrame>
      <p:graphicFrame>
        <p:nvGraphicFramePr>
          <p:cNvPr id="111" name="Google Shape;111;p19"/>
          <p:cNvGraphicFramePr/>
          <p:nvPr/>
        </p:nvGraphicFramePr>
        <p:xfrm>
          <a:off x="1349063" y="3444959"/>
          <a:ext cx="3000000" cy="3000000"/>
        </p:xfrm>
        <a:graphic>
          <a:graphicData uri="http://schemas.openxmlformats.org/drawingml/2006/table">
            <a:tbl>
              <a:tblPr>
                <a:noFill/>
                <a:tableStyleId>{A22A7B2D-7E37-4577-AFCF-14A211495966}</a:tableStyleId>
              </a:tblPr>
              <a:tblGrid>
                <a:gridCol w="382850"/>
                <a:gridCol w="382850"/>
                <a:gridCol w="382850"/>
              </a:tblGrid>
              <a:tr h="285800">
                <a:tc>
                  <a:txBody>
                    <a:bodyPr/>
                    <a:lstStyle/>
                    <a:p>
                      <a:pPr indent="0" lvl="0" marL="0" rtl="0" algn="l">
                        <a:spcBef>
                          <a:spcPts val="0"/>
                        </a:spcBef>
                        <a:spcAft>
                          <a:spcPts val="0"/>
                        </a:spcAft>
                        <a:buNone/>
                      </a:pPr>
                      <a:r>
                        <a:t/>
                      </a:r>
                      <a:endParaRPr sz="800"/>
                    </a:p>
                  </a:txBody>
                  <a:tcPr marT="91425" marB="91425" marR="91425" marL="91425">
                    <a:lnL cap="flat" cmpd="sng" w="28575">
                      <a:solidFill>
                        <a:srgbClr val="FF0000"/>
                      </a:solidFill>
                      <a:prstDash val="solid"/>
                      <a:round/>
                      <a:headEnd len="sm" w="sm" type="none"/>
                      <a:tailEnd len="sm" w="sm" type="none"/>
                    </a:lnL>
                    <a:lnR cap="flat" cmpd="sng" w="2857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28575">
                      <a:solidFill>
                        <a:srgbClr val="FF0000"/>
                      </a:solidFill>
                      <a:prstDash val="solid"/>
                      <a:round/>
                      <a:headEnd len="sm" w="sm" type="none"/>
                      <a:tailEnd len="sm" w="sm" type="none"/>
                    </a:lnB>
                  </a:tcPr>
                </a:tc>
                <a:tc>
                  <a:txBody>
                    <a:bodyPr/>
                    <a:lstStyle/>
                    <a:p>
                      <a:pPr indent="0" lvl="0" marL="0" rtl="0" algn="l">
                        <a:spcBef>
                          <a:spcPts val="0"/>
                        </a:spcBef>
                        <a:spcAft>
                          <a:spcPts val="0"/>
                        </a:spcAft>
                        <a:buNone/>
                      </a:pPr>
                      <a:r>
                        <a:t/>
                      </a:r>
                      <a:endParaRPr sz="800"/>
                    </a:p>
                  </a:txBody>
                  <a:tcPr marT="91425" marB="91425" marR="91425" marL="91425">
                    <a:lnL cap="flat" cmpd="sng" w="28575">
                      <a:solidFill>
                        <a:srgbClr val="FF0000"/>
                      </a:solidFill>
                      <a:prstDash val="solid"/>
                      <a:round/>
                      <a:headEnd len="sm" w="sm" type="none"/>
                      <a:tailEnd len="sm" w="sm" type="none"/>
                    </a:lnL>
                    <a:lnR cap="flat" cmpd="sng" w="2857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28575">
                      <a:solidFill>
                        <a:srgbClr val="FF0000"/>
                      </a:solidFill>
                      <a:prstDash val="solid"/>
                      <a:round/>
                      <a:headEnd len="sm" w="sm" type="none"/>
                      <a:tailEnd len="sm" w="sm" type="none"/>
                    </a:lnB>
                  </a:tcPr>
                </a:tc>
                <a:tc>
                  <a:txBody>
                    <a:bodyPr/>
                    <a:lstStyle/>
                    <a:p>
                      <a:pPr indent="0" lvl="0" marL="0" rtl="0" algn="l">
                        <a:spcBef>
                          <a:spcPts val="0"/>
                        </a:spcBef>
                        <a:spcAft>
                          <a:spcPts val="0"/>
                        </a:spcAft>
                        <a:buNone/>
                      </a:pPr>
                      <a:r>
                        <a:t/>
                      </a:r>
                      <a:endParaRPr sz="800"/>
                    </a:p>
                  </a:txBody>
                  <a:tcPr marT="91425" marB="91425" marR="91425" marL="91425">
                    <a:lnL cap="flat" cmpd="sng" w="28575">
                      <a:solidFill>
                        <a:srgbClr val="FF0000"/>
                      </a:solidFill>
                      <a:prstDash val="solid"/>
                      <a:round/>
                      <a:headEnd len="sm" w="sm" type="none"/>
                      <a:tailEnd len="sm" w="sm" type="none"/>
                    </a:lnL>
                    <a:lnR cap="flat" cmpd="sng" w="2857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28575">
                      <a:solidFill>
                        <a:srgbClr val="FF0000"/>
                      </a:solidFill>
                      <a:prstDash val="solid"/>
                      <a:round/>
                      <a:headEnd len="sm" w="sm" type="none"/>
                      <a:tailEnd len="sm" w="sm" type="none"/>
                    </a:lnB>
                  </a:tcPr>
                </a:tc>
              </a:tr>
              <a:tr h="329400">
                <a:tc>
                  <a:txBody>
                    <a:bodyPr/>
                    <a:lstStyle/>
                    <a:p>
                      <a:pPr indent="0" lvl="0" marL="0" rtl="0" algn="l">
                        <a:spcBef>
                          <a:spcPts val="0"/>
                        </a:spcBef>
                        <a:spcAft>
                          <a:spcPts val="0"/>
                        </a:spcAft>
                        <a:buNone/>
                      </a:pPr>
                      <a:r>
                        <a:t/>
                      </a:r>
                      <a:endParaRPr sz="800"/>
                    </a:p>
                  </a:txBody>
                  <a:tcPr marT="91425" marB="91425" marR="91425" marL="91425">
                    <a:lnL cap="flat" cmpd="sng" w="28575">
                      <a:solidFill>
                        <a:srgbClr val="FF0000"/>
                      </a:solidFill>
                      <a:prstDash val="solid"/>
                      <a:round/>
                      <a:headEnd len="sm" w="sm" type="none"/>
                      <a:tailEnd len="sm" w="sm" type="none"/>
                    </a:lnL>
                    <a:lnR cap="flat" cmpd="sng" w="2857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28575">
                      <a:solidFill>
                        <a:srgbClr val="FF0000"/>
                      </a:solidFill>
                      <a:prstDash val="solid"/>
                      <a:round/>
                      <a:headEnd len="sm" w="sm" type="none"/>
                      <a:tailEnd len="sm" w="sm" type="none"/>
                    </a:lnB>
                  </a:tcPr>
                </a:tc>
                <a:tc>
                  <a:txBody>
                    <a:bodyPr/>
                    <a:lstStyle/>
                    <a:p>
                      <a:pPr indent="0" lvl="0" marL="0" rtl="0" algn="l">
                        <a:spcBef>
                          <a:spcPts val="0"/>
                        </a:spcBef>
                        <a:spcAft>
                          <a:spcPts val="0"/>
                        </a:spcAft>
                        <a:buNone/>
                      </a:pPr>
                      <a:r>
                        <a:t/>
                      </a:r>
                      <a:endParaRPr sz="800"/>
                    </a:p>
                  </a:txBody>
                  <a:tcPr marT="91425" marB="91425" marR="91425" marL="91425">
                    <a:lnL cap="flat" cmpd="sng" w="28575">
                      <a:solidFill>
                        <a:srgbClr val="FF0000"/>
                      </a:solidFill>
                      <a:prstDash val="solid"/>
                      <a:round/>
                      <a:headEnd len="sm" w="sm" type="none"/>
                      <a:tailEnd len="sm" w="sm" type="none"/>
                    </a:lnL>
                    <a:lnR cap="flat" cmpd="sng" w="2857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28575">
                      <a:solidFill>
                        <a:srgbClr val="FF0000"/>
                      </a:solidFill>
                      <a:prstDash val="solid"/>
                      <a:round/>
                      <a:headEnd len="sm" w="sm" type="none"/>
                      <a:tailEnd len="sm" w="sm" type="none"/>
                    </a:lnB>
                  </a:tcPr>
                </a:tc>
                <a:tc>
                  <a:txBody>
                    <a:bodyPr/>
                    <a:lstStyle/>
                    <a:p>
                      <a:pPr indent="0" lvl="0" marL="0" rtl="0" algn="l">
                        <a:spcBef>
                          <a:spcPts val="0"/>
                        </a:spcBef>
                        <a:spcAft>
                          <a:spcPts val="0"/>
                        </a:spcAft>
                        <a:buNone/>
                      </a:pPr>
                      <a:r>
                        <a:t/>
                      </a:r>
                      <a:endParaRPr sz="800"/>
                    </a:p>
                  </a:txBody>
                  <a:tcPr marT="91425" marB="91425" marR="91425" marL="91425">
                    <a:lnL cap="flat" cmpd="sng" w="28575">
                      <a:solidFill>
                        <a:srgbClr val="FF0000"/>
                      </a:solidFill>
                      <a:prstDash val="solid"/>
                      <a:round/>
                      <a:headEnd len="sm" w="sm" type="none"/>
                      <a:tailEnd len="sm" w="sm" type="none"/>
                    </a:lnL>
                    <a:lnR cap="flat" cmpd="sng" w="2857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28575">
                      <a:solidFill>
                        <a:srgbClr val="FF0000"/>
                      </a:solidFill>
                      <a:prstDash val="solid"/>
                      <a:round/>
                      <a:headEnd len="sm" w="sm" type="none"/>
                      <a:tailEnd len="sm" w="sm" type="none"/>
                    </a:lnB>
                  </a:tcPr>
                </a:tc>
              </a:tr>
              <a:tr h="329400">
                <a:tc>
                  <a:txBody>
                    <a:bodyPr/>
                    <a:lstStyle/>
                    <a:p>
                      <a:pPr indent="0" lvl="0" marL="0" rtl="0" algn="l">
                        <a:spcBef>
                          <a:spcPts val="0"/>
                        </a:spcBef>
                        <a:spcAft>
                          <a:spcPts val="0"/>
                        </a:spcAft>
                        <a:buNone/>
                      </a:pPr>
                      <a:r>
                        <a:t/>
                      </a:r>
                      <a:endParaRPr sz="800"/>
                    </a:p>
                  </a:txBody>
                  <a:tcPr marT="91425" marB="91425" marR="91425" marL="91425">
                    <a:lnL cap="flat" cmpd="sng" w="28575">
                      <a:solidFill>
                        <a:srgbClr val="FF0000"/>
                      </a:solidFill>
                      <a:prstDash val="solid"/>
                      <a:round/>
                      <a:headEnd len="sm" w="sm" type="none"/>
                      <a:tailEnd len="sm" w="sm" type="none"/>
                    </a:lnL>
                    <a:lnR cap="flat" cmpd="sng" w="2857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28575">
                      <a:solidFill>
                        <a:srgbClr val="FF0000"/>
                      </a:solidFill>
                      <a:prstDash val="solid"/>
                      <a:round/>
                      <a:headEnd len="sm" w="sm" type="none"/>
                      <a:tailEnd len="sm" w="sm" type="none"/>
                    </a:lnB>
                  </a:tcPr>
                </a:tc>
                <a:tc>
                  <a:txBody>
                    <a:bodyPr/>
                    <a:lstStyle/>
                    <a:p>
                      <a:pPr indent="0" lvl="0" marL="0" rtl="0" algn="l">
                        <a:spcBef>
                          <a:spcPts val="0"/>
                        </a:spcBef>
                        <a:spcAft>
                          <a:spcPts val="0"/>
                        </a:spcAft>
                        <a:buNone/>
                      </a:pPr>
                      <a:r>
                        <a:t/>
                      </a:r>
                      <a:endParaRPr sz="800"/>
                    </a:p>
                  </a:txBody>
                  <a:tcPr marT="91425" marB="91425" marR="91425" marL="91425">
                    <a:lnL cap="flat" cmpd="sng" w="28575">
                      <a:solidFill>
                        <a:srgbClr val="FF0000"/>
                      </a:solidFill>
                      <a:prstDash val="solid"/>
                      <a:round/>
                      <a:headEnd len="sm" w="sm" type="none"/>
                      <a:tailEnd len="sm" w="sm" type="none"/>
                    </a:lnL>
                    <a:lnR cap="flat" cmpd="sng" w="2857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28575">
                      <a:solidFill>
                        <a:srgbClr val="FF0000"/>
                      </a:solidFill>
                      <a:prstDash val="solid"/>
                      <a:round/>
                      <a:headEnd len="sm" w="sm" type="none"/>
                      <a:tailEnd len="sm" w="sm" type="none"/>
                    </a:lnB>
                  </a:tcPr>
                </a:tc>
                <a:tc>
                  <a:txBody>
                    <a:bodyPr/>
                    <a:lstStyle/>
                    <a:p>
                      <a:pPr indent="0" lvl="0" marL="0" rtl="0" algn="l">
                        <a:spcBef>
                          <a:spcPts val="0"/>
                        </a:spcBef>
                        <a:spcAft>
                          <a:spcPts val="0"/>
                        </a:spcAft>
                        <a:buNone/>
                      </a:pPr>
                      <a:r>
                        <a:t/>
                      </a:r>
                      <a:endParaRPr sz="800"/>
                    </a:p>
                  </a:txBody>
                  <a:tcPr marT="91425" marB="91425" marR="91425" marL="91425">
                    <a:lnL cap="flat" cmpd="sng" w="28575">
                      <a:solidFill>
                        <a:srgbClr val="FF0000"/>
                      </a:solidFill>
                      <a:prstDash val="solid"/>
                      <a:round/>
                      <a:headEnd len="sm" w="sm" type="none"/>
                      <a:tailEnd len="sm" w="sm" type="none"/>
                    </a:lnL>
                    <a:lnR cap="flat" cmpd="sng" w="2857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28575">
                      <a:solidFill>
                        <a:srgbClr val="FF0000"/>
                      </a:solidFill>
                      <a:prstDash val="solid"/>
                      <a:round/>
                      <a:headEnd len="sm" w="sm" type="none"/>
                      <a:tailEnd len="sm" w="sm" type="none"/>
                    </a:lnB>
                  </a:tcPr>
                </a:tc>
              </a:tr>
            </a:tbl>
          </a:graphicData>
        </a:graphic>
      </p:graphicFrame>
      <p:graphicFrame>
        <p:nvGraphicFramePr>
          <p:cNvPr id="112" name="Google Shape;112;p19"/>
          <p:cNvGraphicFramePr/>
          <p:nvPr/>
        </p:nvGraphicFramePr>
        <p:xfrm>
          <a:off x="3556250" y="1456467"/>
          <a:ext cx="3000000" cy="3000000"/>
        </p:xfrm>
        <a:graphic>
          <a:graphicData uri="http://schemas.openxmlformats.org/drawingml/2006/table">
            <a:tbl>
              <a:tblPr>
                <a:noFill/>
                <a:tableStyleId>{A22A7B2D-7E37-4577-AFCF-14A211495966}</a:tableStyleId>
              </a:tblPr>
              <a:tblGrid>
                <a:gridCol w="382850"/>
                <a:gridCol w="382850"/>
                <a:gridCol w="382850"/>
              </a:tblGrid>
              <a:tr h="285800">
                <a:tc>
                  <a:txBody>
                    <a:bodyPr/>
                    <a:lstStyle/>
                    <a:p>
                      <a:pPr indent="0" lvl="0" marL="0" rtl="0" algn="l">
                        <a:spcBef>
                          <a:spcPts val="0"/>
                        </a:spcBef>
                        <a:spcAft>
                          <a:spcPts val="0"/>
                        </a:spcAft>
                        <a:buNone/>
                      </a:pPr>
                      <a:r>
                        <a:t/>
                      </a:r>
                      <a:endParaRPr sz="800"/>
                    </a:p>
                  </a:txBody>
                  <a:tcPr marT="91425" marB="91425" marR="91425" marL="91425">
                    <a:lnL cap="flat" cmpd="sng" w="28575">
                      <a:solidFill>
                        <a:srgbClr val="FF0000"/>
                      </a:solidFill>
                      <a:prstDash val="solid"/>
                      <a:round/>
                      <a:headEnd len="sm" w="sm" type="none"/>
                      <a:tailEnd len="sm" w="sm" type="none"/>
                    </a:lnL>
                    <a:lnR cap="flat" cmpd="sng" w="2857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28575">
                      <a:solidFill>
                        <a:srgbClr val="FF0000"/>
                      </a:solidFill>
                      <a:prstDash val="solid"/>
                      <a:round/>
                      <a:headEnd len="sm" w="sm" type="none"/>
                      <a:tailEnd len="sm" w="sm" type="none"/>
                    </a:lnB>
                  </a:tcPr>
                </a:tc>
                <a:tc>
                  <a:txBody>
                    <a:bodyPr/>
                    <a:lstStyle/>
                    <a:p>
                      <a:pPr indent="0" lvl="0" marL="0" rtl="0" algn="l">
                        <a:spcBef>
                          <a:spcPts val="0"/>
                        </a:spcBef>
                        <a:spcAft>
                          <a:spcPts val="0"/>
                        </a:spcAft>
                        <a:buNone/>
                      </a:pPr>
                      <a:r>
                        <a:t/>
                      </a:r>
                      <a:endParaRPr sz="800"/>
                    </a:p>
                  </a:txBody>
                  <a:tcPr marT="91425" marB="91425" marR="91425" marL="91425">
                    <a:lnL cap="flat" cmpd="sng" w="28575">
                      <a:solidFill>
                        <a:srgbClr val="FF0000"/>
                      </a:solidFill>
                      <a:prstDash val="solid"/>
                      <a:round/>
                      <a:headEnd len="sm" w="sm" type="none"/>
                      <a:tailEnd len="sm" w="sm" type="none"/>
                    </a:lnL>
                    <a:lnR cap="flat" cmpd="sng" w="2857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28575">
                      <a:solidFill>
                        <a:srgbClr val="FF0000"/>
                      </a:solidFill>
                      <a:prstDash val="solid"/>
                      <a:round/>
                      <a:headEnd len="sm" w="sm" type="none"/>
                      <a:tailEnd len="sm" w="sm" type="none"/>
                    </a:lnB>
                  </a:tcPr>
                </a:tc>
                <a:tc>
                  <a:txBody>
                    <a:bodyPr/>
                    <a:lstStyle/>
                    <a:p>
                      <a:pPr indent="0" lvl="0" marL="0" rtl="0" algn="l">
                        <a:spcBef>
                          <a:spcPts val="0"/>
                        </a:spcBef>
                        <a:spcAft>
                          <a:spcPts val="0"/>
                        </a:spcAft>
                        <a:buNone/>
                      </a:pPr>
                      <a:r>
                        <a:t/>
                      </a:r>
                      <a:endParaRPr sz="800"/>
                    </a:p>
                  </a:txBody>
                  <a:tcPr marT="91425" marB="91425" marR="91425" marL="91425">
                    <a:lnL cap="flat" cmpd="sng" w="28575">
                      <a:solidFill>
                        <a:srgbClr val="FF0000"/>
                      </a:solidFill>
                      <a:prstDash val="solid"/>
                      <a:round/>
                      <a:headEnd len="sm" w="sm" type="none"/>
                      <a:tailEnd len="sm" w="sm" type="none"/>
                    </a:lnL>
                    <a:lnR cap="flat" cmpd="sng" w="2857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28575">
                      <a:solidFill>
                        <a:srgbClr val="FF0000"/>
                      </a:solidFill>
                      <a:prstDash val="solid"/>
                      <a:round/>
                      <a:headEnd len="sm" w="sm" type="none"/>
                      <a:tailEnd len="sm" w="sm" type="none"/>
                    </a:lnB>
                  </a:tcPr>
                </a:tc>
              </a:tr>
              <a:tr h="329400">
                <a:tc>
                  <a:txBody>
                    <a:bodyPr/>
                    <a:lstStyle/>
                    <a:p>
                      <a:pPr indent="0" lvl="0" marL="0" rtl="0" algn="l">
                        <a:spcBef>
                          <a:spcPts val="0"/>
                        </a:spcBef>
                        <a:spcAft>
                          <a:spcPts val="0"/>
                        </a:spcAft>
                        <a:buNone/>
                      </a:pPr>
                      <a:r>
                        <a:t/>
                      </a:r>
                      <a:endParaRPr sz="800"/>
                    </a:p>
                  </a:txBody>
                  <a:tcPr marT="91425" marB="91425" marR="91425" marL="91425">
                    <a:lnL cap="flat" cmpd="sng" w="28575">
                      <a:solidFill>
                        <a:srgbClr val="FF0000"/>
                      </a:solidFill>
                      <a:prstDash val="solid"/>
                      <a:round/>
                      <a:headEnd len="sm" w="sm" type="none"/>
                      <a:tailEnd len="sm" w="sm" type="none"/>
                    </a:lnL>
                    <a:lnR cap="flat" cmpd="sng" w="2857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28575">
                      <a:solidFill>
                        <a:srgbClr val="FF0000"/>
                      </a:solidFill>
                      <a:prstDash val="solid"/>
                      <a:round/>
                      <a:headEnd len="sm" w="sm" type="none"/>
                      <a:tailEnd len="sm" w="sm" type="none"/>
                    </a:lnB>
                  </a:tcPr>
                </a:tc>
                <a:tc>
                  <a:txBody>
                    <a:bodyPr/>
                    <a:lstStyle/>
                    <a:p>
                      <a:pPr indent="0" lvl="0" marL="0" rtl="0" algn="l">
                        <a:spcBef>
                          <a:spcPts val="0"/>
                        </a:spcBef>
                        <a:spcAft>
                          <a:spcPts val="0"/>
                        </a:spcAft>
                        <a:buNone/>
                      </a:pPr>
                      <a:r>
                        <a:t/>
                      </a:r>
                      <a:endParaRPr sz="800"/>
                    </a:p>
                  </a:txBody>
                  <a:tcPr marT="91425" marB="91425" marR="91425" marL="91425">
                    <a:lnL cap="flat" cmpd="sng" w="28575">
                      <a:solidFill>
                        <a:srgbClr val="FF0000"/>
                      </a:solidFill>
                      <a:prstDash val="solid"/>
                      <a:round/>
                      <a:headEnd len="sm" w="sm" type="none"/>
                      <a:tailEnd len="sm" w="sm" type="none"/>
                    </a:lnL>
                    <a:lnR cap="flat" cmpd="sng" w="2857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28575">
                      <a:solidFill>
                        <a:srgbClr val="FF0000"/>
                      </a:solidFill>
                      <a:prstDash val="solid"/>
                      <a:round/>
                      <a:headEnd len="sm" w="sm" type="none"/>
                      <a:tailEnd len="sm" w="sm" type="none"/>
                    </a:lnB>
                  </a:tcPr>
                </a:tc>
                <a:tc>
                  <a:txBody>
                    <a:bodyPr/>
                    <a:lstStyle/>
                    <a:p>
                      <a:pPr indent="0" lvl="0" marL="0" rtl="0" algn="l">
                        <a:spcBef>
                          <a:spcPts val="0"/>
                        </a:spcBef>
                        <a:spcAft>
                          <a:spcPts val="0"/>
                        </a:spcAft>
                        <a:buNone/>
                      </a:pPr>
                      <a:r>
                        <a:t/>
                      </a:r>
                      <a:endParaRPr sz="800"/>
                    </a:p>
                  </a:txBody>
                  <a:tcPr marT="91425" marB="91425" marR="91425" marL="91425">
                    <a:lnL cap="flat" cmpd="sng" w="28575">
                      <a:solidFill>
                        <a:srgbClr val="FF0000"/>
                      </a:solidFill>
                      <a:prstDash val="solid"/>
                      <a:round/>
                      <a:headEnd len="sm" w="sm" type="none"/>
                      <a:tailEnd len="sm" w="sm" type="none"/>
                    </a:lnL>
                    <a:lnR cap="flat" cmpd="sng" w="2857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28575">
                      <a:solidFill>
                        <a:srgbClr val="FF0000"/>
                      </a:solidFill>
                      <a:prstDash val="solid"/>
                      <a:round/>
                      <a:headEnd len="sm" w="sm" type="none"/>
                      <a:tailEnd len="sm" w="sm" type="none"/>
                    </a:lnB>
                  </a:tcPr>
                </a:tc>
              </a:tr>
              <a:tr h="329400">
                <a:tc>
                  <a:txBody>
                    <a:bodyPr/>
                    <a:lstStyle/>
                    <a:p>
                      <a:pPr indent="0" lvl="0" marL="0" rtl="0" algn="l">
                        <a:spcBef>
                          <a:spcPts val="0"/>
                        </a:spcBef>
                        <a:spcAft>
                          <a:spcPts val="0"/>
                        </a:spcAft>
                        <a:buNone/>
                      </a:pPr>
                      <a:r>
                        <a:t/>
                      </a:r>
                      <a:endParaRPr sz="800"/>
                    </a:p>
                  </a:txBody>
                  <a:tcPr marT="91425" marB="91425" marR="91425" marL="91425">
                    <a:lnL cap="flat" cmpd="sng" w="28575">
                      <a:solidFill>
                        <a:srgbClr val="FF0000"/>
                      </a:solidFill>
                      <a:prstDash val="solid"/>
                      <a:round/>
                      <a:headEnd len="sm" w="sm" type="none"/>
                      <a:tailEnd len="sm" w="sm" type="none"/>
                    </a:lnL>
                    <a:lnR cap="flat" cmpd="sng" w="2857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28575">
                      <a:solidFill>
                        <a:srgbClr val="FF0000"/>
                      </a:solidFill>
                      <a:prstDash val="solid"/>
                      <a:round/>
                      <a:headEnd len="sm" w="sm" type="none"/>
                      <a:tailEnd len="sm" w="sm" type="none"/>
                    </a:lnB>
                  </a:tcPr>
                </a:tc>
                <a:tc>
                  <a:txBody>
                    <a:bodyPr/>
                    <a:lstStyle/>
                    <a:p>
                      <a:pPr indent="0" lvl="0" marL="0" rtl="0" algn="l">
                        <a:spcBef>
                          <a:spcPts val="0"/>
                        </a:spcBef>
                        <a:spcAft>
                          <a:spcPts val="0"/>
                        </a:spcAft>
                        <a:buNone/>
                      </a:pPr>
                      <a:r>
                        <a:t/>
                      </a:r>
                      <a:endParaRPr sz="800"/>
                    </a:p>
                  </a:txBody>
                  <a:tcPr marT="91425" marB="91425" marR="91425" marL="91425">
                    <a:lnL cap="flat" cmpd="sng" w="28575">
                      <a:solidFill>
                        <a:srgbClr val="FF0000"/>
                      </a:solidFill>
                      <a:prstDash val="solid"/>
                      <a:round/>
                      <a:headEnd len="sm" w="sm" type="none"/>
                      <a:tailEnd len="sm" w="sm" type="none"/>
                    </a:lnL>
                    <a:lnR cap="flat" cmpd="sng" w="2857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28575">
                      <a:solidFill>
                        <a:srgbClr val="FF0000"/>
                      </a:solidFill>
                      <a:prstDash val="solid"/>
                      <a:round/>
                      <a:headEnd len="sm" w="sm" type="none"/>
                      <a:tailEnd len="sm" w="sm" type="none"/>
                    </a:lnB>
                  </a:tcPr>
                </a:tc>
                <a:tc>
                  <a:txBody>
                    <a:bodyPr/>
                    <a:lstStyle/>
                    <a:p>
                      <a:pPr indent="0" lvl="0" marL="0" rtl="0" algn="l">
                        <a:spcBef>
                          <a:spcPts val="0"/>
                        </a:spcBef>
                        <a:spcAft>
                          <a:spcPts val="0"/>
                        </a:spcAft>
                        <a:buNone/>
                      </a:pPr>
                      <a:r>
                        <a:t/>
                      </a:r>
                      <a:endParaRPr sz="800"/>
                    </a:p>
                  </a:txBody>
                  <a:tcPr marT="91425" marB="91425" marR="91425" marL="91425">
                    <a:lnL cap="flat" cmpd="sng" w="28575">
                      <a:solidFill>
                        <a:srgbClr val="FF0000"/>
                      </a:solidFill>
                      <a:prstDash val="solid"/>
                      <a:round/>
                      <a:headEnd len="sm" w="sm" type="none"/>
                      <a:tailEnd len="sm" w="sm" type="none"/>
                    </a:lnL>
                    <a:lnR cap="flat" cmpd="sng" w="2857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28575">
                      <a:solidFill>
                        <a:srgbClr val="FF0000"/>
                      </a:solidFill>
                      <a:prstDash val="solid"/>
                      <a:round/>
                      <a:headEnd len="sm" w="sm" type="none"/>
                      <a:tailEnd len="sm" w="sm" type="none"/>
                    </a:lnB>
                  </a:tcPr>
                </a:tc>
              </a:tr>
            </a:tbl>
          </a:graphicData>
        </a:graphic>
      </p:graphicFrame>
      <p:pic>
        <p:nvPicPr>
          <p:cNvPr descr="{&quot;code&quot;:&quot;$$Y_{00}$$&quot;,&quot;type&quot;:&quot;$$&quot;,&quot;aid&quot;:null,&quot;backgroundColor&quot;:&quot;#FFFFFF&quot;,&quot;font&quot;:{&quot;color&quot;:&quot;#000000&quot;,&quot;family&quot;:&quot;Arial&quot;,&quot;size&quot;:12},&quot;backgroundColorModified&quot;:false,&quot;id&quot;:&quot;2&quot;,&quot;ts&quot;:1769895184150,&quot;cs&quot;:&quot;7c+WWY1UNQKw5DLQhGnJnQ==&quot;,&quot;size&quot;:{&quot;width&quot;:23.833333333333332,&quot;height&quot;:16}}" id="113" name="Google Shape;113;p19"/>
          <p:cNvPicPr preferRelativeResize="0"/>
          <p:nvPr/>
        </p:nvPicPr>
        <p:blipFill>
          <a:blip r:embed="rId3">
            <a:alphaModFix/>
          </a:blip>
          <a:stretch>
            <a:fillRect/>
          </a:stretch>
        </p:blipFill>
        <p:spPr>
          <a:xfrm>
            <a:off x="311700" y="1063325"/>
            <a:ext cx="227013" cy="152400"/>
          </a:xfrm>
          <a:prstGeom prst="rect">
            <a:avLst/>
          </a:prstGeom>
          <a:noFill/>
          <a:ln>
            <a:noFill/>
          </a:ln>
        </p:spPr>
      </p:pic>
      <p:pic>
        <p:nvPicPr>
          <p:cNvPr descr="{&quot;type&quot;:&quot;$$&quot;,&quot;id&quot;:&quot;3&quot;,&quot;backgroundColorModified&quot;:false,&quot;font&quot;:{&quot;color&quot;:&quot;#000000&quot;,&quot;size&quot;:12,&quot;family&quot;:&quot;Arial&quot;},&quot;backgroundColor&quot;:&quot;#FFFFFF&quot;,&quot;aid&quot;:null,&quot;code&quot;:&quot;$$Y_{01}$$&quot;,&quot;ts&quot;:1769958540780,&quot;cs&quot;:&quot;IF5jPg0k4A+7nlg8GqUrcQ==&quot;,&quot;size&quot;:{&quot;width&quot;:23.333333333333332,&quot;height&quot;:16}}" id="114" name="Google Shape;114;p19"/>
          <p:cNvPicPr preferRelativeResize="0"/>
          <p:nvPr/>
        </p:nvPicPr>
        <p:blipFill>
          <a:blip r:embed="rId4">
            <a:alphaModFix/>
          </a:blip>
          <a:stretch>
            <a:fillRect/>
          </a:stretch>
        </p:blipFill>
        <p:spPr>
          <a:xfrm>
            <a:off x="3588269" y="1092450"/>
            <a:ext cx="222250" cy="152400"/>
          </a:xfrm>
          <a:prstGeom prst="rect">
            <a:avLst/>
          </a:prstGeom>
          <a:noFill/>
          <a:ln>
            <a:noFill/>
          </a:ln>
        </p:spPr>
      </p:pic>
      <p:pic>
        <p:nvPicPr>
          <p:cNvPr descr="{&quot;aid&quot;:null,&quot;backgroundColorModified&quot;:false,&quot;font&quot;:{&quot;size&quot;:12,&quot;family&quot;:&quot;Arial&quot;,&quot;color&quot;:&quot;#000000&quot;},&quot;type&quot;:&quot;$$&quot;,&quot;id&quot;:&quot;4&quot;,&quot;code&quot;:&quot;$$Y_{03}$$&quot;,&quot;backgroundColor&quot;:&quot;#FFFFFF&quot;,&quot;ts&quot;:1769958621581,&quot;cs&quot;:&quot;dGvga80qLVAcPmomGmqjRQ==&quot;,&quot;size&quot;:{&quot;width&quot;:23.833333333333332,&quot;height&quot;:16}}" id="115" name="Google Shape;115;p19"/>
          <p:cNvPicPr preferRelativeResize="0"/>
          <p:nvPr/>
        </p:nvPicPr>
        <p:blipFill>
          <a:blip r:embed="rId5">
            <a:alphaModFix/>
          </a:blip>
          <a:stretch>
            <a:fillRect/>
          </a:stretch>
        </p:blipFill>
        <p:spPr>
          <a:xfrm>
            <a:off x="2216320" y="3037745"/>
            <a:ext cx="227013" cy="152400"/>
          </a:xfrm>
          <a:prstGeom prst="rect">
            <a:avLst/>
          </a:prstGeom>
          <a:noFill/>
          <a:ln>
            <a:noFill/>
          </a:ln>
        </p:spPr>
      </p:pic>
      <p:sp>
        <p:nvSpPr>
          <p:cNvPr id="116" name="Google Shape;116;p19"/>
          <p:cNvSpPr/>
          <p:nvPr/>
        </p:nvSpPr>
        <p:spPr>
          <a:xfrm>
            <a:off x="333569" y="1244837"/>
            <a:ext cx="166800" cy="152400"/>
          </a:xfrm>
          <a:prstGeom prst="up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7" name="Google Shape;117;p19"/>
          <p:cNvSpPr/>
          <p:nvPr/>
        </p:nvSpPr>
        <p:spPr>
          <a:xfrm>
            <a:off x="2246419" y="3222828"/>
            <a:ext cx="166800" cy="152400"/>
          </a:xfrm>
          <a:prstGeom prst="up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8" name="Google Shape;118;p19"/>
          <p:cNvSpPr/>
          <p:nvPr/>
        </p:nvSpPr>
        <p:spPr>
          <a:xfrm>
            <a:off x="3616007" y="1250674"/>
            <a:ext cx="166800" cy="152400"/>
          </a:xfrm>
          <a:prstGeom prst="up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descr="{&quot;type&quot;:&quot;gather*&quot;,&quot;backgroundColor&quot;:&quot;#FFFFFF&quot;,&quot;font&quot;:{&quot;color&quot;:&quot;#595959&quot;,&quot;family&quot;:&quot;Arial&quot;,&quot;size&quot;:9.5},&quot;code&quot;:&quot;\\begin{gather*}\n{\\text{We}\\;\\text{can't}\\;\\text{move}\\;\\text{the}\\;\\text{filter}\\;\\text{anymore,}}\\\\\n{\\text{so,}\\;\\text{size}\\;\\text{of}\\;\\text{output}\\;\\text{feature}\\;\\text{map:}}\\\\\n{3,3}\\\\\n{\\text{In}\\;\\text{general,}\\;\\text{if}\\;}\\\\\n{\\text{Input}\\;\\text{feature}\\;\\text{map}\\;X:\\,H\\times W}\\\\\n{\\text{Convolution}\\;\\text{Kernel}\\;K:\\,K_{H},\\,K_{W}}\\\\\n{\\text{Output}\\;\\text{feature}\\;\\text{map}\\;Y:\\,H-K_{H}+1,\\,W-K_{W}+1,\\,}\t\n\\end{gather*}&quot;,&quot;backgroundColorModified&quot;:false,&quot;aid&quot;:null,&quot;id&quot;:&quot;5&quot;,&quot;ts&quot;:1769895715206,&quot;cs&quot;:&quot;j1mcZICRlmy7o7hJIpu70A==&quot;,&quot;size&quot;:{&quot;width&quot;:354.8031527559055,&quot;height&quot;:137.06297217847768}}" id="119" name="Google Shape;119;p19"/>
          <p:cNvPicPr preferRelativeResize="0"/>
          <p:nvPr/>
        </p:nvPicPr>
        <p:blipFill>
          <a:blip r:embed="rId6">
            <a:alphaModFix/>
          </a:blip>
          <a:stretch>
            <a:fillRect/>
          </a:stretch>
        </p:blipFill>
        <p:spPr>
          <a:xfrm>
            <a:off x="2860000" y="3357113"/>
            <a:ext cx="3379500" cy="1305525"/>
          </a:xfrm>
          <a:prstGeom prst="rect">
            <a:avLst/>
          </a:prstGeom>
          <a:noFill/>
          <a:ln>
            <a:noFill/>
          </a:ln>
        </p:spPr>
      </p:pic>
      <p:graphicFrame>
        <p:nvGraphicFramePr>
          <p:cNvPr id="120" name="Google Shape;120;p19"/>
          <p:cNvGraphicFramePr/>
          <p:nvPr/>
        </p:nvGraphicFramePr>
        <p:xfrm>
          <a:off x="236543" y="1410353"/>
          <a:ext cx="3000000" cy="3000000"/>
        </p:xfrm>
        <a:graphic>
          <a:graphicData uri="http://schemas.openxmlformats.org/drawingml/2006/table">
            <a:tbl>
              <a:tblPr>
                <a:noFill/>
                <a:tableStyleId>{A22A7B2D-7E37-4577-AFCF-14A211495966}</a:tableStyleId>
              </a:tblPr>
              <a:tblGrid>
                <a:gridCol w="382850"/>
                <a:gridCol w="382850"/>
                <a:gridCol w="382850"/>
                <a:gridCol w="382850"/>
                <a:gridCol w="382850"/>
                <a:gridCol w="382850"/>
              </a:tblGrid>
              <a:tr h="324675">
                <a:tc>
                  <a:txBody>
                    <a:bodyPr/>
                    <a:lstStyle/>
                    <a:p>
                      <a:pPr indent="0" lvl="0" marL="0" rtl="0" algn="l">
                        <a:spcBef>
                          <a:spcPts val="0"/>
                        </a:spcBef>
                        <a:spcAft>
                          <a:spcPts val="0"/>
                        </a:spcAft>
                        <a:buNone/>
                      </a:pPr>
                      <a:r>
                        <a:rPr lang="en" sz="800"/>
                        <a:t>X00</a:t>
                      </a:r>
                      <a:endParaRPr sz="800"/>
                    </a:p>
                  </a:txBody>
                  <a:tcPr marT="91425" marB="91425" marR="91425" marL="91425">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X01</a:t>
                      </a:r>
                      <a:endParaRPr/>
                    </a:p>
                  </a:txBody>
                  <a:tcPr marT="91425" marB="91425" marR="91425" marL="91425">
                    <a:lnL cap="flat" cmpd="sng" w="9525">
                      <a:solidFill>
                        <a:srgbClr val="666666"/>
                      </a:solidFill>
                      <a:prstDash val="solid"/>
                      <a:round/>
                      <a:headEnd len="sm" w="sm" type="none"/>
                      <a:tailEnd len="sm" w="sm" type="none"/>
                    </a:lnL>
                  </a:tcPr>
                </a:tc>
                <a:tc>
                  <a:txBody>
                    <a:bodyPr/>
                    <a:lstStyle/>
                    <a:p>
                      <a:pPr indent="0" lvl="0" marL="0" rtl="0" algn="l">
                        <a:spcBef>
                          <a:spcPts val="0"/>
                        </a:spcBef>
                        <a:spcAft>
                          <a:spcPts val="0"/>
                        </a:spcAft>
                        <a:buNone/>
                      </a:pPr>
                      <a:r>
                        <a:rPr lang="en" sz="800">
                          <a:solidFill>
                            <a:schemeClr val="dk1"/>
                          </a:solidFill>
                        </a:rPr>
                        <a:t>X02</a:t>
                      </a:r>
                      <a:endParaRPr/>
                    </a:p>
                  </a:txBody>
                  <a:tcPr marT="91425" marB="91425" marR="91425" marL="91425"/>
                </a:tc>
                <a:tc>
                  <a:txBody>
                    <a:bodyPr/>
                    <a:lstStyle/>
                    <a:p>
                      <a:pPr indent="0" lvl="0" marL="0" rtl="0" algn="l">
                        <a:spcBef>
                          <a:spcPts val="0"/>
                        </a:spcBef>
                        <a:spcAft>
                          <a:spcPts val="0"/>
                        </a:spcAft>
                        <a:buNone/>
                      </a:pPr>
                      <a:r>
                        <a:rPr lang="en" sz="800">
                          <a:solidFill>
                            <a:schemeClr val="dk1"/>
                          </a:solidFill>
                        </a:rPr>
                        <a:t>X03</a:t>
                      </a:r>
                      <a:endParaRPr/>
                    </a:p>
                  </a:txBody>
                  <a:tcPr marT="91425" marB="91425" marR="91425" marL="91425"/>
                </a:tc>
                <a:tc>
                  <a:txBody>
                    <a:bodyPr/>
                    <a:lstStyle/>
                    <a:p>
                      <a:pPr indent="0" lvl="0" marL="0" rtl="0" algn="l">
                        <a:spcBef>
                          <a:spcPts val="0"/>
                        </a:spcBef>
                        <a:spcAft>
                          <a:spcPts val="0"/>
                        </a:spcAft>
                        <a:buNone/>
                      </a:pPr>
                      <a:r>
                        <a:rPr lang="en" sz="800">
                          <a:solidFill>
                            <a:schemeClr val="dk1"/>
                          </a:solidFill>
                        </a:rPr>
                        <a:t>X04</a:t>
                      </a:r>
                      <a:endParaRPr/>
                    </a:p>
                  </a:txBody>
                  <a:tcPr marT="91425" marB="91425" marR="91425" marL="91425"/>
                </a:tc>
                <a:tc>
                  <a:txBody>
                    <a:bodyPr/>
                    <a:lstStyle/>
                    <a:p>
                      <a:pPr indent="0" lvl="0" marL="0" rtl="0" algn="l">
                        <a:spcBef>
                          <a:spcPts val="0"/>
                        </a:spcBef>
                        <a:spcAft>
                          <a:spcPts val="0"/>
                        </a:spcAft>
                        <a:buNone/>
                      </a:pPr>
                      <a:r>
                        <a:rPr lang="en" sz="800">
                          <a:solidFill>
                            <a:schemeClr val="dk1"/>
                          </a:solidFill>
                        </a:rPr>
                        <a:t>X05</a:t>
                      </a:r>
                      <a:endParaRPr/>
                    </a:p>
                  </a:txBody>
                  <a:tcPr marT="91425" marB="91425" marR="91425" marL="91425"/>
                </a:tc>
              </a:tr>
              <a:tr h="295550">
                <a:tc>
                  <a:txBody>
                    <a:bodyPr/>
                    <a:lstStyle/>
                    <a:p>
                      <a:pPr indent="0" lvl="0" marL="0" rtl="0" algn="l">
                        <a:spcBef>
                          <a:spcPts val="0"/>
                        </a:spcBef>
                        <a:spcAft>
                          <a:spcPts val="0"/>
                        </a:spcAft>
                        <a:buNone/>
                      </a:pPr>
                      <a:r>
                        <a:rPr lang="en" sz="800">
                          <a:solidFill>
                            <a:schemeClr val="dk1"/>
                          </a:solidFill>
                        </a:rPr>
                        <a:t>X10</a:t>
                      </a:r>
                      <a:endParaRPr/>
                    </a:p>
                  </a:txBody>
                  <a:tcPr marT="91425" marB="91425" marR="91425" marL="91425">
                    <a:lnT cap="flat" cmpd="sng" w="9525">
                      <a:solidFill>
                        <a:srgbClr val="666666"/>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X11</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X12</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en" sz="800">
                          <a:solidFill>
                            <a:schemeClr val="dk1"/>
                          </a:solidFill>
                        </a:rPr>
                        <a:t>X15</a:t>
                      </a:r>
                      <a:endParaRPr/>
                    </a:p>
                  </a:txBody>
                  <a:tcPr marT="91425" marB="91425" marR="91425" marL="91425"/>
                </a:tc>
              </a:tr>
              <a:tr h="295550">
                <a:tc>
                  <a:txBody>
                    <a:bodyPr/>
                    <a:lstStyle/>
                    <a:p>
                      <a:pPr indent="0" lvl="0" marL="0" rtl="0" algn="l">
                        <a:spcBef>
                          <a:spcPts val="0"/>
                        </a:spcBef>
                        <a:spcAft>
                          <a:spcPts val="0"/>
                        </a:spcAft>
                        <a:buNone/>
                      </a:pPr>
                      <a:r>
                        <a:rPr lang="en" sz="800">
                          <a:solidFill>
                            <a:schemeClr val="dk1"/>
                          </a:solidFill>
                        </a:rPr>
                        <a:t>X20</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X21</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X22</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295550">
                <a:tc>
                  <a:txBody>
                    <a:bodyPr/>
                    <a:lstStyle/>
                    <a:p>
                      <a:pPr indent="0" lvl="0" marL="0" rtl="0" algn="l">
                        <a:spcBef>
                          <a:spcPts val="0"/>
                        </a:spcBef>
                        <a:spcAft>
                          <a:spcPts val="0"/>
                        </a:spcAft>
                        <a:buClr>
                          <a:schemeClr val="dk1"/>
                        </a:buClr>
                        <a:buSzPts val="1100"/>
                        <a:buFont typeface="Arial"/>
                        <a:buNone/>
                      </a:pPr>
                      <a:r>
                        <a:rPr lang="en" sz="800">
                          <a:solidFill>
                            <a:schemeClr val="dk1"/>
                          </a:solidFill>
                        </a:rPr>
                        <a:t>X30</a:t>
                      </a:r>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t/>
                      </a:r>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t/>
                      </a:r>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800">
                          <a:solidFill>
                            <a:schemeClr val="dk1"/>
                          </a:solidFill>
                        </a:rPr>
                        <a:t>X35</a:t>
                      </a:r>
                      <a:endParaRPr/>
                    </a:p>
                  </a:txBody>
                  <a:tcPr marT="91425" marB="91425" marR="91425" marL="91425"/>
                </a:tc>
              </a:tr>
            </a:tbl>
          </a:graphicData>
        </a:graphic>
      </p:graphicFrame>
      <p:graphicFrame>
        <p:nvGraphicFramePr>
          <p:cNvPr id="121" name="Google Shape;121;p19"/>
          <p:cNvGraphicFramePr/>
          <p:nvPr/>
        </p:nvGraphicFramePr>
        <p:xfrm>
          <a:off x="3169243" y="1430778"/>
          <a:ext cx="3000000" cy="3000000"/>
        </p:xfrm>
        <a:graphic>
          <a:graphicData uri="http://schemas.openxmlformats.org/drawingml/2006/table">
            <a:tbl>
              <a:tblPr>
                <a:noFill/>
                <a:tableStyleId>{A22A7B2D-7E37-4577-AFCF-14A211495966}</a:tableStyleId>
              </a:tblPr>
              <a:tblGrid>
                <a:gridCol w="382850"/>
                <a:gridCol w="382850"/>
                <a:gridCol w="382850"/>
                <a:gridCol w="382850"/>
                <a:gridCol w="382850"/>
                <a:gridCol w="382850"/>
              </a:tblGrid>
              <a:tr h="324675">
                <a:tc>
                  <a:txBody>
                    <a:bodyPr/>
                    <a:lstStyle/>
                    <a:p>
                      <a:pPr indent="0" lvl="0" marL="0" rtl="0" algn="l">
                        <a:spcBef>
                          <a:spcPts val="0"/>
                        </a:spcBef>
                        <a:spcAft>
                          <a:spcPts val="0"/>
                        </a:spcAft>
                        <a:buNone/>
                      </a:pPr>
                      <a:r>
                        <a:rPr lang="en" sz="800"/>
                        <a:t>X00</a:t>
                      </a:r>
                      <a:endParaRPr sz="800"/>
                    </a:p>
                  </a:txBody>
                  <a:tcPr marT="91425" marB="91425" marR="91425" marL="91425">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X01</a:t>
                      </a:r>
                      <a:endParaRPr/>
                    </a:p>
                  </a:txBody>
                  <a:tcPr marT="91425" marB="91425" marR="91425" marL="91425">
                    <a:lnL cap="flat" cmpd="sng" w="9525">
                      <a:solidFill>
                        <a:srgbClr val="666666"/>
                      </a:solidFill>
                      <a:prstDash val="solid"/>
                      <a:round/>
                      <a:headEnd len="sm" w="sm" type="none"/>
                      <a:tailEnd len="sm" w="sm" type="none"/>
                    </a:lnL>
                  </a:tcPr>
                </a:tc>
                <a:tc>
                  <a:txBody>
                    <a:bodyPr/>
                    <a:lstStyle/>
                    <a:p>
                      <a:pPr indent="0" lvl="0" marL="0" rtl="0" algn="l">
                        <a:spcBef>
                          <a:spcPts val="0"/>
                        </a:spcBef>
                        <a:spcAft>
                          <a:spcPts val="0"/>
                        </a:spcAft>
                        <a:buNone/>
                      </a:pPr>
                      <a:r>
                        <a:rPr lang="en" sz="800">
                          <a:solidFill>
                            <a:schemeClr val="dk1"/>
                          </a:solidFill>
                        </a:rPr>
                        <a:t>X02</a:t>
                      </a:r>
                      <a:endParaRPr/>
                    </a:p>
                  </a:txBody>
                  <a:tcPr marT="91425" marB="91425" marR="91425" marL="91425"/>
                </a:tc>
                <a:tc>
                  <a:txBody>
                    <a:bodyPr/>
                    <a:lstStyle/>
                    <a:p>
                      <a:pPr indent="0" lvl="0" marL="0" rtl="0" algn="l">
                        <a:spcBef>
                          <a:spcPts val="0"/>
                        </a:spcBef>
                        <a:spcAft>
                          <a:spcPts val="0"/>
                        </a:spcAft>
                        <a:buNone/>
                      </a:pPr>
                      <a:r>
                        <a:rPr lang="en" sz="800">
                          <a:solidFill>
                            <a:schemeClr val="dk1"/>
                          </a:solidFill>
                        </a:rPr>
                        <a:t>X03</a:t>
                      </a:r>
                      <a:endParaRPr/>
                    </a:p>
                  </a:txBody>
                  <a:tcPr marT="91425" marB="91425" marR="91425" marL="91425"/>
                </a:tc>
                <a:tc>
                  <a:txBody>
                    <a:bodyPr/>
                    <a:lstStyle/>
                    <a:p>
                      <a:pPr indent="0" lvl="0" marL="0" rtl="0" algn="l">
                        <a:spcBef>
                          <a:spcPts val="0"/>
                        </a:spcBef>
                        <a:spcAft>
                          <a:spcPts val="0"/>
                        </a:spcAft>
                        <a:buNone/>
                      </a:pPr>
                      <a:r>
                        <a:rPr lang="en" sz="800">
                          <a:solidFill>
                            <a:schemeClr val="dk1"/>
                          </a:solidFill>
                        </a:rPr>
                        <a:t>X04</a:t>
                      </a:r>
                      <a:endParaRPr/>
                    </a:p>
                  </a:txBody>
                  <a:tcPr marT="91425" marB="91425" marR="91425" marL="91425"/>
                </a:tc>
                <a:tc>
                  <a:txBody>
                    <a:bodyPr/>
                    <a:lstStyle/>
                    <a:p>
                      <a:pPr indent="0" lvl="0" marL="0" rtl="0" algn="l">
                        <a:spcBef>
                          <a:spcPts val="0"/>
                        </a:spcBef>
                        <a:spcAft>
                          <a:spcPts val="0"/>
                        </a:spcAft>
                        <a:buNone/>
                      </a:pPr>
                      <a:r>
                        <a:rPr lang="en" sz="800">
                          <a:solidFill>
                            <a:schemeClr val="dk1"/>
                          </a:solidFill>
                        </a:rPr>
                        <a:t>X05</a:t>
                      </a:r>
                      <a:endParaRPr/>
                    </a:p>
                  </a:txBody>
                  <a:tcPr marT="91425" marB="91425" marR="91425" marL="91425"/>
                </a:tc>
              </a:tr>
              <a:tr h="295550">
                <a:tc>
                  <a:txBody>
                    <a:bodyPr/>
                    <a:lstStyle/>
                    <a:p>
                      <a:pPr indent="0" lvl="0" marL="0" rtl="0" algn="l">
                        <a:spcBef>
                          <a:spcPts val="0"/>
                        </a:spcBef>
                        <a:spcAft>
                          <a:spcPts val="0"/>
                        </a:spcAft>
                        <a:buNone/>
                      </a:pPr>
                      <a:r>
                        <a:rPr lang="en" sz="800">
                          <a:solidFill>
                            <a:schemeClr val="dk1"/>
                          </a:solidFill>
                        </a:rPr>
                        <a:t>X10</a:t>
                      </a:r>
                      <a:endParaRPr/>
                    </a:p>
                  </a:txBody>
                  <a:tcPr marT="91425" marB="91425" marR="91425" marL="91425">
                    <a:lnT cap="flat" cmpd="sng" w="9525">
                      <a:solidFill>
                        <a:srgbClr val="666666"/>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X11</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X12</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en" sz="800">
                          <a:solidFill>
                            <a:schemeClr val="dk1"/>
                          </a:solidFill>
                        </a:rPr>
                        <a:t>X15</a:t>
                      </a:r>
                      <a:endParaRPr/>
                    </a:p>
                  </a:txBody>
                  <a:tcPr marT="91425" marB="91425" marR="91425" marL="91425"/>
                </a:tc>
              </a:tr>
              <a:tr h="295550">
                <a:tc>
                  <a:txBody>
                    <a:bodyPr/>
                    <a:lstStyle/>
                    <a:p>
                      <a:pPr indent="0" lvl="0" marL="0" rtl="0" algn="l">
                        <a:spcBef>
                          <a:spcPts val="0"/>
                        </a:spcBef>
                        <a:spcAft>
                          <a:spcPts val="0"/>
                        </a:spcAft>
                        <a:buNone/>
                      </a:pPr>
                      <a:r>
                        <a:rPr lang="en" sz="800">
                          <a:solidFill>
                            <a:schemeClr val="dk1"/>
                          </a:solidFill>
                        </a:rPr>
                        <a:t>X20</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X21</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X22</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295550">
                <a:tc>
                  <a:txBody>
                    <a:bodyPr/>
                    <a:lstStyle/>
                    <a:p>
                      <a:pPr indent="0" lvl="0" marL="0" rtl="0" algn="l">
                        <a:spcBef>
                          <a:spcPts val="0"/>
                        </a:spcBef>
                        <a:spcAft>
                          <a:spcPts val="0"/>
                        </a:spcAft>
                        <a:buClr>
                          <a:schemeClr val="dk1"/>
                        </a:buClr>
                        <a:buSzPts val="1100"/>
                        <a:buFont typeface="Arial"/>
                        <a:buNone/>
                      </a:pPr>
                      <a:r>
                        <a:rPr lang="en" sz="800">
                          <a:solidFill>
                            <a:schemeClr val="dk1"/>
                          </a:solidFill>
                        </a:rPr>
                        <a:t>X30</a:t>
                      </a:r>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t/>
                      </a:r>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t/>
                      </a:r>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800">
                          <a:solidFill>
                            <a:schemeClr val="dk1"/>
                          </a:solidFill>
                        </a:rPr>
                        <a:t>X35</a:t>
                      </a:r>
                      <a:endParaRPr/>
                    </a:p>
                  </a:txBody>
                  <a:tcPr marT="91425" marB="91425" marR="91425" marL="91425"/>
                </a:tc>
              </a:tr>
            </a:tbl>
          </a:graphicData>
        </a:graphic>
      </p:graphicFrame>
      <p:graphicFrame>
        <p:nvGraphicFramePr>
          <p:cNvPr id="122" name="Google Shape;122;p19"/>
          <p:cNvGraphicFramePr/>
          <p:nvPr/>
        </p:nvGraphicFramePr>
        <p:xfrm>
          <a:off x="200518" y="3407895"/>
          <a:ext cx="3000000" cy="3000000"/>
        </p:xfrm>
        <a:graphic>
          <a:graphicData uri="http://schemas.openxmlformats.org/drawingml/2006/table">
            <a:tbl>
              <a:tblPr>
                <a:noFill/>
                <a:tableStyleId>{A22A7B2D-7E37-4577-AFCF-14A211495966}</a:tableStyleId>
              </a:tblPr>
              <a:tblGrid>
                <a:gridCol w="382850"/>
                <a:gridCol w="382850"/>
                <a:gridCol w="382850"/>
                <a:gridCol w="382850"/>
                <a:gridCol w="382850"/>
                <a:gridCol w="382850"/>
              </a:tblGrid>
              <a:tr h="324675">
                <a:tc>
                  <a:txBody>
                    <a:bodyPr/>
                    <a:lstStyle/>
                    <a:p>
                      <a:pPr indent="0" lvl="0" marL="0" rtl="0" algn="l">
                        <a:spcBef>
                          <a:spcPts val="0"/>
                        </a:spcBef>
                        <a:spcAft>
                          <a:spcPts val="0"/>
                        </a:spcAft>
                        <a:buNone/>
                      </a:pPr>
                      <a:r>
                        <a:rPr lang="en" sz="800"/>
                        <a:t>X00</a:t>
                      </a:r>
                      <a:endParaRPr sz="800"/>
                    </a:p>
                  </a:txBody>
                  <a:tcPr marT="91425" marB="91425" marR="91425" marL="91425">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X01</a:t>
                      </a:r>
                      <a:endParaRPr/>
                    </a:p>
                  </a:txBody>
                  <a:tcPr marT="91425" marB="91425" marR="91425" marL="91425">
                    <a:lnL cap="flat" cmpd="sng" w="9525">
                      <a:solidFill>
                        <a:srgbClr val="666666"/>
                      </a:solidFill>
                      <a:prstDash val="solid"/>
                      <a:round/>
                      <a:headEnd len="sm" w="sm" type="none"/>
                      <a:tailEnd len="sm" w="sm" type="none"/>
                    </a:lnL>
                  </a:tcPr>
                </a:tc>
                <a:tc>
                  <a:txBody>
                    <a:bodyPr/>
                    <a:lstStyle/>
                    <a:p>
                      <a:pPr indent="0" lvl="0" marL="0" rtl="0" algn="l">
                        <a:spcBef>
                          <a:spcPts val="0"/>
                        </a:spcBef>
                        <a:spcAft>
                          <a:spcPts val="0"/>
                        </a:spcAft>
                        <a:buNone/>
                      </a:pPr>
                      <a:r>
                        <a:rPr lang="en" sz="800">
                          <a:solidFill>
                            <a:schemeClr val="dk1"/>
                          </a:solidFill>
                        </a:rPr>
                        <a:t>X02</a:t>
                      </a:r>
                      <a:endParaRPr/>
                    </a:p>
                  </a:txBody>
                  <a:tcPr marT="91425" marB="91425" marR="91425" marL="91425"/>
                </a:tc>
                <a:tc>
                  <a:txBody>
                    <a:bodyPr/>
                    <a:lstStyle/>
                    <a:p>
                      <a:pPr indent="0" lvl="0" marL="0" rtl="0" algn="l">
                        <a:spcBef>
                          <a:spcPts val="0"/>
                        </a:spcBef>
                        <a:spcAft>
                          <a:spcPts val="0"/>
                        </a:spcAft>
                        <a:buNone/>
                      </a:pPr>
                      <a:r>
                        <a:rPr lang="en" sz="800">
                          <a:solidFill>
                            <a:schemeClr val="dk1"/>
                          </a:solidFill>
                        </a:rPr>
                        <a:t>X03</a:t>
                      </a:r>
                      <a:endParaRPr/>
                    </a:p>
                  </a:txBody>
                  <a:tcPr marT="91425" marB="91425" marR="91425" marL="91425"/>
                </a:tc>
                <a:tc>
                  <a:txBody>
                    <a:bodyPr/>
                    <a:lstStyle/>
                    <a:p>
                      <a:pPr indent="0" lvl="0" marL="0" rtl="0" algn="l">
                        <a:spcBef>
                          <a:spcPts val="0"/>
                        </a:spcBef>
                        <a:spcAft>
                          <a:spcPts val="0"/>
                        </a:spcAft>
                        <a:buNone/>
                      </a:pPr>
                      <a:r>
                        <a:rPr lang="en" sz="800">
                          <a:solidFill>
                            <a:schemeClr val="dk1"/>
                          </a:solidFill>
                        </a:rPr>
                        <a:t>X04</a:t>
                      </a:r>
                      <a:endParaRPr/>
                    </a:p>
                  </a:txBody>
                  <a:tcPr marT="91425" marB="91425" marR="91425" marL="91425"/>
                </a:tc>
                <a:tc>
                  <a:txBody>
                    <a:bodyPr/>
                    <a:lstStyle/>
                    <a:p>
                      <a:pPr indent="0" lvl="0" marL="0" rtl="0" algn="l">
                        <a:spcBef>
                          <a:spcPts val="0"/>
                        </a:spcBef>
                        <a:spcAft>
                          <a:spcPts val="0"/>
                        </a:spcAft>
                        <a:buNone/>
                      </a:pPr>
                      <a:r>
                        <a:rPr lang="en" sz="800">
                          <a:solidFill>
                            <a:schemeClr val="dk1"/>
                          </a:solidFill>
                        </a:rPr>
                        <a:t>X05</a:t>
                      </a:r>
                      <a:endParaRPr/>
                    </a:p>
                  </a:txBody>
                  <a:tcPr marT="91425" marB="91425" marR="91425" marL="91425"/>
                </a:tc>
              </a:tr>
              <a:tr h="295550">
                <a:tc>
                  <a:txBody>
                    <a:bodyPr/>
                    <a:lstStyle/>
                    <a:p>
                      <a:pPr indent="0" lvl="0" marL="0" rtl="0" algn="l">
                        <a:spcBef>
                          <a:spcPts val="0"/>
                        </a:spcBef>
                        <a:spcAft>
                          <a:spcPts val="0"/>
                        </a:spcAft>
                        <a:buNone/>
                      </a:pPr>
                      <a:r>
                        <a:rPr lang="en" sz="800">
                          <a:solidFill>
                            <a:schemeClr val="dk1"/>
                          </a:solidFill>
                        </a:rPr>
                        <a:t>X10</a:t>
                      </a:r>
                      <a:endParaRPr/>
                    </a:p>
                  </a:txBody>
                  <a:tcPr marT="91425" marB="91425" marR="91425" marL="91425">
                    <a:lnT cap="flat" cmpd="sng" w="9525">
                      <a:solidFill>
                        <a:srgbClr val="666666"/>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X11</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X12</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en" sz="800">
                          <a:solidFill>
                            <a:schemeClr val="dk1"/>
                          </a:solidFill>
                        </a:rPr>
                        <a:t>X15</a:t>
                      </a:r>
                      <a:endParaRPr/>
                    </a:p>
                  </a:txBody>
                  <a:tcPr marT="91425" marB="91425" marR="91425" marL="91425"/>
                </a:tc>
              </a:tr>
              <a:tr h="295550">
                <a:tc>
                  <a:txBody>
                    <a:bodyPr/>
                    <a:lstStyle/>
                    <a:p>
                      <a:pPr indent="0" lvl="0" marL="0" rtl="0" algn="l">
                        <a:spcBef>
                          <a:spcPts val="0"/>
                        </a:spcBef>
                        <a:spcAft>
                          <a:spcPts val="0"/>
                        </a:spcAft>
                        <a:buNone/>
                      </a:pPr>
                      <a:r>
                        <a:rPr lang="en" sz="800">
                          <a:solidFill>
                            <a:schemeClr val="dk1"/>
                          </a:solidFill>
                        </a:rPr>
                        <a:t>X20</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X21</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X22</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295550">
                <a:tc>
                  <a:txBody>
                    <a:bodyPr/>
                    <a:lstStyle/>
                    <a:p>
                      <a:pPr indent="0" lvl="0" marL="0" rtl="0" algn="l">
                        <a:spcBef>
                          <a:spcPts val="0"/>
                        </a:spcBef>
                        <a:spcAft>
                          <a:spcPts val="0"/>
                        </a:spcAft>
                        <a:buClr>
                          <a:schemeClr val="dk1"/>
                        </a:buClr>
                        <a:buSzPts val="1100"/>
                        <a:buFont typeface="Arial"/>
                        <a:buNone/>
                      </a:pPr>
                      <a:r>
                        <a:rPr lang="en" sz="800">
                          <a:solidFill>
                            <a:schemeClr val="dk1"/>
                          </a:solidFill>
                        </a:rPr>
                        <a:t>X30</a:t>
                      </a:r>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t/>
                      </a:r>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t/>
                      </a:r>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800">
                          <a:solidFill>
                            <a:schemeClr val="dk1"/>
                          </a:solidFill>
                        </a:rPr>
                        <a:t>X35</a:t>
                      </a:r>
                      <a:endParaRPr/>
                    </a:p>
                  </a:txBody>
                  <a:tcPr marT="91425" marB="91425" marR="91425" marL="91425"/>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convolutions? </a:t>
            </a:r>
            <a:endParaRPr/>
          </a:p>
        </p:txBody>
      </p:sp>
      <p:sp>
        <p:nvSpPr>
          <p:cNvPr id="128" name="Google Shape;128;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300"/>
              <a:t>Convolutions have the right </a:t>
            </a:r>
            <a:r>
              <a:rPr b="1" lang="en" sz="1300"/>
              <a:t>“inductive biases”</a:t>
            </a:r>
            <a:r>
              <a:rPr lang="en" sz="1300"/>
              <a:t> for images. An inductive bias is the set up assumptions that your model bakes in about patterns in your data. These assumptions restrict the hypothesis space, so you can learn from fewer examples, smaller models and generalize better.</a:t>
            </a:r>
            <a:endParaRPr sz="1300"/>
          </a:p>
          <a:p>
            <a:pPr indent="0" lvl="0" marL="0" rtl="0" algn="l">
              <a:spcBef>
                <a:spcPts val="1200"/>
              </a:spcBef>
              <a:spcAft>
                <a:spcPts val="0"/>
              </a:spcAft>
              <a:buNone/>
            </a:pPr>
            <a:r>
              <a:rPr lang="en" sz="1300"/>
              <a:t>Inductive biases in images:</a:t>
            </a:r>
            <a:endParaRPr sz="1300"/>
          </a:p>
          <a:p>
            <a:pPr indent="-311150" lvl="0" marL="457200" rtl="0" algn="l">
              <a:spcBef>
                <a:spcPts val="1200"/>
              </a:spcBef>
              <a:spcAft>
                <a:spcPts val="0"/>
              </a:spcAft>
              <a:buSzPts val="1300"/>
              <a:buChar char="-"/>
            </a:pPr>
            <a:r>
              <a:rPr b="1" lang="en" sz="1300"/>
              <a:t>Locality:</a:t>
            </a:r>
            <a:r>
              <a:rPr lang="en" sz="1300"/>
              <a:t> A pixel is one part of the image is unlikely to affect a pixel far away from it (unlike text). A pixel generally interacts with pixels in a small vicinity of it. Visual structure is local. Small conv kernel windows extract useful local features (edges, textures, corners) and build higher level </a:t>
            </a:r>
            <a:r>
              <a:rPr lang="en" sz="1300"/>
              <a:t>abstractions</a:t>
            </a:r>
            <a:r>
              <a:rPr lang="en" sz="1300"/>
              <a:t> by composing local patterns. A fully connected MLP would assume every pixel is connected with every other pixels..</a:t>
            </a:r>
            <a:br>
              <a:rPr lang="en" sz="1300"/>
            </a:br>
            <a:endParaRPr sz="1300"/>
          </a:p>
          <a:p>
            <a:pPr indent="-311150" lvl="0" marL="457200" rtl="0" algn="l">
              <a:spcBef>
                <a:spcPts val="0"/>
              </a:spcBef>
              <a:spcAft>
                <a:spcPts val="0"/>
              </a:spcAft>
              <a:buSzPts val="1300"/>
              <a:buChar char="-"/>
            </a:pPr>
            <a:r>
              <a:rPr b="1" lang="en" sz="1300"/>
              <a:t>Translation Invariance: </a:t>
            </a:r>
            <a:r>
              <a:rPr lang="en" sz="1300"/>
              <a:t>A cat detector should work everywhere in the image.. Not just in a particular position. Without this bias, we’ll have to build separate detectors for the same feature at different locations in the image.. Convolutions apply this bias by using the same kernel everywhere in the image</a:t>
            </a:r>
            <a:endParaRPr sz="13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Convolution layer: Gradient</a:t>
            </a:r>
            <a:endParaRPr/>
          </a:p>
        </p:txBody>
      </p:sp>
      <p:sp>
        <p:nvSpPr>
          <p:cNvPr id="134" name="Google Shape;134;p21"/>
          <p:cNvSpPr/>
          <p:nvPr/>
        </p:nvSpPr>
        <p:spPr>
          <a:xfrm>
            <a:off x="570750" y="1454300"/>
            <a:ext cx="1148700" cy="452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Convolution</a:t>
            </a:r>
            <a:endParaRPr/>
          </a:p>
        </p:txBody>
      </p:sp>
      <p:pic>
        <p:nvPicPr>
          <p:cNvPr descr="{&quot;code&quot;:&quot;$$X$$&quot;,&quot;id&quot;:&quot;6&quot;,&quot;backgroundColorModified&quot;:false,&quot;font&quot;:{&quot;color&quot;:&quot;#000000&quot;,&quot;family&quot;:&quot;Arial&quot;,&quot;size&quot;:12},&quot;aid&quot;:null,&quot;type&quot;:&quot;$$&quot;,&quot;backgroundColor&quot;:&quot;#FFFFFF&quot;,&quot;ts&quot;:1769896027501,&quot;cs&quot;:&quot;biDEEX/g3ZL3ZrQTf6GF6g==&quot;,&quot;size&quot;:{&quot;width&quot;:15.5,&quot;height&quot;:12.833333333333334}}" id="135" name="Google Shape;135;p21"/>
          <p:cNvPicPr preferRelativeResize="0"/>
          <p:nvPr/>
        </p:nvPicPr>
        <p:blipFill>
          <a:blip r:embed="rId3">
            <a:alphaModFix/>
          </a:blip>
          <a:stretch>
            <a:fillRect/>
          </a:stretch>
        </p:blipFill>
        <p:spPr>
          <a:xfrm>
            <a:off x="154175" y="1619225"/>
            <a:ext cx="147638" cy="122238"/>
          </a:xfrm>
          <a:prstGeom prst="rect">
            <a:avLst/>
          </a:prstGeom>
          <a:noFill/>
          <a:ln>
            <a:noFill/>
          </a:ln>
        </p:spPr>
      </p:pic>
      <p:pic>
        <p:nvPicPr>
          <p:cNvPr descr="{&quot;backgroundColor&quot;:&quot;#FFFFFF&quot;,&quot;code&quot;:&quot;$$Y$$&quot;,&quot;aid&quot;:null,&quot;font&quot;:{&quot;size&quot;:12,&quot;color&quot;:&quot;#000000&quot;,&quot;family&quot;:&quot;Arial&quot;},&quot;backgroundColorModified&quot;:false,&quot;id&quot;:&quot;7&quot;,&quot;type&quot;:&quot;$$&quot;,&quot;ts&quot;:1769896044475,&quot;cs&quot;:&quot;ygJSf5VWmapuzqP6IfMBnw==&quot;,&quot;size&quot;:{&quot;width&quot;:13.833333333333334,&quot;height&quot;:12.833333333333334}}" id="136" name="Google Shape;136;p21"/>
          <p:cNvPicPr preferRelativeResize="0"/>
          <p:nvPr/>
        </p:nvPicPr>
        <p:blipFill>
          <a:blip r:embed="rId4">
            <a:alphaModFix/>
          </a:blip>
          <a:stretch>
            <a:fillRect/>
          </a:stretch>
        </p:blipFill>
        <p:spPr>
          <a:xfrm>
            <a:off x="1962550" y="1587363"/>
            <a:ext cx="131763" cy="122238"/>
          </a:xfrm>
          <a:prstGeom prst="rect">
            <a:avLst/>
          </a:prstGeom>
          <a:noFill/>
          <a:ln>
            <a:noFill/>
          </a:ln>
        </p:spPr>
      </p:pic>
      <p:sp>
        <p:nvSpPr>
          <p:cNvPr id="137" name="Google Shape;137;p21"/>
          <p:cNvSpPr/>
          <p:nvPr/>
        </p:nvSpPr>
        <p:spPr>
          <a:xfrm>
            <a:off x="2337425" y="1350500"/>
            <a:ext cx="1148700" cy="659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Other layers + Loss function</a:t>
            </a:r>
            <a:endParaRPr sz="1200"/>
          </a:p>
        </p:txBody>
      </p:sp>
      <p:pic>
        <p:nvPicPr>
          <p:cNvPr descr="{&quot;font&quot;:{&quot;color&quot;:&quot;#000000&quot;,&quot;size&quot;:14,&quot;family&quot;:&quot;Arial&quot;},&quot;code&quot;:&quot;$$L$$&quot;,&quot;id&quot;:&quot;8&quot;,&quot;aid&quot;:null,&quot;type&quot;:&quot;$$&quot;,&quot;backgroundColor&quot;:&quot;#EEEEEE&quot;,&quot;backgroundColorModified&quot;:false,&quot;ts&quot;:1769896085514,&quot;cs&quot;:&quot;0mXFZlMFf/WEw91BwHe6fw==&quot;,&quot;size&quot;:{&quot;width&quot;:13.666666666666666,&quot;height&quot;:15}}" id="138" name="Google Shape;138;p21"/>
          <p:cNvPicPr preferRelativeResize="0"/>
          <p:nvPr/>
        </p:nvPicPr>
        <p:blipFill>
          <a:blip r:embed="rId5">
            <a:alphaModFix/>
          </a:blip>
          <a:stretch>
            <a:fillRect/>
          </a:stretch>
        </p:blipFill>
        <p:spPr>
          <a:xfrm>
            <a:off x="3729225" y="1608913"/>
            <a:ext cx="130175" cy="142875"/>
          </a:xfrm>
          <a:prstGeom prst="rect">
            <a:avLst/>
          </a:prstGeom>
          <a:noFill/>
          <a:ln>
            <a:noFill/>
          </a:ln>
        </p:spPr>
      </p:pic>
      <p:cxnSp>
        <p:nvCxnSpPr>
          <p:cNvPr id="139" name="Google Shape;139;p21"/>
          <p:cNvCxnSpPr>
            <a:endCxn id="134" idx="1"/>
          </p:cNvCxnSpPr>
          <p:nvPr/>
        </p:nvCxnSpPr>
        <p:spPr>
          <a:xfrm flipH="1" rot="10800000">
            <a:off x="389250" y="1680350"/>
            <a:ext cx="181500" cy="3600"/>
          </a:xfrm>
          <a:prstGeom prst="straightConnector1">
            <a:avLst/>
          </a:prstGeom>
          <a:noFill/>
          <a:ln cap="flat" cmpd="sng" w="9525">
            <a:solidFill>
              <a:schemeClr val="dk2"/>
            </a:solidFill>
            <a:prstDash val="solid"/>
            <a:round/>
            <a:headEnd len="med" w="med" type="none"/>
            <a:tailEnd len="med" w="med" type="triangle"/>
          </a:ln>
        </p:spPr>
      </p:cxnSp>
      <p:cxnSp>
        <p:nvCxnSpPr>
          <p:cNvPr id="140" name="Google Shape;140;p21"/>
          <p:cNvCxnSpPr/>
          <p:nvPr/>
        </p:nvCxnSpPr>
        <p:spPr>
          <a:xfrm flipH="1" rot="10800000">
            <a:off x="1712275" y="1680350"/>
            <a:ext cx="181500" cy="3600"/>
          </a:xfrm>
          <a:prstGeom prst="straightConnector1">
            <a:avLst/>
          </a:prstGeom>
          <a:noFill/>
          <a:ln cap="flat" cmpd="sng" w="9525">
            <a:solidFill>
              <a:schemeClr val="dk2"/>
            </a:solidFill>
            <a:prstDash val="solid"/>
            <a:round/>
            <a:headEnd len="med" w="med" type="none"/>
            <a:tailEnd len="med" w="med" type="triangle"/>
          </a:ln>
        </p:spPr>
      </p:cxnSp>
      <p:cxnSp>
        <p:nvCxnSpPr>
          <p:cNvPr id="141" name="Google Shape;141;p21"/>
          <p:cNvCxnSpPr/>
          <p:nvPr/>
        </p:nvCxnSpPr>
        <p:spPr>
          <a:xfrm flipH="1" rot="10800000">
            <a:off x="2163100" y="1680350"/>
            <a:ext cx="181500" cy="3600"/>
          </a:xfrm>
          <a:prstGeom prst="straightConnector1">
            <a:avLst/>
          </a:prstGeom>
          <a:noFill/>
          <a:ln cap="flat" cmpd="sng" w="9525">
            <a:solidFill>
              <a:schemeClr val="dk2"/>
            </a:solidFill>
            <a:prstDash val="solid"/>
            <a:round/>
            <a:headEnd len="med" w="med" type="none"/>
            <a:tailEnd len="med" w="med" type="triangle"/>
          </a:ln>
        </p:spPr>
      </p:cxnSp>
      <p:cxnSp>
        <p:nvCxnSpPr>
          <p:cNvPr id="142" name="Google Shape;142;p21"/>
          <p:cNvCxnSpPr/>
          <p:nvPr/>
        </p:nvCxnSpPr>
        <p:spPr>
          <a:xfrm flipH="1" rot="10800000">
            <a:off x="3486125" y="1678550"/>
            <a:ext cx="181500" cy="3600"/>
          </a:xfrm>
          <a:prstGeom prst="straightConnector1">
            <a:avLst/>
          </a:prstGeom>
          <a:noFill/>
          <a:ln cap="flat" cmpd="sng" w="9525">
            <a:solidFill>
              <a:schemeClr val="dk2"/>
            </a:solidFill>
            <a:prstDash val="solid"/>
            <a:round/>
            <a:headEnd len="med" w="med" type="none"/>
            <a:tailEnd len="med" w="med" type="triangle"/>
          </a:ln>
        </p:spPr>
      </p:cxnSp>
      <p:sp>
        <p:nvSpPr>
          <p:cNvPr id="143" name="Google Shape;143;p21"/>
          <p:cNvSpPr txBox="1"/>
          <p:nvPr/>
        </p:nvSpPr>
        <p:spPr>
          <a:xfrm>
            <a:off x="845025" y="1131200"/>
            <a:ext cx="7989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dk2"/>
                </a:solidFill>
              </a:rPr>
              <a:t>Layer </a:t>
            </a:r>
            <a:r>
              <a:rPr i="1" lang="en" sz="900">
                <a:solidFill>
                  <a:schemeClr val="dk2"/>
                </a:solidFill>
              </a:rPr>
              <a:t>l</a:t>
            </a:r>
            <a:endParaRPr i="1" sz="900">
              <a:solidFill>
                <a:schemeClr val="dk2"/>
              </a:solidFill>
            </a:endParaRPr>
          </a:p>
        </p:txBody>
      </p:sp>
      <p:pic>
        <p:nvPicPr>
          <p:cNvPr descr="{&quot;font&quot;:{&quot;color&quot;:&quot;#000000&quot;,&quot;size&quot;:12,&quot;family&quot;:&quot;Arial&quot;},&quot;backgroundColorModified&quot;:false,&quot;code&quot;:&quot;\\begin{gather*}\n{L=f\\left(Y\\right)}\\\\\n{Y_{ij}=\\sum_{v=0}^{K_{W}}\\sum_{u=0}^{K_{H}}X_{i+u,j+v}K_{u,v}}\\\\\n{\\text{We}\\;\\text{want}\\;\\pdf{L}{K_{u,v}}\\,\\text{and}\\,\\pdf{L}{X_{i,j}}}\t\n\\end{gather*}&quot;,&quot;backgroundColor&quot;:&quot;#FFFFFF&quot;,&quot;type&quot;:&quot;gather*&quot;,&quot;aid&quot;:null,&quot;id&quot;:&quot;9&quot;,&quot;ts&quot;:1769958782286,&quot;cs&quot;:&quot;piDzjITCzlUSL6/4qghI+Q==&quot;,&quot;size&quot;:{&quot;width&quot;:216.66666666666666,&quot;height&quot;:131}}" id="144" name="Google Shape;144;p21"/>
          <p:cNvPicPr preferRelativeResize="0"/>
          <p:nvPr/>
        </p:nvPicPr>
        <p:blipFill>
          <a:blip r:embed="rId6">
            <a:alphaModFix/>
          </a:blip>
          <a:stretch>
            <a:fillRect/>
          </a:stretch>
        </p:blipFill>
        <p:spPr>
          <a:xfrm>
            <a:off x="983447" y="2326586"/>
            <a:ext cx="2063750" cy="1247775"/>
          </a:xfrm>
          <a:prstGeom prst="rect">
            <a:avLst/>
          </a:prstGeom>
          <a:noFill/>
          <a:ln>
            <a:noFill/>
          </a:ln>
        </p:spPr>
      </p:pic>
      <p:sp>
        <p:nvSpPr>
          <p:cNvPr id="145" name="Google Shape;145;p21"/>
          <p:cNvSpPr txBox="1"/>
          <p:nvPr/>
        </p:nvSpPr>
        <p:spPr>
          <a:xfrm>
            <a:off x="2728850" y="1017725"/>
            <a:ext cx="4338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dk2"/>
                </a:solidFill>
              </a:rPr>
              <a:t>f(Y)</a:t>
            </a:r>
            <a:endParaRPr i="1" sz="900">
              <a:solidFill>
                <a:schemeClr val="dk2"/>
              </a:solidFill>
            </a:endParaRPr>
          </a:p>
        </p:txBody>
      </p:sp>
      <p:pic>
        <p:nvPicPr>
          <p:cNvPr descr="{&quot;id&quot;:&quot;1&quot;,&quot;backgroundColor&quot;:&quot;#FFFFFF&quot;,&quot;aid&quot;:null,&quot;code&quot;:&quot;\\begin{gather*}\n{Y_{11}=X_{11}K_{00}+X_{12}K_{01}+X_{21}K_{10}+X_{22}K_{11}}\t\n\\end{gather*}&quot;,&quot;font&quot;:{&quot;size&quot;:10.5,&quot;color&quot;:&quot;#000000&quot;,&quot;family&quot;:&quot;Arial&quot;},&quot;backgroundColorModified&quot;:false,&quot;type&quot;:&quot;gather*&quot;,&quot;ts&quot;:1769958313605,&quot;cs&quot;:&quot;8m9EozAboFoZ5s74/XbkSA==&quot;,&quot;size&quot;:{&quot;width&quot;:316.75,&quot;height&quot;:14.25}}" id="146" name="Google Shape;146;p21"/>
          <p:cNvPicPr preferRelativeResize="0"/>
          <p:nvPr/>
        </p:nvPicPr>
        <p:blipFill>
          <a:blip r:embed="rId7">
            <a:alphaModFix/>
          </a:blip>
          <a:stretch>
            <a:fillRect/>
          </a:stretch>
        </p:blipFill>
        <p:spPr>
          <a:xfrm>
            <a:off x="311692" y="4509374"/>
            <a:ext cx="3017044" cy="135731"/>
          </a:xfrm>
          <a:prstGeom prst="rect">
            <a:avLst/>
          </a:prstGeom>
          <a:noFill/>
          <a:ln>
            <a:noFill/>
          </a:ln>
        </p:spPr>
      </p:pic>
      <p:sp>
        <p:nvSpPr>
          <p:cNvPr id="147" name="Google Shape;147;p21"/>
          <p:cNvSpPr txBox="1"/>
          <p:nvPr/>
        </p:nvSpPr>
        <p:spPr>
          <a:xfrm>
            <a:off x="443250" y="4003075"/>
            <a:ext cx="26595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dk2"/>
                </a:solidFill>
              </a:rPr>
              <a:t>Eg., for i,j = 1,1, Kw, Kh = 2</a:t>
            </a:r>
            <a:endParaRPr sz="1500">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2"/>
          <p:cNvSpPr txBox="1"/>
          <p:nvPr>
            <p:ph type="title"/>
          </p:nvPr>
        </p:nvSpPr>
        <p:spPr>
          <a:xfrm>
            <a:off x="311700" y="445025"/>
            <a:ext cx="3183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Convolution layer: Gradient</a:t>
            </a:r>
            <a:endParaRPr/>
          </a:p>
        </p:txBody>
      </p:sp>
      <p:pic>
        <p:nvPicPr>
          <p:cNvPr descr="{&quot;code&quot;:&quot;\\begin{gather*}\n{\\text{Let's}\\;\\text{calculate}\\;\\text{gradient}\\;\\text{of}\\;\\text{L}\\;\\text{wrt}\\;\\text{Kernel}\\;\\text{weights}\\text{}}\\\\\n{\\text{By}\\;\\text{the}\\;\\text{chain}\\;\\text{rule,}}\\\\\n{\\pdf{L}{K_{u,v}}=\\sum_{\\;}^{}\\pdf{L}{Y}\\pdf{Y}{K_{u,v}}}\\\\\n{\\text{The}\\;\\text{summation}\\;\\text{is}\\;\\text{over}\\;\\text{all}\\;Y\\,\\text{affected}\\;\\text{by}\\;K_{uv}.\\,\\text{What}\\;\\text{are}\\;\\text{these}\\;Y?}\\\\\n{\\text{Because}\\;\\text{convolution}\\;\\text{kernel}\\;\\text{is}\\;\\text{strided}\\;\\text{across}\\;\\text{the}\\;\\text{entire}\\;\\text{input}\\;\\text{feature}\\;\\text{map,}}\\\\\n{\\text{a}\\;\\text{kernel}\\;\\text{weight}\\;K_{uv}\\,\\text{affects}\\;\\text{all}\\;Y_{ij}.\\,\\text{And}\\;\\text{in}\\;\\text{general,}\\;\\text{all}\\;Y_{ij}\\;\\text{contribut}\\text{e}\\;\\text{to}\\;\\text{the}\\;\\text{loss}\\;L}\\\\\n{\\text{So,}\\;\\text{when}\\;\\text{applying}\\;\\text{the}\\;\\text{chain}\\;\\text{rule,}\\;\\text{we}\\;\\text{must}\\;\\text{sum}\\;\\text{the}\\;\\text{contribution}\\;\\text{of}\\;K_{uv}\\;\\text{to}\\;\\text{all}\\;Y_{ij}}\\\\\n{\\pdf{L}{K_{u,v}}=\\sum_{j=0}^{W-K_{W}}\\sum_{i=0}^{H-K_{H}}\\pdf{L}{Y_{ij}}\\pdf{Y_{ij}}{K_{u,v}}}\\\\\n{\\text{Let}\\;\\pdf{L}{Y_{ij}}=G_{ij}}\\\\\n{\\text{This}\\;\\text{will}\\;\\text{be}\\;\\text{calculated}\\;\\text{be}\\;\\text{the}\\;\\text{next}\\;\\text{layer}\\;\\text{and}\\;\\text{backpropagated}\\;\\text{in}\\;\\text{the}\\;\\text{backward}\\;\\text{pass}}\\\\\n{\\text{Now,}}\\\\\n{Y_{ij}=\\sum_{v=0}^{K_{W}}\\sum_{u=0}^{K_{H}}X_{i+u,j+v}K_{u,v}}\\\\\n{\\pdf{Y_{ij}}{K_{u,v}}=X_{i+u,j+v}}\\\\\n{\\text{So}}\\\\\n{\\pdf{L}{K_{u,v}}=\\sum_{j=0}^{W-K_{W}}\\sum_{i=0}^{H-K_{H}}G_{ij}X_{u+i,v+j}}\\\\\n{=Conv\\left(G,X\\right)!}\\\\\n{\\text{But}\\;\\text{now}\\;\\text{the}\\;\\text{convolution}\\;\\text{is}\\;\\text{over}\\;\\text{the}\\;\\text{entire}\\;\\text{output}\\;\\text{feature}\\;\\text{map}}\t\n\\end{gather*}&quot;,&quot;backgroundColorModified&quot;:false,&quot;backgroundColor&quot;:&quot;#FFFFFF&quot;,&quot;type&quot;:&quot;gather*&quot;,&quot;aid&quot;:null,&quot;id&quot;:&quot;5&quot;,&quot;font&quot;:{&quot;family&quot;:&quot;Arial&quot;,&quot;size&quot;:10,&quot;color&quot;:&quot;#595959&quot;},&quot;ts&quot;:1772196983646,&quot;cs&quot;:&quot;5I5ZF9y+1RtDqUsARfIWVg==&quot;,&quot;size&quot;:{&quot;width&quot;:558.4999999999999,&quot;height&quot;:506}}" id="153" name="Google Shape;153;p22"/>
          <p:cNvPicPr preferRelativeResize="0"/>
          <p:nvPr/>
        </p:nvPicPr>
        <p:blipFill rotWithShape="1">
          <a:blip r:embed="rId3">
            <a:alphaModFix/>
          </a:blip>
          <a:srcRect b="-7950" l="0" r="0" t="7950"/>
          <a:stretch/>
        </p:blipFill>
        <p:spPr>
          <a:xfrm>
            <a:off x="3296650" y="51950"/>
            <a:ext cx="5518349" cy="4999624"/>
          </a:xfrm>
          <a:prstGeom prst="rect">
            <a:avLst/>
          </a:prstGeom>
          <a:noFill/>
          <a:ln>
            <a:noFill/>
          </a:ln>
        </p:spPr>
      </p:pic>
      <p:sp>
        <p:nvSpPr>
          <p:cNvPr id="154" name="Google Shape;154;p22"/>
          <p:cNvSpPr txBox="1"/>
          <p:nvPr/>
        </p:nvSpPr>
        <p:spPr>
          <a:xfrm>
            <a:off x="507875" y="1759125"/>
            <a:ext cx="26595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Gradient wrt kernel weights</a:t>
            </a:r>
            <a:endParaRPr sz="1800">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Convolution layer: Gradient</a:t>
            </a:r>
            <a:endParaRPr/>
          </a:p>
        </p:txBody>
      </p:sp>
      <p:sp>
        <p:nvSpPr>
          <p:cNvPr id="160" name="Google Shape;160;p23"/>
          <p:cNvSpPr/>
          <p:nvPr/>
        </p:nvSpPr>
        <p:spPr>
          <a:xfrm>
            <a:off x="4144425" y="1717475"/>
            <a:ext cx="1148700" cy="452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Convolution</a:t>
            </a:r>
            <a:endParaRPr/>
          </a:p>
        </p:txBody>
      </p:sp>
      <p:pic>
        <p:nvPicPr>
          <p:cNvPr descr="{&quot;code&quot;:&quot;$$X$$&quot;,&quot;id&quot;:&quot;6&quot;,&quot;backgroundColorModified&quot;:false,&quot;font&quot;:{&quot;color&quot;:&quot;#000000&quot;,&quot;family&quot;:&quot;Arial&quot;,&quot;size&quot;:12},&quot;aid&quot;:null,&quot;type&quot;:&quot;$$&quot;,&quot;backgroundColor&quot;:&quot;#FFFFFF&quot;,&quot;ts&quot;:1769896027501,&quot;cs&quot;:&quot;biDEEX/g3ZL3ZrQTf6GF6g==&quot;,&quot;size&quot;:{&quot;width&quot;:15.5,&quot;height&quot;:12.833333333333334}}" id="161" name="Google Shape;161;p23"/>
          <p:cNvPicPr preferRelativeResize="0"/>
          <p:nvPr/>
        </p:nvPicPr>
        <p:blipFill>
          <a:blip r:embed="rId3">
            <a:alphaModFix/>
          </a:blip>
          <a:stretch>
            <a:fillRect/>
          </a:stretch>
        </p:blipFill>
        <p:spPr>
          <a:xfrm>
            <a:off x="3727850" y="1882400"/>
            <a:ext cx="147638" cy="122238"/>
          </a:xfrm>
          <a:prstGeom prst="rect">
            <a:avLst/>
          </a:prstGeom>
          <a:noFill/>
          <a:ln>
            <a:noFill/>
          </a:ln>
        </p:spPr>
      </p:pic>
      <p:pic>
        <p:nvPicPr>
          <p:cNvPr descr="{&quot;backgroundColor&quot;:&quot;#FFFFFF&quot;,&quot;code&quot;:&quot;$$Y$$&quot;,&quot;aid&quot;:null,&quot;font&quot;:{&quot;size&quot;:12,&quot;color&quot;:&quot;#000000&quot;,&quot;family&quot;:&quot;Arial&quot;},&quot;backgroundColorModified&quot;:false,&quot;id&quot;:&quot;7&quot;,&quot;type&quot;:&quot;$$&quot;,&quot;ts&quot;:1769896044475,&quot;cs&quot;:&quot;ygJSf5VWmapuzqP6IfMBnw==&quot;,&quot;size&quot;:{&quot;width&quot;:13.833333333333334,&quot;height&quot;:12.833333333333334}}" id="162" name="Google Shape;162;p23"/>
          <p:cNvPicPr preferRelativeResize="0"/>
          <p:nvPr/>
        </p:nvPicPr>
        <p:blipFill>
          <a:blip r:embed="rId4">
            <a:alphaModFix/>
          </a:blip>
          <a:stretch>
            <a:fillRect/>
          </a:stretch>
        </p:blipFill>
        <p:spPr>
          <a:xfrm>
            <a:off x="5536225" y="1850538"/>
            <a:ext cx="131763" cy="122238"/>
          </a:xfrm>
          <a:prstGeom prst="rect">
            <a:avLst/>
          </a:prstGeom>
          <a:noFill/>
          <a:ln>
            <a:noFill/>
          </a:ln>
        </p:spPr>
      </p:pic>
      <p:sp>
        <p:nvSpPr>
          <p:cNvPr id="163" name="Google Shape;163;p23"/>
          <p:cNvSpPr/>
          <p:nvPr/>
        </p:nvSpPr>
        <p:spPr>
          <a:xfrm>
            <a:off x="5911100" y="1613675"/>
            <a:ext cx="1148700" cy="659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Other layers + Loss function</a:t>
            </a:r>
            <a:endParaRPr sz="1200"/>
          </a:p>
        </p:txBody>
      </p:sp>
      <p:pic>
        <p:nvPicPr>
          <p:cNvPr descr="{&quot;font&quot;:{&quot;color&quot;:&quot;#000000&quot;,&quot;size&quot;:14,&quot;family&quot;:&quot;Arial&quot;},&quot;code&quot;:&quot;$$L$$&quot;,&quot;id&quot;:&quot;8&quot;,&quot;aid&quot;:null,&quot;type&quot;:&quot;$$&quot;,&quot;backgroundColor&quot;:&quot;#EEEEEE&quot;,&quot;backgroundColorModified&quot;:false,&quot;ts&quot;:1769896085514,&quot;cs&quot;:&quot;0mXFZlMFf/WEw91BwHe6fw==&quot;,&quot;size&quot;:{&quot;width&quot;:13.666666666666666,&quot;height&quot;:15}}" id="164" name="Google Shape;164;p23"/>
          <p:cNvPicPr preferRelativeResize="0"/>
          <p:nvPr/>
        </p:nvPicPr>
        <p:blipFill>
          <a:blip r:embed="rId5">
            <a:alphaModFix/>
          </a:blip>
          <a:stretch>
            <a:fillRect/>
          </a:stretch>
        </p:blipFill>
        <p:spPr>
          <a:xfrm>
            <a:off x="7302900" y="1872088"/>
            <a:ext cx="130175" cy="142875"/>
          </a:xfrm>
          <a:prstGeom prst="rect">
            <a:avLst/>
          </a:prstGeom>
          <a:noFill/>
          <a:ln>
            <a:noFill/>
          </a:ln>
        </p:spPr>
      </p:pic>
      <p:cxnSp>
        <p:nvCxnSpPr>
          <p:cNvPr id="165" name="Google Shape;165;p23"/>
          <p:cNvCxnSpPr>
            <a:endCxn id="160" idx="1"/>
          </p:cNvCxnSpPr>
          <p:nvPr/>
        </p:nvCxnSpPr>
        <p:spPr>
          <a:xfrm flipH="1" rot="10800000">
            <a:off x="3962925" y="1943525"/>
            <a:ext cx="181500" cy="3600"/>
          </a:xfrm>
          <a:prstGeom prst="straightConnector1">
            <a:avLst/>
          </a:prstGeom>
          <a:noFill/>
          <a:ln cap="flat" cmpd="sng" w="9525">
            <a:solidFill>
              <a:schemeClr val="dk2"/>
            </a:solidFill>
            <a:prstDash val="solid"/>
            <a:round/>
            <a:headEnd len="med" w="med" type="none"/>
            <a:tailEnd len="med" w="med" type="triangle"/>
          </a:ln>
        </p:spPr>
      </p:cxnSp>
      <p:cxnSp>
        <p:nvCxnSpPr>
          <p:cNvPr id="166" name="Google Shape;166;p23"/>
          <p:cNvCxnSpPr/>
          <p:nvPr/>
        </p:nvCxnSpPr>
        <p:spPr>
          <a:xfrm flipH="1" rot="10800000">
            <a:off x="5285950" y="1943525"/>
            <a:ext cx="181500" cy="3600"/>
          </a:xfrm>
          <a:prstGeom prst="straightConnector1">
            <a:avLst/>
          </a:prstGeom>
          <a:noFill/>
          <a:ln cap="flat" cmpd="sng" w="9525">
            <a:solidFill>
              <a:schemeClr val="dk2"/>
            </a:solidFill>
            <a:prstDash val="solid"/>
            <a:round/>
            <a:headEnd len="med" w="med" type="none"/>
            <a:tailEnd len="med" w="med" type="triangle"/>
          </a:ln>
        </p:spPr>
      </p:cxnSp>
      <p:cxnSp>
        <p:nvCxnSpPr>
          <p:cNvPr id="167" name="Google Shape;167;p23"/>
          <p:cNvCxnSpPr/>
          <p:nvPr/>
        </p:nvCxnSpPr>
        <p:spPr>
          <a:xfrm flipH="1" rot="10800000">
            <a:off x="5736775" y="1943525"/>
            <a:ext cx="181500" cy="3600"/>
          </a:xfrm>
          <a:prstGeom prst="straightConnector1">
            <a:avLst/>
          </a:prstGeom>
          <a:noFill/>
          <a:ln cap="flat" cmpd="sng" w="9525">
            <a:solidFill>
              <a:schemeClr val="dk2"/>
            </a:solidFill>
            <a:prstDash val="solid"/>
            <a:round/>
            <a:headEnd len="med" w="med" type="none"/>
            <a:tailEnd len="med" w="med" type="triangle"/>
          </a:ln>
        </p:spPr>
      </p:cxnSp>
      <p:cxnSp>
        <p:nvCxnSpPr>
          <p:cNvPr id="168" name="Google Shape;168;p23"/>
          <p:cNvCxnSpPr/>
          <p:nvPr/>
        </p:nvCxnSpPr>
        <p:spPr>
          <a:xfrm flipH="1" rot="10800000">
            <a:off x="7059800" y="1941725"/>
            <a:ext cx="181500" cy="3600"/>
          </a:xfrm>
          <a:prstGeom prst="straightConnector1">
            <a:avLst/>
          </a:prstGeom>
          <a:noFill/>
          <a:ln cap="flat" cmpd="sng" w="9525">
            <a:solidFill>
              <a:schemeClr val="dk2"/>
            </a:solidFill>
            <a:prstDash val="solid"/>
            <a:round/>
            <a:headEnd len="med" w="med" type="none"/>
            <a:tailEnd len="med" w="med" type="triangle"/>
          </a:ln>
        </p:spPr>
      </p:cxnSp>
      <p:sp>
        <p:nvSpPr>
          <p:cNvPr id="169" name="Google Shape;169;p23"/>
          <p:cNvSpPr txBox="1"/>
          <p:nvPr/>
        </p:nvSpPr>
        <p:spPr>
          <a:xfrm>
            <a:off x="4418700" y="1394375"/>
            <a:ext cx="7989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dk2"/>
                </a:solidFill>
              </a:rPr>
              <a:t>Layer </a:t>
            </a:r>
            <a:r>
              <a:rPr i="1" lang="en" sz="900">
                <a:solidFill>
                  <a:schemeClr val="dk2"/>
                </a:solidFill>
              </a:rPr>
              <a:t>l</a:t>
            </a:r>
            <a:endParaRPr i="1" sz="900">
              <a:solidFill>
                <a:schemeClr val="dk2"/>
              </a:solidFill>
            </a:endParaRPr>
          </a:p>
        </p:txBody>
      </p:sp>
      <p:pic>
        <p:nvPicPr>
          <p:cNvPr descr="{&quot;id&quot;:&quot;9&quot;,&quot;type&quot;:&quot;gather*&quot;,&quot;backgroundColorModified&quot;:false,&quot;code&quot;:&quot;\\begin{gather*}\n{L=f\\left(Y\\right)}\\\\\n{Y_{ij}=\\sum_{v=0}^{K_{W}}\\sum_{u=0}^{K_{H}}X_{i+u,j+v}K_{u,v}}\\\\\n{\\text{Now}\\;\\text{lets}\\;\\text{calculate}\\;\\pdf{L}{X_{ij}}}\t\n\\end{gather*}&quot;,&quot;font&quot;:{&quot;color&quot;:&quot;#000000&quot;,&quot;family&quot;:&quot;Arial&quot;,&quot;size&quot;:12},&quot;backgroundColor&quot;:&quot;#FFFFFF&quot;,&quot;aid&quot;:null,&quot;ts&quot;:1769959059781,&quot;cs&quot;:&quot;WwRf5Jud03SQ4dfYFzw2wg==&quot;,&quot;size&quot;:{&quot;width&quot;:207.16666666666666,&quot;height&quot;:131}}" id="170" name="Google Shape;170;p23"/>
          <p:cNvPicPr preferRelativeResize="0"/>
          <p:nvPr/>
        </p:nvPicPr>
        <p:blipFill>
          <a:blip r:embed="rId6">
            <a:alphaModFix/>
          </a:blip>
          <a:stretch>
            <a:fillRect/>
          </a:stretch>
        </p:blipFill>
        <p:spPr>
          <a:xfrm>
            <a:off x="4558378" y="2563200"/>
            <a:ext cx="1973263" cy="1247775"/>
          </a:xfrm>
          <a:prstGeom prst="rect">
            <a:avLst/>
          </a:prstGeom>
          <a:noFill/>
          <a:ln>
            <a:noFill/>
          </a:ln>
        </p:spPr>
      </p:pic>
      <p:sp>
        <p:nvSpPr>
          <p:cNvPr id="171" name="Google Shape;171;p23"/>
          <p:cNvSpPr txBox="1"/>
          <p:nvPr/>
        </p:nvSpPr>
        <p:spPr>
          <a:xfrm>
            <a:off x="388875" y="1283188"/>
            <a:ext cx="26595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Now for g</a:t>
            </a:r>
            <a:r>
              <a:rPr lang="en" sz="1800">
                <a:solidFill>
                  <a:schemeClr val="dk2"/>
                </a:solidFill>
              </a:rPr>
              <a:t>radient wrt the input</a:t>
            </a:r>
            <a:endParaRPr sz="1800">
              <a:solidFill>
                <a:schemeClr val="dk2"/>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graphicFrame>
        <p:nvGraphicFramePr>
          <p:cNvPr id="176" name="Google Shape;176;p24"/>
          <p:cNvGraphicFramePr/>
          <p:nvPr/>
        </p:nvGraphicFramePr>
        <p:xfrm>
          <a:off x="5662040" y="1066054"/>
          <a:ext cx="3000000" cy="3000000"/>
        </p:xfrm>
        <a:graphic>
          <a:graphicData uri="http://schemas.openxmlformats.org/drawingml/2006/table">
            <a:tbl>
              <a:tblPr>
                <a:noFill/>
                <a:tableStyleId>{A22A7B2D-7E37-4577-AFCF-14A211495966}</a:tableStyleId>
              </a:tblPr>
              <a:tblGrid>
                <a:gridCol w="382850"/>
                <a:gridCol w="382850"/>
                <a:gridCol w="382850"/>
                <a:gridCol w="382850"/>
              </a:tblGrid>
              <a:tr h="273350">
                <a:tc>
                  <a:txBody>
                    <a:bodyPr/>
                    <a:lstStyle/>
                    <a:p>
                      <a:pPr indent="0" lvl="0" marL="0" rtl="0" algn="l">
                        <a:spcBef>
                          <a:spcPts val="0"/>
                        </a:spcBef>
                        <a:spcAft>
                          <a:spcPts val="0"/>
                        </a:spcAft>
                        <a:buNone/>
                      </a:pPr>
                      <a:r>
                        <a:rPr lang="en" sz="800"/>
                        <a:t>X00</a:t>
                      </a:r>
                      <a:endParaRPr sz="800"/>
                    </a:p>
                  </a:txBody>
                  <a:tcPr marT="91425" marB="91425" marR="91425" marL="91425"/>
                </a:tc>
                <a:tc>
                  <a:txBody>
                    <a:bodyPr/>
                    <a:lstStyle/>
                    <a:p>
                      <a:pPr indent="0" lvl="0" marL="0" rtl="0" algn="l">
                        <a:spcBef>
                          <a:spcPts val="0"/>
                        </a:spcBef>
                        <a:spcAft>
                          <a:spcPts val="0"/>
                        </a:spcAft>
                        <a:buNone/>
                      </a:pPr>
                      <a:r>
                        <a:rPr lang="en" sz="800">
                          <a:solidFill>
                            <a:schemeClr val="dk1"/>
                          </a:solidFill>
                        </a:rPr>
                        <a:t>X01</a:t>
                      </a:r>
                      <a:endParaRPr/>
                    </a:p>
                  </a:txBody>
                  <a:tcPr marT="91425" marB="91425" marR="91425" marL="91425"/>
                </a:tc>
                <a:tc>
                  <a:txBody>
                    <a:bodyPr/>
                    <a:lstStyle/>
                    <a:p>
                      <a:pPr indent="0" lvl="0" marL="0" rtl="0" algn="l">
                        <a:spcBef>
                          <a:spcPts val="0"/>
                        </a:spcBef>
                        <a:spcAft>
                          <a:spcPts val="0"/>
                        </a:spcAft>
                        <a:buNone/>
                      </a:pPr>
                      <a:r>
                        <a:rPr lang="en" sz="800">
                          <a:solidFill>
                            <a:schemeClr val="dk1"/>
                          </a:solidFill>
                        </a:rPr>
                        <a:t>X02</a:t>
                      </a:r>
                      <a:endParaRPr/>
                    </a:p>
                  </a:txBody>
                  <a:tcPr marT="91425" marB="91425" marR="91425" marL="91425"/>
                </a:tc>
                <a:tc>
                  <a:txBody>
                    <a:bodyPr/>
                    <a:lstStyle/>
                    <a:p>
                      <a:pPr indent="0" lvl="0" marL="0" rtl="0" algn="l">
                        <a:spcBef>
                          <a:spcPts val="0"/>
                        </a:spcBef>
                        <a:spcAft>
                          <a:spcPts val="0"/>
                        </a:spcAft>
                        <a:buNone/>
                      </a:pPr>
                      <a:r>
                        <a:rPr lang="en" sz="800">
                          <a:solidFill>
                            <a:schemeClr val="dk1"/>
                          </a:solidFill>
                        </a:rPr>
                        <a:t>X03</a:t>
                      </a:r>
                      <a:endParaRPr/>
                    </a:p>
                  </a:txBody>
                  <a:tcPr marT="91425" marB="91425" marR="91425" marL="91425"/>
                </a:tc>
              </a:tr>
              <a:tr h="273900">
                <a:tc>
                  <a:txBody>
                    <a:bodyPr/>
                    <a:lstStyle/>
                    <a:p>
                      <a:pPr indent="0" lvl="0" marL="0" rtl="0" algn="l">
                        <a:spcBef>
                          <a:spcPts val="0"/>
                        </a:spcBef>
                        <a:spcAft>
                          <a:spcPts val="0"/>
                        </a:spcAft>
                        <a:buNone/>
                      </a:pPr>
                      <a:r>
                        <a:rPr lang="en" sz="800">
                          <a:solidFill>
                            <a:schemeClr val="dk1"/>
                          </a:solidFill>
                        </a:rPr>
                        <a:t>X10</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X11</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X12</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X13</a:t>
                      </a:r>
                      <a:endParaRPr/>
                    </a:p>
                  </a:txBody>
                  <a:tcPr marT="91425" marB="91425" marR="91425" marL="91425"/>
                </a:tc>
              </a:tr>
              <a:tr h="323250">
                <a:tc>
                  <a:txBody>
                    <a:bodyPr/>
                    <a:lstStyle/>
                    <a:p>
                      <a:pPr indent="0" lvl="0" marL="0" rtl="0" algn="l">
                        <a:spcBef>
                          <a:spcPts val="0"/>
                        </a:spcBef>
                        <a:spcAft>
                          <a:spcPts val="0"/>
                        </a:spcAft>
                        <a:buNone/>
                      </a:pPr>
                      <a:r>
                        <a:rPr lang="en" sz="800">
                          <a:solidFill>
                            <a:schemeClr val="dk1"/>
                          </a:solidFill>
                        </a:rPr>
                        <a:t>X20</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X21</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rPr lang="en" sz="800">
                          <a:solidFill>
                            <a:schemeClr val="dk1"/>
                          </a:solidFill>
                        </a:rPr>
                        <a:t>X22</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X23</a:t>
                      </a:r>
                      <a:endParaRPr/>
                    </a:p>
                  </a:txBody>
                  <a:tcPr marT="91425" marB="91425" marR="91425" marL="91425">
                    <a:lnL cap="flat" cmpd="sng" w="9525">
                      <a:solidFill>
                        <a:srgbClr val="9E9E9E"/>
                      </a:solidFill>
                      <a:prstDash val="solid"/>
                      <a:round/>
                      <a:headEnd len="sm" w="sm" type="none"/>
                      <a:tailEnd len="sm" w="sm" type="none"/>
                    </a:lnL>
                  </a:tcPr>
                </a:tc>
              </a:tr>
              <a:tr h="355100">
                <a:tc>
                  <a:txBody>
                    <a:bodyPr/>
                    <a:lstStyle/>
                    <a:p>
                      <a:pPr indent="0" lvl="0" marL="0" rtl="0" algn="l">
                        <a:spcBef>
                          <a:spcPts val="0"/>
                        </a:spcBef>
                        <a:spcAft>
                          <a:spcPts val="0"/>
                        </a:spcAft>
                        <a:buNone/>
                      </a:pPr>
                      <a:r>
                        <a:rPr lang="en" sz="800">
                          <a:solidFill>
                            <a:schemeClr val="dk1"/>
                          </a:solidFill>
                        </a:rPr>
                        <a:t>X30</a:t>
                      </a:r>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X31</a:t>
                      </a:r>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X32</a:t>
                      </a:r>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X33</a:t>
                      </a:r>
                      <a:endParaRPr/>
                    </a:p>
                  </a:txBody>
                  <a:tcPr marT="91425" marB="91425" marR="91425" marL="91425">
                    <a:lnB cap="flat" cmpd="sng" w="9525">
                      <a:solidFill>
                        <a:srgbClr val="9E9E9E"/>
                      </a:solidFill>
                      <a:prstDash val="solid"/>
                      <a:round/>
                      <a:headEnd len="sm" w="sm" type="none"/>
                      <a:tailEnd len="sm" w="sm" type="none"/>
                    </a:lnB>
                  </a:tcPr>
                </a:tc>
              </a:tr>
              <a:tr h="355100">
                <a:tc>
                  <a:txBody>
                    <a:bodyPr/>
                    <a:lstStyle/>
                    <a:p>
                      <a:pPr indent="0" lvl="0" marL="0" rtl="0" algn="l">
                        <a:spcBef>
                          <a:spcPts val="0"/>
                        </a:spcBef>
                        <a:spcAft>
                          <a:spcPts val="0"/>
                        </a:spcAft>
                        <a:buNone/>
                      </a:pPr>
                      <a:r>
                        <a:rPr lang="en" sz="800">
                          <a:solidFill>
                            <a:schemeClr val="dk1"/>
                          </a:solidFill>
                        </a:rPr>
                        <a:t>X40</a:t>
                      </a:r>
                      <a:endParaRPr sz="800">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X41</a:t>
                      </a:r>
                      <a:endParaRPr sz="800">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X42</a:t>
                      </a:r>
                      <a:endParaRPr sz="800">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X43</a:t>
                      </a:r>
                      <a:endParaRPr sz="800">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177" name="Google Shape;177;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Convolution layer: Gradient</a:t>
            </a:r>
            <a:endParaRPr/>
          </a:p>
        </p:txBody>
      </p:sp>
      <p:graphicFrame>
        <p:nvGraphicFramePr>
          <p:cNvPr id="178" name="Google Shape;178;p24"/>
          <p:cNvGraphicFramePr/>
          <p:nvPr/>
        </p:nvGraphicFramePr>
        <p:xfrm>
          <a:off x="499522" y="1151046"/>
          <a:ext cx="3000000" cy="3000000"/>
        </p:xfrm>
        <a:graphic>
          <a:graphicData uri="http://schemas.openxmlformats.org/drawingml/2006/table">
            <a:tbl>
              <a:tblPr>
                <a:noFill/>
                <a:tableStyleId>{A22A7B2D-7E37-4577-AFCF-14A211495966}</a:tableStyleId>
              </a:tblPr>
              <a:tblGrid>
                <a:gridCol w="382850"/>
                <a:gridCol w="382850"/>
                <a:gridCol w="382850"/>
                <a:gridCol w="382850"/>
              </a:tblGrid>
              <a:tr h="273350">
                <a:tc>
                  <a:txBody>
                    <a:bodyPr/>
                    <a:lstStyle/>
                    <a:p>
                      <a:pPr indent="0" lvl="0" marL="0" rtl="0" algn="l">
                        <a:spcBef>
                          <a:spcPts val="0"/>
                        </a:spcBef>
                        <a:spcAft>
                          <a:spcPts val="0"/>
                        </a:spcAft>
                        <a:buNone/>
                      </a:pPr>
                      <a:r>
                        <a:rPr lang="en" sz="800"/>
                        <a:t>X00</a:t>
                      </a:r>
                      <a:endParaRPr sz="800"/>
                    </a:p>
                  </a:txBody>
                  <a:tcPr marT="91425" marB="91425" marR="91425" marL="91425"/>
                </a:tc>
                <a:tc>
                  <a:txBody>
                    <a:bodyPr/>
                    <a:lstStyle/>
                    <a:p>
                      <a:pPr indent="0" lvl="0" marL="0" rtl="0" algn="l">
                        <a:spcBef>
                          <a:spcPts val="0"/>
                        </a:spcBef>
                        <a:spcAft>
                          <a:spcPts val="0"/>
                        </a:spcAft>
                        <a:buNone/>
                      </a:pPr>
                      <a:r>
                        <a:rPr lang="en" sz="800">
                          <a:solidFill>
                            <a:schemeClr val="dk1"/>
                          </a:solidFill>
                        </a:rPr>
                        <a:t>X01</a:t>
                      </a:r>
                      <a:endParaRPr/>
                    </a:p>
                  </a:txBody>
                  <a:tcPr marT="91425" marB="91425" marR="91425" marL="91425"/>
                </a:tc>
                <a:tc>
                  <a:txBody>
                    <a:bodyPr/>
                    <a:lstStyle/>
                    <a:p>
                      <a:pPr indent="0" lvl="0" marL="0" rtl="0" algn="l">
                        <a:spcBef>
                          <a:spcPts val="0"/>
                        </a:spcBef>
                        <a:spcAft>
                          <a:spcPts val="0"/>
                        </a:spcAft>
                        <a:buNone/>
                      </a:pPr>
                      <a:r>
                        <a:rPr lang="en" sz="800">
                          <a:solidFill>
                            <a:schemeClr val="dk1"/>
                          </a:solidFill>
                        </a:rPr>
                        <a:t>X02</a:t>
                      </a:r>
                      <a:endParaRPr/>
                    </a:p>
                  </a:txBody>
                  <a:tcPr marT="91425" marB="91425" marR="91425" marL="91425"/>
                </a:tc>
                <a:tc>
                  <a:txBody>
                    <a:bodyPr/>
                    <a:lstStyle/>
                    <a:p>
                      <a:pPr indent="0" lvl="0" marL="0" rtl="0" algn="l">
                        <a:spcBef>
                          <a:spcPts val="0"/>
                        </a:spcBef>
                        <a:spcAft>
                          <a:spcPts val="0"/>
                        </a:spcAft>
                        <a:buNone/>
                      </a:pPr>
                      <a:r>
                        <a:rPr lang="en" sz="800">
                          <a:solidFill>
                            <a:schemeClr val="dk1"/>
                          </a:solidFill>
                        </a:rPr>
                        <a:t>X03</a:t>
                      </a:r>
                      <a:endParaRPr/>
                    </a:p>
                  </a:txBody>
                  <a:tcPr marT="91425" marB="91425" marR="91425" marL="91425"/>
                </a:tc>
              </a:tr>
              <a:tr h="273900">
                <a:tc>
                  <a:txBody>
                    <a:bodyPr/>
                    <a:lstStyle/>
                    <a:p>
                      <a:pPr indent="0" lvl="0" marL="0" rtl="0" algn="l">
                        <a:spcBef>
                          <a:spcPts val="0"/>
                        </a:spcBef>
                        <a:spcAft>
                          <a:spcPts val="0"/>
                        </a:spcAft>
                        <a:buNone/>
                      </a:pPr>
                      <a:r>
                        <a:rPr lang="en" sz="800">
                          <a:solidFill>
                            <a:schemeClr val="dk1"/>
                          </a:solidFill>
                        </a:rPr>
                        <a:t>X10</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X11</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X12</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X13</a:t>
                      </a:r>
                      <a:endParaRPr/>
                    </a:p>
                  </a:txBody>
                  <a:tcPr marT="91425" marB="91425" marR="91425" marL="91425"/>
                </a:tc>
              </a:tr>
              <a:tr h="323250">
                <a:tc>
                  <a:txBody>
                    <a:bodyPr/>
                    <a:lstStyle/>
                    <a:p>
                      <a:pPr indent="0" lvl="0" marL="0" rtl="0" algn="l">
                        <a:spcBef>
                          <a:spcPts val="0"/>
                        </a:spcBef>
                        <a:spcAft>
                          <a:spcPts val="0"/>
                        </a:spcAft>
                        <a:buNone/>
                      </a:pPr>
                      <a:r>
                        <a:rPr lang="en" sz="800">
                          <a:solidFill>
                            <a:schemeClr val="dk1"/>
                          </a:solidFill>
                        </a:rPr>
                        <a:t>X20</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X21</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rPr lang="en" sz="800">
                          <a:solidFill>
                            <a:schemeClr val="dk1"/>
                          </a:solidFill>
                        </a:rPr>
                        <a:t>X22</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X23</a:t>
                      </a:r>
                      <a:endParaRPr/>
                    </a:p>
                  </a:txBody>
                  <a:tcPr marT="91425" marB="91425" marR="91425" marL="91425">
                    <a:lnL cap="flat" cmpd="sng" w="9525">
                      <a:solidFill>
                        <a:srgbClr val="9E9E9E"/>
                      </a:solidFill>
                      <a:prstDash val="solid"/>
                      <a:round/>
                      <a:headEnd len="sm" w="sm" type="none"/>
                      <a:tailEnd len="sm" w="sm" type="none"/>
                    </a:lnL>
                  </a:tcPr>
                </a:tc>
              </a:tr>
              <a:tr h="355100">
                <a:tc>
                  <a:txBody>
                    <a:bodyPr/>
                    <a:lstStyle/>
                    <a:p>
                      <a:pPr indent="0" lvl="0" marL="0" rtl="0" algn="l">
                        <a:spcBef>
                          <a:spcPts val="0"/>
                        </a:spcBef>
                        <a:spcAft>
                          <a:spcPts val="0"/>
                        </a:spcAft>
                        <a:buClr>
                          <a:schemeClr val="dk1"/>
                        </a:buClr>
                        <a:buSzPts val="1100"/>
                        <a:buFont typeface="Arial"/>
                        <a:buNone/>
                      </a:pPr>
                      <a:r>
                        <a:rPr lang="en" sz="800">
                          <a:solidFill>
                            <a:schemeClr val="dk1"/>
                          </a:solidFill>
                        </a:rPr>
                        <a:t>X30</a:t>
                      </a:r>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800">
                          <a:solidFill>
                            <a:schemeClr val="dk1"/>
                          </a:solidFill>
                        </a:rPr>
                        <a:t>X31</a:t>
                      </a:r>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800">
                          <a:solidFill>
                            <a:schemeClr val="dk1"/>
                          </a:solidFill>
                        </a:rPr>
                        <a:t>X32</a:t>
                      </a:r>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800">
                          <a:solidFill>
                            <a:schemeClr val="dk1"/>
                          </a:solidFill>
                        </a:rPr>
                        <a:t>X33</a:t>
                      </a:r>
                      <a:endParaRPr/>
                    </a:p>
                  </a:txBody>
                  <a:tcPr marT="91425" marB="91425" marR="91425" marL="91425">
                    <a:lnB cap="flat" cmpd="sng" w="9525">
                      <a:solidFill>
                        <a:srgbClr val="9E9E9E"/>
                      </a:solidFill>
                      <a:prstDash val="solid"/>
                      <a:round/>
                      <a:headEnd len="sm" w="sm" type="none"/>
                      <a:tailEnd len="sm" w="sm" type="none"/>
                    </a:lnB>
                  </a:tcPr>
                </a:tc>
              </a:tr>
              <a:tr h="355100">
                <a:tc>
                  <a:txBody>
                    <a:bodyPr/>
                    <a:lstStyle/>
                    <a:p>
                      <a:pPr indent="0" lvl="0" marL="0" rtl="0" algn="l">
                        <a:spcBef>
                          <a:spcPts val="0"/>
                        </a:spcBef>
                        <a:spcAft>
                          <a:spcPts val="0"/>
                        </a:spcAft>
                        <a:buNone/>
                      </a:pPr>
                      <a:r>
                        <a:rPr lang="en" sz="800">
                          <a:solidFill>
                            <a:schemeClr val="dk1"/>
                          </a:solidFill>
                        </a:rPr>
                        <a:t>X40</a:t>
                      </a:r>
                      <a:endParaRPr sz="800">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X41</a:t>
                      </a:r>
                      <a:endParaRPr sz="800">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X42</a:t>
                      </a:r>
                      <a:endParaRPr sz="800">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X43</a:t>
                      </a:r>
                      <a:endParaRPr sz="800">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pic>
        <p:nvPicPr>
          <p:cNvPr descr="{&quot;backgroundColorModified&quot;:false,&quot;backgroundColor&quot;:&quot;#FFFFFF&quot;,&quot;id&quot;:&quot;10&quot;,&quot;aid&quot;:null,&quot;code&quot;:&quot;$$Y_{21}=X_{21}K_{00}+X_{22}K_{01}+X_{23}K_{02}+X_{31}K_{10}+\\text{other}\\;\\text{terms}$$&quot;,&quot;type&quot;:&quot;$$&quot;,&quot;font&quot;:{&quot;color&quot;:&quot;#000000&quot;,&quot;family&quot;:&quot;Arial&quot;,&quot;size&quot;:10},&quot;ts&quot;:1769962181317,&quot;cs&quot;:&quot;6vP51qUGHFnt7oPq6DW/qw==&quot;,&quot;size&quot;:{&quot;width&quot;:400,&quot;height&quot;:13.666666666666666}}" id="179" name="Google Shape;179;p24"/>
          <p:cNvPicPr preferRelativeResize="0"/>
          <p:nvPr/>
        </p:nvPicPr>
        <p:blipFill>
          <a:blip r:embed="rId3">
            <a:alphaModFix/>
          </a:blip>
          <a:stretch>
            <a:fillRect/>
          </a:stretch>
        </p:blipFill>
        <p:spPr>
          <a:xfrm>
            <a:off x="92880" y="2926525"/>
            <a:ext cx="3810000" cy="130175"/>
          </a:xfrm>
          <a:prstGeom prst="rect">
            <a:avLst/>
          </a:prstGeom>
          <a:noFill/>
          <a:ln>
            <a:noFill/>
          </a:ln>
        </p:spPr>
      </p:pic>
      <p:pic>
        <p:nvPicPr>
          <p:cNvPr descr="{&quot;font&quot;:{&quot;size&quot;:10,&quot;color&quot;:&quot;#000000&quot;,&quot;family&quot;:&quot;Arial&quot;},&quot;backgroundColorModified&quot;:false,&quot;id&quot;:&quot;10&quot;,&quot;code&quot;:&quot;\\begin{gather*}\n{Y_{00}=X_{00}K_{00}+X_{01}K_{01}+X_{10}K_{10}+X_{11}K_{11}+}\\\\\n{X_{20}K_{20}\\,+X_{21}K_{21}\\,+\\text{other}\\;\\text{terms}}\t\n\\end{gather*}&quot;,&quot;aid&quot;:null,&quot;backgroundColor&quot;:&quot;#FFFFFF&quot;,&quot;type&quot;:&quot;gather*&quot;,&quot;ts&quot;:1769962312658,&quot;cs&quot;:&quot;WHnaiFulMacVImiyFc2n3g==&quot;,&quot;size&quot;:{&quot;width&quot;:314.5,&quot;height&quot;:33.75}}" id="180" name="Google Shape;180;p24"/>
          <p:cNvPicPr preferRelativeResize="0"/>
          <p:nvPr/>
        </p:nvPicPr>
        <p:blipFill>
          <a:blip r:embed="rId4">
            <a:alphaModFix/>
          </a:blip>
          <a:stretch>
            <a:fillRect/>
          </a:stretch>
        </p:blipFill>
        <p:spPr>
          <a:xfrm>
            <a:off x="5001497" y="2759888"/>
            <a:ext cx="2995613" cy="321469"/>
          </a:xfrm>
          <a:prstGeom prst="rect">
            <a:avLst/>
          </a:prstGeom>
          <a:noFill/>
          <a:ln>
            <a:noFill/>
          </a:ln>
        </p:spPr>
      </p:pic>
      <p:pic>
        <p:nvPicPr>
          <p:cNvPr descr="{&quot;aid&quot;:null,&quot;type&quot;:&quot;$$&quot;,&quot;backgroundColorModified&quot;:false,&quot;font&quot;:{&quot;family&quot;:&quot;Arial&quot;,&quot;size&quot;:10,&quot;color&quot;:&quot;#000000&quot;},&quot;backgroundColor&quot;:&quot;#FFFFFF&quot;,&quot;id&quot;:&quot;10&quot;,&quot;code&quot;:&quot;$$Y_{01}=X_{01}K_{00}+X_{11}K_{10}+X_{21}K_{20}+X_{22}K_{21}+\\text{other}\\;\\text{terms}$$&quot;,&quot;ts&quot;:1769962460715,&quot;cs&quot;:&quot;MTnbyY0n+/auDuIMAcB1Lw==&quot;,&quot;size&quot;:{&quot;width&quot;:400,&quot;height&quot;:13.666666666666666}}" id="181" name="Google Shape;181;p24"/>
          <p:cNvPicPr preferRelativeResize="0"/>
          <p:nvPr/>
        </p:nvPicPr>
        <p:blipFill>
          <a:blip r:embed="rId5">
            <a:alphaModFix/>
          </a:blip>
          <a:stretch>
            <a:fillRect/>
          </a:stretch>
        </p:blipFill>
        <p:spPr>
          <a:xfrm>
            <a:off x="64550" y="4866596"/>
            <a:ext cx="3810000" cy="130175"/>
          </a:xfrm>
          <a:prstGeom prst="rect">
            <a:avLst/>
          </a:prstGeom>
          <a:noFill/>
          <a:ln>
            <a:noFill/>
          </a:ln>
        </p:spPr>
      </p:pic>
      <p:pic>
        <p:nvPicPr>
          <p:cNvPr descr="{&quot;aid&quot;:null,&quot;code&quot;:&quot;$$Y_{10}=X_{10}K_{00}+X_{11}K_{10}+X_{20}K_{01}+X_{21}K_{11}+\\text{other}\\;\\text{terms}$$&quot;,&quot;backgroundColorModified&quot;:false,&quot;id&quot;:&quot;10&quot;,&quot;font&quot;:{&quot;family&quot;:&quot;Arial&quot;,&quot;color&quot;:&quot;#000000&quot;,&quot;size&quot;:10},&quot;backgroundColor&quot;:&quot;#FFFFFF&quot;,&quot;type&quot;:&quot;$$&quot;,&quot;ts&quot;:1769962525634,&quot;cs&quot;:&quot;cQ2LLoZxn3GELVPZPtmgqg==&quot;,&quot;size&quot;:{&quot;width&quot;:400,&quot;height&quot;:13.666666666666666}}" id="182" name="Google Shape;182;p24"/>
          <p:cNvPicPr preferRelativeResize="0"/>
          <p:nvPr/>
        </p:nvPicPr>
        <p:blipFill>
          <a:blip r:embed="rId6">
            <a:alphaModFix/>
          </a:blip>
          <a:stretch>
            <a:fillRect/>
          </a:stretch>
        </p:blipFill>
        <p:spPr>
          <a:xfrm>
            <a:off x="4713010" y="4843635"/>
            <a:ext cx="3810000" cy="130175"/>
          </a:xfrm>
          <a:prstGeom prst="rect">
            <a:avLst/>
          </a:prstGeom>
          <a:noFill/>
          <a:ln>
            <a:noFill/>
          </a:ln>
        </p:spPr>
      </p:pic>
      <p:sp>
        <p:nvSpPr>
          <p:cNvPr id="183" name="Google Shape;183;p24"/>
          <p:cNvSpPr txBox="1"/>
          <p:nvPr/>
        </p:nvSpPr>
        <p:spPr>
          <a:xfrm>
            <a:off x="3449843" y="1437325"/>
            <a:ext cx="2471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pic>
        <p:nvPicPr>
          <p:cNvPr descr="{&quot;type&quot;:&quot;gather*&quot;,&quot;aid&quot;:null,&quot;id&quot;:&quot;11&quot;,&quot;font&quot;:{&quot;family&quot;:&quot;Arial&quot;,&quot;color&quot;:&quot;#000000&quot;,&quot;size&quot;:9},&quot;backgroundColorModified&quot;:false,&quot;backgroundColor&quot;:&quot;#FFFFFF&quot;,&quot;code&quot;:&quot;\\begin{gather*}\n{\\text{Let's}\\;\\text{consider}\\;\\pdf{L}{X_{21}}}\\\\\n{\\text{Because}\\;X_{21}\\text{affects}\\;L\\,\\text{through}\\;Y_{ij},\\,\\text{we}\\;\\text{need}\\;\\text{to}\\;}\\\\\n{\\text{figure}\\;\\text{out}\\;\\text{w}\\text{hich}\\;Y_{ij}\\,\\text{does}\\;X_{21}\\,\\text{affect?}}\\\\\n{\\text{Answer:}\\;\\text{All}\\;\\text{the}\\;Y_{ij},\\,\\text{in}\\;\\text{a}\\;K_{H},\\,K_{W}\\,\\text{window}\\;}\\\\\n{\\text{behind}\\;Y_{ij},\\,\\text{subject}\\,\\text{to}\\;\\text{boundaries}}\\\\\n{Y_{00},\\,Y_{10},\\,Y_{01},\\,Y_{11},\\,Y_{20},\\,Y_{21}}\\\\\n{}\t\n\\end{gather*}&quot;,&quot;ts&quot;:1769961972838,&quot;cs&quot;:&quot;w4S1owcwcvn/nNcwJtCNaA==&quot;,&quot;size&quot;:{&quot;width&quot;:273.00000000000006,&quot;height&quot;:124.75}}" id="184" name="Google Shape;184;p24"/>
          <p:cNvPicPr preferRelativeResize="0"/>
          <p:nvPr/>
        </p:nvPicPr>
        <p:blipFill>
          <a:blip r:embed="rId7">
            <a:alphaModFix/>
          </a:blip>
          <a:stretch>
            <a:fillRect/>
          </a:stretch>
        </p:blipFill>
        <p:spPr>
          <a:xfrm>
            <a:off x="2546336" y="1383508"/>
            <a:ext cx="2600325" cy="1188244"/>
          </a:xfrm>
          <a:prstGeom prst="rect">
            <a:avLst/>
          </a:prstGeom>
          <a:noFill/>
          <a:ln>
            <a:noFill/>
          </a:ln>
        </p:spPr>
      </p:pic>
      <p:graphicFrame>
        <p:nvGraphicFramePr>
          <p:cNvPr id="185" name="Google Shape;185;p24"/>
          <p:cNvGraphicFramePr/>
          <p:nvPr/>
        </p:nvGraphicFramePr>
        <p:xfrm>
          <a:off x="882367" y="1769946"/>
          <a:ext cx="3000000" cy="3000000"/>
        </p:xfrm>
        <a:graphic>
          <a:graphicData uri="http://schemas.openxmlformats.org/drawingml/2006/table">
            <a:tbl>
              <a:tblPr>
                <a:noFill/>
                <a:tableStyleId>{A22A7B2D-7E37-4577-AFCF-14A211495966}</a:tableStyleId>
              </a:tblPr>
              <a:tblGrid>
                <a:gridCol w="382850"/>
                <a:gridCol w="382850"/>
                <a:gridCol w="382850"/>
              </a:tblGrid>
              <a:tr h="285800">
                <a:tc>
                  <a:txBody>
                    <a:bodyPr/>
                    <a:lstStyle/>
                    <a:p>
                      <a:pPr indent="0" lvl="0" marL="0" rtl="0" algn="l">
                        <a:spcBef>
                          <a:spcPts val="0"/>
                        </a:spcBef>
                        <a:spcAft>
                          <a:spcPts val="0"/>
                        </a:spcAft>
                        <a:buNone/>
                      </a:pPr>
                      <a:r>
                        <a:t/>
                      </a:r>
                      <a:endParaRPr sz="800"/>
                    </a:p>
                  </a:txBody>
                  <a:tcPr marT="91425" marB="91425" marR="91425" marL="91425">
                    <a:lnL cap="flat" cmpd="sng" w="28575">
                      <a:solidFill>
                        <a:srgbClr val="FF0000"/>
                      </a:solidFill>
                      <a:prstDash val="solid"/>
                      <a:round/>
                      <a:headEnd len="sm" w="sm" type="none"/>
                      <a:tailEnd len="sm" w="sm" type="none"/>
                    </a:lnL>
                    <a:lnR cap="flat" cmpd="sng" w="2857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28575">
                      <a:solidFill>
                        <a:srgbClr val="FF0000"/>
                      </a:solidFill>
                      <a:prstDash val="solid"/>
                      <a:round/>
                      <a:headEnd len="sm" w="sm" type="none"/>
                      <a:tailEnd len="sm" w="sm" type="none"/>
                    </a:lnB>
                  </a:tcPr>
                </a:tc>
                <a:tc>
                  <a:txBody>
                    <a:bodyPr/>
                    <a:lstStyle/>
                    <a:p>
                      <a:pPr indent="0" lvl="0" marL="0" rtl="0" algn="l">
                        <a:spcBef>
                          <a:spcPts val="0"/>
                        </a:spcBef>
                        <a:spcAft>
                          <a:spcPts val="0"/>
                        </a:spcAft>
                        <a:buNone/>
                      </a:pPr>
                      <a:r>
                        <a:t/>
                      </a:r>
                      <a:endParaRPr sz="800"/>
                    </a:p>
                  </a:txBody>
                  <a:tcPr marT="91425" marB="91425" marR="91425" marL="91425">
                    <a:lnL cap="flat" cmpd="sng" w="28575">
                      <a:solidFill>
                        <a:srgbClr val="FF0000"/>
                      </a:solidFill>
                      <a:prstDash val="solid"/>
                      <a:round/>
                      <a:headEnd len="sm" w="sm" type="none"/>
                      <a:tailEnd len="sm" w="sm" type="none"/>
                    </a:lnL>
                    <a:lnR cap="flat" cmpd="sng" w="2857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28575">
                      <a:solidFill>
                        <a:srgbClr val="FF0000"/>
                      </a:solidFill>
                      <a:prstDash val="solid"/>
                      <a:round/>
                      <a:headEnd len="sm" w="sm" type="none"/>
                      <a:tailEnd len="sm" w="sm" type="none"/>
                    </a:lnB>
                  </a:tcPr>
                </a:tc>
                <a:tc>
                  <a:txBody>
                    <a:bodyPr/>
                    <a:lstStyle/>
                    <a:p>
                      <a:pPr indent="0" lvl="0" marL="0" rtl="0" algn="l">
                        <a:spcBef>
                          <a:spcPts val="0"/>
                        </a:spcBef>
                        <a:spcAft>
                          <a:spcPts val="0"/>
                        </a:spcAft>
                        <a:buNone/>
                      </a:pPr>
                      <a:r>
                        <a:t/>
                      </a:r>
                      <a:endParaRPr sz="800"/>
                    </a:p>
                  </a:txBody>
                  <a:tcPr marT="91425" marB="91425" marR="91425" marL="91425">
                    <a:lnL cap="flat" cmpd="sng" w="28575">
                      <a:solidFill>
                        <a:srgbClr val="FF0000"/>
                      </a:solidFill>
                      <a:prstDash val="solid"/>
                      <a:round/>
                      <a:headEnd len="sm" w="sm" type="none"/>
                      <a:tailEnd len="sm" w="sm" type="none"/>
                    </a:lnL>
                    <a:lnR cap="flat" cmpd="sng" w="2857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28575">
                      <a:solidFill>
                        <a:srgbClr val="FF0000"/>
                      </a:solidFill>
                      <a:prstDash val="solid"/>
                      <a:round/>
                      <a:headEnd len="sm" w="sm" type="none"/>
                      <a:tailEnd len="sm" w="sm" type="none"/>
                    </a:lnB>
                  </a:tcPr>
                </a:tc>
              </a:tr>
              <a:tr h="329400">
                <a:tc>
                  <a:txBody>
                    <a:bodyPr/>
                    <a:lstStyle/>
                    <a:p>
                      <a:pPr indent="0" lvl="0" marL="0" rtl="0" algn="l">
                        <a:spcBef>
                          <a:spcPts val="0"/>
                        </a:spcBef>
                        <a:spcAft>
                          <a:spcPts val="0"/>
                        </a:spcAft>
                        <a:buNone/>
                      </a:pPr>
                      <a:r>
                        <a:t/>
                      </a:r>
                      <a:endParaRPr sz="800"/>
                    </a:p>
                  </a:txBody>
                  <a:tcPr marT="91425" marB="91425" marR="91425" marL="91425">
                    <a:lnL cap="flat" cmpd="sng" w="28575">
                      <a:solidFill>
                        <a:srgbClr val="FF0000"/>
                      </a:solidFill>
                      <a:prstDash val="solid"/>
                      <a:round/>
                      <a:headEnd len="sm" w="sm" type="none"/>
                      <a:tailEnd len="sm" w="sm" type="none"/>
                    </a:lnL>
                    <a:lnR cap="flat" cmpd="sng" w="2857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28575">
                      <a:solidFill>
                        <a:srgbClr val="FF0000"/>
                      </a:solidFill>
                      <a:prstDash val="solid"/>
                      <a:round/>
                      <a:headEnd len="sm" w="sm" type="none"/>
                      <a:tailEnd len="sm" w="sm" type="none"/>
                    </a:lnB>
                  </a:tcPr>
                </a:tc>
                <a:tc>
                  <a:txBody>
                    <a:bodyPr/>
                    <a:lstStyle/>
                    <a:p>
                      <a:pPr indent="0" lvl="0" marL="0" rtl="0" algn="l">
                        <a:spcBef>
                          <a:spcPts val="0"/>
                        </a:spcBef>
                        <a:spcAft>
                          <a:spcPts val="0"/>
                        </a:spcAft>
                        <a:buNone/>
                      </a:pPr>
                      <a:r>
                        <a:t/>
                      </a:r>
                      <a:endParaRPr sz="800"/>
                    </a:p>
                  </a:txBody>
                  <a:tcPr marT="91425" marB="91425" marR="91425" marL="91425">
                    <a:lnL cap="flat" cmpd="sng" w="28575">
                      <a:solidFill>
                        <a:srgbClr val="FF0000"/>
                      </a:solidFill>
                      <a:prstDash val="solid"/>
                      <a:round/>
                      <a:headEnd len="sm" w="sm" type="none"/>
                      <a:tailEnd len="sm" w="sm" type="none"/>
                    </a:lnL>
                    <a:lnR cap="flat" cmpd="sng" w="2857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28575">
                      <a:solidFill>
                        <a:srgbClr val="FF0000"/>
                      </a:solidFill>
                      <a:prstDash val="solid"/>
                      <a:round/>
                      <a:headEnd len="sm" w="sm" type="none"/>
                      <a:tailEnd len="sm" w="sm" type="none"/>
                    </a:lnB>
                  </a:tcPr>
                </a:tc>
                <a:tc>
                  <a:txBody>
                    <a:bodyPr/>
                    <a:lstStyle/>
                    <a:p>
                      <a:pPr indent="0" lvl="0" marL="0" rtl="0" algn="l">
                        <a:spcBef>
                          <a:spcPts val="0"/>
                        </a:spcBef>
                        <a:spcAft>
                          <a:spcPts val="0"/>
                        </a:spcAft>
                        <a:buNone/>
                      </a:pPr>
                      <a:r>
                        <a:t/>
                      </a:r>
                      <a:endParaRPr sz="800"/>
                    </a:p>
                  </a:txBody>
                  <a:tcPr marT="91425" marB="91425" marR="91425" marL="91425">
                    <a:lnL cap="flat" cmpd="sng" w="28575">
                      <a:solidFill>
                        <a:srgbClr val="FF0000"/>
                      </a:solidFill>
                      <a:prstDash val="solid"/>
                      <a:round/>
                      <a:headEnd len="sm" w="sm" type="none"/>
                      <a:tailEnd len="sm" w="sm" type="none"/>
                    </a:lnL>
                    <a:lnR cap="flat" cmpd="sng" w="2857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28575">
                      <a:solidFill>
                        <a:srgbClr val="FF0000"/>
                      </a:solidFill>
                      <a:prstDash val="solid"/>
                      <a:round/>
                      <a:headEnd len="sm" w="sm" type="none"/>
                      <a:tailEnd len="sm" w="sm" type="none"/>
                    </a:lnB>
                  </a:tcPr>
                </a:tc>
              </a:tr>
              <a:tr h="329400">
                <a:tc>
                  <a:txBody>
                    <a:bodyPr/>
                    <a:lstStyle/>
                    <a:p>
                      <a:pPr indent="0" lvl="0" marL="0" rtl="0" algn="l">
                        <a:spcBef>
                          <a:spcPts val="0"/>
                        </a:spcBef>
                        <a:spcAft>
                          <a:spcPts val="0"/>
                        </a:spcAft>
                        <a:buNone/>
                      </a:pPr>
                      <a:r>
                        <a:t/>
                      </a:r>
                      <a:endParaRPr sz="800"/>
                    </a:p>
                  </a:txBody>
                  <a:tcPr marT="91425" marB="91425" marR="91425" marL="91425">
                    <a:lnL cap="flat" cmpd="sng" w="28575">
                      <a:solidFill>
                        <a:srgbClr val="FF0000"/>
                      </a:solidFill>
                      <a:prstDash val="solid"/>
                      <a:round/>
                      <a:headEnd len="sm" w="sm" type="none"/>
                      <a:tailEnd len="sm" w="sm" type="none"/>
                    </a:lnL>
                    <a:lnR cap="flat" cmpd="sng" w="2857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28575">
                      <a:solidFill>
                        <a:srgbClr val="FF0000"/>
                      </a:solidFill>
                      <a:prstDash val="solid"/>
                      <a:round/>
                      <a:headEnd len="sm" w="sm" type="none"/>
                      <a:tailEnd len="sm" w="sm" type="none"/>
                    </a:lnB>
                  </a:tcPr>
                </a:tc>
                <a:tc>
                  <a:txBody>
                    <a:bodyPr/>
                    <a:lstStyle/>
                    <a:p>
                      <a:pPr indent="0" lvl="0" marL="0" rtl="0" algn="l">
                        <a:spcBef>
                          <a:spcPts val="0"/>
                        </a:spcBef>
                        <a:spcAft>
                          <a:spcPts val="0"/>
                        </a:spcAft>
                        <a:buNone/>
                      </a:pPr>
                      <a:r>
                        <a:t/>
                      </a:r>
                      <a:endParaRPr sz="800"/>
                    </a:p>
                  </a:txBody>
                  <a:tcPr marT="91425" marB="91425" marR="91425" marL="91425">
                    <a:lnL cap="flat" cmpd="sng" w="28575">
                      <a:solidFill>
                        <a:srgbClr val="FF0000"/>
                      </a:solidFill>
                      <a:prstDash val="solid"/>
                      <a:round/>
                      <a:headEnd len="sm" w="sm" type="none"/>
                      <a:tailEnd len="sm" w="sm" type="none"/>
                    </a:lnL>
                    <a:lnR cap="flat" cmpd="sng" w="2857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28575">
                      <a:solidFill>
                        <a:srgbClr val="FF0000"/>
                      </a:solidFill>
                      <a:prstDash val="solid"/>
                      <a:round/>
                      <a:headEnd len="sm" w="sm" type="none"/>
                      <a:tailEnd len="sm" w="sm" type="none"/>
                    </a:lnB>
                  </a:tcPr>
                </a:tc>
                <a:tc>
                  <a:txBody>
                    <a:bodyPr/>
                    <a:lstStyle/>
                    <a:p>
                      <a:pPr indent="0" lvl="0" marL="0" rtl="0" algn="l">
                        <a:spcBef>
                          <a:spcPts val="0"/>
                        </a:spcBef>
                        <a:spcAft>
                          <a:spcPts val="0"/>
                        </a:spcAft>
                        <a:buNone/>
                      </a:pPr>
                      <a:r>
                        <a:t/>
                      </a:r>
                      <a:endParaRPr sz="800"/>
                    </a:p>
                  </a:txBody>
                  <a:tcPr marT="91425" marB="91425" marR="91425" marL="91425">
                    <a:lnL cap="flat" cmpd="sng" w="28575">
                      <a:solidFill>
                        <a:srgbClr val="FF0000"/>
                      </a:solidFill>
                      <a:prstDash val="solid"/>
                      <a:round/>
                      <a:headEnd len="sm" w="sm" type="none"/>
                      <a:tailEnd len="sm" w="sm" type="none"/>
                    </a:lnL>
                    <a:lnR cap="flat" cmpd="sng" w="2857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28575">
                      <a:solidFill>
                        <a:srgbClr val="FF0000"/>
                      </a:solidFill>
                      <a:prstDash val="solid"/>
                      <a:round/>
                      <a:headEnd len="sm" w="sm" type="none"/>
                      <a:tailEnd len="sm" w="sm" type="none"/>
                    </a:lnB>
                  </a:tcPr>
                </a:tc>
              </a:tr>
            </a:tbl>
          </a:graphicData>
        </a:graphic>
      </p:graphicFrame>
      <p:graphicFrame>
        <p:nvGraphicFramePr>
          <p:cNvPr id="186" name="Google Shape;186;p24"/>
          <p:cNvGraphicFramePr/>
          <p:nvPr/>
        </p:nvGraphicFramePr>
        <p:xfrm>
          <a:off x="5647884" y="1065235"/>
          <a:ext cx="3000000" cy="3000000"/>
        </p:xfrm>
        <a:graphic>
          <a:graphicData uri="http://schemas.openxmlformats.org/drawingml/2006/table">
            <a:tbl>
              <a:tblPr>
                <a:noFill/>
                <a:tableStyleId>{A22A7B2D-7E37-4577-AFCF-14A211495966}</a:tableStyleId>
              </a:tblPr>
              <a:tblGrid>
                <a:gridCol w="382850"/>
                <a:gridCol w="382850"/>
                <a:gridCol w="382850"/>
              </a:tblGrid>
              <a:tr h="285800">
                <a:tc>
                  <a:txBody>
                    <a:bodyPr/>
                    <a:lstStyle/>
                    <a:p>
                      <a:pPr indent="0" lvl="0" marL="0" rtl="0" algn="l">
                        <a:spcBef>
                          <a:spcPts val="0"/>
                        </a:spcBef>
                        <a:spcAft>
                          <a:spcPts val="0"/>
                        </a:spcAft>
                        <a:buNone/>
                      </a:pPr>
                      <a:r>
                        <a:t/>
                      </a:r>
                      <a:endParaRPr sz="800"/>
                    </a:p>
                  </a:txBody>
                  <a:tcPr marT="91425" marB="91425" marR="91425" marL="91425">
                    <a:lnL cap="flat" cmpd="sng" w="28575">
                      <a:solidFill>
                        <a:srgbClr val="FF0000"/>
                      </a:solidFill>
                      <a:prstDash val="solid"/>
                      <a:round/>
                      <a:headEnd len="sm" w="sm" type="none"/>
                      <a:tailEnd len="sm" w="sm" type="none"/>
                    </a:lnL>
                    <a:lnR cap="flat" cmpd="sng" w="2857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28575">
                      <a:solidFill>
                        <a:srgbClr val="FF0000"/>
                      </a:solidFill>
                      <a:prstDash val="solid"/>
                      <a:round/>
                      <a:headEnd len="sm" w="sm" type="none"/>
                      <a:tailEnd len="sm" w="sm" type="none"/>
                    </a:lnB>
                  </a:tcPr>
                </a:tc>
                <a:tc>
                  <a:txBody>
                    <a:bodyPr/>
                    <a:lstStyle/>
                    <a:p>
                      <a:pPr indent="0" lvl="0" marL="0" rtl="0" algn="l">
                        <a:spcBef>
                          <a:spcPts val="0"/>
                        </a:spcBef>
                        <a:spcAft>
                          <a:spcPts val="0"/>
                        </a:spcAft>
                        <a:buNone/>
                      </a:pPr>
                      <a:r>
                        <a:t/>
                      </a:r>
                      <a:endParaRPr sz="800"/>
                    </a:p>
                  </a:txBody>
                  <a:tcPr marT="91425" marB="91425" marR="91425" marL="91425">
                    <a:lnL cap="flat" cmpd="sng" w="28575">
                      <a:solidFill>
                        <a:srgbClr val="FF0000"/>
                      </a:solidFill>
                      <a:prstDash val="solid"/>
                      <a:round/>
                      <a:headEnd len="sm" w="sm" type="none"/>
                      <a:tailEnd len="sm" w="sm" type="none"/>
                    </a:lnL>
                    <a:lnR cap="flat" cmpd="sng" w="2857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28575">
                      <a:solidFill>
                        <a:srgbClr val="FF0000"/>
                      </a:solidFill>
                      <a:prstDash val="solid"/>
                      <a:round/>
                      <a:headEnd len="sm" w="sm" type="none"/>
                      <a:tailEnd len="sm" w="sm" type="none"/>
                    </a:lnB>
                  </a:tcPr>
                </a:tc>
                <a:tc>
                  <a:txBody>
                    <a:bodyPr/>
                    <a:lstStyle/>
                    <a:p>
                      <a:pPr indent="0" lvl="0" marL="0" rtl="0" algn="l">
                        <a:spcBef>
                          <a:spcPts val="0"/>
                        </a:spcBef>
                        <a:spcAft>
                          <a:spcPts val="0"/>
                        </a:spcAft>
                        <a:buNone/>
                      </a:pPr>
                      <a:r>
                        <a:t/>
                      </a:r>
                      <a:endParaRPr sz="800"/>
                    </a:p>
                  </a:txBody>
                  <a:tcPr marT="91425" marB="91425" marR="91425" marL="91425">
                    <a:lnL cap="flat" cmpd="sng" w="28575">
                      <a:solidFill>
                        <a:srgbClr val="FF0000"/>
                      </a:solidFill>
                      <a:prstDash val="solid"/>
                      <a:round/>
                      <a:headEnd len="sm" w="sm" type="none"/>
                      <a:tailEnd len="sm" w="sm" type="none"/>
                    </a:lnL>
                    <a:lnR cap="flat" cmpd="sng" w="2857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28575">
                      <a:solidFill>
                        <a:srgbClr val="FF0000"/>
                      </a:solidFill>
                      <a:prstDash val="solid"/>
                      <a:round/>
                      <a:headEnd len="sm" w="sm" type="none"/>
                      <a:tailEnd len="sm" w="sm" type="none"/>
                    </a:lnB>
                  </a:tcPr>
                </a:tc>
              </a:tr>
              <a:tr h="329400">
                <a:tc>
                  <a:txBody>
                    <a:bodyPr/>
                    <a:lstStyle/>
                    <a:p>
                      <a:pPr indent="0" lvl="0" marL="0" rtl="0" algn="l">
                        <a:spcBef>
                          <a:spcPts val="0"/>
                        </a:spcBef>
                        <a:spcAft>
                          <a:spcPts val="0"/>
                        </a:spcAft>
                        <a:buNone/>
                      </a:pPr>
                      <a:r>
                        <a:t/>
                      </a:r>
                      <a:endParaRPr sz="800"/>
                    </a:p>
                  </a:txBody>
                  <a:tcPr marT="91425" marB="91425" marR="91425" marL="91425">
                    <a:lnL cap="flat" cmpd="sng" w="28575">
                      <a:solidFill>
                        <a:srgbClr val="FF0000"/>
                      </a:solidFill>
                      <a:prstDash val="solid"/>
                      <a:round/>
                      <a:headEnd len="sm" w="sm" type="none"/>
                      <a:tailEnd len="sm" w="sm" type="none"/>
                    </a:lnL>
                    <a:lnR cap="flat" cmpd="sng" w="2857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28575">
                      <a:solidFill>
                        <a:srgbClr val="FF0000"/>
                      </a:solidFill>
                      <a:prstDash val="solid"/>
                      <a:round/>
                      <a:headEnd len="sm" w="sm" type="none"/>
                      <a:tailEnd len="sm" w="sm" type="none"/>
                    </a:lnB>
                  </a:tcPr>
                </a:tc>
                <a:tc>
                  <a:txBody>
                    <a:bodyPr/>
                    <a:lstStyle/>
                    <a:p>
                      <a:pPr indent="0" lvl="0" marL="0" rtl="0" algn="l">
                        <a:spcBef>
                          <a:spcPts val="0"/>
                        </a:spcBef>
                        <a:spcAft>
                          <a:spcPts val="0"/>
                        </a:spcAft>
                        <a:buNone/>
                      </a:pPr>
                      <a:r>
                        <a:t/>
                      </a:r>
                      <a:endParaRPr sz="800"/>
                    </a:p>
                  </a:txBody>
                  <a:tcPr marT="91425" marB="91425" marR="91425" marL="91425">
                    <a:lnL cap="flat" cmpd="sng" w="28575">
                      <a:solidFill>
                        <a:srgbClr val="FF0000"/>
                      </a:solidFill>
                      <a:prstDash val="solid"/>
                      <a:round/>
                      <a:headEnd len="sm" w="sm" type="none"/>
                      <a:tailEnd len="sm" w="sm" type="none"/>
                    </a:lnL>
                    <a:lnR cap="flat" cmpd="sng" w="2857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28575">
                      <a:solidFill>
                        <a:srgbClr val="FF0000"/>
                      </a:solidFill>
                      <a:prstDash val="solid"/>
                      <a:round/>
                      <a:headEnd len="sm" w="sm" type="none"/>
                      <a:tailEnd len="sm" w="sm" type="none"/>
                    </a:lnB>
                  </a:tcPr>
                </a:tc>
                <a:tc>
                  <a:txBody>
                    <a:bodyPr/>
                    <a:lstStyle/>
                    <a:p>
                      <a:pPr indent="0" lvl="0" marL="0" rtl="0" algn="l">
                        <a:spcBef>
                          <a:spcPts val="0"/>
                        </a:spcBef>
                        <a:spcAft>
                          <a:spcPts val="0"/>
                        </a:spcAft>
                        <a:buNone/>
                      </a:pPr>
                      <a:r>
                        <a:t/>
                      </a:r>
                      <a:endParaRPr sz="800"/>
                    </a:p>
                  </a:txBody>
                  <a:tcPr marT="91425" marB="91425" marR="91425" marL="91425">
                    <a:lnL cap="flat" cmpd="sng" w="28575">
                      <a:solidFill>
                        <a:srgbClr val="FF0000"/>
                      </a:solidFill>
                      <a:prstDash val="solid"/>
                      <a:round/>
                      <a:headEnd len="sm" w="sm" type="none"/>
                      <a:tailEnd len="sm" w="sm" type="none"/>
                    </a:lnL>
                    <a:lnR cap="flat" cmpd="sng" w="2857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28575">
                      <a:solidFill>
                        <a:srgbClr val="FF0000"/>
                      </a:solidFill>
                      <a:prstDash val="solid"/>
                      <a:round/>
                      <a:headEnd len="sm" w="sm" type="none"/>
                      <a:tailEnd len="sm" w="sm" type="none"/>
                    </a:lnB>
                  </a:tcPr>
                </a:tc>
              </a:tr>
              <a:tr h="329400">
                <a:tc>
                  <a:txBody>
                    <a:bodyPr/>
                    <a:lstStyle/>
                    <a:p>
                      <a:pPr indent="0" lvl="0" marL="0" rtl="0" algn="l">
                        <a:spcBef>
                          <a:spcPts val="0"/>
                        </a:spcBef>
                        <a:spcAft>
                          <a:spcPts val="0"/>
                        </a:spcAft>
                        <a:buNone/>
                      </a:pPr>
                      <a:r>
                        <a:t/>
                      </a:r>
                      <a:endParaRPr sz="800"/>
                    </a:p>
                  </a:txBody>
                  <a:tcPr marT="91425" marB="91425" marR="91425" marL="91425">
                    <a:lnL cap="flat" cmpd="sng" w="28575">
                      <a:solidFill>
                        <a:srgbClr val="FF0000"/>
                      </a:solidFill>
                      <a:prstDash val="solid"/>
                      <a:round/>
                      <a:headEnd len="sm" w="sm" type="none"/>
                      <a:tailEnd len="sm" w="sm" type="none"/>
                    </a:lnL>
                    <a:lnR cap="flat" cmpd="sng" w="2857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28575">
                      <a:solidFill>
                        <a:srgbClr val="FF0000"/>
                      </a:solidFill>
                      <a:prstDash val="solid"/>
                      <a:round/>
                      <a:headEnd len="sm" w="sm" type="none"/>
                      <a:tailEnd len="sm" w="sm" type="none"/>
                    </a:lnB>
                  </a:tcPr>
                </a:tc>
                <a:tc>
                  <a:txBody>
                    <a:bodyPr/>
                    <a:lstStyle/>
                    <a:p>
                      <a:pPr indent="0" lvl="0" marL="0" rtl="0" algn="l">
                        <a:spcBef>
                          <a:spcPts val="0"/>
                        </a:spcBef>
                        <a:spcAft>
                          <a:spcPts val="0"/>
                        </a:spcAft>
                        <a:buNone/>
                      </a:pPr>
                      <a:r>
                        <a:t/>
                      </a:r>
                      <a:endParaRPr sz="800"/>
                    </a:p>
                  </a:txBody>
                  <a:tcPr marT="91425" marB="91425" marR="91425" marL="91425">
                    <a:lnL cap="flat" cmpd="sng" w="28575">
                      <a:solidFill>
                        <a:srgbClr val="FF0000"/>
                      </a:solidFill>
                      <a:prstDash val="solid"/>
                      <a:round/>
                      <a:headEnd len="sm" w="sm" type="none"/>
                      <a:tailEnd len="sm" w="sm" type="none"/>
                    </a:lnL>
                    <a:lnR cap="flat" cmpd="sng" w="2857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28575">
                      <a:solidFill>
                        <a:srgbClr val="FF0000"/>
                      </a:solidFill>
                      <a:prstDash val="solid"/>
                      <a:round/>
                      <a:headEnd len="sm" w="sm" type="none"/>
                      <a:tailEnd len="sm" w="sm" type="none"/>
                    </a:lnB>
                  </a:tcPr>
                </a:tc>
                <a:tc>
                  <a:txBody>
                    <a:bodyPr/>
                    <a:lstStyle/>
                    <a:p>
                      <a:pPr indent="0" lvl="0" marL="0" rtl="0" algn="l">
                        <a:spcBef>
                          <a:spcPts val="0"/>
                        </a:spcBef>
                        <a:spcAft>
                          <a:spcPts val="0"/>
                        </a:spcAft>
                        <a:buNone/>
                      </a:pPr>
                      <a:r>
                        <a:t/>
                      </a:r>
                      <a:endParaRPr sz="800"/>
                    </a:p>
                  </a:txBody>
                  <a:tcPr marT="91425" marB="91425" marR="91425" marL="91425">
                    <a:lnL cap="flat" cmpd="sng" w="28575">
                      <a:solidFill>
                        <a:srgbClr val="FF0000"/>
                      </a:solidFill>
                      <a:prstDash val="solid"/>
                      <a:round/>
                      <a:headEnd len="sm" w="sm" type="none"/>
                      <a:tailEnd len="sm" w="sm" type="none"/>
                    </a:lnL>
                    <a:lnR cap="flat" cmpd="sng" w="2857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28575">
                      <a:solidFill>
                        <a:srgbClr val="FF0000"/>
                      </a:solidFill>
                      <a:prstDash val="solid"/>
                      <a:round/>
                      <a:headEnd len="sm" w="sm" type="none"/>
                      <a:tailEnd len="sm" w="sm" type="none"/>
                    </a:lnB>
                  </a:tcPr>
                </a:tc>
              </a:tr>
            </a:tbl>
          </a:graphicData>
        </a:graphic>
      </p:graphicFrame>
      <p:graphicFrame>
        <p:nvGraphicFramePr>
          <p:cNvPr id="187" name="Google Shape;187;p24"/>
          <p:cNvGraphicFramePr/>
          <p:nvPr/>
        </p:nvGraphicFramePr>
        <p:xfrm>
          <a:off x="499522" y="3138596"/>
          <a:ext cx="3000000" cy="3000000"/>
        </p:xfrm>
        <a:graphic>
          <a:graphicData uri="http://schemas.openxmlformats.org/drawingml/2006/table">
            <a:tbl>
              <a:tblPr>
                <a:noFill/>
                <a:tableStyleId>{A22A7B2D-7E37-4577-AFCF-14A211495966}</a:tableStyleId>
              </a:tblPr>
              <a:tblGrid>
                <a:gridCol w="382850"/>
                <a:gridCol w="382850"/>
                <a:gridCol w="382850"/>
                <a:gridCol w="382850"/>
              </a:tblGrid>
              <a:tr h="273350">
                <a:tc>
                  <a:txBody>
                    <a:bodyPr/>
                    <a:lstStyle/>
                    <a:p>
                      <a:pPr indent="0" lvl="0" marL="0" rtl="0" algn="l">
                        <a:spcBef>
                          <a:spcPts val="0"/>
                        </a:spcBef>
                        <a:spcAft>
                          <a:spcPts val="0"/>
                        </a:spcAft>
                        <a:buNone/>
                      </a:pPr>
                      <a:r>
                        <a:rPr lang="en" sz="800"/>
                        <a:t>X00</a:t>
                      </a:r>
                      <a:endParaRPr sz="800"/>
                    </a:p>
                  </a:txBody>
                  <a:tcPr marT="91425" marB="91425" marR="91425" marL="91425"/>
                </a:tc>
                <a:tc>
                  <a:txBody>
                    <a:bodyPr/>
                    <a:lstStyle/>
                    <a:p>
                      <a:pPr indent="0" lvl="0" marL="0" rtl="0" algn="l">
                        <a:spcBef>
                          <a:spcPts val="0"/>
                        </a:spcBef>
                        <a:spcAft>
                          <a:spcPts val="0"/>
                        </a:spcAft>
                        <a:buNone/>
                      </a:pPr>
                      <a:r>
                        <a:rPr lang="en" sz="800">
                          <a:solidFill>
                            <a:schemeClr val="dk1"/>
                          </a:solidFill>
                        </a:rPr>
                        <a:t>X01</a:t>
                      </a:r>
                      <a:endParaRPr/>
                    </a:p>
                  </a:txBody>
                  <a:tcPr marT="91425" marB="91425" marR="91425" marL="91425"/>
                </a:tc>
                <a:tc>
                  <a:txBody>
                    <a:bodyPr/>
                    <a:lstStyle/>
                    <a:p>
                      <a:pPr indent="0" lvl="0" marL="0" rtl="0" algn="l">
                        <a:spcBef>
                          <a:spcPts val="0"/>
                        </a:spcBef>
                        <a:spcAft>
                          <a:spcPts val="0"/>
                        </a:spcAft>
                        <a:buNone/>
                      </a:pPr>
                      <a:r>
                        <a:rPr lang="en" sz="800">
                          <a:solidFill>
                            <a:schemeClr val="dk1"/>
                          </a:solidFill>
                        </a:rPr>
                        <a:t>X02</a:t>
                      </a:r>
                      <a:endParaRPr/>
                    </a:p>
                  </a:txBody>
                  <a:tcPr marT="91425" marB="91425" marR="91425" marL="91425"/>
                </a:tc>
                <a:tc>
                  <a:txBody>
                    <a:bodyPr/>
                    <a:lstStyle/>
                    <a:p>
                      <a:pPr indent="0" lvl="0" marL="0" rtl="0" algn="l">
                        <a:spcBef>
                          <a:spcPts val="0"/>
                        </a:spcBef>
                        <a:spcAft>
                          <a:spcPts val="0"/>
                        </a:spcAft>
                        <a:buNone/>
                      </a:pPr>
                      <a:r>
                        <a:rPr lang="en" sz="800">
                          <a:solidFill>
                            <a:schemeClr val="dk1"/>
                          </a:solidFill>
                        </a:rPr>
                        <a:t>X03</a:t>
                      </a:r>
                      <a:endParaRPr/>
                    </a:p>
                  </a:txBody>
                  <a:tcPr marT="91425" marB="91425" marR="91425" marL="91425"/>
                </a:tc>
              </a:tr>
              <a:tr h="273900">
                <a:tc>
                  <a:txBody>
                    <a:bodyPr/>
                    <a:lstStyle/>
                    <a:p>
                      <a:pPr indent="0" lvl="0" marL="0" rtl="0" algn="l">
                        <a:spcBef>
                          <a:spcPts val="0"/>
                        </a:spcBef>
                        <a:spcAft>
                          <a:spcPts val="0"/>
                        </a:spcAft>
                        <a:buNone/>
                      </a:pPr>
                      <a:r>
                        <a:rPr lang="en" sz="800">
                          <a:solidFill>
                            <a:schemeClr val="dk1"/>
                          </a:solidFill>
                        </a:rPr>
                        <a:t>X10</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X11</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X12</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X13</a:t>
                      </a:r>
                      <a:endParaRPr/>
                    </a:p>
                  </a:txBody>
                  <a:tcPr marT="91425" marB="91425" marR="91425" marL="91425"/>
                </a:tc>
              </a:tr>
              <a:tr h="323250">
                <a:tc>
                  <a:txBody>
                    <a:bodyPr/>
                    <a:lstStyle/>
                    <a:p>
                      <a:pPr indent="0" lvl="0" marL="0" rtl="0" algn="l">
                        <a:spcBef>
                          <a:spcPts val="0"/>
                        </a:spcBef>
                        <a:spcAft>
                          <a:spcPts val="0"/>
                        </a:spcAft>
                        <a:buNone/>
                      </a:pPr>
                      <a:r>
                        <a:rPr lang="en" sz="800">
                          <a:solidFill>
                            <a:schemeClr val="dk1"/>
                          </a:solidFill>
                        </a:rPr>
                        <a:t>X20</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X21</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rPr lang="en" sz="800">
                          <a:solidFill>
                            <a:schemeClr val="dk1"/>
                          </a:solidFill>
                        </a:rPr>
                        <a:t>X22</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X23</a:t>
                      </a:r>
                      <a:endParaRPr/>
                    </a:p>
                  </a:txBody>
                  <a:tcPr marT="91425" marB="91425" marR="91425" marL="91425">
                    <a:lnL cap="flat" cmpd="sng" w="9525">
                      <a:solidFill>
                        <a:srgbClr val="9E9E9E"/>
                      </a:solidFill>
                      <a:prstDash val="solid"/>
                      <a:round/>
                      <a:headEnd len="sm" w="sm" type="none"/>
                      <a:tailEnd len="sm" w="sm" type="none"/>
                    </a:lnL>
                  </a:tcPr>
                </a:tc>
              </a:tr>
              <a:tr h="355100">
                <a:tc>
                  <a:txBody>
                    <a:bodyPr/>
                    <a:lstStyle/>
                    <a:p>
                      <a:pPr indent="0" lvl="0" marL="0" rtl="0" algn="l">
                        <a:spcBef>
                          <a:spcPts val="0"/>
                        </a:spcBef>
                        <a:spcAft>
                          <a:spcPts val="0"/>
                        </a:spcAft>
                        <a:buNone/>
                      </a:pPr>
                      <a:r>
                        <a:rPr lang="en" sz="800">
                          <a:solidFill>
                            <a:schemeClr val="dk1"/>
                          </a:solidFill>
                        </a:rPr>
                        <a:t>X30</a:t>
                      </a:r>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X31</a:t>
                      </a:r>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X32</a:t>
                      </a:r>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X33</a:t>
                      </a:r>
                      <a:endParaRPr/>
                    </a:p>
                  </a:txBody>
                  <a:tcPr marT="91425" marB="91425" marR="91425" marL="91425">
                    <a:lnB cap="flat" cmpd="sng" w="9525">
                      <a:solidFill>
                        <a:srgbClr val="9E9E9E"/>
                      </a:solidFill>
                      <a:prstDash val="solid"/>
                      <a:round/>
                      <a:headEnd len="sm" w="sm" type="none"/>
                      <a:tailEnd len="sm" w="sm" type="none"/>
                    </a:lnB>
                  </a:tcPr>
                </a:tc>
              </a:tr>
              <a:tr h="355100">
                <a:tc>
                  <a:txBody>
                    <a:bodyPr/>
                    <a:lstStyle/>
                    <a:p>
                      <a:pPr indent="0" lvl="0" marL="0" rtl="0" algn="l">
                        <a:spcBef>
                          <a:spcPts val="0"/>
                        </a:spcBef>
                        <a:spcAft>
                          <a:spcPts val="0"/>
                        </a:spcAft>
                        <a:buNone/>
                      </a:pPr>
                      <a:r>
                        <a:rPr lang="en" sz="800">
                          <a:solidFill>
                            <a:schemeClr val="dk1"/>
                          </a:solidFill>
                        </a:rPr>
                        <a:t>X40</a:t>
                      </a:r>
                      <a:endParaRPr sz="800">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X41</a:t>
                      </a:r>
                      <a:endParaRPr sz="800">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X42</a:t>
                      </a:r>
                      <a:endParaRPr sz="800">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X43</a:t>
                      </a:r>
                      <a:endParaRPr sz="800">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graphicFrame>
        <p:nvGraphicFramePr>
          <p:cNvPr id="188" name="Google Shape;188;p24"/>
          <p:cNvGraphicFramePr/>
          <p:nvPr/>
        </p:nvGraphicFramePr>
        <p:xfrm>
          <a:off x="882367" y="3176396"/>
          <a:ext cx="3000000" cy="3000000"/>
        </p:xfrm>
        <a:graphic>
          <a:graphicData uri="http://schemas.openxmlformats.org/drawingml/2006/table">
            <a:tbl>
              <a:tblPr>
                <a:noFill/>
                <a:tableStyleId>{A22A7B2D-7E37-4577-AFCF-14A211495966}</a:tableStyleId>
              </a:tblPr>
              <a:tblGrid>
                <a:gridCol w="382850"/>
                <a:gridCol w="382850"/>
                <a:gridCol w="382850"/>
              </a:tblGrid>
              <a:tr h="285800">
                <a:tc>
                  <a:txBody>
                    <a:bodyPr/>
                    <a:lstStyle/>
                    <a:p>
                      <a:pPr indent="0" lvl="0" marL="0" rtl="0" algn="l">
                        <a:spcBef>
                          <a:spcPts val="0"/>
                        </a:spcBef>
                        <a:spcAft>
                          <a:spcPts val="0"/>
                        </a:spcAft>
                        <a:buNone/>
                      </a:pPr>
                      <a:r>
                        <a:t/>
                      </a:r>
                      <a:endParaRPr sz="800"/>
                    </a:p>
                  </a:txBody>
                  <a:tcPr marT="91425" marB="91425" marR="91425" marL="91425">
                    <a:lnL cap="flat" cmpd="sng" w="28575">
                      <a:solidFill>
                        <a:srgbClr val="FF0000"/>
                      </a:solidFill>
                      <a:prstDash val="solid"/>
                      <a:round/>
                      <a:headEnd len="sm" w="sm" type="none"/>
                      <a:tailEnd len="sm" w="sm" type="none"/>
                    </a:lnL>
                    <a:lnR cap="flat" cmpd="sng" w="2857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28575">
                      <a:solidFill>
                        <a:srgbClr val="FF0000"/>
                      </a:solidFill>
                      <a:prstDash val="solid"/>
                      <a:round/>
                      <a:headEnd len="sm" w="sm" type="none"/>
                      <a:tailEnd len="sm" w="sm" type="none"/>
                    </a:lnB>
                  </a:tcPr>
                </a:tc>
                <a:tc>
                  <a:txBody>
                    <a:bodyPr/>
                    <a:lstStyle/>
                    <a:p>
                      <a:pPr indent="0" lvl="0" marL="0" rtl="0" algn="l">
                        <a:spcBef>
                          <a:spcPts val="0"/>
                        </a:spcBef>
                        <a:spcAft>
                          <a:spcPts val="0"/>
                        </a:spcAft>
                        <a:buNone/>
                      </a:pPr>
                      <a:r>
                        <a:t/>
                      </a:r>
                      <a:endParaRPr sz="800"/>
                    </a:p>
                  </a:txBody>
                  <a:tcPr marT="91425" marB="91425" marR="91425" marL="91425">
                    <a:lnL cap="flat" cmpd="sng" w="28575">
                      <a:solidFill>
                        <a:srgbClr val="FF0000"/>
                      </a:solidFill>
                      <a:prstDash val="solid"/>
                      <a:round/>
                      <a:headEnd len="sm" w="sm" type="none"/>
                      <a:tailEnd len="sm" w="sm" type="none"/>
                    </a:lnL>
                    <a:lnR cap="flat" cmpd="sng" w="2857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28575">
                      <a:solidFill>
                        <a:srgbClr val="FF0000"/>
                      </a:solidFill>
                      <a:prstDash val="solid"/>
                      <a:round/>
                      <a:headEnd len="sm" w="sm" type="none"/>
                      <a:tailEnd len="sm" w="sm" type="none"/>
                    </a:lnB>
                  </a:tcPr>
                </a:tc>
                <a:tc>
                  <a:txBody>
                    <a:bodyPr/>
                    <a:lstStyle/>
                    <a:p>
                      <a:pPr indent="0" lvl="0" marL="0" rtl="0" algn="l">
                        <a:spcBef>
                          <a:spcPts val="0"/>
                        </a:spcBef>
                        <a:spcAft>
                          <a:spcPts val="0"/>
                        </a:spcAft>
                        <a:buNone/>
                      </a:pPr>
                      <a:r>
                        <a:t/>
                      </a:r>
                      <a:endParaRPr sz="800"/>
                    </a:p>
                  </a:txBody>
                  <a:tcPr marT="91425" marB="91425" marR="91425" marL="91425">
                    <a:lnL cap="flat" cmpd="sng" w="28575">
                      <a:solidFill>
                        <a:srgbClr val="FF0000"/>
                      </a:solidFill>
                      <a:prstDash val="solid"/>
                      <a:round/>
                      <a:headEnd len="sm" w="sm" type="none"/>
                      <a:tailEnd len="sm" w="sm" type="none"/>
                    </a:lnL>
                    <a:lnR cap="flat" cmpd="sng" w="2857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28575">
                      <a:solidFill>
                        <a:srgbClr val="FF0000"/>
                      </a:solidFill>
                      <a:prstDash val="solid"/>
                      <a:round/>
                      <a:headEnd len="sm" w="sm" type="none"/>
                      <a:tailEnd len="sm" w="sm" type="none"/>
                    </a:lnB>
                  </a:tcPr>
                </a:tc>
              </a:tr>
              <a:tr h="329400">
                <a:tc>
                  <a:txBody>
                    <a:bodyPr/>
                    <a:lstStyle/>
                    <a:p>
                      <a:pPr indent="0" lvl="0" marL="0" rtl="0" algn="l">
                        <a:spcBef>
                          <a:spcPts val="0"/>
                        </a:spcBef>
                        <a:spcAft>
                          <a:spcPts val="0"/>
                        </a:spcAft>
                        <a:buNone/>
                      </a:pPr>
                      <a:r>
                        <a:t/>
                      </a:r>
                      <a:endParaRPr sz="800"/>
                    </a:p>
                  </a:txBody>
                  <a:tcPr marT="91425" marB="91425" marR="91425" marL="91425">
                    <a:lnL cap="flat" cmpd="sng" w="28575">
                      <a:solidFill>
                        <a:srgbClr val="FF0000"/>
                      </a:solidFill>
                      <a:prstDash val="solid"/>
                      <a:round/>
                      <a:headEnd len="sm" w="sm" type="none"/>
                      <a:tailEnd len="sm" w="sm" type="none"/>
                    </a:lnL>
                    <a:lnR cap="flat" cmpd="sng" w="2857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28575">
                      <a:solidFill>
                        <a:srgbClr val="FF0000"/>
                      </a:solidFill>
                      <a:prstDash val="solid"/>
                      <a:round/>
                      <a:headEnd len="sm" w="sm" type="none"/>
                      <a:tailEnd len="sm" w="sm" type="none"/>
                    </a:lnB>
                  </a:tcPr>
                </a:tc>
                <a:tc>
                  <a:txBody>
                    <a:bodyPr/>
                    <a:lstStyle/>
                    <a:p>
                      <a:pPr indent="0" lvl="0" marL="0" rtl="0" algn="l">
                        <a:spcBef>
                          <a:spcPts val="0"/>
                        </a:spcBef>
                        <a:spcAft>
                          <a:spcPts val="0"/>
                        </a:spcAft>
                        <a:buNone/>
                      </a:pPr>
                      <a:r>
                        <a:t/>
                      </a:r>
                      <a:endParaRPr sz="800"/>
                    </a:p>
                  </a:txBody>
                  <a:tcPr marT="91425" marB="91425" marR="91425" marL="91425">
                    <a:lnL cap="flat" cmpd="sng" w="28575">
                      <a:solidFill>
                        <a:srgbClr val="FF0000"/>
                      </a:solidFill>
                      <a:prstDash val="solid"/>
                      <a:round/>
                      <a:headEnd len="sm" w="sm" type="none"/>
                      <a:tailEnd len="sm" w="sm" type="none"/>
                    </a:lnL>
                    <a:lnR cap="flat" cmpd="sng" w="2857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28575">
                      <a:solidFill>
                        <a:srgbClr val="FF0000"/>
                      </a:solidFill>
                      <a:prstDash val="solid"/>
                      <a:round/>
                      <a:headEnd len="sm" w="sm" type="none"/>
                      <a:tailEnd len="sm" w="sm" type="none"/>
                    </a:lnB>
                  </a:tcPr>
                </a:tc>
                <a:tc>
                  <a:txBody>
                    <a:bodyPr/>
                    <a:lstStyle/>
                    <a:p>
                      <a:pPr indent="0" lvl="0" marL="0" rtl="0" algn="l">
                        <a:spcBef>
                          <a:spcPts val="0"/>
                        </a:spcBef>
                        <a:spcAft>
                          <a:spcPts val="0"/>
                        </a:spcAft>
                        <a:buNone/>
                      </a:pPr>
                      <a:r>
                        <a:t/>
                      </a:r>
                      <a:endParaRPr sz="800"/>
                    </a:p>
                  </a:txBody>
                  <a:tcPr marT="91425" marB="91425" marR="91425" marL="91425">
                    <a:lnL cap="flat" cmpd="sng" w="28575">
                      <a:solidFill>
                        <a:srgbClr val="FF0000"/>
                      </a:solidFill>
                      <a:prstDash val="solid"/>
                      <a:round/>
                      <a:headEnd len="sm" w="sm" type="none"/>
                      <a:tailEnd len="sm" w="sm" type="none"/>
                    </a:lnL>
                    <a:lnR cap="flat" cmpd="sng" w="2857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28575">
                      <a:solidFill>
                        <a:srgbClr val="FF0000"/>
                      </a:solidFill>
                      <a:prstDash val="solid"/>
                      <a:round/>
                      <a:headEnd len="sm" w="sm" type="none"/>
                      <a:tailEnd len="sm" w="sm" type="none"/>
                    </a:lnB>
                  </a:tcPr>
                </a:tc>
              </a:tr>
              <a:tr h="329400">
                <a:tc>
                  <a:txBody>
                    <a:bodyPr/>
                    <a:lstStyle/>
                    <a:p>
                      <a:pPr indent="0" lvl="0" marL="0" rtl="0" algn="l">
                        <a:spcBef>
                          <a:spcPts val="0"/>
                        </a:spcBef>
                        <a:spcAft>
                          <a:spcPts val="0"/>
                        </a:spcAft>
                        <a:buNone/>
                      </a:pPr>
                      <a:r>
                        <a:t/>
                      </a:r>
                      <a:endParaRPr sz="800"/>
                    </a:p>
                  </a:txBody>
                  <a:tcPr marT="91425" marB="91425" marR="91425" marL="91425">
                    <a:lnL cap="flat" cmpd="sng" w="28575">
                      <a:solidFill>
                        <a:srgbClr val="FF0000"/>
                      </a:solidFill>
                      <a:prstDash val="solid"/>
                      <a:round/>
                      <a:headEnd len="sm" w="sm" type="none"/>
                      <a:tailEnd len="sm" w="sm" type="none"/>
                    </a:lnL>
                    <a:lnR cap="flat" cmpd="sng" w="2857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28575">
                      <a:solidFill>
                        <a:srgbClr val="FF0000"/>
                      </a:solidFill>
                      <a:prstDash val="solid"/>
                      <a:round/>
                      <a:headEnd len="sm" w="sm" type="none"/>
                      <a:tailEnd len="sm" w="sm" type="none"/>
                    </a:lnB>
                  </a:tcPr>
                </a:tc>
                <a:tc>
                  <a:txBody>
                    <a:bodyPr/>
                    <a:lstStyle/>
                    <a:p>
                      <a:pPr indent="0" lvl="0" marL="0" rtl="0" algn="l">
                        <a:spcBef>
                          <a:spcPts val="0"/>
                        </a:spcBef>
                        <a:spcAft>
                          <a:spcPts val="0"/>
                        </a:spcAft>
                        <a:buNone/>
                      </a:pPr>
                      <a:r>
                        <a:t/>
                      </a:r>
                      <a:endParaRPr sz="800"/>
                    </a:p>
                  </a:txBody>
                  <a:tcPr marT="91425" marB="91425" marR="91425" marL="91425">
                    <a:lnL cap="flat" cmpd="sng" w="28575">
                      <a:solidFill>
                        <a:srgbClr val="FF0000"/>
                      </a:solidFill>
                      <a:prstDash val="solid"/>
                      <a:round/>
                      <a:headEnd len="sm" w="sm" type="none"/>
                      <a:tailEnd len="sm" w="sm" type="none"/>
                    </a:lnL>
                    <a:lnR cap="flat" cmpd="sng" w="2857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28575">
                      <a:solidFill>
                        <a:srgbClr val="FF0000"/>
                      </a:solidFill>
                      <a:prstDash val="solid"/>
                      <a:round/>
                      <a:headEnd len="sm" w="sm" type="none"/>
                      <a:tailEnd len="sm" w="sm" type="none"/>
                    </a:lnB>
                  </a:tcPr>
                </a:tc>
                <a:tc>
                  <a:txBody>
                    <a:bodyPr/>
                    <a:lstStyle/>
                    <a:p>
                      <a:pPr indent="0" lvl="0" marL="0" rtl="0" algn="l">
                        <a:spcBef>
                          <a:spcPts val="0"/>
                        </a:spcBef>
                        <a:spcAft>
                          <a:spcPts val="0"/>
                        </a:spcAft>
                        <a:buNone/>
                      </a:pPr>
                      <a:r>
                        <a:t/>
                      </a:r>
                      <a:endParaRPr sz="800"/>
                    </a:p>
                  </a:txBody>
                  <a:tcPr marT="91425" marB="91425" marR="91425" marL="91425">
                    <a:lnL cap="flat" cmpd="sng" w="28575">
                      <a:solidFill>
                        <a:srgbClr val="FF0000"/>
                      </a:solidFill>
                      <a:prstDash val="solid"/>
                      <a:round/>
                      <a:headEnd len="sm" w="sm" type="none"/>
                      <a:tailEnd len="sm" w="sm" type="none"/>
                    </a:lnL>
                    <a:lnR cap="flat" cmpd="sng" w="2857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28575">
                      <a:solidFill>
                        <a:srgbClr val="FF0000"/>
                      </a:solidFill>
                      <a:prstDash val="solid"/>
                      <a:round/>
                      <a:headEnd len="sm" w="sm" type="none"/>
                      <a:tailEnd len="sm" w="sm" type="none"/>
                    </a:lnB>
                  </a:tcPr>
                </a:tc>
              </a:tr>
            </a:tbl>
          </a:graphicData>
        </a:graphic>
      </p:graphicFrame>
      <p:graphicFrame>
        <p:nvGraphicFramePr>
          <p:cNvPr id="189" name="Google Shape;189;p24"/>
          <p:cNvGraphicFramePr/>
          <p:nvPr/>
        </p:nvGraphicFramePr>
        <p:xfrm>
          <a:off x="5652015" y="3132246"/>
          <a:ext cx="3000000" cy="3000000"/>
        </p:xfrm>
        <a:graphic>
          <a:graphicData uri="http://schemas.openxmlformats.org/drawingml/2006/table">
            <a:tbl>
              <a:tblPr>
                <a:noFill/>
                <a:tableStyleId>{A22A7B2D-7E37-4577-AFCF-14A211495966}</a:tableStyleId>
              </a:tblPr>
              <a:tblGrid>
                <a:gridCol w="382850"/>
                <a:gridCol w="382850"/>
                <a:gridCol w="382850"/>
                <a:gridCol w="382850"/>
              </a:tblGrid>
              <a:tr h="273350">
                <a:tc>
                  <a:txBody>
                    <a:bodyPr/>
                    <a:lstStyle/>
                    <a:p>
                      <a:pPr indent="0" lvl="0" marL="0" rtl="0" algn="l">
                        <a:spcBef>
                          <a:spcPts val="0"/>
                        </a:spcBef>
                        <a:spcAft>
                          <a:spcPts val="0"/>
                        </a:spcAft>
                        <a:buNone/>
                      </a:pPr>
                      <a:r>
                        <a:rPr lang="en" sz="800"/>
                        <a:t>X00</a:t>
                      </a:r>
                      <a:endParaRPr sz="800"/>
                    </a:p>
                  </a:txBody>
                  <a:tcPr marT="91425" marB="91425" marR="91425" marL="91425"/>
                </a:tc>
                <a:tc>
                  <a:txBody>
                    <a:bodyPr/>
                    <a:lstStyle/>
                    <a:p>
                      <a:pPr indent="0" lvl="0" marL="0" rtl="0" algn="l">
                        <a:spcBef>
                          <a:spcPts val="0"/>
                        </a:spcBef>
                        <a:spcAft>
                          <a:spcPts val="0"/>
                        </a:spcAft>
                        <a:buNone/>
                      </a:pPr>
                      <a:r>
                        <a:rPr lang="en" sz="800">
                          <a:solidFill>
                            <a:schemeClr val="dk1"/>
                          </a:solidFill>
                        </a:rPr>
                        <a:t>X01</a:t>
                      </a:r>
                      <a:endParaRPr/>
                    </a:p>
                  </a:txBody>
                  <a:tcPr marT="91425" marB="91425" marR="91425" marL="91425"/>
                </a:tc>
                <a:tc>
                  <a:txBody>
                    <a:bodyPr/>
                    <a:lstStyle/>
                    <a:p>
                      <a:pPr indent="0" lvl="0" marL="0" rtl="0" algn="l">
                        <a:spcBef>
                          <a:spcPts val="0"/>
                        </a:spcBef>
                        <a:spcAft>
                          <a:spcPts val="0"/>
                        </a:spcAft>
                        <a:buNone/>
                      </a:pPr>
                      <a:r>
                        <a:rPr lang="en" sz="800">
                          <a:solidFill>
                            <a:schemeClr val="dk1"/>
                          </a:solidFill>
                        </a:rPr>
                        <a:t>X02</a:t>
                      </a:r>
                      <a:endParaRPr/>
                    </a:p>
                  </a:txBody>
                  <a:tcPr marT="91425" marB="91425" marR="91425" marL="91425"/>
                </a:tc>
                <a:tc>
                  <a:txBody>
                    <a:bodyPr/>
                    <a:lstStyle/>
                    <a:p>
                      <a:pPr indent="0" lvl="0" marL="0" rtl="0" algn="l">
                        <a:spcBef>
                          <a:spcPts val="0"/>
                        </a:spcBef>
                        <a:spcAft>
                          <a:spcPts val="0"/>
                        </a:spcAft>
                        <a:buNone/>
                      </a:pPr>
                      <a:r>
                        <a:rPr lang="en" sz="800">
                          <a:solidFill>
                            <a:schemeClr val="dk1"/>
                          </a:solidFill>
                        </a:rPr>
                        <a:t>X03</a:t>
                      </a:r>
                      <a:endParaRPr/>
                    </a:p>
                  </a:txBody>
                  <a:tcPr marT="91425" marB="91425" marR="91425" marL="91425"/>
                </a:tc>
              </a:tr>
              <a:tr h="273900">
                <a:tc>
                  <a:txBody>
                    <a:bodyPr/>
                    <a:lstStyle/>
                    <a:p>
                      <a:pPr indent="0" lvl="0" marL="0" rtl="0" algn="l">
                        <a:spcBef>
                          <a:spcPts val="0"/>
                        </a:spcBef>
                        <a:spcAft>
                          <a:spcPts val="0"/>
                        </a:spcAft>
                        <a:buNone/>
                      </a:pPr>
                      <a:r>
                        <a:rPr lang="en" sz="800">
                          <a:solidFill>
                            <a:schemeClr val="dk1"/>
                          </a:solidFill>
                        </a:rPr>
                        <a:t>X10</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X11</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X12</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X13</a:t>
                      </a:r>
                      <a:endParaRPr/>
                    </a:p>
                  </a:txBody>
                  <a:tcPr marT="91425" marB="91425" marR="91425" marL="91425"/>
                </a:tc>
              </a:tr>
              <a:tr h="323250">
                <a:tc>
                  <a:txBody>
                    <a:bodyPr/>
                    <a:lstStyle/>
                    <a:p>
                      <a:pPr indent="0" lvl="0" marL="0" rtl="0" algn="l">
                        <a:spcBef>
                          <a:spcPts val="0"/>
                        </a:spcBef>
                        <a:spcAft>
                          <a:spcPts val="0"/>
                        </a:spcAft>
                        <a:buNone/>
                      </a:pPr>
                      <a:r>
                        <a:rPr lang="en" sz="800">
                          <a:solidFill>
                            <a:schemeClr val="dk1"/>
                          </a:solidFill>
                        </a:rPr>
                        <a:t>X20</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X21</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rPr lang="en" sz="800">
                          <a:solidFill>
                            <a:schemeClr val="dk1"/>
                          </a:solidFill>
                        </a:rPr>
                        <a:t>X22</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X23</a:t>
                      </a:r>
                      <a:endParaRPr/>
                    </a:p>
                  </a:txBody>
                  <a:tcPr marT="91425" marB="91425" marR="91425" marL="91425">
                    <a:lnL cap="flat" cmpd="sng" w="9525">
                      <a:solidFill>
                        <a:srgbClr val="9E9E9E"/>
                      </a:solidFill>
                      <a:prstDash val="solid"/>
                      <a:round/>
                      <a:headEnd len="sm" w="sm" type="none"/>
                      <a:tailEnd len="sm" w="sm" type="none"/>
                    </a:lnL>
                  </a:tcPr>
                </a:tc>
              </a:tr>
              <a:tr h="355100">
                <a:tc>
                  <a:txBody>
                    <a:bodyPr/>
                    <a:lstStyle/>
                    <a:p>
                      <a:pPr indent="0" lvl="0" marL="0" rtl="0" algn="l">
                        <a:spcBef>
                          <a:spcPts val="0"/>
                        </a:spcBef>
                        <a:spcAft>
                          <a:spcPts val="0"/>
                        </a:spcAft>
                        <a:buNone/>
                      </a:pPr>
                      <a:r>
                        <a:rPr lang="en" sz="800">
                          <a:solidFill>
                            <a:schemeClr val="dk1"/>
                          </a:solidFill>
                        </a:rPr>
                        <a:t>X30</a:t>
                      </a:r>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X31</a:t>
                      </a:r>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X32</a:t>
                      </a:r>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X33</a:t>
                      </a:r>
                      <a:endParaRPr/>
                    </a:p>
                  </a:txBody>
                  <a:tcPr marT="91425" marB="91425" marR="91425" marL="91425">
                    <a:lnB cap="flat" cmpd="sng" w="9525">
                      <a:solidFill>
                        <a:srgbClr val="9E9E9E"/>
                      </a:solidFill>
                      <a:prstDash val="solid"/>
                      <a:round/>
                      <a:headEnd len="sm" w="sm" type="none"/>
                      <a:tailEnd len="sm" w="sm" type="none"/>
                    </a:lnB>
                  </a:tcPr>
                </a:tc>
              </a:tr>
              <a:tr h="355100">
                <a:tc>
                  <a:txBody>
                    <a:bodyPr/>
                    <a:lstStyle/>
                    <a:p>
                      <a:pPr indent="0" lvl="0" marL="0" rtl="0" algn="l">
                        <a:spcBef>
                          <a:spcPts val="0"/>
                        </a:spcBef>
                        <a:spcAft>
                          <a:spcPts val="0"/>
                        </a:spcAft>
                        <a:buNone/>
                      </a:pPr>
                      <a:r>
                        <a:rPr lang="en" sz="800">
                          <a:solidFill>
                            <a:schemeClr val="dk1"/>
                          </a:solidFill>
                        </a:rPr>
                        <a:t>X40</a:t>
                      </a:r>
                      <a:endParaRPr sz="800">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X41</a:t>
                      </a:r>
                      <a:endParaRPr sz="800">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X42</a:t>
                      </a:r>
                      <a:endParaRPr sz="800">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X43</a:t>
                      </a:r>
                      <a:endParaRPr sz="800">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graphicFrame>
        <p:nvGraphicFramePr>
          <p:cNvPr id="190" name="Google Shape;190;p24"/>
          <p:cNvGraphicFramePr/>
          <p:nvPr/>
        </p:nvGraphicFramePr>
        <p:xfrm>
          <a:off x="5662034" y="3473571"/>
          <a:ext cx="3000000" cy="3000000"/>
        </p:xfrm>
        <a:graphic>
          <a:graphicData uri="http://schemas.openxmlformats.org/drawingml/2006/table">
            <a:tbl>
              <a:tblPr>
                <a:noFill/>
                <a:tableStyleId>{A22A7B2D-7E37-4577-AFCF-14A211495966}</a:tableStyleId>
              </a:tblPr>
              <a:tblGrid>
                <a:gridCol w="382850"/>
                <a:gridCol w="382850"/>
                <a:gridCol w="382850"/>
              </a:tblGrid>
              <a:tr h="285800">
                <a:tc>
                  <a:txBody>
                    <a:bodyPr/>
                    <a:lstStyle/>
                    <a:p>
                      <a:pPr indent="0" lvl="0" marL="0" rtl="0" algn="l">
                        <a:spcBef>
                          <a:spcPts val="0"/>
                        </a:spcBef>
                        <a:spcAft>
                          <a:spcPts val="0"/>
                        </a:spcAft>
                        <a:buNone/>
                      </a:pPr>
                      <a:r>
                        <a:t/>
                      </a:r>
                      <a:endParaRPr sz="800"/>
                    </a:p>
                  </a:txBody>
                  <a:tcPr marT="91425" marB="91425" marR="91425" marL="91425">
                    <a:lnL cap="flat" cmpd="sng" w="28575">
                      <a:solidFill>
                        <a:srgbClr val="FF0000"/>
                      </a:solidFill>
                      <a:prstDash val="solid"/>
                      <a:round/>
                      <a:headEnd len="sm" w="sm" type="none"/>
                      <a:tailEnd len="sm" w="sm" type="none"/>
                    </a:lnL>
                    <a:lnR cap="flat" cmpd="sng" w="2857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28575">
                      <a:solidFill>
                        <a:srgbClr val="FF0000"/>
                      </a:solidFill>
                      <a:prstDash val="solid"/>
                      <a:round/>
                      <a:headEnd len="sm" w="sm" type="none"/>
                      <a:tailEnd len="sm" w="sm" type="none"/>
                    </a:lnB>
                  </a:tcPr>
                </a:tc>
                <a:tc>
                  <a:txBody>
                    <a:bodyPr/>
                    <a:lstStyle/>
                    <a:p>
                      <a:pPr indent="0" lvl="0" marL="0" rtl="0" algn="l">
                        <a:spcBef>
                          <a:spcPts val="0"/>
                        </a:spcBef>
                        <a:spcAft>
                          <a:spcPts val="0"/>
                        </a:spcAft>
                        <a:buNone/>
                      </a:pPr>
                      <a:r>
                        <a:t/>
                      </a:r>
                      <a:endParaRPr sz="800"/>
                    </a:p>
                  </a:txBody>
                  <a:tcPr marT="91425" marB="91425" marR="91425" marL="91425">
                    <a:lnL cap="flat" cmpd="sng" w="28575">
                      <a:solidFill>
                        <a:srgbClr val="FF0000"/>
                      </a:solidFill>
                      <a:prstDash val="solid"/>
                      <a:round/>
                      <a:headEnd len="sm" w="sm" type="none"/>
                      <a:tailEnd len="sm" w="sm" type="none"/>
                    </a:lnL>
                    <a:lnR cap="flat" cmpd="sng" w="2857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28575">
                      <a:solidFill>
                        <a:srgbClr val="FF0000"/>
                      </a:solidFill>
                      <a:prstDash val="solid"/>
                      <a:round/>
                      <a:headEnd len="sm" w="sm" type="none"/>
                      <a:tailEnd len="sm" w="sm" type="none"/>
                    </a:lnB>
                  </a:tcPr>
                </a:tc>
                <a:tc>
                  <a:txBody>
                    <a:bodyPr/>
                    <a:lstStyle/>
                    <a:p>
                      <a:pPr indent="0" lvl="0" marL="0" rtl="0" algn="l">
                        <a:spcBef>
                          <a:spcPts val="0"/>
                        </a:spcBef>
                        <a:spcAft>
                          <a:spcPts val="0"/>
                        </a:spcAft>
                        <a:buNone/>
                      </a:pPr>
                      <a:r>
                        <a:t/>
                      </a:r>
                      <a:endParaRPr sz="800"/>
                    </a:p>
                  </a:txBody>
                  <a:tcPr marT="91425" marB="91425" marR="91425" marL="91425">
                    <a:lnL cap="flat" cmpd="sng" w="28575">
                      <a:solidFill>
                        <a:srgbClr val="FF0000"/>
                      </a:solidFill>
                      <a:prstDash val="solid"/>
                      <a:round/>
                      <a:headEnd len="sm" w="sm" type="none"/>
                      <a:tailEnd len="sm" w="sm" type="none"/>
                    </a:lnL>
                    <a:lnR cap="flat" cmpd="sng" w="2857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28575">
                      <a:solidFill>
                        <a:srgbClr val="FF0000"/>
                      </a:solidFill>
                      <a:prstDash val="solid"/>
                      <a:round/>
                      <a:headEnd len="sm" w="sm" type="none"/>
                      <a:tailEnd len="sm" w="sm" type="none"/>
                    </a:lnB>
                  </a:tcPr>
                </a:tc>
              </a:tr>
              <a:tr h="329400">
                <a:tc>
                  <a:txBody>
                    <a:bodyPr/>
                    <a:lstStyle/>
                    <a:p>
                      <a:pPr indent="0" lvl="0" marL="0" rtl="0" algn="l">
                        <a:spcBef>
                          <a:spcPts val="0"/>
                        </a:spcBef>
                        <a:spcAft>
                          <a:spcPts val="0"/>
                        </a:spcAft>
                        <a:buNone/>
                      </a:pPr>
                      <a:r>
                        <a:t/>
                      </a:r>
                      <a:endParaRPr sz="800"/>
                    </a:p>
                  </a:txBody>
                  <a:tcPr marT="91425" marB="91425" marR="91425" marL="91425">
                    <a:lnL cap="flat" cmpd="sng" w="28575">
                      <a:solidFill>
                        <a:srgbClr val="FF0000"/>
                      </a:solidFill>
                      <a:prstDash val="solid"/>
                      <a:round/>
                      <a:headEnd len="sm" w="sm" type="none"/>
                      <a:tailEnd len="sm" w="sm" type="none"/>
                    </a:lnL>
                    <a:lnR cap="flat" cmpd="sng" w="2857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28575">
                      <a:solidFill>
                        <a:srgbClr val="FF0000"/>
                      </a:solidFill>
                      <a:prstDash val="solid"/>
                      <a:round/>
                      <a:headEnd len="sm" w="sm" type="none"/>
                      <a:tailEnd len="sm" w="sm" type="none"/>
                    </a:lnB>
                  </a:tcPr>
                </a:tc>
                <a:tc>
                  <a:txBody>
                    <a:bodyPr/>
                    <a:lstStyle/>
                    <a:p>
                      <a:pPr indent="0" lvl="0" marL="0" rtl="0" algn="l">
                        <a:spcBef>
                          <a:spcPts val="0"/>
                        </a:spcBef>
                        <a:spcAft>
                          <a:spcPts val="0"/>
                        </a:spcAft>
                        <a:buNone/>
                      </a:pPr>
                      <a:r>
                        <a:t/>
                      </a:r>
                      <a:endParaRPr sz="800"/>
                    </a:p>
                  </a:txBody>
                  <a:tcPr marT="91425" marB="91425" marR="91425" marL="91425">
                    <a:lnL cap="flat" cmpd="sng" w="28575">
                      <a:solidFill>
                        <a:srgbClr val="FF0000"/>
                      </a:solidFill>
                      <a:prstDash val="solid"/>
                      <a:round/>
                      <a:headEnd len="sm" w="sm" type="none"/>
                      <a:tailEnd len="sm" w="sm" type="none"/>
                    </a:lnL>
                    <a:lnR cap="flat" cmpd="sng" w="2857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28575">
                      <a:solidFill>
                        <a:srgbClr val="FF0000"/>
                      </a:solidFill>
                      <a:prstDash val="solid"/>
                      <a:round/>
                      <a:headEnd len="sm" w="sm" type="none"/>
                      <a:tailEnd len="sm" w="sm" type="none"/>
                    </a:lnB>
                  </a:tcPr>
                </a:tc>
                <a:tc>
                  <a:txBody>
                    <a:bodyPr/>
                    <a:lstStyle/>
                    <a:p>
                      <a:pPr indent="0" lvl="0" marL="0" rtl="0" algn="l">
                        <a:spcBef>
                          <a:spcPts val="0"/>
                        </a:spcBef>
                        <a:spcAft>
                          <a:spcPts val="0"/>
                        </a:spcAft>
                        <a:buNone/>
                      </a:pPr>
                      <a:r>
                        <a:t/>
                      </a:r>
                      <a:endParaRPr sz="800"/>
                    </a:p>
                  </a:txBody>
                  <a:tcPr marT="91425" marB="91425" marR="91425" marL="91425">
                    <a:lnL cap="flat" cmpd="sng" w="28575">
                      <a:solidFill>
                        <a:srgbClr val="FF0000"/>
                      </a:solidFill>
                      <a:prstDash val="solid"/>
                      <a:round/>
                      <a:headEnd len="sm" w="sm" type="none"/>
                      <a:tailEnd len="sm" w="sm" type="none"/>
                    </a:lnL>
                    <a:lnR cap="flat" cmpd="sng" w="2857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28575">
                      <a:solidFill>
                        <a:srgbClr val="FF0000"/>
                      </a:solidFill>
                      <a:prstDash val="solid"/>
                      <a:round/>
                      <a:headEnd len="sm" w="sm" type="none"/>
                      <a:tailEnd len="sm" w="sm" type="none"/>
                    </a:lnB>
                  </a:tcPr>
                </a:tc>
              </a:tr>
              <a:tr h="329400">
                <a:tc>
                  <a:txBody>
                    <a:bodyPr/>
                    <a:lstStyle/>
                    <a:p>
                      <a:pPr indent="0" lvl="0" marL="0" rtl="0" algn="l">
                        <a:spcBef>
                          <a:spcPts val="0"/>
                        </a:spcBef>
                        <a:spcAft>
                          <a:spcPts val="0"/>
                        </a:spcAft>
                        <a:buNone/>
                      </a:pPr>
                      <a:r>
                        <a:t/>
                      </a:r>
                      <a:endParaRPr sz="800"/>
                    </a:p>
                  </a:txBody>
                  <a:tcPr marT="91425" marB="91425" marR="91425" marL="91425">
                    <a:lnL cap="flat" cmpd="sng" w="28575">
                      <a:solidFill>
                        <a:srgbClr val="FF0000"/>
                      </a:solidFill>
                      <a:prstDash val="solid"/>
                      <a:round/>
                      <a:headEnd len="sm" w="sm" type="none"/>
                      <a:tailEnd len="sm" w="sm" type="none"/>
                    </a:lnL>
                    <a:lnR cap="flat" cmpd="sng" w="2857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28575">
                      <a:solidFill>
                        <a:srgbClr val="FF0000"/>
                      </a:solidFill>
                      <a:prstDash val="solid"/>
                      <a:round/>
                      <a:headEnd len="sm" w="sm" type="none"/>
                      <a:tailEnd len="sm" w="sm" type="none"/>
                    </a:lnB>
                  </a:tcPr>
                </a:tc>
                <a:tc>
                  <a:txBody>
                    <a:bodyPr/>
                    <a:lstStyle/>
                    <a:p>
                      <a:pPr indent="0" lvl="0" marL="0" rtl="0" algn="l">
                        <a:spcBef>
                          <a:spcPts val="0"/>
                        </a:spcBef>
                        <a:spcAft>
                          <a:spcPts val="0"/>
                        </a:spcAft>
                        <a:buNone/>
                      </a:pPr>
                      <a:r>
                        <a:t/>
                      </a:r>
                      <a:endParaRPr sz="800"/>
                    </a:p>
                  </a:txBody>
                  <a:tcPr marT="91425" marB="91425" marR="91425" marL="91425">
                    <a:lnL cap="flat" cmpd="sng" w="28575">
                      <a:solidFill>
                        <a:srgbClr val="FF0000"/>
                      </a:solidFill>
                      <a:prstDash val="solid"/>
                      <a:round/>
                      <a:headEnd len="sm" w="sm" type="none"/>
                      <a:tailEnd len="sm" w="sm" type="none"/>
                    </a:lnL>
                    <a:lnR cap="flat" cmpd="sng" w="2857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28575">
                      <a:solidFill>
                        <a:srgbClr val="FF0000"/>
                      </a:solidFill>
                      <a:prstDash val="solid"/>
                      <a:round/>
                      <a:headEnd len="sm" w="sm" type="none"/>
                      <a:tailEnd len="sm" w="sm" type="none"/>
                    </a:lnB>
                  </a:tcPr>
                </a:tc>
                <a:tc>
                  <a:txBody>
                    <a:bodyPr/>
                    <a:lstStyle/>
                    <a:p>
                      <a:pPr indent="0" lvl="0" marL="0" rtl="0" algn="l">
                        <a:spcBef>
                          <a:spcPts val="0"/>
                        </a:spcBef>
                        <a:spcAft>
                          <a:spcPts val="0"/>
                        </a:spcAft>
                        <a:buNone/>
                      </a:pPr>
                      <a:r>
                        <a:t/>
                      </a:r>
                      <a:endParaRPr sz="800"/>
                    </a:p>
                  </a:txBody>
                  <a:tcPr marT="91425" marB="91425" marR="91425" marL="91425">
                    <a:lnL cap="flat" cmpd="sng" w="28575">
                      <a:solidFill>
                        <a:srgbClr val="FF0000"/>
                      </a:solidFill>
                      <a:prstDash val="solid"/>
                      <a:round/>
                      <a:headEnd len="sm" w="sm" type="none"/>
                      <a:tailEnd len="sm" w="sm" type="none"/>
                    </a:lnL>
                    <a:lnR cap="flat" cmpd="sng" w="2857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28575">
                      <a:solidFill>
                        <a:srgbClr val="FF0000"/>
                      </a:solidFill>
                      <a:prstDash val="solid"/>
                      <a:round/>
                      <a:headEnd len="sm" w="sm" type="none"/>
                      <a:tailEnd len="sm" w="sm" type="none"/>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Convolution layer: Gradient</a:t>
            </a:r>
            <a:endParaRPr/>
          </a:p>
          <a:p>
            <a:pPr indent="0" lvl="0" marL="0" rtl="0" algn="l">
              <a:spcBef>
                <a:spcPts val="0"/>
              </a:spcBef>
              <a:spcAft>
                <a:spcPts val="0"/>
              </a:spcAft>
              <a:buNone/>
            </a:pPr>
            <a:r>
              <a:t/>
            </a:r>
            <a:endParaRPr/>
          </a:p>
        </p:txBody>
      </p:sp>
      <p:pic>
        <p:nvPicPr>
          <p:cNvPr descr="{&quot;id&quot;:&quot;12&quot;,&quot;type&quot;:&quot;gather*&quot;,&quot;code&quot;:&quot;\\begin{gather*}\n{\\text{In}\\;\\text{general,}\\;\\text{for}\\;\\text{a}\\;\\text{kernel}\\;\\text{of}\\;\\text{width}\\;\\text{and}\\;\\text{height}\\;K_{W},\\,K_{H}}\\\\\n{X_{ij}\\,\\text{will}\\;\\text{affect}\\;K_{W}\\times K_{H}\\,Y_{u,v}\\,\\text{terms}\\,}\\\\\n{\\text{Where}}\\\\\n{u:i-K_{W}+1:i}\\\\\n{v:j-K_{H}+1:j}\\\\\n{\\text{Now}\\;\\text{we}\\;\\text{need}\\;\\text{to}\\;\\text{calculate}\\;\\text{derivative}\\;\\text{of}\\;\\text{each}\\;\\text{affected}\\;Y\\,\\text{wrt}\\;X_{ij}}\\\\\n{\\text{Let's}\\;\\text{use}\\;X_{21}\\,\\text{as}\\;\\text{example}}\\\\\n{\\pdf{Y_{21}}{X_{21}}=K_{00},\\,\\pdf{Y_{00}}{X_{21}}=K_{21}}\\\\\n{\\pdf{Y_{01}}{X_{21}}=K_{20},\\,\\pdf{Y_{01}}{X_{21}}=K_{20}}\\\\\n{\\text{We}\\;\\text{can}\\;\\text{see}\\;\\text{the}\\;\\text{pattern}}\\\\\n{\\pdf{Y_{pq}}{X_{ij}}=K_{i-p,j-q}}\\\\\n{\\text{So}}\\\\\n{\\pdf{L}{X_{ij}}=\\sum_{p}^{}\\sum_{q}^{}\\pdf{L}{Y_{pq}}K_{i-p,j-q}=\\sum_{p}^{}\\sum_{q}^{}G_{pq}K_{i-p,j-q}}\\\\\n{\\text{This}\\;\\text{is}\\;\\text{also}\\;\\text{a}\\;\\text{convolution}\\;\\text{form..}}\\\\\n{\\text{Here}\\;p\\,\\text{and}\\;q\\,\\text{vary}\\;\\text{in}\\;\\text{a}\\;\\text{valid}\\;K_{H}\\times K_{W}\\,\\text{window}\\;\\text{behind}\\;X_{ij}}\\\\\n{}\t\n\\end{gather*}&quot;,&quot;font&quot;:{&quot;color&quot;:&quot;#000000&quot;,&quot;size&quot;:10,&quot;family&quot;:&quot;Arial&quot;},&quot;aid&quot;:null,&quot;backgroundColorModified&quot;:false,&quot;backgroundColor&quot;:&quot;#FFFFFF&quot;,&quot;ts&quot;:1769963734474,&quot;cs&quot;:&quot;ipFpJJUiGZr4RFfB0guR4w==&quot;,&quot;size&quot;:{&quot;width&quot;:421.3333333333333,&quot;height&quot;:389}}" id="196" name="Google Shape;196;p25"/>
          <p:cNvPicPr preferRelativeResize="0"/>
          <p:nvPr/>
        </p:nvPicPr>
        <p:blipFill>
          <a:blip r:embed="rId3">
            <a:alphaModFix/>
          </a:blip>
          <a:stretch>
            <a:fillRect/>
          </a:stretch>
        </p:blipFill>
        <p:spPr>
          <a:xfrm>
            <a:off x="603789" y="1174398"/>
            <a:ext cx="4013200" cy="37052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Convolution layer: Gradient</a:t>
            </a:r>
            <a:endParaRPr/>
          </a:p>
          <a:p>
            <a:pPr indent="0" lvl="0" marL="0" rtl="0" algn="l">
              <a:spcBef>
                <a:spcPts val="0"/>
              </a:spcBef>
              <a:spcAft>
                <a:spcPts val="0"/>
              </a:spcAft>
              <a:buNone/>
            </a:pPr>
            <a:r>
              <a:t/>
            </a:r>
            <a:endParaRPr/>
          </a:p>
        </p:txBody>
      </p:sp>
      <p:sp>
        <p:nvSpPr>
          <p:cNvPr id="202" name="Google Shape;202;p26"/>
          <p:cNvSpPr txBox="1"/>
          <p:nvPr>
            <p:ph idx="1" type="body"/>
          </p:nvPr>
        </p:nvSpPr>
        <p:spPr>
          <a:xfrm>
            <a:off x="311700" y="1152475"/>
            <a:ext cx="8520600" cy="837600"/>
          </a:xfrm>
          <a:prstGeom prst="rect">
            <a:avLst/>
          </a:prstGeom>
        </p:spPr>
        <p:txBody>
          <a:bodyPr anchorCtr="0" anchor="t" bIns="91425" lIns="91425" spcFirstLastPara="1" rIns="91425" wrap="square" tIns="91425">
            <a:normAutofit fontScale="85000"/>
          </a:bodyPr>
          <a:lstStyle/>
          <a:p>
            <a:pPr indent="0" lvl="0" marL="0" rtl="0" algn="l">
              <a:spcBef>
                <a:spcPts val="0"/>
              </a:spcBef>
              <a:spcAft>
                <a:spcPts val="1200"/>
              </a:spcAft>
              <a:buNone/>
            </a:pPr>
            <a:r>
              <a:rPr lang="en"/>
              <a:t>Could also ask the </a:t>
            </a:r>
            <a:r>
              <a:rPr lang="en"/>
              <a:t>opposite</a:t>
            </a:r>
            <a:r>
              <a:rPr lang="en"/>
              <a:t> question: Which X affect a given Y_ij, and by how much? Then accumulate the influence of that Y_ij on those X. Eg., Y21 is affected by the X in the shaded area</a:t>
            </a:r>
            <a:endParaRPr/>
          </a:p>
        </p:txBody>
      </p:sp>
      <p:graphicFrame>
        <p:nvGraphicFramePr>
          <p:cNvPr id="203" name="Google Shape;203;p26"/>
          <p:cNvGraphicFramePr/>
          <p:nvPr/>
        </p:nvGraphicFramePr>
        <p:xfrm>
          <a:off x="882747" y="2316746"/>
          <a:ext cx="3000000" cy="3000000"/>
        </p:xfrm>
        <a:graphic>
          <a:graphicData uri="http://schemas.openxmlformats.org/drawingml/2006/table">
            <a:tbl>
              <a:tblPr>
                <a:noFill/>
                <a:tableStyleId>{A22A7B2D-7E37-4577-AFCF-14A211495966}</a:tableStyleId>
              </a:tblPr>
              <a:tblGrid>
                <a:gridCol w="382850"/>
                <a:gridCol w="382850"/>
                <a:gridCol w="382850"/>
                <a:gridCol w="382850"/>
              </a:tblGrid>
              <a:tr h="273350">
                <a:tc>
                  <a:txBody>
                    <a:bodyPr/>
                    <a:lstStyle/>
                    <a:p>
                      <a:pPr indent="0" lvl="0" marL="0" rtl="0" algn="l">
                        <a:spcBef>
                          <a:spcPts val="0"/>
                        </a:spcBef>
                        <a:spcAft>
                          <a:spcPts val="0"/>
                        </a:spcAft>
                        <a:buNone/>
                      </a:pPr>
                      <a:r>
                        <a:rPr lang="en" sz="800"/>
                        <a:t>X00</a:t>
                      </a:r>
                      <a:endParaRPr sz="800"/>
                    </a:p>
                  </a:txBody>
                  <a:tcPr marT="91425" marB="91425" marR="91425" marL="91425"/>
                </a:tc>
                <a:tc>
                  <a:txBody>
                    <a:bodyPr/>
                    <a:lstStyle/>
                    <a:p>
                      <a:pPr indent="0" lvl="0" marL="0" rtl="0" algn="l">
                        <a:spcBef>
                          <a:spcPts val="0"/>
                        </a:spcBef>
                        <a:spcAft>
                          <a:spcPts val="0"/>
                        </a:spcAft>
                        <a:buNone/>
                      </a:pPr>
                      <a:r>
                        <a:rPr lang="en" sz="800">
                          <a:solidFill>
                            <a:schemeClr val="dk1"/>
                          </a:solidFill>
                        </a:rPr>
                        <a:t>X01</a:t>
                      </a:r>
                      <a:endParaRPr/>
                    </a:p>
                  </a:txBody>
                  <a:tcPr marT="91425" marB="91425" marR="91425" marL="91425"/>
                </a:tc>
                <a:tc>
                  <a:txBody>
                    <a:bodyPr/>
                    <a:lstStyle/>
                    <a:p>
                      <a:pPr indent="0" lvl="0" marL="0" rtl="0" algn="l">
                        <a:spcBef>
                          <a:spcPts val="0"/>
                        </a:spcBef>
                        <a:spcAft>
                          <a:spcPts val="0"/>
                        </a:spcAft>
                        <a:buNone/>
                      </a:pPr>
                      <a:r>
                        <a:rPr lang="en" sz="800">
                          <a:solidFill>
                            <a:schemeClr val="dk1"/>
                          </a:solidFill>
                        </a:rPr>
                        <a:t>X02</a:t>
                      </a:r>
                      <a:endParaRPr/>
                    </a:p>
                  </a:txBody>
                  <a:tcPr marT="91425" marB="91425" marR="91425" marL="91425"/>
                </a:tc>
                <a:tc>
                  <a:txBody>
                    <a:bodyPr/>
                    <a:lstStyle/>
                    <a:p>
                      <a:pPr indent="0" lvl="0" marL="0" rtl="0" algn="l">
                        <a:spcBef>
                          <a:spcPts val="0"/>
                        </a:spcBef>
                        <a:spcAft>
                          <a:spcPts val="0"/>
                        </a:spcAft>
                        <a:buNone/>
                      </a:pPr>
                      <a:r>
                        <a:rPr lang="en" sz="800">
                          <a:solidFill>
                            <a:schemeClr val="dk1"/>
                          </a:solidFill>
                        </a:rPr>
                        <a:t>X03</a:t>
                      </a:r>
                      <a:endParaRPr/>
                    </a:p>
                  </a:txBody>
                  <a:tcPr marT="91425" marB="91425" marR="91425" marL="91425"/>
                </a:tc>
              </a:tr>
              <a:tr h="273900">
                <a:tc>
                  <a:txBody>
                    <a:bodyPr/>
                    <a:lstStyle/>
                    <a:p>
                      <a:pPr indent="0" lvl="0" marL="0" rtl="0" algn="l">
                        <a:spcBef>
                          <a:spcPts val="0"/>
                        </a:spcBef>
                        <a:spcAft>
                          <a:spcPts val="0"/>
                        </a:spcAft>
                        <a:buNone/>
                      </a:pPr>
                      <a:r>
                        <a:rPr lang="en" sz="800">
                          <a:solidFill>
                            <a:schemeClr val="dk1"/>
                          </a:solidFill>
                        </a:rPr>
                        <a:t>X10</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X11</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X12</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X13</a:t>
                      </a:r>
                      <a:endParaRPr/>
                    </a:p>
                  </a:txBody>
                  <a:tcPr marT="91425" marB="91425" marR="91425" marL="91425"/>
                </a:tc>
              </a:tr>
              <a:tr h="323250">
                <a:tc>
                  <a:txBody>
                    <a:bodyPr/>
                    <a:lstStyle/>
                    <a:p>
                      <a:pPr indent="0" lvl="0" marL="0" rtl="0" algn="l">
                        <a:spcBef>
                          <a:spcPts val="0"/>
                        </a:spcBef>
                        <a:spcAft>
                          <a:spcPts val="0"/>
                        </a:spcAft>
                        <a:buNone/>
                      </a:pPr>
                      <a:r>
                        <a:rPr lang="en" sz="800">
                          <a:solidFill>
                            <a:schemeClr val="dk1"/>
                          </a:solidFill>
                        </a:rPr>
                        <a:t>X20</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X21</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rPr lang="en" sz="800">
                          <a:solidFill>
                            <a:schemeClr val="dk1"/>
                          </a:solidFill>
                        </a:rPr>
                        <a:t>X22</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rPr lang="en" sz="800">
                          <a:solidFill>
                            <a:schemeClr val="dk1"/>
                          </a:solidFill>
                        </a:rPr>
                        <a:t>X23</a:t>
                      </a:r>
                      <a:endParaRPr/>
                    </a:p>
                  </a:txBody>
                  <a:tcPr marT="91425" marB="91425" marR="91425" marL="91425">
                    <a:lnL cap="flat" cmpd="sng" w="9525">
                      <a:solidFill>
                        <a:srgbClr val="9E9E9E"/>
                      </a:solidFill>
                      <a:prstDash val="solid"/>
                      <a:round/>
                      <a:headEnd len="sm" w="sm" type="none"/>
                      <a:tailEnd len="sm" w="sm" type="none"/>
                    </a:lnL>
                    <a:solidFill>
                      <a:srgbClr val="B7B7B7"/>
                    </a:solidFill>
                  </a:tcPr>
                </a:tc>
              </a:tr>
              <a:tr h="355100">
                <a:tc>
                  <a:txBody>
                    <a:bodyPr/>
                    <a:lstStyle/>
                    <a:p>
                      <a:pPr indent="0" lvl="0" marL="0" rtl="0" algn="l">
                        <a:spcBef>
                          <a:spcPts val="0"/>
                        </a:spcBef>
                        <a:spcAft>
                          <a:spcPts val="0"/>
                        </a:spcAft>
                        <a:buNone/>
                      </a:pPr>
                      <a:r>
                        <a:rPr lang="en" sz="800">
                          <a:solidFill>
                            <a:schemeClr val="dk1"/>
                          </a:solidFill>
                        </a:rPr>
                        <a:t>X30</a:t>
                      </a:r>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X31</a:t>
                      </a:r>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rPr lang="en" sz="800">
                          <a:solidFill>
                            <a:schemeClr val="dk1"/>
                          </a:solidFill>
                        </a:rPr>
                        <a:t>X32</a:t>
                      </a:r>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rPr lang="en" sz="800">
                          <a:solidFill>
                            <a:schemeClr val="dk1"/>
                          </a:solidFill>
                        </a:rPr>
                        <a:t>X33</a:t>
                      </a:r>
                      <a:endParaRPr/>
                    </a:p>
                  </a:txBody>
                  <a:tcPr marT="91425" marB="91425" marR="91425" marL="91425">
                    <a:lnB cap="flat" cmpd="sng" w="9525">
                      <a:solidFill>
                        <a:srgbClr val="9E9E9E"/>
                      </a:solidFill>
                      <a:prstDash val="solid"/>
                      <a:round/>
                      <a:headEnd len="sm" w="sm" type="none"/>
                      <a:tailEnd len="sm" w="sm" type="none"/>
                    </a:lnB>
                    <a:solidFill>
                      <a:srgbClr val="B7B7B7"/>
                    </a:solidFill>
                  </a:tcPr>
                </a:tc>
              </a:tr>
              <a:tr h="355100">
                <a:tc>
                  <a:txBody>
                    <a:bodyPr/>
                    <a:lstStyle/>
                    <a:p>
                      <a:pPr indent="0" lvl="0" marL="0" rtl="0" algn="l">
                        <a:spcBef>
                          <a:spcPts val="0"/>
                        </a:spcBef>
                        <a:spcAft>
                          <a:spcPts val="0"/>
                        </a:spcAft>
                        <a:buNone/>
                      </a:pPr>
                      <a:r>
                        <a:rPr lang="en" sz="800">
                          <a:solidFill>
                            <a:schemeClr val="dk1"/>
                          </a:solidFill>
                        </a:rPr>
                        <a:t>X40</a:t>
                      </a:r>
                      <a:endParaRPr sz="800">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X41</a:t>
                      </a:r>
                      <a:endParaRPr sz="800">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rPr lang="en" sz="800">
                          <a:solidFill>
                            <a:schemeClr val="dk1"/>
                          </a:solidFill>
                        </a:rPr>
                        <a:t>X42</a:t>
                      </a:r>
                      <a:endParaRPr sz="800">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rPr lang="en" sz="800">
                          <a:solidFill>
                            <a:schemeClr val="dk1"/>
                          </a:solidFill>
                        </a:rPr>
                        <a:t>X43</a:t>
                      </a:r>
                      <a:endParaRPr sz="800">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B7B7B7"/>
                    </a:solidFill>
                  </a:tcPr>
                </a:tc>
              </a:tr>
            </a:tbl>
          </a:graphicData>
        </a:graphic>
      </p:graphicFrame>
      <p:pic>
        <p:nvPicPr>
          <p:cNvPr descr="{&quot;backgroundColor&quot;:&quot;#FFFFFF&quot;,&quot;backgroundColorModified&quot;:false,&quot;code&quot;:&quot;\\begin{gather*}\n{Y_{ij}=\\sum_{u=0}^{K_{H}}\\sum_{v=0}^{K_{W}}X_{i+u,j+v}K_{u,v}}\\\\\n{\\pdf{Y_{ij}}{X_{i+u,j+v}}=K_{u,v}}\\\\\n{\\text{So}\\;\\text{we}\\;\\text{can}\\;\\text{loop}\\;\\text{over}\\;G_{ij}=\\pdf{L}{Y_{ij}}\\,\\text{and}\\;\\text{accumulate}\\;}\\\\\n{G_{ij}K_{uv}\\,\\text{in}\\;\\text{a}\\;K_{H}\\times\\,K_{W}\\,\\text{window}\\;\\text{around}\\;Y_{ij}!\\,}\\\\\n{\\text{This}\\;\\text{results}\\;\\text{in}\\;\\text{a}\\;\\text{much}\\;\\text{simpler}\\;\\text{implementation}}\t\n\\end{gather*}&quot;,&quot;font&quot;:{&quot;size&quot;:12,&quot;family&quot;:&quot;Arial&quot;,&quot;color&quot;:&quot;#000000&quot;},&quot;id&quot;:&quot;14&quot;,&quot;aid&quot;:null,&quot;type&quot;:&quot;gather*&quot;,&quot;ts&quot;:1769972950744,&quot;cs&quot;:&quot;QI33rThyaS1NPa5OyIUGIQ==&quot;,&quot;size&quot;:{&quot;width&quot;:388.3333333333333,&quot;height&quot;:205.33333333333334}}" id="204" name="Google Shape;204;p26"/>
          <p:cNvPicPr preferRelativeResize="0"/>
          <p:nvPr/>
        </p:nvPicPr>
        <p:blipFill>
          <a:blip r:embed="rId3">
            <a:alphaModFix/>
          </a:blip>
          <a:stretch>
            <a:fillRect/>
          </a:stretch>
        </p:blipFill>
        <p:spPr>
          <a:xfrm>
            <a:off x="3731700" y="2160325"/>
            <a:ext cx="3698875" cy="19558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Multiple Input and Output Channels</a:t>
            </a:r>
            <a:endParaRPr/>
          </a:p>
        </p:txBody>
      </p:sp>
      <p:pic>
        <p:nvPicPr>
          <p:cNvPr descr="{&quot;code&quot;:&quot;$$\\iddots$$&quot;,&quot;id&quot;:&quot;2&quot;,&quot;font&quot;:{&quot;size&quot;:18,&quot;color&quot;:&quot;#000000&quot;,&quot;family&quot;:&quot;Arial&quot;},&quot;type&quot;:&quot;$$&quot;,&quot;aid&quot;:null,&quot;backgroundColorModified&quot;:false,&quot;backgroundColor&quot;:&quot;#FFFFFF&quot;,&quot;ts&quot;:1769965248276,&quot;cs&quot;:&quot;G9cK/NP4kD0RPddL6cmxLQ==&quot;,&quot;size&quot;:{&quot;width&quot;:27.30184409448819,&quot;height&quot;:27.044940944881883}}" id="210" name="Google Shape;210;p27"/>
          <p:cNvPicPr preferRelativeResize="0"/>
          <p:nvPr/>
        </p:nvPicPr>
        <p:blipFill>
          <a:blip r:embed="rId3">
            <a:alphaModFix/>
          </a:blip>
          <a:stretch>
            <a:fillRect/>
          </a:stretch>
        </p:blipFill>
        <p:spPr>
          <a:xfrm>
            <a:off x="1393700" y="1096425"/>
            <a:ext cx="260050" cy="257603"/>
          </a:xfrm>
          <a:prstGeom prst="rect">
            <a:avLst/>
          </a:prstGeom>
          <a:noFill/>
          <a:ln>
            <a:noFill/>
          </a:ln>
        </p:spPr>
      </p:pic>
      <p:sp>
        <p:nvSpPr>
          <p:cNvPr id="211" name="Google Shape;211;p27"/>
          <p:cNvSpPr/>
          <p:nvPr/>
        </p:nvSpPr>
        <p:spPr>
          <a:xfrm>
            <a:off x="1048146" y="1585000"/>
            <a:ext cx="1869900" cy="1380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2" name="Google Shape;212;p27"/>
          <p:cNvSpPr/>
          <p:nvPr/>
        </p:nvSpPr>
        <p:spPr>
          <a:xfrm>
            <a:off x="1048146" y="1585000"/>
            <a:ext cx="443100" cy="443100"/>
          </a:xfrm>
          <a:prstGeom prst="rect">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3" name="Google Shape;213;p27"/>
          <p:cNvSpPr/>
          <p:nvPr/>
        </p:nvSpPr>
        <p:spPr>
          <a:xfrm>
            <a:off x="1315975" y="1377250"/>
            <a:ext cx="1869900" cy="1380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4" name="Google Shape;214;p27"/>
          <p:cNvSpPr/>
          <p:nvPr/>
        </p:nvSpPr>
        <p:spPr>
          <a:xfrm>
            <a:off x="1315975" y="1377250"/>
            <a:ext cx="443100" cy="443100"/>
          </a:xfrm>
          <a:prstGeom prst="rect">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5" name="Google Shape;215;p27"/>
          <p:cNvSpPr/>
          <p:nvPr/>
        </p:nvSpPr>
        <p:spPr>
          <a:xfrm>
            <a:off x="1694600" y="1063325"/>
            <a:ext cx="1869900" cy="1380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6" name="Google Shape;216;p27"/>
          <p:cNvSpPr/>
          <p:nvPr/>
        </p:nvSpPr>
        <p:spPr>
          <a:xfrm>
            <a:off x="1692275" y="1065961"/>
            <a:ext cx="443100" cy="443100"/>
          </a:xfrm>
          <a:prstGeom prst="rect">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7" name="Google Shape;217;p27"/>
          <p:cNvSpPr txBox="1"/>
          <p:nvPr/>
        </p:nvSpPr>
        <p:spPr>
          <a:xfrm>
            <a:off x="1315975" y="2416100"/>
            <a:ext cx="4155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rPr>
              <a:t>c2</a:t>
            </a:r>
            <a:endParaRPr sz="1200">
              <a:solidFill>
                <a:schemeClr val="dk2"/>
              </a:solidFill>
            </a:endParaRPr>
          </a:p>
        </p:txBody>
      </p:sp>
      <p:sp>
        <p:nvSpPr>
          <p:cNvPr id="218" name="Google Shape;218;p27"/>
          <p:cNvSpPr txBox="1"/>
          <p:nvPr/>
        </p:nvSpPr>
        <p:spPr>
          <a:xfrm>
            <a:off x="1071175" y="2674700"/>
            <a:ext cx="4155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rPr>
              <a:t>c1</a:t>
            </a:r>
            <a:endParaRPr sz="1200">
              <a:solidFill>
                <a:schemeClr val="dk2"/>
              </a:solidFill>
            </a:endParaRPr>
          </a:p>
        </p:txBody>
      </p:sp>
      <p:sp>
        <p:nvSpPr>
          <p:cNvPr id="219" name="Google Shape;219;p27"/>
          <p:cNvSpPr txBox="1"/>
          <p:nvPr/>
        </p:nvSpPr>
        <p:spPr>
          <a:xfrm>
            <a:off x="1708400" y="2090650"/>
            <a:ext cx="4155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rPr>
              <a:t>cn</a:t>
            </a:r>
            <a:endParaRPr sz="1200">
              <a:solidFill>
                <a:schemeClr val="dk2"/>
              </a:solidFill>
            </a:endParaRPr>
          </a:p>
        </p:txBody>
      </p:sp>
      <p:sp>
        <p:nvSpPr>
          <p:cNvPr id="220" name="Google Shape;220;p27"/>
          <p:cNvSpPr txBox="1"/>
          <p:nvPr/>
        </p:nvSpPr>
        <p:spPr>
          <a:xfrm>
            <a:off x="978875" y="1721350"/>
            <a:ext cx="480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rPr>
              <a:t>k</a:t>
            </a:r>
            <a:r>
              <a:rPr lang="en" sz="1200">
                <a:solidFill>
                  <a:schemeClr val="dk2"/>
                </a:solidFill>
              </a:rPr>
              <a:t>11</a:t>
            </a:r>
            <a:endParaRPr sz="1200">
              <a:solidFill>
                <a:schemeClr val="dk2"/>
              </a:solidFill>
            </a:endParaRPr>
          </a:p>
        </p:txBody>
      </p:sp>
      <p:sp>
        <p:nvSpPr>
          <p:cNvPr id="221" name="Google Shape;221;p27"/>
          <p:cNvSpPr txBox="1"/>
          <p:nvPr/>
        </p:nvSpPr>
        <p:spPr>
          <a:xfrm>
            <a:off x="1251175" y="1506425"/>
            <a:ext cx="480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rPr>
              <a:t>k21</a:t>
            </a:r>
            <a:endParaRPr sz="1200">
              <a:solidFill>
                <a:schemeClr val="dk2"/>
              </a:solidFill>
            </a:endParaRPr>
          </a:p>
        </p:txBody>
      </p:sp>
      <p:sp>
        <p:nvSpPr>
          <p:cNvPr id="222" name="Google Shape;222;p27"/>
          <p:cNvSpPr txBox="1"/>
          <p:nvPr/>
        </p:nvSpPr>
        <p:spPr>
          <a:xfrm>
            <a:off x="1673675" y="1192525"/>
            <a:ext cx="480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rPr>
              <a:t>kn1</a:t>
            </a:r>
            <a:endParaRPr sz="1200">
              <a:solidFill>
                <a:schemeClr val="dk2"/>
              </a:solidFill>
            </a:endParaRPr>
          </a:p>
        </p:txBody>
      </p:sp>
      <p:sp>
        <p:nvSpPr>
          <p:cNvPr id="223" name="Google Shape;223;p27"/>
          <p:cNvSpPr txBox="1"/>
          <p:nvPr/>
        </p:nvSpPr>
        <p:spPr>
          <a:xfrm>
            <a:off x="4331825" y="2301013"/>
            <a:ext cx="4080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rPr>
              <a:t>O1 = conv(c1,k11) + </a:t>
            </a:r>
            <a:r>
              <a:rPr lang="en" sz="1200">
                <a:solidFill>
                  <a:schemeClr val="dk2"/>
                </a:solidFill>
              </a:rPr>
              <a:t>conv(c2,k21) + conv(cn,kn1)+b1</a:t>
            </a:r>
            <a:endParaRPr sz="1200">
              <a:solidFill>
                <a:schemeClr val="dk2"/>
              </a:solidFill>
            </a:endParaRPr>
          </a:p>
        </p:txBody>
      </p:sp>
      <p:sp>
        <p:nvSpPr>
          <p:cNvPr id="224" name="Google Shape;224;p27"/>
          <p:cNvSpPr/>
          <p:nvPr/>
        </p:nvSpPr>
        <p:spPr>
          <a:xfrm>
            <a:off x="978871" y="3718250"/>
            <a:ext cx="1869900" cy="1380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5" name="Google Shape;225;p27"/>
          <p:cNvSpPr/>
          <p:nvPr/>
        </p:nvSpPr>
        <p:spPr>
          <a:xfrm>
            <a:off x="978871" y="3718250"/>
            <a:ext cx="443100" cy="443100"/>
          </a:xfrm>
          <a:prstGeom prst="rect">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6" name="Google Shape;226;p27"/>
          <p:cNvSpPr/>
          <p:nvPr/>
        </p:nvSpPr>
        <p:spPr>
          <a:xfrm>
            <a:off x="1246700" y="3510500"/>
            <a:ext cx="1869900" cy="1380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7" name="Google Shape;227;p27"/>
          <p:cNvSpPr/>
          <p:nvPr/>
        </p:nvSpPr>
        <p:spPr>
          <a:xfrm>
            <a:off x="1246700" y="3510500"/>
            <a:ext cx="443100" cy="443100"/>
          </a:xfrm>
          <a:prstGeom prst="rect">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8" name="Google Shape;228;p27"/>
          <p:cNvSpPr/>
          <p:nvPr/>
        </p:nvSpPr>
        <p:spPr>
          <a:xfrm>
            <a:off x="1625325" y="3196575"/>
            <a:ext cx="1869900" cy="1380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9" name="Google Shape;229;p27"/>
          <p:cNvSpPr/>
          <p:nvPr/>
        </p:nvSpPr>
        <p:spPr>
          <a:xfrm>
            <a:off x="1625325" y="3196575"/>
            <a:ext cx="443100" cy="443100"/>
          </a:xfrm>
          <a:prstGeom prst="rect">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0" name="Google Shape;230;p27"/>
          <p:cNvSpPr txBox="1"/>
          <p:nvPr/>
        </p:nvSpPr>
        <p:spPr>
          <a:xfrm>
            <a:off x="1246700" y="4549350"/>
            <a:ext cx="4155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rPr>
              <a:t>c2</a:t>
            </a:r>
            <a:endParaRPr sz="1200">
              <a:solidFill>
                <a:schemeClr val="dk2"/>
              </a:solidFill>
            </a:endParaRPr>
          </a:p>
        </p:txBody>
      </p:sp>
      <p:sp>
        <p:nvSpPr>
          <p:cNvPr id="231" name="Google Shape;231;p27"/>
          <p:cNvSpPr txBox="1"/>
          <p:nvPr/>
        </p:nvSpPr>
        <p:spPr>
          <a:xfrm>
            <a:off x="1001900" y="4807950"/>
            <a:ext cx="4155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rPr>
              <a:t>c1</a:t>
            </a:r>
            <a:endParaRPr sz="1200">
              <a:solidFill>
                <a:schemeClr val="dk2"/>
              </a:solidFill>
            </a:endParaRPr>
          </a:p>
        </p:txBody>
      </p:sp>
      <p:sp>
        <p:nvSpPr>
          <p:cNvPr id="232" name="Google Shape;232;p27"/>
          <p:cNvSpPr txBox="1"/>
          <p:nvPr/>
        </p:nvSpPr>
        <p:spPr>
          <a:xfrm>
            <a:off x="1639125" y="4223900"/>
            <a:ext cx="4155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rPr>
              <a:t>cn</a:t>
            </a:r>
            <a:endParaRPr sz="1200">
              <a:solidFill>
                <a:schemeClr val="dk2"/>
              </a:solidFill>
            </a:endParaRPr>
          </a:p>
        </p:txBody>
      </p:sp>
      <p:sp>
        <p:nvSpPr>
          <p:cNvPr id="233" name="Google Shape;233;p27"/>
          <p:cNvSpPr txBox="1"/>
          <p:nvPr/>
        </p:nvSpPr>
        <p:spPr>
          <a:xfrm>
            <a:off x="886500" y="3842975"/>
            <a:ext cx="480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rPr>
              <a:t>k1m</a:t>
            </a:r>
            <a:endParaRPr sz="1200">
              <a:solidFill>
                <a:schemeClr val="dk2"/>
              </a:solidFill>
            </a:endParaRPr>
          </a:p>
        </p:txBody>
      </p:sp>
      <p:sp>
        <p:nvSpPr>
          <p:cNvPr id="234" name="Google Shape;234;p27"/>
          <p:cNvSpPr txBox="1"/>
          <p:nvPr/>
        </p:nvSpPr>
        <p:spPr>
          <a:xfrm>
            <a:off x="1181900" y="3639675"/>
            <a:ext cx="480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rPr>
              <a:t>k2m</a:t>
            </a:r>
            <a:endParaRPr sz="1200">
              <a:solidFill>
                <a:schemeClr val="dk2"/>
              </a:solidFill>
            </a:endParaRPr>
          </a:p>
        </p:txBody>
      </p:sp>
      <p:sp>
        <p:nvSpPr>
          <p:cNvPr id="235" name="Google Shape;235;p27"/>
          <p:cNvSpPr txBox="1"/>
          <p:nvPr/>
        </p:nvSpPr>
        <p:spPr>
          <a:xfrm>
            <a:off x="1574325" y="3293400"/>
            <a:ext cx="480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rPr>
              <a:t>knm</a:t>
            </a:r>
            <a:endParaRPr sz="1200">
              <a:solidFill>
                <a:schemeClr val="dk2"/>
              </a:solidFill>
            </a:endParaRPr>
          </a:p>
        </p:txBody>
      </p:sp>
      <p:sp>
        <p:nvSpPr>
          <p:cNvPr id="236" name="Google Shape;236;p27"/>
          <p:cNvSpPr txBox="1"/>
          <p:nvPr/>
        </p:nvSpPr>
        <p:spPr>
          <a:xfrm>
            <a:off x="4364150" y="3953600"/>
            <a:ext cx="4080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rPr>
              <a:t>Om = conv(c1,k1m) + conv(c2,k2m) + conv(cn,knm)+bm</a:t>
            </a:r>
            <a:endParaRPr sz="1200">
              <a:solidFill>
                <a:schemeClr val="dk2"/>
              </a:solidFill>
            </a:endParaRPr>
          </a:p>
        </p:txBody>
      </p:sp>
      <p:sp>
        <p:nvSpPr>
          <p:cNvPr id="237" name="Google Shape;237;p27"/>
          <p:cNvSpPr txBox="1"/>
          <p:nvPr/>
        </p:nvSpPr>
        <p:spPr>
          <a:xfrm>
            <a:off x="4010400" y="1100250"/>
            <a:ext cx="49728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rPr>
              <a:t>In general, we’ll have </a:t>
            </a:r>
            <a:r>
              <a:rPr i="1" lang="en" sz="1200">
                <a:solidFill>
                  <a:schemeClr val="dk2"/>
                </a:solidFill>
              </a:rPr>
              <a:t>n </a:t>
            </a:r>
            <a:r>
              <a:rPr lang="en" sz="1200">
                <a:solidFill>
                  <a:schemeClr val="dk2"/>
                </a:solidFill>
              </a:rPr>
              <a:t>input feature maps, and </a:t>
            </a:r>
            <a:r>
              <a:rPr i="1" lang="en" sz="1200">
                <a:solidFill>
                  <a:schemeClr val="dk2"/>
                </a:solidFill>
              </a:rPr>
              <a:t>m </a:t>
            </a:r>
            <a:r>
              <a:rPr lang="en" sz="1200">
                <a:solidFill>
                  <a:schemeClr val="dk2"/>
                </a:solidFill>
              </a:rPr>
              <a:t>output feature maps. We’ll have </a:t>
            </a:r>
            <a:r>
              <a:rPr i="1" lang="en" sz="1200">
                <a:solidFill>
                  <a:schemeClr val="dk2"/>
                </a:solidFill>
              </a:rPr>
              <a:t>n</a:t>
            </a:r>
            <a:r>
              <a:rPr lang="en" sz="1200">
                <a:solidFill>
                  <a:schemeClr val="dk2"/>
                </a:solidFill>
              </a:rPr>
              <a:t> times </a:t>
            </a:r>
            <a:r>
              <a:rPr i="1" lang="en" sz="1200">
                <a:solidFill>
                  <a:schemeClr val="dk2"/>
                </a:solidFill>
              </a:rPr>
              <a:t>m</a:t>
            </a:r>
            <a:r>
              <a:rPr lang="en" sz="1200">
                <a:solidFill>
                  <a:schemeClr val="dk2"/>
                </a:solidFill>
              </a:rPr>
              <a:t> convolution kernels, with each kernel a </a:t>
            </a:r>
            <a:r>
              <a:rPr i="1" lang="en" sz="1200">
                <a:solidFill>
                  <a:schemeClr val="dk2"/>
                </a:solidFill>
              </a:rPr>
              <a:t>KH</a:t>
            </a:r>
            <a:r>
              <a:rPr lang="en" sz="1200">
                <a:solidFill>
                  <a:schemeClr val="dk2"/>
                </a:solidFill>
              </a:rPr>
              <a:t> times </a:t>
            </a:r>
            <a:r>
              <a:rPr i="1" lang="en" sz="1200">
                <a:solidFill>
                  <a:schemeClr val="dk2"/>
                </a:solidFill>
              </a:rPr>
              <a:t>KW</a:t>
            </a:r>
            <a:r>
              <a:rPr lang="en" sz="1200">
                <a:solidFill>
                  <a:schemeClr val="dk2"/>
                </a:solidFill>
              </a:rPr>
              <a:t> window. There is usually also a trainable bias parameter. The output </a:t>
            </a:r>
            <a:r>
              <a:rPr lang="en" sz="1200">
                <a:solidFill>
                  <a:schemeClr val="dk2"/>
                </a:solidFill>
              </a:rPr>
              <a:t>maps</a:t>
            </a:r>
            <a:r>
              <a:rPr lang="en" sz="1200">
                <a:solidFill>
                  <a:schemeClr val="dk2"/>
                </a:solidFill>
              </a:rPr>
              <a:t> are calculated by convolving and accumulating the input feature map with the corresponding kernel, and adding the bias</a:t>
            </a:r>
            <a:endParaRPr sz="1200">
              <a:solidFill>
                <a:schemeClr val="dk2"/>
              </a:solidFill>
            </a:endParaRPr>
          </a:p>
        </p:txBody>
      </p:sp>
      <p:pic>
        <p:nvPicPr>
          <p:cNvPr descr="{&quot;code&quot;:&quot;$$\\iddots$$&quot;,&quot;id&quot;:&quot;2&quot;,&quot;font&quot;:{&quot;size&quot;:18,&quot;color&quot;:&quot;#000000&quot;,&quot;family&quot;:&quot;Arial&quot;},&quot;type&quot;:&quot;$$&quot;,&quot;aid&quot;:null,&quot;backgroundColorModified&quot;:false,&quot;backgroundColor&quot;:&quot;#FFFFFF&quot;,&quot;ts&quot;:1769965252763,&quot;cs&quot;:&quot;0papIb4MhwAZVrN/Kvf4nw==&quot;,&quot;size&quot;:{&quot;width&quot;:27.30184409448819,&quot;height&quot;:27.044940944881883}}" id="238" name="Google Shape;238;p27"/>
          <p:cNvPicPr preferRelativeResize="0"/>
          <p:nvPr/>
        </p:nvPicPr>
        <p:blipFill>
          <a:blip r:embed="rId3">
            <a:alphaModFix/>
          </a:blip>
          <a:stretch>
            <a:fillRect/>
          </a:stretch>
        </p:blipFill>
        <p:spPr>
          <a:xfrm>
            <a:off x="1338225" y="3213038"/>
            <a:ext cx="260050" cy="257603"/>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1-D convolutions</a:t>
            </a:r>
            <a:endParaRPr/>
          </a:p>
        </p:txBody>
      </p:sp>
      <p:pic>
        <p:nvPicPr>
          <p:cNvPr id="244" name="Google Shape;244;p28"/>
          <p:cNvPicPr preferRelativeResize="0"/>
          <p:nvPr/>
        </p:nvPicPr>
        <p:blipFill>
          <a:blip r:embed="rId3">
            <a:alphaModFix/>
          </a:blip>
          <a:stretch>
            <a:fillRect/>
          </a:stretch>
        </p:blipFill>
        <p:spPr>
          <a:xfrm>
            <a:off x="387875" y="1017725"/>
            <a:ext cx="6428942" cy="3820975"/>
          </a:xfrm>
          <a:prstGeom prst="rect">
            <a:avLst/>
          </a:prstGeom>
          <a:noFill/>
          <a:ln>
            <a:noFill/>
          </a:ln>
        </p:spPr>
      </p:pic>
      <p:sp>
        <p:nvSpPr>
          <p:cNvPr id="245" name="Google Shape;245;p28"/>
          <p:cNvSpPr txBox="1"/>
          <p:nvPr/>
        </p:nvSpPr>
        <p:spPr>
          <a:xfrm>
            <a:off x="687950" y="4743300"/>
            <a:ext cx="6265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rPr>
              <a:t>Src: https://cs231n.stanford.edu/slides/2025/lecture_5.pdf</a:t>
            </a:r>
            <a:endParaRPr>
              <a:solidFill>
                <a:schemeClr val="dk2"/>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graphicFrame>
        <p:nvGraphicFramePr>
          <p:cNvPr id="250" name="Google Shape;250;p29"/>
          <p:cNvGraphicFramePr/>
          <p:nvPr/>
        </p:nvGraphicFramePr>
        <p:xfrm>
          <a:off x="468243" y="1146278"/>
          <a:ext cx="3000000" cy="3000000"/>
        </p:xfrm>
        <a:graphic>
          <a:graphicData uri="http://schemas.openxmlformats.org/drawingml/2006/table">
            <a:tbl>
              <a:tblPr>
                <a:noFill/>
                <a:tableStyleId>{A22A7B2D-7E37-4577-AFCF-14A211495966}</a:tableStyleId>
              </a:tblPr>
              <a:tblGrid>
                <a:gridCol w="382850"/>
                <a:gridCol w="382850"/>
                <a:gridCol w="382850"/>
                <a:gridCol w="382850"/>
                <a:gridCol w="382850"/>
              </a:tblGrid>
              <a:tr h="295550">
                <a:tc>
                  <a:txBody>
                    <a:bodyPr/>
                    <a:lstStyle/>
                    <a:p>
                      <a:pPr indent="0" lvl="0" marL="0" rtl="0" algn="l">
                        <a:spcBef>
                          <a:spcPts val="0"/>
                        </a:spcBef>
                        <a:spcAft>
                          <a:spcPts val="0"/>
                        </a:spcAft>
                        <a:buNone/>
                      </a:pPr>
                      <a:r>
                        <a:t/>
                      </a:r>
                      <a:endParaRPr/>
                    </a:p>
                  </a:txBody>
                  <a:tcPr marT="91425" marB="91425" marR="91425" marL="91425">
                    <a:lnB cap="flat" cmpd="sng" w="9525">
                      <a:solidFill>
                        <a:srgbClr val="9E9E9E"/>
                      </a:solidFill>
                      <a:prstDash val="solid"/>
                      <a:round/>
                      <a:headEnd len="sm" w="sm" type="none"/>
                      <a:tailEnd len="sm" w="sm" type="none"/>
                    </a:lnB>
                    <a:solidFill>
                      <a:srgbClr val="CCCCCC"/>
                    </a:solidFill>
                  </a:tcPr>
                </a:tc>
                <a:tc>
                  <a:txBody>
                    <a:bodyPr/>
                    <a:lstStyle/>
                    <a:p>
                      <a:pPr indent="0" lvl="0" marL="0" rtl="0" algn="l">
                        <a:spcBef>
                          <a:spcPts val="0"/>
                        </a:spcBef>
                        <a:spcAft>
                          <a:spcPts val="0"/>
                        </a:spcAft>
                        <a:buNone/>
                      </a:pPr>
                      <a:r>
                        <a:t/>
                      </a:r>
                      <a:endParaRPr/>
                    </a:p>
                  </a:txBody>
                  <a:tcPr marT="91425" marB="91425" marR="91425" marL="91425">
                    <a:lnB cap="flat" cmpd="sng" w="9525">
                      <a:solidFill>
                        <a:srgbClr val="666666"/>
                      </a:solidFill>
                      <a:prstDash val="solid"/>
                      <a:round/>
                      <a:headEnd len="sm" w="sm" type="none"/>
                      <a:tailEnd len="sm" w="sm" type="none"/>
                    </a:lnB>
                    <a:solidFill>
                      <a:srgbClr val="CCCCCC"/>
                    </a:solidFill>
                  </a:tcPr>
                </a:tc>
                <a:tc>
                  <a:txBody>
                    <a:bodyPr/>
                    <a:lstStyle/>
                    <a:p>
                      <a:pPr indent="0" lvl="0" marL="0" rtl="0" algn="l">
                        <a:spcBef>
                          <a:spcPts val="0"/>
                        </a:spcBef>
                        <a:spcAft>
                          <a:spcPts val="0"/>
                        </a:spcAft>
                        <a:buNone/>
                      </a:pPr>
                      <a:r>
                        <a:t/>
                      </a:r>
                      <a:endParaRPr/>
                    </a:p>
                  </a:txBody>
                  <a:tcPr marT="91425" marB="91425" marR="91425" marL="91425">
                    <a:lnB cap="flat" cmpd="sng" w="9525">
                      <a:solidFill>
                        <a:srgbClr val="9E9E9E"/>
                      </a:solidFill>
                      <a:prstDash val="solid"/>
                      <a:round/>
                      <a:headEnd len="sm" w="sm" type="none"/>
                      <a:tailEnd len="sm" w="sm" type="none"/>
                    </a:lnB>
                    <a:solidFill>
                      <a:srgbClr val="CCCCCC"/>
                    </a:solidFill>
                  </a:tcPr>
                </a:tc>
                <a:tc>
                  <a:txBody>
                    <a:bodyPr/>
                    <a:lstStyle/>
                    <a:p>
                      <a:pPr indent="0" lvl="0" marL="0" rtl="0" algn="l">
                        <a:spcBef>
                          <a:spcPts val="0"/>
                        </a:spcBef>
                        <a:spcAft>
                          <a:spcPts val="0"/>
                        </a:spcAft>
                        <a:buNone/>
                      </a:pPr>
                      <a:r>
                        <a:t/>
                      </a:r>
                      <a:endParaRPr/>
                    </a:p>
                  </a:txBody>
                  <a:tcPr marT="91425" marB="91425" marR="91425" marL="91425">
                    <a:lnB cap="flat" cmpd="sng" w="9525">
                      <a:solidFill>
                        <a:srgbClr val="9E9E9E"/>
                      </a:solidFill>
                      <a:prstDash val="solid"/>
                      <a:round/>
                      <a:headEnd len="sm" w="sm" type="none"/>
                      <a:tailEnd len="sm" w="sm" type="none"/>
                    </a:lnB>
                    <a:solidFill>
                      <a:srgbClr val="CCCCCC"/>
                    </a:solidFill>
                  </a:tcPr>
                </a:tc>
                <a:tc>
                  <a:txBody>
                    <a:bodyPr/>
                    <a:lstStyle/>
                    <a:p>
                      <a:pPr indent="0" lvl="0" marL="0" rtl="0" algn="l">
                        <a:spcBef>
                          <a:spcPts val="0"/>
                        </a:spcBef>
                        <a:spcAft>
                          <a:spcPts val="0"/>
                        </a:spcAft>
                        <a:buNone/>
                      </a:pPr>
                      <a:r>
                        <a:t/>
                      </a:r>
                      <a:endParaRPr/>
                    </a:p>
                  </a:txBody>
                  <a:tcPr marT="91425" marB="91425" marR="91425" marL="91425">
                    <a:solidFill>
                      <a:srgbClr val="CCCCCC"/>
                    </a:solidFill>
                  </a:tcPr>
                </a:tc>
              </a:tr>
              <a:tr h="295550">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l">
                        <a:spcBef>
                          <a:spcPts val="0"/>
                        </a:spcBef>
                        <a:spcAft>
                          <a:spcPts val="0"/>
                        </a:spcAft>
                        <a:buNone/>
                      </a:pPr>
                      <a:r>
                        <a:rPr lang="en" sz="800"/>
                        <a:t>X00</a:t>
                      </a:r>
                      <a:endParaRPr sz="800"/>
                    </a:p>
                  </a:txBody>
                  <a:tcPr marT="91425" marB="91425" marR="91425" marL="91425">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X01</a:t>
                      </a:r>
                      <a:endParaRPr/>
                    </a:p>
                  </a:txBody>
                  <a:tcPr marT="91425" marB="91425" marR="91425" marL="91425">
                    <a:lnL cap="flat" cmpd="sng" w="9525">
                      <a:solidFill>
                        <a:srgbClr val="666666"/>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X02</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solidFill>
                      <a:srgbClr val="CCCCCC"/>
                    </a:solidFill>
                  </a:tcPr>
                </a:tc>
              </a:tr>
              <a:tr h="295550">
                <a:tc>
                  <a:txBody>
                    <a:bodyPr/>
                    <a:lstStyle/>
                    <a:p>
                      <a:pPr indent="0" lvl="0" marL="0" rtl="0" algn="l">
                        <a:spcBef>
                          <a:spcPts val="0"/>
                        </a:spcBef>
                        <a:spcAft>
                          <a:spcPts val="0"/>
                        </a:spcAft>
                        <a:buNone/>
                      </a:pPr>
                      <a:r>
                        <a:t/>
                      </a:r>
                      <a:endParaRPr/>
                    </a:p>
                  </a:txBody>
                  <a:tcPr marT="91425" marB="91425" marR="91425" marL="91425">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solidFill>
                      <a:srgbClr val="CCCCCC"/>
                    </a:solidFill>
                  </a:tcPr>
                </a:tc>
                <a:tc>
                  <a:txBody>
                    <a:bodyPr/>
                    <a:lstStyle/>
                    <a:p>
                      <a:pPr indent="0" lvl="0" marL="0" rtl="0" algn="l">
                        <a:spcBef>
                          <a:spcPts val="0"/>
                        </a:spcBef>
                        <a:spcAft>
                          <a:spcPts val="0"/>
                        </a:spcAft>
                        <a:buNone/>
                      </a:pPr>
                      <a:r>
                        <a:rPr lang="en" sz="800">
                          <a:solidFill>
                            <a:schemeClr val="dk1"/>
                          </a:solidFill>
                        </a:rPr>
                        <a:t>X10</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X11</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X12</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solidFill>
                      <a:srgbClr val="CCCCCC"/>
                    </a:solidFill>
                  </a:tcPr>
                </a:tc>
              </a:tr>
              <a:tr h="295550">
                <a:tc>
                  <a:txBody>
                    <a:bodyPr/>
                    <a:lstStyle/>
                    <a:p>
                      <a:pPr indent="0" lvl="0" marL="0" rtl="0" algn="l">
                        <a:spcBef>
                          <a:spcPts val="0"/>
                        </a:spcBef>
                        <a:spcAft>
                          <a:spcPts val="0"/>
                        </a:spcAft>
                        <a:buNone/>
                      </a:pPr>
                      <a:r>
                        <a:t/>
                      </a:r>
                      <a:endParaRPr/>
                    </a:p>
                  </a:txBody>
                  <a:tcPr marT="91425" marB="91425" marR="91425" marL="91425">
                    <a:lnR cap="flat" cmpd="sng" w="9525">
                      <a:solidFill>
                        <a:srgbClr val="9E9E9E"/>
                      </a:solidFill>
                      <a:prstDash val="solid"/>
                      <a:round/>
                      <a:headEnd len="sm" w="sm" type="none"/>
                      <a:tailEnd len="sm" w="sm" type="none"/>
                    </a:lnR>
                    <a:solidFill>
                      <a:srgbClr val="CCCCCC"/>
                    </a:solidFill>
                  </a:tcPr>
                </a:tc>
                <a:tc>
                  <a:txBody>
                    <a:bodyPr/>
                    <a:lstStyle/>
                    <a:p>
                      <a:pPr indent="0" lvl="0" marL="0" rtl="0" algn="l">
                        <a:spcBef>
                          <a:spcPts val="0"/>
                        </a:spcBef>
                        <a:spcAft>
                          <a:spcPts val="0"/>
                        </a:spcAft>
                        <a:buNone/>
                      </a:pPr>
                      <a:r>
                        <a:rPr lang="en" sz="800">
                          <a:solidFill>
                            <a:schemeClr val="dk1"/>
                          </a:solidFill>
                        </a:rPr>
                        <a:t>X20</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X21</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X22</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solidFill>
                      <a:srgbClr val="CCCCCC"/>
                    </a:solidFill>
                  </a:tcPr>
                </a:tc>
              </a:tr>
              <a:tr h="295550">
                <a:tc>
                  <a:txBody>
                    <a:bodyPr/>
                    <a:lstStyle/>
                    <a:p>
                      <a:pPr indent="0" lvl="0" marL="0" rtl="0" algn="l">
                        <a:spcBef>
                          <a:spcPts val="0"/>
                        </a:spcBef>
                        <a:spcAft>
                          <a:spcPts val="0"/>
                        </a:spcAft>
                        <a:buNone/>
                      </a:pPr>
                      <a:r>
                        <a:t/>
                      </a:r>
                      <a:endParaRPr/>
                    </a:p>
                  </a:txBody>
                  <a:tcPr marT="91425" marB="91425" marR="91425" marL="91425">
                    <a:solidFill>
                      <a:srgbClr val="CCCCCC"/>
                    </a:solidFill>
                  </a:tcPr>
                </a:tc>
                <a:tc>
                  <a:txBody>
                    <a:bodyPr/>
                    <a:lstStyle/>
                    <a:p>
                      <a:pPr indent="0" lvl="0" marL="0" rtl="0" algn="l">
                        <a:spcBef>
                          <a:spcPts val="0"/>
                        </a:spcBef>
                        <a:spcAft>
                          <a:spcPts val="0"/>
                        </a:spcAft>
                        <a:buNone/>
                      </a:pPr>
                      <a:r>
                        <a:t/>
                      </a:r>
                      <a:endParaRPr/>
                    </a:p>
                  </a:txBody>
                  <a:tcPr marT="91425" marB="91425" marR="91425" marL="91425">
                    <a:lnT cap="flat" cmpd="sng" w="9525">
                      <a:solidFill>
                        <a:srgbClr val="9E9E9E"/>
                      </a:solidFill>
                      <a:prstDash val="solid"/>
                      <a:round/>
                      <a:headEnd len="sm" w="sm" type="none"/>
                      <a:tailEnd len="sm" w="sm" type="none"/>
                    </a:lnT>
                    <a:solidFill>
                      <a:srgbClr val="CCCCCC"/>
                    </a:solidFill>
                  </a:tcPr>
                </a:tc>
                <a:tc>
                  <a:txBody>
                    <a:bodyPr/>
                    <a:lstStyle/>
                    <a:p>
                      <a:pPr indent="0" lvl="0" marL="0" rtl="0" algn="l">
                        <a:spcBef>
                          <a:spcPts val="0"/>
                        </a:spcBef>
                        <a:spcAft>
                          <a:spcPts val="0"/>
                        </a:spcAft>
                        <a:buNone/>
                      </a:pPr>
                      <a:r>
                        <a:t/>
                      </a:r>
                      <a:endParaRPr/>
                    </a:p>
                  </a:txBody>
                  <a:tcPr marT="91425" marB="91425" marR="91425" marL="91425">
                    <a:lnT cap="flat" cmpd="sng" w="9525">
                      <a:solidFill>
                        <a:srgbClr val="9E9E9E"/>
                      </a:solidFill>
                      <a:prstDash val="solid"/>
                      <a:round/>
                      <a:headEnd len="sm" w="sm" type="none"/>
                      <a:tailEnd len="sm" w="sm" type="none"/>
                    </a:lnT>
                    <a:solidFill>
                      <a:srgbClr val="CCCCCC"/>
                    </a:solidFill>
                  </a:tcPr>
                </a:tc>
                <a:tc>
                  <a:txBody>
                    <a:bodyPr/>
                    <a:lstStyle/>
                    <a:p>
                      <a:pPr indent="0" lvl="0" marL="0" rtl="0" algn="l">
                        <a:spcBef>
                          <a:spcPts val="0"/>
                        </a:spcBef>
                        <a:spcAft>
                          <a:spcPts val="0"/>
                        </a:spcAft>
                        <a:buNone/>
                      </a:pPr>
                      <a:r>
                        <a:t/>
                      </a:r>
                      <a:endParaRPr/>
                    </a:p>
                  </a:txBody>
                  <a:tcPr marT="91425" marB="91425" marR="91425" marL="91425">
                    <a:lnT cap="flat" cmpd="sng" w="9525">
                      <a:solidFill>
                        <a:srgbClr val="9E9E9E"/>
                      </a:solidFill>
                      <a:prstDash val="solid"/>
                      <a:round/>
                      <a:headEnd len="sm" w="sm" type="none"/>
                      <a:tailEnd len="sm" w="sm" type="none"/>
                    </a:lnT>
                    <a:solidFill>
                      <a:srgbClr val="CCCCCC"/>
                    </a:solidFill>
                  </a:tcPr>
                </a:tc>
                <a:tc>
                  <a:txBody>
                    <a:bodyPr/>
                    <a:lstStyle/>
                    <a:p>
                      <a:pPr indent="0" lvl="0" marL="0" rtl="0" algn="l">
                        <a:spcBef>
                          <a:spcPts val="0"/>
                        </a:spcBef>
                        <a:spcAft>
                          <a:spcPts val="0"/>
                        </a:spcAft>
                        <a:buNone/>
                      </a:pPr>
                      <a:r>
                        <a:t/>
                      </a:r>
                      <a:endParaRPr/>
                    </a:p>
                  </a:txBody>
                  <a:tcPr marT="91425" marB="91425" marR="91425" marL="91425">
                    <a:solidFill>
                      <a:srgbClr val="CCCCCC"/>
                    </a:solidFill>
                  </a:tcPr>
                </a:tc>
              </a:tr>
            </a:tbl>
          </a:graphicData>
        </a:graphic>
      </p:graphicFrame>
      <p:sp>
        <p:nvSpPr>
          <p:cNvPr id="251" name="Google Shape;251;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Adding Padding</a:t>
            </a:r>
            <a:endParaRPr/>
          </a:p>
        </p:txBody>
      </p:sp>
      <p:pic>
        <p:nvPicPr>
          <p:cNvPr descr="{&quot;aid&quot;:null,&quot;font&quot;:{&quot;size&quot;:9.5,&quot;color&quot;:&quot;#595959&quot;,&quot;family&quot;:&quot;Arial&quot;},&quot;backgroundColorModified&quot;:false,&quot;backgroundColor&quot;:&quot;#FFFFFF&quot;,&quot;code&quot;:&quot;\\begin{gather*}\n{\\text{Recall}\\;\\text{that}\\,\\text{for}\\;}\\\\\n{\\text{Input}\\;\\text{feature}\\;\\text{map}\\;X:\\,H\\times W}\\\\\n{\\text{Convolution}\\;\\text{Kernel}\\;K:\\,K_{H},\\,K_{W}}\\\\\n{\\text{Output}\\;\\text{feature}\\;\\text{map}\\;Y:\\,H-K_{H}+1,\\,W-K_{W}+1,\\,}\\\\\n{\\text{It}\\;\\text{can}\\;\\text{be}\\;\\text{inconvenient}\\;\\text{for}\\;\\text{the}\\;\\text{output}\\;\\text{feature}\\;\\text{map}\\;\\text{to}\\;\\text{have}\\;\\text{a}\\;\\text{different}\\;\\text{}}\\\\\n{\\text{dimension}\\;\\text{than}\\;\\text{the}\\;\\text{input}\\;\\text{feature}\\;\\text{map.}\\;\\text{To}\\;\\text{avoid}\\;\\text{this,}\\;\\text{padding}\\;\\text{of}\\;\\text{size}\\;\\frac{K_{H}-1}{2},\\,\\frac{K_{W}-1}{2}}\\\\\n{\\text{is}\\;\\text{added}\\;\\text{to}\\;\\text{keep}\\;\\text{the}\\;\\text{output}\\;\\text{the}\\;\\text{same}\\;\\text{size}\\;\\text{as}\\;\\text{the}\\;\\text{input}}\\\\\n{\\text{Padding}\\;\\text{values}\\;\\text{can}\\;\\text{be}\\;\\text{that}\\;\\text{of}\\;\\text{edge}\\;\\text{pixels,}\\;\\text{0,}\\;\\text{average}\\;\\text{of}\\;\\text{the}\\;\\text{input}\\;\\text{feature}\\;\\text{map..}}\t\n\\end{gather*}&quot;,&quot;type&quot;:&quot;gather*&quot;,&quot;id&quot;:&quot;5&quot;,&quot;ts&quot;:1769968389085,&quot;cs&quot;:&quot;M4ul5nMpEzdNCLbdFEhJ6A==&quot;,&quot;size&quot;:{&quot;width&quot;:565,&quot;height&quot;:164.5}}" id="252" name="Google Shape;252;p29"/>
          <p:cNvPicPr preferRelativeResize="0"/>
          <p:nvPr/>
        </p:nvPicPr>
        <p:blipFill>
          <a:blip r:embed="rId3">
            <a:alphaModFix/>
          </a:blip>
          <a:stretch>
            <a:fillRect/>
          </a:stretch>
        </p:blipFill>
        <p:spPr>
          <a:xfrm>
            <a:off x="3363250" y="881503"/>
            <a:ext cx="5381625" cy="1566863"/>
          </a:xfrm>
          <a:prstGeom prst="rect">
            <a:avLst/>
          </a:prstGeom>
          <a:noFill/>
          <a:ln>
            <a:noFill/>
          </a:ln>
        </p:spPr>
      </p:pic>
      <p:pic>
        <p:nvPicPr>
          <p:cNvPr descr="{&quot;font&quot;:{&quot;size&quot;:12,&quot;color&quot;:&quot;#000000&quot;,&quot;family&quot;:&quot;Arial&quot;},&quot;id&quot;:&quot;13&quot;,&quot;aid&quot;:null,&quot;backgroundColorModified&quot;:false,&quot;code&quot;:&quot;\\begin{gather*}\n{\\text{Given}:}\\\\\n{\\text{Input}\\;\\text{feature}\\;\\text{map:}\\;H\\times W}\\\\\n{\\text{Kernel}\\;\\text{Dimensions:}\\;K_{H}\\times K_{W}}\\\\\n{\\text{Stride:}\\;S}\\\\\n{\\text{Padding}:\\,P}\\\\\n{\\text{Output}\\;\\text{feature}\\;\\text{map}\\;\\text{dimensions:}}\\\\\n{\\left\\lfloor \\frac{H+2P-K_{H}}{S}\\right\\rfloor +1,\\,\\left\\lfloor \\frac{W+2P-K_{W}}{S}\\right\\rfloor +1}\t\n\\end{gather*}&quot;,&quot;type&quot;:&quot;gather*&quot;,&quot;backgroundColor&quot;:&quot;#FFFFFF&quot;,&quot;ts&quot;:1769969142573,&quot;cs&quot;:&quot;LnMWawcTAfYhf/9PuwonZA==&quot;,&quot;size&quot;:{&quot;width&quot;:366.6666666666667,&quot;height&quot;:191}}" id="253" name="Google Shape;253;p29"/>
          <p:cNvPicPr preferRelativeResize="0"/>
          <p:nvPr/>
        </p:nvPicPr>
        <p:blipFill>
          <a:blip r:embed="rId4">
            <a:alphaModFix/>
          </a:blip>
          <a:stretch>
            <a:fillRect/>
          </a:stretch>
        </p:blipFill>
        <p:spPr>
          <a:xfrm>
            <a:off x="4475025" y="3010375"/>
            <a:ext cx="3492500" cy="18192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Receptive Field</a:t>
            </a:r>
            <a:endParaRPr/>
          </a:p>
        </p:txBody>
      </p:sp>
      <p:graphicFrame>
        <p:nvGraphicFramePr>
          <p:cNvPr id="259" name="Google Shape;259;p30"/>
          <p:cNvGraphicFramePr/>
          <p:nvPr/>
        </p:nvGraphicFramePr>
        <p:xfrm>
          <a:off x="703213" y="3872600"/>
          <a:ext cx="3000000" cy="3000000"/>
        </p:xfrm>
        <a:graphic>
          <a:graphicData uri="http://schemas.openxmlformats.org/drawingml/2006/table">
            <a:tbl>
              <a:tblPr>
                <a:noFill/>
                <a:tableStyleId>{A22A7B2D-7E37-4577-AFCF-14A211495966}</a:tableStyleId>
              </a:tblPr>
              <a:tblGrid>
                <a:gridCol w="382850"/>
                <a:gridCol w="382850"/>
                <a:gridCol w="382850"/>
                <a:gridCol w="382850"/>
                <a:gridCol w="382850"/>
                <a:gridCol w="382850"/>
                <a:gridCol w="382850"/>
                <a:gridCol w="382850"/>
                <a:gridCol w="382850"/>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graphicFrame>
        <p:nvGraphicFramePr>
          <p:cNvPr id="260" name="Google Shape;260;p30"/>
          <p:cNvGraphicFramePr/>
          <p:nvPr/>
        </p:nvGraphicFramePr>
        <p:xfrm>
          <a:off x="1885438" y="2912250"/>
          <a:ext cx="3000000" cy="3000000"/>
        </p:xfrm>
        <a:graphic>
          <a:graphicData uri="http://schemas.openxmlformats.org/drawingml/2006/table">
            <a:tbl>
              <a:tblPr>
                <a:noFill/>
                <a:tableStyleId>{A22A7B2D-7E37-4577-AFCF-14A211495966}</a:tableStyleId>
              </a:tblPr>
              <a:tblGrid>
                <a:gridCol w="382850"/>
                <a:gridCol w="382850"/>
                <a:gridCol w="382850"/>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graphicFrame>
        <p:nvGraphicFramePr>
          <p:cNvPr id="261" name="Google Shape;261;p30"/>
          <p:cNvGraphicFramePr/>
          <p:nvPr/>
        </p:nvGraphicFramePr>
        <p:xfrm>
          <a:off x="2266638" y="1968350"/>
          <a:ext cx="3000000" cy="3000000"/>
        </p:xfrm>
        <a:graphic>
          <a:graphicData uri="http://schemas.openxmlformats.org/drawingml/2006/table">
            <a:tbl>
              <a:tblPr>
                <a:noFill/>
                <a:tableStyleId>{A22A7B2D-7E37-4577-AFCF-14A211495966}</a:tableStyleId>
              </a:tblPr>
              <a:tblGrid>
                <a:gridCol w="382850"/>
              </a:tblGrid>
              <a:tr h="381000">
                <a:tc>
                  <a:txBody>
                    <a:bodyPr/>
                    <a:lstStyle/>
                    <a:p>
                      <a:pPr indent="0" lvl="0" marL="0" rtl="0" algn="l">
                        <a:spcBef>
                          <a:spcPts val="0"/>
                        </a:spcBef>
                        <a:spcAft>
                          <a:spcPts val="0"/>
                        </a:spcAft>
                        <a:buNone/>
                      </a:pPr>
                      <a:r>
                        <a:t/>
                      </a:r>
                      <a:endParaRPr/>
                    </a:p>
                  </a:txBody>
                  <a:tcPr marT="91425" marB="91425" marR="91425" marL="91425"/>
                </a:tc>
              </a:tr>
            </a:tbl>
          </a:graphicData>
        </a:graphic>
      </p:graphicFrame>
      <p:sp>
        <p:nvSpPr>
          <p:cNvPr id="262" name="Google Shape;262;p30"/>
          <p:cNvSpPr/>
          <p:nvPr/>
        </p:nvSpPr>
        <p:spPr>
          <a:xfrm rot="-5400000">
            <a:off x="1181125" y="3324325"/>
            <a:ext cx="129300" cy="863400"/>
          </a:xfrm>
          <a:prstGeom prst="righ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3" name="Google Shape;263;p30"/>
          <p:cNvSpPr/>
          <p:nvPr/>
        </p:nvSpPr>
        <p:spPr>
          <a:xfrm rot="-5400000">
            <a:off x="2395075" y="3324325"/>
            <a:ext cx="129300" cy="863400"/>
          </a:xfrm>
          <a:prstGeom prst="righ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4" name="Google Shape;264;p30"/>
          <p:cNvSpPr/>
          <p:nvPr/>
        </p:nvSpPr>
        <p:spPr>
          <a:xfrm rot="-5400000">
            <a:off x="3493975" y="3324325"/>
            <a:ext cx="129300" cy="863400"/>
          </a:xfrm>
          <a:prstGeom prst="righ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65" name="Google Shape;265;p30"/>
          <p:cNvCxnSpPr>
            <a:stCxn id="263" idx="1"/>
          </p:cNvCxnSpPr>
          <p:nvPr/>
        </p:nvCxnSpPr>
        <p:spPr>
          <a:xfrm rot="10800000">
            <a:off x="2456425" y="3315175"/>
            <a:ext cx="3300" cy="376200"/>
          </a:xfrm>
          <a:prstGeom prst="straightConnector1">
            <a:avLst/>
          </a:prstGeom>
          <a:noFill/>
          <a:ln cap="flat" cmpd="sng" w="9525">
            <a:solidFill>
              <a:schemeClr val="dk2"/>
            </a:solidFill>
            <a:prstDash val="solid"/>
            <a:round/>
            <a:headEnd len="med" w="med" type="none"/>
            <a:tailEnd len="med" w="med" type="triangle"/>
          </a:ln>
        </p:spPr>
      </p:cxnSp>
      <p:cxnSp>
        <p:nvCxnSpPr>
          <p:cNvPr id="266" name="Google Shape;266;p30"/>
          <p:cNvCxnSpPr>
            <a:stCxn id="262" idx="1"/>
          </p:cNvCxnSpPr>
          <p:nvPr/>
        </p:nvCxnSpPr>
        <p:spPr>
          <a:xfrm flipH="1" rot="10800000">
            <a:off x="1245775" y="3310375"/>
            <a:ext cx="859800" cy="381000"/>
          </a:xfrm>
          <a:prstGeom prst="straightConnector1">
            <a:avLst/>
          </a:prstGeom>
          <a:noFill/>
          <a:ln cap="flat" cmpd="sng" w="9525">
            <a:solidFill>
              <a:schemeClr val="dk2"/>
            </a:solidFill>
            <a:prstDash val="solid"/>
            <a:round/>
            <a:headEnd len="med" w="med" type="none"/>
            <a:tailEnd len="med" w="med" type="triangle"/>
          </a:ln>
        </p:spPr>
      </p:cxnSp>
      <p:cxnSp>
        <p:nvCxnSpPr>
          <p:cNvPr id="267" name="Google Shape;267;p30"/>
          <p:cNvCxnSpPr>
            <a:stCxn id="264" idx="1"/>
          </p:cNvCxnSpPr>
          <p:nvPr/>
        </p:nvCxnSpPr>
        <p:spPr>
          <a:xfrm rot="10800000">
            <a:off x="2848825" y="3319675"/>
            <a:ext cx="709800" cy="371700"/>
          </a:xfrm>
          <a:prstGeom prst="straightConnector1">
            <a:avLst/>
          </a:prstGeom>
          <a:noFill/>
          <a:ln cap="flat" cmpd="sng" w="9525">
            <a:solidFill>
              <a:schemeClr val="dk2"/>
            </a:solidFill>
            <a:prstDash val="solid"/>
            <a:round/>
            <a:headEnd len="med" w="med" type="none"/>
            <a:tailEnd len="med" w="med" type="triangle"/>
          </a:ln>
        </p:spPr>
      </p:cxnSp>
      <p:cxnSp>
        <p:nvCxnSpPr>
          <p:cNvPr id="268" name="Google Shape;268;p30"/>
          <p:cNvCxnSpPr/>
          <p:nvPr/>
        </p:nvCxnSpPr>
        <p:spPr>
          <a:xfrm rot="10800000">
            <a:off x="2458075" y="2383650"/>
            <a:ext cx="3300" cy="376200"/>
          </a:xfrm>
          <a:prstGeom prst="straightConnector1">
            <a:avLst/>
          </a:prstGeom>
          <a:noFill/>
          <a:ln cap="flat" cmpd="sng" w="9525">
            <a:solidFill>
              <a:schemeClr val="dk2"/>
            </a:solidFill>
            <a:prstDash val="solid"/>
            <a:round/>
            <a:headEnd len="med" w="med" type="none"/>
            <a:tailEnd len="med" w="med" type="triangle"/>
          </a:ln>
        </p:spPr>
      </p:cxnSp>
      <p:sp>
        <p:nvSpPr>
          <p:cNvPr id="269" name="Google Shape;269;p30"/>
          <p:cNvSpPr/>
          <p:nvPr/>
        </p:nvSpPr>
        <p:spPr>
          <a:xfrm rot="-5400000">
            <a:off x="2395075" y="2377850"/>
            <a:ext cx="129300" cy="863400"/>
          </a:xfrm>
          <a:prstGeom prst="righ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0" name="Google Shape;270;p30"/>
          <p:cNvSpPr txBox="1"/>
          <p:nvPr/>
        </p:nvSpPr>
        <p:spPr>
          <a:xfrm>
            <a:off x="4755650" y="1968350"/>
            <a:ext cx="3601500" cy="1662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2"/>
                </a:solidFill>
              </a:rPr>
              <a:t>Receptive Field:</a:t>
            </a:r>
            <a:r>
              <a:rPr lang="en" sz="1200">
                <a:solidFill>
                  <a:schemeClr val="dk2"/>
                </a:solidFill>
              </a:rPr>
              <a:t> specific region of the input image that a neuron in a given layer "sees" or is influenced by; it starts small in early layers and grows larger in deeper layers (capturing complex shapes/objects) by aggregating information from previous layers, allowing the network to build a hierarchy of features from local details to global understanding.</a:t>
            </a:r>
            <a:endParaRPr sz="1200">
              <a:solidFill>
                <a:schemeClr val="dk2"/>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Reducing spatial dimension</a:t>
            </a:r>
            <a:endParaRPr/>
          </a:p>
        </p:txBody>
      </p:sp>
      <p:sp>
        <p:nvSpPr>
          <p:cNvPr id="276" name="Google Shape;276;p31"/>
          <p:cNvSpPr txBox="1"/>
          <p:nvPr/>
        </p:nvSpPr>
        <p:spPr>
          <a:xfrm>
            <a:off x="484800" y="1195850"/>
            <a:ext cx="2659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277" name="Google Shape;277;p31"/>
          <p:cNvSpPr txBox="1"/>
          <p:nvPr/>
        </p:nvSpPr>
        <p:spPr>
          <a:xfrm>
            <a:off x="410925" y="1121975"/>
            <a:ext cx="6533400" cy="3109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rPr>
              <a:t>As we move forward through a network, it is common to reduce spatial dimension and add more channels. The intuition is that later layers represent more abstract concepts and need less details. </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rPr lang="en">
                <a:solidFill>
                  <a:schemeClr val="dk2"/>
                </a:solidFill>
              </a:rPr>
              <a:t>This also saves compute, which is dominated by spatial resolution. So </a:t>
            </a:r>
            <a:r>
              <a:rPr lang="en">
                <a:solidFill>
                  <a:schemeClr val="dk2"/>
                </a:solidFill>
              </a:rPr>
              <a:t>lowering</a:t>
            </a:r>
            <a:r>
              <a:rPr lang="en">
                <a:solidFill>
                  <a:schemeClr val="dk2"/>
                </a:solidFill>
              </a:rPr>
              <a:t> spatial resolution lets us afford more channels (richer features), keeping compute manageable</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rPr lang="en">
                <a:solidFill>
                  <a:schemeClr val="dk2"/>
                </a:solidFill>
              </a:rPr>
              <a:t>There are two main methods to reduce spatial dimension:</a:t>
            </a:r>
            <a:endParaRPr>
              <a:solidFill>
                <a:schemeClr val="dk2"/>
              </a:solidFill>
            </a:endParaRPr>
          </a:p>
          <a:p>
            <a:pPr indent="-317500" lvl="0" marL="457200" rtl="0" algn="l">
              <a:spcBef>
                <a:spcPts val="0"/>
              </a:spcBef>
              <a:spcAft>
                <a:spcPts val="0"/>
              </a:spcAft>
              <a:buClr>
                <a:schemeClr val="dk2"/>
              </a:buClr>
              <a:buSzPts val="1400"/>
              <a:buChar char="-"/>
            </a:pPr>
            <a:r>
              <a:rPr lang="en">
                <a:solidFill>
                  <a:schemeClr val="dk2"/>
                </a:solidFill>
              </a:rPr>
              <a:t>Pooling</a:t>
            </a:r>
            <a:endParaRPr>
              <a:solidFill>
                <a:schemeClr val="dk2"/>
              </a:solidFill>
            </a:endParaRPr>
          </a:p>
          <a:p>
            <a:pPr indent="-317500" lvl="0" marL="457200" rtl="0" algn="l">
              <a:spcBef>
                <a:spcPts val="0"/>
              </a:spcBef>
              <a:spcAft>
                <a:spcPts val="0"/>
              </a:spcAft>
              <a:buClr>
                <a:schemeClr val="dk2"/>
              </a:buClr>
              <a:buSzPts val="1400"/>
              <a:buChar char="-"/>
            </a:pPr>
            <a:r>
              <a:rPr lang="en">
                <a:solidFill>
                  <a:schemeClr val="dk2"/>
                </a:solidFill>
              </a:rPr>
              <a:t>Striding</a:t>
            </a:r>
            <a:endParaRPr>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graphicFrame>
        <p:nvGraphicFramePr>
          <p:cNvPr id="282" name="Google Shape;282;p32"/>
          <p:cNvGraphicFramePr/>
          <p:nvPr/>
        </p:nvGraphicFramePr>
        <p:xfrm>
          <a:off x="468243" y="1146278"/>
          <a:ext cx="3000000" cy="3000000"/>
        </p:xfrm>
        <a:graphic>
          <a:graphicData uri="http://schemas.openxmlformats.org/drawingml/2006/table">
            <a:tbl>
              <a:tblPr>
                <a:noFill/>
                <a:tableStyleId>{A22A7B2D-7E37-4577-AFCF-14A211495966}</a:tableStyleId>
              </a:tblPr>
              <a:tblGrid>
                <a:gridCol w="382850"/>
                <a:gridCol w="382850"/>
                <a:gridCol w="382850"/>
                <a:gridCol w="382850"/>
              </a:tblGrid>
              <a:tr h="295550">
                <a:tc>
                  <a:txBody>
                    <a:bodyPr/>
                    <a:lstStyle/>
                    <a:p>
                      <a:pPr indent="0" lvl="0" marL="0" rtl="0" algn="l">
                        <a:spcBef>
                          <a:spcPts val="0"/>
                        </a:spcBef>
                        <a:spcAft>
                          <a:spcPts val="0"/>
                        </a:spcAft>
                        <a:buNone/>
                      </a:pPr>
                      <a:r>
                        <a:rPr lang="en" sz="800"/>
                        <a:t>X00</a:t>
                      </a:r>
                      <a:endParaRPr sz="800"/>
                    </a:p>
                  </a:txBody>
                  <a:tcPr marT="91425" marB="91425" marR="91425" marL="91425">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X01</a:t>
                      </a:r>
                      <a:endParaRPr/>
                    </a:p>
                  </a:txBody>
                  <a:tcPr marT="91425" marB="91425" marR="91425" marL="91425">
                    <a:lnL cap="flat" cmpd="sng" w="9525">
                      <a:solidFill>
                        <a:srgbClr val="666666"/>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X02</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X03</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295550">
                <a:tc>
                  <a:txBody>
                    <a:bodyPr/>
                    <a:lstStyle/>
                    <a:p>
                      <a:pPr indent="0" lvl="0" marL="0" rtl="0" algn="l">
                        <a:spcBef>
                          <a:spcPts val="0"/>
                        </a:spcBef>
                        <a:spcAft>
                          <a:spcPts val="0"/>
                        </a:spcAft>
                        <a:buNone/>
                      </a:pPr>
                      <a:r>
                        <a:rPr lang="en" sz="800">
                          <a:solidFill>
                            <a:schemeClr val="dk1"/>
                          </a:solidFill>
                        </a:rPr>
                        <a:t>X10</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X11</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X12</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X13</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295550">
                <a:tc>
                  <a:txBody>
                    <a:bodyPr/>
                    <a:lstStyle/>
                    <a:p>
                      <a:pPr indent="0" lvl="0" marL="0" rtl="0" algn="l">
                        <a:spcBef>
                          <a:spcPts val="0"/>
                        </a:spcBef>
                        <a:spcAft>
                          <a:spcPts val="0"/>
                        </a:spcAft>
                        <a:buNone/>
                      </a:pPr>
                      <a:r>
                        <a:rPr lang="en" sz="800">
                          <a:solidFill>
                            <a:schemeClr val="dk1"/>
                          </a:solidFill>
                        </a:rPr>
                        <a:t>X20</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X21</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X22</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X23</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295550">
                <a:tc>
                  <a:txBody>
                    <a:bodyPr/>
                    <a:lstStyle/>
                    <a:p>
                      <a:pPr indent="0" lvl="0" marL="0" rtl="0" algn="l">
                        <a:spcBef>
                          <a:spcPts val="0"/>
                        </a:spcBef>
                        <a:spcAft>
                          <a:spcPts val="0"/>
                        </a:spcAft>
                        <a:buNone/>
                      </a:pPr>
                      <a:r>
                        <a:rPr lang="en" sz="800">
                          <a:solidFill>
                            <a:schemeClr val="dk1"/>
                          </a:solidFill>
                        </a:rPr>
                        <a:t>X30</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X31</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X32</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X23</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283" name="Google Shape;283;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Reducing spatial dimensions: Pooling</a:t>
            </a:r>
            <a:endParaRPr/>
          </a:p>
        </p:txBody>
      </p:sp>
      <p:pic>
        <p:nvPicPr>
          <p:cNvPr descr="{&quot;id&quot;:&quot;13&quot;,&quot;backgroundColor&quot;:&quot;#FFFFFF&quot;,&quot;code&quot;:&quot;\\begin{gather*}\n{\\text{Mean}\\;\\text{pooling}\\;\\text{(x}K\\text{):}}\\\\\n{Y_{ij}=\\frac{1}{K^{2}}\\sum_{u=0}^{K-1}\\sum_{v=0}^{K-1}X_{i+u,j+v}}\\\\\n{\\text{Backward}\\;\\text{Pass}}\\\\\n{\\pdf{L}{X_{i+u,j+v}}=\\frac{1}{K^{2}}\\pdf{L}{Y_{ij}}\\,\\forall u:\\left[0,\\,K-1\\right],\\,v:\\left[0,K-1\\right]}\t\n\\end{gather*}&quot;,&quot;backgroundColorModified&quot;:false,&quot;font&quot;:{&quot;color&quot;:&quot;#000000&quot;,&quot;family&quot;:&quot;Arial&quot;,&quot;size&quot;:12},&quot;type&quot;:&quot;gather*&quot;,&quot;aid&quot;:null,&quot;ts&quot;:1772051375879,&quot;cs&quot;:&quot;/VY7IjhfweM4LWEk8hNb8Q==&quot;,&quot;size&quot;:{&quot;width&quot;:414.6666666666667,&quot;height&quot;:154.99999999999997}}" id="284" name="Google Shape;284;p32"/>
          <p:cNvPicPr preferRelativeResize="0"/>
          <p:nvPr/>
        </p:nvPicPr>
        <p:blipFill>
          <a:blip r:embed="rId3">
            <a:alphaModFix/>
          </a:blip>
          <a:stretch>
            <a:fillRect/>
          </a:stretch>
        </p:blipFill>
        <p:spPr>
          <a:xfrm>
            <a:off x="2928938" y="2746437"/>
            <a:ext cx="3949700" cy="1476375"/>
          </a:xfrm>
          <a:prstGeom prst="rect">
            <a:avLst/>
          </a:prstGeom>
          <a:noFill/>
          <a:ln>
            <a:noFill/>
          </a:ln>
        </p:spPr>
      </p:pic>
      <p:graphicFrame>
        <p:nvGraphicFramePr>
          <p:cNvPr id="285" name="Google Shape;285;p32"/>
          <p:cNvGraphicFramePr/>
          <p:nvPr/>
        </p:nvGraphicFramePr>
        <p:xfrm>
          <a:off x="2827593" y="1230403"/>
          <a:ext cx="3000000" cy="3000000"/>
        </p:xfrm>
        <a:graphic>
          <a:graphicData uri="http://schemas.openxmlformats.org/drawingml/2006/table">
            <a:tbl>
              <a:tblPr>
                <a:noFill/>
                <a:tableStyleId>{A22A7B2D-7E37-4577-AFCF-14A211495966}</a:tableStyleId>
              </a:tblPr>
              <a:tblGrid>
                <a:gridCol w="853425"/>
                <a:gridCol w="853425"/>
              </a:tblGrid>
              <a:tr h="498675">
                <a:tc>
                  <a:txBody>
                    <a:bodyPr/>
                    <a:lstStyle/>
                    <a:p>
                      <a:pPr indent="0" lvl="0" marL="0" rtl="0" algn="l">
                        <a:spcBef>
                          <a:spcPts val="0"/>
                        </a:spcBef>
                        <a:spcAft>
                          <a:spcPts val="0"/>
                        </a:spcAft>
                        <a:buNone/>
                      </a:pPr>
                      <a:r>
                        <a:rPr lang="en" sz="700"/>
                        <a:t>max(X00, X01, X10, X11) </a:t>
                      </a:r>
                      <a:endParaRPr sz="700"/>
                    </a:p>
                  </a:txBody>
                  <a:tcPr marT="91425" marB="91425" marR="91425" marL="91425">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700">
                          <a:solidFill>
                            <a:schemeClr val="dk1"/>
                          </a:solidFill>
                        </a:rPr>
                        <a:t>max(X02, X03, X12, X13) </a:t>
                      </a:r>
                      <a:endParaRPr/>
                    </a:p>
                  </a:txBody>
                  <a:tcPr marT="91425" marB="91425" marR="91425" marL="91425">
                    <a:lnL cap="flat" cmpd="sng" w="9525">
                      <a:solidFill>
                        <a:srgbClr val="666666"/>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98675">
                <a:tc>
                  <a:txBody>
                    <a:bodyPr/>
                    <a:lstStyle/>
                    <a:p>
                      <a:pPr indent="0" lvl="0" marL="0" rtl="0" algn="l">
                        <a:spcBef>
                          <a:spcPts val="0"/>
                        </a:spcBef>
                        <a:spcAft>
                          <a:spcPts val="0"/>
                        </a:spcAft>
                        <a:buClr>
                          <a:schemeClr val="dk1"/>
                        </a:buClr>
                        <a:buSzPts val="1100"/>
                        <a:buFont typeface="Arial"/>
                        <a:buNone/>
                      </a:pPr>
                      <a:r>
                        <a:rPr lang="en" sz="700">
                          <a:solidFill>
                            <a:schemeClr val="dk1"/>
                          </a:solidFill>
                        </a:rPr>
                        <a:t>max(X20, X21, X30, X31)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700">
                          <a:solidFill>
                            <a:schemeClr val="dk1"/>
                          </a:solidFill>
                        </a:rPr>
                        <a:t>max(X22, X23, X32, X33)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graphicFrame>
        <p:nvGraphicFramePr>
          <p:cNvPr id="286" name="Google Shape;286;p32"/>
          <p:cNvGraphicFramePr/>
          <p:nvPr/>
        </p:nvGraphicFramePr>
        <p:xfrm>
          <a:off x="380518" y="2937778"/>
          <a:ext cx="3000000" cy="3000000"/>
        </p:xfrm>
        <a:graphic>
          <a:graphicData uri="http://schemas.openxmlformats.org/drawingml/2006/table">
            <a:tbl>
              <a:tblPr>
                <a:noFill/>
                <a:tableStyleId>{A22A7B2D-7E37-4577-AFCF-14A211495966}</a:tableStyleId>
              </a:tblPr>
              <a:tblGrid>
                <a:gridCol w="853425"/>
                <a:gridCol w="853425"/>
              </a:tblGrid>
              <a:tr h="498675">
                <a:tc>
                  <a:txBody>
                    <a:bodyPr/>
                    <a:lstStyle/>
                    <a:p>
                      <a:pPr indent="0" lvl="0" marL="0" rtl="0" algn="l">
                        <a:spcBef>
                          <a:spcPts val="0"/>
                        </a:spcBef>
                        <a:spcAft>
                          <a:spcPts val="0"/>
                        </a:spcAft>
                        <a:buNone/>
                      </a:pPr>
                      <a:r>
                        <a:rPr lang="en" sz="700"/>
                        <a:t>Avg(X00, X01, X10, X11) </a:t>
                      </a:r>
                      <a:endParaRPr sz="700"/>
                    </a:p>
                  </a:txBody>
                  <a:tcPr marT="91425" marB="91425" marR="91425" marL="91425">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 sz="700">
                          <a:solidFill>
                            <a:schemeClr val="dk1"/>
                          </a:solidFill>
                        </a:rPr>
                        <a:t>Avg(X02, X03, X12, X13) </a:t>
                      </a:r>
                      <a:endParaRPr/>
                    </a:p>
                  </a:txBody>
                  <a:tcPr marT="91425" marB="91425" marR="91425" marL="91425">
                    <a:lnL cap="flat" cmpd="sng" w="9525">
                      <a:solidFill>
                        <a:srgbClr val="666666"/>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98675">
                <a:tc>
                  <a:txBody>
                    <a:bodyPr/>
                    <a:lstStyle/>
                    <a:p>
                      <a:pPr indent="0" lvl="0" marL="0" rtl="0" algn="l">
                        <a:spcBef>
                          <a:spcPts val="0"/>
                        </a:spcBef>
                        <a:spcAft>
                          <a:spcPts val="0"/>
                        </a:spcAft>
                        <a:buNone/>
                      </a:pPr>
                      <a:r>
                        <a:rPr lang="en" sz="700">
                          <a:solidFill>
                            <a:schemeClr val="dk1"/>
                          </a:solidFill>
                        </a:rPr>
                        <a:t>Avg(X20, X21, X30, X31)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700">
                          <a:solidFill>
                            <a:schemeClr val="dk1"/>
                          </a:solidFill>
                        </a:rPr>
                        <a:t>Avg(X22, X23, X32, X33)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287" name="Google Shape;287;p32"/>
          <p:cNvSpPr/>
          <p:nvPr/>
        </p:nvSpPr>
        <p:spPr>
          <a:xfrm>
            <a:off x="2294813" y="1695825"/>
            <a:ext cx="323100" cy="2169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8" name="Google Shape;288;p32"/>
          <p:cNvSpPr/>
          <p:nvPr/>
        </p:nvSpPr>
        <p:spPr>
          <a:xfrm rot="5400000">
            <a:off x="1072388" y="2567225"/>
            <a:ext cx="323100" cy="2169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9" name="Google Shape;289;p32"/>
          <p:cNvSpPr txBox="1"/>
          <p:nvPr/>
        </p:nvSpPr>
        <p:spPr>
          <a:xfrm>
            <a:off x="1879200" y="1017725"/>
            <a:ext cx="1015800" cy="785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300">
                <a:solidFill>
                  <a:schemeClr val="dk2"/>
                </a:solidFill>
              </a:rPr>
              <a:t>Max pooling</a:t>
            </a:r>
            <a:endParaRPr sz="1300">
              <a:solidFill>
                <a:schemeClr val="dk2"/>
              </a:solidFill>
            </a:endParaRPr>
          </a:p>
          <a:p>
            <a:pPr indent="0" lvl="0" marL="0" rtl="0" algn="ctr">
              <a:spcBef>
                <a:spcPts val="0"/>
              </a:spcBef>
              <a:spcAft>
                <a:spcPts val="0"/>
              </a:spcAft>
              <a:buNone/>
            </a:pPr>
            <a:r>
              <a:rPr lang="en" sz="1300">
                <a:solidFill>
                  <a:schemeClr val="dk2"/>
                </a:solidFill>
              </a:rPr>
              <a:t>(2x)</a:t>
            </a:r>
            <a:endParaRPr sz="1300">
              <a:solidFill>
                <a:schemeClr val="dk2"/>
              </a:solidFill>
            </a:endParaRPr>
          </a:p>
        </p:txBody>
      </p:sp>
      <p:sp>
        <p:nvSpPr>
          <p:cNvPr id="290" name="Google Shape;290;p32"/>
          <p:cNvSpPr txBox="1"/>
          <p:nvPr/>
        </p:nvSpPr>
        <p:spPr>
          <a:xfrm>
            <a:off x="1233950" y="2383175"/>
            <a:ext cx="1015800" cy="585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300">
                <a:solidFill>
                  <a:schemeClr val="dk2"/>
                </a:solidFill>
              </a:rPr>
              <a:t>Mean pooling</a:t>
            </a:r>
            <a:endParaRPr sz="1300">
              <a:solidFill>
                <a:schemeClr val="dk2"/>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graphicFrame>
        <p:nvGraphicFramePr>
          <p:cNvPr id="295" name="Google Shape;295;p33"/>
          <p:cNvGraphicFramePr/>
          <p:nvPr/>
        </p:nvGraphicFramePr>
        <p:xfrm>
          <a:off x="468243" y="1146278"/>
          <a:ext cx="3000000" cy="3000000"/>
        </p:xfrm>
        <a:graphic>
          <a:graphicData uri="http://schemas.openxmlformats.org/drawingml/2006/table">
            <a:tbl>
              <a:tblPr>
                <a:noFill/>
                <a:tableStyleId>{A22A7B2D-7E37-4577-AFCF-14A211495966}</a:tableStyleId>
              </a:tblPr>
              <a:tblGrid>
                <a:gridCol w="382850"/>
                <a:gridCol w="382850"/>
                <a:gridCol w="382850"/>
                <a:gridCol w="382850"/>
              </a:tblGrid>
              <a:tr h="295550">
                <a:tc>
                  <a:txBody>
                    <a:bodyPr/>
                    <a:lstStyle/>
                    <a:p>
                      <a:pPr indent="0" lvl="0" marL="0" rtl="0" algn="l">
                        <a:spcBef>
                          <a:spcPts val="0"/>
                        </a:spcBef>
                        <a:spcAft>
                          <a:spcPts val="0"/>
                        </a:spcAft>
                        <a:buNone/>
                      </a:pPr>
                      <a:r>
                        <a:rPr lang="en" sz="800"/>
                        <a:t>X00</a:t>
                      </a:r>
                      <a:endParaRPr sz="800"/>
                    </a:p>
                  </a:txBody>
                  <a:tcPr marT="91425" marB="91425" marR="91425" marL="91425">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X01</a:t>
                      </a:r>
                      <a:endParaRPr/>
                    </a:p>
                  </a:txBody>
                  <a:tcPr marT="91425" marB="91425" marR="91425" marL="91425">
                    <a:lnL cap="flat" cmpd="sng" w="9525">
                      <a:solidFill>
                        <a:srgbClr val="666666"/>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X02</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X03</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295550">
                <a:tc>
                  <a:txBody>
                    <a:bodyPr/>
                    <a:lstStyle/>
                    <a:p>
                      <a:pPr indent="0" lvl="0" marL="0" rtl="0" algn="l">
                        <a:spcBef>
                          <a:spcPts val="0"/>
                        </a:spcBef>
                        <a:spcAft>
                          <a:spcPts val="0"/>
                        </a:spcAft>
                        <a:buNone/>
                      </a:pPr>
                      <a:r>
                        <a:rPr lang="en" sz="800">
                          <a:solidFill>
                            <a:schemeClr val="dk1"/>
                          </a:solidFill>
                        </a:rPr>
                        <a:t>X10</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X11</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X12</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X13</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295550">
                <a:tc>
                  <a:txBody>
                    <a:bodyPr/>
                    <a:lstStyle/>
                    <a:p>
                      <a:pPr indent="0" lvl="0" marL="0" rtl="0" algn="l">
                        <a:spcBef>
                          <a:spcPts val="0"/>
                        </a:spcBef>
                        <a:spcAft>
                          <a:spcPts val="0"/>
                        </a:spcAft>
                        <a:buNone/>
                      </a:pPr>
                      <a:r>
                        <a:rPr lang="en" sz="800">
                          <a:solidFill>
                            <a:schemeClr val="dk1"/>
                          </a:solidFill>
                        </a:rPr>
                        <a:t>X20</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X21</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X22</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X23</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295550">
                <a:tc>
                  <a:txBody>
                    <a:bodyPr/>
                    <a:lstStyle/>
                    <a:p>
                      <a:pPr indent="0" lvl="0" marL="0" rtl="0" algn="l">
                        <a:spcBef>
                          <a:spcPts val="0"/>
                        </a:spcBef>
                        <a:spcAft>
                          <a:spcPts val="0"/>
                        </a:spcAft>
                        <a:buNone/>
                      </a:pPr>
                      <a:r>
                        <a:rPr lang="en" sz="800">
                          <a:solidFill>
                            <a:schemeClr val="dk1"/>
                          </a:solidFill>
                        </a:rPr>
                        <a:t>X30</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X31</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X32</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X23</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296" name="Google Shape;296;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Reducing spatial dimensions: Striding</a:t>
            </a:r>
            <a:endParaRPr/>
          </a:p>
        </p:txBody>
      </p:sp>
      <p:graphicFrame>
        <p:nvGraphicFramePr>
          <p:cNvPr id="297" name="Google Shape;297;p33"/>
          <p:cNvGraphicFramePr/>
          <p:nvPr/>
        </p:nvGraphicFramePr>
        <p:xfrm>
          <a:off x="3053843" y="1216553"/>
          <a:ext cx="3000000" cy="3000000"/>
        </p:xfrm>
        <a:graphic>
          <a:graphicData uri="http://schemas.openxmlformats.org/drawingml/2006/table">
            <a:tbl>
              <a:tblPr>
                <a:noFill/>
                <a:tableStyleId>{A22A7B2D-7E37-4577-AFCF-14A211495966}</a:tableStyleId>
              </a:tblPr>
              <a:tblGrid>
                <a:gridCol w="853425"/>
                <a:gridCol w="853425"/>
              </a:tblGrid>
              <a:tr h="498675">
                <a:tc>
                  <a:txBody>
                    <a:bodyPr/>
                    <a:lstStyle/>
                    <a:p>
                      <a:pPr indent="0" lvl="0" marL="0" rtl="0" algn="l">
                        <a:spcBef>
                          <a:spcPts val="0"/>
                        </a:spcBef>
                        <a:spcAft>
                          <a:spcPts val="0"/>
                        </a:spcAft>
                        <a:buNone/>
                      </a:pPr>
                      <a:r>
                        <a:rPr lang="en" sz="700"/>
                        <a:t>Conv2d </a:t>
                      </a:r>
                      <a:r>
                        <a:rPr lang="en" sz="700"/>
                        <a:t>(X00, X01, X10, X11) </a:t>
                      </a:r>
                      <a:endParaRPr sz="700"/>
                    </a:p>
                  </a:txBody>
                  <a:tcPr marT="91425" marB="91425" marR="91425" marL="91425">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700">
                          <a:solidFill>
                            <a:schemeClr val="dk1"/>
                          </a:solidFill>
                        </a:rPr>
                        <a:t>Conv2d (X02, X03, X10, X11) </a:t>
                      </a:r>
                      <a:endParaRPr/>
                    </a:p>
                  </a:txBody>
                  <a:tcPr marT="91425" marB="91425" marR="91425" marL="91425">
                    <a:lnL cap="flat" cmpd="sng" w="9525">
                      <a:solidFill>
                        <a:srgbClr val="666666"/>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98675">
                <a:tc>
                  <a:txBody>
                    <a:bodyPr/>
                    <a:lstStyle/>
                    <a:p>
                      <a:pPr indent="0" lvl="0" marL="0" rtl="0" algn="l">
                        <a:spcBef>
                          <a:spcPts val="0"/>
                        </a:spcBef>
                        <a:spcAft>
                          <a:spcPts val="0"/>
                        </a:spcAft>
                        <a:buClr>
                          <a:schemeClr val="dk1"/>
                        </a:buClr>
                        <a:buSzPts val="1100"/>
                        <a:buFont typeface="Arial"/>
                        <a:buNone/>
                      </a:pPr>
                      <a:r>
                        <a:rPr lang="en" sz="700">
                          <a:solidFill>
                            <a:schemeClr val="dk1"/>
                          </a:solidFill>
                        </a:rPr>
                        <a:t>Conv2d</a:t>
                      </a:r>
                      <a:r>
                        <a:rPr lang="en" sz="700">
                          <a:solidFill>
                            <a:schemeClr val="dk1"/>
                          </a:solidFill>
                        </a:rPr>
                        <a:t>(X20, X21, X30, X31)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700">
                          <a:solidFill>
                            <a:schemeClr val="dk1"/>
                          </a:solidFill>
                        </a:rPr>
                        <a:t>Convd</a:t>
                      </a:r>
                      <a:r>
                        <a:rPr lang="en" sz="700">
                          <a:solidFill>
                            <a:schemeClr val="dk1"/>
                          </a:solidFill>
                        </a:rPr>
                        <a:t>(X22, X23, X32, X33)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298" name="Google Shape;298;p33"/>
          <p:cNvSpPr/>
          <p:nvPr/>
        </p:nvSpPr>
        <p:spPr>
          <a:xfrm>
            <a:off x="2365188" y="1686600"/>
            <a:ext cx="323100" cy="2169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9" name="Google Shape;299;p33"/>
          <p:cNvSpPr txBox="1"/>
          <p:nvPr/>
        </p:nvSpPr>
        <p:spPr>
          <a:xfrm>
            <a:off x="1913150" y="1276275"/>
            <a:ext cx="1015800" cy="38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300">
                <a:solidFill>
                  <a:schemeClr val="dk2"/>
                </a:solidFill>
              </a:rPr>
              <a:t>Stride = 2</a:t>
            </a:r>
            <a:endParaRPr sz="1300">
              <a:solidFill>
                <a:schemeClr val="dk2"/>
              </a:solidFill>
            </a:endParaRPr>
          </a:p>
        </p:txBody>
      </p:sp>
      <p:graphicFrame>
        <p:nvGraphicFramePr>
          <p:cNvPr id="300" name="Google Shape;300;p33"/>
          <p:cNvGraphicFramePr/>
          <p:nvPr/>
        </p:nvGraphicFramePr>
        <p:xfrm>
          <a:off x="512992" y="1197071"/>
          <a:ext cx="3000000" cy="3000000"/>
        </p:xfrm>
        <a:graphic>
          <a:graphicData uri="http://schemas.openxmlformats.org/drawingml/2006/table">
            <a:tbl>
              <a:tblPr>
                <a:noFill/>
                <a:tableStyleId>{A22A7B2D-7E37-4577-AFCF-14A211495966}</a:tableStyleId>
              </a:tblPr>
              <a:tblGrid>
                <a:gridCol w="382850"/>
                <a:gridCol w="382850"/>
              </a:tblGrid>
              <a:tr h="285800">
                <a:tc>
                  <a:txBody>
                    <a:bodyPr/>
                    <a:lstStyle/>
                    <a:p>
                      <a:pPr indent="0" lvl="0" marL="0" rtl="0" algn="l">
                        <a:spcBef>
                          <a:spcPts val="0"/>
                        </a:spcBef>
                        <a:spcAft>
                          <a:spcPts val="0"/>
                        </a:spcAft>
                        <a:buNone/>
                      </a:pPr>
                      <a:r>
                        <a:t/>
                      </a:r>
                      <a:endParaRPr sz="800"/>
                    </a:p>
                  </a:txBody>
                  <a:tcPr marT="91425" marB="91425" marR="91425" marL="91425">
                    <a:lnL cap="flat" cmpd="sng" w="28575">
                      <a:solidFill>
                        <a:srgbClr val="FF0000"/>
                      </a:solidFill>
                      <a:prstDash val="solid"/>
                      <a:round/>
                      <a:headEnd len="sm" w="sm" type="none"/>
                      <a:tailEnd len="sm" w="sm" type="none"/>
                    </a:lnL>
                    <a:lnR cap="flat" cmpd="sng" w="2857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28575">
                      <a:solidFill>
                        <a:srgbClr val="FF0000"/>
                      </a:solidFill>
                      <a:prstDash val="solid"/>
                      <a:round/>
                      <a:headEnd len="sm" w="sm" type="none"/>
                      <a:tailEnd len="sm" w="sm" type="none"/>
                    </a:lnB>
                  </a:tcPr>
                </a:tc>
                <a:tc>
                  <a:txBody>
                    <a:bodyPr/>
                    <a:lstStyle/>
                    <a:p>
                      <a:pPr indent="0" lvl="0" marL="0" rtl="0" algn="l">
                        <a:spcBef>
                          <a:spcPts val="0"/>
                        </a:spcBef>
                        <a:spcAft>
                          <a:spcPts val="0"/>
                        </a:spcAft>
                        <a:buNone/>
                      </a:pPr>
                      <a:r>
                        <a:t/>
                      </a:r>
                      <a:endParaRPr sz="800"/>
                    </a:p>
                  </a:txBody>
                  <a:tcPr marT="91425" marB="91425" marR="91425" marL="91425">
                    <a:lnL cap="flat" cmpd="sng" w="28575">
                      <a:solidFill>
                        <a:srgbClr val="FF0000"/>
                      </a:solidFill>
                      <a:prstDash val="solid"/>
                      <a:round/>
                      <a:headEnd len="sm" w="sm" type="none"/>
                      <a:tailEnd len="sm" w="sm" type="none"/>
                    </a:lnL>
                    <a:lnR cap="flat" cmpd="sng" w="2857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28575">
                      <a:solidFill>
                        <a:srgbClr val="FF0000"/>
                      </a:solidFill>
                      <a:prstDash val="solid"/>
                      <a:round/>
                      <a:headEnd len="sm" w="sm" type="none"/>
                      <a:tailEnd len="sm" w="sm" type="none"/>
                    </a:lnB>
                  </a:tcPr>
                </a:tc>
              </a:tr>
              <a:tr h="329400">
                <a:tc>
                  <a:txBody>
                    <a:bodyPr/>
                    <a:lstStyle/>
                    <a:p>
                      <a:pPr indent="0" lvl="0" marL="0" rtl="0" algn="l">
                        <a:spcBef>
                          <a:spcPts val="0"/>
                        </a:spcBef>
                        <a:spcAft>
                          <a:spcPts val="0"/>
                        </a:spcAft>
                        <a:buNone/>
                      </a:pPr>
                      <a:r>
                        <a:t/>
                      </a:r>
                      <a:endParaRPr sz="800"/>
                    </a:p>
                  </a:txBody>
                  <a:tcPr marT="91425" marB="91425" marR="91425" marL="91425">
                    <a:lnL cap="flat" cmpd="sng" w="28575">
                      <a:solidFill>
                        <a:srgbClr val="FF0000"/>
                      </a:solidFill>
                      <a:prstDash val="solid"/>
                      <a:round/>
                      <a:headEnd len="sm" w="sm" type="none"/>
                      <a:tailEnd len="sm" w="sm" type="none"/>
                    </a:lnL>
                    <a:lnR cap="flat" cmpd="sng" w="2857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28575">
                      <a:solidFill>
                        <a:srgbClr val="FF0000"/>
                      </a:solidFill>
                      <a:prstDash val="solid"/>
                      <a:round/>
                      <a:headEnd len="sm" w="sm" type="none"/>
                      <a:tailEnd len="sm" w="sm" type="none"/>
                    </a:lnB>
                  </a:tcPr>
                </a:tc>
                <a:tc>
                  <a:txBody>
                    <a:bodyPr/>
                    <a:lstStyle/>
                    <a:p>
                      <a:pPr indent="0" lvl="0" marL="0" rtl="0" algn="l">
                        <a:spcBef>
                          <a:spcPts val="0"/>
                        </a:spcBef>
                        <a:spcAft>
                          <a:spcPts val="0"/>
                        </a:spcAft>
                        <a:buNone/>
                      </a:pPr>
                      <a:r>
                        <a:t/>
                      </a:r>
                      <a:endParaRPr sz="800"/>
                    </a:p>
                  </a:txBody>
                  <a:tcPr marT="91425" marB="91425" marR="91425" marL="91425">
                    <a:lnL cap="flat" cmpd="sng" w="28575">
                      <a:solidFill>
                        <a:srgbClr val="FF0000"/>
                      </a:solidFill>
                      <a:prstDash val="solid"/>
                      <a:round/>
                      <a:headEnd len="sm" w="sm" type="none"/>
                      <a:tailEnd len="sm" w="sm" type="none"/>
                    </a:lnL>
                    <a:lnR cap="flat" cmpd="sng" w="2857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28575">
                      <a:solidFill>
                        <a:srgbClr val="FF0000"/>
                      </a:solidFill>
                      <a:prstDash val="solid"/>
                      <a:round/>
                      <a:headEnd len="sm" w="sm" type="none"/>
                      <a:tailEnd len="sm" w="sm" type="none"/>
                    </a:lnB>
                  </a:tcPr>
                </a:tc>
              </a:tr>
            </a:tbl>
          </a:graphicData>
        </a:graphic>
      </p:graphicFrame>
      <p:graphicFrame>
        <p:nvGraphicFramePr>
          <p:cNvPr id="301" name="Google Shape;301;p33"/>
          <p:cNvGraphicFramePr/>
          <p:nvPr/>
        </p:nvGraphicFramePr>
        <p:xfrm>
          <a:off x="468243" y="3274803"/>
          <a:ext cx="3000000" cy="3000000"/>
        </p:xfrm>
        <a:graphic>
          <a:graphicData uri="http://schemas.openxmlformats.org/drawingml/2006/table">
            <a:tbl>
              <a:tblPr>
                <a:noFill/>
                <a:tableStyleId>{A22A7B2D-7E37-4577-AFCF-14A211495966}</a:tableStyleId>
              </a:tblPr>
              <a:tblGrid>
                <a:gridCol w="382850"/>
                <a:gridCol w="382850"/>
                <a:gridCol w="382850"/>
                <a:gridCol w="382850"/>
              </a:tblGrid>
              <a:tr h="295550">
                <a:tc>
                  <a:txBody>
                    <a:bodyPr/>
                    <a:lstStyle/>
                    <a:p>
                      <a:pPr indent="0" lvl="0" marL="0" rtl="0" algn="l">
                        <a:spcBef>
                          <a:spcPts val="0"/>
                        </a:spcBef>
                        <a:spcAft>
                          <a:spcPts val="0"/>
                        </a:spcAft>
                        <a:buNone/>
                      </a:pPr>
                      <a:r>
                        <a:rPr lang="en" sz="800"/>
                        <a:t>X00</a:t>
                      </a:r>
                      <a:endParaRPr sz="800"/>
                    </a:p>
                  </a:txBody>
                  <a:tcPr marT="91425" marB="91425" marR="91425" marL="91425">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FF0000"/>
                    </a:solidFill>
                  </a:tcPr>
                </a:tc>
                <a:tc>
                  <a:txBody>
                    <a:bodyPr/>
                    <a:lstStyle/>
                    <a:p>
                      <a:pPr indent="0" lvl="0" marL="0" rtl="0" algn="l">
                        <a:spcBef>
                          <a:spcPts val="0"/>
                        </a:spcBef>
                        <a:spcAft>
                          <a:spcPts val="0"/>
                        </a:spcAft>
                        <a:buNone/>
                      </a:pPr>
                      <a:r>
                        <a:rPr lang="en" sz="800">
                          <a:solidFill>
                            <a:schemeClr val="dk1"/>
                          </a:solidFill>
                        </a:rPr>
                        <a:t>X01</a:t>
                      </a:r>
                      <a:endParaRPr/>
                    </a:p>
                  </a:txBody>
                  <a:tcPr marT="91425" marB="91425" marR="91425" marL="91425">
                    <a:lnL cap="flat" cmpd="sng" w="9525">
                      <a:solidFill>
                        <a:srgbClr val="666666"/>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0000"/>
                    </a:solidFill>
                  </a:tcPr>
                </a:tc>
                <a:tc>
                  <a:txBody>
                    <a:bodyPr/>
                    <a:lstStyle/>
                    <a:p>
                      <a:pPr indent="0" lvl="0" marL="0" rtl="0" algn="l">
                        <a:spcBef>
                          <a:spcPts val="0"/>
                        </a:spcBef>
                        <a:spcAft>
                          <a:spcPts val="0"/>
                        </a:spcAft>
                        <a:buNone/>
                      </a:pPr>
                      <a:r>
                        <a:rPr lang="en" sz="800">
                          <a:solidFill>
                            <a:schemeClr val="dk1"/>
                          </a:solidFill>
                        </a:rPr>
                        <a:t>X02</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X03</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295550">
                <a:tc>
                  <a:txBody>
                    <a:bodyPr/>
                    <a:lstStyle/>
                    <a:p>
                      <a:pPr indent="0" lvl="0" marL="0" rtl="0" algn="l">
                        <a:spcBef>
                          <a:spcPts val="0"/>
                        </a:spcBef>
                        <a:spcAft>
                          <a:spcPts val="0"/>
                        </a:spcAft>
                        <a:buNone/>
                      </a:pPr>
                      <a:r>
                        <a:rPr lang="en" sz="800">
                          <a:solidFill>
                            <a:schemeClr val="dk1"/>
                          </a:solidFill>
                        </a:rPr>
                        <a:t>X10</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9E9E9E"/>
                      </a:solidFill>
                      <a:prstDash val="solid"/>
                      <a:round/>
                      <a:headEnd len="sm" w="sm" type="none"/>
                      <a:tailEnd len="sm" w="sm" type="none"/>
                    </a:lnB>
                    <a:solidFill>
                      <a:srgbClr val="FF0000"/>
                    </a:solidFill>
                  </a:tcPr>
                </a:tc>
                <a:tc>
                  <a:txBody>
                    <a:bodyPr/>
                    <a:lstStyle/>
                    <a:p>
                      <a:pPr indent="0" lvl="0" marL="0" rtl="0" algn="l">
                        <a:spcBef>
                          <a:spcPts val="0"/>
                        </a:spcBef>
                        <a:spcAft>
                          <a:spcPts val="0"/>
                        </a:spcAft>
                        <a:buNone/>
                      </a:pPr>
                      <a:r>
                        <a:rPr lang="en" sz="800">
                          <a:solidFill>
                            <a:schemeClr val="dk1"/>
                          </a:solidFill>
                        </a:rPr>
                        <a:t>X11</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0000"/>
                    </a:solidFill>
                  </a:tcPr>
                </a:tc>
                <a:tc>
                  <a:txBody>
                    <a:bodyPr/>
                    <a:lstStyle/>
                    <a:p>
                      <a:pPr indent="0" lvl="0" marL="0" rtl="0" algn="l">
                        <a:spcBef>
                          <a:spcPts val="0"/>
                        </a:spcBef>
                        <a:spcAft>
                          <a:spcPts val="0"/>
                        </a:spcAft>
                        <a:buNone/>
                      </a:pPr>
                      <a:r>
                        <a:rPr lang="en" sz="800">
                          <a:solidFill>
                            <a:schemeClr val="dk1"/>
                          </a:solidFill>
                        </a:rPr>
                        <a:t>X12</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X13</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295550">
                <a:tc>
                  <a:txBody>
                    <a:bodyPr/>
                    <a:lstStyle/>
                    <a:p>
                      <a:pPr indent="0" lvl="0" marL="0" rtl="0" algn="l">
                        <a:spcBef>
                          <a:spcPts val="0"/>
                        </a:spcBef>
                        <a:spcAft>
                          <a:spcPts val="0"/>
                        </a:spcAft>
                        <a:buNone/>
                      </a:pPr>
                      <a:r>
                        <a:rPr lang="en" sz="800">
                          <a:solidFill>
                            <a:schemeClr val="dk1"/>
                          </a:solidFill>
                        </a:rPr>
                        <a:t>X20</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X21</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X22</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X23</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295550">
                <a:tc>
                  <a:txBody>
                    <a:bodyPr/>
                    <a:lstStyle/>
                    <a:p>
                      <a:pPr indent="0" lvl="0" marL="0" rtl="0" algn="l">
                        <a:spcBef>
                          <a:spcPts val="0"/>
                        </a:spcBef>
                        <a:spcAft>
                          <a:spcPts val="0"/>
                        </a:spcAft>
                        <a:buNone/>
                      </a:pPr>
                      <a:r>
                        <a:rPr lang="en" sz="800">
                          <a:solidFill>
                            <a:schemeClr val="dk1"/>
                          </a:solidFill>
                        </a:rPr>
                        <a:t>X30</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X31</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X32</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X23</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302" name="Google Shape;302;p33"/>
          <p:cNvSpPr txBox="1"/>
          <p:nvPr/>
        </p:nvSpPr>
        <p:spPr>
          <a:xfrm>
            <a:off x="468250" y="2687175"/>
            <a:ext cx="4572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2"/>
                </a:solidFill>
              </a:rPr>
              <a:t>Y00</a:t>
            </a:r>
            <a:endParaRPr sz="1100">
              <a:solidFill>
                <a:schemeClr val="dk2"/>
              </a:solidFill>
            </a:endParaRPr>
          </a:p>
        </p:txBody>
      </p:sp>
      <p:sp>
        <p:nvSpPr>
          <p:cNvPr id="303" name="Google Shape;303;p33"/>
          <p:cNvSpPr/>
          <p:nvPr/>
        </p:nvSpPr>
        <p:spPr>
          <a:xfrm>
            <a:off x="595625" y="2978050"/>
            <a:ext cx="138600" cy="216900"/>
          </a:xfrm>
          <a:prstGeom prst="up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aphicFrame>
        <p:nvGraphicFramePr>
          <p:cNvPr id="304" name="Google Shape;304;p33"/>
          <p:cNvGraphicFramePr/>
          <p:nvPr/>
        </p:nvGraphicFramePr>
        <p:xfrm>
          <a:off x="2449018" y="3274803"/>
          <a:ext cx="3000000" cy="3000000"/>
        </p:xfrm>
        <a:graphic>
          <a:graphicData uri="http://schemas.openxmlformats.org/drawingml/2006/table">
            <a:tbl>
              <a:tblPr>
                <a:noFill/>
                <a:tableStyleId>{A22A7B2D-7E37-4577-AFCF-14A211495966}</a:tableStyleId>
              </a:tblPr>
              <a:tblGrid>
                <a:gridCol w="382850"/>
                <a:gridCol w="382850"/>
                <a:gridCol w="382850"/>
                <a:gridCol w="382850"/>
              </a:tblGrid>
              <a:tr h="295550">
                <a:tc>
                  <a:txBody>
                    <a:bodyPr/>
                    <a:lstStyle/>
                    <a:p>
                      <a:pPr indent="0" lvl="0" marL="0" rtl="0" algn="l">
                        <a:spcBef>
                          <a:spcPts val="0"/>
                        </a:spcBef>
                        <a:spcAft>
                          <a:spcPts val="0"/>
                        </a:spcAft>
                        <a:buNone/>
                      </a:pPr>
                      <a:r>
                        <a:rPr lang="en" sz="800"/>
                        <a:t>X00</a:t>
                      </a:r>
                      <a:endParaRPr sz="800"/>
                    </a:p>
                  </a:txBody>
                  <a:tcPr marT="91425" marB="91425" marR="91425" marL="91425">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X01</a:t>
                      </a:r>
                      <a:endParaRPr/>
                    </a:p>
                  </a:txBody>
                  <a:tcPr marT="91425" marB="91425" marR="91425" marL="91425">
                    <a:lnL cap="flat" cmpd="sng" w="9525">
                      <a:solidFill>
                        <a:srgbClr val="666666"/>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X02</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0000"/>
                    </a:solidFill>
                  </a:tcPr>
                </a:tc>
                <a:tc>
                  <a:txBody>
                    <a:bodyPr/>
                    <a:lstStyle/>
                    <a:p>
                      <a:pPr indent="0" lvl="0" marL="0" rtl="0" algn="l">
                        <a:spcBef>
                          <a:spcPts val="0"/>
                        </a:spcBef>
                        <a:spcAft>
                          <a:spcPts val="0"/>
                        </a:spcAft>
                        <a:buNone/>
                      </a:pPr>
                      <a:r>
                        <a:rPr lang="en" sz="800">
                          <a:solidFill>
                            <a:schemeClr val="dk1"/>
                          </a:solidFill>
                        </a:rPr>
                        <a:t>X03</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0000"/>
                    </a:solidFill>
                  </a:tcPr>
                </a:tc>
              </a:tr>
              <a:tr h="295550">
                <a:tc>
                  <a:txBody>
                    <a:bodyPr/>
                    <a:lstStyle/>
                    <a:p>
                      <a:pPr indent="0" lvl="0" marL="0" rtl="0" algn="l">
                        <a:spcBef>
                          <a:spcPts val="0"/>
                        </a:spcBef>
                        <a:spcAft>
                          <a:spcPts val="0"/>
                        </a:spcAft>
                        <a:buNone/>
                      </a:pPr>
                      <a:r>
                        <a:rPr lang="en" sz="800">
                          <a:solidFill>
                            <a:schemeClr val="dk1"/>
                          </a:solidFill>
                        </a:rPr>
                        <a:t>X10</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X11</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X12</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0000"/>
                    </a:solidFill>
                  </a:tcPr>
                </a:tc>
                <a:tc>
                  <a:txBody>
                    <a:bodyPr/>
                    <a:lstStyle/>
                    <a:p>
                      <a:pPr indent="0" lvl="0" marL="0" rtl="0" algn="l">
                        <a:spcBef>
                          <a:spcPts val="0"/>
                        </a:spcBef>
                        <a:spcAft>
                          <a:spcPts val="0"/>
                        </a:spcAft>
                        <a:buNone/>
                      </a:pPr>
                      <a:r>
                        <a:rPr lang="en" sz="800">
                          <a:solidFill>
                            <a:schemeClr val="dk1"/>
                          </a:solidFill>
                        </a:rPr>
                        <a:t>X13</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0000"/>
                    </a:solidFill>
                  </a:tcPr>
                </a:tc>
              </a:tr>
              <a:tr h="295550">
                <a:tc>
                  <a:txBody>
                    <a:bodyPr/>
                    <a:lstStyle/>
                    <a:p>
                      <a:pPr indent="0" lvl="0" marL="0" rtl="0" algn="l">
                        <a:spcBef>
                          <a:spcPts val="0"/>
                        </a:spcBef>
                        <a:spcAft>
                          <a:spcPts val="0"/>
                        </a:spcAft>
                        <a:buNone/>
                      </a:pPr>
                      <a:r>
                        <a:rPr lang="en" sz="800">
                          <a:solidFill>
                            <a:schemeClr val="dk1"/>
                          </a:solidFill>
                        </a:rPr>
                        <a:t>X20</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X21</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X22</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X23</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295550">
                <a:tc>
                  <a:txBody>
                    <a:bodyPr/>
                    <a:lstStyle/>
                    <a:p>
                      <a:pPr indent="0" lvl="0" marL="0" rtl="0" algn="l">
                        <a:spcBef>
                          <a:spcPts val="0"/>
                        </a:spcBef>
                        <a:spcAft>
                          <a:spcPts val="0"/>
                        </a:spcAft>
                        <a:buNone/>
                      </a:pPr>
                      <a:r>
                        <a:rPr lang="en" sz="800">
                          <a:solidFill>
                            <a:schemeClr val="dk1"/>
                          </a:solidFill>
                        </a:rPr>
                        <a:t>X30</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X31</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X32</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rPr>
                        <a:t>X23</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305" name="Google Shape;305;p33"/>
          <p:cNvSpPr txBox="1"/>
          <p:nvPr/>
        </p:nvSpPr>
        <p:spPr>
          <a:xfrm>
            <a:off x="3367850" y="2693151"/>
            <a:ext cx="4572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2"/>
                </a:solidFill>
              </a:rPr>
              <a:t>Y01</a:t>
            </a:r>
            <a:endParaRPr sz="1100">
              <a:solidFill>
                <a:schemeClr val="dk2"/>
              </a:solidFill>
            </a:endParaRPr>
          </a:p>
        </p:txBody>
      </p:sp>
      <p:sp>
        <p:nvSpPr>
          <p:cNvPr id="306" name="Google Shape;306;p33"/>
          <p:cNvSpPr/>
          <p:nvPr/>
        </p:nvSpPr>
        <p:spPr>
          <a:xfrm>
            <a:off x="3495225" y="2984026"/>
            <a:ext cx="138600" cy="216900"/>
          </a:xfrm>
          <a:prstGeom prst="up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34"/>
          <p:cNvSpPr txBox="1"/>
          <p:nvPr>
            <p:ph type="title"/>
          </p:nvPr>
        </p:nvSpPr>
        <p:spPr>
          <a:xfrm>
            <a:off x="270150" y="424800"/>
            <a:ext cx="4688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CNN Architectures: Image Classification</a:t>
            </a:r>
            <a:endParaRPr/>
          </a:p>
        </p:txBody>
      </p:sp>
      <p:sp>
        <p:nvSpPr>
          <p:cNvPr id="312" name="Google Shape;312;p34"/>
          <p:cNvSpPr/>
          <p:nvPr/>
        </p:nvSpPr>
        <p:spPr>
          <a:xfrm>
            <a:off x="1523675" y="1726800"/>
            <a:ext cx="1579200" cy="886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CNN (H,W,c=32)</a:t>
            </a:r>
            <a:endParaRPr/>
          </a:p>
        </p:txBody>
      </p:sp>
      <p:pic>
        <p:nvPicPr>
          <p:cNvPr id="313" name="Google Shape;313;p34"/>
          <p:cNvPicPr preferRelativeResize="0"/>
          <p:nvPr/>
        </p:nvPicPr>
        <p:blipFill rotWithShape="1">
          <a:blip r:embed="rId3">
            <a:alphaModFix/>
          </a:blip>
          <a:srcRect b="22609" l="11563" r="6656" t="19131"/>
          <a:stretch/>
        </p:blipFill>
        <p:spPr>
          <a:xfrm>
            <a:off x="50800" y="1629850"/>
            <a:ext cx="1062600" cy="1195850"/>
          </a:xfrm>
          <a:prstGeom prst="rect">
            <a:avLst/>
          </a:prstGeom>
          <a:noFill/>
          <a:ln>
            <a:noFill/>
          </a:ln>
        </p:spPr>
      </p:pic>
      <p:sp>
        <p:nvSpPr>
          <p:cNvPr id="314" name="Google Shape;314;p34"/>
          <p:cNvSpPr/>
          <p:nvPr/>
        </p:nvSpPr>
        <p:spPr>
          <a:xfrm>
            <a:off x="3464950" y="1726800"/>
            <a:ext cx="1579200" cy="886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Downsample</a:t>
            </a:r>
            <a:endParaRPr/>
          </a:p>
          <a:p>
            <a:pPr indent="0" lvl="0" marL="0" rtl="0" algn="ctr">
              <a:spcBef>
                <a:spcPts val="0"/>
              </a:spcBef>
              <a:spcAft>
                <a:spcPts val="0"/>
              </a:spcAft>
              <a:buNone/>
            </a:pPr>
            <a:r>
              <a:rPr lang="en"/>
              <a:t>(H/2,W/2,c=64)</a:t>
            </a:r>
            <a:endParaRPr/>
          </a:p>
        </p:txBody>
      </p:sp>
      <p:sp>
        <p:nvSpPr>
          <p:cNvPr id="315" name="Google Shape;315;p34"/>
          <p:cNvSpPr/>
          <p:nvPr/>
        </p:nvSpPr>
        <p:spPr>
          <a:xfrm>
            <a:off x="5406225" y="1726800"/>
            <a:ext cx="1579200" cy="886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solidFill>
                  <a:schemeClr val="dk1"/>
                </a:solidFill>
              </a:rPr>
              <a:t>CNN (H/2,W/2,c=64)</a:t>
            </a:r>
            <a:endParaRPr/>
          </a:p>
        </p:txBody>
      </p:sp>
      <p:sp>
        <p:nvSpPr>
          <p:cNvPr id="316" name="Google Shape;316;p34"/>
          <p:cNvSpPr txBox="1"/>
          <p:nvPr/>
        </p:nvSpPr>
        <p:spPr>
          <a:xfrm>
            <a:off x="2054625" y="1228150"/>
            <a:ext cx="457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x</a:t>
            </a:r>
            <a:r>
              <a:rPr lang="en" sz="1800">
                <a:solidFill>
                  <a:schemeClr val="dk2"/>
                </a:solidFill>
              </a:rPr>
              <a:t>5 </a:t>
            </a:r>
            <a:endParaRPr sz="1800">
              <a:solidFill>
                <a:schemeClr val="dk2"/>
              </a:solidFill>
            </a:endParaRPr>
          </a:p>
        </p:txBody>
      </p:sp>
      <p:sp>
        <p:nvSpPr>
          <p:cNvPr id="317" name="Google Shape;317;p34"/>
          <p:cNvSpPr txBox="1"/>
          <p:nvPr/>
        </p:nvSpPr>
        <p:spPr>
          <a:xfrm>
            <a:off x="6011550" y="1228150"/>
            <a:ext cx="457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x5 </a:t>
            </a:r>
            <a:endParaRPr sz="1800">
              <a:solidFill>
                <a:schemeClr val="dk2"/>
              </a:solidFill>
            </a:endParaRPr>
          </a:p>
        </p:txBody>
      </p:sp>
      <p:sp>
        <p:nvSpPr>
          <p:cNvPr id="318" name="Google Shape;318;p34"/>
          <p:cNvSpPr txBox="1"/>
          <p:nvPr/>
        </p:nvSpPr>
        <p:spPr>
          <a:xfrm>
            <a:off x="1429175" y="2668725"/>
            <a:ext cx="17682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dk2"/>
                </a:solidFill>
              </a:rPr>
              <a:t>Each layer successively refines features</a:t>
            </a:r>
            <a:r>
              <a:rPr lang="en" sz="1300">
                <a:solidFill>
                  <a:schemeClr val="dk2"/>
                </a:solidFill>
              </a:rPr>
              <a:t> </a:t>
            </a:r>
            <a:endParaRPr sz="1300">
              <a:solidFill>
                <a:schemeClr val="dk2"/>
              </a:solidFill>
            </a:endParaRPr>
          </a:p>
        </p:txBody>
      </p:sp>
      <p:sp>
        <p:nvSpPr>
          <p:cNvPr id="319" name="Google Shape;319;p34"/>
          <p:cNvSpPr/>
          <p:nvPr/>
        </p:nvSpPr>
        <p:spPr>
          <a:xfrm>
            <a:off x="7253100" y="1726800"/>
            <a:ext cx="1579200" cy="886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Downsample</a:t>
            </a:r>
            <a:endParaRPr/>
          </a:p>
          <a:p>
            <a:pPr indent="0" lvl="0" marL="0" rtl="0" algn="ctr">
              <a:spcBef>
                <a:spcPts val="0"/>
              </a:spcBef>
              <a:spcAft>
                <a:spcPts val="0"/>
              </a:spcAft>
              <a:buNone/>
            </a:pPr>
            <a:r>
              <a:rPr lang="en"/>
              <a:t>(H/4,W/4,c=128)</a:t>
            </a:r>
            <a:endParaRPr/>
          </a:p>
        </p:txBody>
      </p:sp>
      <p:sp>
        <p:nvSpPr>
          <p:cNvPr id="320" name="Google Shape;320;p34"/>
          <p:cNvSpPr/>
          <p:nvPr/>
        </p:nvSpPr>
        <p:spPr>
          <a:xfrm>
            <a:off x="7253100" y="2894975"/>
            <a:ext cx="1579200" cy="886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AvgPool</a:t>
            </a:r>
            <a:endParaRPr/>
          </a:p>
          <a:p>
            <a:pPr indent="0" lvl="0" marL="0" rtl="0" algn="ctr">
              <a:spcBef>
                <a:spcPts val="0"/>
              </a:spcBef>
              <a:spcAft>
                <a:spcPts val="0"/>
              </a:spcAft>
              <a:buNone/>
            </a:pPr>
            <a:r>
              <a:rPr lang="en"/>
              <a:t>(across spatial dimension) 128*1</a:t>
            </a:r>
            <a:endParaRPr/>
          </a:p>
        </p:txBody>
      </p:sp>
      <p:sp>
        <p:nvSpPr>
          <p:cNvPr id="321" name="Google Shape;321;p34"/>
          <p:cNvSpPr/>
          <p:nvPr/>
        </p:nvSpPr>
        <p:spPr>
          <a:xfrm>
            <a:off x="7253100" y="4035450"/>
            <a:ext cx="1579200" cy="886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Classification head (typically MLP)</a:t>
            </a:r>
            <a:endParaRPr/>
          </a:p>
        </p:txBody>
      </p:sp>
      <p:sp>
        <p:nvSpPr>
          <p:cNvPr id="322" name="Google Shape;322;p34"/>
          <p:cNvSpPr txBox="1"/>
          <p:nvPr/>
        </p:nvSpPr>
        <p:spPr>
          <a:xfrm>
            <a:off x="341650" y="3342600"/>
            <a:ext cx="4488000" cy="1800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rPr>
              <a:t>Pattern “downsample spatially, increase channels”:</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Grow receptive field</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Keep compute/memory manageable</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Increase representation capacity where it matters</a:t>
            </a:r>
            <a:endParaRPr sz="1200">
              <a:solidFill>
                <a:schemeClr val="dk1"/>
              </a:solidFill>
            </a:endParaRPr>
          </a:p>
          <a:p>
            <a:pPr indent="-304800" lvl="1" marL="914400" rtl="0" algn="l">
              <a:spcBef>
                <a:spcPts val="0"/>
              </a:spcBef>
              <a:spcAft>
                <a:spcPts val="0"/>
              </a:spcAft>
              <a:buClr>
                <a:schemeClr val="dk1"/>
              </a:buClr>
              <a:buSzPts val="1200"/>
              <a:buChar char="-"/>
            </a:pPr>
            <a:r>
              <a:rPr lang="en" sz="900">
                <a:solidFill>
                  <a:schemeClr val="dk1"/>
                </a:solidFill>
              </a:rPr>
              <a:t>Early layers need to preserve </a:t>
            </a:r>
            <a:r>
              <a:rPr b="1" lang="en" sz="900">
                <a:solidFill>
                  <a:schemeClr val="dk1"/>
                </a:solidFill>
              </a:rPr>
              <a:t>where</a:t>
            </a:r>
            <a:r>
              <a:rPr lang="en" sz="900">
                <a:solidFill>
                  <a:schemeClr val="dk1"/>
                </a:solidFill>
              </a:rPr>
              <a:t> things are (edges at particular pixels), so you keep </a:t>
            </a:r>
            <a:r>
              <a:rPr b="1" lang="en" sz="900">
                <a:solidFill>
                  <a:schemeClr val="dk1"/>
                </a:solidFill>
              </a:rPr>
              <a:t>high spatial resolution</a:t>
            </a:r>
            <a:endParaRPr b="1" sz="900">
              <a:solidFill>
                <a:schemeClr val="dk1"/>
              </a:solidFill>
            </a:endParaRPr>
          </a:p>
          <a:p>
            <a:pPr indent="-285750" lvl="1" marL="914400" rtl="0" algn="l">
              <a:spcBef>
                <a:spcPts val="0"/>
              </a:spcBef>
              <a:spcAft>
                <a:spcPts val="0"/>
              </a:spcAft>
              <a:buClr>
                <a:schemeClr val="dk1"/>
              </a:buClr>
              <a:buSzPts val="900"/>
              <a:buChar char="-"/>
            </a:pPr>
            <a:r>
              <a:rPr lang="en" sz="900">
                <a:solidFill>
                  <a:schemeClr val="dk1"/>
                </a:solidFill>
              </a:rPr>
              <a:t>Deeper layers care more about </a:t>
            </a:r>
            <a:r>
              <a:rPr b="1" lang="en" sz="900">
                <a:solidFill>
                  <a:schemeClr val="dk1"/>
                </a:solidFill>
              </a:rPr>
              <a:t>what</a:t>
            </a:r>
            <a:r>
              <a:rPr lang="en" sz="900">
                <a:solidFill>
                  <a:schemeClr val="dk1"/>
                </a:solidFill>
              </a:rPr>
              <a:t> is present (a loop, a corner, a digit-part), and exact pixel location matters less, so you can reduce resolution and spend capacity on </a:t>
            </a:r>
            <a:r>
              <a:rPr b="1" lang="en" sz="900">
                <a:solidFill>
                  <a:schemeClr val="dk1"/>
                </a:solidFill>
              </a:rPr>
              <a:t>more channels</a:t>
            </a:r>
            <a:r>
              <a:rPr lang="en" sz="900">
                <a:solidFill>
                  <a:schemeClr val="dk1"/>
                </a:solidFill>
              </a:rPr>
              <a:t> (more feature types)</a:t>
            </a:r>
            <a:endParaRPr sz="1200"/>
          </a:p>
        </p:txBody>
      </p:sp>
      <p:pic>
        <p:nvPicPr>
          <p:cNvPr descr="{&quot;id&quot;:&quot;15&quot;,&quot;font&quot;:{&quot;color&quot;:&quot;#000000&quot;,&quot;family&quot;:&quot;Arial&quot;,&quot;size&quot;:10.5},&quot;type&quot;:&quot;gather*&quot;,&quot;code&quot;:&quot;\\begin{gather*}\n{\\text{Conv}\\;\\text{layer}\\;\\text{FLOPs:}}\\\\\n{H\\times W\\times K_{H}\\times K_{W}\\times C_{\\text{in}\\text{}}\\times C_{\\text{out}}}\\\\\n{\\text{If}\\;\\text{we}\\;\\text{half}\\;\\text{H}\\;\\text{and}\\;\\text{W}\\;\\text{by}\\;\\text{a}\\;\\text{factor}\\;\\text{of}\\;\\text{2}\\;\\text{by}\\;\\text{pooling}\\;\\left(2,2\\right)\\text{}}\\\\\n{\\text{That}\\;\\text{lowers}\\;\\text{computation}\\;\\text{by}\\;\\text{x4,}\\;\\text{letting}\\;\\text{us}\\;\\text{increase}\\;C_{\\text{out}}\\,\\text{roughly}\\;\\text{}}\\\\\n{\\text{by}\\;\\text{the}\\;\\text{same}\\;\\text{amount}}\t\n\\end{gather*}&quot;,&quot;aid&quot;:null,&quot;backgroundColor&quot;:&quot;#FFFFFF&quot;,&quot;backgroundColorModified&quot;:false,&quot;ts&quot;:1769979048656,&quot;cs&quot;:&quot;vlFJWJrmiXm63Yp+6Hivng==&quot;,&quot;size&quot;:{&quot;width&quot;:463.7874469816273,&quot;height&quot;:103.26245406824147}}" id="323" name="Google Shape;323;p34"/>
          <p:cNvPicPr preferRelativeResize="0"/>
          <p:nvPr/>
        </p:nvPicPr>
        <p:blipFill>
          <a:blip r:embed="rId4">
            <a:alphaModFix/>
          </a:blip>
          <a:stretch>
            <a:fillRect/>
          </a:stretch>
        </p:blipFill>
        <p:spPr>
          <a:xfrm>
            <a:off x="4672675" y="207625"/>
            <a:ext cx="4417575" cy="983575"/>
          </a:xfrm>
          <a:prstGeom prst="rect">
            <a:avLst/>
          </a:prstGeom>
          <a:noFill/>
          <a:ln>
            <a:noFill/>
          </a:ln>
        </p:spPr>
      </p:pic>
      <p:cxnSp>
        <p:nvCxnSpPr>
          <p:cNvPr id="324" name="Google Shape;324;p34"/>
          <p:cNvCxnSpPr>
            <a:stCxn id="312" idx="3"/>
            <a:endCxn id="314" idx="1"/>
          </p:cNvCxnSpPr>
          <p:nvPr/>
        </p:nvCxnSpPr>
        <p:spPr>
          <a:xfrm>
            <a:off x="3102875" y="2170050"/>
            <a:ext cx="362100" cy="0"/>
          </a:xfrm>
          <a:prstGeom prst="straightConnector1">
            <a:avLst/>
          </a:prstGeom>
          <a:noFill/>
          <a:ln cap="flat" cmpd="sng" w="9525">
            <a:solidFill>
              <a:schemeClr val="dk2"/>
            </a:solidFill>
            <a:prstDash val="solid"/>
            <a:round/>
            <a:headEnd len="med" w="med" type="none"/>
            <a:tailEnd len="med" w="med" type="triangle"/>
          </a:ln>
        </p:spPr>
      </p:cxnSp>
      <p:cxnSp>
        <p:nvCxnSpPr>
          <p:cNvPr id="325" name="Google Shape;325;p34"/>
          <p:cNvCxnSpPr>
            <a:stCxn id="314" idx="3"/>
            <a:endCxn id="315" idx="1"/>
          </p:cNvCxnSpPr>
          <p:nvPr/>
        </p:nvCxnSpPr>
        <p:spPr>
          <a:xfrm>
            <a:off x="5044150" y="2170050"/>
            <a:ext cx="362100" cy="0"/>
          </a:xfrm>
          <a:prstGeom prst="straightConnector1">
            <a:avLst/>
          </a:prstGeom>
          <a:noFill/>
          <a:ln cap="flat" cmpd="sng" w="9525">
            <a:solidFill>
              <a:schemeClr val="dk2"/>
            </a:solidFill>
            <a:prstDash val="solid"/>
            <a:round/>
            <a:headEnd len="med" w="med" type="none"/>
            <a:tailEnd len="med" w="med" type="triangle"/>
          </a:ln>
        </p:spPr>
      </p:cxnSp>
      <p:cxnSp>
        <p:nvCxnSpPr>
          <p:cNvPr id="326" name="Google Shape;326;p34"/>
          <p:cNvCxnSpPr>
            <a:stCxn id="315" idx="3"/>
            <a:endCxn id="319" idx="1"/>
          </p:cNvCxnSpPr>
          <p:nvPr/>
        </p:nvCxnSpPr>
        <p:spPr>
          <a:xfrm>
            <a:off x="6985425" y="2170050"/>
            <a:ext cx="267600" cy="0"/>
          </a:xfrm>
          <a:prstGeom prst="straightConnector1">
            <a:avLst/>
          </a:prstGeom>
          <a:noFill/>
          <a:ln cap="flat" cmpd="sng" w="9525">
            <a:solidFill>
              <a:schemeClr val="dk2"/>
            </a:solidFill>
            <a:prstDash val="solid"/>
            <a:round/>
            <a:headEnd len="med" w="med" type="none"/>
            <a:tailEnd len="med" w="med" type="triangle"/>
          </a:ln>
        </p:spPr>
      </p:cxnSp>
      <p:cxnSp>
        <p:nvCxnSpPr>
          <p:cNvPr id="327" name="Google Shape;327;p34"/>
          <p:cNvCxnSpPr>
            <a:stCxn id="319" idx="2"/>
            <a:endCxn id="320" idx="0"/>
          </p:cNvCxnSpPr>
          <p:nvPr/>
        </p:nvCxnSpPr>
        <p:spPr>
          <a:xfrm>
            <a:off x="8042700" y="2613300"/>
            <a:ext cx="0" cy="281700"/>
          </a:xfrm>
          <a:prstGeom prst="straightConnector1">
            <a:avLst/>
          </a:prstGeom>
          <a:noFill/>
          <a:ln cap="flat" cmpd="sng" w="9525">
            <a:solidFill>
              <a:schemeClr val="dk2"/>
            </a:solidFill>
            <a:prstDash val="solid"/>
            <a:round/>
            <a:headEnd len="med" w="med" type="none"/>
            <a:tailEnd len="med" w="med" type="triangle"/>
          </a:ln>
        </p:spPr>
      </p:cxnSp>
      <p:cxnSp>
        <p:nvCxnSpPr>
          <p:cNvPr id="328" name="Google Shape;328;p34"/>
          <p:cNvCxnSpPr>
            <a:stCxn id="320" idx="2"/>
            <a:endCxn id="321" idx="0"/>
          </p:cNvCxnSpPr>
          <p:nvPr/>
        </p:nvCxnSpPr>
        <p:spPr>
          <a:xfrm>
            <a:off x="8042700" y="3781475"/>
            <a:ext cx="0" cy="2541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35"/>
          <p:cNvSpPr txBox="1"/>
          <p:nvPr>
            <p:ph type="title"/>
          </p:nvPr>
        </p:nvSpPr>
        <p:spPr>
          <a:xfrm>
            <a:off x="270150" y="424800"/>
            <a:ext cx="6591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CNN Architectures: Object Detection</a:t>
            </a:r>
            <a:endParaRPr/>
          </a:p>
        </p:txBody>
      </p:sp>
      <p:sp>
        <p:nvSpPr>
          <p:cNvPr id="334" name="Google Shape;334;p35"/>
          <p:cNvSpPr/>
          <p:nvPr/>
        </p:nvSpPr>
        <p:spPr>
          <a:xfrm>
            <a:off x="1717600" y="1740674"/>
            <a:ext cx="1579200" cy="794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C1</a:t>
            </a:r>
            <a:endParaRPr/>
          </a:p>
          <a:p>
            <a:pPr indent="0" lvl="0" marL="0" rtl="0" algn="ctr">
              <a:spcBef>
                <a:spcPts val="0"/>
              </a:spcBef>
              <a:spcAft>
                <a:spcPts val="0"/>
              </a:spcAft>
              <a:buNone/>
            </a:pPr>
            <a:r>
              <a:rPr lang="en" sz="1200"/>
              <a:t>CNNs: H,W,c=32)</a:t>
            </a:r>
            <a:endParaRPr sz="1200"/>
          </a:p>
        </p:txBody>
      </p:sp>
      <p:sp>
        <p:nvSpPr>
          <p:cNvPr id="335" name="Google Shape;335;p35"/>
          <p:cNvSpPr/>
          <p:nvPr/>
        </p:nvSpPr>
        <p:spPr>
          <a:xfrm>
            <a:off x="4526713" y="4035350"/>
            <a:ext cx="1579200" cy="665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P3</a:t>
            </a:r>
            <a:endParaRPr/>
          </a:p>
        </p:txBody>
      </p:sp>
      <p:sp>
        <p:nvSpPr>
          <p:cNvPr id="336" name="Google Shape;336;p35"/>
          <p:cNvSpPr/>
          <p:nvPr/>
        </p:nvSpPr>
        <p:spPr>
          <a:xfrm>
            <a:off x="7150663" y="2333150"/>
            <a:ext cx="1579200" cy="735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Bounding box and classification head</a:t>
            </a:r>
            <a:endParaRPr sz="1200"/>
          </a:p>
        </p:txBody>
      </p:sp>
      <p:sp>
        <p:nvSpPr>
          <p:cNvPr id="337" name="Google Shape;337;p35"/>
          <p:cNvSpPr txBox="1"/>
          <p:nvPr/>
        </p:nvSpPr>
        <p:spPr>
          <a:xfrm>
            <a:off x="307075" y="978450"/>
            <a:ext cx="79668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rPr>
              <a:t>In object detection and classification, we need to standard the image at a high level (which objects are present) and at a low level (where specifically those objects are present). There are several methods used for this task</a:t>
            </a:r>
            <a:endParaRPr sz="1200"/>
          </a:p>
        </p:txBody>
      </p:sp>
      <p:cxnSp>
        <p:nvCxnSpPr>
          <p:cNvPr id="338" name="Google Shape;338;p35"/>
          <p:cNvCxnSpPr>
            <a:stCxn id="339" idx="3"/>
            <a:endCxn id="335" idx="1"/>
          </p:cNvCxnSpPr>
          <p:nvPr/>
        </p:nvCxnSpPr>
        <p:spPr>
          <a:xfrm>
            <a:off x="3296800" y="4363274"/>
            <a:ext cx="1230000" cy="4500"/>
          </a:xfrm>
          <a:prstGeom prst="straightConnector1">
            <a:avLst/>
          </a:prstGeom>
          <a:noFill/>
          <a:ln cap="flat" cmpd="sng" w="9525">
            <a:solidFill>
              <a:schemeClr val="dk2"/>
            </a:solidFill>
            <a:prstDash val="solid"/>
            <a:round/>
            <a:headEnd len="med" w="med" type="none"/>
            <a:tailEnd len="med" w="med" type="triangle"/>
          </a:ln>
        </p:spPr>
      </p:cxnSp>
      <p:cxnSp>
        <p:nvCxnSpPr>
          <p:cNvPr id="340" name="Google Shape;340;p35"/>
          <p:cNvCxnSpPr>
            <a:stCxn id="335" idx="0"/>
            <a:endCxn id="341" idx="2"/>
          </p:cNvCxnSpPr>
          <p:nvPr/>
        </p:nvCxnSpPr>
        <p:spPr>
          <a:xfrm rot="10800000">
            <a:off x="5316313" y="3652250"/>
            <a:ext cx="0" cy="383100"/>
          </a:xfrm>
          <a:prstGeom prst="straightConnector1">
            <a:avLst/>
          </a:prstGeom>
          <a:noFill/>
          <a:ln cap="flat" cmpd="sng" w="9525">
            <a:solidFill>
              <a:schemeClr val="dk2"/>
            </a:solidFill>
            <a:prstDash val="solid"/>
            <a:round/>
            <a:headEnd len="med" w="med" type="none"/>
            <a:tailEnd len="med" w="med" type="triangle"/>
          </a:ln>
        </p:spPr>
      </p:cxnSp>
      <p:sp>
        <p:nvSpPr>
          <p:cNvPr id="342" name="Google Shape;342;p35"/>
          <p:cNvSpPr/>
          <p:nvPr/>
        </p:nvSpPr>
        <p:spPr>
          <a:xfrm>
            <a:off x="1717600" y="2853449"/>
            <a:ext cx="1579200" cy="794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C2</a:t>
            </a:r>
            <a:endParaRPr/>
          </a:p>
          <a:p>
            <a:pPr indent="0" lvl="0" marL="0" rtl="0" algn="ctr">
              <a:spcBef>
                <a:spcPts val="0"/>
              </a:spcBef>
              <a:spcAft>
                <a:spcPts val="0"/>
              </a:spcAft>
              <a:buNone/>
            </a:pPr>
            <a:r>
              <a:rPr lang="en" sz="1000"/>
              <a:t>CNNs: H/2,W/2,c=64)</a:t>
            </a:r>
            <a:endParaRPr sz="1000"/>
          </a:p>
        </p:txBody>
      </p:sp>
      <p:cxnSp>
        <p:nvCxnSpPr>
          <p:cNvPr id="343" name="Google Shape;343;p35"/>
          <p:cNvCxnSpPr>
            <a:stCxn id="334" idx="2"/>
            <a:endCxn id="342" idx="0"/>
          </p:cNvCxnSpPr>
          <p:nvPr/>
        </p:nvCxnSpPr>
        <p:spPr>
          <a:xfrm>
            <a:off x="2507200" y="2534774"/>
            <a:ext cx="0" cy="318600"/>
          </a:xfrm>
          <a:prstGeom prst="straightConnector1">
            <a:avLst/>
          </a:prstGeom>
          <a:noFill/>
          <a:ln cap="flat" cmpd="sng" w="9525">
            <a:solidFill>
              <a:schemeClr val="dk2"/>
            </a:solidFill>
            <a:prstDash val="solid"/>
            <a:round/>
            <a:headEnd len="med" w="med" type="none"/>
            <a:tailEnd len="med" w="med" type="triangle"/>
          </a:ln>
        </p:spPr>
      </p:cxnSp>
      <p:sp>
        <p:nvSpPr>
          <p:cNvPr id="339" name="Google Shape;339;p35"/>
          <p:cNvSpPr/>
          <p:nvPr/>
        </p:nvSpPr>
        <p:spPr>
          <a:xfrm>
            <a:off x="1717600" y="3966224"/>
            <a:ext cx="1579200" cy="794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C3</a:t>
            </a:r>
            <a:endParaRPr/>
          </a:p>
          <a:p>
            <a:pPr indent="0" lvl="0" marL="0" rtl="0" algn="ctr">
              <a:spcBef>
                <a:spcPts val="0"/>
              </a:spcBef>
              <a:spcAft>
                <a:spcPts val="0"/>
              </a:spcAft>
              <a:buNone/>
            </a:pPr>
            <a:r>
              <a:rPr lang="en" sz="900"/>
              <a:t>(</a:t>
            </a:r>
            <a:r>
              <a:rPr lang="en" sz="900"/>
              <a:t>CNNs: H/4,W/4,c=128)</a:t>
            </a:r>
            <a:endParaRPr sz="900"/>
          </a:p>
        </p:txBody>
      </p:sp>
      <p:cxnSp>
        <p:nvCxnSpPr>
          <p:cNvPr id="344" name="Google Shape;344;p35"/>
          <p:cNvCxnSpPr>
            <a:stCxn id="342" idx="2"/>
            <a:endCxn id="339" idx="0"/>
          </p:cNvCxnSpPr>
          <p:nvPr/>
        </p:nvCxnSpPr>
        <p:spPr>
          <a:xfrm>
            <a:off x="2507200" y="3647549"/>
            <a:ext cx="0" cy="318600"/>
          </a:xfrm>
          <a:prstGeom prst="straightConnector1">
            <a:avLst/>
          </a:prstGeom>
          <a:noFill/>
          <a:ln cap="flat" cmpd="sng" w="9525">
            <a:solidFill>
              <a:schemeClr val="dk2"/>
            </a:solidFill>
            <a:prstDash val="solid"/>
            <a:round/>
            <a:headEnd len="med" w="med" type="none"/>
            <a:tailEnd len="med" w="med" type="triangle"/>
          </a:ln>
        </p:spPr>
      </p:cxnSp>
      <p:sp>
        <p:nvSpPr>
          <p:cNvPr id="341" name="Google Shape;341;p35"/>
          <p:cNvSpPr/>
          <p:nvPr/>
        </p:nvSpPr>
        <p:spPr>
          <a:xfrm>
            <a:off x="4526713" y="2858074"/>
            <a:ext cx="1579200" cy="794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P2</a:t>
            </a:r>
            <a:endParaRPr/>
          </a:p>
          <a:p>
            <a:pPr indent="0" lvl="0" marL="0" rtl="0" algn="ctr">
              <a:spcBef>
                <a:spcPts val="0"/>
              </a:spcBef>
              <a:spcAft>
                <a:spcPts val="0"/>
              </a:spcAft>
              <a:buNone/>
            </a:pPr>
            <a:r>
              <a:rPr lang="en" sz="1000"/>
              <a:t>CNNs: H/2,W/2,c=256)</a:t>
            </a:r>
            <a:endParaRPr sz="1000"/>
          </a:p>
        </p:txBody>
      </p:sp>
      <p:sp>
        <p:nvSpPr>
          <p:cNvPr id="345" name="Google Shape;345;p35"/>
          <p:cNvSpPr txBox="1"/>
          <p:nvPr/>
        </p:nvSpPr>
        <p:spPr>
          <a:xfrm>
            <a:off x="5316313" y="3605975"/>
            <a:ext cx="17775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rPr>
              <a:t>Upsample, eg., using bilinear interpolation</a:t>
            </a:r>
            <a:endParaRPr sz="1100"/>
          </a:p>
        </p:txBody>
      </p:sp>
      <p:cxnSp>
        <p:nvCxnSpPr>
          <p:cNvPr id="346" name="Google Shape;346;p35"/>
          <p:cNvCxnSpPr>
            <a:stCxn id="342" idx="3"/>
            <a:endCxn id="341" idx="1"/>
          </p:cNvCxnSpPr>
          <p:nvPr/>
        </p:nvCxnSpPr>
        <p:spPr>
          <a:xfrm>
            <a:off x="3296800" y="3250499"/>
            <a:ext cx="1230000" cy="4500"/>
          </a:xfrm>
          <a:prstGeom prst="straightConnector1">
            <a:avLst/>
          </a:prstGeom>
          <a:noFill/>
          <a:ln cap="flat" cmpd="sng" w="9525">
            <a:solidFill>
              <a:schemeClr val="dk2"/>
            </a:solidFill>
            <a:prstDash val="solid"/>
            <a:round/>
            <a:headEnd len="med" w="med" type="none"/>
            <a:tailEnd len="med" w="med" type="triangle"/>
          </a:ln>
        </p:spPr>
      </p:cxnSp>
      <p:sp>
        <p:nvSpPr>
          <p:cNvPr id="347" name="Google Shape;347;p35"/>
          <p:cNvSpPr txBox="1"/>
          <p:nvPr/>
        </p:nvSpPr>
        <p:spPr>
          <a:xfrm>
            <a:off x="3481566" y="2765725"/>
            <a:ext cx="8604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chemeClr val="dk2"/>
                </a:solidFill>
              </a:rPr>
              <a:t>Conv</a:t>
            </a:r>
            <a:r>
              <a:rPr b="1" lang="en" sz="900">
                <a:solidFill>
                  <a:schemeClr val="dk2"/>
                </a:solidFill>
              </a:rPr>
              <a:t> 1d</a:t>
            </a:r>
            <a:endParaRPr b="1" sz="900">
              <a:solidFill>
                <a:schemeClr val="dk2"/>
              </a:solidFill>
            </a:endParaRPr>
          </a:p>
          <a:p>
            <a:pPr indent="0" lvl="0" marL="0" rtl="0" algn="ctr">
              <a:spcBef>
                <a:spcPts val="0"/>
              </a:spcBef>
              <a:spcAft>
                <a:spcPts val="0"/>
              </a:spcAft>
              <a:buNone/>
            </a:pPr>
            <a:r>
              <a:rPr b="1" lang="en" sz="900">
                <a:solidFill>
                  <a:schemeClr val="dk2"/>
                </a:solidFill>
              </a:rPr>
              <a:t>c=64-&gt;256</a:t>
            </a:r>
            <a:endParaRPr b="1" sz="900">
              <a:solidFill>
                <a:schemeClr val="dk2"/>
              </a:solidFill>
            </a:endParaRPr>
          </a:p>
        </p:txBody>
      </p:sp>
      <p:sp>
        <p:nvSpPr>
          <p:cNvPr id="348" name="Google Shape;348;p35"/>
          <p:cNvSpPr/>
          <p:nvPr/>
        </p:nvSpPr>
        <p:spPr>
          <a:xfrm>
            <a:off x="4526713" y="1745299"/>
            <a:ext cx="1579200" cy="794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P1</a:t>
            </a:r>
            <a:endParaRPr/>
          </a:p>
          <a:p>
            <a:pPr indent="0" lvl="0" marL="0" rtl="0" algn="ctr">
              <a:spcBef>
                <a:spcPts val="0"/>
              </a:spcBef>
              <a:spcAft>
                <a:spcPts val="0"/>
              </a:spcAft>
              <a:buNone/>
            </a:pPr>
            <a:r>
              <a:rPr lang="en" sz="1000"/>
              <a:t>CNNs: H,W,c=256)</a:t>
            </a:r>
            <a:endParaRPr sz="1000"/>
          </a:p>
        </p:txBody>
      </p:sp>
      <p:cxnSp>
        <p:nvCxnSpPr>
          <p:cNvPr id="349" name="Google Shape;349;p35"/>
          <p:cNvCxnSpPr>
            <a:endCxn id="348" idx="2"/>
          </p:cNvCxnSpPr>
          <p:nvPr/>
        </p:nvCxnSpPr>
        <p:spPr>
          <a:xfrm rot="10800000">
            <a:off x="5316313" y="2539399"/>
            <a:ext cx="4800" cy="323100"/>
          </a:xfrm>
          <a:prstGeom prst="straightConnector1">
            <a:avLst/>
          </a:prstGeom>
          <a:noFill/>
          <a:ln cap="flat" cmpd="sng" w="9525">
            <a:solidFill>
              <a:schemeClr val="dk2"/>
            </a:solidFill>
            <a:prstDash val="solid"/>
            <a:round/>
            <a:headEnd len="med" w="med" type="none"/>
            <a:tailEnd len="med" w="med" type="triangle"/>
          </a:ln>
        </p:spPr>
      </p:cxnSp>
      <p:sp>
        <p:nvSpPr>
          <p:cNvPr id="350" name="Google Shape;350;p35"/>
          <p:cNvSpPr txBox="1"/>
          <p:nvPr/>
        </p:nvSpPr>
        <p:spPr>
          <a:xfrm>
            <a:off x="3449167" y="1606900"/>
            <a:ext cx="9252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chemeClr val="dk2"/>
                </a:solidFill>
              </a:rPr>
              <a:t>Conv 1d</a:t>
            </a:r>
            <a:endParaRPr b="1" sz="900">
              <a:solidFill>
                <a:schemeClr val="dk2"/>
              </a:solidFill>
            </a:endParaRPr>
          </a:p>
          <a:p>
            <a:pPr indent="0" lvl="0" marL="0" rtl="0" algn="ctr">
              <a:spcBef>
                <a:spcPts val="0"/>
              </a:spcBef>
              <a:spcAft>
                <a:spcPts val="0"/>
              </a:spcAft>
              <a:buNone/>
            </a:pPr>
            <a:r>
              <a:rPr b="1" lang="en" sz="900">
                <a:solidFill>
                  <a:schemeClr val="dk2"/>
                </a:solidFill>
              </a:rPr>
              <a:t>c=32-&gt;256</a:t>
            </a:r>
            <a:endParaRPr b="1" sz="900">
              <a:solidFill>
                <a:schemeClr val="dk2"/>
              </a:solidFill>
            </a:endParaRPr>
          </a:p>
        </p:txBody>
      </p:sp>
      <p:cxnSp>
        <p:nvCxnSpPr>
          <p:cNvPr id="351" name="Google Shape;351;p35"/>
          <p:cNvCxnSpPr>
            <a:stCxn id="334" idx="3"/>
            <a:endCxn id="348" idx="1"/>
          </p:cNvCxnSpPr>
          <p:nvPr/>
        </p:nvCxnSpPr>
        <p:spPr>
          <a:xfrm>
            <a:off x="3296800" y="2137724"/>
            <a:ext cx="1230000" cy="4500"/>
          </a:xfrm>
          <a:prstGeom prst="straightConnector1">
            <a:avLst/>
          </a:prstGeom>
          <a:noFill/>
          <a:ln cap="flat" cmpd="sng" w="9525">
            <a:solidFill>
              <a:schemeClr val="dk2"/>
            </a:solidFill>
            <a:prstDash val="solid"/>
            <a:round/>
            <a:headEnd len="med" w="med" type="none"/>
            <a:tailEnd len="med" w="med" type="triangle"/>
          </a:ln>
        </p:spPr>
      </p:cxnSp>
      <p:sp>
        <p:nvSpPr>
          <p:cNvPr id="352" name="Google Shape;352;p35"/>
          <p:cNvSpPr txBox="1"/>
          <p:nvPr/>
        </p:nvSpPr>
        <p:spPr>
          <a:xfrm>
            <a:off x="415675" y="4129375"/>
            <a:ext cx="12234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rPr>
              <a:t>High level semantics</a:t>
            </a:r>
            <a:endParaRPr sz="1100"/>
          </a:p>
        </p:txBody>
      </p:sp>
      <p:sp>
        <p:nvSpPr>
          <p:cNvPr id="353" name="Google Shape;353;p35"/>
          <p:cNvSpPr txBox="1"/>
          <p:nvPr/>
        </p:nvSpPr>
        <p:spPr>
          <a:xfrm>
            <a:off x="3328976" y="3467375"/>
            <a:ext cx="13665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rPr>
              <a:t>Propagate up h</a:t>
            </a:r>
            <a:r>
              <a:rPr lang="en" sz="1000">
                <a:solidFill>
                  <a:schemeClr val="dk1"/>
                </a:solidFill>
              </a:rPr>
              <a:t>igh level semantics and combine with low level details</a:t>
            </a:r>
            <a:endParaRPr sz="1000"/>
          </a:p>
        </p:txBody>
      </p:sp>
      <p:sp>
        <p:nvSpPr>
          <p:cNvPr id="354" name="Google Shape;354;p35"/>
          <p:cNvSpPr txBox="1"/>
          <p:nvPr/>
        </p:nvSpPr>
        <p:spPr>
          <a:xfrm>
            <a:off x="5351122" y="2519275"/>
            <a:ext cx="13665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rPr>
              <a:t>Upsample</a:t>
            </a:r>
            <a:endParaRPr sz="1100"/>
          </a:p>
        </p:txBody>
      </p:sp>
      <p:cxnSp>
        <p:nvCxnSpPr>
          <p:cNvPr id="355" name="Google Shape;355;p35"/>
          <p:cNvCxnSpPr>
            <a:stCxn id="348" idx="3"/>
            <a:endCxn id="336" idx="1"/>
          </p:cNvCxnSpPr>
          <p:nvPr/>
        </p:nvCxnSpPr>
        <p:spPr>
          <a:xfrm>
            <a:off x="6105913" y="2142349"/>
            <a:ext cx="1044900" cy="558600"/>
          </a:xfrm>
          <a:prstGeom prst="bentConnector3">
            <a:avLst>
              <a:gd fmla="val 49993" name="adj1"/>
            </a:avLst>
          </a:prstGeom>
          <a:noFill/>
          <a:ln cap="flat" cmpd="sng" w="9525">
            <a:solidFill>
              <a:schemeClr val="dk2"/>
            </a:solidFill>
            <a:prstDash val="solid"/>
            <a:round/>
            <a:headEnd len="med" w="med" type="none"/>
            <a:tailEnd len="med" w="med" type="triangle"/>
          </a:ln>
        </p:spPr>
      </p:cxnSp>
      <p:cxnSp>
        <p:nvCxnSpPr>
          <p:cNvPr id="356" name="Google Shape;356;p35"/>
          <p:cNvCxnSpPr>
            <a:stCxn id="341" idx="3"/>
            <a:endCxn id="336" idx="1"/>
          </p:cNvCxnSpPr>
          <p:nvPr/>
        </p:nvCxnSpPr>
        <p:spPr>
          <a:xfrm flipH="1" rot="10800000">
            <a:off x="6105913" y="2701024"/>
            <a:ext cx="1044900" cy="554100"/>
          </a:xfrm>
          <a:prstGeom prst="bentConnector3">
            <a:avLst>
              <a:gd fmla="val 49993" name="adj1"/>
            </a:avLst>
          </a:prstGeom>
          <a:noFill/>
          <a:ln cap="flat" cmpd="sng" w="9525">
            <a:solidFill>
              <a:schemeClr val="dk2"/>
            </a:solidFill>
            <a:prstDash val="solid"/>
            <a:round/>
            <a:headEnd len="med" w="med" type="none"/>
            <a:tailEnd len="med" w="med" type="triangle"/>
          </a:ln>
        </p:spPr>
      </p:cxnSp>
      <p:pic>
        <p:nvPicPr>
          <p:cNvPr id="357" name="Google Shape;357;p35"/>
          <p:cNvPicPr preferRelativeResize="0"/>
          <p:nvPr/>
        </p:nvPicPr>
        <p:blipFill>
          <a:blip r:embed="rId3">
            <a:alphaModFix/>
          </a:blip>
          <a:stretch>
            <a:fillRect/>
          </a:stretch>
        </p:blipFill>
        <p:spPr>
          <a:xfrm>
            <a:off x="56125" y="1686850"/>
            <a:ext cx="1366500" cy="911000"/>
          </a:xfrm>
          <a:prstGeom prst="rect">
            <a:avLst/>
          </a:prstGeom>
          <a:noFill/>
          <a:ln>
            <a:noFill/>
          </a:ln>
        </p:spPr>
      </p:pic>
      <p:cxnSp>
        <p:nvCxnSpPr>
          <p:cNvPr id="358" name="Google Shape;358;p35"/>
          <p:cNvCxnSpPr>
            <a:stCxn id="357" idx="3"/>
            <a:endCxn id="334" idx="1"/>
          </p:cNvCxnSpPr>
          <p:nvPr/>
        </p:nvCxnSpPr>
        <p:spPr>
          <a:xfrm flipH="1" rot="10800000">
            <a:off x="1422625" y="2137850"/>
            <a:ext cx="294900" cy="4500"/>
          </a:xfrm>
          <a:prstGeom prst="straightConnector1">
            <a:avLst/>
          </a:prstGeom>
          <a:noFill/>
          <a:ln cap="flat" cmpd="sng" w="9525">
            <a:solidFill>
              <a:schemeClr val="dk2"/>
            </a:solidFill>
            <a:prstDash val="solid"/>
            <a:round/>
            <a:headEnd len="med" w="med" type="none"/>
            <a:tailEnd len="med" w="med" type="triangle"/>
          </a:ln>
        </p:spPr>
      </p:cxnSp>
      <p:pic>
        <p:nvPicPr>
          <p:cNvPr id="359" name="Google Shape;359;p35"/>
          <p:cNvPicPr preferRelativeResize="0"/>
          <p:nvPr/>
        </p:nvPicPr>
        <p:blipFill>
          <a:blip r:embed="rId4">
            <a:alphaModFix/>
          </a:blip>
          <a:stretch>
            <a:fillRect/>
          </a:stretch>
        </p:blipFill>
        <p:spPr>
          <a:xfrm>
            <a:off x="6917538" y="3396700"/>
            <a:ext cx="2045438" cy="1363625"/>
          </a:xfrm>
          <a:prstGeom prst="rect">
            <a:avLst/>
          </a:prstGeom>
          <a:noFill/>
          <a:ln>
            <a:noFill/>
          </a:ln>
        </p:spPr>
      </p:pic>
      <p:cxnSp>
        <p:nvCxnSpPr>
          <p:cNvPr id="360" name="Google Shape;360;p35"/>
          <p:cNvCxnSpPr>
            <a:stCxn id="336" idx="2"/>
            <a:endCxn id="359" idx="0"/>
          </p:cNvCxnSpPr>
          <p:nvPr/>
        </p:nvCxnSpPr>
        <p:spPr>
          <a:xfrm>
            <a:off x="7940263" y="3068750"/>
            <a:ext cx="0" cy="3279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